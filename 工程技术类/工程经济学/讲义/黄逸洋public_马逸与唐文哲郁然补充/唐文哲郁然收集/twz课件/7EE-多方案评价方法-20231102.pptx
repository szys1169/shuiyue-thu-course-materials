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56"/>
  </p:handoutMasterIdLst>
  <p:sldIdLst>
    <p:sldId id="259" r:id="rId3"/>
    <p:sldId id="355" r:id="rId5"/>
    <p:sldId id="356" r:id="rId6"/>
    <p:sldId id="357" r:id="rId7"/>
    <p:sldId id="358" r:id="rId8"/>
    <p:sldId id="310" r:id="rId9"/>
    <p:sldId id="306" r:id="rId10"/>
    <p:sldId id="308" r:id="rId11"/>
    <p:sldId id="350" r:id="rId12"/>
    <p:sldId id="351" r:id="rId13"/>
    <p:sldId id="309" r:id="rId14"/>
    <p:sldId id="311" r:id="rId15"/>
    <p:sldId id="273" r:id="rId16"/>
    <p:sldId id="274" r:id="rId17"/>
    <p:sldId id="326" r:id="rId18"/>
    <p:sldId id="296" r:id="rId19"/>
    <p:sldId id="275" r:id="rId20"/>
    <p:sldId id="276" r:id="rId21"/>
    <p:sldId id="277" r:id="rId22"/>
    <p:sldId id="278" r:id="rId23"/>
    <p:sldId id="279" r:id="rId24"/>
    <p:sldId id="300" r:id="rId25"/>
    <p:sldId id="301" r:id="rId26"/>
    <p:sldId id="302" r:id="rId27"/>
    <p:sldId id="303" r:id="rId28"/>
    <p:sldId id="280" r:id="rId29"/>
    <p:sldId id="281" r:id="rId30"/>
    <p:sldId id="298" r:id="rId31"/>
    <p:sldId id="304" r:id="rId32"/>
    <p:sldId id="305" r:id="rId33"/>
    <p:sldId id="327" r:id="rId34"/>
    <p:sldId id="328" r:id="rId35"/>
    <p:sldId id="329" r:id="rId36"/>
    <p:sldId id="331" r:id="rId37"/>
    <p:sldId id="332" r:id="rId38"/>
    <p:sldId id="333" r:id="rId39"/>
    <p:sldId id="334" r:id="rId40"/>
    <p:sldId id="335" r:id="rId41"/>
    <p:sldId id="336" r:id="rId42"/>
    <p:sldId id="354" r:id="rId43"/>
    <p:sldId id="338" r:id="rId44"/>
    <p:sldId id="339" r:id="rId45"/>
    <p:sldId id="340" r:id="rId46"/>
    <p:sldId id="282" r:id="rId47"/>
    <p:sldId id="344" r:id="rId48"/>
    <p:sldId id="345" r:id="rId49"/>
    <p:sldId id="346" r:id="rId50"/>
    <p:sldId id="347" r:id="rId51"/>
    <p:sldId id="348" r:id="rId52"/>
    <p:sldId id="352" r:id="rId53"/>
    <p:sldId id="349" r:id="rId54"/>
    <p:sldId id="353" r:id="rId55"/>
  </p:sldIdLst>
  <p:sldSz cx="9144000" cy="6858000" type="screen4x3"/>
  <p:notesSz cx="7099300" cy="10234295"/>
  <p:custDataLst>
    <p:tags r:id="rId60"/>
  </p:custDataLst>
  <p:defaultTextStyle>
    <a:defPPr>
      <a:defRPr lang="en-US"/>
    </a:defPPr>
    <a:lvl1pPr algn="l" rtl="0" eaLnBrk="0" fontAlgn="base" hangingPunct="0">
      <a:spcBef>
        <a:spcPct val="0"/>
      </a:spcBef>
      <a:spcAft>
        <a:spcPct val="0"/>
      </a:spcAft>
      <a:defRPr sz="4000" b="1" kern="1200">
        <a:solidFill>
          <a:srgbClr val="0000FF"/>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4000" b="1" kern="1200">
        <a:solidFill>
          <a:srgbClr val="0000FF"/>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4000" b="1" kern="1200">
        <a:solidFill>
          <a:srgbClr val="0000FF"/>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4000" b="1" kern="1200">
        <a:solidFill>
          <a:srgbClr val="0000FF"/>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4000" b="1" kern="1200">
        <a:solidFill>
          <a:srgbClr val="0000FF"/>
        </a:solidFill>
        <a:latin typeface="Arial" panose="020B0604020202020204" pitchFamily="34" charset="0"/>
        <a:ea typeface="楷体_GB2312" pitchFamily="49" charset="-122"/>
        <a:cs typeface="+mn-cs"/>
      </a:defRPr>
    </a:lvl5pPr>
    <a:lvl6pPr marL="2286000" algn="l" defTabSz="914400" rtl="0" eaLnBrk="1" latinLnBrk="0" hangingPunct="1">
      <a:defRPr sz="4000" b="1" kern="1200">
        <a:solidFill>
          <a:srgbClr val="0000FF"/>
        </a:solidFill>
        <a:latin typeface="Arial" panose="020B0604020202020204" pitchFamily="34" charset="0"/>
        <a:ea typeface="楷体_GB2312" pitchFamily="49" charset="-122"/>
        <a:cs typeface="+mn-cs"/>
      </a:defRPr>
    </a:lvl6pPr>
    <a:lvl7pPr marL="2743200" algn="l" defTabSz="914400" rtl="0" eaLnBrk="1" latinLnBrk="0" hangingPunct="1">
      <a:defRPr sz="4000" b="1" kern="1200">
        <a:solidFill>
          <a:srgbClr val="0000FF"/>
        </a:solidFill>
        <a:latin typeface="Arial" panose="020B0604020202020204" pitchFamily="34" charset="0"/>
        <a:ea typeface="楷体_GB2312" pitchFamily="49" charset="-122"/>
        <a:cs typeface="+mn-cs"/>
      </a:defRPr>
    </a:lvl7pPr>
    <a:lvl8pPr marL="3200400" algn="l" defTabSz="914400" rtl="0" eaLnBrk="1" latinLnBrk="0" hangingPunct="1">
      <a:defRPr sz="4000" b="1" kern="1200">
        <a:solidFill>
          <a:srgbClr val="0000FF"/>
        </a:solidFill>
        <a:latin typeface="Arial" panose="020B0604020202020204" pitchFamily="34" charset="0"/>
        <a:ea typeface="楷体_GB2312" pitchFamily="49" charset="-122"/>
        <a:cs typeface="+mn-cs"/>
      </a:defRPr>
    </a:lvl8pPr>
    <a:lvl9pPr marL="3657600" algn="l" defTabSz="914400" rtl="0" eaLnBrk="1" latinLnBrk="0" hangingPunct="1">
      <a:defRPr sz="4000" b="1" kern="1200">
        <a:solidFill>
          <a:srgbClr val="0000FF"/>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40BFD9"/>
    <a:srgbClr val="7BC3F7"/>
    <a:srgbClr val="F4BA4A"/>
    <a:srgbClr val="CD5134"/>
    <a:srgbClr val="3333CC"/>
    <a:srgbClr val="FF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8" autoAdjust="0"/>
    <p:restoredTop sz="86151" autoAdjust="0"/>
  </p:normalViewPr>
  <p:slideViewPr>
    <p:cSldViewPr snapToGrid="0" snapToObjects="1" showGuides="1">
      <p:cViewPr varScale="1">
        <p:scale>
          <a:sx n="115" d="100"/>
          <a:sy n="115" d="100"/>
        </p:scale>
        <p:origin x="1494" y="10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0" Type="http://schemas.openxmlformats.org/officeDocument/2006/relationships/tags" Target="tags/tag1.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6"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2043BC77-8079-41D3-9F40-7838812BD1DC}"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3076" name="Rectangle 4"/>
          <p:cNvSpPr>
            <a:spLocks noRot="1" noChangeArrowheads="1" noTextEdit="1"/>
          </p:cNvSpPr>
          <p:nvPr>
            <p:ph type="sldImg" idx="2"/>
          </p:nvPr>
        </p:nvSpPr>
        <p:spPr bwMode="auto">
          <a:xfrm>
            <a:off x="990600" y="768350"/>
            <a:ext cx="51181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1EB3E50B-CEB5-4247-8960-AD31F49D4DF5}"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50C81AEC-81DE-449A-BAD3-7E709D950BD8}" type="slidenum">
              <a:rPr lang="zh-CN" altLang="en-US" sz="1300" smtClean="0">
                <a:cs typeface="楷体_GB2312" pitchFamily="49" charset="-122"/>
              </a:rPr>
            </a:fld>
            <a:endParaRPr lang="en-US" altLang="zh-CN" sz="1300" smtClean="0">
              <a:cs typeface="楷体_GB2312" pitchFamily="49" charset="-122"/>
            </a:endParaRPr>
          </a:p>
        </p:txBody>
      </p:sp>
      <p:sp>
        <p:nvSpPr>
          <p:cNvPr id="6147" name="Rectangle 2"/>
          <p:cNvSpPr>
            <a:spLocks noRot="1" noChangeArrowheads="1" noTextEdit="1"/>
          </p:cNvSpPr>
          <p:nvPr>
            <p:ph type="sldImg"/>
          </p:nvPr>
        </p:nvSpPr>
        <p:spPr>
          <a:xfrm>
            <a:off x="992188" y="768350"/>
            <a:ext cx="5114925" cy="3836988"/>
          </a:xfrm>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D9C04DDB-0BE2-4291-8758-B4B11FE5DC59}" type="slidenum">
              <a:rPr lang="zh-CN" altLang="en-US" sz="1300" smtClean="0">
                <a:cs typeface="楷体_GB2312" pitchFamily="49" charset="-122"/>
              </a:rPr>
            </a:fld>
            <a:endParaRPr lang="en-US" altLang="zh-CN" sz="1300" smtClean="0">
              <a:cs typeface="楷体_GB2312" pitchFamily="49" charset="-122"/>
            </a:endParaRPr>
          </a:p>
        </p:txBody>
      </p:sp>
      <p:sp>
        <p:nvSpPr>
          <p:cNvPr id="19459" name="Rectangle 2"/>
          <p:cNvSpPr>
            <a:spLocks noRot="1" noChangeArrowheads="1" noTextEdit="1"/>
          </p:cNvSpPr>
          <p:nvPr>
            <p:ph type="sldImg"/>
          </p:nvPr>
        </p:nvSpPr>
        <p:spPr>
          <a:xfrm>
            <a:off x="992188" y="768350"/>
            <a:ext cx="5114925" cy="3836988"/>
          </a:xfrm>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01771E6E-5B79-4999-8BC9-D464BEF6D7D8}" type="slidenum">
              <a:rPr lang="zh-CN" altLang="en-US" sz="1300" smtClean="0">
                <a:cs typeface="楷体_GB2312" pitchFamily="49" charset="-122"/>
              </a:rPr>
            </a:fld>
            <a:endParaRPr lang="en-US" altLang="zh-CN" sz="1300" smtClean="0">
              <a:cs typeface="楷体_GB2312" pitchFamily="49" charset="-122"/>
            </a:endParaRPr>
          </a:p>
        </p:txBody>
      </p:sp>
      <p:sp>
        <p:nvSpPr>
          <p:cNvPr id="21507" name="Rectangle 2"/>
          <p:cNvSpPr>
            <a:spLocks noRot="1" noChangeArrowheads="1" noTextEdit="1"/>
          </p:cNvSpPr>
          <p:nvPr>
            <p:ph type="sldImg"/>
          </p:nvPr>
        </p:nvSpPr>
        <p:spPr>
          <a:xfrm>
            <a:off x="992188" y="768350"/>
            <a:ext cx="5114925" cy="3836988"/>
          </a:xfrm>
        </p:spPr>
      </p:sp>
      <p:sp>
        <p:nvSpPr>
          <p:cNvPr id="215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72E44004-3BBD-4416-AAC2-9480CA1205E8}" type="slidenum">
              <a:rPr lang="zh-CN" altLang="en-US" sz="1300" smtClean="0">
                <a:cs typeface="楷体_GB2312" pitchFamily="49" charset="-122"/>
              </a:rPr>
            </a:fld>
            <a:endParaRPr lang="en-US" altLang="zh-CN" sz="1300" smtClean="0">
              <a:cs typeface="楷体_GB2312" pitchFamily="49" charset="-122"/>
            </a:endParaRPr>
          </a:p>
        </p:txBody>
      </p:sp>
      <p:sp>
        <p:nvSpPr>
          <p:cNvPr id="24579" name="Rectangle 2"/>
          <p:cNvSpPr>
            <a:spLocks noRot="1" noChangeArrowheads="1" noTextEdit="1"/>
          </p:cNvSpPr>
          <p:nvPr>
            <p:ph type="sldImg"/>
          </p:nvPr>
        </p:nvSpPr>
        <p:spPr>
          <a:xfrm>
            <a:off x="992188" y="768350"/>
            <a:ext cx="5114925" cy="3836988"/>
          </a:xfrm>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2C630BE1-0E4E-466D-8FDB-A5EFF2BC5CED}" type="slidenum">
              <a:rPr lang="zh-CN" altLang="en-US" sz="1300" smtClean="0">
                <a:cs typeface="楷体_GB2312" pitchFamily="49" charset="-122"/>
              </a:rPr>
            </a:fld>
            <a:endParaRPr lang="en-US" altLang="zh-CN" sz="1300" smtClean="0">
              <a:cs typeface="楷体_GB2312" pitchFamily="49" charset="-122"/>
            </a:endParaRPr>
          </a:p>
        </p:txBody>
      </p:sp>
      <p:sp>
        <p:nvSpPr>
          <p:cNvPr id="26627" name="Rectangle 2"/>
          <p:cNvSpPr>
            <a:spLocks noRot="1" noChangeArrowheads="1" noTextEdit="1"/>
          </p:cNvSpPr>
          <p:nvPr>
            <p:ph type="sldImg"/>
          </p:nvPr>
        </p:nvSpPr>
        <p:spPr>
          <a:xfrm>
            <a:off x="992188" y="768350"/>
            <a:ext cx="5114925" cy="3836988"/>
          </a:xfrm>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DA898C63-96B0-40B9-9535-C48184B80FF3}" type="slidenum">
              <a:rPr lang="zh-CN" altLang="en-US" sz="1300" smtClean="0">
                <a:cs typeface="楷体_GB2312" pitchFamily="49" charset="-122"/>
              </a:rPr>
            </a:fld>
            <a:endParaRPr lang="en-US" altLang="zh-CN" sz="1300" smtClean="0">
              <a:cs typeface="楷体_GB2312" pitchFamily="49" charset="-122"/>
            </a:endParaRPr>
          </a:p>
        </p:txBody>
      </p:sp>
      <p:sp>
        <p:nvSpPr>
          <p:cNvPr id="28675" name="Rectangle 2"/>
          <p:cNvSpPr>
            <a:spLocks noRot="1" noChangeArrowheads="1" noTextEdit="1"/>
          </p:cNvSpPr>
          <p:nvPr>
            <p:ph type="sldImg"/>
          </p:nvPr>
        </p:nvSpPr>
        <p:spPr>
          <a:xfrm>
            <a:off x="992188" y="768350"/>
            <a:ext cx="5114925" cy="3836988"/>
          </a:xfrm>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C0FA956-FA17-45F7-B37F-EC5C97D42E8E}" type="slidenum">
              <a:rPr lang="zh-CN" altLang="en-US" sz="1300" smtClean="0">
                <a:cs typeface="楷体_GB2312" pitchFamily="49" charset="-122"/>
              </a:rPr>
            </a:fld>
            <a:endParaRPr lang="en-US" altLang="zh-CN" sz="1300" smtClean="0">
              <a:cs typeface="楷体_GB2312" pitchFamily="49" charset="-122"/>
            </a:endParaRPr>
          </a:p>
        </p:txBody>
      </p:sp>
      <p:sp>
        <p:nvSpPr>
          <p:cNvPr id="30723" name="Rectangle 2"/>
          <p:cNvSpPr>
            <a:spLocks noRot="1" noChangeArrowheads="1" noTextEdit="1"/>
          </p:cNvSpPr>
          <p:nvPr>
            <p:ph type="sldImg"/>
          </p:nvPr>
        </p:nvSpPr>
        <p:spPr>
          <a:xfrm>
            <a:off x="992188" y="768350"/>
            <a:ext cx="5114925" cy="3836988"/>
          </a:xfrm>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C28463B-8339-4374-8CD7-4825C24BBD44}" type="slidenum">
              <a:rPr lang="zh-CN" altLang="en-US" sz="1300" smtClean="0">
                <a:cs typeface="楷体_GB2312" pitchFamily="49" charset="-122"/>
              </a:rPr>
            </a:fld>
            <a:endParaRPr lang="en-US" altLang="zh-CN" sz="1300" smtClean="0">
              <a:cs typeface="楷体_GB2312" pitchFamily="49" charset="-122"/>
            </a:endParaRPr>
          </a:p>
        </p:txBody>
      </p:sp>
      <p:sp>
        <p:nvSpPr>
          <p:cNvPr id="32771" name="Rectangle 2"/>
          <p:cNvSpPr>
            <a:spLocks noRot="1" noChangeArrowheads="1" noTextEdit="1"/>
          </p:cNvSpPr>
          <p:nvPr>
            <p:ph type="sldImg"/>
          </p:nvPr>
        </p:nvSpPr>
        <p:spPr>
          <a:xfrm>
            <a:off x="992188" y="768350"/>
            <a:ext cx="5114925" cy="3836988"/>
          </a:xfrm>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1EDDD06-6B19-4172-8743-C80ACADDC851}" type="slidenum">
              <a:rPr lang="zh-CN" altLang="en-US" sz="1300" smtClean="0">
                <a:cs typeface="楷体_GB2312" pitchFamily="49" charset="-122"/>
              </a:rPr>
            </a:fld>
            <a:endParaRPr lang="en-US" altLang="zh-CN" sz="1300" smtClean="0">
              <a:cs typeface="楷体_GB2312" pitchFamily="49" charset="-122"/>
            </a:endParaRPr>
          </a:p>
        </p:txBody>
      </p:sp>
      <p:sp>
        <p:nvSpPr>
          <p:cNvPr id="34819" name="Rectangle 2"/>
          <p:cNvSpPr>
            <a:spLocks noRot="1" noChangeArrowheads="1" noTextEdit="1"/>
          </p:cNvSpPr>
          <p:nvPr>
            <p:ph type="sldImg"/>
          </p:nvPr>
        </p:nvSpPr>
        <p:spPr>
          <a:xfrm>
            <a:off x="992188" y="768350"/>
            <a:ext cx="5114925" cy="3836988"/>
          </a:xfrm>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A7497FD-37A8-48EC-A415-E46CB9E5C1AD}" type="slidenum">
              <a:rPr lang="zh-CN" altLang="en-US" sz="1300" smtClean="0">
                <a:cs typeface="楷体_GB2312" pitchFamily="49" charset="-122"/>
              </a:rPr>
            </a:fld>
            <a:endParaRPr lang="en-US" altLang="zh-CN" sz="1300" smtClean="0">
              <a:cs typeface="楷体_GB2312" pitchFamily="49" charset="-122"/>
            </a:endParaRPr>
          </a:p>
        </p:txBody>
      </p:sp>
      <p:sp>
        <p:nvSpPr>
          <p:cNvPr id="36867" name="Rectangle 2"/>
          <p:cNvSpPr>
            <a:spLocks noRot="1" noChangeArrowheads="1" noTextEdit="1"/>
          </p:cNvSpPr>
          <p:nvPr>
            <p:ph type="sldImg"/>
          </p:nvPr>
        </p:nvSpPr>
        <p:spPr>
          <a:xfrm>
            <a:off x="992188" y="768350"/>
            <a:ext cx="5114925" cy="3836988"/>
          </a:xfrm>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DA91AC9E-EF3E-444D-BB30-4F6AB9825710}" type="slidenum">
              <a:rPr lang="zh-CN" altLang="en-US" sz="1300" smtClean="0">
                <a:cs typeface="楷体_GB2312" pitchFamily="49" charset="-122"/>
              </a:rPr>
            </a:fld>
            <a:endParaRPr lang="en-US" altLang="zh-CN" sz="1300" smtClean="0">
              <a:cs typeface="楷体_GB2312" pitchFamily="49" charset="-122"/>
            </a:endParaRPr>
          </a:p>
        </p:txBody>
      </p:sp>
      <p:sp>
        <p:nvSpPr>
          <p:cNvPr id="38915" name="Rectangle 2"/>
          <p:cNvSpPr>
            <a:spLocks noRot="1" noChangeArrowheads="1" noTextEdit="1"/>
          </p:cNvSpPr>
          <p:nvPr>
            <p:ph type="sldImg"/>
          </p:nvPr>
        </p:nvSpPr>
        <p:spPr>
          <a:xfrm>
            <a:off x="992188" y="768350"/>
            <a:ext cx="5114925" cy="3836988"/>
          </a:xfrm>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C2F55FB8-E8EB-4FF6-8DEC-F35AAE22D526}" type="slidenum">
              <a:rPr lang="zh-CN" altLang="en-US" sz="1300" smtClean="0">
                <a:cs typeface="楷体_GB2312" pitchFamily="49" charset="-122"/>
              </a:rPr>
            </a:fld>
            <a:endParaRPr lang="en-US" altLang="zh-CN" sz="1300" smtClean="0">
              <a:cs typeface="楷体_GB2312" pitchFamily="49" charset="-122"/>
            </a:endParaRPr>
          </a:p>
        </p:txBody>
      </p:sp>
      <p:sp>
        <p:nvSpPr>
          <p:cNvPr id="40963" name="Rectangle 2"/>
          <p:cNvSpPr>
            <a:spLocks noRot="1" noChangeArrowheads="1" noTextEdit="1"/>
          </p:cNvSpPr>
          <p:nvPr>
            <p:ph type="sldImg"/>
          </p:nvPr>
        </p:nvSpPr>
        <p:spPr>
          <a:xfrm>
            <a:off x="992188" y="768350"/>
            <a:ext cx="5114925" cy="3836988"/>
          </a:xfrm>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F931292-7C91-4ED3-8604-7400C2AA02EA}" type="slidenum">
              <a:rPr lang="zh-CN" altLang="en-US" sz="1300" smtClean="0">
                <a:cs typeface="楷体_GB2312" pitchFamily="49" charset="-122"/>
              </a:rPr>
            </a:fld>
            <a:endParaRPr lang="en-US" altLang="zh-CN" sz="1300" smtClean="0">
              <a:cs typeface="楷体_GB2312" pitchFamily="49" charset="-122"/>
            </a:endParaRPr>
          </a:p>
        </p:txBody>
      </p:sp>
      <p:sp>
        <p:nvSpPr>
          <p:cNvPr id="43011" name="Rectangle 2"/>
          <p:cNvSpPr>
            <a:spLocks noRot="1" noChangeArrowheads="1" noTextEdit="1"/>
          </p:cNvSpPr>
          <p:nvPr>
            <p:ph type="sldImg"/>
          </p:nvPr>
        </p:nvSpPr>
        <p:spPr>
          <a:xfrm>
            <a:off x="992188" y="768350"/>
            <a:ext cx="5114925" cy="3836988"/>
          </a:xfrm>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8CA486EA-BA40-49C0-A460-A17E4DFC9562}" type="slidenum">
              <a:rPr lang="zh-CN" altLang="en-US" sz="1300" smtClean="0">
                <a:cs typeface="楷体_GB2312" pitchFamily="49" charset="-122"/>
              </a:rPr>
            </a:fld>
            <a:endParaRPr lang="en-US" altLang="zh-CN" sz="1300" smtClean="0">
              <a:cs typeface="楷体_GB2312" pitchFamily="49" charset="-122"/>
            </a:endParaRPr>
          </a:p>
        </p:txBody>
      </p:sp>
      <p:sp>
        <p:nvSpPr>
          <p:cNvPr id="45059" name="Rectangle 2"/>
          <p:cNvSpPr>
            <a:spLocks noRot="1" noChangeArrowheads="1" noTextEdit="1"/>
          </p:cNvSpPr>
          <p:nvPr>
            <p:ph type="sldImg"/>
          </p:nvPr>
        </p:nvSpPr>
        <p:spPr>
          <a:xfrm>
            <a:off x="992188" y="768350"/>
            <a:ext cx="5114925" cy="3836988"/>
          </a:xfrm>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AF63A30F-82EA-432D-9A61-D47DAB0035CB}" type="slidenum">
              <a:rPr lang="zh-CN" altLang="en-US" sz="1300" smtClean="0">
                <a:cs typeface="楷体_GB2312" pitchFamily="49" charset="-122"/>
              </a:rPr>
            </a:fld>
            <a:endParaRPr lang="en-US" altLang="zh-CN" sz="1300" smtClean="0">
              <a:cs typeface="楷体_GB2312" pitchFamily="49" charset="-122"/>
            </a:endParaRPr>
          </a:p>
        </p:txBody>
      </p:sp>
      <p:sp>
        <p:nvSpPr>
          <p:cNvPr id="47107" name="Rectangle 2"/>
          <p:cNvSpPr>
            <a:spLocks noRot="1" noChangeArrowheads="1" noTextEdit="1"/>
          </p:cNvSpPr>
          <p:nvPr>
            <p:ph type="sldImg"/>
          </p:nvPr>
        </p:nvSpPr>
        <p:spPr>
          <a:xfrm>
            <a:off x="992188" y="768350"/>
            <a:ext cx="5114925" cy="3836988"/>
          </a:xfrm>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F8D537A-E75F-4F4F-9864-E1B7AA5C6BEC}" type="slidenum">
              <a:rPr lang="zh-CN" altLang="en-US" sz="1300" smtClean="0">
                <a:cs typeface="楷体_GB2312" pitchFamily="49" charset="-122"/>
              </a:rPr>
            </a:fld>
            <a:endParaRPr lang="en-US" altLang="zh-CN" sz="1300" smtClean="0">
              <a:cs typeface="楷体_GB2312" pitchFamily="49" charset="-122"/>
            </a:endParaRPr>
          </a:p>
        </p:txBody>
      </p:sp>
      <p:sp>
        <p:nvSpPr>
          <p:cNvPr id="49155" name="Rectangle 2"/>
          <p:cNvSpPr>
            <a:spLocks noRot="1" noChangeArrowheads="1" noTextEdit="1"/>
          </p:cNvSpPr>
          <p:nvPr>
            <p:ph type="sldImg"/>
          </p:nvPr>
        </p:nvSpPr>
        <p:spPr>
          <a:xfrm>
            <a:off x="992188" y="768350"/>
            <a:ext cx="5114925" cy="3836988"/>
          </a:xfrm>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CCB4EB2-75F3-45C9-A41D-F6C4051BB442}" type="slidenum">
              <a:rPr lang="zh-CN" altLang="en-US" sz="1300" smtClean="0">
                <a:cs typeface="楷体_GB2312" pitchFamily="49" charset="-122"/>
              </a:rPr>
            </a:fld>
            <a:endParaRPr lang="en-US" altLang="zh-CN" sz="1300" smtClean="0">
              <a:cs typeface="楷体_GB2312" pitchFamily="49" charset="-122"/>
            </a:endParaRPr>
          </a:p>
        </p:txBody>
      </p:sp>
      <p:sp>
        <p:nvSpPr>
          <p:cNvPr id="51203" name="Rectangle 2"/>
          <p:cNvSpPr>
            <a:spLocks noRot="1" noChangeArrowheads="1" noTextEdit="1"/>
          </p:cNvSpPr>
          <p:nvPr>
            <p:ph type="sldImg"/>
          </p:nvPr>
        </p:nvSpPr>
        <p:spPr>
          <a:xfrm>
            <a:off x="992188" y="768350"/>
            <a:ext cx="5114925" cy="3836988"/>
          </a:xfrm>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8C41824-1707-43D3-93BC-5BC7805FC754}" type="slidenum">
              <a:rPr lang="zh-CN" altLang="en-US" sz="1300" smtClean="0">
                <a:cs typeface="楷体_GB2312" pitchFamily="49" charset="-122"/>
              </a:rPr>
            </a:fld>
            <a:endParaRPr lang="en-US" altLang="zh-CN" sz="1300" smtClean="0">
              <a:cs typeface="楷体_GB2312" pitchFamily="49" charset="-122"/>
            </a:endParaRPr>
          </a:p>
        </p:txBody>
      </p:sp>
      <p:sp>
        <p:nvSpPr>
          <p:cNvPr id="53251" name="Rectangle 2"/>
          <p:cNvSpPr>
            <a:spLocks noRot="1" noChangeArrowheads="1" noTextEdit="1"/>
          </p:cNvSpPr>
          <p:nvPr>
            <p:ph type="sldImg"/>
          </p:nvPr>
        </p:nvSpPr>
        <p:spPr>
          <a:xfrm>
            <a:off x="992188" y="768350"/>
            <a:ext cx="5114925" cy="3836988"/>
          </a:xfrm>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CE71FAA-129B-4BA5-BEA0-BF9FAFDE7C2A}" type="slidenum">
              <a:rPr lang="zh-CN" altLang="en-US" sz="1300" smtClean="0">
                <a:cs typeface="楷体_GB2312" pitchFamily="49" charset="-122"/>
              </a:rPr>
            </a:fld>
            <a:endParaRPr lang="en-US" altLang="zh-CN" sz="1300" smtClean="0">
              <a:cs typeface="楷体_GB2312" pitchFamily="49" charset="-122"/>
            </a:endParaRPr>
          </a:p>
        </p:txBody>
      </p:sp>
      <p:sp>
        <p:nvSpPr>
          <p:cNvPr id="68611" name="Rectangle 2"/>
          <p:cNvSpPr>
            <a:spLocks noRot="1" noChangeArrowheads="1" noTextEdit="1"/>
          </p:cNvSpPr>
          <p:nvPr>
            <p:ph type="sldImg"/>
          </p:nvPr>
        </p:nvSpPr>
        <p:spPr>
          <a:xfrm>
            <a:off x="992188" y="768350"/>
            <a:ext cx="5114925" cy="3836988"/>
          </a:xfrm>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smtClean="0">
              <a:solidFill>
                <a:schemeClr val="tx1"/>
              </a:solidFill>
              <a:latin typeface="Times"/>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smtClean="0">
              <a:solidFill>
                <a:schemeClr val="tx1"/>
              </a:solidFill>
              <a:latin typeface="Times"/>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eaLnBrk="1" hangingPunct="1">
              <a:lnSpc>
                <a:spcPct val="90000"/>
              </a:lnSpc>
              <a:spcBef>
                <a:spcPct val="50000"/>
              </a:spcBef>
              <a:buFontTx/>
              <a:buChar char="•"/>
              <a:defRPr/>
            </a:pPr>
            <a:endParaRPr lang="zh-CN" altLang="en-US" smtClean="0"/>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smtClean="0">
              <a:solidFill>
                <a:schemeClr val="tx1"/>
              </a:solidFill>
              <a:latin typeface="Times"/>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smtClean="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97790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48200" y="399415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0" y="12700"/>
            <a:ext cx="8178800" cy="6096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0" y="97790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97790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0" y="399415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994150"/>
            <a:ext cx="4495800" cy="2863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1027" name="Rectangle 7"/>
          <p:cNvSpPr>
            <a:spLocks noChangeArrowheads="1"/>
          </p:cNvSpPr>
          <p:nvPr userDrawn="1"/>
        </p:nvSpPr>
        <p:spPr bwMode="auto">
          <a:xfrm>
            <a:off x="4371975" y="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smtClean="0">
              <a:solidFill>
                <a:schemeClr val="tx1"/>
              </a:solidFill>
              <a:latin typeface="Times"/>
              <a:ea typeface="宋体" panose="02010600030101010101" pitchFamily="2" charset="-122"/>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ln>
        </p:spPr>
        <p:txBody>
          <a:bodyPr wrap="none" anchor="ct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eaLnBrk="1" hangingPunct="1">
              <a:lnSpc>
                <a:spcPct val="90000"/>
              </a:lnSpc>
              <a:spcBef>
                <a:spcPct val="50000"/>
              </a:spcBef>
              <a:buFontTx/>
              <a:buChar char="•"/>
              <a:defRPr/>
            </a:pPr>
            <a:endParaRPr lang="zh-CN" altLang="en-US" smtClean="0"/>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xStyles>
    <p:titleStyle>
      <a:lvl1pPr algn="l" rtl="0" eaLnBrk="0" fontAlgn="base" hangingPunct="0">
        <a:spcBef>
          <a:spcPct val="0"/>
        </a:spcBef>
        <a:spcAft>
          <a:spcPct val="0"/>
        </a:spcAft>
        <a:defRPr sz="3600" b="1">
          <a:solidFill>
            <a:srgbClr val="990000"/>
          </a:solidFill>
          <a:latin typeface="+mj-lt"/>
          <a:ea typeface="+mj-ea"/>
          <a:cs typeface="楷体_GB2312"/>
        </a:defRPr>
      </a:lvl1pPr>
      <a:lvl2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2pPr>
      <a:lvl3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3pPr>
      <a:lvl4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4pPr>
      <a:lvl5pPr algn="l" rtl="0" eaLnBrk="0" fontAlgn="base" hangingPunct="0">
        <a:spcBef>
          <a:spcPct val="0"/>
        </a:spcBef>
        <a:spcAft>
          <a:spcPct val="0"/>
        </a:spcAft>
        <a:defRPr sz="3600" b="1">
          <a:solidFill>
            <a:srgbClr val="990000"/>
          </a:solidFill>
          <a:latin typeface="Arial" panose="020B0604020202020204" pitchFamily="34" charset="0"/>
          <a:ea typeface="楷体_GB2312" pitchFamily="49" charset="-122"/>
          <a:cs typeface="楷体_GB2312"/>
        </a:defRPr>
      </a:lvl5pPr>
      <a:lvl6pPr marL="457200" algn="l" rtl="0" fontAlgn="base">
        <a:spcBef>
          <a:spcPct val="0"/>
        </a:spcBef>
        <a:spcAft>
          <a:spcPct val="0"/>
        </a:spcAft>
        <a:defRPr sz="3600" b="1">
          <a:solidFill>
            <a:srgbClr val="990000"/>
          </a:solidFill>
          <a:latin typeface="Arial" panose="020B0604020202020204" pitchFamily="34" charset="0"/>
          <a:ea typeface="楷体_GB2312" pitchFamily="49" charset="-122"/>
        </a:defRPr>
      </a:lvl6pPr>
      <a:lvl7pPr marL="914400" algn="l" rtl="0" fontAlgn="base">
        <a:spcBef>
          <a:spcPct val="0"/>
        </a:spcBef>
        <a:spcAft>
          <a:spcPct val="0"/>
        </a:spcAft>
        <a:defRPr sz="3600" b="1">
          <a:solidFill>
            <a:srgbClr val="990000"/>
          </a:solidFill>
          <a:latin typeface="Arial" panose="020B0604020202020204" pitchFamily="34" charset="0"/>
          <a:ea typeface="楷体_GB2312" pitchFamily="49" charset="-122"/>
        </a:defRPr>
      </a:lvl7pPr>
      <a:lvl8pPr marL="1371600" algn="l" rtl="0" fontAlgn="base">
        <a:spcBef>
          <a:spcPct val="0"/>
        </a:spcBef>
        <a:spcAft>
          <a:spcPct val="0"/>
        </a:spcAft>
        <a:defRPr sz="3600" b="1">
          <a:solidFill>
            <a:srgbClr val="990000"/>
          </a:solidFill>
          <a:latin typeface="Arial" panose="020B0604020202020204" pitchFamily="34" charset="0"/>
          <a:ea typeface="楷体_GB2312" pitchFamily="49" charset="-122"/>
        </a:defRPr>
      </a:lvl8pPr>
      <a:lvl9pPr marL="1828800" algn="l" rtl="0" fontAlgn="base">
        <a:spcBef>
          <a:spcPct val="0"/>
        </a:spcBef>
        <a:spcAft>
          <a:spcPct val="0"/>
        </a:spcAft>
        <a:defRPr sz="3600" b="1">
          <a:solidFill>
            <a:srgbClr val="990000"/>
          </a:solidFill>
          <a:latin typeface="Arial" panose="020B0604020202020204" pitchFamily="34" charset="0"/>
          <a:ea typeface="楷体_GB2312" pitchFamily="49" charset="-12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wmf"/><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1.vml"/><Relationship Id="rId7" Type="http://schemas.openxmlformats.org/officeDocument/2006/relationships/slideLayout" Target="../slideLayouts/slideLayout14.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8.bin"/><Relationship Id="rId8" Type="http://schemas.openxmlformats.org/officeDocument/2006/relationships/image" Target="../media/image15.wmf"/><Relationship Id="rId7" Type="http://schemas.openxmlformats.org/officeDocument/2006/relationships/oleObject" Target="../embeddings/oleObject7.bin"/><Relationship Id="rId6" Type="http://schemas.openxmlformats.org/officeDocument/2006/relationships/image" Target="../media/image14.wmf"/><Relationship Id="rId5" Type="http://schemas.openxmlformats.org/officeDocument/2006/relationships/oleObject" Target="../embeddings/oleObject6.bin"/><Relationship Id="rId4" Type="http://schemas.openxmlformats.org/officeDocument/2006/relationships/image" Target="../media/image13.wmf"/><Relationship Id="rId3" Type="http://schemas.openxmlformats.org/officeDocument/2006/relationships/oleObject" Target="../embeddings/oleObject5.bin"/><Relationship Id="rId2" Type="http://schemas.openxmlformats.org/officeDocument/2006/relationships/image" Target="../media/image12.wmf"/><Relationship Id="rId15" Type="http://schemas.openxmlformats.org/officeDocument/2006/relationships/notesSlide" Target="../notesSlides/notesSlide7.xml"/><Relationship Id="rId14" Type="http://schemas.openxmlformats.org/officeDocument/2006/relationships/vmlDrawing" Target="../drawings/vmlDrawing2.vml"/><Relationship Id="rId13" Type="http://schemas.openxmlformats.org/officeDocument/2006/relationships/slideLayout" Target="../slideLayouts/slideLayout15.xml"/><Relationship Id="rId12" Type="http://schemas.openxmlformats.org/officeDocument/2006/relationships/image" Target="../media/image17.wmf"/><Relationship Id="rId11" Type="http://schemas.openxmlformats.org/officeDocument/2006/relationships/oleObject" Target="../embeddings/oleObject9.bin"/><Relationship Id="rId10" Type="http://schemas.openxmlformats.org/officeDocument/2006/relationships/image" Target="../media/image16.wmf"/><Relationship Id="rId1"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3.vml"/><Relationship Id="rId3" Type="http://schemas.openxmlformats.org/officeDocument/2006/relationships/slideLayout" Target="../slideLayouts/slideLayout13.xml"/><Relationship Id="rId2" Type="http://schemas.openxmlformats.org/officeDocument/2006/relationships/image" Target="../media/image18.wmf"/><Relationship Id="rId1" Type="http://schemas.openxmlformats.org/officeDocument/2006/relationships/oleObject" Target="../embeddings/oleObject10.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12.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22.wmf"/><Relationship Id="rId1" Type="http://schemas.openxmlformats.org/officeDocument/2006/relationships/oleObject" Target="../embeddings/oleObject13.bin"/></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6.wmf"/><Relationship Id="rId3" Type="http://schemas.openxmlformats.org/officeDocument/2006/relationships/oleObject" Target="../embeddings/oleObject15.bin"/><Relationship Id="rId2" Type="http://schemas.openxmlformats.org/officeDocument/2006/relationships/image" Target="../media/image25.wmf"/><Relationship Id="rId1" Type="http://schemas.openxmlformats.org/officeDocument/2006/relationships/oleObject" Target="../embeddings/oleObject14.bin"/></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30.wmf"/><Relationship Id="rId1" Type="http://schemas.openxmlformats.org/officeDocument/2006/relationships/oleObject" Target="../embeddings/oleObject16.bin"/></Relationships>
</file>

<file path=ppt/slides/_rels/slide43.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17.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98513"/>
            <a:ext cx="9186863" cy="4141787"/>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z="6000" smtClean="0">
                <a:solidFill>
                  <a:srgbClr val="000000"/>
                </a:solidFill>
              </a:rPr>
              <a:t>工程经济学</a:t>
            </a:r>
            <a:br>
              <a:rPr lang="zh-CN" altLang="en-US" sz="5400" smtClean="0">
                <a:solidFill>
                  <a:srgbClr val="000000"/>
                </a:solidFill>
              </a:rPr>
            </a:br>
            <a:br>
              <a:rPr lang="zh-CN" altLang="en-US" sz="4000" smtClean="0">
                <a:solidFill>
                  <a:srgbClr val="000000"/>
                </a:solidFill>
              </a:rPr>
            </a:br>
            <a:r>
              <a:rPr lang="zh-CN" altLang="en-US" sz="4000" smtClean="0">
                <a:solidFill>
                  <a:srgbClr val="000000"/>
                </a:solidFill>
              </a:rPr>
              <a:t>多方案经济评价方法</a:t>
            </a:r>
            <a:endParaRPr lang="en-US" altLang="zh-CN" sz="4000" u="sng" smtClean="0">
              <a:solidFill>
                <a:srgbClr val="000000"/>
              </a:solidFill>
            </a:endParaRPr>
          </a:p>
        </p:txBody>
      </p:sp>
      <p:sp>
        <p:nvSpPr>
          <p:cNvPr id="5123" name="Rectangle 3"/>
          <p:cNvSpPr>
            <a:spLocks noGrp="1" noChangeArrowheads="1"/>
          </p:cNvSpPr>
          <p:nvPr>
            <p:ph type="subTitle" idx="1"/>
          </p:nvPr>
        </p:nvSpPr>
        <p:spPr>
          <a:xfrm>
            <a:off x="725488" y="4940300"/>
            <a:ext cx="7634287" cy="1373188"/>
          </a:xfrm>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zh-CN" altLang="en-US" sz="2400" dirty="0" smtClean="0">
                <a:solidFill>
                  <a:srgbClr val="A50021"/>
                </a:solidFill>
              </a:rPr>
              <a:t>唐文哲 教授</a:t>
            </a:r>
            <a:endParaRPr lang="en-US" altLang="zh-CN" sz="2400" dirty="0" smtClean="0">
              <a:solidFill>
                <a:srgbClr val="A50021"/>
              </a:solidFill>
            </a:endParaRPr>
          </a:p>
          <a:p>
            <a:pPr eaLnBrk="1" hangingPunct="1">
              <a:lnSpc>
                <a:spcPct val="90000"/>
              </a:lnSpc>
            </a:pPr>
            <a:r>
              <a:rPr lang="zh-CN" altLang="en-US" sz="2400" dirty="0" smtClean="0"/>
              <a:t>清华大学土木水利学院</a:t>
            </a:r>
            <a:endParaRPr lang="zh-CN" altLang="en-US" sz="2400" dirty="0" smtClean="0"/>
          </a:p>
          <a:p>
            <a:pPr eaLnBrk="1" hangingPunct="1">
              <a:lnSpc>
                <a:spcPct val="90000"/>
              </a:lnSpc>
            </a:pPr>
            <a:r>
              <a:rPr lang="en-US" altLang="zh-CN" sz="2400" dirty="0" smtClean="0"/>
              <a:t>2023</a:t>
            </a:r>
            <a:r>
              <a:rPr lang="zh-CN" altLang="en-US" sz="2400" dirty="0" smtClean="0"/>
              <a:t>年</a:t>
            </a:r>
            <a:r>
              <a:rPr lang="en-US" altLang="zh-CN" sz="2400" dirty="0" smtClean="0"/>
              <a:t>11</a:t>
            </a:r>
            <a:r>
              <a:rPr lang="zh-CN" altLang="en-US" sz="2400" dirty="0" smtClean="0"/>
              <a:t>月</a:t>
            </a:r>
            <a:r>
              <a:rPr lang="en-US" altLang="zh-CN" sz="2400" dirty="0" smtClean="0"/>
              <a:t>2</a:t>
            </a:r>
            <a:r>
              <a:rPr lang="zh-CN" altLang="en-US" sz="2400" dirty="0" smtClean="0"/>
              <a:t>日</a:t>
            </a:r>
            <a:endParaRPr lang="zh-CN" altLang="en-US" sz="2400" dirty="0" smtClean="0"/>
          </a:p>
          <a:p>
            <a:pPr algn="l" eaLnBrk="1" hangingPunct="1">
              <a:lnSpc>
                <a:spcPct val="90000"/>
              </a:lnSpc>
            </a:pPr>
            <a:endParaRPr lang="zh-CN" altLang="en-US" sz="2400"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52400" y="165100"/>
            <a:ext cx="8178800" cy="609600"/>
          </a:xfrm>
        </p:spPr>
        <p:txBody>
          <a:bodyPr/>
          <a:lstStyle/>
          <a:p>
            <a:pPr eaLnBrk="1" hangingPunct="1"/>
            <a:r>
              <a:rPr lang="en-US" altLang="zh-CN" smtClean="0"/>
              <a:t>2022</a:t>
            </a:r>
            <a:r>
              <a:rPr lang="zh-CN" altLang="en-US" smtClean="0"/>
              <a:t>年北京冬奥会</a:t>
            </a:r>
            <a:endParaRPr lang="zh-CN" altLang="en-US" smtClean="0"/>
          </a:p>
        </p:txBody>
      </p:sp>
      <p:sp>
        <p:nvSpPr>
          <p:cNvPr id="5" name="Rectangle 3"/>
          <p:cNvSpPr txBox="1">
            <a:spLocks noChangeArrowheads="1"/>
          </p:cNvSpPr>
          <p:nvPr/>
        </p:nvSpPr>
        <p:spPr bwMode="auto">
          <a:xfrm>
            <a:off x="-338138" y="884238"/>
            <a:ext cx="6553201"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a:lstStyle>
          <a:p>
            <a:pPr lvl="1" eaLnBrk="1" hangingPunct="1">
              <a:defRPr/>
            </a:pPr>
            <a:r>
              <a:rPr lang="zh-CN" altLang="en-US" sz="2000" kern="0" dirty="0" smtClean="0">
                <a:solidFill>
                  <a:srgbClr val="C00000"/>
                </a:solidFill>
              </a:rPr>
              <a:t>举办城市：</a:t>
            </a:r>
            <a:r>
              <a:rPr lang="zh-CN" altLang="en-US" sz="2000" kern="0" dirty="0" smtClean="0"/>
              <a:t>北京</a:t>
            </a:r>
            <a:endParaRPr lang="en-US" altLang="zh-CN" sz="2000" kern="0" dirty="0" smtClean="0"/>
          </a:p>
          <a:p>
            <a:pPr marL="1080135" lvl="1" eaLnBrk="1" hangingPunct="1">
              <a:buFont typeface="Wingdings" panose="05000000000000000000" pitchFamily="2" charset="2"/>
              <a:buChar char="l"/>
              <a:defRPr/>
            </a:pPr>
            <a:r>
              <a:rPr lang="zh-CN" altLang="en-US" sz="2000" kern="0" dirty="0" smtClean="0"/>
              <a:t>北京是奥运史上第一个举办过夏季奥林匹克运动会和冬季奥林匹克运动会的城市。</a:t>
            </a:r>
            <a:endParaRPr lang="en-US" altLang="zh-CN" sz="2000" kern="0" dirty="0" smtClean="0"/>
          </a:p>
          <a:p>
            <a:pPr lvl="1" eaLnBrk="1" hangingPunct="1">
              <a:defRPr/>
            </a:pPr>
            <a:r>
              <a:rPr lang="zh-CN" altLang="en-US" sz="2000" kern="0" dirty="0" smtClean="0">
                <a:solidFill>
                  <a:srgbClr val="C00000"/>
                </a:solidFill>
              </a:rPr>
              <a:t>赛区：</a:t>
            </a:r>
            <a:r>
              <a:rPr lang="zh-CN" altLang="en-US" sz="2000" kern="0" dirty="0" smtClean="0"/>
              <a:t>北京赛区、延庆赛区、张家口赛区</a:t>
            </a:r>
            <a:endParaRPr lang="en-US" altLang="zh-CN" sz="2000" kern="0" dirty="0" smtClean="0"/>
          </a:p>
          <a:p>
            <a:pPr marL="1080135" lvl="1" eaLnBrk="1" hangingPunct="1">
              <a:buFont typeface="Wingdings" panose="05000000000000000000" pitchFamily="2" charset="2"/>
              <a:buChar char="l"/>
              <a:defRPr/>
            </a:pPr>
            <a:r>
              <a:rPr lang="zh-CN" altLang="en-US" sz="2000" kern="0" dirty="0"/>
              <a:t>北京将承办所有冰上项目，延庆和张家口将承办所有的雪上项目。</a:t>
            </a:r>
            <a:endParaRPr lang="en-US" altLang="zh-CN" sz="2000" kern="0" dirty="0"/>
          </a:p>
          <a:p>
            <a:pPr lvl="1" eaLnBrk="1" hangingPunct="1">
              <a:defRPr/>
            </a:pPr>
            <a:r>
              <a:rPr lang="zh-CN" altLang="en-US" sz="2000" kern="0" dirty="0">
                <a:solidFill>
                  <a:srgbClr val="C00000"/>
                </a:solidFill>
              </a:rPr>
              <a:t>举办</a:t>
            </a:r>
            <a:r>
              <a:rPr lang="zh-CN" altLang="en-US" sz="2000" kern="0" dirty="0" smtClean="0">
                <a:solidFill>
                  <a:srgbClr val="C00000"/>
                </a:solidFill>
              </a:rPr>
              <a:t>时间：</a:t>
            </a:r>
            <a:r>
              <a:rPr lang="en-US" altLang="zh-CN" sz="2000" kern="0" dirty="0" smtClean="0"/>
              <a:t>2022</a:t>
            </a:r>
            <a:r>
              <a:rPr lang="zh-CN" altLang="en-US" sz="2000" kern="0" dirty="0" smtClean="0"/>
              <a:t>年</a:t>
            </a:r>
            <a:r>
              <a:rPr lang="en-US" altLang="zh-CN" sz="2000" kern="0" dirty="0" smtClean="0"/>
              <a:t>2</a:t>
            </a:r>
            <a:r>
              <a:rPr lang="zh-CN" altLang="en-US" sz="2000" kern="0" dirty="0" smtClean="0"/>
              <a:t>月</a:t>
            </a:r>
            <a:r>
              <a:rPr lang="en-US" altLang="zh-CN" sz="2000" kern="0" dirty="0" smtClean="0"/>
              <a:t>4</a:t>
            </a:r>
            <a:r>
              <a:rPr lang="zh-CN" altLang="en-US" sz="2000" kern="0" dirty="0" smtClean="0"/>
              <a:t>日至</a:t>
            </a:r>
            <a:r>
              <a:rPr lang="en-US" altLang="zh-CN" sz="2000" kern="0" dirty="0" smtClean="0"/>
              <a:t>2022</a:t>
            </a:r>
            <a:r>
              <a:rPr lang="zh-CN" altLang="en-US" sz="2000" kern="0" dirty="0" smtClean="0"/>
              <a:t>年</a:t>
            </a:r>
            <a:r>
              <a:rPr lang="en-US" altLang="zh-CN" sz="2000" kern="0" dirty="0" smtClean="0"/>
              <a:t>2</a:t>
            </a:r>
            <a:r>
              <a:rPr lang="zh-CN" altLang="en-US" sz="2000" kern="0" dirty="0" smtClean="0"/>
              <a:t>月</a:t>
            </a:r>
            <a:r>
              <a:rPr lang="en-US" altLang="zh-CN" sz="2000" kern="0" dirty="0" smtClean="0"/>
              <a:t>20</a:t>
            </a:r>
            <a:r>
              <a:rPr lang="zh-CN" altLang="en-US" sz="2000" kern="0" dirty="0" smtClean="0"/>
              <a:t>日</a:t>
            </a:r>
            <a:endParaRPr lang="en-US" altLang="zh-CN" sz="2000" kern="0" dirty="0" smtClean="0"/>
          </a:p>
          <a:p>
            <a:pPr lvl="1" eaLnBrk="1" hangingPunct="1">
              <a:defRPr/>
            </a:pPr>
            <a:r>
              <a:rPr lang="zh-CN" altLang="en-US" sz="2000" kern="0" dirty="0" smtClean="0">
                <a:solidFill>
                  <a:srgbClr val="C00000"/>
                </a:solidFill>
              </a:rPr>
              <a:t>届数：</a:t>
            </a:r>
            <a:r>
              <a:rPr lang="zh-CN" altLang="en-US" sz="2000" kern="0" dirty="0" smtClean="0"/>
              <a:t>第</a:t>
            </a:r>
            <a:r>
              <a:rPr lang="en-US" altLang="zh-CN" sz="2000" kern="0" dirty="0" smtClean="0"/>
              <a:t>24</a:t>
            </a:r>
            <a:r>
              <a:rPr lang="zh-CN" altLang="en-US" sz="2000" kern="0" dirty="0" smtClean="0"/>
              <a:t>届；</a:t>
            </a:r>
            <a:endParaRPr lang="en-US" altLang="zh-CN" sz="2000" kern="0" dirty="0" smtClean="0"/>
          </a:p>
          <a:p>
            <a:pPr marL="1080135" lvl="1" eaLnBrk="1" hangingPunct="1">
              <a:buFont typeface="Wingdings" panose="05000000000000000000" pitchFamily="2" charset="2"/>
              <a:buChar char="l"/>
              <a:defRPr/>
            </a:pPr>
            <a:r>
              <a:rPr lang="zh-CN" altLang="en-US" sz="2000" kern="0" dirty="0"/>
              <a:t>第</a:t>
            </a:r>
            <a:r>
              <a:rPr lang="en-US" altLang="zh-CN" sz="2000" kern="0" dirty="0"/>
              <a:t>23</a:t>
            </a:r>
            <a:r>
              <a:rPr lang="zh-CN" altLang="en-US" sz="2000" kern="0" dirty="0" smtClean="0"/>
              <a:t>届平昌冬季奥林匹克运动会闭幕式上，北京市</a:t>
            </a:r>
            <a:r>
              <a:rPr lang="zh-CN" altLang="en-US" sz="2000" kern="0" dirty="0"/>
              <a:t>市长陈吉宁接过奥运会会旗，标志着冬奥会进入“北京周期”。</a:t>
            </a:r>
            <a:endParaRPr lang="en-US" altLang="zh-CN" sz="2000" kern="0" dirty="0"/>
          </a:p>
          <a:p>
            <a:pPr lvl="1" eaLnBrk="1" hangingPunct="1">
              <a:defRPr/>
            </a:pPr>
            <a:r>
              <a:rPr lang="zh-CN" altLang="en-US" sz="2000" kern="0" dirty="0" smtClean="0">
                <a:solidFill>
                  <a:srgbClr val="C00000"/>
                </a:solidFill>
              </a:rPr>
              <a:t>比赛项目：</a:t>
            </a:r>
            <a:r>
              <a:rPr lang="en-US" altLang="zh-CN" sz="2000" kern="0" dirty="0" smtClean="0"/>
              <a:t>7</a:t>
            </a:r>
            <a:r>
              <a:rPr lang="zh-CN" altLang="en-US" sz="2000" kern="0" dirty="0" smtClean="0"/>
              <a:t>个大项，</a:t>
            </a:r>
            <a:r>
              <a:rPr lang="en-US" altLang="zh-CN" sz="2000" kern="0" dirty="0" smtClean="0"/>
              <a:t>15</a:t>
            </a:r>
            <a:r>
              <a:rPr lang="zh-CN" altLang="en-US" sz="2000" kern="0" dirty="0" smtClean="0"/>
              <a:t>个分项，</a:t>
            </a:r>
            <a:r>
              <a:rPr lang="en-US" altLang="zh-CN" sz="2000" kern="0" dirty="0" smtClean="0"/>
              <a:t>109</a:t>
            </a:r>
            <a:r>
              <a:rPr lang="zh-CN" altLang="en-US" sz="2000" kern="0" dirty="0" smtClean="0"/>
              <a:t>个小项。</a:t>
            </a:r>
            <a:endParaRPr lang="en-US" altLang="zh-CN" sz="2000" kern="0" dirty="0" smtClean="0"/>
          </a:p>
          <a:p>
            <a:pPr lvl="1" eaLnBrk="1" hangingPunct="1">
              <a:defRPr/>
            </a:pPr>
            <a:r>
              <a:rPr lang="zh-CN" altLang="en-US" sz="2000" kern="0" dirty="0" smtClean="0">
                <a:solidFill>
                  <a:srgbClr val="C00000"/>
                </a:solidFill>
              </a:rPr>
              <a:t>场馆：</a:t>
            </a:r>
            <a:endParaRPr lang="en-US" altLang="zh-CN" sz="2000" kern="0" dirty="0" smtClean="0">
              <a:solidFill>
                <a:srgbClr val="C00000"/>
              </a:solidFill>
            </a:endParaRPr>
          </a:p>
          <a:p>
            <a:pPr marL="1080135" lvl="1" eaLnBrk="1" hangingPunct="1">
              <a:buFont typeface="Wingdings" panose="05000000000000000000" pitchFamily="2" charset="2"/>
              <a:buChar char="l"/>
              <a:defRPr/>
            </a:pPr>
            <a:r>
              <a:rPr lang="zh-CN" altLang="en-US" sz="2000" kern="0" dirty="0"/>
              <a:t>开闭幕式场馆：鸟巢</a:t>
            </a:r>
            <a:endParaRPr lang="en-US" altLang="zh-CN" sz="2000" kern="0" dirty="0"/>
          </a:p>
          <a:p>
            <a:pPr marL="1080135" lvl="1" eaLnBrk="1" hangingPunct="1">
              <a:buFont typeface="Wingdings" panose="05000000000000000000" pitchFamily="2" charset="2"/>
              <a:buChar char="l"/>
              <a:defRPr/>
            </a:pPr>
            <a:r>
              <a:rPr lang="zh-CN" altLang="en-US" sz="2000" kern="0" dirty="0" smtClean="0"/>
              <a:t>比赛场馆：冬奥会</a:t>
            </a:r>
            <a:r>
              <a:rPr lang="zh-CN" altLang="en-US" sz="2000" kern="0" dirty="0"/>
              <a:t>共需要</a:t>
            </a:r>
            <a:r>
              <a:rPr lang="en-US" altLang="zh-CN" sz="2000" kern="0" dirty="0"/>
              <a:t>12</a:t>
            </a:r>
            <a:r>
              <a:rPr lang="zh-CN" altLang="en-US" sz="2000" kern="0" dirty="0"/>
              <a:t>个冰上项目场馆，已经有</a:t>
            </a:r>
            <a:r>
              <a:rPr lang="en-US" altLang="zh-CN" sz="2000" kern="0" dirty="0"/>
              <a:t>11</a:t>
            </a:r>
            <a:r>
              <a:rPr lang="zh-CN" altLang="en-US" sz="2000" kern="0" dirty="0"/>
              <a:t>个是现成的，需新建一个场馆</a:t>
            </a:r>
            <a:r>
              <a:rPr lang="en-US" altLang="zh-CN" sz="2000" kern="0" dirty="0"/>
              <a:t>——</a:t>
            </a:r>
            <a:r>
              <a:rPr lang="zh-CN" altLang="en-US" sz="2000" kern="0" dirty="0"/>
              <a:t>国家速滑馆。</a:t>
            </a:r>
            <a:endParaRPr lang="zh-CN" altLang="en-US" sz="2000" kern="0" dirty="0"/>
          </a:p>
        </p:txBody>
      </p:sp>
      <p:grpSp>
        <p:nvGrpSpPr>
          <p:cNvPr id="7172" name="组合 5"/>
          <p:cNvGrpSpPr/>
          <p:nvPr/>
        </p:nvGrpSpPr>
        <p:grpSpPr bwMode="auto">
          <a:xfrm>
            <a:off x="4310063" y="109538"/>
            <a:ext cx="4511675" cy="681037"/>
            <a:chOff x="152400" y="6059672"/>
            <a:chExt cx="5716772" cy="914400"/>
          </a:xfrm>
        </p:grpSpPr>
        <p:pic>
          <p:nvPicPr>
            <p:cNvPr id="7177" name="图片 2"/>
            <p:cNvPicPr>
              <a:picLocks noChangeAspect="1"/>
            </p:cNvPicPr>
            <p:nvPr/>
          </p:nvPicPr>
          <p:blipFill>
            <a:blip r:embed="rId1">
              <a:extLst>
                <a:ext uri="{28A0092B-C50C-407E-A947-70E740481C1C}">
                  <a14:useLocalDpi xmlns:a14="http://schemas.microsoft.com/office/drawing/2010/main" val="0"/>
                </a:ext>
              </a:extLst>
            </a:blip>
            <a:srcRect r="33607"/>
            <a:stretch>
              <a:fillRect/>
            </a:stretch>
          </p:blipFill>
          <p:spPr bwMode="auto">
            <a:xfrm>
              <a:off x="152400" y="6059672"/>
              <a:ext cx="571677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43403" y="6378429"/>
              <a:ext cx="20955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73" name="图片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3975" y="854075"/>
            <a:ext cx="2309813" cy="274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图片 9"/>
          <p:cNvPicPr>
            <a:picLocks noChangeAspect="1"/>
          </p:cNvPicPr>
          <p:nvPr/>
        </p:nvPicPr>
        <p:blipFill>
          <a:blip r:embed="rId4">
            <a:extLst>
              <a:ext uri="{28A0092B-C50C-407E-A947-70E740481C1C}">
                <a14:useLocalDpi xmlns:a14="http://schemas.microsoft.com/office/drawing/2010/main" val="0"/>
              </a:ext>
            </a:extLst>
          </a:blip>
          <a:srcRect b="21742"/>
          <a:stretch>
            <a:fillRect/>
          </a:stretch>
        </p:blipFill>
        <p:spPr bwMode="auto">
          <a:xfrm>
            <a:off x="6403975" y="4156075"/>
            <a:ext cx="2406650" cy="227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6056313" y="3571875"/>
            <a:ext cx="2968625" cy="400050"/>
          </a:xfrm>
          <a:prstGeom prst="rect">
            <a:avLst/>
          </a:prstGeom>
        </p:spPr>
        <p:txBody>
          <a:bodyPr wrap="none">
            <a:spAutoFit/>
          </a:bodyPr>
          <a:lstStyle/>
          <a:p>
            <a:pPr lvl="1" eaLnBrk="1" hangingPunct="1">
              <a:defRPr/>
            </a:pPr>
            <a:r>
              <a:rPr lang="zh-CN" altLang="en-US" sz="2000" kern="0" dirty="0"/>
              <a:t>冬奥会会徽“冬梦”</a:t>
            </a:r>
            <a:endParaRPr lang="en-US" altLang="zh-CN" sz="2000" kern="0" dirty="0"/>
          </a:p>
        </p:txBody>
      </p:sp>
      <p:sp>
        <p:nvSpPr>
          <p:cNvPr id="12" name="矩形 11"/>
          <p:cNvSpPr/>
          <p:nvPr/>
        </p:nvSpPr>
        <p:spPr>
          <a:xfrm>
            <a:off x="5807075" y="6429375"/>
            <a:ext cx="3484563" cy="400050"/>
          </a:xfrm>
          <a:prstGeom prst="rect">
            <a:avLst/>
          </a:prstGeom>
        </p:spPr>
        <p:txBody>
          <a:bodyPr wrap="none">
            <a:spAutoFit/>
          </a:bodyPr>
          <a:lstStyle/>
          <a:p>
            <a:pPr lvl="1" eaLnBrk="1" hangingPunct="1">
              <a:defRPr/>
            </a:pPr>
            <a:r>
              <a:rPr lang="zh-CN" altLang="en-US" sz="2000" kern="0" dirty="0"/>
              <a:t>冬奥会吉祥物“冰墩墩”</a:t>
            </a:r>
            <a:endParaRPr lang="en-US" altLang="zh-CN" sz="200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blinds(horizontal)">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xEl>
                                              <p:pRg st="10" end="10"/>
                                            </p:txEl>
                                          </p:spTgt>
                                        </p:tgtEl>
                                        <p:attrNameLst>
                                          <p:attrName>style.visibility</p:attrName>
                                        </p:attrNameLst>
                                      </p:cBhvr>
                                      <p:to>
                                        <p:strVal val="visible"/>
                                      </p:to>
                                    </p:set>
                                    <p:animEffect transition="in" filter="blinds(horizontal)">
                                      <p:cBhvr>
                                        <p:cTn id="5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52400" y="165100"/>
            <a:ext cx="8178800" cy="609600"/>
          </a:xfrm>
        </p:spPr>
        <p:txBody>
          <a:bodyPr/>
          <a:lstStyle/>
          <a:p>
            <a:pPr eaLnBrk="1" hangingPunct="1"/>
            <a:r>
              <a:rPr lang="zh-CN" altLang="en-US" smtClean="0"/>
              <a:t>国家速滑馆</a:t>
            </a:r>
            <a:endParaRPr lang="zh-CN" altLang="en-US" smtClean="0"/>
          </a:p>
        </p:txBody>
      </p:sp>
      <p:sp>
        <p:nvSpPr>
          <p:cNvPr id="5" name="Rectangle 3"/>
          <p:cNvSpPr txBox="1">
            <a:spLocks noChangeArrowheads="1"/>
          </p:cNvSpPr>
          <p:nvPr/>
        </p:nvSpPr>
        <p:spPr bwMode="auto">
          <a:xfrm>
            <a:off x="0" y="884238"/>
            <a:ext cx="8861425"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a:lstStyle>
          <a:p>
            <a:pPr lvl="1" eaLnBrk="1" hangingPunct="1">
              <a:defRPr/>
            </a:pPr>
            <a:r>
              <a:rPr lang="zh-CN" altLang="en-US" sz="2000" kern="0" dirty="0" smtClean="0"/>
              <a:t>又称“大道速滑馆”，是北京主城区唯一一座需要新建的冬奥会竞赛场馆，建于北京</a:t>
            </a:r>
            <a:r>
              <a:rPr lang="en-US" altLang="zh-CN" sz="2000" kern="0" dirty="0" smtClean="0"/>
              <a:t>2008</a:t>
            </a:r>
            <a:r>
              <a:rPr lang="zh-CN" altLang="en-US" sz="2000" kern="0" dirty="0" smtClean="0"/>
              <a:t>年奥运会临时场馆曲棍球场和射箭场的原址。</a:t>
            </a:r>
            <a:endParaRPr lang="en-US" altLang="zh-CN" sz="2000" kern="0" dirty="0" smtClean="0"/>
          </a:p>
          <a:p>
            <a:pPr lvl="1" eaLnBrk="1" hangingPunct="1">
              <a:defRPr/>
            </a:pPr>
            <a:r>
              <a:rPr lang="zh-CN" altLang="en-US" sz="2000" kern="0" dirty="0" smtClean="0">
                <a:solidFill>
                  <a:srgbClr val="C00000"/>
                </a:solidFill>
              </a:rPr>
              <a:t>建设新场馆的必要性：</a:t>
            </a:r>
            <a:endParaRPr lang="en-US" altLang="zh-CN" sz="2000" kern="0" dirty="0" smtClean="0">
              <a:solidFill>
                <a:srgbClr val="C00000"/>
              </a:solidFill>
            </a:endParaRPr>
          </a:p>
          <a:p>
            <a:pPr marL="794385" lvl="1" indent="0" eaLnBrk="1" hangingPunct="1">
              <a:buFontTx/>
              <a:buNone/>
              <a:defRPr/>
            </a:pPr>
            <a:r>
              <a:rPr lang="zh-CN" altLang="en-US" sz="2000" kern="0" dirty="0"/>
              <a:t>（</a:t>
            </a:r>
            <a:r>
              <a:rPr lang="en-US" altLang="zh-CN" sz="2000" kern="0" dirty="0"/>
              <a:t>1</a:t>
            </a:r>
            <a:r>
              <a:rPr lang="zh-CN" altLang="en-US" sz="2000" kern="0" dirty="0"/>
              <a:t>）大道速滑场地的长度几乎相当于一个室内田径场的长度，北京现有的速滑</a:t>
            </a:r>
            <a:r>
              <a:rPr lang="zh-CN" altLang="en-US" sz="2000" kern="0" dirty="0" smtClean="0"/>
              <a:t>馆没有</a:t>
            </a:r>
            <a:r>
              <a:rPr lang="zh-CN" altLang="en-US" sz="2000" kern="0" dirty="0"/>
              <a:t>能够达到标准</a:t>
            </a:r>
            <a:r>
              <a:rPr lang="zh-CN" altLang="en-US" sz="2000" kern="0" dirty="0" smtClean="0"/>
              <a:t>的，</a:t>
            </a:r>
            <a:r>
              <a:rPr lang="zh-CN" altLang="en-US" sz="2000" kern="0" dirty="0"/>
              <a:t>难以满足国际比赛的要求；</a:t>
            </a:r>
            <a:endParaRPr lang="en-US" altLang="zh-CN" sz="2000" kern="0" dirty="0"/>
          </a:p>
          <a:p>
            <a:pPr marL="794385" lvl="1" indent="0" eaLnBrk="1" hangingPunct="1">
              <a:buFontTx/>
              <a:buNone/>
              <a:defRPr/>
            </a:pPr>
            <a:r>
              <a:rPr lang="zh-CN" altLang="en-US" sz="2000" kern="0" dirty="0"/>
              <a:t>（</a:t>
            </a:r>
            <a:r>
              <a:rPr lang="en-US" altLang="zh-CN" sz="2000" kern="0" dirty="0"/>
              <a:t>2</a:t>
            </a:r>
            <a:r>
              <a:rPr lang="zh-CN" altLang="en-US" sz="2000" kern="0" dirty="0"/>
              <a:t>）从赛后利用角度来看，人民群众有参与冰上运动的需求，赛后将打造为北京首家可四季运营的冰上活动中心；</a:t>
            </a:r>
            <a:endParaRPr lang="en-US" altLang="zh-CN" sz="2000" kern="0" dirty="0"/>
          </a:p>
          <a:p>
            <a:pPr lvl="1" eaLnBrk="1" hangingPunct="1">
              <a:defRPr/>
            </a:pPr>
            <a:r>
              <a:rPr lang="zh-CN" altLang="en-US" sz="2000" kern="0" dirty="0" smtClean="0">
                <a:solidFill>
                  <a:srgbClr val="C00000"/>
                </a:solidFill>
              </a:rPr>
              <a:t>如何选择建设</a:t>
            </a:r>
            <a:r>
              <a:rPr lang="zh-CN" altLang="en-US" sz="2000" kern="0" dirty="0">
                <a:solidFill>
                  <a:srgbClr val="C00000"/>
                </a:solidFill>
              </a:rPr>
              <a:t>方案？</a:t>
            </a:r>
            <a:endParaRPr lang="en-US" altLang="zh-CN" sz="2000" kern="0" dirty="0">
              <a:solidFill>
                <a:srgbClr val="C00000"/>
              </a:solidFill>
            </a:endParaRPr>
          </a:p>
          <a:p>
            <a:pPr marL="794385" lvl="1" indent="0" eaLnBrk="1" hangingPunct="1">
              <a:buFontTx/>
              <a:buNone/>
              <a:defRPr/>
            </a:pPr>
            <a:r>
              <a:rPr lang="zh-CN" altLang="en-US" sz="2000" kern="0" dirty="0"/>
              <a:t>（</a:t>
            </a:r>
            <a:r>
              <a:rPr lang="en-US" altLang="zh-CN" sz="2000" kern="0" dirty="0"/>
              <a:t>1</a:t>
            </a:r>
            <a:r>
              <a:rPr lang="zh-CN" altLang="en-US" sz="2000" kern="0" dirty="0"/>
              <a:t>）</a:t>
            </a:r>
            <a:r>
              <a:rPr lang="zh-CN" altLang="en-US" sz="2000" kern="0" dirty="0" smtClean="0"/>
              <a:t>建设规模：规划</a:t>
            </a:r>
            <a:r>
              <a:rPr lang="zh-CN" altLang="en-US" sz="2000" kern="0" dirty="0"/>
              <a:t>用地范围约</a:t>
            </a:r>
            <a:r>
              <a:rPr lang="en-US" altLang="zh-CN" sz="2000" kern="0" dirty="0"/>
              <a:t>20</a:t>
            </a:r>
            <a:r>
              <a:rPr lang="zh-CN" altLang="en-US" sz="2000" kern="0" dirty="0"/>
              <a:t>公顷，建筑面积约</a:t>
            </a:r>
            <a:r>
              <a:rPr lang="en-US" altLang="zh-CN" sz="2000" kern="0" dirty="0"/>
              <a:t>8</a:t>
            </a:r>
            <a:r>
              <a:rPr lang="zh-CN" altLang="en-US" sz="2000" kern="0" dirty="0"/>
              <a:t>万平方米，建筑高度不超过</a:t>
            </a:r>
            <a:r>
              <a:rPr lang="en-US" altLang="zh-CN" sz="2000" kern="0" dirty="0"/>
              <a:t>55</a:t>
            </a:r>
            <a:r>
              <a:rPr lang="zh-CN" altLang="en-US" sz="2000" kern="0" dirty="0"/>
              <a:t>米，场馆坐席约</a:t>
            </a:r>
            <a:r>
              <a:rPr lang="en-US" altLang="zh-CN" sz="2000" kern="0" dirty="0"/>
              <a:t>12000</a:t>
            </a:r>
            <a:r>
              <a:rPr lang="zh-CN" altLang="en-US" sz="2000" kern="0" dirty="0"/>
              <a:t>席</a:t>
            </a:r>
            <a:r>
              <a:rPr lang="zh-CN" altLang="en-US" sz="2000" kern="0" dirty="0" smtClean="0"/>
              <a:t>。</a:t>
            </a:r>
            <a:endParaRPr lang="en-US" altLang="zh-CN" sz="2000" kern="0" dirty="0" smtClean="0"/>
          </a:p>
          <a:p>
            <a:pPr marL="794385" lvl="1" indent="0" eaLnBrk="1" hangingPunct="1">
              <a:buFontTx/>
              <a:buNone/>
              <a:defRPr/>
            </a:pPr>
            <a:r>
              <a:rPr lang="zh-CN" altLang="en-US" sz="2000" kern="0" dirty="0" smtClean="0"/>
              <a:t>（</a:t>
            </a:r>
            <a:r>
              <a:rPr lang="en-US" altLang="zh-CN" sz="2000" kern="0" dirty="0" smtClean="0"/>
              <a:t>2</a:t>
            </a:r>
            <a:r>
              <a:rPr lang="zh-CN" altLang="en-US" sz="2000" kern="0" dirty="0" smtClean="0"/>
              <a:t>）建设要求：</a:t>
            </a:r>
            <a:endParaRPr lang="en-US" altLang="zh-CN" sz="2000" kern="0" dirty="0" smtClean="0"/>
          </a:p>
          <a:p>
            <a:pPr lvl="3" eaLnBrk="1" hangingPunct="1">
              <a:buFont typeface="Wingdings" panose="05000000000000000000" pitchFamily="2" charset="2"/>
              <a:buChar char="Ø"/>
              <a:defRPr/>
            </a:pPr>
            <a:r>
              <a:rPr lang="zh-CN" altLang="en-US" dirty="0"/>
              <a:t>技术</a:t>
            </a:r>
            <a:r>
              <a:rPr lang="zh-CN" altLang="en-US" dirty="0" smtClean="0"/>
              <a:t>方面：需</a:t>
            </a:r>
            <a:r>
              <a:rPr lang="zh-CN" altLang="en-US" dirty="0"/>
              <a:t>考虑坐席数的限制、场地大小、观众的视线、运动员和观众疏散、制冰和温度控制等要求；</a:t>
            </a:r>
            <a:endParaRPr lang="en-US" altLang="zh-CN" dirty="0"/>
          </a:p>
          <a:p>
            <a:pPr lvl="3" eaLnBrk="1" hangingPunct="1">
              <a:buFont typeface="Wingdings" panose="05000000000000000000" pitchFamily="2" charset="2"/>
              <a:buChar char="Ø"/>
              <a:defRPr/>
            </a:pPr>
            <a:r>
              <a:rPr lang="zh-CN" altLang="en-US" dirty="0"/>
              <a:t>既要考虑</a:t>
            </a:r>
            <a:r>
              <a:rPr lang="zh-CN" altLang="en-US" dirty="0">
                <a:solidFill>
                  <a:srgbClr val="FF0000"/>
                </a:solidFill>
              </a:rPr>
              <a:t>赛时</a:t>
            </a:r>
            <a:r>
              <a:rPr lang="zh-CN" altLang="en-US" dirty="0"/>
              <a:t>、也要考虑</a:t>
            </a:r>
            <a:r>
              <a:rPr lang="zh-CN" altLang="en-US" dirty="0">
                <a:solidFill>
                  <a:srgbClr val="FF0000"/>
                </a:solidFill>
              </a:rPr>
              <a:t>赛后利用和运营</a:t>
            </a:r>
            <a:r>
              <a:rPr lang="zh-CN" altLang="en-US" dirty="0"/>
              <a:t>；</a:t>
            </a:r>
            <a:endParaRPr lang="en-US" altLang="zh-CN" dirty="0"/>
          </a:p>
          <a:p>
            <a:pPr lvl="3" eaLnBrk="1" hangingPunct="1">
              <a:buFont typeface="Wingdings" panose="05000000000000000000" pitchFamily="2" charset="2"/>
              <a:buChar char="Ø"/>
              <a:defRPr/>
            </a:pPr>
            <a:r>
              <a:rPr lang="zh-CN" altLang="en-US" dirty="0"/>
              <a:t>满足城市规划、风貌的要求，体现城市的文化特征和文化自信。</a:t>
            </a:r>
            <a:endParaRPr lang="en-US" altLang="zh-CN" dirty="0"/>
          </a:p>
          <a:p>
            <a:pPr marL="794385" lvl="1" indent="0" eaLnBrk="1" hangingPunct="1">
              <a:buFontTx/>
              <a:buNone/>
              <a:defRPr/>
            </a:pPr>
            <a:r>
              <a:rPr lang="zh-CN" altLang="en-US" sz="2000" kern="0" dirty="0" smtClean="0"/>
              <a:t>（</a:t>
            </a:r>
            <a:r>
              <a:rPr lang="en-US" altLang="zh-CN" sz="2000" kern="0" dirty="0" smtClean="0"/>
              <a:t>3</a:t>
            </a:r>
            <a:r>
              <a:rPr lang="zh-CN" altLang="en-US" sz="2000" kern="0" dirty="0" smtClean="0"/>
              <a:t>）</a:t>
            </a:r>
            <a:r>
              <a:rPr lang="zh-CN" altLang="en-US" sz="2000" kern="0" dirty="0"/>
              <a:t>方案征集：国际竞赛，先进行资格预审并评选出</a:t>
            </a:r>
            <a:r>
              <a:rPr lang="en-US" altLang="zh-CN" sz="2000" kern="0" dirty="0"/>
              <a:t>12</a:t>
            </a:r>
            <a:r>
              <a:rPr lang="zh-CN" altLang="en-US" sz="2000" kern="0" dirty="0"/>
              <a:t>家左右参赛设计机构；最终将评选出</a:t>
            </a:r>
            <a:r>
              <a:rPr lang="en-US" altLang="zh-CN" sz="2000" kern="0" dirty="0"/>
              <a:t>3</a:t>
            </a:r>
            <a:r>
              <a:rPr lang="zh-CN" altLang="en-US" sz="2000" kern="0" dirty="0"/>
              <a:t>个优胜方案，从中选择</a:t>
            </a:r>
            <a:r>
              <a:rPr lang="en-US" altLang="zh-CN" sz="2000" kern="0" dirty="0"/>
              <a:t>1</a:t>
            </a:r>
            <a:r>
              <a:rPr lang="zh-CN" altLang="en-US" sz="2000" kern="0" dirty="0"/>
              <a:t>个方案进行建设。</a:t>
            </a:r>
            <a:endParaRPr lang="en-US" altLang="zh-CN" sz="2000" kern="0" dirty="0"/>
          </a:p>
          <a:p>
            <a:pPr marL="1080135" lvl="1" eaLnBrk="1" hangingPunct="1">
              <a:buFont typeface="Wingdings" panose="05000000000000000000" pitchFamily="2" charset="2"/>
              <a:buChar char="l"/>
              <a:defRPr/>
            </a:pPr>
            <a:endParaRPr lang="en-US" altLang="zh-CN" sz="200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blinds(horizontal)">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blinds(horizontal)">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5">
                                            <p:txEl>
                                              <p:pRg st="10" end="10"/>
                                            </p:txEl>
                                          </p:spTgt>
                                        </p:tgtEl>
                                        <p:attrNameLst>
                                          <p:attrName>style.visibility</p:attrName>
                                        </p:attrNameLst>
                                      </p:cBhvr>
                                      <p:to>
                                        <p:strVal val="visible"/>
                                      </p:to>
                                    </p:set>
                                    <p:animEffect transition="in" filter="blinds(horizontal)">
                                      <p:cBhvr>
                                        <p:cTn id="5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52400" y="165100"/>
            <a:ext cx="8178800" cy="609600"/>
          </a:xfrm>
        </p:spPr>
        <p:txBody>
          <a:bodyPr/>
          <a:lstStyle/>
          <a:p>
            <a:pPr eaLnBrk="1" hangingPunct="1"/>
            <a:r>
              <a:rPr lang="zh-CN" altLang="en-US" smtClean="0"/>
              <a:t>国家速滑馆最终方案：冰丝带</a:t>
            </a:r>
            <a:endParaRPr lang="zh-CN" altLang="en-US" smtClean="0"/>
          </a:p>
        </p:txBody>
      </p:sp>
      <p:sp>
        <p:nvSpPr>
          <p:cNvPr id="5" name="Rectangle 3"/>
          <p:cNvSpPr txBox="1">
            <a:spLocks noChangeArrowheads="1"/>
          </p:cNvSpPr>
          <p:nvPr/>
        </p:nvSpPr>
        <p:spPr bwMode="auto">
          <a:xfrm>
            <a:off x="-271463" y="977900"/>
            <a:ext cx="5586413"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a:lstStyle>
          <a:p>
            <a:pPr lvl="1" eaLnBrk="1" hangingPunct="1">
              <a:defRPr/>
            </a:pPr>
            <a:r>
              <a:rPr lang="en-US" altLang="zh-CN" sz="2000" kern="0" dirty="0"/>
              <a:t>2016</a:t>
            </a:r>
            <a:r>
              <a:rPr lang="zh-CN" altLang="en-US" sz="2000" kern="0" dirty="0"/>
              <a:t>年</a:t>
            </a:r>
            <a:r>
              <a:rPr lang="en-US" altLang="zh-CN" sz="2000" kern="0" dirty="0"/>
              <a:t>3</a:t>
            </a:r>
            <a:r>
              <a:rPr lang="zh-CN" altLang="en-US" sz="2000" kern="0" dirty="0"/>
              <a:t>月，国家速滑馆效果图首次亮相，形似“蚕蛹”，被誉为“冰丝带”，位于北京奥林匹克森林公园网球中心南侧。</a:t>
            </a:r>
            <a:endParaRPr lang="en-US" altLang="zh-CN" sz="2000" kern="0" dirty="0"/>
          </a:p>
          <a:p>
            <a:pPr lvl="1" eaLnBrk="1" hangingPunct="1">
              <a:defRPr/>
            </a:pPr>
            <a:r>
              <a:rPr lang="zh-CN" altLang="en-US" sz="2000" kern="0" dirty="0" smtClean="0"/>
              <a:t>预计</a:t>
            </a:r>
            <a:r>
              <a:rPr lang="en-US" altLang="zh-CN" sz="2000" kern="0" dirty="0" smtClean="0"/>
              <a:t>2019</a:t>
            </a:r>
            <a:r>
              <a:rPr lang="zh-CN" altLang="en-US" sz="2000" kern="0" dirty="0"/>
              <a:t>年底永久性</a:t>
            </a:r>
            <a:r>
              <a:rPr lang="zh-CN" altLang="en-US" sz="2000" kern="0" dirty="0" smtClean="0"/>
              <a:t>设施施工完毕。</a:t>
            </a:r>
            <a:endParaRPr lang="en-US" altLang="zh-CN" sz="2000" kern="0" dirty="0" smtClean="0"/>
          </a:p>
          <a:p>
            <a:pPr lvl="1" eaLnBrk="1" hangingPunct="1">
              <a:defRPr/>
            </a:pPr>
            <a:r>
              <a:rPr lang="zh-CN" altLang="en-US" sz="2000" kern="0" dirty="0" smtClean="0"/>
              <a:t>建筑亮点：</a:t>
            </a:r>
            <a:endParaRPr lang="en-US" altLang="zh-CN" sz="2000" kern="0" dirty="0" smtClean="0"/>
          </a:p>
          <a:p>
            <a:pPr marL="794385" lvl="1" indent="0" eaLnBrk="1" hangingPunct="1">
              <a:buFontTx/>
              <a:buNone/>
              <a:defRPr/>
            </a:pPr>
            <a:r>
              <a:rPr lang="zh-CN" altLang="en-US" sz="2000" kern="0" dirty="0">
                <a:solidFill>
                  <a:srgbClr val="C00000"/>
                </a:solidFill>
              </a:rPr>
              <a:t>（</a:t>
            </a:r>
            <a:r>
              <a:rPr lang="en-US" altLang="zh-CN" sz="2000" kern="0" dirty="0">
                <a:solidFill>
                  <a:srgbClr val="C00000"/>
                </a:solidFill>
              </a:rPr>
              <a:t>1</a:t>
            </a:r>
            <a:r>
              <a:rPr lang="zh-CN" altLang="en-US" sz="2000" kern="0" dirty="0">
                <a:solidFill>
                  <a:srgbClr val="C00000"/>
                </a:solidFill>
              </a:rPr>
              <a:t>）屋面“天幕” 索网跨度破</a:t>
            </a:r>
            <a:r>
              <a:rPr lang="zh-CN" altLang="en-US" sz="2000" kern="0" dirty="0" smtClean="0">
                <a:solidFill>
                  <a:srgbClr val="C00000"/>
                </a:solidFill>
              </a:rPr>
              <a:t>世界纪录</a:t>
            </a:r>
            <a:endParaRPr lang="en-US" altLang="zh-CN" sz="2000" kern="0" dirty="0">
              <a:solidFill>
                <a:srgbClr val="C00000"/>
              </a:solidFill>
            </a:endParaRPr>
          </a:p>
          <a:p>
            <a:pPr marL="1251585" lvl="1" indent="-457200" eaLnBrk="1" hangingPunct="1">
              <a:buFont typeface="Wingdings" panose="05000000000000000000" pitchFamily="2" charset="2"/>
              <a:buChar char="Ø"/>
              <a:defRPr/>
            </a:pPr>
            <a:r>
              <a:rPr lang="zh-CN" altLang="en-US" sz="2000" dirty="0"/>
              <a:t>屋面长跨约</a:t>
            </a:r>
            <a:r>
              <a:rPr lang="en-US" altLang="zh-CN" sz="2000" dirty="0"/>
              <a:t>200</a:t>
            </a:r>
            <a:r>
              <a:rPr lang="zh-CN" altLang="en-US" sz="2000" dirty="0"/>
              <a:t>米、短跨约</a:t>
            </a:r>
            <a:r>
              <a:rPr lang="en-US" altLang="zh-CN" sz="2000" dirty="0"/>
              <a:t>130</a:t>
            </a:r>
            <a:r>
              <a:rPr lang="zh-CN" altLang="en-US" sz="2000" dirty="0"/>
              <a:t>米，是目前世界上体育场馆中规模最大的单层双向正交马鞍形索网屋面。</a:t>
            </a:r>
            <a:endParaRPr lang="en-US" altLang="zh-CN" sz="2000" dirty="0"/>
          </a:p>
          <a:p>
            <a:pPr marL="794385" lvl="1" indent="0" eaLnBrk="1" hangingPunct="1">
              <a:buFontTx/>
              <a:buNone/>
              <a:defRPr/>
            </a:pPr>
            <a:r>
              <a:rPr lang="zh-CN" altLang="en-US" sz="2000" kern="0" dirty="0">
                <a:solidFill>
                  <a:srgbClr val="C00000"/>
                </a:solidFill>
              </a:rPr>
              <a:t>（</a:t>
            </a:r>
            <a:r>
              <a:rPr lang="en-US" altLang="zh-CN" sz="2000" kern="0" dirty="0">
                <a:solidFill>
                  <a:srgbClr val="C00000"/>
                </a:solidFill>
              </a:rPr>
              <a:t>2</a:t>
            </a:r>
            <a:r>
              <a:rPr lang="zh-CN" altLang="en-US" sz="2000" kern="0" dirty="0">
                <a:solidFill>
                  <a:srgbClr val="C00000"/>
                </a:solidFill>
              </a:rPr>
              <a:t>）幕墙“丝带” 外型飘逸的精密</a:t>
            </a:r>
            <a:r>
              <a:rPr lang="zh-CN" altLang="en-US" sz="2000" kern="0" dirty="0" smtClean="0">
                <a:solidFill>
                  <a:srgbClr val="C00000"/>
                </a:solidFill>
              </a:rPr>
              <a:t>结构</a:t>
            </a:r>
            <a:endParaRPr lang="en-US" altLang="zh-CN" sz="2000" kern="0" dirty="0">
              <a:solidFill>
                <a:srgbClr val="C00000"/>
              </a:solidFill>
            </a:endParaRPr>
          </a:p>
          <a:p>
            <a:pPr marL="1251585" lvl="1" indent="-457200" eaLnBrk="1" hangingPunct="1">
              <a:buFont typeface="Wingdings" panose="05000000000000000000" pitchFamily="2" charset="2"/>
              <a:buChar char="Ø"/>
              <a:defRPr/>
            </a:pPr>
            <a:r>
              <a:rPr lang="zh-CN" altLang="en-US" sz="2000" dirty="0"/>
              <a:t>设计理念来自于冰和速度结合的创意，“冰丝带”像速度滑冰运动员高速滑动时所留下的一圈圈风驰电掣的轨迹。冰上画痕成丝带，</a:t>
            </a:r>
            <a:r>
              <a:rPr lang="en-US" altLang="zh-CN" sz="2000" dirty="0"/>
              <a:t>22</a:t>
            </a:r>
            <a:r>
              <a:rPr lang="zh-CN" altLang="en-US" sz="2000" dirty="0"/>
              <a:t>条“冰丝带”又象征着北京</a:t>
            </a:r>
            <a:r>
              <a:rPr lang="en-US" altLang="zh-CN" sz="2000" dirty="0"/>
              <a:t>2022</a:t>
            </a:r>
            <a:r>
              <a:rPr lang="zh-CN" altLang="en-US" sz="2000" dirty="0"/>
              <a:t>年冬奥会</a:t>
            </a:r>
            <a:r>
              <a:rPr lang="zh-CN" altLang="en-US" sz="2000" dirty="0" smtClean="0"/>
              <a:t>。</a:t>
            </a:r>
            <a:endParaRPr lang="en-US" altLang="zh-CN" sz="2000" dirty="0"/>
          </a:p>
        </p:txBody>
      </p:sp>
      <p:sp>
        <p:nvSpPr>
          <p:cNvPr id="6" name="矩形 5"/>
          <p:cNvSpPr/>
          <p:nvPr/>
        </p:nvSpPr>
        <p:spPr>
          <a:xfrm>
            <a:off x="5764213" y="3005138"/>
            <a:ext cx="2711450" cy="400050"/>
          </a:xfrm>
          <a:prstGeom prst="rect">
            <a:avLst/>
          </a:prstGeom>
        </p:spPr>
        <p:txBody>
          <a:bodyPr wrap="none">
            <a:spAutoFit/>
          </a:bodyPr>
          <a:lstStyle/>
          <a:p>
            <a:pPr lvl="1" eaLnBrk="1" hangingPunct="1">
              <a:defRPr/>
            </a:pPr>
            <a:r>
              <a:rPr lang="zh-CN" altLang="en-US" sz="2000" kern="0" dirty="0"/>
              <a:t>“冰丝带”效果图</a:t>
            </a:r>
            <a:endParaRPr lang="en-US" altLang="zh-CN" sz="2000" kern="0" dirty="0"/>
          </a:p>
        </p:txBody>
      </p:sp>
      <p:sp>
        <p:nvSpPr>
          <p:cNvPr id="9" name="矩形 8"/>
          <p:cNvSpPr/>
          <p:nvPr/>
        </p:nvSpPr>
        <p:spPr>
          <a:xfrm>
            <a:off x="5764213" y="5870575"/>
            <a:ext cx="2968625" cy="400050"/>
          </a:xfrm>
          <a:prstGeom prst="rect">
            <a:avLst/>
          </a:prstGeom>
        </p:spPr>
        <p:txBody>
          <a:bodyPr wrap="none">
            <a:spAutoFit/>
          </a:bodyPr>
          <a:lstStyle/>
          <a:p>
            <a:pPr lvl="1" eaLnBrk="1" hangingPunct="1">
              <a:defRPr/>
            </a:pPr>
            <a:r>
              <a:rPr lang="zh-CN" altLang="en-US" sz="2000" kern="0" dirty="0"/>
              <a:t>“冰丝带”屋面索网</a:t>
            </a:r>
            <a:endParaRPr lang="en-US" altLang="zh-CN" sz="2000" kern="0" dirty="0"/>
          </a:p>
        </p:txBody>
      </p:sp>
      <p:pic>
        <p:nvPicPr>
          <p:cNvPr id="9222"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702300" y="808038"/>
            <a:ext cx="3222625"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图片 10"/>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02300" y="3706813"/>
            <a:ext cx="3222625"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2400" y="165100"/>
            <a:ext cx="8178800" cy="609600"/>
          </a:xfrm>
        </p:spPr>
        <p:txBody>
          <a:bodyPr/>
          <a:lstStyle/>
          <a:p>
            <a:pPr eaLnBrk="1" hangingPunct="1"/>
            <a:r>
              <a:rPr lang="zh-CN" altLang="en-US" smtClean="0"/>
              <a:t>国家速滑馆最终方案：冰丝带</a:t>
            </a:r>
            <a:endParaRPr lang="zh-CN" altLang="en-US" smtClean="0"/>
          </a:p>
        </p:txBody>
      </p:sp>
      <p:sp>
        <p:nvSpPr>
          <p:cNvPr id="5" name="Rectangle 3"/>
          <p:cNvSpPr txBox="1">
            <a:spLocks noChangeArrowheads="1"/>
          </p:cNvSpPr>
          <p:nvPr/>
        </p:nvSpPr>
        <p:spPr bwMode="auto">
          <a:xfrm>
            <a:off x="-609600" y="884238"/>
            <a:ext cx="6465888" cy="5880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a:lstStyle>
          <a:p>
            <a:pPr marL="794385" lvl="1" indent="0" eaLnBrk="1" hangingPunct="1">
              <a:buFontTx/>
              <a:buNone/>
              <a:defRPr/>
            </a:pPr>
            <a:r>
              <a:rPr lang="zh-CN" altLang="en-US" sz="2000" kern="0" dirty="0" smtClean="0">
                <a:solidFill>
                  <a:srgbClr val="C00000"/>
                </a:solidFill>
              </a:rPr>
              <a:t>（</a:t>
            </a:r>
            <a:r>
              <a:rPr lang="en-US" altLang="zh-CN" sz="2000" kern="0" dirty="0" smtClean="0">
                <a:solidFill>
                  <a:srgbClr val="C00000"/>
                </a:solidFill>
              </a:rPr>
              <a:t>3</a:t>
            </a:r>
            <a:r>
              <a:rPr lang="zh-CN" altLang="en-US" sz="2000" kern="0" dirty="0" smtClean="0">
                <a:solidFill>
                  <a:srgbClr val="C00000"/>
                </a:solidFill>
              </a:rPr>
              <a:t>）最大冰面 制冰将采用最环保工艺：</a:t>
            </a:r>
            <a:endParaRPr lang="en-US" altLang="zh-CN" sz="2000" kern="0" dirty="0" smtClean="0">
              <a:solidFill>
                <a:srgbClr val="C00000"/>
              </a:solidFill>
            </a:endParaRPr>
          </a:p>
          <a:p>
            <a:pPr marL="1251585" lvl="1" indent="-457200" eaLnBrk="1" hangingPunct="1">
              <a:buFont typeface="Wingdings" panose="05000000000000000000" pitchFamily="2" charset="2"/>
              <a:buChar char="Ø"/>
              <a:defRPr/>
            </a:pPr>
            <a:r>
              <a:rPr lang="zh-CN" altLang="en-US" sz="2000" dirty="0" smtClean="0"/>
              <a:t>采用全冰面设计，冰面面积约</a:t>
            </a:r>
            <a:r>
              <a:rPr lang="en-US" altLang="zh-CN" sz="2000" dirty="0" smtClean="0"/>
              <a:t>1.2</a:t>
            </a:r>
            <a:r>
              <a:rPr lang="zh-CN" altLang="en-US" sz="2000" dirty="0" smtClean="0"/>
              <a:t>万平方米。</a:t>
            </a:r>
            <a:endParaRPr lang="en-US" altLang="zh-CN" sz="2000" dirty="0" smtClean="0"/>
          </a:p>
          <a:p>
            <a:pPr marL="1251585" lvl="1" indent="-457200" eaLnBrk="1" hangingPunct="1">
              <a:buFont typeface="Wingdings" panose="05000000000000000000" pitchFamily="2" charset="2"/>
              <a:buChar char="Ø"/>
              <a:defRPr/>
            </a:pPr>
            <a:r>
              <a:rPr lang="zh-CN" altLang="en-US" sz="2000" dirty="0" smtClean="0"/>
              <a:t>世界体育场馆中首次采用二氧化碳做制冷剂的最环保制冰技术；制冰过程产生的热量通过高效回收系统转化为运动员淋浴、融冰池融冰、场地冰面维护等所需热能。同时利用空气能为</a:t>
            </a:r>
            <a:r>
              <a:rPr lang="en-US" altLang="zh-CN" sz="2000" dirty="0" smtClean="0"/>
              <a:t>3000</a:t>
            </a:r>
            <a:r>
              <a:rPr lang="zh-CN" altLang="en-US" sz="2000" dirty="0" smtClean="0"/>
              <a:t>平方米场馆管理用房供暖。</a:t>
            </a:r>
            <a:endParaRPr lang="en-US" altLang="zh-CN" sz="2000" dirty="0" smtClean="0"/>
          </a:p>
          <a:p>
            <a:pPr marL="1251585" lvl="1" indent="-457200" eaLnBrk="1" hangingPunct="1">
              <a:buFont typeface="Wingdings" panose="05000000000000000000" pitchFamily="2" charset="2"/>
              <a:buChar char="Ø"/>
              <a:defRPr/>
            </a:pPr>
            <a:r>
              <a:rPr lang="zh-CN" altLang="en-US" sz="2000" dirty="0" smtClean="0"/>
              <a:t>年节省</a:t>
            </a:r>
            <a:r>
              <a:rPr lang="en-US" altLang="zh-CN" sz="2000" dirty="0" smtClean="0"/>
              <a:t>180</a:t>
            </a:r>
            <a:r>
              <a:rPr lang="zh-CN" altLang="en-US" sz="2000" dirty="0" smtClean="0"/>
              <a:t>万度电，实现</a:t>
            </a:r>
            <a:r>
              <a:rPr lang="en-US" altLang="zh-CN" sz="2000" dirty="0" smtClean="0"/>
              <a:t>160</a:t>
            </a:r>
            <a:r>
              <a:rPr lang="zh-CN" altLang="en-US" sz="2000" dirty="0" smtClean="0"/>
              <a:t>吨二氧化碳减排。</a:t>
            </a:r>
            <a:endParaRPr lang="zh-CN" altLang="en-US" sz="2000" dirty="0" smtClean="0"/>
          </a:p>
          <a:p>
            <a:pPr marL="794385" lvl="1" indent="0" eaLnBrk="1" hangingPunct="1">
              <a:buFontTx/>
              <a:buNone/>
              <a:defRPr/>
            </a:pPr>
            <a:r>
              <a:rPr lang="zh-CN" altLang="en-US" sz="2000" kern="0" dirty="0" smtClean="0">
                <a:solidFill>
                  <a:srgbClr val="C00000"/>
                </a:solidFill>
              </a:rPr>
              <a:t>（</a:t>
            </a:r>
            <a:r>
              <a:rPr lang="en-US" altLang="zh-CN" sz="2000" kern="0" dirty="0">
                <a:solidFill>
                  <a:srgbClr val="C00000"/>
                </a:solidFill>
              </a:rPr>
              <a:t>4</a:t>
            </a:r>
            <a:r>
              <a:rPr lang="zh-CN" altLang="en-US" sz="2000" kern="0" dirty="0">
                <a:solidFill>
                  <a:srgbClr val="C00000"/>
                </a:solidFill>
              </a:rPr>
              <a:t>）赛后运营 将</a:t>
            </a:r>
            <a:r>
              <a:rPr lang="zh-CN" altLang="en-US" sz="2000" kern="0" dirty="0" smtClean="0">
                <a:solidFill>
                  <a:srgbClr val="C00000"/>
                </a:solidFill>
              </a:rPr>
              <a:t>成北京最新冰雪乐园</a:t>
            </a:r>
            <a:r>
              <a:rPr lang="zh-CN" altLang="en-US" sz="2000" kern="0" dirty="0">
                <a:solidFill>
                  <a:srgbClr val="C00000"/>
                </a:solidFill>
              </a:rPr>
              <a:t>：</a:t>
            </a:r>
            <a:endParaRPr lang="en-US" altLang="zh-CN" sz="2000" kern="0" dirty="0">
              <a:solidFill>
                <a:srgbClr val="C00000"/>
              </a:solidFill>
            </a:endParaRPr>
          </a:p>
          <a:p>
            <a:pPr marL="1251585" lvl="1" indent="-457200" eaLnBrk="1" hangingPunct="1">
              <a:buFont typeface="Wingdings" panose="05000000000000000000" pitchFamily="2" charset="2"/>
              <a:buChar char="Ø"/>
              <a:defRPr/>
            </a:pPr>
            <a:r>
              <a:rPr lang="zh-CN" altLang="en-US" sz="2000" dirty="0"/>
              <a:t>冬奥会</a:t>
            </a:r>
            <a:r>
              <a:rPr lang="zh-CN" altLang="en-US" sz="2000" dirty="0" smtClean="0"/>
              <a:t>结束后将</a:t>
            </a:r>
            <a:r>
              <a:rPr lang="en-US" altLang="zh-CN" sz="2000" dirty="0"/>
              <a:t>365</a:t>
            </a:r>
            <a:r>
              <a:rPr lang="zh-CN" altLang="en-US" sz="2000" dirty="0"/>
              <a:t>天不间断经营，成为北京第一座全年不间断、向大众提供开放服务的冰上场馆。</a:t>
            </a:r>
            <a:endParaRPr lang="en-US" altLang="zh-CN" sz="2000" dirty="0"/>
          </a:p>
          <a:p>
            <a:pPr marL="794385" lvl="1" indent="0" eaLnBrk="1" hangingPunct="1">
              <a:buFontTx/>
              <a:buNone/>
              <a:defRPr/>
            </a:pPr>
            <a:r>
              <a:rPr lang="zh-CN" altLang="en-US" sz="2000" kern="0" dirty="0" smtClean="0">
                <a:solidFill>
                  <a:srgbClr val="C00000"/>
                </a:solidFill>
              </a:rPr>
              <a:t>（</a:t>
            </a:r>
            <a:r>
              <a:rPr lang="en-US" altLang="zh-CN" sz="2000" kern="0" dirty="0">
                <a:solidFill>
                  <a:srgbClr val="C00000"/>
                </a:solidFill>
              </a:rPr>
              <a:t>5</a:t>
            </a:r>
            <a:r>
              <a:rPr lang="zh-CN" altLang="en-US" sz="2000" kern="0" dirty="0" smtClean="0">
                <a:solidFill>
                  <a:srgbClr val="C00000"/>
                </a:solidFill>
              </a:rPr>
              <a:t>）引入社会资本：</a:t>
            </a:r>
            <a:endParaRPr lang="en-US" altLang="zh-CN" sz="2000" kern="0" dirty="0" smtClean="0">
              <a:solidFill>
                <a:srgbClr val="C00000"/>
              </a:solidFill>
            </a:endParaRPr>
          </a:p>
          <a:p>
            <a:pPr marL="1251585" lvl="1" indent="-457200" eaLnBrk="1" hangingPunct="1">
              <a:buFont typeface="Wingdings" panose="05000000000000000000" pitchFamily="2" charset="2"/>
              <a:buChar char="Ø"/>
              <a:defRPr/>
            </a:pPr>
            <a:r>
              <a:rPr lang="zh-CN" altLang="en-US" sz="2000" dirty="0" smtClean="0"/>
              <a:t>采用</a:t>
            </a:r>
            <a:r>
              <a:rPr lang="en-US" altLang="zh-CN" sz="2000" dirty="0"/>
              <a:t>PPP</a:t>
            </a:r>
            <a:r>
              <a:rPr lang="zh-CN" altLang="en-US" sz="2000" dirty="0"/>
              <a:t>模式</a:t>
            </a:r>
            <a:r>
              <a:rPr lang="zh-CN" altLang="en-US" sz="2000" dirty="0" smtClean="0"/>
              <a:t>建设，</a:t>
            </a:r>
            <a:r>
              <a:rPr lang="zh-CN" altLang="en-US" sz="2000" dirty="0"/>
              <a:t>汇聚了国资公司、首开股份、城建集团、住总集团、华体集团五家曾经深度参与北京</a:t>
            </a:r>
            <a:r>
              <a:rPr lang="en-US" altLang="zh-CN" sz="2000" dirty="0"/>
              <a:t>2008</a:t>
            </a:r>
            <a:r>
              <a:rPr lang="zh-CN" altLang="en-US" sz="2000" dirty="0"/>
              <a:t>年夏季奥运会建设和赛后运营的国有企业。</a:t>
            </a:r>
            <a:br>
              <a:rPr lang="zh-CN" altLang="en-US" sz="2000" dirty="0"/>
            </a:br>
            <a:endParaRPr lang="en-US" altLang="zh-CN" sz="2000" dirty="0"/>
          </a:p>
        </p:txBody>
      </p:sp>
      <p:pic>
        <p:nvPicPr>
          <p:cNvPr id="10244"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6232525" y="1117600"/>
            <a:ext cx="2655888"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32525" y="4137025"/>
            <a:ext cx="2668588"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6026150" y="6226175"/>
            <a:ext cx="2711450" cy="400050"/>
          </a:xfrm>
          <a:prstGeom prst="rect">
            <a:avLst/>
          </a:prstGeom>
        </p:spPr>
        <p:txBody>
          <a:bodyPr wrap="none">
            <a:spAutoFit/>
          </a:bodyPr>
          <a:lstStyle/>
          <a:p>
            <a:pPr lvl="1" eaLnBrk="1" hangingPunct="1">
              <a:defRPr/>
            </a:pPr>
            <a:r>
              <a:rPr lang="zh-CN" altLang="en-US" sz="2000" kern="0" dirty="0"/>
              <a:t>“冰丝带”平面图</a:t>
            </a:r>
            <a:endParaRPr lang="en-US" altLang="zh-CN" sz="2000" kern="0" dirty="0"/>
          </a:p>
        </p:txBody>
      </p:sp>
      <p:sp>
        <p:nvSpPr>
          <p:cNvPr id="9" name="矩形 8"/>
          <p:cNvSpPr/>
          <p:nvPr/>
        </p:nvSpPr>
        <p:spPr>
          <a:xfrm>
            <a:off x="6026150" y="3022600"/>
            <a:ext cx="2711450" cy="400050"/>
          </a:xfrm>
          <a:prstGeom prst="rect">
            <a:avLst/>
          </a:prstGeom>
        </p:spPr>
        <p:txBody>
          <a:bodyPr wrap="none">
            <a:spAutoFit/>
          </a:bodyPr>
          <a:lstStyle/>
          <a:p>
            <a:pPr lvl="1" eaLnBrk="1" hangingPunct="1">
              <a:defRPr/>
            </a:pPr>
            <a:r>
              <a:rPr lang="zh-CN" altLang="en-US" sz="2000" kern="0" dirty="0"/>
              <a:t>“冰丝带”效果图</a:t>
            </a:r>
            <a:endParaRPr lang="en-US" altLang="zh-CN" sz="2000"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52400" y="165100"/>
            <a:ext cx="8178800" cy="609600"/>
          </a:xfrm>
        </p:spPr>
        <p:txBody>
          <a:bodyPr/>
          <a:lstStyle/>
          <a:p>
            <a:pPr eaLnBrk="1" hangingPunct="1"/>
            <a:r>
              <a:rPr lang="zh-CN" altLang="en-US" smtClean="0"/>
              <a:t>工程经济学  体系回顾</a:t>
            </a:r>
            <a:endParaRPr lang="zh-CN" altLang="en-US" smtClean="0"/>
          </a:p>
        </p:txBody>
      </p:sp>
      <p:sp>
        <p:nvSpPr>
          <p:cNvPr id="751619" name="Rectangle 3"/>
          <p:cNvSpPr>
            <a:spLocks noGrp="1" noChangeArrowheads="1"/>
          </p:cNvSpPr>
          <p:nvPr>
            <p:ph type="body" idx="1"/>
          </p:nvPr>
        </p:nvSpPr>
        <p:spPr/>
        <p:txBody>
          <a:bodyPr/>
          <a:lstStyle/>
          <a:p>
            <a:pPr eaLnBrk="1" hangingPunct="1"/>
            <a:r>
              <a:rPr lang="zh-CN" altLang="en-US" smtClean="0"/>
              <a:t>工程经济学的基本逻辑：</a:t>
            </a:r>
            <a:endParaRPr lang="zh-CN" altLang="en-US" smtClean="0"/>
          </a:p>
          <a:p>
            <a:pPr algn="ctr" eaLnBrk="1" hangingPunct="1">
              <a:buFontTx/>
              <a:buNone/>
            </a:pPr>
            <a:r>
              <a:rPr lang="zh-CN" altLang="en-US" sz="3600" smtClean="0">
                <a:solidFill>
                  <a:srgbClr val="800000"/>
                </a:solidFill>
              </a:rPr>
              <a:t>收益</a:t>
            </a:r>
            <a:r>
              <a:rPr lang="en-US" altLang="zh-CN" sz="3600" smtClean="0">
                <a:solidFill>
                  <a:srgbClr val="800000"/>
                </a:solidFill>
              </a:rPr>
              <a:t>&gt;</a:t>
            </a:r>
            <a:r>
              <a:rPr lang="zh-CN" altLang="en-US" sz="3600" smtClean="0">
                <a:solidFill>
                  <a:srgbClr val="800000"/>
                </a:solidFill>
              </a:rPr>
              <a:t>成本？</a:t>
            </a:r>
            <a:endParaRPr lang="zh-CN" altLang="en-US" sz="3600" smtClean="0">
              <a:solidFill>
                <a:srgbClr val="800000"/>
              </a:solidFill>
            </a:endParaRPr>
          </a:p>
          <a:p>
            <a:pPr algn="ctr" eaLnBrk="1" hangingPunct="1">
              <a:buFontTx/>
              <a:buNone/>
            </a:pPr>
            <a:r>
              <a:rPr lang="zh-CN" altLang="en-US" sz="3600" smtClean="0">
                <a:solidFill>
                  <a:srgbClr val="800000"/>
                </a:solidFill>
              </a:rPr>
              <a:t>效益成本分析</a:t>
            </a:r>
            <a:r>
              <a:rPr lang="en-US" altLang="zh-CN" sz="3600" smtClean="0">
                <a:solidFill>
                  <a:srgbClr val="800000"/>
                </a:solidFill>
              </a:rPr>
              <a:t>(BCA)</a:t>
            </a:r>
            <a:endParaRPr lang="en-US" altLang="zh-CN" sz="3600" smtClean="0">
              <a:solidFill>
                <a:srgbClr val="800000"/>
              </a:solidFill>
            </a:endParaRPr>
          </a:p>
          <a:p>
            <a:pPr eaLnBrk="1" hangingPunct="1"/>
            <a:endParaRPr lang="zh-CN" altLang="en-US" smtClean="0">
              <a:solidFill>
                <a:srgbClr val="800000"/>
              </a:solidFill>
            </a:endParaRPr>
          </a:p>
          <a:p>
            <a:pPr eaLnBrk="1" hangingPunct="1"/>
            <a:r>
              <a:rPr lang="zh-CN" altLang="en-US" smtClean="0"/>
              <a:t>工程经济学的基本技术：</a:t>
            </a:r>
            <a:endParaRPr lang="zh-CN" altLang="en-US" smtClean="0"/>
          </a:p>
          <a:p>
            <a:pPr eaLnBrk="1" hangingPunct="1">
              <a:buFontTx/>
              <a:buNone/>
            </a:pPr>
            <a:r>
              <a:rPr lang="zh-CN" altLang="en-US" smtClean="0">
                <a:solidFill>
                  <a:srgbClr val="800000"/>
                </a:solidFill>
              </a:rPr>
              <a:t>               </a:t>
            </a:r>
            <a:r>
              <a:rPr lang="zh-CN" altLang="en-US" sz="3600" smtClean="0">
                <a:solidFill>
                  <a:srgbClr val="800000"/>
                </a:solidFill>
              </a:rPr>
              <a:t>资金时间价值的计算（折现）</a:t>
            </a:r>
            <a:endParaRPr lang="zh-CN" altLang="en-US" sz="3600" smtClean="0">
              <a:solidFill>
                <a:srgbClr val="800000"/>
              </a:solidFill>
            </a:endParaRPr>
          </a:p>
          <a:p>
            <a:pPr eaLnBrk="1" hangingPunct="1"/>
            <a:endParaRPr lang="zh-CN" altLang="en-US" smtClean="0"/>
          </a:p>
          <a:p>
            <a:pPr eaLnBrk="1" hangingPunct="1"/>
            <a:r>
              <a:rPr lang="zh-CN" altLang="en-US" smtClean="0"/>
              <a:t>工程经济学的落脚点</a:t>
            </a:r>
            <a:r>
              <a:rPr lang="en-US" altLang="zh-CN" smtClean="0"/>
              <a:t>:</a:t>
            </a:r>
            <a:endParaRPr lang="en-US" altLang="zh-CN" smtClean="0"/>
          </a:p>
          <a:p>
            <a:pPr eaLnBrk="1" hangingPunct="1">
              <a:buFontTx/>
              <a:buNone/>
            </a:pPr>
            <a:r>
              <a:rPr lang="zh-CN" altLang="en-US" smtClean="0">
                <a:solidFill>
                  <a:srgbClr val="800000"/>
                </a:solidFill>
              </a:rPr>
              <a:t>                        </a:t>
            </a:r>
            <a:r>
              <a:rPr lang="zh-CN" altLang="en-US" sz="3600" smtClean="0">
                <a:solidFill>
                  <a:srgbClr val="800000"/>
                </a:solidFill>
              </a:rPr>
              <a:t>方案评价和比选</a:t>
            </a:r>
            <a:endParaRPr lang="zh-CN" altLang="en-US" sz="3600" smtClean="0">
              <a:solidFill>
                <a:srgbClr val="8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1619">
                                            <p:txEl>
                                              <p:pRg st="0" end="0"/>
                                            </p:txEl>
                                          </p:spTgt>
                                        </p:tgtEl>
                                        <p:attrNameLst>
                                          <p:attrName>style.visibility</p:attrName>
                                        </p:attrNameLst>
                                      </p:cBhvr>
                                      <p:to>
                                        <p:strVal val="visible"/>
                                      </p:to>
                                    </p:set>
                                    <p:animEffect transition="in" filter="blinds(horizontal)">
                                      <p:cBhvr>
                                        <p:cTn id="7" dur="500"/>
                                        <p:tgtEl>
                                          <p:spTgt spid="7516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1619">
                                            <p:txEl>
                                              <p:pRg st="1" end="1"/>
                                            </p:txEl>
                                          </p:spTgt>
                                        </p:tgtEl>
                                        <p:attrNameLst>
                                          <p:attrName>style.visibility</p:attrName>
                                        </p:attrNameLst>
                                      </p:cBhvr>
                                      <p:to>
                                        <p:strVal val="visible"/>
                                      </p:to>
                                    </p:set>
                                    <p:animEffect transition="in" filter="blinds(horizontal)">
                                      <p:cBhvr>
                                        <p:cTn id="10" dur="500"/>
                                        <p:tgtEl>
                                          <p:spTgt spid="7516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51619">
                                            <p:txEl>
                                              <p:pRg st="2" end="2"/>
                                            </p:txEl>
                                          </p:spTgt>
                                        </p:tgtEl>
                                        <p:attrNameLst>
                                          <p:attrName>style.visibility</p:attrName>
                                        </p:attrNameLst>
                                      </p:cBhvr>
                                      <p:to>
                                        <p:strVal val="visible"/>
                                      </p:to>
                                    </p:set>
                                    <p:animEffect transition="in" filter="blinds(horizontal)">
                                      <p:cBhvr>
                                        <p:cTn id="13" dur="500"/>
                                        <p:tgtEl>
                                          <p:spTgt spid="75161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51619">
                                            <p:txEl>
                                              <p:pRg st="4" end="4"/>
                                            </p:txEl>
                                          </p:spTgt>
                                        </p:tgtEl>
                                        <p:attrNameLst>
                                          <p:attrName>style.visibility</p:attrName>
                                        </p:attrNameLst>
                                      </p:cBhvr>
                                      <p:to>
                                        <p:strVal val="visible"/>
                                      </p:to>
                                    </p:set>
                                    <p:animEffect transition="in" filter="blinds(horizontal)">
                                      <p:cBhvr>
                                        <p:cTn id="18" dur="500"/>
                                        <p:tgtEl>
                                          <p:spTgt spid="75161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51619">
                                            <p:txEl>
                                              <p:pRg st="5" end="5"/>
                                            </p:txEl>
                                          </p:spTgt>
                                        </p:tgtEl>
                                        <p:attrNameLst>
                                          <p:attrName>style.visibility</p:attrName>
                                        </p:attrNameLst>
                                      </p:cBhvr>
                                      <p:to>
                                        <p:strVal val="visible"/>
                                      </p:to>
                                    </p:set>
                                    <p:animEffect transition="in" filter="blinds(horizontal)">
                                      <p:cBhvr>
                                        <p:cTn id="21" dur="500"/>
                                        <p:tgtEl>
                                          <p:spTgt spid="75161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751619">
                                            <p:txEl>
                                              <p:pRg st="7" end="7"/>
                                            </p:txEl>
                                          </p:spTgt>
                                        </p:tgtEl>
                                        <p:attrNameLst>
                                          <p:attrName>style.visibility</p:attrName>
                                        </p:attrNameLst>
                                      </p:cBhvr>
                                      <p:to>
                                        <p:strVal val="visible"/>
                                      </p:to>
                                    </p:set>
                                    <p:animEffect transition="in" filter="blinds(horizontal)">
                                      <p:cBhvr>
                                        <p:cTn id="26" dur="500"/>
                                        <p:tgtEl>
                                          <p:spTgt spid="751619">
                                            <p:txEl>
                                              <p:pRg st="7" end="7"/>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51619">
                                            <p:txEl>
                                              <p:pRg st="8" end="8"/>
                                            </p:txEl>
                                          </p:spTgt>
                                        </p:tgtEl>
                                        <p:attrNameLst>
                                          <p:attrName>style.visibility</p:attrName>
                                        </p:attrNameLst>
                                      </p:cBhvr>
                                      <p:to>
                                        <p:strVal val="visible"/>
                                      </p:to>
                                    </p:set>
                                    <p:animEffect transition="in" filter="blinds(horizontal)">
                                      <p:cBhvr>
                                        <p:cTn id="29" dur="500"/>
                                        <p:tgtEl>
                                          <p:spTgt spid="7516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 y="165100"/>
            <a:ext cx="8178800" cy="609600"/>
          </a:xfrm>
        </p:spPr>
        <p:txBody>
          <a:bodyPr/>
          <a:lstStyle/>
          <a:p>
            <a:pPr eaLnBrk="1" hangingPunct="1"/>
            <a:r>
              <a:rPr lang="zh-CN" altLang="en-US" smtClean="0"/>
              <a:t>本讲内容</a:t>
            </a:r>
            <a:r>
              <a:rPr lang="en-US" altLang="zh-CN" smtClean="0"/>
              <a:t>: </a:t>
            </a:r>
            <a:r>
              <a:rPr lang="zh-CN" altLang="en-US" smtClean="0"/>
              <a:t>多方案评价和比选</a:t>
            </a:r>
            <a:endParaRPr lang="zh-CN" altLang="en-US" smtClean="0"/>
          </a:p>
        </p:txBody>
      </p:sp>
      <p:sp>
        <p:nvSpPr>
          <p:cNvPr id="12291" name="Rectangle 3"/>
          <p:cNvSpPr>
            <a:spLocks noGrp="1" noChangeArrowheads="1"/>
          </p:cNvSpPr>
          <p:nvPr>
            <p:ph type="body" idx="1"/>
          </p:nvPr>
        </p:nvSpPr>
        <p:spPr/>
        <p:txBody>
          <a:bodyPr/>
          <a:lstStyle/>
          <a:p>
            <a:pPr eaLnBrk="1" hangingPunct="1"/>
            <a:r>
              <a:rPr lang="en-US" altLang="zh-CN" smtClean="0">
                <a:solidFill>
                  <a:srgbClr val="800000"/>
                </a:solidFill>
                <a:latin typeface="宋体" panose="02010600030101010101" pitchFamily="2" charset="-122"/>
              </a:rPr>
              <a:t>1.</a:t>
            </a:r>
            <a:r>
              <a:rPr lang="zh-CN" altLang="en-US" smtClean="0">
                <a:solidFill>
                  <a:srgbClr val="800000"/>
                </a:solidFill>
                <a:latin typeface="宋体" panose="02010600030101010101" pitchFamily="2" charset="-122"/>
              </a:rPr>
              <a:t>方案间关系的类型</a:t>
            </a:r>
            <a:endParaRPr lang="zh-CN" altLang="en-US" smtClean="0">
              <a:solidFill>
                <a:srgbClr val="800000"/>
              </a:solidFill>
              <a:latin typeface="宋体" panose="02010600030101010101" pitchFamily="2" charset="-122"/>
            </a:endParaRPr>
          </a:p>
          <a:p>
            <a:pPr eaLnBrk="1" hangingPunct="1"/>
            <a:endParaRPr lang="zh-CN" altLang="en-US" smtClean="0">
              <a:solidFill>
                <a:srgbClr val="800000"/>
              </a:solidFill>
              <a:latin typeface="宋体" panose="02010600030101010101" pitchFamily="2" charset="-122"/>
            </a:endParaRPr>
          </a:p>
          <a:p>
            <a:pPr eaLnBrk="1" hangingPunct="1"/>
            <a:r>
              <a:rPr lang="en-US" altLang="zh-CN" smtClean="0">
                <a:latin typeface="宋体" panose="02010600030101010101" pitchFamily="2" charset="-122"/>
              </a:rPr>
              <a:t>2.</a:t>
            </a:r>
            <a:r>
              <a:rPr lang="zh-CN" altLang="en-US" smtClean="0">
                <a:latin typeface="宋体" panose="02010600030101010101" pitchFamily="2" charset="-122"/>
              </a:rPr>
              <a:t>互斥方案评价</a:t>
            </a:r>
            <a:endParaRPr lang="zh-CN" altLang="en-US" smtClean="0">
              <a:latin typeface="宋体" panose="02010600030101010101" pitchFamily="2" charset="-122"/>
            </a:endParaRPr>
          </a:p>
          <a:p>
            <a:pPr lvl="1" eaLnBrk="1" hangingPunct="1"/>
            <a:r>
              <a:rPr lang="en-US" altLang="zh-CN" smtClean="0">
                <a:latin typeface="宋体" panose="02010600030101010101" pitchFamily="2" charset="-122"/>
              </a:rPr>
              <a:t>2.1 </a:t>
            </a:r>
            <a:r>
              <a:rPr lang="zh-CN" altLang="en-US" smtClean="0">
                <a:latin typeface="宋体" panose="02010600030101010101" pitchFamily="2" charset="-122"/>
              </a:rPr>
              <a:t>寿命期相同的互斥方案评价</a:t>
            </a:r>
            <a:endParaRPr lang="zh-CN" altLang="en-US" smtClean="0">
              <a:latin typeface="宋体" panose="02010600030101010101" pitchFamily="2" charset="-122"/>
            </a:endParaRPr>
          </a:p>
          <a:p>
            <a:pPr lvl="1" eaLnBrk="1" hangingPunct="1"/>
            <a:r>
              <a:rPr lang="en-US" altLang="zh-CN" smtClean="0">
                <a:latin typeface="宋体" panose="02010600030101010101" pitchFamily="2" charset="-122"/>
              </a:rPr>
              <a:t>2.2 </a:t>
            </a:r>
            <a:r>
              <a:rPr lang="zh-CN" altLang="en-US" smtClean="0">
                <a:latin typeface="宋体" panose="02010600030101010101" pitchFamily="2" charset="-122"/>
              </a:rPr>
              <a:t>寿命期不同的互斥方案评价</a:t>
            </a:r>
            <a:endParaRPr lang="zh-CN" altLang="en-US" smtClean="0">
              <a:latin typeface="宋体" panose="02010600030101010101" pitchFamily="2" charset="-122"/>
            </a:endParaRPr>
          </a:p>
          <a:p>
            <a:pPr eaLnBrk="1" hangingPunct="1"/>
            <a:endParaRPr lang="zh-CN" altLang="en-US" smtClean="0"/>
          </a:p>
          <a:p>
            <a:pPr lvl="1" eaLnBrk="1" hangingPunct="1"/>
            <a:endParaRPr lang="zh-CN" altLang="en-US"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52400" y="165100"/>
            <a:ext cx="8178800" cy="609600"/>
          </a:xfrm>
        </p:spPr>
        <p:txBody>
          <a:bodyPr/>
          <a:lstStyle/>
          <a:p>
            <a:pPr eaLnBrk="1" hangingPunct="1"/>
            <a:r>
              <a:rPr lang="zh-CN" altLang="en-US" smtClean="0"/>
              <a:t>方案间关系的类型</a:t>
            </a:r>
            <a:endParaRPr lang="zh-CN" altLang="en-US" smtClean="0"/>
          </a:p>
        </p:txBody>
      </p:sp>
      <p:sp>
        <p:nvSpPr>
          <p:cNvPr id="749571" name="Rectangle 3"/>
          <p:cNvSpPr>
            <a:spLocks noGrp="1" noChangeArrowheads="1"/>
          </p:cNvSpPr>
          <p:nvPr>
            <p:ph type="body" idx="1"/>
          </p:nvPr>
        </p:nvSpPr>
        <p:spPr/>
        <p:txBody>
          <a:bodyPr/>
          <a:lstStyle/>
          <a:p>
            <a:pPr eaLnBrk="1" hangingPunct="1"/>
            <a:r>
              <a:rPr lang="en-US" altLang="zh-CN" smtClean="0"/>
              <a:t>1. </a:t>
            </a:r>
            <a:r>
              <a:rPr lang="zh-CN" altLang="en-US" smtClean="0"/>
              <a:t>独立型方案</a:t>
            </a:r>
            <a:endParaRPr lang="zh-CN" altLang="en-US" smtClean="0"/>
          </a:p>
          <a:p>
            <a:pPr lvl="1" eaLnBrk="1" hangingPunct="1"/>
            <a:r>
              <a:rPr lang="zh-CN" altLang="en-US" sz="2600" smtClean="0"/>
              <a:t>方案间互不干扰，选择和放弃其中任何一个，不会影响其他方案的选择。</a:t>
            </a:r>
            <a:endParaRPr lang="zh-CN" altLang="en-US" sz="2600" smtClean="0"/>
          </a:p>
          <a:p>
            <a:pPr lvl="1" eaLnBrk="1" hangingPunct="1"/>
            <a:r>
              <a:rPr lang="zh-CN" altLang="en-US" sz="2600" smtClean="0"/>
              <a:t>方案间“加法法则”成立</a:t>
            </a:r>
            <a:endParaRPr lang="zh-CN" altLang="en-US" sz="2600" smtClean="0"/>
          </a:p>
          <a:p>
            <a:pPr lvl="2" eaLnBrk="1" hangingPunct="1"/>
            <a:r>
              <a:rPr lang="zh-CN" altLang="en-US" smtClean="0"/>
              <a:t>香港置地正在国内寻找房地产开发的伙伴，现有万通公司和华润公司两家房地产开发公司有意与香港置地合作。</a:t>
            </a:r>
            <a:endParaRPr lang="zh-CN" altLang="en-US" smtClean="0"/>
          </a:p>
          <a:p>
            <a:pPr lvl="3" eaLnBrk="1" hangingPunct="1"/>
            <a:r>
              <a:rPr lang="zh-CN" altLang="en-US" smtClean="0"/>
              <a:t>与万通合作开发项目</a:t>
            </a:r>
            <a:r>
              <a:rPr lang="en-US" altLang="zh-CN" smtClean="0"/>
              <a:t>A</a:t>
            </a:r>
            <a:r>
              <a:rPr lang="zh-CN" altLang="en-US" smtClean="0"/>
              <a:t>：置地投资</a:t>
            </a:r>
            <a:r>
              <a:rPr lang="en-US" altLang="zh-CN" smtClean="0"/>
              <a:t>10</a:t>
            </a:r>
            <a:r>
              <a:rPr lang="zh-CN" altLang="en-US" smtClean="0"/>
              <a:t>亿，收益</a:t>
            </a:r>
            <a:r>
              <a:rPr lang="en-US" altLang="zh-CN" smtClean="0"/>
              <a:t>3</a:t>
            </a:r>
            <a:r>
              <a:rPr lang="zh-CN" altLang="en-US" smtClean="0"/>
              <a:t>亿；</a:t>
            </a:r>
            <a:endParaRPr lang="zh-CN" altLang="en-US" smtClean="0"/>
          </a:p>
          <a:p>
            <a:pPr lvl="3" eaLnBrk="1" hangingPunct="1"/>
            <a:r>
              <a:rPr lang="zh-CN" altLang="en-US" smtClean="0"/>
              <a:t>与华润合作开发项目</a:t>
            </a:r>
            <a:r>
              <a:rPr lang="en-US" altLang="zh-CN" smtClean="0"/>
              <a:t>B</a:t>
            </a:r>
            <a:r>
              <a:rPr lang="zh-CN" altLang="en-US" smtClean="0"/>
              <a:t>：置地投资</a:t>
            </a:r>
            <a:r>
              <a:rPr lang="en-US" altLang="zh-CN" smtClean="0"/>
              <a:t>20</a:t>
            </a:r>
            <a:r>
              <a:rPr lang="zh-CN" altLang="en-US" smtClean="0"/>
              <a:t>亿，收益</a:t>
            </a:r>
            <a:r>
              <a:rPr lang="en-US" altLang="zh-CN" smtClean="0"/>
              <a:t>5</a:t>
            </a:r>
            <a:r>
              <a:rPr lang="zh-CN" altLang="en-US" smtClean="0"/>
              <a:t>亿；</a:t>
            </a:r>
            <a:endParaRPr lang="zh-CN" altLang="en-US" smtClean="0"/>
          </a:p>
          <a:p>
            <a:pPr lvl="2" eaLnBrk="1" hangingPunct="1"/>
            <a:r>
              <a:rPr lang="zh-CN" altLang="en-US" smtClean="0"/>
              <a:t>若同时投资</a:t>
            </a:r>
            <a:r>
              <a:rPr lang="en-US" altLang="zh-CN" smtClean="0"/>
              <a:t>A</a:t>
            </a:r>
            <a:r>
              <a:rPr lang="zh-CN" altLang="en-US" smtClean="0"/>
              <a:t>和</a:t>
            </a:r>
            <a:r>
              <a:rPr lang="en-US" altLang="zh-CN" smtClean="0"/>
              <a:t>B</a:t>
            </a:r>
            <a:r>
              <a:rPr lang="zh-CN" altLang="en-US" smtClean="0"/>
              <a:t>，投资</a:t>
            </a:r>
            <a:r>
              <a:rPr lang="en-US" altLang="zh-CN" smtClean="0"/>
              <a:t>30</a:t>
            </a:r>
            <a:r>
              <a:rPr lang="zh-CN" altLang="en-US" smtClean="0"/>
              <a:t>亿：</a:t>
            </a:r>
            <a:endParaRPr lang="zh-CN" altLang="en-US" smtClean="0"/>
          </a:p>
          <a:p>
            <a:pPr lvl="3" eaLnBrk="1" hangingPunct="1"/>
            <a:r>
              <a:rPr lang="zh-CN" altLang="en-US" smtClean="0"/>
              <a:t>若收益为</a:t>
            </a:r>
            <a:r>
              <a:rPr lang="en-US" altLang="zh-CN" smtClean="0"/>
              <a:t>3+5=8</a:t>
            </a:r>
            <a:r>
              <a:rPr lang="zh-CN" altLang="en-US" smtClean="0"/>
              <a:t>亿，则加法法则成立，</a:t>
            </a:r>
            <a:r>
              <a:rPr lang="en-US" altLang="zh-CN" smtClean="0"/>
              <a:t>A</a:t>
            </a:r>
            <a:r>
              <a:rPr lang="zh-CN" altLang="en-US" smtClean="0"/>
              <a:t>和</a:t>
            </a:r>
            <a:r>
              <a:rPr lang="en-US" altLang="zh-CN" smtClean="0"/>
              <a:t>B</a:t>
            </a:r>
            <a:r>
              <a:rPr lang="zh-CN" altLang="en-US" smtClean="0"/>
              <a:t>互相独立。（例如</a:t>
            </a:r>
            <a:r>
              <a:rPr lang="en-US" altLang="zh-CN" smtClean="0"/>
              <a:t>A</a:t>
            </a:r>
            <a:r>
              <a:rPr lang="zh-CN" altLang="en-US" smtClean="0"/>
              <a:t>与</a:t>
            </a:r>
            <a:r>
              <a:rPr lang="en-US" altLang="zh-CN" smtClean="0"/>
              <a:t>B</a:t>
            </a:r>
            <a:r>
              <a:rPr lang="zh-CN" altLang="en-US" smtClean="0"/>
              <a:t>位于不同城市）</a:t>
            </a:r>
            <a:endParaRPr lang="zh-CN" altLang="en-US" smtClean="0"/>
          </a:p>
          <a:p>
            <a:pPr lvl="3" eaLnBrk="1" hangingPunct="1"/>
            <a:r>
              <a:rPr lang="zh-CN" altLang="en-US" smtClean="0"/>
              <a:t>若收益不为</a:t>
            </a:r>
            <a:r>
              <a:rPr lang="en-US" altLang="zh-CN" smtClean="0"/>
              <a:t>8</a:t>
            </a:r>
            <a:r>
              <a:rPr lang="zh-CN" altLang="en-US" smtClean="0"/>
              <a:t>亿，则</a:t>
            </a:r>
            <a:r>
              <a:rPr lang="en-US" altLang="zh-CN" smtClean="0"/>
              <a:t>A</a:t>
            </a:r>
            <a:r>
              <a:rPr lang="zh-CN" altLang="en-US" smtClean="0"/>
              <a:t>与</a:t>
            </a:r>
            <a:r>
              <a:rPr lang="en-US" altLang="zh-CN" smtClean="0"/>
              <a:t>B</a:t>
            </a:r>
            <a:r>
              <a:rPr lang="zh-CN" altLang="en-US" smtClean="0"/>
              <a:t>不是相互独立（例如</a:t>
            </a:r>
            <a:r>
              <a:rPr lang="en-US" altLang="zh-CN" smtClean="0"/>
              <a:t>A</a:t>
            </a:r>
            <a:r>
              <a:rPr lang="zh-CN" altLang="en-US" smtClean="0"/>
              <a:t>和</a:t>
            </a:r>
            <a:r>
              <a:rPr lang="en-US" altLang="zh-CN" smtClean="0"/>
              <a:t>B</a:t>
            </a:r>
            <a:r>
              <a:rPr lang="zh-CN" altLang="en-US" smtClean="0"/>
              <a:t>在一个城市，相互竞争）</a:t>
            </a:r>
            <a:endParaRPr lang="zh-CN" altLang="en-US" smtClean="0"/>
          </a:p>
          <a:p>
            <a:pPr lvl="2" eaLnBrk="1" hangingPunct="1"/>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9571">
                                            <p:txEl>
                                              <p:pRg st="2" end="2"/>
                                            </p:txEl>
                                          </p:spTgt>
                                        </p:tgtEl>
                                        <p:attrNameLst>
                                          <p:attrName>style.visibility</p:attrName>
                                        </p:attrNameLst>
                                      </p:cBhvr>
                                      <p:to>
                                        <p:strVal val="visible"/>
                                      </p:to>
                                    </p:set>
                                    <p:animEffect transition="in" filter="blinds(horizontal)">
                                      <p:cBhvr>
                                        <p:cTn id="7" dur="500"/>
                                        <p:tgtEl>
                                          <p:spTgt spid="7495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49571">
                                            <p:txEl>
                                              <p:pRg st="3" end="3"/>
                                            </p:txEl>
                                          </p:spTgt>
                                        </p:tgtEl>
                                        <p:attrNameLst>
                                          <p:attrName>style.visibility</p:attrName>
                                        </p:attrNameLst>
                                      </p:cBhvr>
                                      <p:to>
                                        <p:strVal val="visible"/>
                                      </p:to>
                                    </p:set>
                                    <p:animEffect transition="in" filter="blinds(horizontal)">
                                      <p:cBhvr>
                                        <p:cTn id="10" dur="500"/>
                                        <p:tgtEl>
                                          <p:spTgt spid="74957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49571">
                                            <p:txEl>
                                              <p:pRg st="4" end="4"/>
                                            </p:txEl>
                                          </p:spTgt>
                                        </p:tgtEl>
                                        <p:attrNameLst>
                                          <p:attrName>style.visibility</p:attrName>
                                        </p:attrNameLst>
                                      </p:cBhvr>
                                      <p:to>
                                        <p:strVal val="visible"/>
                                      </p:to>
                                    </p:set>
                                    <p:animEffect transition="in" filter="blinds(horizontal)">
                                      <p:cBhvr>
                                        <p:cTn id="13" dur="500"/>
                                        <p:tgtEl>
                                          <p:spTgt spid="74957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49571">
                                            <p:txEl>
                                              <p:pRg st="5" end="5"/>
                                            </p:txEl>
                                          </p:spTgt>
                                        </p:tgtEl>
                                        <p:attrNameLst>
                                          <p:attrName>style.visibility</p:attrName>
                                        </p:attrNameLst>
                                      </p:cBhvr>
                                      <p:to>
                                        <p:strVal val="visible"/>
                                      </p:to>
                                    </p:set>
                                    <p:animEffect transition="in" filter="blinds(horizontal)">
                                      <p:cBhvr>
                                        <p:cTn id="16" dur="500"/>
                                        <p:tgtEl>
                                          <p:spTgt spid="749571">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49571">
                                            <p:txEl>
                                              <p:pRg st="6" end="6"/>
                                            </p:txEl>
                                          </p:spTgt>
                                        </p:tgtEl>
                                        <p:attrNameLst>
                                          <p:attrName>style.visibility</p:attrName>
                                        </p:attrNameLst>
                                      </p:cBhvr>
                                      <p:to>
                                        <p:strVal val="visible"/>
                                      </p:to>
                                    </p:set>
                                    <p:animEffect transition="in" filter="blinds(horizontal)">
                                      <p:cBhvr>
                                        <p:cTn id="21" dur="500"/>
                                        <p:tgtEl>
                                          <p:spTgt spid="749571">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49571">
                                            <p:txEl>
                                              <p:pRg st="7" end="7"/>
                                            </p:txEl>
                                          </p:spTgt>
                                        </p:tgtEl>
                                        <p:attrNameLst>
                                          <p:attrName>style.visibility</p:attrName>
                                        </p:attrNameLst>
                                      </p:cBhvr>
                                      <p:to>
                                        <p:strVal val="visible"/>
                                      </p:to>
                                    </p:set>
                                    <p:animEffect transition="in" filter="blinds(horizontal)">
                                      <p:cBhvr>
                                        <p:cTn id="24" dur="500"/>
                                        <p:tgtEl>
                                          <p:spTgt spid="749571">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749571">
                                            <p:txEl>
                                              <p:pRg st="8" end="8"/>
                                            </p:txEl>
                                          </p:spTgt>
                                        </p:tgtEl>
                                        <p:attrNameLst>
                                          <p:attrName>style.visibility</p:attrName>
                                        </p:attrNameLst>
                                      </p:cBhvr>
                                      <p:to>
                                        <p:strVal val="visible"/>
                                      </p:to>
                                    </p:set>
                                    <p:animEffect transition="in" filter="blinds(horizontal)">
                                      <p:cBhvr>
                                        <p:cTn id="29" dur="500"/>
                                        <p:tgtEl>
                                          <p:spTgt spid="7495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独立方案的选择</a:t>
            </a:r>
            <a:endParaRPr lang="zh-CN" altLang="en-US" smtClean="0"/>
          </a:p>
        </p:txBody>
      </p:sp>
      <p:sp>
        <p:nvSpPr>
          <p:cNvPr id="813061" name="Text Box 5"/>
          <p:cNvSpPr txBox="1">
            <a:spLocks noChangeArrowheads="1"/>
          </p:cNvSpPr>
          <p:nvPr/>
        </p:nvSpPr>
        <p:spPr bwMode="auto">
          <a:xfrm>
            <a:off x="228600" y="914400"/>
            <a:ext cx="84582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just" eaLnBrk="1" hangingPunct="1">
              <a:lnSpc>
                <a:spcPct val="150000"/>
              </a:lnSpc>
              <a:spcBef>
                <a:spcPct val="50000"/>
              </a:spcBef>
              <a:buFontTx/>
              <a:buNone/>
            </a:pPr>
            <a:r>
              <a:rPr kumimoji="1" lang="zh-CN" altLang="en-US" sz="2800">
                <a:latin typeface="Times New Roman" panose="02020603050405020304" charset="0"/>
                <a:ea typeface="楷体_GB2312" pitchFamily="49" charset="-122"/>
              </a:rPr>
              <a:t>独立方案的现金流量及其效果具有可加性</a:t>
            </a:r>
            <a:r>
              <a:rPr kumimoji="1" lang="en-US" altLang="zh-CN" sz="2800">
                <a:latin typeface="Times New Roman" panose="02020603050405020304" charset="0"/>
                <a:ea typeface="楷体_GB2312" pitchFamily="49" charset="-122"/>
              </a:rPr>
              <a:t>——</a:t>
            </a:r>
            <a:r>
              <a:rPr kumimoji="1" lang="zh-CN" altLang="en-US" sz="2800">
                <a:latin typeface="Times New Roman" panose="02020603050405020304" charset="0"/>
                <a:ea typeface="楷体_GB2312" pitchFamily="49" charset="-122"/>
              </a:rPr>
              <a:t>一组独立方案中可能选择其中一个，两个甚至全部方案，也可能一个也不选。</a:t>
            </a:r>
            <a:endParaRPr kumimoji="1" lang="zh-CN" altLang="en-US" sz="2800">
              <a:latin typeface="Times New Roman" panose="02020603050405020304" charset="0"/>
              <a:ea typeface="楷体_GB2312" pitchFamily="49" charset="-122"/>
            </a:endParaRPr>
          </a:p>
          <a:p>
            <a:pPr algn="just" eaLnBrk="1" hangingPunct="1">
              <a:lnSpc>
                <a:spcPct val="150000"/>
              </a:lnSpc>
              <a:spcBef>
                <a:spcPct val="50000"/>
              </a:spcBef>
              <a:buFont typeface="Wingdings" panose="05000000000000000000" pitchFamily="2" charset="2"/>
              <a:buChar char="Ø"/>
            </a:pPr>
            <a:r>
              <a:rPr kumimoji="1" lang="zh-CN" altLang="en-US" sz="2800">
                <a:latin typeface="Times New Roman" panose="02020603050405020304" charset="0"/>
                <a:ea typeface="楷体_GB2312" pitchFamily="49" charset="-122"/>
              </a:rPr>
              <a:t>无资源限制</a:t>
            </a:r>
            <a:r>
              <a:rPr kumimoji="1" lang="en-US" altLang="zh-CN" sz="2800">
                <a:latin typeface="Times New Roman" panose="02020603050405020304" charset="0"/>
                <a:ea typeface="楷体_GB2312" pitchFamily="49" charset="-122"/>
              </a:rPr>
              <a:t>——</a:t>
            </a:r>
            <a:r>
              <a:rPr kumimoji="1" lang="zh-CN" altLang="en-US" sz="2800">
                <a:latin typeface="Times New Roman" panose="02020603050405020304" charset="0"/>
                <a:ea typeface="楷体_GB2312" pitchFamily="49" charset="-122"/>
              </a:rPr>
              <a:t>取决于方案自身的效果能否可行；</a:t>
            </a:r>
            <a:endParaRPr kumimoji="1" lang="zh-CN" altLang="en-US" sz="2800">
              <a:latin typeface="Times New Roman" panose="02020603050405020304" charset="0"/>
              <a:ea typeface="楷体_GB2312" pitchFamily="49" charset="-122"/>
            </a:endParaRPr>
          </a:p>
          <a:p>
            <a:pPr algn="just" eaLnBrk="1" hangingPunct="1">
              <a:lnSpc>
                <a:spcPct val="150000"/>
              </a:lnSpc>
              <a:spcBef>
                <a:spcPct val="50000"/>
              </a:spcBef>
              <a:buFont typeface="Wingdings" panose="05000000000000000000" pitchFamily="2" charset="2"/>
              <a:buChar char="Ø"/>
            </a:pPr>
            <a:r>
              <a:rPr kumimoji="1" lang="zh-CN" altLang="en-US" sz="2800">
                <a:latin typeface="Times New Roman" panose="02020603050405020304" charset="0"/>
                <a:ea typeface="楷体_GB2312" pitchFamily="49" charset="-122"/>
              </a:rPr>
              <a:t>有资源限制</a:t>
            </a:r>
            <a:r>
              <a:rPr kumimoji="1" lang="en-US" altLang="zh-CN" sz="2800">
                <a:latin typeface="Times New Roman" panose="02020603050405020304" charset="0"/>
                <a:ea typeface="楷体_GB2312" pitchFamily="49" charset="-122"/>
              </a:rPr>
              <a:t>——</a:t>
            </a:r>
            <a:r>
              <a:rPr kumimoji="1" lang="zh-CN" altLang="en-US" sz="2800">
                <a:latin typeface="Times New Roman" panose="02020603050405020304" charset="0"/>
                <a:ea typeface="楷体_GB2312" pitchFamily="49" charset="-122"/>
              </a:rPr>
              <a:t>不仅需要考察方案本身是否可行，还要在方案之间进行选择以决定取舍。</a:t>
            </a:r>
            <a:endParaRPr kumimoji="1" lang="zh-CN" altLang="en-US" sz="2800">
              <a:latin typeface="Times New Roman" panose="0202060305040502030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813061"/>
                                        </p:tgtEl>
                                        <p:attrNameLst>
                                          <p:attrName>style.visibility</p:attrName>
                                        </p:attrNameLst>
                                      </p:cBhvr>
                                      <p:to>
                                        <p:strVal val="visible"/>
                                      </p:to>
                                    </p:set>
                                    <p:animEffect transition="in" filter="strips(downLeft)">
                                      <p:cBhvr>
                                        <p:cTn id="7" dur="500"/>
                                        <p:tgtEl>
                                          <p:spTgt spid="8130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306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152400" y="165100"/>
            <a:ext cx="8178800" cy="609600"/>
          </a:xfrm>
        </p:spPr>
        <p:txBody>
          <a:bodyPr/>
          <a:lstStyle/>
          <a:p>
            <a:pPr eaLnBrk="1" hangingPunct="1"/>
            <a:r>
              <a:rPr lang="zh-CN" altLang="en-US" smtClean="0"/>
              <a:t>方案选择中的资源限制</a:t>
            </a:r>
            <a:endParaRPr lang="zh-CN" altLang="en-US" smtClean="0"/>
          </a:p>
        </p:txBody>
      </p:sp>
      <p:sp>
        <p:nvSpPr>
          <p:cNvPr id="15363" name="Rectangle 5"/>
          <p:cNvSpPr>
            <a:spLocks noGrp="1" noChangeArrowheads="1"/>
          </p:cNvSpPr>
          <p:nvPr>
            <p:ph type="body" idx="1"/>
          </p:nvPr>
        </p:nvSpPr>
        <p:spPr/>
        <p:txBody>
          <a:bodyPr/>
          <a:lstStyle/>
          <a:p>
            <a:pPr eaLnBrk="1" hangingPunct="1"/>
            <a:r>
              <a:rPr lang="zh-CN" altLang="en-US" smtClean="0"/>
              <a:t>若干可供选择的独立方案，可能会受到资金、劳动力、材料、设备和其他的限制</a:t>
            </a:r>
            <a:endParaRPr lang="zh-CN" altLang="en-US" smtClean="0"/>
          </a:p>
          <a:p>
            <a:pPr lvl="1" eaLnBrk="1" hangingPunct="1"/>
            <a:r>
              <a:rPr lang="zh-CN" altLang="en-US" smtClean="0"/>
              <a:t>设独立方案</a:t>
            </a:r>
            <a:r>
              <a:rPr lang="en-US" altLang="zh-CN" smtClean="0"/>
              <a:t>A</a:t>
            </a:r>
            <a:r>
              <a:rPr lang="zh-CN" altLang="en-US" smtClean="0"/>
              <a:t>、</a:t>
            </a:r>
            <a:r>
              <a:rPr lang="en-US" altLang="zh-CN" smtClean="0"/>
              <a:t>B</a:t>
            </a:r>
            <a:r>
              <a:rPr lang="zh-CN" altLang="en-US" smtClean="0"/>
              <a:t>、</a:t>
            </a:r>
            <a:r>
              <a:rPr lang="en-US" altLang="zh-CN" smtClean="0"/>
              <a:t>C</a:t>
            </a:r>
            <a:r>
              <a:rPr lang="zh-CN" altLang="en-US" smtClean="0"/>
              <a:t>各需投资</a:t>
            </a:r>
            <a:r>
              <a:rPr lang="en-US" altLang="zh-CN" smtClean="0"/>
              <a:t>5</a:t>
            </a:r>
            <a:r>
              <a:rPr lang="zh-CN" altLang="en-US" smtClean="0"/>
              <a:t>万、</a:t>
            </a:r>
            <a:r>
              <a:rPr lang="en-US" altLang="zh-CN" smtClean="0"/>
              <a:t>6</a:t>
            </a:r>
            <a:r>
              <a:rPr lang="zh-CN" altLang="en-US" smtClean="0"/>
              <a:t>万、</a:t>
            </a:r>
            <a:r>
              <a:rPr lang="en-US" altLang="zh-CN" smtClean="0"/>
              <a:t>3</a:t>
            </a:r>
            <a:r>
              <a:rPr lang="zh-CN" altLang="en-US" smtClean="0"/>
              <a:t>万元</a:t>
            </a:r>
            <a:endParaRPr lang="zh-CN" altLang="en-US" smtClean="0"/>
          </a:p>
          <a:p>
            <a:pPr lvl="1" eaLnBrk="1" hangingPunct="1"/>
            <a:endParaRPr lang="zh-CN" altLang="en-US" smtClean="0"/>
          </a:p>
          <a:p>
            <a:pPr lvl="1" eaLnBrk="1" hangingPunct="1"/>
            <a:r>
              <a:rPr lang="zh-CN" altLang="en-US" smtClean="0"/>
              <a:t>若总资金额度为</a:t>
            </a:r>
            <a:r>
              <a:rPr lang="en-US" altLang="zh-CN" smtClean="0"/>
              <a:t>10</a:t>
            </a:r>
            <a:r>
              <a:rPr lang="zh-CN" altLang="en-US" smtClean="0"/>
              <a:t>万元，则可能的方案组合有</a:t>
            </a:r>
            <a:endParaRPr lang="zh-CN" altLang="en-US" smtClean="0"/>
          </a:p>
          <a:p>
            <a:pPr lvl="2" eaLnBrk="1" hangingPunct="1"/>
            <a:r>
              <a:rPr lang="en-US" altLang="zh-CN" smtClean="0"/>
              <a:t>A</a:t>
            </a:r>
            <a:r>
              <a:rPr lang="zh-CN" altLang="en-US" smtClean="0"/>
              <a:t>、</a:t>
            </a:r>
            <a:r>
              <a:rPr lang="en-US" altLang="zh-CN" smtClean="0"/>
              <a:t>B</a:t>
            </a:r>
            <a:r>
              <a:rPr lang="zh-CN" altLang="en-US" smtClean="0"/>
              <a:t>、</a:t>
            </a:r>
            <a:r>
              <a:rPr lang="en-US" altLang="zh-CN" smtClean="0"/>
              <a:t>C</a:t>
            </a:r>
            <a:r>
              <a:rPr lang="zh-CN" altLang="en-US" smtClean="0"/>
              <a:t>、</a:t>
            </a:r>
            <a:r>
              <a:rPr lang="en-US" altLang="zh-CN" smtClean="0"/>
              <a:t>A+C</a:t>
            </a:r>
            <a:r>
              <a:rPr lang="zh-CN" altLang="en-US" smtClean="0"/>
              <a:t>、</a:t>
            </a:r>
            <a:r>
              <a:rPr lang="en-US" altLang="zh-CN" smtClean="0"/>
              <a:t>B+C</a:t>
            </a:r>
            <a:r>
              <a:rPr lang="zh-CN" altLang="en-US" smtClean="0"/>
              <a:t>共四种互斥方案</a:t>
            </a:r>
            <a:endParaRPr lang="zh-CN" altLang="en-US" smtClean="0"/>
          </a:p>
          <a:p>
            <a:pPr lvl="1" eaLnBrk="1" hangingPunct="1"/>
            <a:endParaRPr lang="zh-CN" altLang="en-US" smtClean="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2400" y="165100"/>
            <a:ext cx="8178800" cy="609600"/>
          </a:xfrm>
        </p:spPr>
        <p:txBody>
          <a:bodyPr/>
          <a:lstStyle/>
          <a:p>
            <a:pPr eaLnBrk="1" hangingPunct="1"/>
            <a:r>
              <a:rPr lang="zh-CN" altLang="en-US" smtClean="0"/>
              <a:t>方案间关系的类型</a:t>
            </a:r>
            <a:endParaRPr lang="zh-CN" altLang="en-US" smtClean="0"/>
          </a:p>
        </p:txBody>
      </p:sp>
      <p:sp>
        <p:nvSpPr>
          <p:cNvPr id="750595" name="Rectangle 3"/>
          <p:cNvSpPr>
            <a:spLocks noGrp="1" noChangeArrowheads="1"/>
          </p:cNvSpPr>
          <p:nvPr>
            <p:ph type="body" idx="1"/>
          </p:nvPr>
        </p:nvSpPr>
        <p:spPr/>
        <p:txBody>
          <a:bodyPr/>
          <a:lstStyle/>
          <a:p>
            <a:pPr eaLnBrk="1" hangingPunct="1"/>
            <a:r>
              <a:rPr lang="en-US" altLang="zh-CN" smtClean="0"/>
              <a:t>2. </a:t>
            </a:r>
            <a:r>
              <a:rPr lang="zh-CN" altLang="en-US" smtClean="0"/>
              <a:t>互斥型方案（本课程重点）</a:t>
            </a:r>
            <a:endParaRPr lang="zh-CN" altLang="en-US" smtClean="0"/>
          </a:p>
          <a:p>
            <a:pPr lvl="1" eaLnBrk="1" hangingPunct="1"/>
            <a:r>
              <a:rPr lang="zh-CN" altLang="en-US" smtClean="0"/>
              <a:t>各方案间具有排他性，选择其中任何一个方案，则其他方案必然会被排斥。（“择此不能择彼”）</a:t>
            </a:r>
            <a:endParaRPr lang="zh-CN" altLang="en-US" smtClean="0"/>
          </a:p>
          <a:p>
            <a:pPr lvl="1" eaLnBrk="1" hangingPunct="1"/>
            <a:r>
              <a:rPr lang="zh-CN" altLang="en-US" smtClean="0"/>
              <a:t>互斥方案的例子</a:t>
            </a:r>
            <a:endParaRPr lang="zh-CN" altLang="en-US" smtClean="0"/>
          </a:p>
          <a:p>
            <a:pPr lvl="2" eaLnBrk="1" hangingPunct="1"/>
            <a:r>
              <a:rPr lang="zh-CN" altLang="en-US" sz="2200" smtClean="0"/>
              <a:t>单一方案：“做”还是“不做”（零方案）</a:t>
            </a:r>
            <a:endParaRPr lang="zh-CN" altLang="en-US" sz="2200" smtClean="0"/>
          </a:p>
          <a:p>
            <a:pPr lvl="2" eaLnBrk="1" hangingPunct="1"/>
            <a:r>
              <a:rPr lang="zh-CN" altLang="en-US" sz="2200" smtClean="0"/>
              <a:t>在某一个特定的地点有建工厂、商场、住宅、公园等方案</a:t>
            </a:r>
            <a:endParaRPr lang="zh-CN" altLang="en-US" sz="2200" smtClean="0"/>
          </a:p>
          <a:p>
            <a:pPr lvl="2" eaLnBrk="1" hangingPunct="1"/>
            <a:r>
              <a:rPr lang="zh-CN" altLang="en-US" sz="2200" smtClean="0"/>
              <a:t>选择继续工作，还是读脱产的</a:t>
            </a:r>
            <a:r>
              <a:rPr lang="en-US" altLang="zh-CN" sz="2200" smtClean="0"/>
              <a:t>MBA</a:t>
            </a:r>
            <a:endParaRPr lang="en-US" altLang="zh-CN" sz="2200" smtClean="0"/>
          </a:p>
          <a:p>
            <a:pPr lvl="2" eaLnBrk="1" hangingPunct="1"/>
            <a:r>
              <a:rPr lang="zh-CN" altLang="en-US" sz="2200" smtClean="0"/>
              <a:t>选择小芳，还是小雪做女朋友？</a:t>
            </a:r>
            <a:endParaRPr lang="zh-CN" altLang="en-US" sz="2200" smtClean="0"/>
          </a:p>
          <a:p>
            <a:pPr lvl="2" eaLnBrk="1" hangingPunct="1"/>
            <a:endParaRPr lang="en-US" altLang="zh-CN" sz="2200" smtClean="0"/>
          </a:p>
          <a:p>
            <a:pPr lvl="1" eaLnBrk="1" hangingPunct="1"/>
            <a:r>
              <a:rPr lang="zh-CN" altLang="en-US" smtClean="0"/>
              <a:t>互斥方案的分类</a:t>
            </a:r>
            <a:endParaRPr lang="zh-CN" altLang="en-US" smtClean="0"/>
          </a:p>
          <a:p>
            <a:pPr lvl="2" eaLnBrk="1" hangingPunct="1"/>
            <a:r>
              <a:rPr lang="zh-CN" altLang="en-US" sz="2200" smtClean="0"/>
              <a:t>按寿命期的不同，可以分为：相同寿命期、不同寿命期、无限寿命</a:t>
            </a:r>
            <a:endParaRPr lang="zh-CN" altLang="en-US" sz="2200" smtClean="0"/>
          </a:p>
          <a:p>
            <a:pPr lvl="2" eaLnBrk="1" hangingPunct="1"/>
            <a:endParaRPr lang="en-US" altLang="zh-CN" sz="2200" smtClean="0"/>
          </a:p>
          <a:p>
            <a:pPr lvl="2" eaLnBrk="1" hangingPunct="1"/>
            <a:endParaRPr lang="zh-CN" altLang="en-US" smtClean="0"/>
          </a:p>
          <a:p>
            <a:pPr lvl="2" eaLnBrk="1" hangingPunct="1"/>
            <a:endParaRPr lang="zh-CN" altLang="en-US" smtClean="0"/>
          </a:p>
          <a:p>
            <a:pPr lvl="2" eaLnBrk="1" hangingPunct="1"/>
            <a:endParaRPr lang="zh-CN" altLang="en-US" smtClean="0"/>
          </a:p>
          <a:p>
            <a:pPr eaLnBrk="1" hangingPunct="1"/>
            <a:endParaRPr lang="zh-CN" altLang="en-US" smtClean="0"/>
          </a:p>
          <a:p>
            <a:pPr eaLnBrk="1" hangingPunct="1"/>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0595">
                                            <p:txEl>
                                              <p:pRg st="2" end="2"/>
                                            </p:txEl>
                                          </p:spTgt>
                                        </p:tgtEl>
                                        <p:attrNameLst>
                                          <p:attrName>style.visibility</p:attrName>
                                        </p:attrNameLst>
                                      </p:cBhvr>
                                      <p:to>
                                        <p:strVal val="visible"/>
                                      </p:to>
                                    </p:set>
                                    <p:animEffect transition="in" filter="blinds(horizontal)">
                                      <p:cBhvr>
                                        <p:cTn id="7" dur="500"/>
                                        <p:tgtEl>
                                          <p:spTgt spid="75059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0595">
                                            <p:txEl>
                                              <p:pRg st="3" end="3"/>
                                            </p:txEl>
                                          </p:spTgt>
                                        </p:tgtEl>
                                        <p:attrNameLst>
                                          <p:attrName>style.visibility</p:attrName>
                                        </p:attrNameLst>
                                      </p:cBhvr>
                                      <p:to>
                                        <p:strVal val="visible"/>
                                      </p:to>
                                    </p:set>
                                    <p:animEffect transition="in" filter="blinds(horizontal)">
                                      <p:cBhvr>
                                        <p:cTn id="10" dur="500"/>
                                        <p:tgtEl>
                                          <p:spTgt spid="750595">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50595">
                                            <p:txEl>
                                              <p:pRg st="4" end="4"/>
                                            </p:txEl>
                                          </p:spTgt>
                                        </p:tgtEl>
                                        <p:attrNameLst>
                                          <p:attrName>style.visibility</p:attrName>
                                        </p:attrNameLst>
                                      </p:cBhvr>
                                      <p:to>
                                        <p:strVal val="visible"/>
                                      </p:to>
                                    </p:set>
                                    <p:animEffect transition="in" filter="blinds(horizontal)">
                                      <p:cBhvr>
                                        <p:cTn id="13" dur="500"/>
                                        <p:tgtEl>
                                          <p:spTgt spid="750595">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50595">
                                            <p:txEl>
                                              <p:pRg st="5" end="5"/>
                                            </p:txEl>
                                          </p:spTgt>
                                        </p:tgtEl>
                                        <p:attrNameLst>
                                          <p:attrName>style.visibility</p:attrName>
                                        </p:attrNameLst>
                                      </p:cBhvr>
                                      <p:to>
                                        <p:strVal val="visible"/>
                                      </p:to>
                                    </p:set>
                                    <p:animEffect transition="in" filter="blinds(horizontal)">
                                      <p:cBhvr>
                                        <p:cTn id="16" dur="500"/>
                                        <p:tgtEl>
                                          <p:spTgt spid="750595">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50595">
                                            <p:txEl>
                                              <p:pRg st="6" end="6"/>
                                            </p:txEl>
                                          </p:spTgt>
                                        </p:tgtEl>
                                        <p:attrNameLst>
                                          <p:attrName>style.visibility</p:attrName>
                                        </p:attrNameLst>
                                      </p:cBhvr>
                                      <p:to>
                                        <p:strVal val="visible"/>
                                      </p:to>
                                    </p:set>
                                    <p:animEffect transition="in" filter="blinds(horizontal)">
                                      <p:cBhvr>
                                        <p:cTn id="19" dur="500"/>
                                        <p:tgtEl>
                                          <p:spTgt spid="750595">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750595">
                                            <p:txEl>
                                              <p:pRg st="8" end="8"/>
                                            </p:txEl>
                                          </p:spTgt>
                                        </p:tgtEl>
                                        <p:attrNameLst>
                                          <p:attrName>style.visibility</p:attrName>
                                        </p:attrNameLst>
                                      </p:cBhvr>
                                      <p:to>
                                        <p:strVal val="visible"/>
                                      </p:to>
                                    </p:set>
                                    <p:animEffect transition="in" filter="blinds(horizontal)">
                                      <p:cBhvr>
                                        <p:cTn id="24" dur="500"/>
                                        <p:tgtEl>
                                          <p:spTgt spid="750595">
                                            <p:txEl>
                                              <p:pRg st="8" end="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50595">
                                            <p:txEl>
                                              <p:pRg st="9" end="9"/>
                                            </p:txEl>
                                          </p:spTgt>
                                        </p:tgtEl>
                                        <p:attrNameLst>
                                          <p:attrName>style.visibility</p:attrName>
                                        </p:attrNameLst>
                                      </p:cBhvr>
                                      <p:to>
                                        <p:strVal val="visible"/>
                                      </p:to>
                                    </p:set>
                                    <p:animEffect transition="in" filter="blinds(horizontal)">
                                      <p:cBhvr>
                                        <p:cTn id="27" dur="500"/>
                                        <p:tgtEl>
                                          <p:spTgt spid="7505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52400" y="165100"/>
            <a:ext cx="8178800" cy="609600"/>
          </a:xfrm>
        </p:spPr>
        <p:txBody>
          <a:bodyPr/>
          <a:lstStyle/>
          <a:p>
            <a:pPr eaLnBrk="1" hangingPunct="1"/>
            <a:r>
              <a:rPr lang="zh-CN" altLang="en-US" smtClean="0"/>
              <a:t>方案间关系的类型</a:t>
            </a:r>
            <a:endParaRPr lang="zh-CN" altLang="en-US" smtClean="0"/>
          </a:p>
        </p:txBody>
      </p:sp>
      <p:sp>
        <p:nvSpPr>
          <p:cNvPr id="752643" name="Rectangle 3"/>
          <p:cNvSpPr>
            <a:spLocks noGrp="1" noChangeArrowheads="1"/>
          </p:cNvSpPr>
          <p:nvPr>
            <p:ph type="body" idx="1"/>
          </p:nvPr>
        </p:nvSpPr>
        <p:spPr/>
        <p:txBody>
          <a:bodyPr/>
          <a:lstStyle/>
          <a:p>
            <a:pPr eaLnBrk="1" hangingPunct="1"/>
            <a:r>
              <a:rPr lang="en-US" altLang="zh-CN" smtClean="0"/>
              <a:t>3. </a:t>
            </a:r>
            <a:r>
              <a:rPr lang="zh-CN" altLang="en-US" smtClean="0"/>
              <a:t>其他类型</a:t>
            </a:r>
            <a:endParaRPr lang="zh-CN" altLang="en-US" smtClean="0"/>
          </a:p>
          <a:p>
            <a:pPr lvl="1" eaLnBrk="1" hangingPunct="1"/>
            <a:r>
              <a:rPr lang="zh-CN" altLang="en-US" smtClean="0"/>
              <a:t>（</a:t>
            </a:r>
            <a:r>
              <a:rPr lang="en-US" altLang="zh-CN" smtClean="0"/>
              <a:t>1</a:t>
            </a:r>
            <a:r>
              <a:rPr lang="zh-CN" altLang="en-US" smtClean="0"/>
              <a:t>） 互补型方案：方案间有相互依存的关系</a:t>
            </a:r>
            <a:endParaRPr lang="en-US" altLang="zh-CN" smtClean="0"/>
          </a:p>
          <a:p>
            <a:pPr lvl="2" eaLnBrk="1" hangingPunct="1"/>
            <a:r>
              <a:rPr lang="zh-CN" altLang="en-US" smtClean="0"/>
              <a:t>对称的（完全互补型）：</a:t>
            </a:r>
            <a:r>
              <a:rPr lang="en-US" altLang="zh-CN" smtClean="0"/>
              <a:t>A</a:t>
            </a:r>
            <a:r>
              <a:rPr lang="zh-CN" altLang="en-US" smtClean="0"/>
              <a:t>与</a:t>
            </a:r>
            <a:r>
              <a:rPr lang="en-US" altLang="zh-CN" smtClean="0"/>
              <a:t>B</a:t>
            </a:r>
            <a:r>
              <a:rPr lang="zh-CN" altLang="en-US" smtClean="0"/>
              <a:t>相互依存</a:t>
            </a:r>
            <a:endParaRPr lang="zh-CN" altLang="en-US" smtClean="0"/>
          </a:p>
          <a:p>
            <a:pPr lvl="3" eaLnBrk="1" hangingPunct="1"/>
            <a:r>
              <a:rPr lang="zh-CN" altLang="en-US" smtClean="0"/>
              <a:t>例：楼盘和基础设施</a:t>
            </a:r>
            <a:endParaRPr lang="zh-CN" altLang="en-US" smtClean="0"/>
          </a:p>
          <a:p>
            <a:pPr lvl="3" eaLnBrk="1" hangingPunct="1"/>
            <a:r>
              <a:rPr lang="zh-CN" altLang="en-US" smtClean="0"/>
              <a:t>例</a:t>
            </a:r>
            <a:r>
              <a:rPr lang="en-US" altLang="zh-CN" smtClean="0"/>
              <a:t>: </a:t>
            </a:r>
            <a:r>
              <a:rPr lang="zh-CN" altLang="en-US" smtClean="0"/>
              <a:t>紫坪铺电站</a:t>
            </a:r>
            <a:r>
              <a:rPr lang="en-US" altLang="zh-CN" smtClean="0"/>
              <a:t>, </a:t>
            </a:r>
            <a:r>
              <a:rPr lang="zh-CN" altLang="en-US" smtClean="0"/>
              <a:t>杨柳湖</a:t>
            </a:r>
            <a:endParaRPr lang="zh-CN" altLang="en-US" smtClean="0"/>
          </a:p>
          <a:p>
            <a:pPr lvl="2" eaLnBrk="1" hangingPunct="1"/>
            <a:r>
              <a:rPr lang="zh-CN" altLang="en-US" smtClean="0"/>
              <a:t>不对称的：</a:t>
            </a:r>
            <a:r>
              <a:rPr lang="en-US" altLang="zh-CN" smtClean="0"/>
              <a:t>B</a:t>
            </a:r>
            <a:r>
              <a:rPr lang="zh-CN" altLang="en-US" smtClean="0"/>
              <a:t>需要依存于</a:t>
            </a:r>
            <a:r>
              <a:rPr lang="en-US" altLang="zh-CN" smtClean="0"/>
              <a:t>A</a:t>
            </a:r>
            <a:r>
              <a:rPr lang="zh-CN" altLang="en-US" smtClean="0"/>
              <a:t>，但</a:t>
            </a:r>
            <a:r>
              <a:rPr lang="en-US" altLang="zh-CN" smtClean="0"/>
              <a:t>A</a:t>
            </a:r>
            <a:r>
              <a:rPr lang="zh-CN" altLang="en-US" smtClean="0"/>
              <a:t>不需要依存于</a:t>
            </a:r>
            <a:r>
              <a:rPr lang="en-US" altLang="zh-CN" smtClean="0"/>
              <a:t>B</a:t>
            </a:r>
            <a:endParaRPr lang="en-US" altLang="zh-CN" smtClean="0"/>
          </a:p>
          <a:p>
            <a:pPr lvl="3" eaLnBrk="1" hangingPunct="1"/>
            <a:r>
              <a:rPr lang="zh-CN" altLang="en-US" smtClean="0"/>
              <a:t>例：买房子</a:t>
            </a:r>
            <a:r>
              <a:rPr lang="en-US" altLang="zh-CN" smtClean="0"/>
              <a:t>(A)</a:t>
            </a:r>
            <a:r>
              <a:rPr lang="zh-CN" altLang="en-US" smtClean="0"/>
              <a:t>和买家具</a:t>
            </a:r>
            <a:r>
              <a:rPr lang="en-US" altLang="zh-CN" smtClean="0"/>
              <a:t>(B)</a:t>
            </a:r>
            <a:endParaRPr lang="en-US" altLang="zh-CN" smtClean="0"/>
          </a:p>
          <a:p>
            <a:pPr lvl="3" eaLnBrk="1" hangingPunct="1"/>
            <a:endParaRPr lang="en-US" altLang="zh-CN" smtClean="0"/>
          </a:p>
          <a:p>
            <a:pPr lvl="1" eaLnBrk="1" hangingPunct="1"/>
            <a:r>
              <a:rPr lang="zh-CN" altLang="en-US" smtClean="0"/>
              <a:t>（</a:t>
            </a:r>
            <a:r>
              <a:rPr lang="en-US" altLang="zh-CN" smtClean="0"/>
              <a:t>2</a:t>
            </a:r>
            <a:r>
              <a:rPr lang="zh-CN" altLang="en-US" smtClean="0"/>
              <a:t>） 现金流相关型方案</a:t>
            </a:r>
            <a:endParaRPr lang="zh-CN" altLang="en-US" smtClean="0"/>
          </a:p>
          <a:p>
            <a:pPr lvl="2" eaLnBrk="1" hangingPunct="1"/>
            <a:r>
              <a:rPr lang="zh-CN" altLang="en-US" smtClean="0"/>
              <a:t>解决过江问题：轮渡</a:t>
            </a:r>
            <a:r>
              <a:rPr lang="en-US" altLang="zh-CN" smtClean="0"/>
              <a:t>(A)</a:t>
            </a:r>
            <a:r>
              <a:rPr lang="zh-CN" altLang="en-US" smtClean="0"/>
              <a:t>、收费公路桥</a:t>
            </a:r>
            <a:r>
              <a:rPr lang="en-US" altLang="zh-CN" smtClean="0"/>
              <a:t>(B)</a:t>
            </a:r>
            <a:endParaRPr lang="en-US" altLang="zh-CN" smtClean="0"/>
          </a:p>
          <a:p>
            <a:pPr lvl="2" eaLnBrk="1" hangingPunct="1"/>
            <a:r>
              <a:rPr lang="zh-CN" altLang="en-US" smtClean="0"/>
              <a:t>香港置地与两家北京开发商合作</a:t>
            </a:r>
            <a:endParaRPr lang="zh-CN" altLang="en-US" smtClean="0"/>
          </a:p>
          <a:p>
            <a:pPr lvl="2" eaLnBrk="1" hangingPunct="1"/>
            <a:r>
              <a:rPr lang="zh-CN" altLang="en-US" smtClean="0"/>
              <a:t>可以将其组合为互斥方案：</a:t>
            </a:r>
            <a:r>
              <a:rPr lang="en-US" altLang="zh-CN" smtClean="0"/>
              <a:t>A</a:t>
            </a:r>
            <a:r>
              <a:rPr lang="zh-CN" altLang="en-US" smtClean="0"/>
              <a:t>、</a:t>
            </a:r>
            <a:r>
              <a:rPr lang="en-US" altLang="zh-CN" smtClean="0"/>
              <a:t>B</a:t>
            </a:r>
            <a:r>
              <a:rPr lang="zh-CN" altLang="en-US" smtClean="0"/>
              <a:t>、</a:t>
            </a:r>
            <a:r>
              <a:rPr lang="en-US" altLang="zh-CN" smtClean="0"/>
              <a:t>A+B</a:t>
            </a:r>
            <a:endParaRPr lang="en-US" altLang="zh-CN" smtClean="0"/>
          </a:p>
          <a:p>
            <a:pPr lvl="1" eaLnBrk="1" hangingPunct="1"/>
            <a:r>
              <a:rPr lang="en-US" altLang="zh-CN" smtClean="0"/>
              <a:t>……</a:t>
            </a:r>
            <a:endParaRPr lang="en-US" altLang="zh-CN" smtClean="0"/>
          </a:p>
          <a:p>
            <a:pPr lvl="1" eaLnBrk="1" hangingPunct="1"/>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2643">
                                            <p:txEl>
                                              <p:pRg st="5" end="5"/>
                                            </p:txEl>
                                          </p:spTgt>
                                        </p:tgtEl>
                                        <p:attrNameLst>
                                          <p:attrName>style.visibility</p:attrName>
                                        </p:attrNameLst>
                                      </p:cBhvr>
                                      <p:to>
                                        <p:strVal val="visible"/>
                                      </p:to>
                                    </p:set>
                                    <p:animEffect transition="in" filter="blinds(horizontal)">
                                      <p:cBhvr>
                                        <p:cTn id="7" dur="500"/>
                                        <p:tgtEl>
                                          <p:spTgt spid="752643">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52643">
                                            <p:txEl>
                                              <p:pRg st="6" end="6"/>
                                            </p:txEl>
                                          </p:spTgt>
                                        </p:tgtEl>
                                        <p:attrNameLst>
                                          <p:attrName>style.visibility</p:attrName>
                                        </p:attrNameLst>
                                      </p:cBhvr>
                                      <p:to>
                                        <p:strVal val="visible"/>
                                      </p:to>
                                    </p:set>
                                    <p:animEffect transition="in" filter="blinds(horizontal)">
                                      <p:cBhvr>
                                        <p:cTn id="10" dur="500"/>
                                        <p:tgtEl>
                                          <p:spTgt spid="75264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52643">
                                            <p:txEl>
                                              <p:pRg st="8" end="8"/>
                                            </p:txEl>
                                          </p:spTgt>
                                        </p:tgtEl>
                                        <p:attrNameLst>
                                          <p:attrName>style.visibility</p:attrName>
                                        </p:attrNameLst>
                                      </p:cBhvr>
                                      <p:to>
                                        <p:strVal val="visible"/>
                                      </p:to>
                                    </p:set>
                                    <p:animEffect transition="in" filter="blinds(horizontal)">
                                      <p:cBhvr>
                                        <p:cTn id="15" dur="500"/>
                                        <p:tgtEl>
                                          <p:spTgt spid="752643">
                                            <p:txEl>
                                              <p:pRg st="8" end="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52643">
                                            <p:txEl>
                                              <p:pRg st="9" end="9"/>
                                            </p:txEl>
                                          </p:spTgt>
                                        </p:tgtEl>
                                        <p:attrNameLst>
                                          <p:attrName>style.visibility</p:attrName>
                                        </p:attrNameLst>
                                      </p:cBhvr>
                                      <p:to>
                                        <p:strVal val="visible"/>
                                      </p:to>
                                    </p:set>
                                    <p:animEffect transition="in" filter="blinds(horizontal)">
                                      <p:cBhvr>
                                        <p:cTn id="18" dur="500"/>
                                        <p:tgtEl>
                                          <p:spTgt spid="752643">
                                            <p:txEl>
                                              <p:pRg st="9" end="9"/>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52643">
                                            <p:txEl>
                                              <p:pRg st="10" end="10"/>
                                            </p:txEl>
                                          </p:spTgt>
                                        </p:tgtEl>
                                        <p:attrNameLst>
                                          <p:attrName>style.visibility</p:attrName>
                                        </p:attrNameLst>
                                      </p:cBhvr>
                                      <p:to>
                                        <p:strVal val="visible"/>
                                      </p:to>
                                    </p:set>
                                    <p:animEffect transition="in" filter="blinds(horizontal)">
                                      <p:cBhvr>
                                        <p:cTn id="21" dur="500"/>
                                        <p:tgtEl>
                                          <p:spTgt spid="752643">
                                            <p:txEl>
                                              <p:pRg st="10" end="1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52643">
                                            <p:txEl>
                                              <p:pRg st="11" end="11"/>
                                            </p:txEl>
                                          </p:spTgt>
                                        </p:tgtEl>
                                        <p:attrNameLst>
                                          <p:attrName>style.visibility</p:attrName>
                                        </p:attrNameLst>
                                      </p:cBhvr>
                                      <p:to>
                                        <p:strVal val="visible"/>
                                      </p:to>
                                    </p:set>
                                    <p:animEffect transition="in" filter="blinds(horizontal)">
                                      <p:cBhvr>
                                        <p:cTn id="24" dur="500"/>
                                        <p:tgtEl>
                                          <p:spTgt spid="752643">
                                            <p:txEl>
                                              <p:pRg st="11" end="1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52643">
                                            <p:txEl>
                                              <p:pRg st="12" end="12"/>
                                            </p:txEl>
                                          </p:spTgt>
                                        </p:tgtEl>
                                        <p:attrNameLst>
                                          <p:attrName>style.visibility</p:attrName>
                                        </p:attrNameLst>
                                      </p:cBhvr>
                                      <p:to>
                                        <p:strVal val="visible"/>
                                      </p:to>
                                    </p:set>
                                    <p:animEffect transition="in" filter="blinds(horizontal)">
                                      <p:cBhvr>
                                        <p:cTn id="27" dur="500"/>
                                        <p:tgtEl>
                                          <p:spTgt spid="75264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52400" y="165100"/>
            <a:ext cx="8178800" cy="609600"/>
          </a:xfrm>
        </p:spPr>
        <p:txBody>
          <a:bodyPr/>
          <a:lstStyle/>
          <a:p>
            <a:pPr eaLnBrk="1" hangingPunct="1"/>
            <a:r>
              <a:rPr lang="zh-CN" altLang="en-US" smtClean="0"/>
              <a:t>互斥方案经济评价方法</a:t>
            </a:r>
            <a:endParaRPr lang="zh-CN" altLang="en-US" smtClean="0"/>
          </a:p>
        </p:txBody>
      </p:sp>
      <p:sp>
        <p:nvSpPr>
          <p:cNvPr id="656387" name="Rectangle 3"/>
          <p:cNvSpPr>
            <a:spLocks noGrp="1" noChangeArrowheads="1"/>
          </p:cNvSpPr>
          <p:nvPr>
            <p:ph type="body" idx="1"/>
          </p:nvPr>
        </p:nvSpPr>
        <p:spPr/>
        <p:txBody>
          <a:bodyPr/>
          <a:lstStyle/>
          <a:p>
            <a:pPr eaLnBrk="1" hangingPunct="1"/>
            <a:r>
              <a:rPr lang="zh-CN" altLang="en-US" smtClean="0"/>
              <a:t>要分两步走，二者缺一不可</a:t>
            </a:r>
            <a:endParaRPr lang="zh-CN" altLang="en-US" smtClean="0"/>
          </a:p>
          <a:p>
            <a:pPr lvl="1" eaLnBrk="1" hangingPunct="1"/>
            <a:r>
              <a:rPr lang="en-US" altLang="zh-CN" smtClean="0"/>
              <a:t>(1) </a:t>
            </a:r>
            <a:r>
              <a:rPr lang="zh-CN" altLang="en-US" smtClean="0"/>
              <a:t>绝对效果检验</a:t>
            </a:r>
            <a:endParaRPr lang="zh-CN" altLang="en-US" smtClean="0"/>
          </a:p>
          <a:p>
            <a:pPr lvl="2" eaLnBrk="1" hangingPunct="1"/>
            <a:r>
              <a:rPr lang="zh-CN" altLang="en-US" sz="2600" smtClean="0"/>
              <a:t>每个方案自身的经济效果，是否是可行的</a:t>
            </a:r>
            <a:endParaRPr lang="zh-CN" altLang="en-US" sz="2600" smtClean="0"/>
          </a:p>
          <a:p>
            <a:pPr lvl="1" eaLnBrk="1" hangingPunct="1"/>
            <a:r>
              <a:rPr lang="en-US" altLang="zh-CN" smtClean="0"/>
              <a:t>(2) </a:t>
            </a:r>
            <a:r>
              <a:rPr lang="zh-CN" altLang="en-US" smtClean="0"/>
              <a:t>相对效果检验</a:t>
            </a:r>
            <a:endParaRPr lang="zh-CN" altLang="en-US" smtClean="0"/>
          </a:p>
          <a:p>
            <a:pPr lvl="2" eaLnBrk="1" hangingPunct="1"/>
            <a:r>
              <a:rPr lang="zh-CN" altLang="en-US" sz="2600" smtClean="0"/>
              <a:t>哪个方案的“相对”经济效果是最优的</a:t>
            </a:r>
            <a:endParaRPr lang="zh-CN" altLang="en-US" sz="2600" smtClean="0"/>
          </a:p>
          <a:p>
            <a:pPr lvl="2" eaLnBrk="1" hangingPunct="1"/>
            <a:endParaRPr lang="zh-CN" altLang="en-US" sz="2600" smtClean="0"/>
          </a:p>
          <a:p>
            <a:pPr eaLnBrk="1" hangingPunct="1"/>
            <a:r>
              <a:rPr lang="zh-CN" altLang="en-US" smtClean="0"/>
              <a:t>关键点：参加比选的方案应具有可比性</a:t>
            </a:r>
            <a:endParaRPr lang="zh-CN" altLang="en-US" smtClean="0"/>
          </a:p>
          <a:p>
            <a:pPr lvl="1" eaLnBrk="1" hangingPunct="1"/>
            <a:r>
              <a:rPr lang="zh-CN" altLang="en-US" smtClean="0"/>
              <a:t>寿命期</a:t>
            </a:r>
            <a:r>
              <a:rPr lang="en-US" altLang="zh-CN" smtClean="0"/>
              <a:t>/</a:t>
            </a:r>
            <a:r>
              <a:rPr lang="zh-CN" altLang="en-US" smtClean="0"/>
              <a:t>计算期的可比性</a:t>
            </a:r>
            <a:endParaRPr lang="zh-CN" altLang="en-US" smtClean="0"/>
          </a:p>
          <a:p>
            <a:pPr eaLnBrk="1" hangingPunct="1"/>
            <a:endParaRPr lang="zh-CN" altLang="en-US" smtClean="0"/>
          </a:p>
          <a:p>
            <a:pPr eaLnBrk="1" hangingPunct="1"/>
            <a:r>
              <a:rPr lang="zh-CN" altLang="en-US" smtClean="0"/>
              <a:t>主要方法：“增量分析法”</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6387">
                                            <p:txEl>
                                              <p:pRg st="0" end="0"/>
                                            </p:txEl>
                                          </p:spTgt>
                                        </p:tgtEl>
                                        <p:attrNameLst>
                                          <p:attrName>style.visibility</p:attrName>
                                        </p:attrNameLst>
                                      </p:cBhvr>
                                      <p:to>
                                        <p:strVal val="visible"/>
                                      </p:to>
                                    </p:set>
                                    <p:anim calcmode="lin" valueType="num">
                                      <p:cBhvr additive="base">
                                        <p:cTn id="7" dur="500" fill="hold"/>
                                        <p:tgtEl>
                                          <p:spTgt spid="65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638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6387">
                                            <p:txEl>
                                              <p:pRg st="1" end="1"/>
                                            </p:txEl>
                                          </p:spTgt>
                                        </p:tgtEl>
                                        <p:attrNameLst>
                                          <p:attrName>style.visibility</p:attrName>
                                        </p:attrNameLst>
                                      </p:cBhvr>
                                      <p:to>
                                        <p:strVal val="visible"/>
                                      </p:to>
                                    </p:set>
                                    <p:anim calcmode="lin" valueType="num">
                                      <p:cBhvr additive="base">
                                        <p:cTn id="11" dur="500" fill="hold"/>
                                        <p:tgtEl>
                                          <p:spTgt spid="65638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5638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56387">
                                            <p:txEl>
                                              <p:pRg st="2" end="2"/>
                                            </p:txEl>
                                          </p:spTgt>
                                        </p:tgtEl>
                                        <p:attrNameLst>
                                          <p:attrName>style.visibility</p:attrName>
                                        </p:attrNameLst>
                                      </p:cBhvr>
                                      <p:to>
                                        <p:strVal val="visible"/>
                                      </p:to>
                                    </p:set>
                                    <p:anim calcmode="lin" valueType="num">
                                      <p:cBhvr additive="base">
                                        <p:cTn id="15" dur="500" fill="hold"/>
                                        <p:tgtEl>
                                          <p:spTgt spid="65638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5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56387">
                                            <p:txEl>
                                              <p:pRg st="3" end="3"/>
                                            </p:txEl>
                                          </p:spTgt>
                                        </p:tgtEl>
                                        <p:attrNameLst>
                                          <p:attrName>style.visibility</p:attrName>
                                        </p:attrNameLst>
                                      </p:cBhvr>
                                      <p:to>
                                        <p:strVal val="visible"/>
                                      </p:to>
                                    </p:set>
                                    <p:anim calcmode="lin" valueType="num">
                                      <p:cBhvr additive="base">
                                        <p:cTn id="21" dur="500" fill="hold"/>
                                        <p:tgtEl>
                                          <p:spTgt spid="6563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5638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56387">
                                            <p:txEl>
                                              <p:pRg st="4" end="4"/>
                                            </p:txEl>
                                          </p:spTgt>
                                        </p:tgtEl>
                                        <p:attrNameLst>
                                          <p:attrName>style.visibility</p:attrName>
                                        </p:attrNameLst>
                                      </p:cBhvr>
                                      <p:to>
                                        <p:strVal val="visible"/>
                                      </p:to>
                                    </p:set>
                                    <p:anim calcmode="lin" valueType="num">
                                      <p:cBhvr additive="base">
                                        <p:cTn id="25" dur="500" fill="hold"/>
                                        <p:tgtEl>
                                          <p:spTgt spid="65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56387">
                                            <p:txEl>
                                              <p:pRg st="6" end="6"/>
                                            </p:txEl>
                                          </p:spTgt>
                                        </p:tgtEl>
                                        <p:attrNameLst>
                                          <p:attrName>style.visibility</p:attrName>
                                        </p:attrNameLst>
                                      </p:cBhvr>
                                      <p:to>
                                        <p:strVal val="visible"/>
                                      </p:to>
                                    </p:set>
                                    <p:anim calcmode="lin" valueType="num">
                                      <p:cBhvr additive="base">
                                        <p:cTn id="31" dur="500" fill="hold"/>
                                        <p:tgtEl>
                                          <p:spTgt spid="65638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6387">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56387">
                                            <p:txEl>
                                              <p:pRg st="7" end="7"/>
                                            </p:txEl>
                                          </p:spTgt>
                                        </p:tgtEl>
                                        <p:attrNameLst>
                                          <p:attrName>style.visibility</p:attrName>
                                        </p:attrNameLst>
                                      </p:cBhvr>
                                      <p:to>
                                        <p:strVal val="visible"/>
                                      </p:to>
                                    </p:set>
                                    <p:anim calcmode="lin" valueType="num">
                                      <p:cBhvr additive="base">
                                        <p:cTn id="35" dur="500" fill="hold"/>
                                        <p:tgtEl>
                                          <p:spTgt spid="656387">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5638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56387">
                                            <p:txEl>
                                              <p:pRg st="9" end="9"/>
                                            </p:txEl>
                                          </p:spTgt>
                                        </p:tgtEl>
                                        <p:attrNameLst>
                                          <p:attrName>style.visibility</p:attrName>
                                        </p:attrNameLst>
                                      </p:cBhvr>
                                      <p:to>
                                        <p:strVal val="visible"/>
                                      </p:to>
                                    </p:set>
                                    <p:anim calcmode="lin" valueType="num">
                                      <p:cBhvr additive="base">
                                        <p:cTn id="41" dur="500" fill="hold"/>
                                        <p:tgtEl>
                                          <p:spTgt spid="656387">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5638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2700"/>
            <a:ext cx="8915400" cy="660400"/>
          </a:xfrm>
        </p:spPr>
        <p:txBody>
          <a:bodyPr/>
          <a:lstStyle/>
          <a:p>
            <a:pPr eaLnBrk="1" hangingPunct="1"/>
            <a:r>
              <a:rPr lang="zh-CN" altLang="en-US" sz="3200" smtClean="0"/>
              <a:t>互斥方案比选的例子</a:t>
            </a:r>
            <a:endParaRPr lang="zh-CN" altLang="en-US" sz="3200" smtClean="0"/>
          </a:p>
        </p:txBody>
      </p:sp>
      <p:graphicFrame>
        <p:nvGraphicFramePr>
          <p:cNvPr id="657511" name="Group 103"/>
          <p:cNvGraphicFramePr>
            <a:graphicFrameLocks noGrp="1"/>
          </p:cNvGraphicFramePr>
          <p:nvPr>
            <p:ph idx="1"/>
          </p:nvPr>
        </p:nvGraphicFramePr>
        <p:xfrm>
          <a:off x="282575" y="2436813"/>
          <a:ext cx="8178800" cy="1519238"/>
        </p:xfrm>
        <a:graphic>
          <a:graphicData uri="http://schemas.openxmlformats.org/drawingml/2006/table">
            <a:tbl>
              <a:tblPr/>
              <a:tblGrid>
                <a:gridCol w="2994025"/>
                <a:gridCol w="1371600"/>
                <a:gridCol w="1320800"/>
                <a:gridCol w="1231900"/>
                <a:gridCol w="1260475"/>
              </a:tblGrid>
              <a:tr h="487363">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年份　</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cs typeface="楷体_GB2312"/>
                        </a:rPr>
                        <a:t>NPV</a:t>
                      </a:r>
                      <a:endParaRPr kumimoji="0" lang="en-US" altLang="zh-CN" sz="18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cs typeface="楷体_GB2312"/>
                        </a:rPr>
                        <a:t>IRR(%)</a:t>
                      </a:r>
                      <a:endParaRPr kumimoji="0" lang="en-US" altLang="zh-CN" sz="1800" b="1" i="0" u="none" strike="noStrike" cap="none" normalizeH="0" baseline="0" dirty="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0165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方案</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A</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的净现金流（万元）</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-200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39</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39.64</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14.4</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0225">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方案</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B</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的净现金流（万元）</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-100</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　</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20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22.89</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rgbClr val="FF0000"/>
                          </a:solidFill>
                          <a:effectLst/>
                          <a:latin typeface="Times New Roman" panose="02020603050405020304" charset="0"/>
                          <a:ea typeface="宋体" panose="02010600030101010101" pitchFamily="2" charset="-122"/>
                          <a:cs typeface="楷体_GB2312"/>
                        </a:rPr>
                        <a:t>15.1</a:t>
                      </a:r>
                      <a:endParaRPr kumimoji="0" lang="en-US" altLang="zh-CN" sz="1800" b="1" i="0" u="none" strike="noStrike" cap="none" normalizeH="0" baseline="0" dirty="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57501" name="Rectangle 93"/>
          <p:cNvSpPr>
            <a:spLocks noChangeArrowheads="1"/>
          </p:cNvSpPr>
          <p:nvPr/>
        </p:nvSpPr>
        <p:spPr bwMode="auto">
          <a:xfrm>
            <a:off x="0" y="4521200"/>
            <a:ext cx="9144000" cy="2032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sz="2400">
                <a:ea typeface="楷体_GB2312" pitchFamily="49" charset="-122"/>
              </a:rPr>
              <a:t>设基准折现率为</a:t>
            </a:r>
            <a:r>
              <a:rPr lang="en-US" altLang="zh-CN" sz="2400">
                <a:ea typeface="楷体_GB2312" pitchFamily="49" charset="-122"/>
              </a:rPr>
              <a:t>10%</a:t>
            </a:r>
            <a:r>
              <a:rPr lang="zh-CN" altLang="en-US" sz="2400">
                <a:ea typeface="楷体_GB2312" pitchFamily="49" charset="-122"/>
              </a:rPr>
              <a:t>。两个方案都通过了决定经济效果检验，且对于每个项目，</a:t>
            </a:r>
            <a:r>
              <a:rPr lang="en-US" altLang="zh-CN" sz="2400">
                <a:ea typeface="楷体_GB2312" pitchFamily="49" charset="-122"/>
              </a:rPr>
              <a:t>NPV</a:t>
            </a:r>
            <a:r>
              <a:rPr lang="zh-CN" altLang="en-US" sz="2400">
                <a:ea typeface="楷体_GB2312" pitchFamily="49" charset="-122"/>
              </a:rPr>
              <a:t>和</a:t>
            </a:r>
            <a:r>
              <a:rPr lang="en-US" altLang="zh-CN" sz="2400">
                <a:ea typeface="楷体_GB2312" pitchFamily="49" charset="-122"/>
              </a:rPr>
              <a:t>IRR</a:t>
            </a:r>
            <a:r>
              <a:rPr lang="zh-CN" altLang="en-US" sz="2400">
                <a:ea typeface="楷体_GB2312" pitchFamily="49" charset="-122"/>
              </a:rPr>
              <a:t>的检验结果相同。</a:t>
            </a:r>
            <a:endParaRPr lang="zh-CN" altLang="en-US" sz="2400">
              <a:ea typeface="楷体_GB2312" pitchFamily="49" charset="-122"/>
            </a:endParaRPr>
          </a:p>
          <a:p>
            <a:pPr eaLnBrk="1" hangingPunct="1"/>
            <a:r>
              <a:rPr lang="zh-CN" altLang="en-US" sz="2400">
                <a:ea typeface="楷体_GB2312" pitchFamily="49" charset="-122"/>
              </a:rPr>
              <a:t>但</a:t>
            </a:r>
            <a:r>
              <a:rPr lang="en-US" altLang="zh-CN" sz="2400">
                <a:ea typeface="楷体_GB2312" pitchFamily="49" charset="-122"/>
              </a:rPr>
              <a:t>NPV</a:t>
            </a:r>
            <a:r>
              <a:rPr lang="en-US" altLang="zh-CN" sz="2400" baseline="-25000">
                <a:ea typeface="楷体_GB2312" pitchFamily="49" charset="-122"/>
              </a:rPr>
              <a:t>A</a:t>
            </a:r>
            <a:r>
              <a:rPr lang="en-US" altLang="zh-CN" sz="2400">
                <a:ea typeface="楷体_GB2312" pitchFamily="49" charset="-122"/>
              </a:rPr>
              <a:t>&gt;NPV</a:t>
            </a:r>
            <a:r>
              <a:rPr lang="en-US" altLang="zh-CN" sz="2400" baseline="-25000">
                <a:ea typeface="楷体_GB2312" pitchFamily="49" charset="-122"/>
              </a:rPr>
              <a:t>B</a:t>
            </a:r>
            <a:r>
              <a:rPr lang="en-US" altLang="zh-CN" sz="2400">
                <a:ea typeface="楷体_GB2312" pitchFamily="49" charset="-122"/>
              </a:rPr>
              <a:t>, IRR</a:t>
            </a:r>
            <a:r>
              <a:rPr lang="en-US" altLang="zh-CN" sz="2400" baseline="-25000">
                <a:ea typeface="楷体_GB2312" pitchFamily="49" charset="-122"/>
              </a:rPr>
              <a:t>B</a:t>
            </a:r>
            <a:r>
              <a:rPr lang="en-US" altLang="zh-CN" sz="2400">
                <a:ea typeface="楷体_GB2312" pitchFamily="49" charset="-122"/>
              </a:rPr>
              <a:t>&gt;IRR</a:t>
            </a:r>
            <a:r>
              <a:rPr lang="en-US" altLang="zh-CN" sz="2400" baseline="-25000">
                <a:ea typeface="楷体_GB2312" pitchFamily="49" charset="-122"/>
              </a:rPr>
              <a:t>A</a:t>
            </a:r>
            <a:r>
              <a:rPr lang="en-US" altLang="zh-CN" sz="2400">
                <a:ea typeface="楷体_GB2312" pitchFamily="49" charset="-122"/>
              </a:rPr>
              <a:t>,</a:t>
            </a:r>
            <a:r>
              <a:rPr lang="zh-CN" altLang="en-US" sz="2400">
                <a:ea typeface="楷体_GB2312" pitchFamily="49" charset="-122"/>
              </a:rPr>
              <a:t>选择哪个方案？</a:t>
            </a:r>
            <a:endParaRPr lang="zh-CN" altLang="en-US" sz="2400">
              <a:ea typeface="楷体_GB2312" pitchFamily="49" charset="-122"/>
            </a:endParaRPr>
          </a:p>
          <a:p>
            <a:pPr eaLnBrk="1" hangingPunct="1"/>
            <a:endParaRPr lang="zh-CN" altLang="en-US" sz="2400">
              <a:ea typeface="楷体_GB2312" pitchFamily="49" charset="-122"/>
            </a:endParaRPr>
          </a:p>
          <a:p>
            <a:pPr eaLnBrk="1" hangingPunct="1"/>
            <a:endParaRPr lang="zh-CN" altLang="en-US" sz="2400">
              <a:ea typeface="楷体_GB2312" pitchFamily="49" charset="-122"/>
            </a:endParaRPr>
          </a:p>
        </p:txBody>
      </p:sp>
      <p:sp>
        <p:nvSpPr>
          <p:cNvPr id="20510" name="Rectangle 104"/>
          <p:cNvSpPr>
            <a:spLocks noChangeArrowheads="1"/>
          </p:cNvSpPr>
          <p:nvPr/>
        </p:nvSpPr>
        <p:spPr bwMode="auto">
          <a:xfrm>
            <a:off x="0" y="1006475"/>
            <a:ext cx="8813800" cy="965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pPr>
            <a:r>
              <a:rPr lang="zh-CN" altLang="en-US" sz="2400">
                <a:ea typeface="楷体_GB2312" pitchFamily="49" charset="-122"/>
              </a:rPr>
              <a:t>对于某煤矿的开发设计了两种投资方案，</a:t>
            </a:r>
            <a:r>
              <a:rPr kumimoji="1" lang="zh-CN" altLang="en-US" sz="2400">
                <a:ea typeface="楷体_GB2312" pitchFamily="49" charset="-122"/>
              </a:rPr>
              <a:t>预计其投资和各年的净现金流量如表所示，试进行方案的选择</a:t>
            </a:r>
            <a:r>
              <a:rPr kumimoji="1" lang="en-US" altLang="zh-CN" sz="2400">
                <a:ea typeface="楷体_GB2312" pitchFamily="49" charset="-122"/>
              </a:rPr>
              <a:t>(i</a:t>
            </a:r>
            <a:r>
              <a:rPr kumimoji="1" lang="en-US" altLang="zh-CN" sz="2400" baseline="-25000">
                <a:ea typeface="楷体_GB2312" pitchFamily="49" charset="-122"/>
              </a:rPr>
              <a:t>c</a:t>
            </a:r>
            <a:r>
              <a:rPr kumimoji="1" lang="zh-CN" altLang="en-US" sz="2400">
                <a:ea typeface="楷体_GB2312" pitchFamily="49" charset="-122"/>
              </a:rPr>
              <a:t>＝</a:t>
            </a:r>
            <a:r>
              <a:rPr kumimoji="1" lang="en-US" altLang="zh-CN" sz="2400">
                <a:ea typeface="楷体_GB2312" pitchFamily="49" charset="-122"/>
              </a:rPr>
              <a:t>10%)</a:t>
            </a:r>
            <a:r>
              <a:rPr kumimoji="1" lang="zh-CN" altLang="en-US" sz="2400">
                <a:ea typeface="楷体_GB2312" pitchFamily="49" charset="-122"/>
              </a:rPr>
              <a:t>。</a:t>
            </a:r>
            <a:endParaRPr kumimoji="1" lang="zh-CN" altLang="en-US" sz="2400">
              <a:ea typeface="楷体_GB2312" pitchFamily="49" charset="-122"/>
            </a:endParaRPr>
          </a:p>
          <a:p>
            <a:pPr eaLnBrk="1" hangingPunct="1">
              <a:lnSpc>
                <a:spcPct val="90000"/>
              </a:lnSpc>
            </a:pPr>
            <a:endParaRPr lang="zh-CN" altLang="en-US" sz="240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57501">
                                            <p:txEl>
                                              <p:pRg st="0" end="0"/>
                                            </p:txEl>
                                          </p:spTgt>
                                        </p:tgtEl>
                                        <p:attrNameLst>
                                          <p:attrName>style.visibility</p:attrName>
                                        </p:attrNameLst>
                                      </p:cBhvr>
                                      <p:to>
                                        <p:strVal val="visible"/>
                                      </p:to>
                                    </p:set>
                                    <p:anim calcmode="lin" valueType="num">
                                      <p:cBhvr additive="base">
                                        <p:cTn id="7" dur="500" fill="hold"/>
                                        <p:tgtEl>
                                          <p:spTgt spid="65750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75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57501">
                                            <p:txEl>
                                              <p:pRg st="1" end="1"/>
                                            </p:txEl>
                                          </p:spTgt>
                                        </p:tgtEl>
                                        <p:attrNameLst>
                                          <p:attrName>style.visibility</p:attrName>
                                        </p:attrNameLst>
                                      </p:cBhvr>
                                      <p:to>
                                        <p:strVal val="visible"/>
                                      </p:to>
                                    </p:set>
                                    <p:anim calcmode="lin" valueType="num">
                                      <p:cBhvr additive="base">
                                        <p:cTn id="13" dur="500" fill="hold"/>
                                        <p:tgtEl>
                                          <p:spTgt spid="65750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750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52400" y="165100"/>
            <a:ext cx="8178800" cy="609600"/>
          </a:xfrm>
        </p:spPr>
        <p:txBody>
          <a:bodyPr/>
          <a:lstStyle/>
          <a:p>
            <a:pPr eaLnBrk="1" hangingPunct="1"/>
            <a:r>
              <a:rPr lang="zh-CN" altLang="en-US" sz="3200" smtClean="0"/>
              <a:t>核心：增量分析 </a:t>
            </a:r>
            <a:r>
              <a:rPr lang="en-US" altLang="zh-CN" sz="3200" smtClean="0"/>
              <a:t>Incremental Analysis</a:t>
            </a:r>
            <a:endParaRPr lang="zh-CN" altLang="en-US" sz="3200" smtClean="0"/>
          </a:p>
        </p:txBody>
      </p:sp>
      <p:sp>
        <p:nvSpPr>
          <p:cNvPr id="22531" name="Rectangle 3"/>
          <p:cNvSpPr>
            <a:spLocks noGrp="1" noChangeArrowheads="1"/>
          </p:cNvSpPr>
          <p:nvPr>
            <p:ph type="body" idx="1"/>
          </p:nvPr>
        </p:nvSpPr>
        <p:spPr>
          <a:xfrm>
            <a:off x="0" y="865188"/>
            <a:ext cx="9144000" cy="1557337"/>
          </a:xfrm>
        </p:spPr>
        <p:txBody>
          <a:bodyPr/>
          <a:lstStyle/>
          <a:p>
            <a:pPr eaLnBrk="1" hangingPunct="1"/>
            <a:r>
              <a:rPr lang="zh-CN" altLang="en-US" sz="2400" smtClean="0"/>
              <a:t>判断投资额不等的互斥方案的</a:t>
            </a:r>
            <a:r>
              <a:rPr lang="zh-CN" altLang="en-US" sz="2400" u="sng" smtClean="0"/>
              <a:t>实质</a:t>
            </a:r>
            <a:r>
              <a:rPr lang="zh-CN" altLang="en-US" sz="2400" smtClean="0"/>
              <a:t>，在于判断增量现金流（差额现金流）的经济合理性 </a:t>
            </a:r>
            <a:r>
              <a:rPr lang="en-US" altLang="zh-CN" sz="2400" smtClean="0">
                <a:solidFill>
                  <a:srgbClr val="FF0000"/>
                </a:solidFill>
              </a:rPr>
              <a:t>Why?</a:t>
            </a:r>
            <a:endParaRPr lang="en-US" altLang="zh-CN" sz="2400" smtClean="0">
              <a:solidFill>
                <a:srgbClr val="FF0000"/>
              </a:solidFill>
            </a:endParaRPr>
          </a:p>
          <a:p>
            <a:pPr lvl="1" eaLnBrk="1" hangingPunct="1"/>
            <a:r>
              <a:rPr lang="zh-CN" altLang="en-US" sz="2000" smtClean="0"/>
              <a:t>若增量投资能够带来满意的增量收益，则投资额大的方案优于小的方案；</a:t>
            </a:r>
            <a:endParaRPr lang="zh-CN" altLang="en-US" sz="2000" smtClean="0"/>
          </a:p>
          <a:p>
            <a:pPr lvl="1" eaLnBrk="1" hangingPunct="1"/>
            <a:r>
              <a:rPr lang="zh-CN" altLang="en-US" sz="2000" smtClean="0"/>
              <a:t>若增量投资不能带来满意的增量收益，则投资额小的方案由于大的方案。</a:t>
            </a:r>
            <a:endParaRPr lang="zh-CN" altLang="en-US" sz="2000" smtClean="0"/>
          </a:p>
        </p:txBody>
      </p:sp>
      <p:sp>
        <p:nvSpPr>
          <p:cNvPr id="771076" name="Text Box 4"/>
          <p:cNvSpPr txBox="1">
            <a:spLocks noChangeArrowheads="1"/>
          </p:cNvSpPr>
          <p:nvPr/>
        </p:nvSpPr>
        <p:spPr bwMode="auto">
          <a:xfrm>
            <a:off x="1960563" y="2422525"/>
            <a:ext cx="3937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b="0">
                <a:ea typeface="楷体_GB2312" pitchFamily="49" charset="-122"/>
              </a:rPr>
              <a:t>A</a:t>
            </a:r>
            <a:endParaRPr lang="en-US" altLang="zh-CN" b="0">
              <a:ea typeface="楷体_GB2312" pitchFamily="49" charset="-122"/>
            </a:endParaRPr>
          </a:p>
        </p:txBody>
      </p:sp>
      <p:grpSp>
        <p:nvGrpSpPr>
          <p:cNvPr id="2" name="Group 5"/>
          <p:cNvGrpSpPr/>
          <p:nvPr/>
        </p:nvGrpSpPr>
        <p:grpSpPr bwMode="auto">
          <a:xfrm>
            <a:off x="350838" y="2535238"/>
            <a:ext cx="3475037" cy="2181225"/>
            <a:chOff x="315" y="1257"/>
            <a:chExt cx="2189" cy="1374"/>
          </a:xfrm>
        </p:grpSpPr>
        <p:sp>
          <p:nvSpPr>
            <p:cNvPr id="22565" name="Line 6"/>
            <p:cNvSpPr>
              <a:spLocks noChangeShapeType="1"/>
            </p:cNvSpPr>
            <p:nvPr/>
          </p:nvSpPr>
          <p:spPr bwMode="auto">
            <a:xfrm>
              <a:off x="466" y="1863"/>
              <a:ext cx="203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6" name="Line 7"/>
            <p:cNvSpPr>
              <a:spLocks noChangeShapeType="1"/>
            </p:cNvSpPr>
            <p:nvPr/>
          </p:nvSpPr>
          <p:spPr bwMode="auto">
            <a:xfrm>
              <a:off x="466" y="1863"/>
              <a:ext cx="0" cy="72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7" name="Text Box 8"/>
            <p:cNvSpPr txBox="1">
              <a:spLocks noChangeArrowheads="1"/>
            </p:cNvSpPr>
            <p:nvPr/>
          </p:nvSpPr>
          <p:spPr bwMode="auto">
            <a:xfrm>
              <a:off x="315" y="2111"/>
              <a:ext cx="302" cy="23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endParaRPr lang="zh-CN" altLang="en-US" sz="2000">
                <a:ea typeface="楷体_GB2312" pitchFamily="49" charset="-122"/>
              </a:endParaRPr>
            </a:p>
          </p:txBody>
        </p:sp>
        <p:sp>
          <p:nvSpPr>
            <p:cNvPr id="22568" name="Line 9"/>
            <p:cNvSpPr>
              <a:spLocks noChangeShapeType="1"/>
            </p:cNvSpPr>
            <p:nvPr/>
          </p:nvSpPr>
          <p:spPr bwMode="auto">
            <a:xfrm>
              <a:off x="466" y="2111"/>
              <a:ext cx="15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69" name="Line 10"/>
            <p:cNvSpPr>
              <a:spLocks noChangeShapeType="1"/>
            </p:cNvSpPr>
            <p:nvPr/>
          </p:nvSpPr>
          <p:spPr bwMode="auto">
            <a:xfrm flipH="1">
              <a:off x="336" y="2111"/>
              <a:ext cx="281" cy="2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0" name="Line 11"/>
            <p:cNvSpPr>
              <a:spLocks noChangeShapeType="1"/>
            </p:cNvSpPr>
            <p:nvPr/>
          </p:nvSpPr>
          <p:spPr bwMode="auto">
            <a:xfrm>
              <a:off x="336" y="2343"/>
              <a:ext cx="13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71" name="Text Box 12"/>
            <p:cNvSpPr txBox="1">
              <a:spLocks noChangeArrowheads="1"/>
            </p:cNvSpPr>
            <p:nvPr/>
          </p:nvSpPr>
          <p:spPr bwMode="auto">
            <a:xfrm>
              <a:off x="528" y="2400"/>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200</a:t>
              </a:r>
              <a:endParaRPr lang="en-US" altLang="zh-CN" sz="2000">
                <a:ea typeface="楷体_GB2312" pitchFamily="49" charset="-122"/>
              </a:endParaRPr>
            </a:p>
          </p:txBody>
        </p:sp>
        <p:sp>
          <p:nvSpPr>
            <p:cNvPr id="22572" name="Line 13"/>
            <p:cNvSpPr>
              <a:spLocks noChangeShapeType="1"/>
            </p:cNvSpPr>
            <p:nvPr/>
          </p:nvSpPr>
          <p:spPr bwMode="auto">
            <a:xfrm flipV="1">
              <a:off x="656" y="1496"/>
              <a:ext cx="0" cy="36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3" name="Line 14"/>
            <p:cNvSpPr>
              <a:spLocks noChangeShapeType="1"/>
            </p:cNvSpPr>
            <p:nvPr/>
          </p:nvSpPr>
          <p:spPr bwMode="auto">
            <a:xfrm flipV="1">
              <a:off x="864" y="1488"/>
              <a:ext cx="0" cy="36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4" name="Line 15"/>
            <p:cNvSpPr>
              <a:spLocks noChangeShapeType="1"/>
            </p:cNvSpPr>
            <p:nvPr/>
          </p:nvSpPr>
          <p:spPr bwMode="auto">
            <a:xfrm flipV="1">
              <a:off x="2328" y="1496"/>
              <a:ext cx="0" cy="36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5" name="Text Box 16"/>
            <p:cNvSpPr txBox="1">
              <a:spLocks noChangeArrowheads="1"/>
            </p:cNvSpPr>
            <p:nvPr/>
          </p:nvSpPr>
          <p:spPr bwMode="auto">
            <a:xfrm>
              <a:off x="656" y="1257"/>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39</a:t>
              </a:r>
              <a:endParaRPr lang="en-US" altLang="zh-CN" sz="2000">
                <a:ea typeface="楷体_GB2312" pitchFamily="49" charset="-122"/>
              </a:endParaRPr>
            </a:p>
          </p:txBody>
        </p:sp>
        <p:sp>
          <p:nvSpPr>
            <p:cNvPr id="22576" name="Text Box 17"/>
            <p:cNvSpPr txBox="1">
              <a:spLocks noChangeArrowheads="1"/>
            </p:cNvSpPr>
            <p:nvPr/>
          </p:nvSpPr>
          <p:spPr bwMode="auto">
            <a:xfrm>
              <a:off x="1248" y="1520"/>
              <a:ext cx="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a:t>
              </a:r>
              <a:endParaRPr lang="en-US" altLang="zh-CN" sz="2000">
                <a:ea typeface="楷体_GB2312" pitchFamily="49" charset="-122"/>
              </a:endParaRPr>
            </a:p>
          </p:txBody>
        </p:sp>
      </p:grpSp>
      <p:grpSp>
        <p:nvGrpSpPr>
          <p:cNvPr id="3" name="Group 18"/>
          <p:cNvGrpSpPr/>
          <p:nvPr/>
        </p:nvGrpSpPr>
        <p:grpSpPr bwMode="auto">
          <a:xfrm>
            <a:off x="4837113" y="2535238"/>
            <a:ext cx="3475037" cy="1997075"/>
            <a:chOff x="3141" y="1257"/>
            <a:chExt cx="2189" cy="1258"/>
          </a:xfrm>
        </p:grpSpPr>
        <p:sp>
          <p:nvSpPr>
            <p:cNvPr id="22553" name="Line 19"/>
            <p:cNvSpPr>
              <a:spLocks noChangeShapeType="1"/>
            </p:cNvSpPr>
            <p:nvPr/>
          </p:nvSpPr>
          <p:spPr bwMode="auto">
            <a:xfrm>
              <a:off x="3292" y="1863"/>
              <a:ext cx="2038"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4" name="Line 20"/>
            <p:cNvSpPr>
              <a:spLocks noChangeShapeType="1"/>
            </p:cNvSpPr>
            <p:nvPr/>
          </p:nvSpPr>
          <p:spPr bwMode="auto">
            <a:xfrm>
              <a:off x="3292" y="1863"/>
              <a:ext cx="0" cy="53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5" name="Text Box 21"/>
            <p:cNvSpPr txBox="1">
              <a:spLocks noChangeArrowheads="1"/>
            </p:cNvSpPr>
            <p:nvPr/>
          </p:nvSpPr>
          <p:spPr bwMode="auto">
            <a:xfrm>
              <a:off x="3141" y="1995"/>
              <a:ext cx="302" cy="23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endParaRPr lang="zh-CN" altLang="en-US" sz="2000">
                <a:ea typeface="楷体_GB2312" pitchFamily="49" charset="-122"/>
              </a:endParaRPr>
            </a:p>
          </p:txBody>
        </p:sp>
        <p:sp>
          <p:nvSpPr>
            <p:cNvPr id="22556" name="Line 22"/>
            <p:cNvSpPr>
              <a:spLocks noChangeShapeType="1"/>
            </p:cNvSpPr>
            <p:nvPr/>
          </p:nvSpPr>
          <p:spPr bwMode="auto">
            <a:xfrm>
              <a:off x="3292" y="1995"/>
              <a:ext cx="15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7" name="Line 23"/>
            <p:cNvSpPr>
              <a:spLocks noChangeShapeType="1"/>
            </p:cNvSpPr>
            <p:nvPr/>
          </p:nvSpPr>
          <p:spPr bwMode="auto">
            <a:xfrm flipH="1">
              <a:off x="3162" y="1995"/>
              <a:ext cx="281" cy="23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8" name="Line 24"/>
            <p:cNvSpPr>
              <a:spLocks noChangeShapeType="1"/>
            </p:cNvSpPr>
            <p:nvPr/>
          </p:nvSpPr>
          <p:spPr bwMode="auto">
            <a:xfrm>
              <a:off x="3162" y="2227"/>
              <a:ext cx="13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59" name="Text Box 25"/>
            <p:cNvSpPr txBox="1">
              <a:spLocks noChangeArrowheads="1"/>
            </p:cNvSpPr>
            <p:nvPr/>
          </p:nvSpPr>
          <p:spPr bwMode="auto">
            <a:xfrm>
              <a:off x="3354" y="2284"/>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100</a:t>
              </a:r>
              <a:endParaRPr lang="en-US" altLang="zh-CN" sz="2000">
                <a:ea typeface="楷体_GB2312" pitchFamily="49" charset="-122"/>
              </a:endParaRPr>
            </a:p>
          </p:txBody>
        </p:sp>
        <p:sp>
          <p:nvSpPr>
            <p:cNvPr id="22560" name="Line 26"/>
            <p:cNvSpPr>
              <a:spLocks noChangeShapeType="1"/>
            </p:cNvSpPr>
            <p:nvPr/>
          </p:nvSpPr>
          <p:spPr bwMode="auto">
            <a:xfrm flipV="1">
              <a:off x="3482" y="1623"/>
              <a:ext cx="0" cy="24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1" name="Text Box 27"/>
            <p:cNvSpPr txBox="1">
              <a:spLocks noChangeArrowheads="1"/>
            </p:cNvSpPr>
            <p:nvPr/>
          </p:nvSpPr>
          <p:spPr bwMode="auto">
            <a:xfrm>
              <a:off x="3482" y="1257"/>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20</a:t>
              </a:r>
              <a:endParaRPr lang="en-US" altLang="zh-CN" sz="2000">
                <a:ea typeface="楷体_GB2312" pitchFamily="49" charset="-122"/>
              </a:endParaRPr>
            </a:p>
          </p:txBody>
        </p:sp>
        <p:sp>
          <p:nvSpPr>
            <p:cNvPr id="22562" name="Text Box 28"/>
            <p:cNvSpPr txBox="1">
              <a:spLocks noChangeArrowheads="1"/>
            </p:cNvSpPr>
            <p:nvPr/>
          </p:nvSpPr>
          <p:spPr bwMode="auto">
            <a:xfrm>
              <a:off x="4074" y="1520"/>
              <a:ext cx="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ea typeface="楷体_GB2312" pitchFamily="49" charset="-122"/>
                </a:rPr>
                <a:t>……</a:t>
              </a:r>
              <a:endParaRPr lang="en-US" altLang="zh-CN" sz="2000">
                <a:ea typeface="楷体_GB2312" pitchFamily="49" charset="-122"/>
              </a:endParaRPr>
            </a:p>
          </p:txBody>
        </p:sp>
        <p:sp>
          <p:nvSpPr>
            <p:cNvPr id="22563" name="Line 29"/>
            <p:cNvSpPr>
              <a:spLocks noChangeShapeType="1"/>
            </p:cNvSpPr>
            <p:nvPr/>
          </p:nvSpPr>
          <p:spPr bwMode="auto">
            <a:xfrm flipV="1">
              <a:off x="3674" y="1615"/>
              <a:ext cx="0" cy="24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64" name="Line 30"/>
            <p:cNvSpPr>
              <a:spLocks noChangeShapeType="1"/>
            </p:cNvSpPr>
            <p:nvPr/>
          </p:nvSpPr>
          <p:spPr bwMode="auto">
            <a:xfrm flipV="1">
              <a:off x="5148" y="1615"/>
              <a:ext cx="0" cy="24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1103" name="Text Box 31"/>
          <p:cNvSpPr txBox="1">
            <a:spLocks noChangeArrowheads="1"/>
          </p:cNvSpPr>
          <p:nvPr/>
        </p:nvSpPr>
        <p:spPr bwMode="auto">
          <a:xfrm>
            <a:off x="6575425" y="2455863"/>
            <a:ext cx="3937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b="0">
                <a:ea typeface="楷体_GB2312" pitchFamily="49" charset="-122"/>
              </a:rPr>
              <a:t>B</a:t>
            </a:r>
            <a:endParaRPr lang="en-US" altLang="zh-CN" b="0">
              <a:ea typeface="楷体_GB2312" pitchFamily="49" charset="-122"/>
            </a:endParaRPr>
          </a:p>
        </p:txBody>
      </p:sp>
      <p:sp>
        <p:nvSpPr>
          <p:cNvPr id="771104" name="Line 32"/>
          <p:cNvSpPr>
            <a:spLocks noChangeShapeType="1"/>
          </p:cNvSpPr>
          <p:nvPr/>
        </p:nvSpPr>
        <p:spPr bwMode="auto">
          <a:xfrm>
            <a:off x="2320925" y="3894138"/>
            <a:ext cx="971550" cy="542925"/>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1105" name="Line 33"/>
          <p:cNvSpPr>
            <a:spLocks noChangeShapeType="1"/>
          </p:cNvSpPr>
          <p:nvPr/>
        </p:nvSpPr>
        <p:spPr bwMode="auto">
          <a:xfrm flipH="1">
            <a:off x="4137025" y="3986213"/>
            <a:ext cx="939800" cy="542925"/>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1106" name="Text Box 34"/>
          <p:cNvSpPr txBox="1">
            <a:spLocks noChangeArrowheads="1"/>
          </p:cNvSpPr>
          <p:nvPr/>
        </p:nvSpPr>
        <p:spPr bwMode="auto">
          <a:xfrm>
            <a:off x="3349625" y="4532313"/>
            <a:ext cx="8858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b="0">
                <a:solidFill>
                  <a:srgbClr val="3333CC"/>
                </a:solidFill>
                <a:ea typeface="楷体_GB2312" pitchFamily="49" charset="-122"/>
              </a:rPr>
              <a:t>A-B</a:t>
            </a:r>
            <a:endParaRPr lang="en-US" altLang="zh-CN" b="0">
              <a:solidFill>
                <a:srgbClr val="3333CC"/>
              </a:solidFill>
              <a:ea typeface="楷体_GB2312" pitchFamily="49" charset="-122"/>
            </a:endParaRPr>
          </a:p>
        </p:txBody>
      </p:sp>
      <p:grpSp>
        <p:nvGrpSpPr>
          <p:cNvPr id="4" name="Group 35"/>
          <p:cNvGrpSpPr/>
          <p:nvPr/>
        </p:nvGrpSpPr>
        <p:grpSpPr bwMode="auto">
          <a:xfrm>
            <a:off x="2320925" y="5075238"/>
            <a:ext cx="3475038" cy="1819275"/>
            <a:chOff x="1556" y="3024"/>
            <a:chExt cx="2189" cy="1146"/>
          </a:xfrm>
        </p:grpSpPr>
        <p:sp>
          <p:nvSpPr>
            <p:cNvPr id="22541" name="Line 36"/>
            <p:cNvSpPr>
              <a:spLocks noChangeShapeType="1"/>
            </p:cNvSpPr>
            <p:nvPr/>
          </p:nvSpPr>
          <p:spPr bwMode="auto">
            <a:xfrm>
              <a:off x="1707" y="3518"/>
              <a:ext cx="2038" cy="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2" name="Line 37"/>
            <p:cNvSpPr>
              <a:spLocks noChangeShapeType="1"/>
            </p:cNvSpPr>
            <p:nvPr/>
          </p:nvSpPr>
          <p:spPr bwMode="auto">
            <a:xfrm>
              <a:off x="1707" y="3518"/>
              <a:ext cx="0" cy="537"/>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3" name="Text Box 38"/>
            <p:cNvSpPr txBox="1">
              <a:spLocks noChangeArrowheads="1"/>
            </p:cNvSpPr>
            <p:nvPr/>
          </p:nvSpPr>
          <p:spPr bwMode="auto">
            <a:xfrm>
              <a:off x="1556" y="3650"/>
              <a:ext cx="302" cy="231"/>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endParaRPr lang="zh-CN" altLang="en-US" sz="2000">
                <a:solidFill>
                  <a:srgbClr val="0000FF"/>
                </a:solidFill>
                <a:ea typeface="楷体_GB2312" pitchFamily="49" charset="-122"/>
              </a:endParaRPr>
            </a:p>
          </p:txBody>
        </p:sp>
        <p:sp>
          <p:nvSpPr>
            <p:cNvPr id="22544" name="Line 39"/>
            <p:cNvSpPr>
              <a:spLocks noChangeShapeType="1"/>
            </p:cNvSpPr>
            <p:nvPr/>
          </p:nvSpPr>
          <p:spPr bwMode="auto">
            <a:xfrm>
              <a:off x="1707" y="3650"/>
              <a:ext cx="151" cy="0"/>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5" name="Line 40"/>
            <p:cNvSpPr>
              <a:spLocks noChangeShapeType="1"/>
            </p:cNvSpPr>
            <p:nvPr/>
          </p:nvSpPr>
          <p:spPr bwMode="auto">
            <a:xfrm flipH="1">
              <a:off x="1577" y="3650"/>
              <a:ext cx="281" cy="232"/>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6" name="Line 41"/>
            <p:cNvSpPr>
              <a:spLocks noChangeShapeType="1"/>
            </p:cNvSpPr>
            <p:nvPr/>
          </p:nvSpPr>
          <p:spPr bwMode="auto">
            <a:xfrm>
              <a:off x="1577" y="3882"/>
              <a:ext cx="130" cy="0"/>
            </a:xfrm>
            <a:prstGeom prst="line">
              <a:avLst/>
            </a:prstGeom>
            <a:noFill/>
            <a:ln w="9525">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47" name="Text Box 42"/>
            <p:cNvSpPr txBox="1">
              <a:spLocks noChangeArrowheads="1"/>
            </p:cNvSpPr>
            <p:nvPr/>
          </p:nvSpPr>
          <p:spPr bwMode="auto">
            <a:xfrm>
              <a:off x="1769" y="3939"/>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solidFill>
                    <a:srgbClr val="0000FF"/>
                  </a:solidFill>
                  <a:ea typeface="楷体_GB2312" pitchFamily="49" charset="-122"/>
                </a:rPr>
                <a:t>100</a:t>
              </a:r>
              <a:endParaRPr lang="en-US" altLang="zh-CN" sz="2000">
                <a:solidFill>
                  <a:srgbClr val="0000FF"/>
                </a:solidFill>
                <a:ea typeface="楷体_GB2312" pitchFamily="49" charset="-122"/>
              </a:endParaRPr>
            </a:p>
          </p:txBody>
        </p:sp>
        <p:sp>
          <p:nvSpPr>
            <p:cNvPr id="22548" name="Line 43"/>
            <p:cNvSpPr>
              <a:spLocks noChangeShapeType="1"/>
            </p:cNvSpPr>
            <p:nvPr/>
          </p:nvSpPr>
          <p:spPr bwMode="auto">
            <a:xfrm flipV="1">
              <a:off x="1897" y="3278"/>
              <a:ext cx="0" cy="24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9" name="Text Box 44"/>
            <p:cNvSpPr txBox="1">
              <a:spLocks noChangeArrowheads="1"/>
            </p:cNvSpPr>
            <p:nvPr/>
          </p:nvSpPr>
          <p:spPr bwMode="auto">
            <a:xfrm>
              <a:off x="1893" y="3024"/>
              <a:ext cx="3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solidFill>
                    <a:srgbClr val="0000FF"/>
                  </a:solidFill>
                  <a:ea typeface="楷体_GB2312" pitchFamily="49" charset="-122"/>
                </a:rPr>
                <a:t>19</a:t>
              </a:r>
              <a:endParaRPr lang="en-US" altLang="zh-CN" sz="2000">
                <a:solidFill>
                  <a:srgbClr val="0000FF"/>
                </a:solidFill>
                <a:ea typeface="楷体_GB2312" pitchFamily="49" charset="-122"/>
              </a:endParaRPr>
            </a:p>
          </p:txBody>
        </p:sp>
        <p:sp>
          <p:nvSpPr>
            <p:cNvPr id="22550" name="Text Box 45"/>
            <p:cNvSpPr txBox="1">
              <a:spLocks noChangeArrowheads="1"/>
            </p:cNvSpPr>
            <p:nvPr/>
          </p:nvSpPr>
          <p:spPr bwMode="auto">
            <a:xfrm>
              <a:off x="2489" y="3175"/>
              <a:ext cx="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000">
                  <a:solidFill>
                    <a:srgbClr val="0000FF"/>
                  </a:solidFill>
                  <a:ea typeface="楷体_GB2312" pitchFamily="49" charset="-122"/>
                </a:rPr>
                <a:t>……</a:t>
              </a:r>
              <a:endParaRPr lang="en-US" altLang="zh-CN" sz="2000">
                <a:solidFill>
                  <a:srgbClr val="0000FF"/>
                </a:solidFill>
                <a:ea typeface="楷体_GB2312" pitchFamily="49" charset="-122"/>
              </a:endParaRPr>
            </a:p>
          </p:txBody>
        </p:sp>
        <p:sp>
          <p:nvSpPr>
            <p:cNvPr id="22551" name="Line 46"/>
            <p:cNvSpPr>
              <a:spLocks noChangeShapeType="1"/>
            </p:cNvSpPr>
            <p:nvPr/>
          </p:nvSpPr>
          <p:spPr bwMode="auto">
            <a:xfrm flipV="1">
              <a:off x="2089" y="3270"/>
              <a:ext cx="0" cy="24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2" name="Line 47"/>
            <p:cNvSpPr>
              <a:spLocks noChangeShapeType="1"/>
            </p:cNvSpPr>
            <p:nvPr/>
          </p:nvSpPr>
          <p:spPr bwMode="auto">
            <a:xfrm flipV="1">
              <a:off x="3563" y="3270"/>
              <a:ext cx="0" cy="24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71120" name="Text Box 48"/>
          <p:cNvSpPr txBox="1">
            <a:spLocks noChangeArrowheads="1"/>
          </p:cNvSpPr>
          <p:nvPr/>
        </p:nvSpPr>
        <p:spPr bwMode="auto">
          <a:xfrm>
            <a:off x="6318250" y="5559425"/>
            <a:ext cx="241141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a:solidFill>
                  <a:srgbClr val="FF0000"/>
                </a:solidFill>
                <a:ea typeface="楷体_GB2312" pitchFamily="49" charset="-122"/>
              </a:rPr>
              <a:t>增量投资是否可行？</a:t>
            </a:r>
            <a:endParaRPr lang="zh-CN" altLang="en-US">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71076"/>
                                        </p:tgtEl>
                                        <p:attrNameLst>
                                          <p:attrName>style.visibility</p:attrName>
                                        </p:attrNameLst>
                                      </p:cBhvr>
                                      <p:to>
                                        <p:strVal val="visible"/>
                                      </p:to>
                                    </p:set>
                                    <p:animEffect transition="in" filter="checkerboard(across)">
                                      <p:cBhvr>
                                        <p:cTn id="7" dur="500"/>
                                        <p:tgtEl>
                                          <p:spTgt spid="771076"/>
                                        </p:tgtEl>
                                      </p:cBhvr>
                                    </p:animEffect>
                                  </p:childTnLst>
                                </p:cTn>
                              </p:par>
                              <p:par>
                                <p:cTn id="8" presetID="5"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771103"/>
                                        </p:tgtEl>
                                        <p:attrNameLst>
                                          <p:attrName>style.visibility</p:attrName>
                                        </p:attrNameLst>
                                      </p:cBhvr>
                                      <p:to>
                                        <p:strVal val="visible"/>
                                      </p:to>
                                    </p:set>
                                    <p:animEffect transition="in" filter="checkerboard(across)">
                                      <p:cBhvr>
                                        <p:cTn id="15" dur="500"/>
                                        <p:tgtEl>
                                          <p:spTgt spid="771103"/>
                                        </p:tgtEl>
                                      </p:cBhvr>
                                    </p:animEffect>
                                  </p:childTnLst>
                                </p:cTn>
                              </p:par>
                              <p:par>
                                <p:cTn id="16" presetID="5" presetClass="entr" presetSubtype="1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771104"/>
                                        </p:tgtEl>
                                        <p:attrNameLst>
                                          <p:attrName>style.visibility</p:attrName>
                                        </p:attrNameLst>
                                      </p:cBhvr>
                                      <p:to>
                                        <p:strVal val="visible"/>
                                      </p:to>
                                    </p:set>
                                    <p:animEffect transition="in" filter="checkerboard(across)">
                                      <p:cBhvr>
                                        <p:cTn id="23" dur="500"/>
                                        <p:tgtEl>
                                          <p:spTgt spid="771104"/>
                                        </p:tgtEl>
                                      </p:cBhvr>
                                    </p:animEffect>
                                  </p:childTnLst>
                                </p:cTn>
                              </p:par>
                              <p:par>
                                <p:cTn id="24" presetID="5" presetClass="entr" presetSubtype="10" fill="hold" nodeType="withEffect">
                                  <p:stCondLst>
                                    <p:cond delay="0"/>
                                  </p:stCondLst>
                                  <p:childTnLst>
                                    <p:set>
                                      <p:cBhvr>
                                        <p:cTn id="25" dur="1" fill="hold">
                                          <p:stCondLst>
                                            <p:cond delay="0"/>
                                          </p:stCondLst>
                                        </p:cTn>
                                        <p:tgtEl>
                                          <p:spTgt spid="771105"/>
                                        </p:tgtEl>
                                        <p:attrNameLst>
                                          <p:attrName>style.visibility</p:attrName>
                                        </p:attrNameLst>
                                      </p:cBhvr>
                                      <p:to>
                                        <p:strVal val="visible"/>
                                      </p:to>
                                    </p:set>
                                    <p:animEffect transition="in" filter="checkerboard(across)">
                                      <p:cBhvr>
                                        <p:cTn id="26" dur="500"/>
                                        <p:tgtEl>
                                          <p:spTgt spid="771105"/>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771106"/>
                                        </p:tgtEl>
                                        <p:attrNameLst>
                                          <p:attrName>style.visibility</p:attrName>
                                        </p:attrNameLst>
                                      </p:cBhvr>
                                      <p:to>
                                        <p:strVal val="visible"/>
                                      </p:to>
                                    </p:set>
                                    <p:animEffect transition="in" filter="checkerboard(across)">
                                      <p:cBhvr>
                                        <p:cTn id="29" dur="500"/>
                                        <p:tgtEl>
                                          <p:spTgt spid="77110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71120"/>
                                        </p:tgtEl>
                                        <p:attrNameLst>
                                          <p:attrName>style.visibility</p:attrName>
                                        </p:attrNameLst>
                                      </p:cBhvr>
                                      <p:to>
                                        <p:strVal val="visible"/>
                                      </p:to>
                                    </p:set>
                                    <p:animEffect transition="in" filter="blinds(horizontal)">
                                      <p:cBhvr>
                                        <p:cTn id="39" dur="500"/>
                                        <p:tgtEl>
                                          <p:spTgt spid="771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6" grpId="0"/>
      <p:bldP spid="771103" grpId="0"/>
      <p:bldP spid="771106" grpId="0"/>
      <p:bldP spid="7711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52400" y="165100"/>
            <a:ext cx="8178800" cy="609600"/>
          </a:xfrm>
        </p:spPr>
        <p:txBody>
          <a:bodyPr/>
          <a:lstStyle/>
          <a:p>
            <a:pPr eaLnBrk="1" hangingPunct="1"/>
            <a:r>
              <a:rPr lang="zh-CN" altLang="en-US" smtClean="0"/>
              <a:t>增量分析法的类别</a:t>
            </a:r>
            <a:endParaRPr lang="en-US" altLang="zh-CN" smtClean="0"/>
          </a:p>
        </p:txBody>
      </p:sp>
      <p:sp>
        <p:nvSpPr>
          <p:cNvPr id="23555" name="Rectangle 3"/>
          <p:cNvSpPr>
            <a:spLocks noGrp="1" noChangeArrowheads="1"/>
          </p:cNvSpPr>
          <p:nvPr>
            <p:ph type="body" idx="1"/>
          </p:nvPr>
        </p:nvSpPr>
        <p:spPr/>
        <p:txBody>
          <a:bodyPr/>
          <a:lstStyle/>
          <a:p>
            <a:pPr eaLnBrk="1" hangingPunct="1"/>
            <a:r>
              <a:rPr lang="en-US" altLang="zh-CN" smtClean="0"/>
              <a:t>1. </a:t>
            </a:r>
            <a:r>
              <a:rPr lang="zh-CN" altLang="en-US" smtClean="0"/>
              <a:t>静态评价</a:t>
            </a:r>
            <a:endParaRPr lang="zh-CN" altLang="en-US" smtClean="0"/>
          </a:p>
          <a:p>
            <a:pPr lvl="1" eaLnBrk="1" hangingPunct="1"/>
            <a:r>
              <a:rPr lang="zh-CN" altLang="en-US" smtClean="0"/>
              <a:t>增量投资利润率</a:t>
            </a:r>
            <a:endParaRPr lang="zh-CN" altLang="en-US" smtClean="0"/>
          </a:p>
          <a:p>
            <a:pPr lvl="1" eaLnBrk="1" hangingPunct="1"/>
            <a:r>
              <a:rPr lang="zh-CN" altLang="en-US" smtClean="0"/>
              <a:t>增量投资回收期</a:t>
            </a:r>
            <a:endParaRPr lang="zh-CN" altLang="en-US" smtClean="0"/>
          </a:p>
          <a:p>
            <a:pPr lvl="1" eaLnBrk="1" hangingPunct="1"/>
            <a:endParaRPr lang="zh-CN" altLang="en-US" smtClean="0"/>
          </a:p>
          <a:p>
            <a:pPr eaLnBrk="1" hangingPunct="1"/>
            <a:r>
              <a:rPr lang="en-US" altLang="zh-CN" smtClean="0"/>
              <a:t>2. </a:t>
            </a:r>
            <a:r>
              <a:rPr lang="zh-CN" altLang="en-US" smtClean="0"/>
              <a:t>动态评价</a:t>
            </a:r>
            <a:endParaRPr lang="zh-CN" altLang="en-US" smtClean="0"/>
          </a:p>
          <a:p>
            <a:pPr lvl="1" eaLnBrk="1" hangingPunct="1"/>
            <a:r>
              <a:rPr lang="zh-CN" altLang="en-US" smtClean="0">
                <a:solidFill>
                  <a:srgbClr val="3333CC"/>
                </a:solidFill>
              </a:rPr>
              <a:t>增量净现值</a:t>
            </a:r>
            <a:r>
              <a:rPr lang="en-US" altLang="zh-CN" smtClean="0">
                <a:solidFill>
                  <a:srgbClr val="3333CC"/>
                </a:solidFill>
              </a:rPr>
              <a:t>△NPV</a:t>
            </a:r>
            <a:endParaRPr lang="en-US" altLang="zh-CN" smtClean="0">
              <a:solidFill>
                <a:srgbClr val="3333CC"/>
              </a:solidFill>
            </a:endParaRPr>
          </a:p>
          <a:p>
            <a:pPr lvl="1" eaLnBrk="1" hangingPunct="1"/>
            <a:r>
              <a:rPr lang="zh-CN" altLang="en-US" smtClean="0">
                <a:solidFill>
                  <a:srgbClr val="3333CC"/>
                </a:solidFill>
              </a:rPr>
              <a:t>增量内部收益率</a:t>
            </a:r>
            <a:r>
              <a:rPr lang="en-US" altLang="zh-CN" smtClean="0">
                <a:solidFill>
                  <a:srgbClr val="3333CC"/>
                </a:solidFill>
              </a:rPr>
              <a:t>△IRR</a:t>
            </a:r>
            <a:endParaRPr lang="en-US" altLang="zh-CN" smtClean="0">
              <a:solidFill>
                <a:srgbClr val="3333CC"/>
              </a:solidFill>
            </a:endParaRPr>
          </a:p>
          <a:p>
            <a:pPr lvl="1" eaLnBrk="1" hangingPunct="1"/>
            <a:r>
              <a:rPr lang="zh-CN" altLang="en-US" smtClean="0"/>
              <a:t>增量净年值</a:t>
            </a:r>
            <a:endParaRPr lang="zh-CN" altLang="en-US" smtClean="0"/>
          </a:p>
          <a:p>
            <a:pPr lvl="1" eaLnBrk="1" hangingPunct="1"/>
            <a:r>
              <a:rPr lang="zh-CN" altLang="en-US" smtClean="0"/>
              <a:t>增量净现值率</a:t>
            </a:r>
            <a:endParaRPr lang="zh-CN" altLang="en-US" smtClean="0"/>
          </a:p>
        </p:txBody>
      </p:sp>
      <p:sp>
        <p:nvSpPr>
          <p:cNvPr id="23556" name="AutoShape 5"/>
          <p:cNvSpPr/>
          <p:nvPr/>
        </p:nvSpPr>
        <p:spPr bwMode="auto">
          <a:xfrm>
            <a:off x="4686300" y="3705225"/>
            <a:ext cx="152400" cy="762000"/>
          </a:xfrm>
          <a:prstGeom prst="rightBrace">
            <a:avLst>
              <a:gd name="adj1" fmla="val 41667"/>
              <a:gd name="adj2" fmla="val 50000"/>
            </a:avLst>
          </a:prstGeom>
          <a:noFill/>
          <a:ln w="19050">
            <a:solidFill>
              <a:schemeClr val="bg2"/>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endParaRPr lang="zh-CN" altLang="en-US" sz="4000">
              <a:solidFill>
                <a:srgbClr val="0000FF"/>
              </a:solidFill>
              <a:ea typeface="楷体_GB2312" pitchFamily="49" charset="-122"/>
            </a:endParaRPr>
          </a:p>
        </p:txBody>
      </p:sp>
      <p:sp>
        <p:nvSpPr>
          <p:cNvPr id="23557" name="Text Box 7"/>
          <p:cNvSpPr txBox="1">
            <a:spLocks noChangeArrowheads="1"/>
          </p:cNvSpPr>
          <p:nvPr/>
        </p:nvSpPr>
        <p:spPr bwMode="auto">
          <a:xfrm>
            <a:off x="4914900" y="3781425"/>
            <a:ext cx="147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solidFill>
                  <a:srgbClr val="3333CC"/>
                </a:solidFill>
                <a:latin typeface="楷体_GB2312" pitchFamily="49" charset="-122"/>
                <a:ea typeface="楷体_GB2312" pitchFamily="49" charset="-122"/>
              </a:rPr>
              <a:t>重点掌握</a:t>
            </a:r>
            <a:endParaRPr lang="zh-CN" altLang="en-US" sz="2400">
              <a:solidFill>
                <a:srgbClr val="3333CC"/>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0500" y="12700"/>
            <a:ext cx="8623300" cy="647700"/>
          </a:xfrm>
        </p:spPr>
        <p:txBody>
          <a:bodyPr/>
          <a:lstStyle/>
          <a:p>
            <a:pPr eaLnBrk="1" hangingPunct="1"/>
            <a:r>
              <a:rPr lang="zh-CN" altLang="en-US" smtClean="0"/>
              <a:t>增量净现金流量</a:t>
            </a:r>
            <a:endParaRPr lang="en-US" altLang="zh-CN" smtClean="0"/>
          </a:p>
        </p:txBody>
      </p:sp>
      <p:sp>
        <p:nvSpPr>
          <p:cNvPr id="25603" name="Rectangle 3"/>
          <p:cNvSpPr>
            <a:spLocks noGrp="1" noChangeArrowheads="1"/>
          </p:cNvSpPr>
          <p:nvPr>
            <p:ph type="body" sz="half" idx="1"/>
          </p:nvPr>
        </p:nvSpPr>
        <p:spPr>
          <a:xfrm>
            <a:off x="0" y="4662488"/>
            <a:ext cx="8813800" cy="1422400"/>
          </a:xfrm>
        </p:spPr>
        <p:txBody>
          <a:bodyPr/>
          <a:lstStyle/>
          <a:p>
            <a:pPr eaLnBrk="1" hangingPunct="1">
              <a:lnSpc>
                <a:spcPct val="90000"/>
              </a:lnSpc>
            </a:pPr>
            <a:r>
              <a:rPr lang="zh-CN" altLang="en-US" sz="2800" smtClean="0"/>
              <a:t>可以看出，增量投资具有满意的经济效果，</a:t>
            </a:r>
            <a:r>
              <a:rPr lang="en-US" altLang="zh-CN" sz="2800" smtClean="0"/>
              <a:t>NPV&gt;0, IRR</a:t>
            </a:r>
            <a:r>
              <a:rPr lang="zh-CN" altLang="en-US" sz="2800" smtClean="0"/>
              <a:t>大于基准收益率</a:t>
            </a:r>
            <a:r>
              <a:rPr lang="en-US" altLang="zh-CN" sz="2800" smtClean="0"/>
              <a:t>(10%)</a:t>
            </a:r>
            <a:r>
              <a:rPr lang="zh-CN" altLang="en-US" sz="2800" smtClean="0"/>
              <a:t>。</a:t>
            </a:r>
            <a:endParaRPr lang="zh-CN" altLang="en-US" sz="2800" smtClean="0"/>
          </a:p>
          <a:p>
            <a:pPr eaLnBrk="1" hangingPunct="1">
              <a:lnSpc>
                <a:spcPct val="90000"/>
              </a:lnSpc>
            </a:pPr>
            <a:r>
              <a:rPr lang="zh-CN" altLang="en-US" sz="2800" smtClean="0"/>
              <a:t>因此，方案</a:t>
            </a:r>
            <a:r>
              <a:rPr lang="en-US" altLang="zh-CN" sz="2800" smtClean="0"/>
              <a:t>A</a:t>
            </a:r>
            <a:r>
              <a:rPr lang="zh-CN" altLang="en-US" sz="2800" smtClean="0"/>
              <a:t>优于方案</a:t>
            </a:r>
            <a:r>
              <a:rPr lang="en-US" altLang="zh-CN" sz="2800" smtClean="0"/>
              <a:t>B</a:t>
            </a:r>
            <a:r>
              <a:rPr lang="zh-CN" altLang="en-US" sz="2800" smtClean="0"/>
              <a:t>。</a:t>
            </a:r>
            <a:endParaRPr lang="zh-CN" altLang="en-US" sz="2800" smtClean="0"/>
          </a:p>
        </p:txBody>
      </p:sp>
      <p:graphicFrame>
        <p:nvGraphicFramePr>
          <p:cNvPr id="658513" name="Group 81"/>
          <p:cNvGraphicFramePr>
            <a:graphicFrameLocks noGrp="1"/>
          </p:cNvGraphicFramePr>
          <p:nvPr>
            <p:ph sz="half" idx="2"/>
          </p:nvPr>
        </p:nvGraphicFramePr>
        <p:xfrm>
          <a:off x="831850" y="1379538"/>
          <a:ext cx="7416800" cy="2636836"/>
        </p:xfrm>
        <a:graphic>
          <a:graphicData uri="http://schemas.openxmlformats.org/drawingml/2006/table">
            <a:tbl>
              <a:tblPr/>
              <a:tblGrid>
                <a:gridCol w="1985963"/>
                <a:gridCol w="1370012"/>
                <a:gridCol w="1473200"/>
                <a:gridCol w="1387475"/>
                <a:gridCol w="1200150"/>
              </a:tblGrid>
              <a:tr h="4699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年份　</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NPV</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IRR(%)</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2312">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方案</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A</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的净现金流</a:t>
                      </a:r>
                      <a:b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b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（万元）</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-200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39</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39.64</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14.4</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2312">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方案</a:t>
                      </a: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B</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的净现金流</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（万元）</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-100</a:t>
                      </a:r>
                      <a:r>
                        <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　</a:t>
                      </a:r>
                      <a:endParaRPr kumimoji="0" lang="zh-CN" altLang="en-US"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20</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22.89</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rPr>
                        <a:t>15.1</a:t>
                      </a:r>
                      <a:endParaRPr kumimoji="0" lang="en-US" altLang="zh-CN" sz="1800" b="1" i="0" u="none" strike="noStrike" cap="none" normalizeH="0" baseline="0" smtClean="0">
                        <a:ln>
                          <a:noFill/>
                        </a:ln>
                        <a:solidFill>
                          <a:srgbClr val="00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2312">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zh-CN" altLang="en-US"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增量净现金流</a:t>
                      </a:r>
                      <a:endParaRPr kumimoji="0" lang="zh-CN" altLang="en-US"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(A-B),(</a:t>
                      </a:r>
                      <a:r>
                        <a:rPr kumimoji="0" lang="zh-CN" altLang="en-US"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万元</a:t>
                      </a: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-100</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19</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16.75</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0" fontAlgn="ctr" latinLnBrk="0" hangingPunct="0">
                        <a:lnSpc>
                          <a:spcPct val="100000"/>
                        </a:lnSpc>
                        <a:spcBef>
                          <a:spcPct val="0"/>
                        </a:spcBef>
                        <a:spcAft>
                          <a:spcPct val="0"/>
                        </a:spcAft>
                        <a:buClrTx/>
                        <a:buSzTx/>
                        <a:buFontTx/>
                        <a:buNone/>
                      </a:pPr>
                      <a:r>
                        <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rPr>
                        <a:t>13.8</a:t>
                      </a:r>
                      <a:endParaRPr kumimoji="0" lang="en-US" altLang="zh-CN" sz="1800" b="1" i="0" u="none" strike="noStrike" cap="none" normalizeH="0" baseline="0" smtClean="0">
                        <a:ln>
                          <a:noFill/>
                        </a:ln>
                        <a:solidFill>
                          <a:srgbClr val="FF0000"/>
                        </a:solidFill>
                        <a:effectLst/>
                        <a:latin typeface="Times New Roman" panose="02020603050405020304" charset="0"/>
                        <a:ea typeface="宋体" panose="02010600030101010101" pitchFamily="2" charset="-122"/>
                        <a:cs typeface="楷体_GB231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12700"/>
            <a:ext cx="8861425" cy="749300"/>
          </a:xfrm>
        </p:spPr>
        <p:txBody>
          <a:bodyPr/>
          <a:lstStyle/>
          <a:p>
            <a:pPr eaLnBrk="1" hangingPunct="1"/>
            <a:r>
              <a:rPr lang="zh-CN" altLang="en-US" sz="3200" smtClean="0"/>
              <a:t>增量净现值△</a:t>
            </a:r>
            <a:r>
              <a:rPr lang="en-US" altLang="zh-CN" sz="3200" smtClean="0"/>
              <a:t>NPV</a:t>
            </a:r>
            <a:endParaRPr lang="en-US" altLang="zh-CN" sz="3200" smtClean="0"/>
          </a:p>
        </p:txBody>
      </p:sp>
      <p:sp>
        <p:nvSpPr>
          <p:cNvPr id="659459" name="Rectangle 3"/>
          <p:cNvSpPr>
            <a:spLocks noGrp="1" noChangeArrowheads="1"/>
          </p:cNvSpPr>
          <p:nvPr>
            <p:ph type="body" sz="half" idx="1"/>
          </p:nvPr>
        </p:nvSpPr>
        <p:spPr>
          <a:xfrm>
            <a:off x="0" y="977900"/>
            <a:ext cx="9144000" cy="5665788"/>
          </a:xfrm>
        </p:spPr>
        <p:txBody>
          <a:bodyPr/>
          <a:lstStyle/>
          <a:p>
            <a:pPr eaLnBrk="1" hangingPunct="1">
              <a:lnSpc>
                <a:spcPct val="90000"/>
              </a:lnSpc>
            </a:pPr>
            <a:r>
              <a:rPr lang="zh-CN" altLang="en-US" sz="2600" smtClean="0"/>
              <a:t>若              ，投资大的方案经济效果好；</a:t>
            </a:r>
            <a:endParaRPr lang="zh-CN" altLang="en-US" sz="2600" smtClean="0"/>
          </a:p>
          <a:p>
            <a:pPr eaLnBrk="1" hangingPunct="1">
              <a:lnSpc>
                <a:spcPct val="90000"/>
              </a:lnSpc>
            </a:pPr>
            <a:r>
              <a:rPr lang="zh-CN" altLang="en-US" sz="2600" smtClean="0"/>
              <a:t>若              ，投资小的方案经济效果好。</a:t>
            </a:r>
            <a:endParaRPr lang="zh-CN" altLang="en-US" sz="2600" smtClean="0"/>
          </a:p>
          <a:p>
            <a:pPr eaLnBrk="1" hangingPunct="1">
              <a:lnSpc>
                <a:spcPct val="90000"/>
              </a:lnSpc>
            </a:pPr>
            <a:endParaRPr lang="zh-CN" altLang="en-US" sz="4000" smtClean="0"/>
          </a:p>
          <a:p>
            <a:pPr eaLnBrk="1" hangingPunct="1">
              <a:lnSpc>
                <a:spcPct val="90000"/>
              </a:lnSpc>
            </a:pPr>
            <a:endParaRPr lang="zh-CN" altLang="en-US" sz="4000" smtClean="0"/>
          </a:p>
          <a:p>
            <a:pPr eaLnBrk="1" hangingPunct="1">
              <a:lnSpc>
                <a:spcPct val="90000"/>
              </a:lnSpc>
            </a:pPr>
            <a:endParaRPr lang="zh-CN" altLang="en-US" sz="4000" smtClean="0"/>
          </a:p>
          <a:p>
            <a:pPr eaLnBrk="1" hangingPunct="1">
              <a:lnSpc>
                <a:spcPct val="90000"/>
              </a:lnSpc>
            </a:pPr>
            <a:endParaRPr lang="zh-CN" altLang="en-US" sz="3600" smtClean="0"/>
          </a:p>
          <a:p>
            <a:pPr eaLnBrk="1" hangingPunct="1">
              <a:lnSpc>
                <a:spcPct val="90000"/>
              </a:lnSpc>
            </a:pPr>
            <a:endParaRPr lang="zh-CN" altLang="en-US" sz="2600" smtClean="0"/>
          </a:p>
          <a:p>
            <a:pPr eaLnBrk="1" hangingPunct="1">
              <a:lnSpc>
                <a:spcPct val="90000"/>
              </a:lnSpc>
            </a:pPr>
            <a:r>
              <a:rPr lang="zh-CN" altLang="en-US" sz="2600" smtClean="0"/>
              <a:t>增量分析法与分别计算两方案的净现值根据净现值最大准则进行互斥方案比选的结论是一致的。</a:t>
            </a:r>
            <a:r>
              <a:rPr lang="zh-CN" altLang="en-US" sz="2600" smtClean="0">
                <a:solidFill>
                  <a:srgbClr val="3333CC"/>
                </a:solidFill>
              </a:rPr>
              <a:t>因此，可以直接采用净现值最大且非负准则选择最优。</a:t>
            </a:r>
            <a:endParaRPr lang="zh-CN" altLang="en-US" sz="2600" smtClean="0">
              <a:solidFill>
                <a:srgbClr val="3333CC"/>
              </a:solidFill>
            </a:endParaRPr>
          </a:p>
          <a:p>
            <a:pPr lvl="1" eaLnBrk="1" hangingPunct="1">
              <a:lnSpc>
                <a:spcPct val="90000"/>
              </a:lnSpc>
            </a:pPr>
            <a:r>
              <a:rPr lang="zh-CN" altLang="en-US" sz="2400" smtClean="0"/>
              <a:t>特别是在多个互斥方案进行比较时，这样更为简便</a:t>
            </a:r>
            <a:endParaRPr lang="zh-CN" altLang="en-US" sz="2400" smtClean="0"/>
          </a:p>
          <a:p>
            <a:pPr eaLnBrk="1" hangingPunct="1">
              <a:lnSpc>
                <a:spcPct val="90000"/>
              </a:lnSpc>
            </a:pPr>
            <a:endParaRPr lang="zh-CN" altLang="en-US" sz="4000" smtClean="0"/>
          </a:p>
        </p:txBody>
      </p:sp>
      <p:graphicFrame>
        <p:nvGraphicFramePr>
          <p:cNvPr id="27652" name="Object 4"/>
          <p:cNvGraphicFramePr>
            <a:graphicFrameLocks noChangeAspect="1"/>
          </p:cNvGraphicFramePr>
          <p:nvPr>
            <p:ph sz="quarter" idx="2"/>
          </p:nvPr>
        </p:nvGraphicFramePr>
        <p:xfrm>
          <a:off x="736600" y="977900"/>
          <a:ext cx="1193800" cy="357188"/>
        </p:xfrm>
        <a:graphic>
          <a:graphicData uri="http://schemas.openxmlformats.org/presentationml/2006/ole">
            <mc:AlternateContent xmlns:mc="http://schemas.openxmlformats.org/markup-compatibility/2006">
              <mc:Choice xmlns:v="urn:schemas-microsoft-com:vml" Requires="v">
                <p:oleObj spid="_x0000_s27655" name="公式" r:id="rId1" imgW="672465" imgH="177800" progId="Equation.3">
                  <p:embed/>
                </p:oleObj>
              </mc:Choice>
              <mc:Fallback>
                <p:oleObj name="公式" r:id="rId1" imgW="672465" imgH="1778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600" y="977900"/>
                        <a:ext cx="1193800"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3" name="Object 6"/>
          <p:cNvGraphicFramePr>
            <a:graphicFrameLocks noChangeAspect="1"/>
          </p:cNvGraphicFramePr>
          <p:nvPr>
            <p:ph sz="quarter" idx="3"/>
          </p:nvPr>
        </p:nvGraphicFramePr>
        <p:xfrm>
          <a:off x="736600" y="1498600"/>
          <a:ext cx="1230313" cy="368300"/>
        </p:xfrm>
        <a:graphic>
          <a:graphicData uri="http://schemas.openxmlformats.org/presentationml/2006/ole">
            <mc:AlternateContent xmlns:mc="http://schemas.openxmlformats.org/markup-compatibility/2006">
              <mc:Choice xmlns:v="urn:schemas-microsoft-com:vml" Requires="v">
                <p:oleObj spid="_x0000_s27656" name="公式" r:id="rId3" imgW="672465" imgH="177800" progId="Equation.3">
                  <p:embed/>
                </p:oleObj>
              </mc:Choice>
              <mc:Fallback>
                <p:oleObj name="公式" r:id="rId3" imgW="672465" imgH="177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600" y="1498600"/>
                        <a:ext cx="123031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59464" name="Object 8"/>
          <p:cNvGraphicFramePr>
            <a:graphicFrameLocks noChangeAspect="1"/>
          </p:cNvGraphicFramePr>
          <p:nvPr/>
        </p:nvGraphicFramePr>
        <p:xfrm>
          <a:off x="1117600" y="1990725"/>
          <a:ext cx="5664200" cy="2647950"/>
        </p:xfrm>
        <a:graphic>
          <a:graphicData uri="http://schemas.openxmlformats.org/presentationml/2006/ole">
            <mc:AlternateContent xmlns:mc="http://schemas.openxmlformats.org/markup-compatibility/2006">
              <mc:Choice xmlns:v="urn:schemas-microsoft-com:vml" Requires="v">
                <p:oleObj spid="_x0000_s27657" name="Equation" r:id="rId5" imgW="3314700" imgH="1549400" progId="Equation.DSMT4">
                  <p:embed/>
                </p:oleObj>
              </mc:Choice>
              <mc:Fallback>
                <p:oleObj name="Equation" r:id="rId5" imgW="3314700" imgH="15494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600" y="1990725"/>
                        <a:ext cx="56642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59464"/>
                                        </p:tgtEl>
                                        <p:attrNameLst>
                                          <p:attrName>style.visibility</p:attrName>
                                        </p:attrNameLst>
                                      </p:cBhvr>
                                      <p:to>
                                        <p:strVal val="visible"/>
                                      </p:to>
                                    </p:set>
                                    <p:animEffect transition="in" filter="checkerboard(across)">
                                      <p:cBhvr>
                                        <p:cTn id="7" dur="500"/>
                                        <p:tgtEl>
                                          <p:spTgt spid="65946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59459">
                                            <p:txEl>
                                              <p:pRg st="7" end="7"/>
                                            </p:txEl>
                                          </p:spTgt>
                                        </p:tgtEl>
                                        <p:attrNameLst>
                                          <p:attrName>style.visibility</p:attrName>
                                        </p:attrNameLst>
                                      </p:cBhvr>
                                      <p:to>
                                        <p:strVal val="visible"/>
                                      </p:to>
                                    </p:set>
                                    <p:animEffect transition="in" filter="checkerboard(across)">
                                      <p:cBhvr>
                                        <p:cTn id="12" dur="500"/>
                                        <p:tgtEl>
                                          <p:spTgt spid="659459">
                                            <p:txEl>
                                              <p:pRg st="7" end="7"/>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659459">
                                            <p:txEl>
                                              <p:pRg st="8" end="8"/>
                                            </p:txEl>
                                          </p:spTgt>
                                        </p:tgtEl>
                                        <p:attrNameLst>
                                          <p:attrName>style.visibility</p:attrName>
                                        </p:attrNameLst>
                                      </p:cBhvr>
                                      <p:to>
                                        <p:strVal val="visible"/>
                                      </p:to>
                                    </p:set>
                                    <p:animEffect transition="in" filter="checkerboard(across)">
                                      <p:cBhvr>
                                        <p:cTn id="15" dur="500"/>
                                        <p:tgtEl>
                                          <p:spTgt spid="65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sz="quarter"/>
          </p:nvPr>
        </p:nvSpPr>
        <p:spPr>
          <a:xfrm>
            <a:off x="0" y="12700"/>
            <a:ext cx="9144000" cy="609600"/>
          </a:xfrm>
        </p:spPr>
        <p:txBody>
          <a:bodyPr/>
          <a:lstStyle/>
          <a:p>
            <a:pPr eaLnBrk="1" hangingPunct="1"/>
            <a:r>
              <a:rPr lang="zh-CN" altLang="en-US" sz="3000" smtClean="0"/>
              <a:t>增量内部收益率△</a:t>
            </a:r>
            <a:r>
              <a:rPr lang="en-US" altLang="zh-CN" sz="3000" smtClean="0"/>
              <a:t>IRR</a:t>
            </a:r>
            <a:endParaRPr lang="zh-CN" altLang="en-US" sz="3000" smtClean="0"/>
          </a:p>
        </p:txBody>
      </p:sp>
      <p:graphicFrame>
        <p:nvGraphicFramePr>
          <p:cNvPr id="29699" name="Object 4"/>
          <p:cNvGraphicFramePr>
            <a:graphicFrameLocks noChangeAspect="1"/>
          </p:cNvGraphicFramePr>
          <p:nvPr>
            <p:ph sz="quarter" idx="1"/>
          </p:nvPr>
        </p:nvGraphicFramePr>
        <p:xfrm>
          <a:off x="608013" y="1150938"/>
          <a:ext cx="3937000" cy="1001712"/>
        </p:xfrm>
        <a:graphic>
          <a:graphicData uri="http://schemas.openxmlformats.org/presentationml/2006/ole">
            <mc:AlternateContent xmlns:mc="http://schemas.openxmlformats.org/markup-compatibility/2006">
              <mc:Choice xmlns:v="urn:schemas-microsoft-com:vml" Requires="v">
                <p:oleObj spid="_x0000_s29710" name="公式" r:id="rId1" imgW="1968500" imgH="444500" progId="Equation.3">
                  <p:embed/>
                </p:oleObj>
              </mc:Choice>
              <mc:Fallback>
                <p:oleObj name="公式" r:id="rId1" imgW="1968500" imgH="4445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013" y="1150938"/>
                        <a:ext cx="3937000" cy="1001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0486" name="Object 6"/>
          <p:cNvGraphicFramePr>
            <a:graphicFrameLocks noChangeAspect="1"/>
          </p:cNvGraphicFramePr>
          <p:nvPr>
            <p:ph sz="quarter" idx="2"/>
          </p:nvPr>
        </p:nvGraphicFramePr>
        <p:xfrm>
          <a:off x="822325" y="4046538"/>
          <a:ext cx="7321550" cy="971550"/>
        </p:xfrm>
        <a:graphic>
          <a:graphicData uri="http://schemas.openxmlformats.org/presentationml/2006/ole">
            <mc:AlternateContent xmlns:mc="http://schemas.openxmlformats.org/markup-compatibility/2006">
              <mc:Choice xmlns:v="urn:schemas-microsoft-com:vml" Requires="v">
                <p:oleObj spid="_x0000_s29711" name="公式" r:id="rId3" imgW="3784600" imgH="444500" progId="Equation.3">
                  <p:embed/>
                </p:oleObj>
              </mc:Choice>
              <mc:Fallback>
                <p:oleObj name="公式" r:id="rId3" imgW="3784600"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325" y="4046538"/>
                        <a:ext cx="7321550" cy="97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0489" name="Object 9"/>
          <p:cNvGraphicFramePr>
            <a:graphicFrameLocks noChangeAspect="1"/>
          </p:cNvGraphicFramePr>
          <p:nvPr>
            <p:ph sz="quarter" idx="3"/>
          </p:nvPr>
        </p:nvGraphicFramePr>
        <p:xfrm>
          <a:off x="338138" y="2438400"/>
          <a:ext cx="1285875" cy="493713"/>
        </p:xfrm>
        <a:graphic>
          <a:graphicData uri="http://schemas.openxmlformats.org/presentationml/2006/ole">
            <mc:AlternateContent xmlns:mc="http://schemas.openxmlformats.org/markup-compatibility/2006">
              <mc:Choice xmlns:v="urn:schemas-microsoft-com:vml" Requires="v">
                <p:oleObj spid="_x0000_s29712" name="公式" r:id="rId5" imgW="634365" imgH="215900" progId="Equation.3">
                  <p:embed/>
                </p:oleObj>
              </mc:Choice>
              <mc:Fallback>
                <p:oleObj name="公式" r:id="rId5" imgW="634365" imgH="2159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138" y="2438400"/>
                        <a:ext cx="1285875" cy="493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0488" name="Line 8"/>
          <p:cNvSpPr>
            <a:spLocks noChangeShapeType="1"/>
          </p:cNvSpPr>
          <p:nvPr/>
        </p:nvSpPr>
        <p:spPr bwMode="auto">
          <a:xfrm flipH="1">
            <a:off x="1103313" y="1849438"/>
            <a:ext cx="279400" cy="48260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60491" name="Object 11"/>
          <p:cNvGraphicFramePr>
            <a:graphicFrameLocks noChangeAspect="1"/>
          </p:cNvGraphicFramePr>
          <p:nvPr>
            <p:ph sz="quarter" idx="4"/>
          </p:nvPr>
        </p:nvGraphicFramePr>
        <p:xfrm>
          <a:off x="2395538" y="2498725"/>
          <a:ext cx="1285875" cy="433388"/>
        </p:xfrm>
        <a:graphic>
          <a:graphicData uri="http://schemas.openxmlformats.org/presentationml/2006/ole">
            <mc:AlternateContent xmlns:mc="http://schemas.openxmlformats.org/markup-compatibility/2006">
              <mc:Choice xmlns:v="urn:schemas-microsoft-com:vml" Requires="v">
                <p:oleObj spid="_x0000_s29713" name="公式" r:id="rId7" imgW="723900" imgH="215900" progId="Equation.3">
                  <p:embed/>
                </p:oleObj>
              </mc:Choice>
              <mc:Fallback>
                <p:oleObj name="公式" r:id="rId7" imgW="723900" imgH="215900"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5538" y="2498725"/>
                        <a:ext cx="1285875" cy="43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0493" name="Line 13"/>
          <p:cNvSpPr>
            <a:spLocks noChangeShapeType="1"/>
          </p:cNvSpPr>
          <p:nvPr/>
        </p:nvSpPr>
        <p:spPr bwMode="auto">
          <a:xfrm>
            <a:off x="2395538" y="1911350"/>
            <a:ext cx="320675" cy="482600"/>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0494" name="Text Box 14"/>
          <p:cNvSpPr txBox="1">
            <a:spLocks noChangeArrowheads="1"/>
          </p:cNvSpPr>
          <p:nvPr/>
        </p:nvSpPr>
        <p:spPr bwMode="auto">
          <a:xfrm>
            <a:off x="282575" y="3416300"/>
            <a:ext cx="2143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latin typeface="楷体_GB2312" pitchFamily="49" charset="-122"/>
                <a:ea typeface="楷体_GB2312" pitchFamily="49" charset="-122"/>
              </a:rPr>
              <a:t>上式等价于：</a:t>
            </a:r>
            <a:endParaRPr lang="zh-CN" altLang="en-US" sz="2400">
              <a:latin typeface="楷体_GB2312" pitchFamily="49" charset="-122"/>
              <a:ea typeface="楷体_GB2312" pitchFamily="49" charset="-122"/>
            </a:endParaRPr>
          </a:p>
        </p:txBody>
      </p:sp>
      <p:sp>
        <p:nvSpPr>
          <p:cNvPr id="660497" name="Text Box 17"/>
          <p:cNvSpPr txBox="1">
            <a:spLocks noChangeArrowheads="1"/>
          </p:cNvSpPr>
          <p:nvPr/>
        </p:nvSpPr>
        <p:spPr bwMode="auto">
          <a:xfrm>
            <a:off x="338138" y="5153025"/>
            <a:ext cx="7510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latin typeface="楷体_GB2312" pitchFamily="49" charset="-122"/>
                <a:ea typeface="楷体_GB2312" pitchFamily="49" charset="-122"/>
              </a:rPr>
              <a:t>即两互斥方案净现值相等时的折现率。</a:t>
            </a:r>
            <a:endParaRPr lang="zh-CN" altLang="en-US" sz="2400">
              <a:latin typeface="楷体_GB2312" pitchFamily="49" charset="-122"/>
              <a:ea typeface="楷体_GB2312" pitchFamily="49" charset="-122"/>
            </a:endParaRPr>
          </a:p>
        </p:txBody>
      </p:sp>
      <p:sp>
        <p:nvSpPr>
          <p:cNvPr id="29707" name="Text Box 18"/>
          <p:cNvSpPr txBox="1">
            <a:spLocks noChangeArrowheads="1"/>
          </p:cNvSpPr>
          <p:nvPr/>
        </p:nvSpPr>
        <p:spPr bwMode="auto">
          <a:xfrm>
            <a:off x="4991100" y="1497013"/>
            <a:ext cx="41529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a:solidFill>
                  <a:srgbClr val="3333CC"/>
                </a:solidFill>
                <a:latin typeface="楷体_GB2312" pitchFamily="49" charset="-122"/>
                <a:ea typeface="楷体_GB2312" pitchFamily="49" charset="-122"/>
              </a:rPr>
              <a:t>判别准则：</a:t>
            </a:r>
            <a:endParaRPr lang="zh-CN" altLang="en-US" sz="2400">
              <a:solidFill>
                <a:srgbClr val="3333CC"/>
              </a:solidFill>
              <a:latin typeface="楷体_GB2312" pitchFamily="49" charset="-122"/>
              <a:ea typeface="楷体_GB2312" pitchFamily="49" charset="-122"/>
            </a:endParaRPr>
          </a:p>
          <a:p>
            <a:pPr>
              <a:spcBef>
                <a:spcPct val="50000"/>
              </a:spcBef>
              <a:buFontTx/>
              <a:buNone/>
            </a:pPr>
            <a:r>
              <a:rPr lang="zh-CN" altLang="en-US" sz="2400">
                <a:solidFill>
                  <a:srgbClr val="3333CC"/>
                </a:solidFill>
                <a:latin typeface="楷体_GB2312" pitchFamily="49" charset="-122"/>
                <a:ea typeface="楷体_GB2312" pitchFamily="49" charset="-122"/>
              </a:rPr>
              <a:t>若       ，则投资（现值）大的方案为优；</a:t>
            </a:r>
            <a:endParaRPr lang="zh-CN" altLang="en-US" sz="2400">
              <a:solidFill>
                <a:srgbClr val="3333CC"/>
              </a:solidFill>
              <a:latin typeface="楷体_GB2312" pitchFamily="49" charset="-122"/>
              <a:ea typeface="楷体_GB2312" pitchFamily="49" charset="-122"/>
            </a:endParaRPr>
          </a:p>
          <a:p>
            <a:pPr>
              <a:spcBef>
                <a:spcPct val="50000"/>
              </a:spcBef>
              <a:buFontTx/>
              <a:buNone/>
            </a:pPr>
            <a:r>
              <a:rPr lang="zh-CN" altLang="en-US" sz="2400">
                <a:solidFill>
                  <a:srgbClr val="3333CC"/>
                </a:solidFill>
                <a:latin typeface="楷体_GB2312" pitchFamily="49" charset="-122"/>
                <a:ea typeface="楷体_GB2312" pitchFamily="49" charset="-122"/>
              </a:rPr>
              <a:t>若       ，则投资（现值）小的方案为优。</a:t>
            </a:r>
            <a:endParaRPr lang="zh-CN" altLang="en-US" sz="2400">
              <a:solidFill>
                <a:srgbClr val="3333CC"/>
              </a:solidFill>
              <a:latin typeface="楷体_GB2312" pitchFamily="49" charset="-122"/>
              <a:ea typeface="楷体_GB2312" pitchFamily="49" charset="-122"/>
            </a:endParaRPr>
          </a:p>
        </p:txBody>
      </p:sp>
      <p:graphicFrame>
        <p:nvGraphicFramePr>
          <p:cNvPr id="29708" name="Object 19"/>
          <p:cNvGraphicFramePr>
            <a:graphicFrameLocks noChangeAspect="1"/>
          </p:cNvGraphicFramePr>
          <p:nvPr/>
        </p:nvGraphicFramePr>
        <p:xfrm>
          <a:off x="5308600" y="2090738"/>
          <a:ext cx="1092200" cy="409575"/>
        </p:xfrm>
        <a:graphic>
          <a:graphicData uri="http://schemas.openxmlformats.org/presentationml/2006/ole">
            <mc:AlternateContent xmlns:mc="http://schemas.openxmlformats.org/markup-compatibility/2006">
              <mc:Choice xmlns:v="urn:schemas-microsoft-com:vml" Requires="v">
                <p:oleObj spid="_x0000_s29714" name="公式" r:id="rId9" imgW="609600" imgH="228600" progId="Equation.3">
                  <p:embed/>
                </p:oleObj>
              </mc:Choice>
              <mc:Fallback>
                <p:oleObj name="公式" r:id="rId9" imgW="609600" imgH="2286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08600" y="2090738"/>
                        <a:ext cx="10922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9" name="Object 20"/>
          <p:cNvGraphicFramePr>
            <a:graphicFrameLocks noChangeAspect="1"/>
          </p:cNvGraphicFramePr>
          <p:nvPr/>
        </p:nvGraphicFramePr>
        <p:xfrm>
          <a:off x="5308600" y="3006725"/>
          <a:ext cx="1092200" cy="409575"/>
        </p:xfrm>
        <a:graphic>
          <a:graphicData uri="http://schemas.openxmlformats.org/presentationml/2006/ole">
            <mc:AlternateContent xmlns:mc="http://schemas.openxmlformats.org/markup-compatibility/2006">
              <mc:Choice xmlns:v="urn:schemas-microsoft-com:vml" Requires="v">
                <p:oleObj spid="_x0000_s29715" name="公式" r:id="rId11" imgW="609600" imgH="228600" progId="Equation.3">
                  <p:embed/>
                </p:oleObj>
              </mc:Choice>
              <mc:Fallback>
                <p:oleObj name="公式" r:id="rId11" imgW="609600" imgH="2286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08600" y="3006725"/>
                        <a:ext cx="1092200"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0488"/>
                                        </p:tgtEl>
                                        <p:attrNameLst>
                                          <p:attrName>style.visibility</p:attrName>
                                        </p:attrNameLst>
                                      </p:cBhvr>
                                      <p:to>
                                        <p:strVal val="visible"/>
                                      </p:to>
                                    </p:set>
                                    <p:animEffect transition="in" filter="checkerboard(across)">
                                      <p:cBhvr>
                                        <p:cTn id="7" dur="500"/>
                                        <p:tgtEl>
                                          <p:spTgt spid="660488"/>
                                        </p:tgtEl>
                                      </p:cBhvr>
                                    </p:animEffect>
                                  </p:childTnLst>
                                </p:cTn>
                              </p:par>
                              <p:par>
                                <p:cTn id="8" presetID="5" presetClass="entr" presetSubtype="10" fill="hold" nodeType="withEffect">
                                  <p:stCondLst>
                                    <p:cond delay="0"/>
                                  </p:stCondLst>
                                  <p:childTnLst>
                                    <p:set>
                                      <p:cBhvr>
                                        <p:cTn id="9" dur="1" fill="hold">
                                          <p:stCondLst>
                                            <p:cond delay="0"/>
                                          </p:stCondLst>
                                        </p:cTn>
                                        <p:tgtEl>
                                          <p:spTgt spid="660489"/>
                                        </p:tgtEl>
                                        <p:attrNameLst>
                                          <p:attrName>style.visibility</p:attrName>
                                        </p:attrNameLst>
                                      </p:cBhvr>
                                      <p:to>
                                        <p:strVal val="visible"/>
                                      </p:to>
                                    </p:set>
                                    <p:animEffect transition="in" filter="checkerboard(across)">
                                      <p:cBhvr>
                                        <p:cTn id="10" dur="500"/>
                                        <p:tgtEl>
                                          <p:spTgt spid="660489"/>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660493"/>
                                        </p:tgtEl>
                                        <p:attrNameLst>
                                          <p:attrName>style.visibility</p:attrName>
                                        </p:attrNameLst>
                                      </p:cBhvr>
                                      <p:to>
                                        <p:strVal val="visible"/>
                                      </p:to>
                                    </p:set>
                                    <p:animEffect transition="in" filter="checkerboard(across)">
                                      <p:cBhvr>
                                        <p:cTn id="15" dur="500"/>
                                        <p:tgtEl>
                                          <p:spTgt spid="660493"/>
                                        </p:tgtEl>
                                      </p:cBhvr>
                                    </p:animEffect>
                                  </p:childTnLst>
                                </p:cTn>
                              </p:par>
                              <p:par>
                                <p:cTn id="16" presetID="5" presetClass="entr" presetSubtype="10" fill="hold" nodeType="withEffect">
                                  <p:stCondLst>
                                    <p:cond delay="0"/>
                                  </p:stCondLst>
                                  <p:childTnLst>
                                    <p:set>
                                      <p:cBhvr>
                                        <p:cTn id="17" dur="1" fill="hold">
                                          <p:stCondLst>
                                            <p:cond delay="0"/>
                                          </p:stCondLst>
                                        </p:cTn>
                                        <p:tgtEl>
                                          <p:spTgt spid="660491"/>
                                        </p:tgtEl>
                                        <p:attrNameLst>
                                          <p:attrName>style.visibility</p:attrName>
                                        </p:attrNameLst>
                                      </p:cBhvr>
                                      <p:to>
                                        <p:strVal val="visible"/>
                                      </p:to>
                                    </p:set>
                                    <p:animEffect transition="in" filter="checkerboard(across)">
                                      <p:cBhvr>
                                        <p:cTn id="18" dur="500"/>
                                        <p:tgtEl>
                                          <p:spTgt spid="660491"/>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660494"/>
                                        </p:tgtEl>
                                        <p:attrNameLst>
                                          <p:attrName>style.visibility</p:attrName>
                                        </p:attrNameLst>
                                      </p:cBhvr>
                                      <p:to>
                                        <p:strVal val="visible"/>
                                      </p:to>
                                    </p:set>
                                    <p:animEffect transition="in" filter="checkerboard(across)">
                                      <p:cBhvr>
                                        <p:cTn id="23" dur="500"/>
                                        <p:tgtEl>
                                          <p:spTgt spid="660494"/>
                                        </p:tgtEl>
                                      </p:cBhvr>
                                    </p:animEffect>
                                  </p:childTnLst>
                                </p:cTn>
                              </p:par>
                              <p:par>
                                <p:cTn id="24" presetID="5" presetClass="entr" presetSubtype="10" fill="hold" nodeType="withEffect">
                                  <p:stCondLst>
                                    <p:cond delay="0"/>
                                  </p:stCondLst>
                                  <p:childTnLst>
                                    <p:set>
                                      <p:cBhvr>
                                        <p:cTn id="25" dur="1" fill="hold">
                                          <p:stCondLst>
                                            <p:cond delay="0"/>
                                          </p:stCondLst>
                                        </p:cTn>
                                        <p:tgtEl>
                                          <p:spTgt spid="660486"/>
                                        </p:tgtEl>
                                        <p:attrNameLst>
                                          <p:attrName>style.visibility</p:attrName>
                                        </p:attrNameLst>
                                      </p:cBhvr>
                                      <p:to>
                                        <p:strVal val="visible"/>
                                      </p:to>
                                    </p:set>
                                    <p:animEffect transition="in" filter="checkerboard(across)">
                                      <p:cBhvr>
                                        <p:cTn id="26" dur="500"/>
                                        <p:tgtEl>
                                          <p:spTgt spid="660486"/>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660497"/>
                                        </p:tgtEl>
                                        <p:attrNameLst>
                                          <p:attrName>style.visibility</p:attrName>
                                        </p:attrNameLst>
                                      </p:cBhvr>
                                      <p:to>
                                        <p:strVal val="visible"/>
                                      </p:to>
                                    </p:set>
                                    <p:animEffect transition="in" filter="checkerboard(across)">
                                      <p:cBhvr>
                                        <p:cTn id="31" dur="500"/>
                                        <p:tgtEl>
                                          <p:spTgt spid="660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94" grpId="0"/>
      <p:bldP spid="66049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0" y="12700"/>
            <a:ext cx="8991600" cy="660400"/>
          </a:xfrm>
        </p:spPr>
        <p:txBody>
          <a:bodyPr/>
          <a:lstStyle/>
          <a:p>
            <a:pPr eaLnBrk="1" hangingPunct="1"/>
            <a:r>
              <a:rPr lang="zh-CN" altLang="en-US" sz="3200" smtClean="0"/>
              <a:t>增量内部收益率准则≠内部收益率最大准则</a:t>
            </a:r>
            <a:endParaRPr lang="zh-CN" altLang="en-US" sz="3200" smtClean="0"/>
          </a:p>
        </p:txBody>
      </p:sp>
      <p:sp>
        <p:nvSpPr>
          <p:cNvPr id="661507" name="Rectangle 3"/>
          <p:cNvSpPr>
            <a:spLocks noGrp="1" noChangeArrowheads="1"/>
          </p:cNvSpPr>
          <p:nvPr>
            <p:ph type="body" sz="half" idx="1"/>
          </p:nvPr>
        </p:nvSpPr>
        <p:spPr>
          <a:xfrm>
            <a:off x="0" y="4549775"/>
            <a:ext cx="8991600" cy="1993900"/>
          </a:xfrm>
        </p:spPr>
        <p:txBody>
          <a:bodyPr/>
          <a:lstStyle/>
          <a:p>
            <a:pPr eaLnBrk="1" hangingPunct="1">
              <a:lnSpc>
                <a:spcPct val="90000"/>
              </a:lnSpc>
            </a:pPr>
            <a:r>
              <a:rPr lang="zh-CN" altLang="en-US" sz="2400" smtClean="0"/>
              <a:t>用△</a:t>
            </a:r>
            <a:r>
              <a:rPr lang="en-US" altLang="zh-CN" sz="2400" smtClean="0"/>
              <a:t>IRR</a:t>
            </a:r>
            <a:r>
              <a:rPr lang="zh-CN" altLang="en-US" sz="2400" smtClean="0"/>
              <a:t>与</a:t>
            </a:r>
            <a:r>
              <a:rPr lang="en-US" altLang="zh-CN" sz="2400" smtClean="0"/>
              <a:t>NPV</a:t>
            </a:r>
            <a:r>
              <a:rPr lang="zh-CN" altLang="en-US" sz="2400" smtClean="0"/>
              <a:t>比选方案的结论是一致的。</a:t>
            </a:r>
            <a:endParaRPr lang="zh-CN" altLang="en-US" sz="2400" smtClean="0"/>
          </a:p>
          <a:p>
            <a:pPr eaLnBrk="1" hangingPunct="1">
              <a:lnSpc>
                <a:spcPct val="90000"/>
              </a:lnSpc>
            </a:pPr>
            <a:r>
              <a:rPr lang="zh-CN" altLang="en-US" sz="2400" smtClean="0"/>
              <a:t>而</a:t>
            </a:r>
            <a:r>
              <a:rPr lang="en-US" altLang="zh-CN" sz="2400" smtClean="0"/>
              <a:t>“</a:t>
            </a:r>
            <a:r>
              <a:rPr lang="zh-CN" altLang="en-US" sz="2400" smtClean="0"/>
              <a:t>内部收益率最大准则</a:t>
            </a:r>
            <a:r>
              <a:rPr lang="en-US" altLang="zh-CN" sz="2400" smtClean="0"/>
              <a:t>”</a:t>
            </a:r>
            <a:r>
              <a:rPr lang="zh-CN" altLang="en-US" sz="2400" smtClean="0"/>
              <a:t>只有在基准折现率</a:t>
            </a:r>
            <a:r>
              <a:rPr lang="en-US" altLang="zh-CN" sz="2400" smtClean="0"/>
              <a:t>(i</a:t>
            </a:r>
            <a:r>
              <a:rPr lang="en-US" altLang="zh-CN" sz="2400" baseline="-25000" smtClean="0"/>
              <a:t>c</a:t>
            </a:r>
            <a:r>
              <a:rPr lang="en-US" altLang="zh-CN" sz="2400" smtClean="0"/>
              <a:t>)</a:t>
            </a:r>
            <a:r>
              <a:rPr lang="zh-CN" altLang="en-US" sz="2400" smtClean="0"/>
              <a:t>大于被比较的两方案的△</a:t>
            </a:r>
            <a:r>
              <a:rPr lang="en-US" altLang="zh-CN" sz="2400" smtClean="0"/>
              <a:t>IRR</a:t>
            </a:r>
            <a:r>
              <a:rPr lang="zh-CN" altLang="en-US" sz="2400" smtClean="0"/>
              <a:t>时，才是成立的</a:t>
            </a:r>
            <a:r>
              <a:rPr lang="zh-CN" altLang="en-US" sz="2400" b="0" smtClean="0"/>
              <a:t>。</a:t>
            </a:r>
            <a:endParaRPr lang="zh-CN" altLang="en-US" sz="2400" b="0" smtClean="0"/>
          </a:p>
          <a:p>
            <a:pPr eaLnBrk="1" hangingPunct="1">
              <a:lnSpc>
                <a:spcPct val="90000"/>
              </a:lnSpc>
            </a:pPr>
            <a:r>
              <a:rPr lang="zh-CN" altLang="en-US" sz="2400" smtClean="0"/>
              <a:t>因此，</a:t>
            </a:r>
            <a:r>
              <a:rPr lang="en-US" altLang="zh-CN" sz="2400" smtClean="0"/>
              <a:t>NPV</a:t>
            </a:r>
            <a:r>
              <a:rPr lang="zh-CN" altLang="en-US" sz="2400" smtClean="0"/>
              <a:t>最大准则是正确的，而</a:t>
            </a:r>
            <a:r>
              <a:rPr lang="en-US" altLang="zh-CN" sz="2400" smtClean="0"/>
              <a:t>IRR</a:t>
            </a:r>
            <a:r>
              <a:rPr lang="zh-CN" altLang="en-US" sz="2400" smtClean="0"/>
              <a:t>最大准则是不可靠的！</a:t>
            </a:r>
            <a:endParaRPr lang="zh-CN" altLang="en-US" sz="2400" smtClean="0"/>
          </a:p>
        </p:txBody>
      </p:sp>
      <p:grpSp>
        <p:nvGrpSpPr>
          <p:cNvPr id="31748" name="Group 22"/>
          <p:cNvGrpSpPr/>
          <p:nvPr/>
        </p:nvGrpSpPr>
        <p:grpSpPr bwMode="auto">
          <a:xfrm>
            <a:off x="1333500" y="1377950"/>
            <a:ext cx="5638800" cy="2654300"/>
            <a:chOff x="840" y="868"/>
            <a:chExt cx="3552" cy="1672"/>
          </a:xfrm>
        </p:grpSpPr>
        <p:sp>
          <p:nvSpPr>
            <p:cNvPr id="31752" name="Line 4"/>
            <p:cNvSpPr>
              <a:spLocks noChangeShapeType="1"/>
            </p:cNvSpPr>
            <p:nvPr/>
          </p:nvSpPr>
          <p:spPr bwMode="auto">
            <a:xfrm flipV="1">
              <a:off x="1400" y="884"/>
              <a:ext cx="16" cy="165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3" name="Line 5"/>
            <p:cNvSpPr>
              <a:spLocks noChangeShapeType="1"/>
            </p:cNvSpPr>
            <p:nvPr/>
          </p:nvSpPr>
          <p:spPr bwMode="auto">
            <a:xfrm>
              <a:off x="1400" y="2092"/>
              <a:ext cx="299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4" name="Text Box 6"/>
            <p:cNvSpPr txBox="1">
              <a:spLocks noChangeArrowheads="1"/>
            </p:cNvSpPr>
            <p:nvPr/>
          </p:nvSpPr>
          <p:spPr bwMode="auto">
            <a:xfrm>
              <a:off x="1160" y="1972"/>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2000" b="0">
                  <a:ea typeface="楷体_GB2312" pitchFamily="49" charset="-122"/>
                </a:rPr>
                <a:t>0</a:t>
              </a:r>
              <a:endParaRPr lang="en-US" altLang="zh-CN" sz="2000" b="0">
                <a:ea typeface="楷体_GB2312" pitchFamily="49" charset="-122"/>
              </a:endParaRPr>
            </a:p>
          </p:txBody>
        </p:sp>
        <p:sp>
          <p:nvSpPr>
            <p:cNvPr id="31755" name="Text Box 7"/>
            <p:cNvSpPr txBox="1">
              <a:spLocks noChangeArrowheads="1"/>
            </p:cNvSpPr>
            <p:nvPr/>
          </p:nvSpPr>
          <p:spPr bwMode="auto">
            <a:xfrm>
              <a:off x="4152" y="2097"/>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2000" b="0">
                  <a:ea typeface="楷体_GB2312" pitchFamily="49" charset="-122"/>
                </a:rPr>
                <a:t>i</a:t>
              </a:r>
              <a:endParaRPr lang="en-US" altLang="zh-CN" sz="2000" b="0">
                <a:ea typeface="楷体_GB2312" pitchFamily="49" charset="-122"/>
              </a:endParaRPr>
            </a:p>
          </p:txBody>
        </p:sp>
        <p:sp>
          <p:nvSpPr>
            <p:cNvPr id="31756" name="Freeform 8"/>
            <p:cNvSpPr/>
            <p:nvPr/>
          </p:nvSpPr>
          <p:spPr bwMode="auto">
            <a:xfrm>
              <a:off x="1928" y="1212"/>
              <a:ext cx="1528" cy="1328"/>
            </a:xfrm>
            <a:custGeom>
              <a:avLst/>
              <a:gdLst>
                <a:gd name="T0" fmla="*/ 0 w 1528"/>
                <a:gd name="T1" fmla="*/ 0 h 1328"/>
                <a:gd name="T2" fmla="*/ 600 w 1528"/>
                <a:gd name="T3" fmla="*/ 824 h 1328"/>
                <a:gd name="T4" fmla="*/ 1528 w 1528"/>
                <a:gd name="T5" fmla="*/ 1328 h 1328"/>
                <a:gd name="T6" fmla="*/ 0 60000 65536"/>
                <a:gd name="T7" fmla="*/ 0 60000 65536"/>
                <a:gd name="T8" fmla="*/ 0 60000 65536"/>
                <a:gd name="T9" fmla="*/ 0 w 1528"/>
                <a:gd name="T10" fmla="*/ 0 h 1328"/>
                <a:gd name="T11" fmla="*/ 1528 w 1528"/>
                <a:gd name="T12" fmla="*/ 1328 h 1328"/>
              </a:gdLst>
              <a:ahLst/>
              <a:cxnLst>
                <a:cxn ang="T6">
                  <a:pos x="T0" y="T1"/>
                </a:cxn>
                <a:cxn ang="T7">
                  <a:pos x="T2" y="T3"/>
                </a:cxn>
                <a:cxn ang="T8">
                  <a:pos x="T4" y="T5"/>
                </a:cxn>
              </a:cxnLst>
              <a:rect l="T9" t="T10" r="T11" b="T12"/>
              <a:pathLst>
                <a:path w="1528" h="1328">
                  <a:moveTo>
                    <a:pt x="0" y="0"/>
                  </a:moveTo>
                  <a:cubicBezTo>
                    <a:pt x="172" y="301"/>
                    <a:pt x="345" y="603"/>
                    <a:pt x="600" y="824"/>
                  </a:cubicBezTo>
                  <a:cubicBezTo>
                    <a:pt x="855" y="1045"/>
                    <a:pt x="1191" y="1186"/>
                    <a:pt x="1528" y="1328"/>
                  </a:cubicBezTo>
                </a:path>
              </a:pathLst>
            </a:custGeom>
            <a:noFill/>
            <a:ln w="25400">
              <a:solidFill>
                <a:srgbClr val="00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57" name="Freeform 9"/>
            <p:cNvSpPr/>
            <p:nvPr/>
          </p:nvSpPr>
          <p:spPr bwMode="auto">
            <a:xfrm>
              <a:off x="1680" y="1516"/>
              <a:ext cx="2320" cy="808"/>
            </a:xfrm>
            <a:custGeom>
              <a:avLst/>
              <a:gdLst>
                <a:gd name="T0" fmla="*/ 0 w 2320"/>
                <a:gd name="T1" fmla="*/ 0 h 808"/>
                <a:gd name="T2" fmla="*/ 1240 w 2320"/>
                <a:gd name="T3" fmla="*/ 552 h 808"/>
                <a:gd name="T4" fmla="*/ 2320 w 2320"/>
                <a:gd name="T5" fmla="*/ 808 h 808"/>
                <a:gd name="T6" fmla="*/ 0 60000 65536"/>
                <a:gd name="T7" fmla="*/ 0 60000 65536"/>
                <a:gd name="T8" fmla="*/ 0 60000 65536"/>
                <a:gd name="T9" fmla="*/ 0 w 2320"/>
                <a:gd name="T10" fmla="*/ 0 h 808"/>
                <a:gd name="T11" fmla="*/ 2320 w 2320"/>
                <a:gd name="T12" fmla="*/ 808 h 808"/>
              </a:gdLst>
              <a:ahLst/>
              <a:cxnLst>
                <a:cxn ang="T6">
                  <a:pos x="T0" y="T1"/>
                </a:cxn>
                <a:cxn ang="T7">
                  <a:pos x="T2" y="T3"/>
                </a:cxn>
                <a:cxn ang="T8">
                  <a:pos x="T4" y="T5"/>
                </a:cxn>
              </a:cxnLst>
              <a:rect l="T9" t="T10" r="T11" b="T12"/>
              <a:pathLst>
                <a:path w="2320" h="808">
                  <a:moveTo>
                    <a:pt x="0" y="0"/>
                  </a:moveTo>
                  <a:cubicBezTo>
                    <a:pt x="426" y="208"/>
                    <a:pt x="853" y="417"/>
                    <a:pt x="1240" y="552"/>
                  </a:cubicBezTo>
                  <a:cubicBezTo>
                    <a:pt x="1627" y="687"/>
                    <a:pt x="1973" y="747"/>
                    <a:pt x="2320" y="808"/>
                  </a:cubicBezTo>
                </a:path>
              </a:pathLst>
            </a:custGeom>
            <a:noFill/>
            <a:ln w="25400">
              <a:solidFill>
                <a:srgbClr val="FF66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1758" name="Text Box 10"/>
            <p:cNvSpPr txBox="1">
              <a:spLocks noChangeArrowheads="1"/>
            </p:cNvSpPr>
            <p:nvPr/>
          </p:nvSpPr>
          <p:spPr bwMode="auto">
            <a:xfrm>
              <a:off x="840" y="868"/>
              <a:ext cx="5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2000" b="0">
                  <a:ea typeface="楷体_GB2312" pitchFamily="49" charset="-122"/>
                </a:rPr>
                <a:t>NPV</a:t>
              </a:r>
              <a:endParaRPr lang="en-US" altLang="zh-CN" sz="2000" b="0">
                <a:ea typeface="楷体_GB2312" pitchFamily="49" charset="-122"/>
              </a:endParaRPr>
            </a:p>
          </p:txBody>
        </p:sp>
        <p:sp>
          <p:nvSpPr>
            <p:cNvPr id="31759" name="Line 11"/>
            <p:cNvSpPr>
              <a:spLocks noChangeShapeType="1"/>
            </p:cNvSpPr>
            <p:nvPr/>
          </p:nvSpPr>
          <p:spPr bwMode="auto">
            <a:xfrm>
              <a:off x="2328" y="1828"/>
              <a:ext cx="0" cy="264"/>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1760" name="Text Box 12"/>
            <p:cNvSpPr txBox="1">
              <a:spLocks noChangeArrowheads="1"/>
            </p:cNvSpPr>
            <p:nvPr/>
          </p:nvSpPr>
          <p:spPr bwMode="auto">
            <a:xfrm>
              <a:off x="2128" y="2097"/>
              <a:ext cx="6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ea typeface="楷体_GB2312" pitchFamily="49" charset="-122"/>
                </a:rPr>
                <a:t>△IRR</a:t>
              </a:r>
              <a:endParaRPr lang="en-US" altLang="zh-CN" sz="1600" b="0">
                <a:ea typeface="楷体_GB2312" pitchFamily="49" charset="-122"/>
              </a:endParaRPr>
            </a:p>
          </p:txBody>
        </p:sp>
        <p:sp>
          <p:nvSpPr>
            <p:cNvPr id="31761" name="Line 13"/>
            <p:cNvSpPr>
              <a:spLocks noChangeShapeType="1"/>
            </p:cNvSpPr>
            <p:nvPr/>
          </p:nvSpPr>
          <p:spPr bwMode="auto">
            <a:xfrm>
              <a:off x="1992" y="1324"/>
              <a:ext cx="0" cy="773"/>
            </a:xfrm>
            <a:prstGeom prst="line">
              <a:avLst/>
            </a:prstGeom>
            <a:noFill/>
            <a:ln w="9525">
              <a:solidFill>
                <a:srgbClr val="000000"/>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1762" name="Text Box 14"/>
            <p:cNvSpPr txBox="1">
              <a:spLocks noChangeArrowheads="1"/>
            </p:cNvSpPr>
            <p:nvPr/>
          </p:nvSpPr>
          <p:spPr bwMode="auto">
            <a:xfrm>
              <a:off x="1928" y="2092"/>
              <a:ext cx="2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ea typeface="楷体_GB2312" pitchFamily="49" charset="-122"/>
                </a:rPr>
                <a:t>i</a:t>
              </a:r>
              <a:r>
                <a:rPr lang="en-US" altLang="zh-CN" sz="1600" b="0" baseline="-25000">
                  <a:ea typeface="楷体_GB2312" pitchFamily="49" charset="-122"/>
                </a:rPr>
                <a:t>c</a:t>
              </a:r>
              <a:endParaRPr lang="en-US" altLang="zh-CN" sz="1600" b="0" baseline="-25000">
                <a:ea typeface="楷体_GB2312" pitchFamily="49" charset="-122"/>
              </a:endParaRPr>
            </a:p>
          </p:txBody>
        </p:sp>
        <p:sp>
          <p:nvSpPr>
            <p:cNvPr id="31763" name="Text Box 15"/>
            <p:cNvSpPr txBox="1">
              <a:spLocks noChangeArrowheads="1"/>
            </p:cNvSpPr>
            <p:nvPr/>
          </p:nvSpPr>
          <p:spPr bwMode="auto">
            <a:xfrm>
              <a:off x="2528" y="1616"/>
              <a:ext cx="4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solidFill>
                    <a:srgbClr val="3333CC"/>
                  </a:solidFill>
                  <a:ea typeface="楷体_GB2312" pitchFamily="49" charset="-122"/>
                </a:rPr>
                <a:t>IRR</a:t>
              </a:r>
              <a:r>
                <a:rPr lang="en-US" altLang="zh-CN" sz="1600" b="0" baseline="-25000">
                  <a:solidFill>
                    <a:srgbClr val="3333CC"/>
                  </a:solidFill>
                  <a:ea typeface="楷体_GB2312" pitchFamily="49" charset="-122"/>
                </a:rPr>
                <a:t>A</a:t>
              </a:r>
              <a:endParaRPr lang="en-US" altLang="zh-CN" sz="1600" b="0" baseline="-25000">
                <a:solidFill>
                  <a:srgbClr val="3333CC"/>
                </a:solidFill>
                <a:ea typeface="楷体_GB2312" pitchFamily="49" charset="-122"/>
              </a:endParaRPr>
            </a:p>
          </p:txBody>
        </p:sp>
        <p:sp>
          <p:nvSpPr>
            <p:cNvPr id="31764" name="Text Box 16"/>
            <p:cNvSpPr txBox="1">
              <a:spLocks noChangeArrowheads="1"/>
            </p:cNvSpPr>
            <p:nvPr/>
          </p:nvSpPr>
          <p:spPr bwMode="auto">
            <a:xfrm>
              <a:off x="2944" y="1712"/>
              <a:ext cx="4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solidFill>
                    <a:srgbClr val="FF0000"/>
                  </a:solidFill>
                  <a:ea typeface="楷体_GB2312" pitchFamily="49" charset="-122"/>
                </a:rPr>
                <a:t>IRR</a:t>
              </a:r>
              <a:r>
                <a:rPr lang="en-US" altLang="zh-CN" sz="1600" b="0" baseline="-25000">
                  <a:solidFill>
                    <a:srgbClr val="FF0000"/>
                  </a:solidFill>
                  <a:ea typeface="楷体_GB2312" pitchFamily="49" charset="-122"/>
                </a:rPr>
                <a:t>B</a:t>
              </a:r>
              <a:endParaRPr lang="en-US" altLang="zh-CN" sz="1600" b="0" baseline="-25000">
                <a:solidFill>
                  <a:srgbClr val="FF0000"/>
                </a:solidFill>
                <a:ea typeface="楷体_GB2312" pitchFamily="49" charset="-122"/>
              </a:endParaRPr>
            </a:p>
          </p:txBody>
        </p:sp>
        <p:sp>
          <p:nvSpPr>
            <p:cNvPr id="31765" name="Line 17"/>
            <p:cNvSpPr>
              <a:spLocks noChangeShapeType="1"/>
            </p:cNvSpPr>
            <p:nvPr/>
          </p:nvSpPr>
          <p:spPr bwMode="auto">
            <a:xfrm flipH="1">
              <a:off x="2616" y="1828"/>
              <a:ext cx="120" cy="264"/>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6" name="Line 18"/>
            <p:cNvSpPr>
              <a:spLocks noChangeShapeType="1"/>
            </p:cNvSpPr>
            <p:nvPr/>
          </p:nvSpPr>
          <p:spPr bwMode="auto">
            <a:xfrm flipH="1">
              <a:off x="3048" y="1919"/>
              <a:ext cx="32" cy="173"/>
            </a:xfrm>
            <a:prstGeom prst="line">
              <a:avLst/>
            </a:prstGeom>
            <a:noFill/>
            <a:ln w="9525">
              <a:solidFill>
                <a:srgbClr val="FF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Text Box 19"/>
            <p:cNvSpPr txBox="1">
              <a:spLocks noChangeArrowheads="1"/>
            </p:cNvSpPr>
            <p:nvPr/>
          </p:nvSpPr>
          <p:spPr bwMode="auto">
            <a:xfrm>
              <a:off x="1992" y="1106"/>
              <a:ext cx="4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solidFill>
                    <a:srgbClr val="3333CC"/>
                  </a:solidFill>
                  <a:ea typeface="楷体_GB2312" pitchFamily="49" charset="-122"/>
                </a:rPr>
                <a:t>A</a:t>
              </a:r>
              <a:endParaRPr lang="en-US" altLang="zh-CN" sz="1600" b="0" baseline="-25000">
                <a:solidFill>
                  <a:srgbClr val="3333CC"/>
                </a:solidFill>
                <a:ea typeface="楷体_GB2312" pitchFamily="49" charset="-122"/>
              </a:endParaRPr>
            </a:p>
          </p:txBody>
        </p:sp>
        <p:sp>
          <p:nvSpPr>
            <p:cNvPr id="31768" name="Text Box 20"/>
            <p:cNvSpPr txBox="1">
              <a:spLocks noChangeArrowheads="1"/>
            </p:cNvSpPr>
            <p:nvPr/>
          </p:nvSpPr>
          <p:spPr bwMode="auto">
            <a:xfrm>
              <a:off x="1576" y="1516"/>
              <a:ext cx="4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1600" b="0">
                  <a:solidFill>
                    <a:srgbClr val="FF0000"/>
                  </a:solidFill>
                  <a:ea typeface="楷体_GB2312" pitchFamily="49" charset="-122"/>
                </a:rPr>
                <a:t>B</a:t>
              </a:r>
              <a:endParaRPr lang="en-US" altLang="zh-CN" sz="1600" b="0" baseline="-25000">
                <a:solidFill>
                  <a:srgbClr val="FF0000"/>
                </a:solidFill>
                <a:ea typeface="楷体_GB2312" pitchFamily="49" charset="-122"/>
              </a:endParaRPr>
            </a:p>
          </p:txBody>
        </p:sp>
      </p:grpSp>
      <p:graphicFrame>
        <p:nvGraphicFramePr>
          <p:cNvPr id="31749" name="Object 23"/>
          <p:cNvGraphicFramePr>
            <a:graphicFrameLocks noChangeAspect="1"/>
          </p:cNvGraphicFramePr>
          <p:nvPr>
            <p:ph sz="half" idx="2"/>
          </p:nvPr>
        </p:nvGraphicFramePr>
        <p:xfrm>
          <a:off x="5808663" y="1498600"/>
          <a:ext cx="3182937" cy="855663"/>
        </p:xfrm>
        <a:graphic>
          <a:graphicData uri="http://schemas.openxmlformats.org/presentationml/2006/ole">
            <mc:AlternateContent xmlns:mc="http://schemas.openxmlformats.org/markup-compatibility/2006">
              <mc:Choice xmlns:v="urn:schemas-microsoft-com:vml" Requires="v">
                <p:oleObj spid="_x0000_s31769" name="公式" r:id="rId1" imgW="1917700" imgH="457200" progId="Equation.3">
                  <p:embed/>
                </p:oleObj>
              </mc:Choice>
              <mc:Fallback>
                <p:oleObj name="公式" r:id="rId1" imgW="1917700" imgH="457200" progId="Equation.3">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8663" y="1498600"/>
                        <a:ext cx="3182937"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50" name="Text Box 25"/>
          <p:cNvSpPr txBox="1">
            <a:spLocks noChangeArrowheads="1"/>
          </p:cNvSpPr>
          <p:nvPr/>
        </p:nvSpPr>
        <p:spPr bwMode="auto">
          <a:xfrm>
            <a:off x="3492500" y="1908175"/>
            <a:ext cx="1841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1800" b="0">
                <a:solidFill>
                  <a:srgbClr val="3333CC"/>
                </a:solidFill>
                <a:ea typeface="楷体_GB2312" pitchFamily="49" charset="-122"/>
              </a:rPr>
              <a:t>投资大的项目</a:t>
            </a:r>
            <a:endParaRPr lang="zh-CN" altLang="en-US" sz="1800" b="0">
              <a:solidFill>
                <a:srgbClr val="3333CC"/>
              </a:solidFill>
              <a:ea typeface="楷体_GB2312" pitchFamily="49" charset="-122"/>
            </a:endParaRPr>
          </a:p>
        </p:txBody>
      </p:sp>
      <p:sp>
        <p:nvSpPr>
          <p:cNvPr id="31751" name="Line 26"/>
          <p:cNvSpPr>
            <a:spLocks noChangeShapeType="1"/>
          </p:cNvSpPr>
          <p:nvPr/>
        </p:nvSpPr>
        <p:spPr bwMode="auto">
          <a:xfrm flipH="1">
            <a:off x="3378200" y="2274888"/>
            <a:ext cx="317500" cy="131762"/>
          </a:xfrm>
          <a:prstGeom prst="line">
            <a:avLst/>
          </a:prstGeom>
          <a:noFill/>
          <a:ln w="9525">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1507">
                                            <p:txEl>
                                              <p:pRg st="0" end="0"/>
                                            </p:txEl>
                                          </p:spTgt>
                                        </p:tgtEl>
                                        <p:attrNameLst>
                                          <p:attrName>style.visibility</p:attrName>
                                        </p:attrNameLst>
                                      </p:cBhvr>
                                      <p:to>
                                        <p:strVal val="visible"/>
                                      </p:to>
                                    </p:set>
                                    <p:animEffect transition="in" filter="checkerboard(across)">
                                      <p:cBhvr>
                                        <p:cTn id="7" dur="500"/>
                                        <p:tgtEl>
                                          <p:spTgt spid="66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61507">
                                            <p:txEl>
                                              <p:pRg st="1" end="1"/>
                                            </p:txEl>
                                          </p:spTgt>
                                        </p:tgtEl>
                                        <p:attrNameLst>
                                          <p:attrName>style.visibility</p:attrName>
                                        </p:attrNameLst>
                                      </p:cBhvr>
                                      <p:to>
                                        <p:strVal val="visible"/>
                                      </p:to>
                                    </p:set>
                                    <p:animEffect transition="in" filter="checkerboard(across)">
                                      <p:cBhvr>
                                        <p:cTn id="12" dur="500"/>
                                        <p:tgtEl>
                                          <p:spTgt spid="66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61507">
                                            <p:txEl>
                                              <p:pRg st="2" end="2"/>
                                            </p:txEl>
                                          </p:spTgt>
                                        </p:tgtEl>
                                        <p:attrNameLst>
                                          <p:attrName>style.visibility</p:attrName>
                                        </p:attrNameLst>
                                      </p:cBhvr>
                                      <p:to>
                                        <p:strVal val="visible"/>
                                      </p:to>
                                    </p:set>
                                    <p:animEffect transition="in" filter="checkerboard(across)">
                                      <p:cBhvr>
                                        <p:cTn id="17" dur="500"/>
                                        <p:tgtEl>
                                          <p:spTgt spid="6615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52400" y="165100"/>
            <a:ext cx="8178800" cy="609600"/>
          </a:xfrm>
        </p:spPr>
        <p:txBody>
          <a:bodyPr/>
          <a:lstStyle/>
          <a:p>
            <a:pPr eaLnBrk="1" hangingPunct="1"/>
            <a:r>
              <a:rPr lang="zh-CN" altLang="en-US" smtClean="0"/>
              <a:t>采用增量内部收益率法的步骤</a:t>
            </a:r>
            <a:endParaRPr lang="zh-CN" altLang="en-US" smtClean="0"/>
          </a:p>
        </p:txBody>
      </p:sp>
      <p:sp>
        <p:nvSpPr>
          <p:cNvPr id="662531" name="Rectangle 3"/>
          <p:cNvSpPr>
            <a:spLocks noGrp="1" noChangeArrowheads="1"/>
          </p:cNvSpPr>
          <p:nvPr>
            <p:ph type="body" idx="1"/>
          </p:nvPr>
        </p:nvSpPr>
        <p:spPr/>
        <p:txBody>
          <a:bodyPr/>
          <a:lstStyle/>
          <a:p>
            <a:pPr eaLnBrk="1" hangingPunct="1">
              <a:lnSpc>
                <a:spcPct val="90000"/>
              </a:lnSpc>
            </a:pPr>
            <a:r>
              <a:rPr lang="en-US" altLang="zh-CN" sz="2800" smtClean="0"/>
              <a:t>1. </a:t>
            </a:r>
            <a:r>
              <a:rPr lang="zh-CN" altLang="en-US" sz="2800" smtClean="0"/>
              <a:t>计算各个备选方案的</a:t>
            </a:r>
            <a:r>
              <a:rPr lang="en-US" altLang="zh-CN" sz="2800" smtClean="0"/>
              <a:t>IRR</a:t>
            </a:r>
            <a:r>
              <a:rPr lang="zh-CN" altLang="en-US" sz="2800" smtClean="0"/>
              <a:t>（或</a:t>
            </a:r>
            <a:r>
              <a:rPr lang="en-US" altLang="zh-CN" sz="2800" smtClean="0"/>
              <a:t>NPV,NAV</a:t>
            </a:r>
            <a:r>
              <a:rPr lang="zh-CN" altLang="en-US" sz="2800" smtClean="0"/>
              <a:t>），淘汰</a:t>
            </a:r>
            <a:r>
              <a:rPr lang="en-US" altLang="zh-CN" sz="2800" smtClean="0"/>
              <a:t>IRR</a:t>
            </a:r>
            <a:r>
              <a:rPr lang="zh-CN" altLang="en-US" sz="2800" smtClean="0"/>
              <a:t>小于</a:t>
            </a:r>
            <a:r>
              <a:rPr lang="en-US" altLang="zh-CN" sz="2800" smtClean="0"/>
              <a:t>i</a:t>
            </a:r>
            <a:r>
              <a:rPr lang="en-US" altLang="zh-CN" sz="2800" baseline="-25000" smtClean="0"/>
              <a:t>c</a:t>
            </a:r>
            <a:r>
              <a:rPr lang="zh-CN" altLang="en-US" sz="2800" smtClean="0"/>
              <a:t>（或</a:t>
            </a:r>
            <a:r>
              <a:rPr lang="en-US" altLang="zh-CN" sz="2800" smtClean="0"/>
              <a:t>NPV&lt;0,NAV&lt;0</a:t>
            </a:r>
            <a:r>
              <a:rPr lang="zh-CN" altLang="en-US" sz="2800" smtClean="0"/>
              <a:t>）的方案，即淘汰通不过绝对效果检验的方案。</a:t>
            </a:r>
            <a:endParaRPr lang="zh-CN" altLang="en-US" sz="2800" smtClean="0"/>
          </a:p>
          <a:p>
            <a:pPr eaLnBrk="1" hangingPunct="1">
              <a:lnSpc>
                <a:spcPct val="90000"/>
              </a:lnSpc>
            </a:pPr>
            <a:endParaRPr lang="en-US" altLang="zh-CN" sz="2800" smtClean="0"/>
          </a:p>
          <a:p>
            <a:pPr eaLnBrk="1" hangingPunct="1">
              <a:lnSpc>
                <a:spcPct val="90000"/>
              </a:lnSpc>
            </a:pPr>
            <a:r>
              <a:rPr lang="en-US" altLang="zh-CN" sz="2800" smtClean="0"/>
              <a:t>2. </a:t>
            </a:r>
            <a:r>
              <a:rPr lang="zh-CN" altLang="en-US" sz="2800" smtClean="0"/>
              <a:t>将</a:t>
            </a:r>
            <a:r>
              <a:rPr lang="en-US" altLang="zh-CN" sz="2800" smtClean="0"/>
              <a:t>IRR</a:t>
            </a:r>
            <a:r>
              <a:rPr lang="zh-CN" altLang="en-US" sz="2800" smtClean="0"/>
              <a:t> </a:t>
            </a:r>
            <a:r>
              <a:rPr lang="en-US" altLang="zh-CN" sz="2800" smtClean="0"/>
              <a:t>&gt;i</a:t>
            </a:r>
            <a:r>
              <a:rPr lang="en-US" altLang="zh-CN" sz="2800" baseline="-25000" smtClean="0"/>
              <a:t>c</a:t>
            </a:r>
            <a:r>
              <a:rPr lang="zh-CN" altLang="en-US" sz="2800" smtClean="0"/>
              <a:t>的方案按初始投资额进行排序（从大到小，或从小到大）。</a:t>
            </a:r>
            <a:endParaRPr lang="zh-CN" altLang="en-US" sz="2800" smtClean="0"/>
          </a:p>
          <a:p>
            <a:pPr eaLnBrk="1" hangingPunct="1">
              <a:lnSpc>
                <a:spcPct val="90000"/>
              </a:lnSpc>
            </a:pPr>
            <a:endParaRPr lang="en-US" altLang="zh-CN" sz="2800" smtClean="0"/>
          </a:p>
          <a:p>
            <a:pPr eaLnBrk="1" hangingPunct="1">
              <a:lnSpc>
                <a:spcPct val="90000"/>
              </a:lnSpc>
            </a:pPr>
            <a:r>
              <a:rPr lang="en-US" altLang="zh-CN" sz="2800" smtClean="0"/>
              <a:t>3. </a:t>
            </a:r>
            <a:r>
              <a:rPr lang="zh-CN" altLang="en-US" sz="2800" smtClean="0"/>
              <a:t>从一头开始，比较相邻两个方案，用投资额大的减去投资额小的，判断</a:t>
            </a:r>
            <a:r>
              <a:rPr lang="en-US" altLang="zh-CN" sz="2800" smtClean="0"/>
              <a:t>△IRR</a:t>
            </a:r>
            <a:r>
              <a:rPr lang="zh-CN" altLang="en-US" sz="2800" smtClean="0"/>
              <a:t>是否大于</a:t>
            </a:r>
            <a:r>
              <a:rPr lang="en-US" altLang="zh-CN" sz="2800" smtClean="0"/>
              <a:t>i</a:t>
            </a:r>
            <a:r>
              <a:rPr lang="en-US" altLang="zh-CN" sz="2800" baseline="-25000" smtClean="0"/>
              <a:t>c</a:t>
            </a:r>
            <a:r>
              <a:rPr lang="zh-CN" altLang="en-US" sz="2800" smtClean="0"/>
              <a:t>，如果通过检验，说明投资额大的方案较优，删掉投资额小的方案。以此类推，直至检验了所有方案，找到最好的为止。</a:t>
            </a:r>
            <a:endParaRPr lang="zh-CN" altLang="en-US" sz="280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62531">
                                            <p:txEl>
                                              <p:pRg st="0" end="0"/>
                                            </p:txEl>
                                          </p:spTgt>
                                        </p:tgtEl>
                                        <p:attrNameLst>
                                          <p:attrName>style.visibility</p:attrName>
                                        </p:attrNameLst>
                                      </p:cBhvr>
                                      <p:to>
                                        <p:strVal val="visible"/>
                                      </p:to>
                                    </p:set>
                                    <p:animEffect transition="in" filter="box(in)">
                                      <p:cBhvr>
                                        <p:cTn id="7" dur="500"/>
                                        <p:tgtEl>
                                          <p:spTgt spid="66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62531">
                                            <p:txEl>
                                              <p:pRg st="2" end="2"/>
                                            </p:txEl>
                                          </p:spTgt>
                                        </p:tgtEl>
                                        <p:attrNameLst>
                                          <p:attrName>style.visibility</p:attrName>
                                        </p:attrNameLst>
                                      </p:cBhvr>
                                      <p:to>
                                        <p:strVal val="visible"/>
                                      </p:to>
                                    </p:set>
                                    <p:animEffect transition="in" filter="box(in)">
                                      <p:cBhvr>
                                        <p:cTn id="12" dur="500"/>
                                        <p:tgtEl>
                                          <p:spTgt spid="66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62531">
                                            <p:txEl>
                                              <p:pRg st="4" end="4"/>
                                            </p:txEl>
                                          </p:spTgt>
                                        </p:tgtEl>
                                        <p:attrNameLst>
                                          <p:attrName>style.visibility</p:attrName>
                                        </p:attrNameLst>
                                      </p:cBhvr>
                                      <p:to>
                                        <p:strVal val="visible"/>
                                      </p:to>
                                    </p:set>
                                    <p:animEffect transition="in" filter="box(in)">
                                      <p:cBhvr>
                                        <p:cTn id="17" dur="500"/>
                                        <p:tgtEl>
                                          <p:spTgt spid="66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52400" y="165100"/>
            <a:ext cx="8178800" cy="609600"/>
          </a:xfrm>
        </p:spPr>
        <p:txBody>
          <a:bodyPr/>
          <a:lstStyle/>
          <a:p>
            <a:pPr eaLnBrk="1" hangingPunct="1"/>
            <a:r>
              <a:rPr lang="zh-CN" altLang="en-US" smtClean="0"/>
              <a:t>互斥方案比选流程图</a:t>
            </a:r>
            <a:endParaRPr lang="zh-CN" altLang="en-US" smtClean="0"/>
          </a:p>
        </p:txBody>
      </p:sp>
      <p:sp>
        <p:nvSpPr>
          <p:cNvPr id="728068" name="Text Box 4"/>
          <p:cNvSpPr txBox="1">
            <a:spLocks noChangeArrowheads="1"/>
          </p:cNvSpPr>
          <p:nvPr/>
        </p:nvSpPr>
        <p:spPr bwMode="auto">
          <a:xfrm>
            <a:off x="2832100" y="2209800"/>
            <a:ext cx="3048000" cy="925513"/>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将备选方案按照投资额大小排序，投资额最小的方案为基准方案</a:t>
            </a:r>
            <a:endParaRPr lang="zh-CN" altLang="en-US" sz="2000">
              <a:latin typeface="宋体" panose="02010600030101010101" pitchFamily="2" charset="-122"/>
              <a:ea typeface="楷体_GB2312" pitchFamily="49" charset="-122"/>
            </a:endParaRPr>
          </a:p>
        </p:txBody>
      </p:sp>
      <p:sp>
        <p:nvSpPr>
          <p:cNvPr id="728070" name="Text Box 6"/>
          <p:cNvSpPr txBox="1">
            <a:spLocks noChangeArrowheads="1"/>
          </p:cNvSpPr>
          <p:nvPr/>
        </p:nvSpPr>
        <p:spPr bwMode="auto">
          <a:xfrm>
            <a:off x="2819400" y="1346200"/>
            <a:ext cx="3048000" cy="6508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FontTx/>
              <a:buNone/>
            </a:pPr>
            <a:r>
              <a:rPr lang="zh-CN" altLang="en-US" sz="2000">
                <a:latin typeface="宋体" panose="02010600030101010101" pitchFamily="2" charset="-122"/>
                <a:ea typeface="楷体_GB2312" pitchFamily="49" charset="-122"/>
              </a:rPr>
              <a:t>绝对效果检验，删除不可行方案</a:t>
            </a:r>
            <a:endParaRPr lang="zh-CN" altLang="en-US" sz="2000">
              <a:latin typeface="宋体" panose="02010600030101010101" pitchFamily="2" charset="-122"/>
              <a:ea typeface="楷体_GB2312" pitchFamily="49" charset="-122"/>
            </a:endParaRPr>
          </a:p>
        </p:txBody>
      </p:sp>
      <p:sp>
        <p:nvSpPr>
          <p:cNvPr id="728072" name="Text Box 8"/>
          <p:cNvSpPr txBox="1">
            <a:spLocks noChangeArrowheads="1"/>
          </p:cNvSpPr>
          <p:nvPr/>
        </p:nvSpPr>
        <p:spPr bwMode="auto">
          <a:xfrm>
            <a:off x="2819400" y="3302000"/>
            <a:ext cx="3048000" cy="6508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FontTx/>
              <a:buNone/>
            </a:pPr>
            <a:r>
              <a:rPr lang="zh-CN" altLang="en-US" sz="2000">
                <a:latin typeface="宋体" panose="02010600030101010101" pitchFamily="2" charset="-122"/>
                <a:ea typeface="楷体_GB2312" pitchFamily="49" charset="-122"/>
              </a:rPr>
              <a:t>选择下一个方案，计算</a:t>
            </a:r>
            <a:r>
              <a:rPr lang="en-US" altLang="zh-CN" sz="2000">
                <a:latin typeface="宋体" panose="02010600030101010101" pitchFamily="2" charset="-122"/>
                <a:ea typeface="楷体_GB2312" pitchFamily="49" charset="-122"/>
              </a:rPr>
              <a:t>(△</a:t>
            </a:r>
            <a:r>
              <a:rPr lang="zh-CN" altLang="en-US" sz="2000">
                <a:latin typeface="宋体" panose="02010600030101010101" pitchFamily="2" charset="-122"/>
                <a:ea typeface="楷体_GB2312" pitchFamily="49" charset="-122"/>
              </a:rPr>
              <a:t>现金流</a:t>
            </a:r>
            <a:r>
              <a:rPr lang="en-US" altLang="zh-CN" sz="2000">
                <a:latin typeface="宋体" panose="02010600030101010101" pitchFamily="2" charset="-122"/>
                <a:ea typeface="楷体_GB2312" pitchFamily="49" charset="-122"/>
              </a:rPr>
              <a:t>)</a:t>
            </a:r>
            <a:endParaRPr lang="en-US" altLang="zh-CN" sz="2000">
              <a:latin typeface="宋体" panose="02010600030101010101" pitchFamily="2" charset="-122"/>
              <a:ea typeface="楷体_GB2312" pitchFamily="49" charset="-122"/>
            </a:endParaRPr>
          </a:p>
        </p:txBody>
      </p:sp>
      <p:sp>
        <p:nvSpPr>
          <p:cNvPr id="728073" name="Text Box 9"/>
          <p:cNvSpPr txBox="1">
            <a:spLocks noChangeArrowheads="1"/>
          </p:cNvSpPr>
          <p:nvPr/>
        </p:nvSpPr>
        <p:spPr bwMode="auto">
          <a:xfrm>
            <a:off x="2832100" y="4191000"/>
            <a:ext cx="3048000" cy="376238"/>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FontTx/>
              <a:buNone/>
            </a:pPr>
            <a:r>
              <a:rPr lang="en-US" altLang="zh-CN" sz="2000">
                <a:latin typeface="宋体" panose="02010600030101010101" pitchFamily="2" charset="-122"/>
                <a:ea typeface="楷体_GB2312" pitchFamily="49" charset="-122"/>
              </a:rPr>
              <a:t>(△</a:t>
            </a:r>
            <a:r>
              <a:rPr lang="zh-CN" altLang="en-US" sz="2000">
                <a:latin typeface="宋体" panose="02010600030101010101" pitchFamily="2" charset="-122"/>
                <a:ea typeface="楷体_GB2312" pitchFamily="49" charset="-122"/>
              </a:rPr>
              <a:t>现金流</a:t>
            </a:r>
            <a:r>
              <a:rPr lang="en-US" altLang="zh-CN" sz="2000">
                <a:latin typeface="宋体" panose="02010600030101010101" pitchFamily="2" charset="-122"/>
                <a:ea typeface="楷体_GB2312" pitchFamily="49" charset="-122"/>
              </a:rPr>
              <a:t>)</a:t>
            </a:r>
            <a:r>
              <a:rPr lang="zh-CN" altLang="en-US" sz="2000">
                <a:latin typeface="宋体" panose="02010600030101010101" pitchFamily="2" charset="-122"/>
                <a:ea typeface="楷体_GB2312" pitchFamily="49" charset="-122"/>
              </a:rPr>
              <a:t>是否可行？</a:t>
            </a:r>
            <a:endParaRPr lang="zh-CN" altLang="en-US" sz="2000">
              <a:latin typeface="宋体" panose="02010600030101010101" pitchFamily="2" charset="-122"/>
              <a:ea typeface="楷体_GB2312" pitchFamily="49" charset="-122"/>
            </a:endParaRPr>
          </a:p>
        </p:txBody>
      </p:sp>
      <p:sp>
        <p:nvSpPr>
          <p:cNvPr id="728074" name="Text Box 10"/>
          <p:cNvSpPr txBox="1">
            <a:spLocks noChangeArrowheads="1"/>
          </p:cNvSpPr>
          <p:nvPr/>
        </p:nvSpPr>
        <p:spPr bwMode="auto">
          <a:xfrm>
            <a:off x="1625600" y="4916488"/>
            <a:ext cx="2667000" cy="376237"/>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FontTx/>
              <a:buNone/>
            </a:pPr>
            <a:r>
              <a:rPr lang="zh-CN" altLang="en-US" sz="2000">
                <a:latin typeface="宋体" panose="02010600030101010101" pitchFamily="2" charset="-122"/>
                <a:ea typeface="楷体_GB2312" pitchFamily="49" charset="-122"/>
              </a:rPr>
              <a:t>是否为最后的方案？</a:t>
            </a:r>
            <a:endParaRPr lang="zh-CN" altLang="en-US" sz="2000">
              <a:latin typeface="宋体" panose="02010600030101010101" pitchFamily="2" charset="-122"/>
              <a:ea typeface="楷体_GB2312" pitchFamily="49" charset="-122"/>
            </a:endParaRPr>
          </a:p>
        </p:txBody>
      </p:sp>
      <p:sp>
        <p:nvSpPr>
          <p:cNvPr id="728075" name="Text Box 11"/>
          <p:cNvSpPr txBox="1">
            <a:spLocks noChangeArrowheads="1"/>
          </p:cNvSpPr>
          <p:nvPr/>
        </p:nvSpPr>
        <p:spPr bwMode="auto">
          <a:xfrm>
            <a:off x="4711700" y="4916488"/>
            <a:ext cx="2667000" cy="376237"/>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spcBef>
                <a:spcPct val="50000"/>
              </a:spcBef>
              <a:buFontTx/>
              <a:buNone/>
            </a:pPr>
            <a:r>
              <a:rPr lang="zh-CN" altLang="en-US" sz="2000">
                <a:latin typeface="宋体" panose="02010600030101010101" pitchFamily="2" charset="-122"/>
                <a:ea typeface="楷体_GB2312" pitchFamily="49" charset="-122"/>
              </a:rPr>
              <a:t>是否为最后的方案？</a:t>
            </a:r>
            <a:endParaRPr lang="zh-CN" altLang="en-US" sz="2000">
              <a:latin typeface="宋体" panose="02010600030101010101" pitchFamily="2" charset="-122"/>
              <a:ea typeface="楷体_GB2312" pitchFamily="49" charset="-122"/>
            </a:endParaRPr>
          </a:p>
        </p:txBody>
      </p:sp>
      <p:sp>
        <p:nvSpPr>
          <p:cNvPr id="728076" name="Text Box 12"/>
          <p:cNvSpPr txBox="1">
            <a:spLocks noChangeArrowheads="1"/>
          </p:cNvSpPr>
          <p:nvPr/>
        </p:nvSpPr>
        <p:spPr bwMode="auto">
          <a:xfrm>
            <a:off x="1625600" y="5665788"/>
            <a:ext cx="2667000" cy="6508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停止。基准方案为最优方案</a:t>
            </a:r>
            <a:endParaRPr lang="zh-CN" altLang="en-US" sz="2000">
              <a:latin typeface="宋体" panose="02010600030101010101" pitchFamily="2" charset="-122"/>
              <a:ea typeface="楷体_GB2312" pitchFamily="49" charset="-122"/>
            </a:endParaRPr>
          </a:p>
        </p:txBody>
      </p:sp>
      <p:sp>
        <p:nvSpPr>
          <p:cNvPr id="728077" name="Text Box 13"/>
          <p:cNvSpPr txBox="1">
            <a:spLocks noChangeArrowheads="1"/>
          </p:cNvSpPr>
          <p:nvPr/>
        </p:nvSpPr>
        <p:spPr bwMode="auto">
          <a:xfrm>
            <a:off x="4711700" y="5665788"/>
            <a:ext cx="2667000" cy="6508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停止。当前方案为最优方案</a:t>
            </a:r>
            <a:endParaRPr lang="zh-CN" altLang="en-US" sz="2000">
              <a:latin typeface="宋体" panose="02010600030101010101" pitchFamily="2" charset="-122"/>
              <a:ea typeface="楷体_GB2312" pitchFamily="49" charset="-122"/>
            </a:endParaRPr>
          </a:p>
        </p:txBody>
      </p:sp>
      <p:sp>
        <p:nvSpPr>
          <p:cNvPr id="728078" name="Text Box 14"/>
          <p:cNvSpPr txBox="1">
            <a:spLocks noChangeArrowheads="1"/>
          </p:cNvSpPr>
          <p:nvPr/>
        </p:nvSpPr>
        <p:spPr bwMode="auto">
          <a:xfrm>
            <a:off x="7451725" y="3952875"/>
            <a:ext cx="1692275" cy="650875"/>
          </a:xfrm>
          <a:prstGeom prst="rect">
            <a:avLst/>
          </a:prstGeom>
          <a:noFill/>
          <a:ln w="9525" algn="ctr">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当前方案为基准方案</a:t>
            </a:r>
            <a:endParaRPr lang="zh-CN" altLang="en-US" sz="2000">
              <a:latin typeface="宋体" panose="02010600030101010101" pitchFamily="2" charset="-122"/>
              <a:ea typeface="楷体_GB2312" pitchFamily="49" charset="-122"/>
            </a:endParaRPr>
          </a:p>
        </p:txBody>
      </p:sp>
      <p:sp>
        <p:nvSpPr>
          <p:cNvPr id="728079" name="Line 15"/>
          <p:cNvSpPr>
            <a:spLocks noChangeShapeType="1"/>
          </p:cNvSpPr>
          <p:nvPr/>
        </p:nvSpPr>
        <p:spPr bwMode="auto">
          <a:xfrm>
            <a:off x="4292600" y="1997075"/>
            <a:ext cx="0" cy="21272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0" name="Line 16"/>
          <p:cNvSpPr>
            <a:spLocks noChangeShapeType="1"/>
          </p:cNvSpPr>
          <p:nvPr/>
        </p:nvSpPr>
        <p:spPr bwMode="auto">
          <a:xfrm>
            <a:off x="4241800" y="3135313"/>
            <a:ext cx="0" cy="166687"/>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1" name="Line 17"/>
          <p:cNvSpPr>
            <a:spLocks noChangeShapeType="1"/>
          </p:cNvSpPr>
          <p:nvPr/>
        </p:nvSpPr>
        <p:spPr bwMode="auto">
          <a:xfrm>
            <a:off x="4241800" y="3978275"/>
            <a:ext cx="0" cy="21272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2" name="Line 18"/>
          <p:cNvSpPr>
            <a:spLocks noChangeShapeType="1"/>
          </p:cNvSpPr>
          <p:nvPr/>
        </p:nvSpPr>
        <p:spPr bwMode="auto">
          <a:xfrm>
            <a:off x="2501900" y="4756150"/>
            <a:ext cx="37846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8083" name="Line 19"/>
          <p:cNvSpPr>
            <a:spLocks noChangeShapeType="1"/>
          </p:cNvSpPr>
          <p:nvPr/>
        </p:nvSpPr>
        <p:spPr bwMode="auto">
          <a:xfrm>
            <a:off x="4216400" y="4567238"/>
            <a:ext cx="0" cy="21272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4" name="Line 20"/>
          <p:cNvSpPr>
            <a:spLocks noChangeShapeType="1"/>
          </p:cNvSpPr>
          <p:nvPr/>
        </p:nvSpPr>
        <p:spPr bwMode="auto">
          <a:xfrm>
            <a:off x="6286500" y="4756150"/>
            <a:ext cx="0" cy="160338"/>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5" name="Line 21"/>
          <p:cNvSpPr>
            <a:spLocks noChangeShapeType="1"/>
          </p:cNvSpPr>
          <p:nvPr/>
        </p:nvSpPr>
        <p:spPr bwMode="auto">
          <a:xfrm>
            <a:off x="2489200" y="4748213"/>
            <a:ext cx="0" cy="160337"/>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86" name="Text Box 22"/>
          <p:cNvSpPr txBox="1">
            <a:spLocks noChangeArrowheads="1"/>
          </p:cNvSpPr>
          <p:nvPr/>
        </p:nvSpPr>
        <p:spPr bwMode="auto">
          <a:xfrm>
            <a:off x="6049963" y="4371975"/>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是</a:t>
            </a:r>
            <a:endParaRPr lang="zh-CN" altLang="en-US" sz="2000">
              <a:latin typeface="宋体" panose="02010600030101010101" pitchFamily="2" charset="-122"/>
              <a:ea typeface="楷体_GB2312" pitchFamily="49" charset="-122"/>
            </a:endParaRPr>
          </a:p>
        </p:txBody>
      </p:sp>
      <p:sp>
        <p:nvSpPr>
          <p:cNvPr id="728087" name="Text Box 23"/>
          <p:cNvSpPr txBox="1">
            <a:spLocks noChangeArrowheads="1"/>
          </p:cNvSpPr>
          <p:nvPr/>
        </p:nvSpPr>
        <p:spPr bwMode="auto">
          <a:xfrm>
            <a:off x="2252663" y="4340225"/>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否</a:t>
            </a:r>
            <a:endParaRPr lang="zh-CN" altLang="en-US" sz="2000">
              <a:latin typeface="宋体" panose="02010600030101010101" pitchFamily="2" charset="-122"/>
              <a:ea typeface="楷体_GB2312" pitchFamily="49" charset="-122"/>
            </a:endParaRPr>
          </a:p>
        </p:txBody>
      </p:sp>
      <p:sp>
        <p:nvSpPr>
          <p:cNvPr id="728088" name="Line 24"/>
          <p:cNvSpPr>
            <a:spLocks noChangeShapeType="1"/>
          </p:cNvSpPr>
          <p:nvPr/>
        </p:nvSpPr>
        <p:spPr bwMode="auto">
          <a:xfrm flipH="1">
            <a:off x="762000" y="5092700"/>
            <a:ext cx="8636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8089" name="Text Box 25"/>
          <p:cNvSpPr txBox="1">
            <a:spLocks noChangeArrowheads="1"/>
          </p:cNvSpPr>
          <p:nvPr/>
        </p:nvSpPr>
        <p:spPr bwMode="auto">
          <a:xfrm>
            <a:off x="1152525" y="4724400"/>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否</a:t>
            </a:r>
            <a:endParaRPr lang="zh-CN" altLang="en-US" sz="2000">
              <a:latin typeface="宋体" panose="02010600030101010101" pitchFamily="2" charset="-122"/>
              <a:ea typeface="楷体_GB2312" pitchFamily="49" charset="-122"/>
            </a:endParaRPr>
          </a:p>
        </p:txBody>
      </p:sp>
      <p:sp>
        <p:nvSpPr>
          <p:cNvPr id="728090" name="Text Box 26"/>
          <p:cNvSpPr txBox="1">
            <a:spLocks noChangeArrowheads="1"/>
          </p:cNvSpPr>
          <p:nvPr/>
        </p:nvSpPr>
        <p:spPr bwMode="auto">
          <a:xfrm>
            <a:off x="2501900" y="5299075"/>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是</a:t>
            </a:r>
            <a:endParaRPr lang="zh-CN" altLang="en-US" sz="2000">
              <a:latin typeface="宋体" panose="02010600030101010101" pitchFamily="2" charset="-122"/>
              <a:ea typeface="楷体_GB2312" pitchFamily="49" charset="-122"/>
            </a:endParaRPr>
          </a:p>
        </p:txBody>
      </p:sp>
      <p:sp>
        <p:nvSpPr>
          <p:cNvPr id="728091" name="Text Box 27"/>
          <p:cNvSpPr txBox="1">
            <a:spLocks noChangeArrowheads="1"/>
          </p:cNvSpPr>
          <p:nvPr/>
        </p:nvSpPr>
        <p:spPr bwMode="auto">
          <a:xfrm>
            <a:off x="5729288" y="5299075"/>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是</a:t>
            </a:r>
            <a:endParaRPr lang="zh-CN" altLang="en-US" sz="2000">
              <a:latin typeface="宋体" panose="02010600030101010101" pitchFamily="2" charset="-122"/>
              <a:ea typeface="楷体_GB2312" pitchFamily="49" charset="-122"/>
            </a:endParaRPr>
          </a:p>
        </p:txBody>
      </p:sp>
      <p:sp>
        <p:nvSpPr>
          <p:cNvPr id="728092" name="Text Box 28"/>
          <p:cNvSpPr txBox="1">
            <a:spLocks noChangeArrowheads="1"/>
          </p:cNvSpPr>
          <p:nvPr/>
        </p:nvSpPr>
        <p:spPr bwMode="auto">
          <a:xfrm>
            <a:off x="7378700" y="4724400"/>
            <a:ext cx="473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2000">
                <a:latin typeface="宋体" panose="02010600030101010101" pitchFamily="2" charset="-122"/>
                <a:ea typeface="楷体_GB2312" pitchFamily="49" charset="-122"/>
              </a:rPr>
              <a:t>否</a:t>
            </a:r>
            <a:endParaRPr lang="zh-CN" altLang="en-US" sz="2000">
              <a:latin typeface="宋体" panose="02010600030101010101" pitchFamily="2" charset="-122"/>
              <a:ea typeface="楷体_GB2312" pitchFamily="49" charset="-122"/>
            </a:endParaRPr>
          </a:p>
        </p:txBody>
      </p:sp>
      <p:sp>
        <p:nvSpPr>
          <p:cNvPr id="728093" name="Line 29"/>
          <p:cNvSpPr>
            <a:spLocks noChangeShapeType="1"/>
          </p:cNvSpPr>
          <p:nvPr/>
        </p:nvSpPr>
        <p:spPr bwMode="auto">
          <a:xfrm flipH="1">
            <a:off x="7381875" y="5092700"/>
            <a:ext cx="8636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8094" name="Line 30"/>
          <p:cNvSpPr>
            <a:spLocks noChangeShapeType="1"/>
          </p:cNvSpPr>
          <p:nvPr/>
        </p:nvSpPr>
        <p:spPr bwMode="auto">
          <a:xfrm flipV="1">
            <a:off x="762000" y="3644900"/>
            <a:ext cx="0" cy="144780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8095" name="Line 31"/>
          <p:cNvSpPr>
            <a:spLocks noChangeShapeType="1"/>
          </p:cNvSpPr>
          <p:nvPr/>
        </p:nvSpPr>
        <p:spPr bwMode="auto">
          <a:xfrm>
            <a:off x="762000" y="3644900"/>
            <a:ext cx="20574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96" name="Line 32"/>
          <p:cNvSpPr>
            <a:spLocks noChangeShapeType="1"/>
          </p:cNvSpPr>
          <p:nvPr/>
        </p:nvSpPr>
        <p:spPr bwMode="auto">
          <a:xfrm>
            <a:off x="2489200" y="5299075"/>
            <a:ext cx="0" cy="36671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97" name="Line 33"/>
          <p:cNvSpPr>
            <a:spLocks noChangeShapeType="1"/>
          </p:cNvSpPr>
          <p:nvPr/>
        </p:nvSpPr>
        <p:spPr bwMode="auto">
          <a:xfrm>
            <a:off x="6286500" y="5299075"/>
            <a:ext cx="0" cy="366713"/>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8098" name="Line 34"/>
          <p:cNvSpPr>
            <a:spLocks noChangeShapeType="1"/>
          </p:cNvSpPr>
          <p:nvPr/>
        </p:nvSpPr>
        <p:spPr bwMode="auto">
          <a:xfrm>
            <a:off x="5867400" y="3644900"/>
            <a:ext cx="2378075" cy="0"/>
          </a:xfrm>
          <a:prstGeom prst="line">
            <a:avLst/>
          </a:prstGeom>
          <a:noFill/>
          <a:ln w="9525">
            <a:solidFill>
              <a:srgbClr val="FF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3" name="Line 35"/>
          <p:cNvSpPr>
            <a:spLocks noChangeShapeType="1"/>
          </p:cNvSpPr>
          <p:nvPr/>
        </p:nvSpPr>
        <p:spPr bwMode="auto">
          <a:xfrm>
            <a:off x="8245475" y="3644900"/>
            <a:ext cx="0" cy="307975"/>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8100" name="Line 36"/>
          <p:cNvSpPr>
            <a:spLocks noChangeShapeType="1"/>
          </p:cNvSpPr>
          <p:nvPr/>
        </p:nvSpPr>
        <p:spPr bwMode="auto">
          <a:xfrm>
            <a:off x="8245475" y="4603750"/>
            <a:ext cx="0" cy="48895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28070"/>
                                        </p:tgtEl>
                                        <p:attrNameLst>
                                          <p:attrName>style.visibility</p:attrName>
                                        </p:attrNameLst>
                                      </p:cBhvr>
                                      <p:to>
                                        <p:strVal val="visible"/>
                                      </p:to>
                                    </p:set>
                                    <p:animEffect transition="in" filter="checkerboard(across)">
                                      <p:cBhvr>
                                        <p:cTn id="7" dur="500"/>
                                        <p:tgtEl>
                                          <p:spTgt spid="72807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28079"/>
                                        </p:tgtEl>
                                        <p:attrNameLst>
                                          <p:attrName>style.visibility</p:attrName>
                                        </p:attrNameLst>
                                      </p:cBhvr>
                                      <p:to>
                                        <p:strVal val="visible"/>
                                      </p:to>
                                    </p:set>
                                    <p:animEffect transition="in" filter="checkerboard(across)">
                                      <p:cBhvr>
                                        <p:cTn id="12" dur="500"/>
                                        <p:tgtEl>
                                          <p:spTgt spid="728079"/>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728068"/>
                                        </p:tgtEl>
                                        <p:attrNameLst>
                                          <p:attrName>style.visibility</p:attrName>
                                        </p:attrNameLst>
                                      </p:cBhvr>
                                      <p:to>
                                        <p:strVal val="visible"/>
                                      </p:to>
                                    </p:set>
                                    <p:animEffect transition="in" filter="checkerboard(across)">
                                      <p:cBhvr>
                                        <p:cTn id="15" dur="500"/>
                                        <p:tgtEl>
                                          <p:spTgt spid="728068"/>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728080"/>
                                        </p:tgtEl>
                                        <p:attrNameLst>
                                          <p:attrName>style.visibility</p:attrName>
                                        </p:attrNameLst>
                                      </p:cBhvr>
                                      <p:to>
                                        <p:strVal val="visible"/>
                                      </p:to>
                                    </p:set>
                                    <p:animEffect transition="in" filter="checkerboard(across)">
                                      <p:cBhvr>
                                        <p:cTn id="20" dur="500"/>
                                        <p:tgtEl>
                                          <p:spTgt spid="728080"/>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728072"/>
                                        </p:tgtEl>
                                        <p:attrNameLst>
                                          <p:attrName>style.visibility</p:attrName>
                                        </p:attrNameLst>
                                      </p:cBhvr>
                                      <p:to>
                                        <p:strVal val="visible"/>
                                      </p:to>
                                    </p:set>
                                    <p:animEffect transition="in" filter="checkerboard(across)">
                                      <p:cBhvr>
                                        <p:cTn id="23" dur="500"/>
                                        <p:tgtEl>
                                          <p:spTgt spid="728072"/>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728081"/>
                                        </p:tgtEl>
                                        <p:attrNameLst>
                                          <p:attrName>style.visibility</p:attrName>
                                        </p:attrNameLst>
                                      </p:cBhvr>
                                      <p:to>
                                        <p:strVal val="visible"/>
                                      </p:to>
                                    </p:set>
                                    <p:animEffect transition="in" filter="checkerboard(across)">
                                      <p:cBhvr>
                                        <p:cTn id="28" dur="500"/>
                                        <p:tgtEl>
                                          <p:spTgt spid="72808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728073"/>
                                        </p:tgtEl>
                                        <p:attrNameLst>
                                          <p:attrName>style.visibility</p:attrName>
                                        </p:attrNameLst>
                                      </p:cBhvr>
                                      <p:to>
                                        <p:strVal val="visible"/>
                                      </p:to>
                                    </p:set>
                                    <p:animEffect transition="in" filter="checkerboard(across)">
                                      <p:cBhvr>
                                        <p:cTn id="31" dur="500"/>
                                        <p:tgtEl>
                                          <p:spTgt spid="728073"/>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728083"/>
                                        </p:tgtEl>
                                        <p:attrNameLst>
                                          <p:attrName>style.visibility</p:attrName>
                                        </p:attrNameLst>
                                      </p:cBhvr>
                                      <p:to>
                                        <p:strVal val="visible"/>
                                      </p:to>
                                    </p:set>
                                    <p:animEffect transition="in" filter="checkerboard(across)">
                                      <p:cBhvr>
                                        <p:cTn id="36" dur="500"/>
                                        <p:tgtEl>
                                          <p:spTgt spid="728083"/>
                                        </p:tgtEl>
                                      </p:cBhvr>
                                    </p:animEffect>
                                  </p:childTnLst>
                                </p:cTn>
                              </p:par>
                              <p:par>
                                <p:cTn id="37" presetID="5" presetClass="entr" presetSubtype="10" fill="hold" nodeType="withEffect">
                                  <p:stCondLst>
                                    <p:cond delay="0"/>
                                  </p:stCondLst>
                                  <p:childTnLst>
                                    <p:set>
                                      <p:cBhvr>
                                        <p:cTn id="38" dur="1" fill="hold">
                                          <p:stCondLst>
                                            <p:cond delay="0"/>
                                          </p:stCondLst>
                                        </p:cTn>
                                        <p:tgtEl>
                                          <p:spTgt spid="728082"/>
                                        </p:tgtEl>
                                        <p:attrNameLst>
                                          <p:attrName>style.visibility</p:attrName>
                                        </p:attrNameLst>
                                      </p:cBhvr>
                                      <p:to>
                                        <p:strVal val="visible"/>
                                      </p:to>
                                    </p:set>
                                    <p:animEffect transition="in" filter="checkerboard(across)">
                                      <p:cBhvr>
                                        <p:cTn id="39" dur="500"/>
                                        <p:tgtEl>
                                          <p:spTgt spid="728082"/>
                                        </p:tgtEl>
                                      </p:cBhvr>
                                    </p:animEffect>
                                  </p:childTnLst>
                                </p:cTn>
                              </p:par>
                              <p:par>
                                <p:cTn id="40" presetID="5" presetClass="entr" presetSubtype="10" fill="hold" nodeType="withEffect">
                                  <p:stCondLst>
                                    <p:cond delay="0"/>
                                  </p:stCondLst>
                                  <p:childTnLst>
                                    <p:set>
                                      <p:cBhvr>
                                        <p:cTn id="41" dur="1" fill="hold">
                                          <p:stCondLst>
                                            <p:cond delay="0"/>
                                          </p:stCondLst>
                                        </p:cTn>
                                        <p:tgtEl>
                                          <p:spTgt spid="728085"/>
                                        </p:tgtEl>
                                        <p:attrNameLst>
                                          <p:attrName>style.visibility</p:attrName>
                                        </p:attrNameLst>
                                      </p:cBhvr>
                                      <p:to>
                                        <p:strVal val="visible"/>
                                      </p:to>
                                    </p:set>
                                    <p:animEffect transition="in" filter="checkerboard(across)">
                                      <p:cBhvr>
                                        <p:cTn id="42" dur="500"/>
                                        <p:tgtEl>
                                          <p:spTgt spid="728085"/>
                                        </p:tgtEl>
                                      </p:cBhvr>
                                    </p:animEffect>
                                  </p:childTnLst>
                                </p:cTn>
                              </p:par>
                              <p:par>
                                <p:cTn id="43" presetID="5" presetClass="entr" presetSubtype="10" fill="hold" grpId="0" nodeType="withEffect">
                                  <p:stCondLst>
                                    <p:cond delay="0"/>
                                  </p:stCondLst>
                                  <p:childTnLst>
                                    <p:set>
                                      <p:cBhvr>
                                        <p:cTn id="44" dur="1" fill="hold">
                                          <p:stCondLst>
                                            <p:cond delay="0"/>
                                          </p:stCondLst>
                                        </p:cTn>
                                        <p:tgtEl>
                                          <p:spTgt spid="728087"/>
                                        </p:tgtEl>
                                        <p:attrNameLst>
                                          <p:attrName>style.visibility</p:attrName>
                                        </p:attrNameLst>
                                      </p:cBhvr>
                                      <p:to>
                                        <p:strVal val="visible"/>
                                      </p:to>
                                    </p:set>
                                    <p:animEffect transition="in" filter="checkerboard(across)">
                                      <p:cBhvr>
                                        <p:cTn id="45" dur="500"/>
                                        <p:tgtEl>
                                          <p:spTgt spid="728087"/>
                                        </p:tgtEl>
                                      </p:cBhvr>
                                    </p:animEffect>
                                  </p:childTnLst>
                                </p:cTn>
                              </p:par>
                              <p:par>
                                <p:cTn id="46" presetID="5" presetClass="entr" presetSubtype="10" fill="hold" grpId="0" nodeType="withEffect">
                                  <p:stCondLst>
                                    <p:cond delay="0"/>
                                  </p:stCondLst>
                                  <p:childTnLst>
                                    <p:set>
                                      <p:cBhvr>
                                        <p:cTn id="47" dur="1" fill="hold">
                                          <p:stCondLst>
                                            <p:cond delay="0"/>
                                          </p:stCondLst>
                                        </p:cTn>
                                        <p:tgtEl>
                                          <p:spTgt spid="728086"/>
                                        </p:tgtEl>
                                        <p:attrNameLst>
                                          <p:attrName>style.visibility</p:attrName>
                                        </p:attrNameLst>
                                      </p:cBhvr>
                                      <p:to>
                                        <p:strVal val="visible"/>
                                      </p:to>
                                    </p:set>
                                    <p:animEffect transition="in" filter="checkerboard(across)">
                                      <p:cBhvr>
                                        <p:cTn id="48" dur="500"/>
                                        <p:tgtEl>
                                          <p:spTgt spid="728086"/>
                                        </p:tgtEl>
                                      </p:cBhvr>
                                    </p:animEffect>
                                  </p:childTnLst>
                                </p:cTn>
                              </p:par>
                              <p:par>
                                <p:cTn id="49" presetID="5" presetClass="entr" presetSubtype="10" fill="hold" nodeType="withEffect">
                                  <p:stCondLst>
                                    <p:cond delay="0"/>
                                  </p:stCondLst>
                                  <p:childTnLst>
                                    <p:set>
                                      <p:cBhvr>
                                        <p:cTn id="50" dur="1" fill="hold">
                                          <p:stCondLst>
                                            <p:cond delay="0"/>
                                          </p:stCondLst>
                                        </p:cTn>
                                        <p:tgtEl>
                                          <p:spTgt spid="728084"/>
                                        </p:tgtEl>
                                        <p:attrNameLst>
                                          <p:attrName>style.visibility</p:attrName>
                                        </p:attrNameLst>
                                      </p:cBhvr>
                                      <p:to>
                                        <p:strVal val="visible"/>
                                      </p:to>
                                    </p:set>
                                    <p:animEffect transition="in" filter="checkerboard(across)">
                                      <p:cBhvr>
                                        <p:cTn id="51" dur="500"/>
                                        <p:tgtEl>
                                          <p:spTgt spid="728084"/>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728074"/>
                                        </p:tgtEl>
                                        <p:attrNameLst>
                                          <p:attrName>style.visibility</p:attrName>
                                        </p:attrNameLst>
                                      </p:cBhvr>
                                      <p:to>
                                        <p:strVal val="visible"/>
                                      </p:to>
                                    </p:set>
                                    <p:animEffect transition="in" filter="checkerboard(across)">
                                      <p:cBhvr>
                                        <p:cTn id="54" dur="500"/>
                                        <p:tgtEl>
                                          <p:spTgt spid="728074"/>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728075"/>
                                        </p:tgtEl>
                                        <p:attrNameLst>
                                          <p:attrName>style.visibility</p:attrName>
                                        </p:attrNameLst>
                                      </p:cBhvr>
                                      <p:to>
                                        <p:strVal val="visible"/>
                                      </p:to>
                                    </p:set>
                                    <p:animEffect transition="in" filter="checkerboard(across)">
                                      <p:cBhvr>
                                        <p:cTn id="57" dur="500"/>
                                        <p:tgtEl>
                                          <p:spTgt spid="728075"/>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nodeType="clickEffect">
                                  <p:stCondLst>
                                    <p:cond delay="0"/>
                                  </p:stCondLst>
                                  <p:childTnLst>
                                    <p:set>
                                      <p:cBhvr>
                                        <p:cTn id="61" dur="1" fill="hold">
                                          <p:stCondLst>
                                            <p:cond delay="0"/>
                                          </p:stCondLst>
                                        </p:cTn>
                                        <p:tgtEl>
                                          <p:spTgt spid="728088"/>
                                        </p:tgtEl>
                                        <p:attrNameLst>
                                          <p:attrName>style.visibility</p:attrName>
                                        </p:attrNameLst>
                                      </p:cBhvr>
                                      <p:to>
                                        <p:strVal val="visible"/>
                                      </p:to>
                                    </p:set>
                                    <p:animEffect transition="in" filter="checkerboard(across)">
                                      <p:cBhvr>
                                        <p:cTn id="62" dur="500"/>
                                        <p:tgtEl>
                                          <p:spTgt spid="728088"/>
                                        </p:tgtEl>
                                      </p:cBhvr>
                                    </p:animEffect>
                                  </p:childTnLst>
                                </p:cTn>
                              </p:par>
                              <p:par>
                                <p:cTn id="63" presetID="5" presetClass="entr" presetSubtype="10" fill="hold" nodeType="withEffect">
                                  <p:stCondLst>
                                    <p:cond delay="0"/>
                                  </p:stCondLst>
                                  <p:childTnLst>
                                    <p:set>
                                      <p:cBhvr>
                                        <p:cTn id="64" dur="1" fill="hold">
                                          <p:stCondLst>
                                            <p:cond delay="0"/>
                                          </p:stCondLst>
                                        </p:cTn>
                                        <p:tgtEl>
                                          <p:spTgt spid="728094"/>
                                        </p:tgtEl>
                                        <p:attrNameLst>
                                          <p:attrName>style.visibility</p:attrName>
                                        </p:attrNameLst>
                                      </p:cBhvr>
                                      <p:to>
                                        <p:strVal val="visible"/>
                                      </p:to>
                                    </p:set>
                                    <p:animEffect transition="in" filter="checkerboard(across)">
                                      <p:cBhvr>
                                        <p:cTn id="65" dur="500"/>
                                        <p:tgtEl>
                                          <p:spTgt spid="728094"/>
                                        </p:tgtEl>
                                      </p:cBhvr>
                                    </p:animEffect>
                                  </p:childTnLst>
                                </p:cTn>
                              </p:par>
                              <p:par>
                                <p:cTn id="66" presetID="5" presetClass="entr" presetSubtype="10" fill="hold" nodeType="withEffect">
                                  <p:stCondLst>
                                    <p:cond delay="0"/>
                                  </p:stCondLst>
                                  <p:childTnLst>
                                    <p:set>
                                      <p:cBhvr>
                                        <p:cTn id="67" dur="1" fill="hold">
                                          <p:stCondLst>
                                            <p:cond delay="0"/>
                                          </p:stCondLst>
                                        </p:cTn>
                                        <p:tgtEl>
                                          <p:spTgt spid="728095"/>
                                        </p:tgtEl>
                                        <p:attrNameLst>
                                          <p:attrName>style.visibility</p:attrName>
                                        </p:attrNameLst>
                                      </p:cBhvr>
                                      <p:to>
                                        <p:strVal val="visible"/>
                                      </p:to>
                                    </p:set>
                                    <p:animEffect transition="in" filter="checkerboard(across)">
                                      <p:cBhvr>
                                        <p:cTn id="68" dur="500"/>
                                        <p:tgtEl>
                                          <p:spTgt spid="728095"/>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728089"/>
                                        </p:tgtEl>
                                        <p:attrNameLst>
                                          <p:attrName>style.visibility</p:attrName>
                                        </p:attrNameLst>
                                      </p:cBhvr>
                                      <p:to>
                                        <p:strVal val="visible"/>
                                      </p:to>
                                    </p:set>
                                    <p:animEffect transition="in" filter="checkerboard(across)">
                                      <p:cBhvr>
                                        <p:cTn id="71" dur="500"/>
                                        <p:tgtEl>
                                          <p:spTgt spid="728089"/>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728092"/>
                                        </p:tgtEl>
                                        <p:attrNameLst>
                                          <p:attrName>style.visibility</p:attrName>
                                        </p:attrNameLst>
                                      </p:cBhvr>
                                      <p:to>
                                        <p:strVal val="visible"/>
                                      </p:to>
                                    </p:set>
                                    <p:animEffect transition="in" filter="checkerboard(across)">
                                      <p:cBhvr>
                                        <p:cTn id="74" dur="500"/>
                                        <p:tgtEl>
                                          <p:spTgt spid="728092"/>
                                        </p:tgtEl>
                                      </p:cBhvr>
                                    </p:animEffect>
                                  </p:childTnLst>
                                </p:cTn>
                              </p:par>
                              <p:par>
                                <p:cTn id="75" presetID="5" presetClass="entr" presetSubtype="10" fill="hold" nodeType="withEffect">
                                  <p:stCondLst>
                                    <p:cond delay="0"/>
                                  </p:stCondLst>
                                  <p:childTnLst>
                                    <p:set>
                                      <p:cBhvr>
                                        <p:cTn id="76" dur="1" fill="hold">
                                          <p:stCondLst>
                                            <p:cond delay="0"/>
                                          </p:stCondLst>
                                        </p:cTn>
                                        <p:tgtEl>
                                          <p:spTgt spid="728093"/>
                                        </p:tgtEl>
                                        <p:attrNameLst>
                                          <p:attrName>style.visibility</p:attrName>
                                        </p:attrNameLst>
                                      </p:cBhvr>
                                      <p:to>
                                        <p:strVal val="visible"/>
                                      </p:to>
                                    </p:set>
                                    <p:animEffect transition="in" filter="checkerboard(across)">
                                      <p:cBhvr>
                                        <p:cTn id="77" dur="500"/>
                                        <p:tgtEl>
                                          <p:spTgt spid="728093"/>
                                        </p:tgtEl>
                                      </p:cBhvr>
                                    </p:animEffect>
                                  </p:childTnLst>
                                </p:cTn>
                              </p:par>
                              <p:par>
                                <p:cTn id="78" presetID="5" presetClass="entr" presetSubtype="10" fill="hold" nodeType="withEffect">
                                  <p:stCondLst>
                                    <p:cond delay="0"/>
                                  </p:stCondLst>
                                  <p:childTnLst>
                                    <p:set>
                                      <p:cBhvr>
                                        <p:cTn id="79" dur="1" fill="hold">
                                          <p:stCondLst>
                                            <p:cond delay="0"/>
                                          </p:stCondLst>
                                        </p:cTn>
                                        <p:tgtEl>
                                          <p:spTgt spid="728100"/>
                                        </p:tgtEl>
                                        <p:attrNameLst>
                                          <p:attrName>style.visibility</p:attrName>
                                        </p:attrNameLst>
                                      </p:cBhvr>
                                      <p:to>
                                        <p:strVal val="visible"/>
                                      </p:to>
                                    </p:set>
                                    <p:animEffect transition="in" filter="checkerboard(across)">
                                      <p:cBhvr>
                                        <p:cTn id="80" dur="500"/>
                                        <p:tgtEl>
                                          <p:spTgt spid="728100"/>
                                        </p:tgtEl>
                                      </p:cBhvr>
                                    </p:animEffect>
                                  </p:childTnLst>
                                </p:cTn>
                              </p:par>
                              <p:par>
                                <p:cTn id="81" presetID="5" presetClass="entr" presetSubtype="10" fill="hold" grpId="0" nodeType="withEffect">
                                  <p:stCondLst>
                                    <p:cond delay="0"/>
                                  </p:stCondLst>
                                  <p:childTnLst>
                                    <p:set>
                                      <p:cBhvr>
                                        <p:cTn id="82" dur="1" fill="hold">
                                          <p:stCondLst>
                                            <p:cond delay="0"/>
                                          </p:stCondLst>
                                        </p:cTn>
                                        <p:tgtEl>
                                          <p:spTgt spid="728078"/>
                                        </p:tgtEl>
                                        <p:attrNameLst>
                                          <p:attrName>style.visibility</p:attrName>
                                        </p:attrNameLst>
                                      </p:cBhvr>
                                      <p:to>
                                        <p:strVal val="visible"/>
                                      </p:to>
                                    </p:set>
                                    <p:animEffect transition="in" filter="checkerboard(across)">
                                      <p:cBhvr>
                                        <p:cTn id="83" dur="500"/>
                                        <p:tgtEl>
                                          <p:spTgt spid="728078"/>
                                        </p:tgtEl>
                                      </p:cBhvr>
                                    </p:animEffect>
                                  </p:childTnLst>
                                </p:cTn>
                              </p:par>
                              <p:par>
                                <p:cTn id="84" presetID="5" presetClass="entr" presetSubtype="10" fill="hold" nodeType="withEffect">
                                  <p:stCondLst>
                                    <p:cond delay="0"/>
                                  </p:stCondLst>
                                  <p:childTnLst>
                                    <p:set>
                                      <p:cBhvr>
                                        <p:cTn id="85" dur="1" fill="hold">
                                          <p:stCondLst>
                                            <p:cond delay="0"/>
                                          </p:stCondLst>
                                        </p:cTn>
                                        <p:tgtEl>
                                          <p:spTgt spid="728098"/>
                                        </p:tgtEl>
                                        <p:attrNameLst>
                                          <p:attrName>style.visibility</p:attrName>
                                        </p:attrNameLst>
                                      </p:cBhvr>
                                      <p:to>
                                        <p:strVal val="visible"/>
                                      </p:to>
                                    </p:set>
                                    <p:animEffect transition="in" filter="checkerboard(across)">
                                      <p:cBhvr>
                                        <p:cTn id="86" dur="500"/>
                                        <p:tgtEl>
                                          <p:spTgt spid="728098"/>
                                        </p:tgtEl>
                                      </p:cBhvr>
                                    </p:animEffect>
                                  </p:childTnLst>
                                </p:cTn>
                              </p:par>
                            </p:childTnLst>
                          </p:cTn>
                        </p:par>
                      </p:childTnLst>
                    </p:cTn>
                  </p:par>
                  <p:par>
                    <p:cTn id="87" fill="hold">
                      <p:stCondLst>
                        <p:cond delay="indefinite"/>
                      </p:stCondLst>
                      <p:childTnLst>
                        <p:par>
                          <p:cTn id="88" fill="hold">
                            <p:stCondLst>
                              <p:cond delay="0"/>
                            </p:stCondLst>
                            <p:childTnLst>
                              <p:par>
                                <p:cTn id="89" presetID="5" presetClass="entr" presetSubtype="10" fill="hold" nodeType="clickEffect">
                                  <p:stCondLst>
                                    <p:cond delay="0"/>
                                  </p:stCondLst>
                                  <p:childTnLst>
                                    <p:set>
                                      <p:cBhvr>
                                        <p:cTn id="90" dur="1" fill="hold">
                                          <p:stCondLst>
                                            <p:cond delay="0"/>
                                          </p:stCondLst>
                                        </p:cTn>
                                        <p:tgtEl>
                                          <p:spTgt spid="728096"/>
                                        </p:tgtEl>
                                        <p:attrNameLst>
                                          <p:attrName>style.visibility</p:attrName>
                                        </p:attrNameLst>
                                      </p:cBhvr>
                                      <p:to>
                                        <p:strVal val="visible"/>
                                      </p:to>
                                    </p:set>
                                    <p:animEffect transition="in" filter="checkerboard(across)">
                                      <p:cBhvr>
                                        <p:cTn id="91" dur="500"/>
                                        <p:tgtEl>
                                          <p:spTgt spid="728096"/>
                                        </p:tgtEl>
                                      </p:cBhvr>
                                    </p:animEffect>
                                  </p:childTnLst>
                                </p:cTn>
                              </p:par>
                              <p:par>
                                <p:cTn id="92" presetID="5" presetClass="entr" presetSubtype="10" fill="hold" grpId="0" nodeType="withEffect">
                                  <p:stCondLst>
                                    <p:cond delay="0"/>
                                  </p:stCondLst>
                                  <p:childTnLst>
                                    <p:set>
                                      <p:cBhvr>
                                        <p:cTn id="93" dur="1" fill="hold">
                                          <p:stCondLst>
                                            <p:cond delay="0"/>
                                          </p:stCondLst>
                                        </p:cTn>
                                        <p:tgtEl>
                                          <p:spTgt spid="728090"/>
                                        </p:tgtEl>
                                        <p:attrNameLst>
                                          <p:attrName>style.visibility</p:attrName>
                                        </p:attrNameLst>
                                      </p:cBhvr>
                                      <p:to>
                                        <p:strVal val="visible"/>
                                      </p:to>
                                    </p:set>
                                    <p:animEffect transition="in" filter="checkerboard(across)">
                                      <p:cBhvr>
                                        <p:cTn id="94" dur="500"/>
                                        <p:tgtEl>
                                          <p:spTgt spid="728090"/>
                                        </p:tgtEl>
                                      </p:cBhvr>
                                    </p:animEffect>
                                  </p:childTnLst>
                                </p:cTn>
                              </p:par>
                              <p:par>
                                <p:cTn id="95" presetID="5" presetClass="entr" presetSubtype="10" fill="hold" nodeType="withEffect">
                                  <p:stCondLst>
                                    <p:cond delay="0"/>
                                  </p:stCondLst>
                                  <p:childTnLst>
                                    <p:set>
                                      <p:cBhvr>
                                        <p:cTn id="96" dur="1" fill="hold">
                                          <p:stCondLst>
                                            <p:cond delay="0"/>
                                          </p:stCondLst>
                                        </p:cTn>
                                        <p:tgtEl>
                                          <p:spTgt spid="728097"/>
                                        </p:tgtEl>
                                        <p:attrNameLst>
                                          <p:attrName>style.visibility</p:attrName>
                                        </p:attrNameLst>
                                      </p:cBhvr>
                                      <p:to>
                                        <p:strVal val="visible"/>
                                      </p:to>
                                    </p:set>
                                    <p:animEffect transition="in" filter="checkerboard(across)">
                                      <p:cBhvr>
                                        <p:cTn id="97" dur="500"/>
                                        <p:tgtEl>
                                          <p:spTgt spid="728097"/>
                                        </p:tgtEl>
                                      </p:cBhvr>
                                    </p:animEffect>
                                  </p:childTnLst>
                                </p:cTn>
                              </p:par>
                              <p:par>
                                <p:cTn id="98" presetID="5" presetClass="entr" presetSubtype="10" fill="hold" grpId="0" nodeType="withEffect">
                                  <p:stCondLst>
                                    <p:cond delay="0"/>
                                  </p:stCondLst>
                                  <p:childTnLst>
                                    <p:set>
                                      <p:cBhvr>
                                        <p:cTn id="99" dur="1" fill="hold">
                                          <p:stCondLst>
                                            <p:cond delay="0"/>
                                          </p:stCondLst>
                                        </p:cTn>
                                        <p:tgtEl>
                                          <p:spTgt spid="728091"/>
                                        </p:tgtEl>
                                        <p:attrNameLst>
                                          <p:attrName>style.visibility</p:attrName>
                                        </p:attrNameLst>
                                      </p:cBhvr>
                                      <p:to>
                                        <p:strVal val="visible"/>
                                      </p:to>
                                    </p:set>
                                    <p:animEffect transition="in" filter="checkerboard(across)">
                                      <p:cBhvr>
                                        <p:cTn id="100" dur="500"/>
                                        <p:tgtEl>
                                          <p:spTgt spid="728091"/>
                                        </p:tgtEl>
                                      </p:cBhvr>
                                    </p:animEffect>
                                  </p:childTnLst>
                                </p:cTn>
                              </p:par>
                              <p:par>
                                <p:cTn id="101" presetID="5" presetClass="entr" presetSubtype="10" fill="hold" grpId="0" nodeType="withEffect">
                                  <p:stCondLst>
                                    <p:cond delay="0"/>
                                  </p:stCondLst>
                                  <p:childTnLst>
                                    <p:set>
                                      <p:cBhvr>
                                        <p:cTn id="102" dur="1" fill="hold">
                                          <p:stCondLst>
                                            <p:cond delay="0"/>
                                          </p:stCondLst>
                                        </p:cTn>
                                        <p:tgtEl>
                                          <p:spTgt spid="728077"/>
                                        </p:tgtEl>
                                        <p:attrNameLst>
                                          <p:attrName>style.visibility</p:attrName>
                                        </p:attrNameLst>
                                      </p:cBhvr>
                                      <p:to>
                                        <p:strVal val="visible"/>
                                      </p:to>
                                    </p:set>
                                    <p:animEffect transition="in" filter="checkerboard(across)">
                                      <p:cBhvr>
                                        <p:cTn id="103" dur="500"/>
                                        <p:tgtEl>
                                          <p:spTgt spid="728077"/>
                                        </p:tgtEl>
                                      </p:cBhvr>
                                    </p:animEffect>
                                  </p:childTnLst>
                                </p:cTn>
                              </p:par>
                              <p:par>
                                <p:cTn id="104" presetID="5" presetClass="entr" presetSubtype="10" fill="hold" grpId="0" nodeType="withEffect">
                                  <p:stCondLst>
                                    <p:cond delay="0"/>
                                  </p:stCondLst>
                                  <p:childTnLst>
                                    <p:set>
                                      <p:cBhvr>
                                        <p:cTn id="105" dur="1" fill="hold">
                                          <p:stCondLst>
                                            <p:cond delay="0"/>
                                          </p:stCondLst>
                                        </p:cTn>
                                        <p:tgtEl>
                                          <p:spTgt spid="728076"/>
                                        </p:tgtEl>
                                        <p:attrNameLst>
                                          <p:attrName>style.visibility</p:attrName>
                                        </p:attrNameLst>
                                      </p:cBhvr>
                                      <p:to>
                                        <p:strVal val="visible"/>
                                      </p:to>
                                    </p:set>
                                    <p:animEffect transition="in" filter="checkerboard(across)">
                                      <p:cBhvr>
                                        <p:cTn id="106" dur="500"/>
                                        <p:tgtEl>
                                          <p:spTgt spid="728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8" grpId="0" animBg="1"/>
      <p:bldP spid="728070" grpId="0" animBg="1"/>
      <p:bldP spid="728072" grpId="0" animBg="1"/>
      <p:bldP spid="728073" grpId="0" animBg="1"/>
      <p:bldP spid="728074" grpId="0" animBg="1"/>
      <p:bldP spid="728075" grpId="0" animBg="1"/>
      <p:bldP spid="728076" grpId="0" animBg="1"/>
      <p:bldP spid="728077" grpId="0" animBg="1"/>
      <p:bldP spid="728078" grpId="0" animBg="1"/>
      <p:bldP spid="728086" grpId="0"/>
      <p:bldP spid="728087" grpId="0"/>
      <p:bldP spid="728089" grpId="0"/>
      <p:bldP spid="728090" grpId="0"/>
      <p:bldP spid="728091" grpId="0"/>
      <p:bldP spid="72809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2400" y="165100"/>
            <a:ext cx="8178800" cy="609600"/>
          </a:xfrm>
        </p:spPr>
        <p:txBody>
          <a:bodyPr/>
          <a:lstStyle/>
          <a:p>
            <a:pPr eaLnBrk="1" hangingPunct="1"/>
            <a:r>
              <a:rPr lang="zh-CN" altLang="en-US" smtClean="0"/>
              <a:t>例子</a:t>
            </a:r>
            <a:endParaRPr lang="zh-CN" altLang="en-US" smtClean="0"/>
          </a:p>
        </p:txBody>
      </p:sp>
      <p:sp>
        <p:nvSpPr>
          <p:cNvPr id="730115" name="Rectangle 3"/>
          <p:cNvSpPr>
            <a:spLocks noGrp="1" noChangeArrowheads="1"/>
          </p:cNvSpPr>
          <p:nvPr>
            <p:ph type="body" sz="half" idx="1"/>
          </p:nvPr>
        </p:nvSpPr>
        <p:spPr>
          <a:xfrm>
            <a:off x="0" y="977900"/>
            <a:ext cx="9144000" cy="5635625"/>
          </a:xfrm>
        </p:spPr>
        <p:txBody>
          <a:bodyPr/>
          <a:lstStyle/>
          <a:p>
            <a:pPr eaLnBrk="1" hangingPunct="1"/>
            <a:r>
              <a:rPr lang="zh-CN" altLang="en-US" sz="2400" smtClean="0"/>
              <a:t>某投资者在城里拥有一块停车场，现在正在考虑是继续把它用作停车场，还是在这块地上建设办公楼。如果继续用作停车场，也需要对现有场地进行更新改造。他雇佣了一个咨询公司帮他进行投资决策分析。下面是咨询公司根据市场调查得到的数据：</a:t>
            </a:r>
            <a:endParaRPr lang="zh-CN" altLang="en-US" sz="2400" smtClean="0"/>
          </a:p>
          <a:p>
            <a:pPr eaLnBrk="1" hangingPunct="1"/>
            <a:endParaRPr lang="zh-CN" altLang="en-US" sz="2400" smtClean="0"/>
          </a:p>
          <a:p>
            <a:pPr eaLnBrk="1" hangingPunct="1"/>
            <a:endParaRPr lang="zh-CN" altLang="en-US" sz="2400" smtClean="0"/>
          </a:p>
          <a:p>
            <a:pPr eaLnBrk="1" hangingPunct="1"/>
            <a:endParaRPr lang="zh-CN" altLang="en-US" sz="2400" smtClean="0"/>
          </a:p>
          <a:p>
            <a:pPr eaLnBrk="1" hangingPunct="1"/>
            <a:endParaRPr lang="zh-CN" altLang="en-US" sz="2400" smtClean="0"/>
          </a:p>
          <a:p>
            <a:pPr eaLnBrk="1" hangingPunct="1"/>
            <a:endParaRPr lang="zh-CN" altLang="en-US" sz="2400" smtClean="0"/>
          </a:p>
          <a:p>
            <a:pPr eaLnBrk="1" hangingPunct="1"/>
            <a:endParaRPr lang="zh-CN" altLang="en-US" sz="2400" smtClean="0"/>
          </a:p>
          <a:p>
            <a:pPr eaLnBrk="1" hangingPunct="1"/>
            <a:endParaRPr lang="zh-CN" altLang="en-US" sz="2400" smtClean="0"/>
          </a:p>
          <a:p>
            <a:pPr eaLnBrk="1" hangingPunct="1"/>
            <a:r>
              <a:rPr lang="zh-CN" altLang="en-US" sz="2400" smtClean="0"/>
              <a:t>分析期为</a:t>
            </a:r>
            <a:r>
              <a:rPr lang="en-US" altLang="zh-CN" sz="2400" smtClean="0"/>
              <a:t>15</a:t>
            </a:r>
            <a:r>
              <a:rPr lang="zh-CN" altLang="en-US" sz="2400" smtClean="0"/>
              <a:t>年，</a:t>
            </a:r>
            <a:r>
              <a:rPr lang="en-US" altLang="zh-CN" sz="2400" smtClean="0"/>
              <a:t>15</a:t>
            </a:r>
            <a:r>
              <a:rPr lang="zh-CN" altLang="en-US" sz="2400" smtClean="0"/>
              <a:t>年后的残值为初始投资的</a:t>
            </a:r>
            <a:r>
              <a:rPr lang="en-US" altLang="zh-CN" sz="2400" smtClean="0"/>
              <a:t>50%</a:t>
            </a:r>
            <a:r>
              <a:rPr lang="zh-CN" altLang="en-US" sz="2400" smtClean="0"/>
              <a:t>。基准收益率为</a:t>
            </a:r>
            <a:r>
              <a:rPr lang="en-US" altLang="zh-CN" sz="2400" smtClean="0"/>
              <a:t>10%</a:t>
            </a:r>
            <a:r>
              <a:rPr lang="zh-CN" altLang="en-US" sz="2400" smtClean="0"/>
              <a:t>。</a:t>
            </a:r>
            <a:endParaRPr lang="zh-CN" altLang="en-US" sz="2400" smtClean="0"/>
          </a:p>
        </p:txBody>
      </p:sp>
      <p:graphicFrame>
        <p:nvGraphicFramePr>
          <p:cNvPr id="730184" name="Group 72"/>
          <p:cNvGraphicFramePr>
            <a:graphicFrameLocks noGrp="1"/>
          </p:cNvGraphicFramePr>
          <p:nvPr>
            <p:ph sz="half" idx="2"/>
          </p:nvPr>
        </p:nvGraphicFramePr>
        <p:xfrm>
          <a:off x="574675" y="2668588"/>
          <a:ext cx="8178800" cy="2814638"/>
        </p:xfrm>
        <a:graphic>
          <a:graphicData uri="http://schemas.openxmlformats.org/drawingml/2006/table">
            <a:tbl>
              <a:tblPr/>
              <a:tblGrid>
                <a:gridCol w="2725738"/>
                <a:gridCol w="2727325"/>
                <a:gridCol w="2725737"/>
              </a:tblGrid>
              <a:tr h="5143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互斥方案</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初始投资</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每年净收入</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58837">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P. </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仍然保持为停车场，但进行更新改造</a:t>
                      </a: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200,000</a:t>
                      </a:r>
                      <a:endParaRPr kumimoji="0" lang="en-US" altLang="zh-CN"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22,000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B1. </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建一层的办公楼</a:t>
                      </a: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4,000,000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600,000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9425">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B2. </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建二层的办公楼</a:t>
                      </a: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5,550,000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720,000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101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B3. </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建三层的办公楼</a:t>
                      </a: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7,500,000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a:t>
                      </a:r>
                      <a:r>
                        <a:rPr kumimoji="0" lang="en-US" altLang="zh-CN"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rPr>
                        <a:t>960,000</a:t>
                      </a:r>
                      <a:endParaRPr kumimoji="0" lang="en-US" altLang="zh-CN" sz="2200" b="1" i="0" u="none" strike="noStrike" cap="none" normalizeH="0" baseline="0" dirty="0" smtClean="0">
                        <a:ln>
                          <a:noFill/>
                        </a:ln>
                        <a:solidFill>
                          <a:srgbClr val="000000"/>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30115">
                                            <p:txEl>
                                              <p:pRg st="0" end="0"/>
                                            </p:txEl>
                                          </p:spTgt>
                                        </p:tgtEl>
                                        <p:attrNameLst>
                                          <p:attrName>style.visibility</p:attrName>
                                        </p:attrNameLst>
                                      </p:cBhvr>
                                      <p:to>
                                        <p:strVal val="visible"/>
                                      </p:to>
                                    </p:set>
                                    <p:animEffect transition="in" filter="checkerboard(across)">
                                      <p:cBhvr>
                                        <p:cTn id="7" dur="500"/>
                                        <p:tgtEl>
                                          <p:spTgt spid="730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30184"/>
                                        </p:tgtEl>
                                        <p:attrNameLst>
                                          <p:attrName>style.visibility</p:attrName>
                                        </p:attrNameLst>
                                      </p:cBhvr>
                                      <p:to>
                                        <p:strVal val="visible"/>
                                      </p:to>
                                    </p:set>
                                    <p:animEffect transition="in" filter="checkerboard(across)">
                                      <p:cBhvr>
                                        <p:cTn id="12" dur="500"/>
                                        <p:tgtEl>
                                          <p:spTgt spid="73018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30115">
                                            <p:txEl>
                                              <p:pRg st="8" end="8"/>
                                            </p:txEl>
                                          </p:spTgt>
                                        </p:tgtEl>
                                        <p:attrNameLst>
                                          <p:attrName>style.visibility</p:attrName>
                                        </p:attrNameLst>
                                      </p:cBhvr>
                                      <p:to>
                                        <p:strVal val="visible"/>
                                      </p:to>
                                    </p:set>
                                    <p:animEffect transition="in" filter="checkerboard(across)">
                                      <p:cBhvr>
                                        <p:cTn id="17" dur="500"/>
                                        <p:tgtEl>
                                          <p:spTgt spid="73011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52400" y="165100"/>
            <a:ext cx="8178800" cy="609600"/>
          </a:xfrm>
        </p:spPr>
        <p:txBody>
          <a:bodyPr/>
          <a:lstStyle/>
          <a:p>
            <a:pPr eaLnBrk="1" hangingPunct="1"/>
            <a:r>
              <a:rPr lang="zh-CN" altLang="en-US" smtClean="0"/>
              <a:t>方法一：从</a:t>
            </a:r>
            <a:r>
              <a:rPr lang="en-US" altLang="zh-CN" smtClean="0"/>
              <a:t>NPV</a:t>
            </a:r>
            <a:r>
              <a:rPr lang="zh-CN" altLang="en-US" smtClean="0"/>
              <a:t>角度分析</a:t>
            </a:r>
            <a:endParaRPr lang="zh-CN" altLang="en-US" smtClean="0"/>
          </a:p>
        </p:txBody>
      </p:sp>
      <p:sp>
        <p:nvSpPr>
          <p:cNvPr id="733187" name="Rectangle 3"/>
          <p:cNvSpPr>
            <a:spLocks noGrp="1" noChangeArrowheads="1"/>
          </p:cNvSpPr>
          <p:nvPr>
            <p:ph type="body" idx="1"/>
          </p:nvPr>
        </p:nvSpPr>
        <p:spPr/>
        <p:txBody>
          <a:bodyPr/>
          <a:lstStyle/>
          <a:p>
            <a:pPr eaLnBrk="1" hangingPunct="1"/>
            <a:r>
              <a:rPr lang="en-US" altLang="zh-CN" sz="2800" smtClean="0"/>
              <a:t>NPV(P)=-200,000+22,000(P/A,10%,15)+100,000(P/F,10%,15)</a:t>
            </a:r>
            <a:endParaRPr lang="en-US" altLang="zh-CN" sz="2800" smtClean="0"/>
          </a:p>
          <a:p>
            <a:pPr eaLnBrk="1" hangingPunct="1">
              <a:buFontTx/>
              <a:buNone/>
            </a:pPr>
            <a:r>
              <a:rPr lang="en-US" altLang="zh-CN" sz="2800" smtClean="0"/>
              <a:t>                 =-</a:t>
            </a:r>
            <a:r>
              <a:rPr lang="zh-CN" altLang="en-US" sz="2800" smtClean="0"/>
              <a:t>￥</a:t>
            </a:r>
            <a:r>
              <a:rPr lang="en-US" altLang="zh-CN" sz="2800" smtClean="0"/>
              <a:t>8,726</a:t>
            </a:r>
            <a:endParaRPr lang="en-US" altLang="zh-CN" sz="2800" smtClean="0"/>
          </a:p>
          <a:p>
            <a:pPr eaLnBrk="1" hangingPunct="1"/>
            <a:r>
              <a:rPr lang="en-US" altLang="zh-CN" sz="2800" smtClean="0"/>
              <a:t>NPV(B1)=</a:t>
            </a:r>
            <a:r>
              <a:rPr lang="zh-CN" altLang="en-US" sz="2800" smtClean="0"/>
              <a:t>￥</a:t>
            </a:r>
            <a:r>
              <a:rPr lang="en-US" altLang="zh-CN" sz="2800" smtClean="0"/>
              <a:t>1,042,460</a:t>
            </a:r>
            <a:endParaRPr lang="en-US" altLang="zh-CN" sz="2800" smtClean="0"/>
          </a:p>
          <a:p>
            <a:pPr eaLnBrk="1" hangingPunct="1"/>
            <a:r>
              <a:rPr lang="en-US" altLang="zh-CN" sz="2800" smtClean="0"/>
              <a:t>NPV(B2)=</a:t>
            </a:r>
            <a:r>
              <a:rPr lang="zh-CN" altLang="en-US" sz="2800" smtClean="0"/>
              <a:t>￥</a:t>
            </a:r>
            <a:r>
              <a:rPr lang="en-US" altLang="zh-CN" sz="2800" smtClean="0"/>
              <a:t>590,727</a:t>
            </a:r>
            <a:endParaRPr lang="en-US" altLang="zh-CN" sz="2800" smtClean="0"/>
          </a:p>
          <a:p>
            <a:pPr eaLnBrk="1" hangingPunct="1"/>
            <a:r>
              <a:rPr lang="en-US" altLang="zh-CN" sz="2800" smtClean="0"/>
              <a:t>NPV(B3)=</a:t>
            </a:r>
            <a:r>
              <a:rPr lang="zh-CN" altLang="en-US" sz="2800" smtClean="0"/>
              <a:t>￥</a:t>
            </a:r>
            <a:r>
              <a:rPr lang="en-US" altLang="zh-CN" sz="2800" smtClean="0"/>
              <a:t>699,606</a:t>
            </a:r>
            <a:endParaRPr lang="en-US" altLang="zh-CN" sz="2800" smtClean="0"/>
          </a:p>
          <a:p>
            <a:pPr eaLnBrk="1" hangingPunct="1"/>
            <a:endParaRPr lang="en-US" altLang="zh-CN" sz="2800" smtClean="0"/>
          </a:p>
          <a:p>
            <a:pPr eaLnBrk="1" hangingPunct="1"/>
            <a:r>
              <a:rPr lang="en-US" altLang="zh-CN" smtClean="0"/>
              <a:t>P</a:t>
            </a:r>
            <a:r>
              <a:rPr lang="zh-CN" altLang="en-US" smtClean="0"/>
              <a:t>方案不可行。</a:t>
            </a:r>
            <a:endParaRPr lang="zh-CN" altLang="en-US" smtClean="0"/>
          </a:p>
          <a:p>
            <a:pPr eaLnBrk="1" hangingPunct="1"/>
            <a:r>
              <a:rPr lang="zh-CN" altLang="en-US" smtClean="0"/>
              <a:t>在建办公楼的三个方案中：</a:t>
            </a:r>
            <a:r>
              <a:rPr lang="en-US" altLang="zh-CN" smtClean="0"/>
              <a:t>NPV(B1)&gt;NPV(B3)&gt;NPV(B2)</a:t>
            </a:r>
            <a:endParaRPr lang="en-US" altLang="zh-CN" smtClean="0"/>
          </a:p>
          <a:p>
            <a:pPr eaLnBrk="1" hangingPunct="1"/>
            <a:r>
              <a:rPr lang="zh-CN" altLang="en-US" smtClean="0"/>
              <a:t>因此，建一层的办公楼是最优方案。</a:t>
            </a:r>
            <a:endParaRPr lang="zh-CN" altLang="en-US" smtClean="0"/>
          </a:p>
          <a:p>
            <a:pPr eaLnBrk="1" hangingPunct="1"/>
            <a:endParaRPr lang="en-US" altLang="zh-CN" sz="360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33187">
                                            <p:txEl>
                                              <p:pRg st="0" end="0"/>
                                            </p:txEl>
                                          </p:spTgt>
                                        </p:tgtEl>
                                        <p:attrNameLst>
                                          <p:attrName>style.visibility</p:attrName>
                                        </p:attrNameLst>
                                      </p:cBhvr>
                                      <p:to>
                                        <p:strVal val="visible"/>
                                      </p:to>
                                    </p:set>
                                    <p:animEffect transition="in" filter="checkerboard(across)">
                                      <p:cBhvr>
                                        <p:cTn id="7" dur="500"/>
                                        <p:tgtEl>
                                          <p:spTgt spid="733187">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33187">
                                            <p:txEl>
                                              <p:pRg st="1" end="1"/>
                                            </p:txEl>
                                          </p:spTgt>
                                        </p:tgtEl>
                                        <p:attrNameLst>
                                          <p:attrName>style.visibility</p:attrName>
                                        </p:attrNameLst>
                                      </p:cBhvr>
                                      <p:to>
                                        <p:strVal val="visible"/>
                                      </p:to>
                                    </p:set>
                                    <p:animEffect transition="in" filter="checkerboard(across)">
                                      <p:cBhvr>
                                        <p:cTn id="10" dur="500"/>
                                        <p:tgtEl>
                                          <p:spTgt spid="73318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733187">
                                            <p:txEl>
                                              <p:pRg st="2" end="2"/>
                                            </p:txEl>
                                          </p:spTgt>
                                        </p:tgtEl>
                                        <p:attrNameLst>
                                          <p:attrName>style.visibility</p:attrName>
                                        </p:attrNameLst>
                                      </p:cBhvr>
                                      <p:to>
                                        <p:strVal val="visible"/>
                                      </p:to>
                                    </p:set>
                                    <p:animEffect transition="in" filter="checkerboard(across)">
                                      <p:cBhvr>
                                        <p:cTn id="15" dur="500"/>
                                        <p:tgtEl>
                                          <p:spTgt spid="733187">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733187">
                                            <p:txEl>
                                              <p:pRg st="3" end="3"/>
                                            </p:txEl>
                                          </p:spTgt>
                                        </p:tgtEl>
                                        <p:attrNameLst>
                                          <p:attrName>style.visibility</p:attrName>
                                        </p:attrNameLst>
                                      </p:cBhvr>
                                      <p:to>
                                        <p:strVal val="visible"/>
                                      </p:to>
                                    </p:set>
                                    <p:animEffect transition="in" filter="checkerboard(across)">
                                      <p:cBhvr>
                                        <p:cTn id="18" dur="500"/>
                                        <p:tgtEl>
                                          <p:spTgt spid="733187">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733187">
                                            <p:txEl>
                                              <p:pRg st="4" end="4"/>
                                            </p:txEl>
                                          </p:spTgt>
                                        </p:tgtEl>
                                        <p:attrNameLst>
                                          <p:attrName>style.visibility</p:attrName>
                                        </p:attrNameLst>
                                      </p:cBhvr>
                                      <p:to>
                                        <p:strVal val="visible"/>
                                      </p:to>
                                    </p:set>
                                    <p:animEffect transition="in" filter="checkerboard(across)">
                                      <p:cBhvr>
                                        <p:cTn id="21" dur="500"/>
                                        <p:tgtEl>
                                          <p:spTgt spid="73318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733187">
                                            <p:txEl>
                                              <p:pRg st="6" end="6"/>
                                            </p:txEl>
                                          </p:spTgt>
                                        </p:tgtEl>
                                        <p:attrNameLst>
                                          <p:attrName>style.visibility</p:attrName>
                                        </p:attrNameLst>
                                      </p:cBhvr>
                                      <p:to>
                                        <p:strVal val="visible"/>
                                      </p:to>
                                    </p:set>
                                    <p:animEffect transition="in" filter="checkerboard(across)">
                                      <p:cBhvr>
                                        <p:cTn id="26" dur="500"/>
                                        <p:tgtEl>
                                          <p:spTgt spid="73318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733187">
                                            <p:txEl>
                                              <p:pRg st="7" end="7"/>
                                            </p:txEl>
                                          </p:spTgt>
                                        </p:tgtEl>
                                        <p:attrNameLst>
                                          <p:attrName>style.visibility</p:attrName>
                                        </p:attrNameLst>
                                      </p:cBhvr>
                                      <p:to>
                                        <p:strVal val="visible"/>
                                      </p:to>
                                    </p:set>
                                    <p:animEffect transition="in" filter="checkerboard(across)">
                                      <p:cBhvr>
                                        <p:cTn id="31" dur="500"/>
                                        <p:tgtEl>
                                          <p:spTgt spid="733187">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733187">
                                            <p:txEl>
                                              <p:pRg st="8" end="8"/>
                                            </p:txEl>
                                          </p:spTgt>
                                        </p:tgtEl>
                                        <p:attrNameLst>
                                          <p:attrName>style.visibility</p:attrName>
                                        </p:attrNameLst>
                                      </p:cBhvr>
                                      <p:to>
                                        <p:strVal val="visible"/>
                                      </p:to>
                                    </p:set>
                                    <p:animEffect transition="in" filter="checkerboard(across)">
                                      <p:cBhvr>
                                        <p:cTn id="36" dur="500"/>
                                        <p:tgtEl>
                                          <p:spTgt spid="7331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52400" y="165100"/>
            <a:ext cx="8178800" cy="609600"/>
          </a:xfrm>
        </p:spPr>
        <p:txBody>
          <a:bodyPr/>
          <a:lstStyle/>
          <a:p>
            <a:pPr eaLnBrk="1" hangingPunct="1"/>
            <a:r>
              <a:rPr lang="zh-CN" altLang="en-US" smtClean="0"/>
              <a:t>方法二：从</a:t>
            </a:r>
            <a:r>
              <a:rPr lang="en-US" altLang="zh-CN" smtClean="0"/>
              <a:t>IRR</a:t>
            </a:r>
            <a:r>
              <a:rPr lang="zh-CN" altLang="en-US" smtClean="0"/>
              <a:t>角度分析</a:t>
            </a:r>
            <a:endParaRPr lang="zh-CN" altLang="en-US" smtClean="0"/>
          </a:p>
        </p:txBody>
      </p:sp>
      <p:sp>
        <p:nvSpPr>
          <p:cNvPr id="735235" name="Rectangle 3"/>
          <p:cNvSpPr>
            <a:spLocks noGrp="1" noChangeArrowheads="1"/>
          </p:cNvSpPr>
          <p:nvPr>
            <p:ph type="body" sz="half" idx="1"/>
          </p:nvPr>
        </p:nvSpPr>
        <p:spPr>
          <a:xfrm>
            <a:off x="0" y="977900"/>
            <a:ext cx="9144000" cy="5880100"/>
          </a:xfrm>
        </p:spPr>
        <p:txBody>
          <a:bodyPr/>
          <a:lstStyle/>
          <a:p>
            <a:pPr eaLnBrk="1" hangingPunct="1"/>
            <a:r>
              <a:rPr lang="en-US" altLang="zh-CN" sz="2400" smtClean="0"/>
              <a:t>1. </a:t>
            </a:r>
            <a:r>
              <a:rPr lang="zh-CN" altLang="en-US" sz="2400" smtClean="0"/>
              <a:t>绝对效果检验</a:t>
            </a:r>
            <a:endParaRPr lang="zh-CN" altLang="en-US" sz="2400" smtClean="0"/>
          </a:p>
          <a:p>
            <a:pPr eaLnBrk="1" hangingPunct="1"/>
            <a:endParaRPr lang="zh-CN" altLang="en-US" sz="2800" smtClean="0"/>
          </a:p>
          <a:p>
            <a:pPr eaLnBrk="1" hangingPunct="1"/>
            <a:endParaRPr lang="zh-CN" altLang="en-US" sz="2800" smtClean="0"/>
          </a:p>
          <a:p>
            <a:pPr eaLnBrk="1" hangingPunct="1"/>
            <a:endParaRPr lang="zh-CN" altLang="en-US" sz="2800" smtClean="0"/>
          </a:p>
          <a:p>
            <a:pPr eaLnBrk="1" hangingPunct="1"/>
            <a:endParaRPr lang="en-US" altLang="zh-CN" sz="2800" smtClean="0"/>
          </a:p>
          <a:p>
            <a:pPr eaLnBrk="1" hangingPunct="1"/>
            <a:r>
              <a:rPr lang="en-US" altLang="zh-CN" sz="2400" smtClean="0"/>
              <a:t>2. </a:t>
            </a:r>
            <a:r>
              <a:rPr lang="zh-CN" altLang="en-US" sz="2400" smtClean="0"/>
              <a:t>相对效果检验</a:t>
            </a:r>
            <a:endParaRPr lang="zh-CN" altLang="en-US" sz="2400" smtClean="0"/>
          </a:p>
        </p:txBody>
      </p:sp>
      <p:graphicFrame>
        <p:nvGraphicFramePr>
          <p:cNvPr id="735441" name="Group 209"/>
          <p:cNvGraphicFramePr>
            <a:graphicFrameLocks noGrp="1"/>
          </p:cNvGraphicFramePr>
          <p:nvPr>
            <p:ph sz="quarter" idx="2"/>
          </p:nvPr>
        </p:nvGraphicFramePr>
        <p:xfrm>
          <a:off x="152400" y="1511300"/>
          <a:ext cx="8620125" cy="1846264"/>
        </p:xfrm>
        <a:graphic>
          <a:graphicData uri="http://schemas.openxmlformats.org/drawingml/2006/table">
            <a:tbl>
              <a:tblPr/>
              <a:tblGrid>
                <a:gridCol w="1512888"/>
                <a:gridCol w="1935162"/>
                <a:gridCol w="1720850"/>
                <a:gridCol w="1814513"/>
                <a:gridCol w="1636712"/>
              </a:tblGrid>
              <a:tr h="365886">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P</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B1</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B2</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B3</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8272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初始投资</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4,000,000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5,550,000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7,500,000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6">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每年净收入</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22,000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600,000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720,000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6">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残值</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2,000,000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2,775,000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3,750,000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886">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IRR</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9.3%(</a:t>
                      </a: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不可行）</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13.8%</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11.6%</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11.4%</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36" marB="457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735449" name="Group 217"/>
          <p:cNvGraphicFramePr>
            <a:graphicFrameLocks noGrp="1"/>
          </p:cNvGraphicFramePr>
          <p:nvPr>
            <p:ph sz="quarter" idx="3"/>
          </p:nvPr>
        </p:nvGraphicFramePr>
        <p:xfrm>
          <a:off x="152400" y="4002088"/>
          <a:ext cx="8620125" cy="2468592"/>
        </p:xfrm>
        <a:graphic>
          <a:graphicData uri="http://schemas.openxmlformats.org/drawingml/2006/table">
            <a:tbl>
              <a:tblPr/>
              <a:tblGrid>
                <a:gridCol w="1744663"/>
                <a:gridCol w="2286000"/>
                <a:gridCol w="2570162"/>
                <a:gridCol w="2019300"/>
              </a:tblGrid>
              <a:tr h="36570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B1</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 (B2-B1)</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 (B3-B1)</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△初始投资</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4,000,000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1,550,000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3,500,000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△每年净收入</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600,000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120,000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360,000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△残值</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2,000,000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775,000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1,750,000</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08">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 IRR</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13.8%</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5.5%</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8.5%</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40023">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决策</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接受建一层办公楼</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拒绝建二层，仍建一层</a:t>
                      </a:r>
                      <a:endPar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拒绝建三层，仍建一层</a:t>
                      </a:r>
                      <a:endParaRPr kumimoji="0" lang="en-US" altLang="zh-CN" sz="1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endParaRPr>
                    </a:p>
                  </a:txBody>
                  <a:tcPr marT="45696" marB="4569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5235">
                                            <p:txEl>
                                              <p:pRg st="5" end="5"/>
                                            </p:txEl>
                                          </p:spTgt>
                                        </p:tgtEl>
                                        <p:attrNameLst>
                                          <p:attrName>style.visibility</p:attrName>
                                        </p:attrNameLst>
                                      </p:cBhvr>
                                      <p:to>
                                        <p:strVal val="visible"/>
                                      </p:to>
                                    </p:set>
                                    <p:animEffect transition="in" filter="blinds(horizontal)">
                                      <p:cBhvr>
                                        <p:cTn id="7" dur="500"/>
                                        <p:tgtEl>
                                          <p:spTgt spid="735235">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5449"/>
                                        </p:tgtEl>
                                        <p:attrNameLst>
                                          <p:attrName>style.visibility</p:attrName>
                                        </p:attrNameLst>
                                      </p:cBhvr>
                                      <p:to>
                                        <p:strVal val="visible"/>
                                      </p:to>
                                    </p:set>
                                    <p:animEffect transition="in" filter="blinds(horizontal)">
                                      <p:cBhvr>
                                        <p:cTn id="12" dur="500"/>
                                        <p:tgtEl>
                                          <p:spTgt spid="735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152400" y="165100"/>
            <a:ext cx="8178800" cy="609600"/>
          </a:xfrm>
        </p:spPr>
        <p:txBody>
          <a:bodyPr/>
          <a:lstStyle/>
          <a:p>
            <a:pPr eaLnBrk="1" hangingPunct="1"/>
            <a:r>
              <a:rPr lang="zh-CN" altLang="en-US" smtClean="0"/>
              <a:t>其他的互斥方案评价方法</a:t>
            </a:r>
            <a:endParaRPr lang="zh-CN" altLang="en-US" smtClean="0"/>
          </a:p>
        </p:txBody>
      </p:sp>
      <p:sp>
        <p:nvSpPr>
          <p:cNvPr id="663555" name="Rectangle 3"/>
          <p:cNvSpPr>
            <a:spLocks noGrp="1" noChangeArrowheads="1"/>
          </p:cNvSpPr>
          <p:nvPr>
            <p:ph type="body" idx="1"/>
          </p:nvPr>
        </p:nvSpPr>
        <p:spPr/>
        <p:txBody>
          <a:bodyPr/>
          <a:lstStyle/>
          <a:p>
            <a:pPr eaLnBrk="1" hangingPunct="1"/>
            <a:r>
              <a:rPr lang="en-US" altLang="zh-CN" smtClean="0"/>
              <a:t>3. </a:t>
            </a:r>
            <a:r>
              <a:rPr lang="zh-CN" altLang="en-US" smtClean="0"/>
              <a:t>净年值</a:t>
            </a:r>
            <a:r>
              <a:rPr lang="en-US" altLang="zh-CN" smtClean="0"/>
              <a:t>(NAV)</a:t>
            </a:r>
            <a:r>
              <a:rPr lang="zh-CN" altLang="en-US" smtClean="0"/>
              <a:t>法</a:t>
            </a:r>
            <a:endParaRPr lang="zh-CN" altLang="en-US" smtClean="0"/>
          </a:p>
          <a:p>
            <a:pPr lvl="1" eaLnBrk="1" hangingPunct="1"/>
            <a:r>
              <a:rPr lang="zh-CN" altLang="en-US" smtClean="0"/>
              <a:t>净年值评价与净现值评价是等价的。</a:t>
            </a:r>
            <a:endParaRPr lang="en-US" altLang="zh-CN" smtClean="0"/>
          </a:p>
          <a:p>
            <a:pPr eaLnBrk="1" hangingPunct="1"/>
            <a:endParaRPr lang="en-US" altLang="zh-CN" smtClean="0"/>
          </a:p>
          <a:p>
            <a:pPr eaLnBrk="1" hangingPunct="1"/>
            <a:r>
              <a:rPr lang="en-US" altLang="zh-CN" smtClean="0"/>
              <a:t>4. </a:t>
            </a:r>
            <a:r>
              <a:rPr lang="zh-CN" altLang="en-US" smtClean="0"/>
              <a:t>净现值率法</a:t>
            </a:r>
            <a:endParaRPr lang="zh-CN" altLang="en-US" smtClean="0"/>
          </a:p>
          <a:p>
            <a:pPr lvl="1" eaLnBrk="1" hangingPunct="1"/>
            <a:r>
              <a:rPr lang="zh-CN" altLang="en-US" smtClean="0"/>
              <a:t>当资金无限制时，用净现值</a:t>
            </a:r>
            <a:r>
              <a:rPr lang="en-US" altLang="zh-CN" smtClean="0"/>
              <a:t>NPV</a:t>
            </a:r>
            <a:r>
              <a:rPr lang="zh-CN" altLang="en-US" smtClean="0"/>
              <a:t>法评价；</a:t>
            </a:r>
            <a:endParaRPr lang="zh-CN" altLang="en-US" smtClean="0"/>
          </a:p>
          <a:p>
            <a:pPr lvl="1" eaLnBrk="1" hangingPunct="1"/>
            <a:r>
              <a:rPr lang="zh-CN" altLang="en-US" smtClean="0"/>
              <a:t>当资金有限制时，可考虑用净现值率</a:t>
            </a:r>
            <a:r>
              <a:rPr lang="en-US" altLang="zh-CN" smtClean="0"/>
              <a:t>NPVR</a:t>
            </a:r>
            <a:r>
              <a:rPr lang="zh-CN" altLang="en-US" smtClean="0"/>
              <a:t>进行辅助评价。</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3555">
                                            <p:txEl>
                                              <p:pRg st="0" end="0"/>
                                            </p:txEl>
                                          </p:spTgt>
                                        </p:tgtEl>
                                        <p:attrNameLst>
                                          <p:attrName>style.visibility</p:attrName>
                                        </p:attrNameLst>
                                      </p:cBhvr>
                                      <p:to>
                                        <p:strVal val="visible"/>
                                      </p:to>
                                    </p:set>
                                    <p:animEffect transition="in" filter="checkerboard(across)">
                                      <p:cBhvr>
                                        <p:cTn id="7" dur="500"/>
                                        <p:tgtEl>
                                          <p:spTgt spid="663555">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663555">
                                            <p:txEl>
                                              <p:pRg st="1" end="1"/>
                                            </p:txEl>
                                          </p:spTgt>
                                        </p:tgtEl>
                                        <p:attrNameLst>
                                          <p:attrName>style.visibility</p:attrName>
                                        </p:attrNameLst>
                                      </p:cBhvr>
                                      <p:to>
                                        <p:strVal val="visible"/>
                                      </p:to>
                                    </p:set>
                                    <p:animEffect transition="in" filter="checkerboard(across)">
                                      <p:cBhvr>
                                        <p:cTn id="10" dur="500"/>
                                        <p:tgtEl>
                                          <p:spTgt spid="66355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663555">
                                            <p:txEl>
                                              <p:pRg st="3" end="3"/>
                                            </p:txEl>
                                          </p:spTgt>
                                        </p:tgtEl>
                                        <p:attrNameLst>
                                          <p:attrName>style.visibility</p:attrName>
                                        </p:attrNameLst>
                                      </p:cBhvr>
                                      <p:to>
                                        <p:strVal val="visible"/>
                                      </p:to>
                                    </p:set>
                                    <p:animEffect transition="in" filter="checkerboard(across)">
                                      <p:cBhvr>
                                        <p:cTn id="15" dur="500"/>
                                        <p:tgtEl>
                                          <p:spTgt spid="663555">
                                            <p:txEl>
                                              <p:pRg st="3" end="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63555">
                                            <p:txEl>
                                              <p:pRg st="4" end="4"/>
                                            </p:txEl>
                                          </p:spTgt>
                                        </p:tgtEl>
                                        <p:attrNameLst>
                                          <p:attrName>style.visibility</p:attrName>
                                        </p:attrNameLst>
                                      </p:cBhvr>
                                      <p:to>
                                        <p:strVal val="visible"/>
                                      </p:to>
                                    </p:set>
                                    <p:animEffect transition="in" filter="checkerboard(across)">
                                      <p:cBhvr>
                                        <p:cTn id="18" dur="500"/>
                                        <p:tgtEl>
                                          <p:spTgt spid="663555">
                                            <p:txEl>
                                              <p:pRg st="4" end="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663555">
                                            <p:txEl>
                                              <p:pRg st="5" end="5"/>
                                            </p:txEl>
                                          </p:spTgt>
                                        </p:tgtEl>
                                        <p:attrNameLst>
                                          <p:attrName>style.visibility</p:attrName>
                                        </p:attrNameLst>
                                      </p:cBhvr>
                                      <p:to>
                                        <p:strVal val="visible"/>
                                      </p:to>
                                    </p:set>
                                    <p:animEffect transition="in" filter="checkerboard(across)">
                                      <p:cBhvr>
                                        <p:cTn id="21" dur="500"/>
                                        <p:tgtEl>
                                          <p:spTgt spid="663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12700"/>
            <a:ext cx="8966200" cy="685800"/>
          </a:xfrm>
        </p:spPr>
        <p:txBody>
          <a:bodyPr/>
          <a:lstStyle/>
          <a:p>
            <a:pPr eaLnBrk="1" hangingPunct="1"/>
            <a:r>
              <a:rPr lang="zh-CN" altLang="en-US" smtClean="0"/>
              <a:t>寿命期不同的互斥方案经济效果评价</a:t>
            </a:r>
            <a:endParaRPr lang="zh-CN" altLang="en-US" smtClean="0"/>
          </a:p>
        </p:txBody>
      </p:sp>
      <p:sp>
        <p:nvSpPr>
          <p:cNvPr id="664579" name="Rectangle 3"/>
          <p:cNvSpPr>
            <a:spLocks noGrp="1" noChangeArrowheads="1"/>
          </p:cNvSpPr>
          <p:nvPr>
            <p:ph type="body" idx="1"/>
          </p:nvPr>
        </p:nvSpPr>
        <p:spPr>
          <a:xfrm>
            <a:off x="0" y="1193800"/>
            <a:ext cx="9144000" cy="5664200"/>
          </a:xfrm>
        </p:spPr>
        <p:txBody>
          <a:bodyPr/>
          <a:lstStyle/>
          <a:p>
            <a:pPr eaLnBrk="1" hangingPunct="1"/>
            <a:r>
              <a:rPr lang="en-US" altLang="zh-CN" smtClean="0"/>
              <a:t>1. </a:t>
            </a:r>
            <a:r>
              <a:rPr lang="zh-CN" altLang="en-US" smtClean="0"/>
              <a:t>直接应用净年值</a:t>
            </a:r>
            <a:r>
              <a:rPr lang="en-US" altLang="zh-CN" smtClean="0"/>
              <a:t>(NAV)</a:t>
            </a:r>
            <a:r>
              <a:rPr lang="zh-CN" altLang="en-US" smtClean="0"/>
              <a:t>法</a:t>
            </a:r>
            <a:endParaRPr lang="zh-CN" altLang="en-US" smtClean="0"/>
          </a:p>
          <a:p>
            <a:pPr eaLnBrk="1" hangingPunct="1"/>
            <a:r>
              <a:rPr lang="en-US" altLang="zh-CN" smtClean="0"/>
              <a:t>2. </a:t>
            </a:r>
            <a:r>
              <a:rPr lang="zh-CN" altLang="en-US" smtClean="0"/>
              <a:t>净现值</a:t>
            </a:r>
            <a:r>
              <a:rPr lang="en-US" altLang="zh-CN" smtClean="0"/>
              <a:t>(NPV)</a:t>
            </a:r>
            <a:r>
              <a:rPr lang="zh-CN" altLang="en-US" smtClean="0"/>
              <a:t>法</a:t>
            </a:r>
            <a:endParaRPr lang="zh-CN" altLang="en-US" smtClean="0"/>
          </a:p>
          <a:p>
            <a:pPr lvl="1" eaLnBrk="1" hangingPunct="1"/>
            <a:r>
              <a:rPr lang="zh-CN" altLang="en-US" smtClean="0"/>
              <a:t>最小公倍数法</a:t>
            </a:r>
            <a:endParaRPr lang="zh-CN" altLang="en-US" smtClean="0"/>
          </a:p>
          <a:p>
            <a:pPr lvl="2" eaLnBrk="1" hangingPunct="1"/>
            <a:r>
              <a:rPr lang="zh-CN" altLang="en-US" smtClean="0"/>
              <a:t>假设方案可以重复实施若干次，计算期取所有互斥方案的寿命期的最小公倍数</a:t>
            </a:r>
            <a:endParaRPr lang="zh-CN" altLang="en-US" smtClean="0"/>
          </a:p>
          <a:p>
            <a:pPr eaLnBrk="1" hangingPunct="1"/>
            <a:r>
              <a:rPr lang="en-US" altLang="zh-CN" smtClean="0"/>
              <a:t>3. </a:t>
            </a:r>
            <a:r>
              <a:rPr lang="zh-CN" altLang="en-US" smtClean="0"/>
              <a:t>增量内部收益率</a:t>
            </a:r>
            <a:r>
              <a:rPr lang="en-US" altLang="zh-CN" smtClean="0"/>
              <a:t>(</a:t>
            </a:r>
            <a:r>
              <a:rPr lang="en-US" altLang="en-US" smtClean="0"/>
              <a:t>△</a:t>
            </a:r>
            <a:r>
              <a:rPr lang="en-US" altLang="zh-CN" smtClean="0"/>
              <a:t>IRR)</a:t>
            </a:r>
            <a:r>
              <a:rPr lang="zh-CN" altLang="en-US" smtClean="0"/>
              <a:t>法</a:t>
            </a:r>
            <a:endParaRPr lang="zh-CN" altLang="en-US" smtClean="0"/>
          </a:p>
          <a:p>
            <a:pPr lvl="1" eaLnBrk="1" hangingPunct="1"/>
            <a:r>
              <a:rPr lang="zh-CN" altLang="en-US" smtClean="0"/>
              <a:t>令两方案净年值相等，求取</a:t>
            </a:r>
            <a:r>
              <a:rPr lang="en-US" altLang="en-US" smtClean="0"/>
              <a:t>△</a:t>
            </a:r>
            <a:r>
              <a:rPr lang="en-US" altLang="zh-CN" smtClean="0"/>
              <a:t>IRR</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4579">
                                            <p:txEl>
                                              <p:pRg st="0" end="0"/>
                                            </p:txEl>
                                          </p:spTgt>
                                        </p:tgtEl>
                                        <p:attrNameLst>
                                          <p:attrName>style.visibility</p:attrName>
                                        </p:attrNameLst>
                                      </p:cBhvr>
                                      <p:to>
                                        <p:strVal val="visible"/>
                                      </p:to>
                                    </p:set>
                                    <p:animEffect transition="in" filter="checkerboard(across)">
                                      <p:cBhvr>
                                        <p:cTn id="7" dur="500"/>
                                        <p:tgtEl>
                                          <p:spTgt spid="66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64579">
                                            <p:txEl>
                                              <p:pRg st="1" end="1"/>
                                            </p:txEl>
                                          </p:spTgt>
                                        </p:tgtEl>
                                        <p:attrNameLst>
                                          <p:attrName>style.visibility</p:attrName>
                                        </p:attrNameLst>
                                      </p:cBhvr>
                                      <p:to>
                                        <p:strVal val="visible"/>
                                      </p:to>
                                    </p:set>
                                    <p:animEffect transition="in" filter="checkerboard(across)">
                                      <p:cBhvr>
                                        <p:cTn id="12" dur="500"/>
                                        <p:tgtEl>
                                          <p:spTgt spid="664579">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664579">
                                            <p:txEl>
                                              <p:pRg st="2" end="2"/>
                                            </p:txEl>
                                          </p:spTgt>
                                        </p:tgtEl>
                                        <p:attrNameLst>
                                          <p:attrName>style.visibility</p:attrName>
                                        </p:attrNameLst>
                                      </p:cBhvr>
                                      <p:to>
                                        <p:strVal val="visible"/>
                                      </p:to>
                                    </p:set>
                                    <p:animEffect transition="in" filter="checkerboard(across)">
                                      <p:cBhvr>
                                        <p:cTn id="15" dur="500"/>
                                        <p:tgtEl>
                                          <p:spTgt spid="664579">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64579">
                                            <p:txEl>
                                              <p:pRg st="3" end="3"/>
                                            </p:txEl>
                                          </p:spTgt>
                                        </p:tgtEl>
                                        <p:attrNameLst>
                                          <p:attrName>style.visibility</p:attrName>
                                        </p:attrNameLst>
                                      </p:cBhvr>
                                      <p:to>
                                        <p:strVal val="visible"/>
                                      </p:to>
                                    </p:set>
                                    <p:animEffect transition="in" filter="checkerboard(across)">
                                      <p:cBhvr>
                                        <p:cTn id="18" dur="500"/>
                                        <p:tgtEl>
                                          <p:spTgt spid="66457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664579">
                                            <p:txEl>
                                              <p:pRg st="4" end="4"/>
                                            </p:txEl>
                                          </p:spTgt>
                                        </p:tgtEl>
                                        <p:attrNameLst>
                                          <p:attrName>style.visibility</p:attrName>
                                        </p:attrNameLst>
                                      </p:cBhvr>
                                      <p:to>
                                        <p:strVal val="visible"/>
                                      </p:to>
                                    </p:set>
                                    <p:animEffect transition="in" filter="checkerboard(across)">
                                      <p:cBhvr>
                                        <p:cTn id="23" dur="500"/>
                                        <p:tgtEl>
                                          <p:spTgt spid="664579">
                                            <p:txEl>
                                              <p:pRg st="4" end="4"/>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664579">
                                            <p:txEl>
                                              <p:pRg st="5" end="5"/>
                                            </p:txEl>
                                          </p:spTgt>
                                        </p:tgtEl>
                                        <p:attrNameLst>
                                          <p:attrName>style.visibility</p:attrName>
                                        </p:attrNameLst>
                                      </p:cBhvr>
                                      <p:to>
                                        <p:strVal val="visible"/>
                                      </p:to>
                                    </p:set>
                                    <p:animEffect transition="in" filter="checkerboard(across)">
                                      <p:cBhvr>
                                        <p:cTn id="26" dur="500"/>
                                        <p:tgtEl>
                                          <p:spTgt spid="66457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52400" y="165100"/>
            <a:ext cx="8178800" cy="609600"/>
          </a:xfrm>
        </p:spPr>
        <p:txBody>
          <a:bodyPr/>
          <a:lstStyle/>
          <a:p>
            <a:pPr eaLnBrk="1" hangingPunct="1"/>
            <a:r>
              <a:rPr lang="zh-CN" altLang="en-US" smtClean="0"/>
              <a:t>例：寿命期不同的互斥方案评价</a:t>
            </a:r>
            <a:endParaRPr lang="zh-CN" altLang="en-US" smtClean="0"/>
          </a:p>
        </p:txBody>
      </p:sp>
      <p:sp>
        <p:nvSpPr>
          <p:cNvPr id="48131" name="Rectangle 3"/>
          <p:cNvSpPr>
            <a:spLocks noGrp="1" noChangeArrowheads="1"/>
          </p:cNvSpPr>
          <p:nvPr>
            <p:ph type="body" sz="half" idx="1"/>
          </p:nvPr>
        </p:nvSpPr>
        <p:spPr>
          <a:xfrm>
            <a:off x="0" y="977900"/>
            <a:ext cx="8902700" cy="2452688"/>
          </a:xfrm>
        </p:spPr>
        <p:txBody>
          <a:bodyPr/>
          <a:lstStyle/>
          <a:p>
            <a:pPr eaLnBrk="1" hangingPunct="1"/>
            <a:r>
              <a:rPr lang="zh-CN" altLang="en-US" sz="2400" smtClean="0"/>
              <a:t>某印刷厂计划购买一台胶印机。目前有两家供货商报价，需要在其中选择一家。</a:t>
            </a:r>
            <a:r>
              <a:rPr lang="en-US" altLang="zh-CN" sz="2400" smtClean="0"/>
              <a:t>A</a:t>
            </a:r>
            <a:r>
              <a:rPr lang="zh-CN" altLang="en-US" sz="2400" smtClean="0"/>
              <a:t>供货商的胶印机技术更为先进，初始投资大，但生产效率高，且寿命期为</a:t>
            </a:r>
            <a:r>
              <a:rPr lang="en-US" altLang="zh-CN" sz="2400" smtClean="0"/>
              <a:t>5</a:t>
            </a:r>
            <a:r>
              <a:rPr lang="zh-CN" altLang="en-US" sz="2400" smtClean="0"/>
              <a:t>年；</a:t>
            </a:r>
            <a:r>
              <a:rPr lang="en-US" altLang="zh-CN" sz="2400" smtClean="0"/>
              <a:t>B</a:t>
            </a:r>
            <a:r>
              <a:rPr lang="zh-CN" altLang="en-US" sz="2400" smtClean="0"/>
              <a:t>供货商是传统胶印机，初始投资小，但生产效率较低，且寿命期只有</a:t>
            </a:r>
            <a:r>
              <a:rPr lang="en-US" altLang="zh-CN" sz="2400" smtClean="0"/>
              <a:t>3</a:t>
            </a:r>
            <a:r>
              <a:rPr lang="zh-CN" altLang="en-US" sz="2400" smtClean="0"/>
              <a:t>年。</a:t>
            </a:r>
            <a:endParaRPr lang="zh-CN" altLang="en-US" sz="2400" smtClean="0"/>
          </a:p>
          <a:p>
            <a:pPr eaLnBrk="1" hangingPunct="1"/>
            <a:r>
              <a:rPr lang="zh-CN" altLang="en-US" sz="2400" smtClean="0"/>
              <a:t>各自寿命期内的净现金流量如下表所示</a:t>
            </a:r>
            <a:r>
              <a:rPr lang="en-US" altLang="zh-CN" sz="2400" smtClean="0"/>
              <a:t>(</a:t>
            </a:r>
            <a:r>
              <a:rPr lang="zh-CN" altLang="en-US" sz="2400" smtClean="0"/>
              <a:t>单位：万元</a:t>
            </a:r>
            <a:r>
              <a:rPr lang="en-US" altLang="zh-CN" sz="2400" smtClean="0"/>
              <a:t>)</a:t>
            </a:r>
            <a:r>
              <a:rPr lang="zh-CN" altLang="en-US" sz="2400" smtClean="0"/>
              <a:t>，基准收益率为</a:t>
            </a:r>
            <a:r>
              <a:rPr lang="en-US" altLang="zh-CN" sz="2400" smtClean="0"/>
              <a:t>12%</a:t>
            </a:r>
            <a:r>
              <a:rPr lang="zh-CN" altLang="en-US" sz="2400" smtClean="0"/>
              <a:t>。请帮助该印刷厂进行方案选择。</a:t>
            </a:r>
            <a:endParaRPr lang="zh-CN" altLang="en-US" sz="2400" smtClean="0"/>
          </a:p>
        </p:txBody>
      </p:sp>
      <p:graphicFrame>
        <p:nvGraphicFramePr>
          <p:cNvPr id="722013" name="Group 93"/>
          <p:cNvGraphicFramePr>
            <a:graphicFrameLocks noGrp="1"/>
          </p:cNvGraphicFramePr>
          <p:nvPr>
            <p:ph sz="half" idx="2"/>
          </p:nvPr>
        </p:nvGraphicFramePr>
        <p:xfrm>
          <a:off x="282575" y="3673475"/>
          <a:ext cx="8432800" cy="1895476"/>
        </p:xfrm>
        <a:graphic>
          <a:graphicData uri="http://schemas.openxmlformats.org/drawingml/2006/table">
            <a:tbl>
              <a:tblPr/>
              <a:tblGrid>
                <a:gridCol w="974725"/>
                <a:gridCol w="1433513"/>
                <a:gridCol w="1411287"/>
                <a:gridCol w="998538"/>
                <a:gridCol w="1211262"/>
                <a:gridCol w="1196975"/>
                <a:gridCol w="1206500"/>
              </a:tblGrid>
              <a:tr h="935038">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年份</a:t>
                      </a: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初始投资</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r>
                        <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年净收益</a:t>
                      </a: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5</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9425">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96</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81013">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B</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-100</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42</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42</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42</a:t>
                      </a:r>
                      <a:endParaRPr kumimoji="0" lang="en-US" altLang="zh-CN"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2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52400" y="165100"/>
            <a:ext cx="8178800" cy="609600"/>
          </a:xfrm>
        </p:spPr>
        <p:txBody>
          <a:bodyPr/>
          <a:lstStyle/>
          <a:p>
            <a:pPr eaLnBrk="1" hangingPunct="1"/>
            <a:r>
              <a:rPr lang="zh-CN" altLang="en-US" smtClean="0"/>
              <a:t>方法一：净年值法</a:t>
            </a:r>
            <a:endParaRPr lang="zh-CN" altLang="en-US" smtClean="0"/>
          </a:p>
        </p:txBody>
      </p:sp>
      <p:sp>
        <p:nvSpPr>
          <p:cNvPr id="50179" name="Rectangle 3"/>
          <p:cNvSpPr>
            <a:spLocks noGrp="1" noChangeArrowheads="1"/>
          </p:cNvSpPr>
          <p:nvPr>
            <p:ph type="body" idx="1"/>
          </p:nvPr>
        </p:nvSpPr>
        <p:spPr/>
        <p:txBody>
          <a:bodyPr/>
          <a:lstStyle/>
          <a:p>
            <a:pPr eaLnBrk="1" hangingPunct="1">
              <a:lnSpc>
                <a:spcPct val="90000"/>
              </a:lnSpc>
            </a:pPr>
            <a:r>
              <a:rPr lang="en-US" altLang="zh-CN" sz="2800" smtClean="0"/>
              <a:t>NAV</a:t>
            </a:r>
            <a:r>
              <a:rPr lang="en-US" altLang="zh-CN" sz="2800" baseline="-25000" smtClean="0"/>
              <a:t>A</a:t>
            </a:r>
            <a:r>
              <a:rPr lang="en-US" altLang="zh-CN" sz="2800" smtClean="0"/>
              <a:t>=[-300+96(P/A,12%,5)](A/P,12%,5)</a:t>
            </a:r>
            <a:endParaRPr lang="en-US" altLang="zh-CN" sz="2800" smtClean="0"/>
          </a:p>
          <a:p>
            <a:pPr eaLnBrk="1" hangingPunct="1">
              <a:lnSpc>
                <a:spcPct val="90000"/>
              </a:lnSpc>
              <a:buFontTx/>
              <a:buNone/>
            </a:pPr>
            <a:r>
              <a:rPr lang="en-US" altLang="zh-CN" sz="2800" smtClean="0"/>
              <a:t>             =-300×0.27741+96=12.78(</a:t>
            </a:r>
            <a:r>
              <a:rPr lang="zh-CN" altLang="en-US" sz="2800" smtClean="0"/>
              <a:t>万元</a:t>
            </a:r>
            <a:r>
              <a:rPr lang="en-US" altLang="zh-CN" sz="2800" smtClean="0"/>
              <a:t>)</a:t>
            </a:r>
            <a:endParaRPr lang="en-US" altLang="zh-CN" sz="2800" smtClean="0"/>
          </a:p>
          <a:p>
            <a:pPr eaLnBrk="1" hangingPunct="1">
              <a:lnSpc>
                <a:spcPct val="90000"/>
              </a:lnSpc>
            </a:pPr>
            <a:endParaRPr lang="en-US" altLang="zh-CN" sz="2800" smtClean="0"/>
          </a:p>
          <a:p>
            <a:pPr eaLnBrk="1" hangingPunct="1">
              <a:lnSpc>
                <a:spcPct val="90000"/>
              </a:lnSpc>
            </a:pPr>
            <a:r>
              <a:rPr lang="en-US" altLang="zh-CN" sz="2800" smtClean="0"/>
              <a:t>NAV</a:t>
            </a:r>
            <a:r>
              <a:rPr lang="en-US" altLang="zh-CN" sz="2800" baseline="-25000" smtClean="0"/>
              <a:t>B</a:t>
            </a:r>
            <a:r>
              <a:rPr lang="en-US" altLang="zh-CN" sz="2800" smtClean="0"/>
              <a:t>=[-100+42(P/A,12%,3)](A/P,12%,3)</a:t>
            </a:r>
            <a:endParaRPr lang="en-US" altLang="zh-CN" sz="2800" smtClean="0"/>
          </a:p>
          <a:p>
            <a:pPr eaLnBrk="1" hangingPunct="1">
              <a:lnSpc>
                <a:spcPct val="90000"/>
              </a:lnSpc>
              <a:buFontTx/>
              <a:buNone/>
            </a:pPr>
            <a:r>
              <a:rPr lang="en-US" altLang="zh-CN" sz="2800" smtClean="0"/>
              <a:t>             =-100×0.41635+42=0.365(</a:t>
            </a:r>
            <a:r>
              <a:rPr lang="zh-CN" altLang="en-US" sz="2800" smtClean="0"/>
              <a:t>万元</a:t>
            </a:r>
            <a:r>
              <a:rPr lang="en-US" altLang="zh-CN" sz="2800" smtClean="0"/>
              <a:t>)</a:t>
            </a:r>
            <a:endParaRPr lang="en-US" altLang="zh-CN" sz="2800" smtClean="0"/>
          </a:p>
          <a:p>
            <a:pPr eaLnBrk="1" hangingPunct="1">
              <a:lnSpc>
                <a:spcPct val="90000"/>
              </a:lnSpc>
              <a:buFontTx/>
              <a:buNone/>
            </a:pPr>
            <a:endParaRPr lang="zh-CN" altLang="en-US" sz="2800" smtClean="0"/>
          </a:p>
          <a:p>
            <a:pPr eaLnBrk="1" hangingPunct="1">
              <a:lnSpc>
                <a:spcPct val="90000"/>
              </a:lnSpc>
              <a:buFontTx/>
              <a:buNone/>
            </a:pPr>
            <a:endParaRPr lang="zh-CN" altLang="en-US" sz="2800" smtClean="0"/>
          </a:p>
          <a:p>
            <a:pPr eaLnBrk="1" hangingPunct="1">
              <a:lnSpc>
                <a:spcPct val="90000"/>
              </a:lnSpc>
              <a:buFontTx/>
              <a:buNone/>
            </a:pPr>
            <a:r>
              <a:rPr lang="zh-CN" altLang="en-US" sz="2800" smtClean="0"/>
              <a:t>由于</a:t>
            </a:r>
            <a:r>
              <a:rPr lang="en-US" altLang="zh-CN" sz="2800" smtClean="0"/>
              <a:t>NAV</a:t>
            </a:r>
            <a:r>
              <a:rPr lang="en-US" altLang="zh-CN" sz="2800" baseline="-25000" smtClean="0"/>
              <a:t>A</a:t>
            </a:r>
            <a:r>
              <a:rPr lang="en-US" altLang="zh-CN" sz="2800" smtClean="0"/>
              <a:t>&gt;NAV</a:t>
            </a:r>
            <a:r>
              <a:rPr lang="en-US" altLang="zh-CN" sz="2800" baseline="-25000" smtClean="0"/>
              <a:t>B</a:t>
            </a:r>
            <a:r>
              <a:rPr lang="en-US" altLang="zh-CN" sz="2800" smtClean="0"/>
              <a:t>&gt;0, </a:t>
            </a:r>
            <a:r>
              <a:rPr lang="zh-CN" altLang="en-US" sz="2800" smtClean="0"/>
              <a:t>故应选择</a:t>
            </a:r>
            <a:r>
              <a:rPr lang="en-US" altLang="zh-CN" sz="2800" smtClean="0"/>
              <a:t>A</a:t>
            </a:r>
            <a:r>
              <a:rPr lang="zh-CN" altLang="en-US" sz="2800" smtClean="0"/>
              <a:t>方案。</a:t>
            </a:r>
            <a:endParaRPr lang="zh-CN" altLang="en-US" sz="2800"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52400" y="165100"/>
            <a:ext cx="8178800" cy="609600"/>
          </a:xfrm>
        </p:spPr>
        <p:txBody>
          <a:bodyPr/>
          <a:lstStyle/>
          <a:p>
            <a:pPr eaLnBrk="1" hangingPunct="1"/>
            <a:r>
              <a:rPr lang="zh-CN" altLang="en-US" smtClean="0"/>
              <a:t>方法二：净现值的最小公倍数法</a:t>
            </a:r>
            <a:endParaRPr lang="zh-CN" altLang="en-US" smtClean="0"/>
          </a:p>
        </p:txBody>
      </p:sp>
      <p:sp>
        <p:nvSpPr>
          <p:cNvPr id="52227" name="Rectangle 3"/>
          <p:cNvSpPr>
            <a:spLocks noGrp="1" noChangeArrowheads="1"/>
          </p:cNvSpPr>
          <p:nvPr>
            <p:ph type="body" idx="1"/>
          </p:nvPr>
        </p:nvSpPr>
        <p:spPr/>
        <p:txBody>
          <a:bodyPr/>
          <a:lstStyle/>
          <a:p>
            <a:pPr eaLnBrk="1" hangingPunct="1"/>
            <a:r>
              <a:rPr lang="zh-CN" altLang="en-US" smtClean="0"/>
              <a:t>最小公倍数为</a:t>
            </a:r>
            <a:r>
              <a:rPr lang="en-US" altLang="zh-CN" smtClean="0"/>
              <a:t>15</a:t>
            </a:r>
            <a:r>
              <a:rPr lang="zh-CN" altLang="en-US" smtClean="0"/>
              <a:t>年，</a:t>
            </a:r>
            <a:r>
              <a:rPr lang="en-US" altLang="zh-CN" smtClean="0"/>
              <a:t>A</a:t>
            </a:r>
            <a:r>
              <a:rPr lang="zh-CN" altLang="en-US" smtClean="0"/>
              <a:t>重复</a:t>
            </a:r>
            <a:r>
              <a:rPr lang="en-US" altLang="zh-CN" smtClean="0"/>
              <a:t>3</a:t>
            </a:r>
            <a:r>
              <a:rPr lang="zh-CN" altLang="en-US" smtClean="0"/>
              <a:t>次，</a:t>
            </a:r>
            <a:r>
              <a:rPr lang="en-US" altLang="zh-CN" smtClean="0"/>
              <a:t>B</a:t>
            </a:r>
            <a:r>
              <a:rPr lang="zh-CN" altLang="en-US" smtClean="0"/>
              <a:t>重复</a:t>
            </a:r>
            <a:r>
              <a:rPr lang="en-US" altLang="zh-CN" smtClean="0"/>
              <a:t>5</a:t>
            </a:r>
            <a:r>
              <a:rPr lang="zh-CN" altLang="en-US" smtClean="0"/>
              <a:t>次</a:t>
            </a:r>
            <a:endParaRPr lang="zh-CN" altLang="en-US" smtClean="0"/>
          </a:p>
          <a:p>
            <a:pPr eaLnBrk="1" hangingPunct="1"/>
            <a:endParaRPr lang="zh-CN" altLang="en-US" smtClean="0"/>
          </a:p>
          <a:p>
            <a:pPr eaLnBrk="1" hangingPunct="1"/>
            <a:endParaRPr lang="zh-CN" altLang="en-US" smtClean="0"/>
          </a:p>
          <a:p>
            <a:pPr eaLnBrk="1" hangingPunct="1"/>
            <a:endParaRPr lang="zh-CN" altLang="en-US" smtClean="0"/>
          </a:p>
          <a:p>
            <a:pPr eaLnBrk="1" hangingPunct="1"/>
            <a:endParaRPr lang="zh-CN" altLang="en-US" smtClean="0"/>
          </a:p>
          <a:p>
            <a:pPr eaLnBrk="1" hangingPunct="1"/>
            <a:endParaRPr lang="en-US" altLang="zh-CN" smtClean="0"/>
          </a:p>
          <a:p>
            <a:pPr eaLnBrk="1" hangingPunct="1"/>
            <a:r>
              <a:rPr lang="en-US" altLang="zh-CN" smtClean="0"/>
              <a:t>NPV</a:t>
            </a:r>
            <a:r>
              <a:rPr lang="en-US" altLang="zh-CN" baseline="-25000" smtClean="0"/>
              <a:t>A’</a:t>
            </a:r>
            <a:r>
              <a:rPr lang="en-US" altLang="zh-CN" smtClean="0"/>
              <a:t>= 77.70</a:t>
            </a:r>
            <a:r>
              <a:rPr lang="zh-CN" altLang="en-US" smtClean="0"/>
              <a:t>万元</a:t>
            </a:r>
            <a:endParaRPr lang="zh-CN" altLang="en-US" smtClean="0"/>
          </a:p>
          <a:p>
            <a:pPr eaLnBrk="1" hangingPunct="1"/>
            <a:r>
              <a:rPr lang="en-US" altLang="zh-CN" smtClean="0"/>
              <a:t>NPV</a:t>
            </a:r>
            <a:r>
              <a:rPr lang="en-US" altLang="zh-CN" baseline="-25000" smtClean="0"/>
              <a:t>B’</a:t>
            </a:r>
            <a:r>
              <a:rPr lang="en-US" altLang="zh-CN" smtClean="0"/>
              <a:t>=2.22</a:t>
            </a:r>
            <a:r>
              <a:rPr lang="zh-CN" altLang="en-US" smtClean="0"/>
              <a:t>万元</a:t>
            </a:r>
            <a:endParaRPr lang="zh-CN" altLang="en-US" smtClean="0"/>
          </a:p>
          <a:p>
            <a:pPr eaLnBrk="1" hangingPunct="1"/>
            <a:r>
              <a:rPr lang="en-US" altLang="zh-CN" smtClean="0"/>
              <a:t>NPV</a:t>
            </a:r>
            <a:r>
              <a:rPr lang="en-US" altLang="zh-CN" baseline="-25000" smtClean="0"/>
              <a:t>A’</a:t>
            </a:r>
            <a:r>
              <a:rPr lang="en-US" altLang="zh-CN" smtClean="0"/>
              <a:t>&gt;NPV</a:t>
            </a:r>
            <a:r>
              <a:rPr lang="en-US" altLang="zh-CN" baseline="-25000" smtClean="0"/>
              <a:t>B’</a:t>
            </a:r>
            <a:r>
              <a:rPr lang="zh-CN" altLang="en-US" smtClean="0"/>
              <a:t>，故应选择</a:t>
            </a:r>
            <a:r>
              <a:rPr lang="en-US" altLang="zh-CN" smtClean="0"/>
              <a:t>A</a:t>
            </a:r>
            <a:r>
              <a:rPr lang="zh-CN" altLang="en-US" smtClean="0"/>
              <a:t>方案</a:t>
            </a:r>
            <a:endParaRPr lang="zh-CN" altLang="en-US" smtClean="0"/>
          </a:p>
        </p:txBody>
      </p:sp>
      <p:sp>
        <p:nvSpPr>
          <p:cNvPr id="52228" name="Rectangle 4"/>
          <p:cNvSpPr>
            <a:spLocks noChangeArrowheads="1"/>
          </p:cNvSpPr>
          <p:nvPr/>
        </p:nvSpPr>
        <p:spPr bwMode="auto">
          <a:xfrm>
            <a:off x="787400" y="2184400"/>
            <a:ext cx="2489200" cy="698500"/>
          </a:xfrm>
          <a:prstGeom prst="rect">
            <a:avLst/>
          </a:prstGeom>
          <a:solidFill>
            <a:srgbClr val="FFCC99"/>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A</a:t>
            </a:r>
            <a:endParaRPr lang="en-US" altLang="zh-CN" b="0">
              <a:ea typeface="楷体_GB2312" pitchFamily="49" charset="-122"/>
            </a:endParaRPr>
          </a:p>
        </p:txBody>
      </p:sp>
      <p:sp>
        <p:nvSpPr>
          <p:cNvPr id="52229" name="Rectangle 5"/>
          <p:cNvSpPr>
            <a:spLocks noChangeArrowheads="1"/>
          </p:cNvSpPr>
          <p:nvPr/>
        </p:nvSpPr>
        <p:spPr bwMode="auto">
          <a:xfrm>
            <a:off x="3276600" y="2184400"/>
            <a:ext cx="2514600" cy="698500"/>
          </a:xfrm>
          <a:prstGeom prst="rect">
            <a:avLst/>
          </a:prstGeom>
          <a:solidFill>
            <a:srgbClr val="CCFFCC"/>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A</a:t>
            </a:r>
            <a:endParaRPr lang="en-US" altLang="zh-CN" b="0">
              <a:ea typeface="楷体_GB2312" pitchFamily="49" charset="-122"/>
            </a:endParaRPr>
          </a:p>
        </p:txBody>
      </p:sp>
      <p:sp>
        <p:nvSpPr>
          <p:cNvPr id="52230" name="Rectangle 6"/>
          <p:cNvSpPr>
            <a:spLocks noChangeArrowheads="1"/>
          </p:cNvSpPr>
          <p:nvPr/>
        </p:nvSpPr>
        <p:spPr bwMode="auto">
          <a:xfrm>
            <a:off x="5791200" y="2184400"/>
            <a:ext cx="2463800" cy="698500"/>
          </a:xfrm>
          <a:prstGeom prst="rect">
            <a:avLst/>
          </a:prstGeom>
          <a:solidFill>
            <a:srgbClr val="C0C0C0"/>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A</a:t>
            </a:r>
            <a:endParaRPr lang="en-US" altLang="zh-CN" b="0">
              <a:ea typeface="楷体_GB2312" pitchFamily="49" charset="-122"/>
            </a:endParaRPr>
          </a:p>
        </p:txBody>
      </p:sp>
      <p:sp>
        <p:nvSpPr>
          <p:cNvPr id="52231" name="Rectangle 7"/>
          <p:cNvSpPr>
            <a:spLocks noChangeArrowheads="1"/>
          </p:cNvSpPr>
          <p:nvPr/>
        </p:nvSpPr>
        <p:spPr bwMode="auto">
          <a:xfrm>
            <a:off x="787400" y="3251200"/>
            <a:ext cx="1498600" cy="698500"/>
          </a:xfrm>
          <a:prstGeom prst="rect">
            <a:avLst/>
          </a:prstGeom>
          <a:solidFill>
            <a:srgbClr val="FFCC99"/>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B</a:t>
            </a:r>
            <a:endParaRPr lang="en-US" altLang="zh-CN" b="0">
              <a:ea typeface="楷体_GB2312" pitchFamily="49" charset="-122"/>
            </a:endParaRPr>
          </a:p>
        </p:txBody>
      </p:sp>
      <p:sp>
        <p:nvSpPr>
          <p:cNvPr id="52232" name="Rectangle 12"/>
          <p:cNvSpPr>
            <a:spLocks noChangeArrowheads="1"/>
          </p:cNvSpPr>
          <p:nvPr/>
        </p:nvSpPr>
        <p:spPr bwMode="auto">
          <a:xfrm>
            <a:off x="2286000" y="3251200"/>
            <a:ext cx="1498600" cy="698500"/>
          </a:xfrm>
          <a:prstGeom prst="rect">
            <a:avLst/>
          </a:prstGeom>
          <a:solidFill>
            <a:srgbClr val="CCFFCC"/>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B</a:t>
            </a:r>
            <a:endParaRPr lang="en-US" altLang="zh-CN" b="0">
              <a:ea typeface="楷体_GB2312" pitchFamily="49" charset="-122"/>
            </a:endParaRPr>
          </a:p>
        </p:txBody>
      </p:sp>
      <p:sp>
        <p:nvSpPr>
          <p:cNvPr id="52233" name="Rectangle 13"/>
          <p:cNvSpPr>
            <a:spLocks noChangeArrowheads="1"/>
          </p:cNvSpPr>
          <p:nvPr/>
        </p:nvSpPr>
        <p:spPr bwMode="auto">
          <a:xfrm>
            <a:off x="3784600" y="3251200"/>
            <a:ext cx="1498600" cy="698500"/>
          </a:xfrm>
          <a:prstGeom prst="rect">
            <a:avLst/>
          </a:prstGeom>
          <a:solidFill>
            <a:srgbClr val="C0C0C0"/>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B</a:t>
            </a:r>
            <a:endParaRPr lang="en-US" altLang="zh-CN" b="0">
              <a:ea typeface="楷体_GB2312" pitchFamily="49" charset="-122"/>
            </a:endParaRPr>
          </a:p>
        </p:txBody>
      </p:sp>
      <p:sp>
        <p:nvSpPr>
          <p:cNvPr id="52234" name="Rectangle 14"/>
          <p:cNvSpPr>
            <a:spLocks noChangeArrowheads="1"/>
          </p:cNvSpPr>
          <p:nvPr/>
        </p:nvSpPr>
        <p:spPr bwMode="auto">
          <a:xfrm>
            <a:off x="5283200" y="3251200"/>
            <a:ext cx="1498600" cy="698500"/>
          </a:xfrm>
          <a:prstGeom prst="rect">
            <a:avLst/>
          </a:prstGeom>
          <a:solidFill>
            <a:srgbClr val="FFCC99"/>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B</a:t>
            </a:r>
            <a:endParaRPr lang="en-US" altLang="zh-CN" b="0">
              <a:ea typeface="楷体_GB2312" pitchFamily="49" charset="-122"/>
            </a:endParaRPr>
          </a:p>
        </p:txBody>
      </p:sp>
      <p:sp>
        <p:nvSpPr>
          <p:cNvPr id="52235" name="Rectangle 15"/>
          <p:cNvSpPr>
            <a:spLocks noChangeArrowheads="1"/>
          </p:cNvSpPr>
          <p:nvPr/>
        </p:nvSpPr>
        <p:spPr bwMode="auto">
          <a:xfrm>
            <a:off x="6781800" y="3251200"/>
            <a:ext cx="1498600" cy="698500"/>
          </a:xfrm>
          <a:prstGeom prst="rect">
            <a:avLst/>
          </a:prstGeom>
          <a:solidFill>
            <a:srgbClr val="CCFFCC"/>
          </a:solidFill>
          <a:ln w="9525" algn="ctr">
            <a:solidFill>
              <a:srgbClr val="000000"/>
            </a:solidFill>
            <a:miter lim="800000"/>
          </a:ln>
        </p:spPr>
        <p:txBody>
          <a:bodyPr wrap="none" anchor="ct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lnSpc>
                <a:spcPct val="90000"/>
              </a:lnSpc>
              <a:buFontTx/>
              <a:buNone/>
            </a:pPr>
            <a:r>
              <a:rPr lang="en-US" altLang="zh-CN" b="0">
                <a:ea typeface="楷体_GB2312" pitchFamily="49" charset="-122"/>
              </a:rPr>
              <a:t>B</a:t>
            </a:r>
            <a:endParaRPr lang="en-US" altLang="zh-CN" b="0">
              <a:ea typeface="楷体_GB2312" pitchFamily="49"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sz="3200" smtClean="0"/>
              <a:t>收益未知的互斥方案</a:t>
            </a:r>
            <a:endParaRPr lang="zh-CN" altLang="en-US" sz="3200" smtClean="0"/>
          </a:p>
        </p:txBody>
      </p:sp>
      <p:sp>
        <p:nvSpPr>
          <p:cNvPr id="54275" name="Rectangle 3"/>
          <p:cNvSpPr>
            <a:spLocks noGrp="1" noChangeArrowheads="1"/>
          </p:cNvSpPr>
          <p:nvPr>
            <p:ph type="body" idx="1"/>
          </p:nvPr>
        </p:nvSpPr>
        <p:spPr/>
        <p:txBody>
          <a:bodyPr/>
          <a:lstStyle/>
          <a:p>
            <a:pPr eaLnBrk="1" hangingPunct="1"/>
            <a:r>
              <a:rPr lang="zh-CN" altLang="en-US" smtClean="0"/>
              <a:t>收益相同但未知数量</a:t>
            </a:r>
            <a:r>
              <a:rPr lang="en-US" altLang="zh-CN" smtClean="0"/>
              <a:t>——</a:t>
            </a:r>
            <a:r>
              <a:rPr lang="zh-CN" altLang="en-US" smtClean="0"/>
              <a:t>具体数值难以估量或者无法用货币衡量</a:t>
            </a:r>
            <a:endParaRPr lang="zh-CN" altLang="en-US" smtClean="0"/>
          </a:p>
          <a:p>
            <a:pPr eaLnBrk="1" hangingPunct="1"/>
            <a:r>
              <a:rPr lang="zh-CN" altLang="en-US" smtClean="0"/>
              <a:t>收益不同且未知</a:t>
            </a:r>
            <a:endParaRPr lang="zh-CN" altLang="en-US" smtClean="0"/>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例题</a:t>
            </a:r>
            <a:endParaRPr lang="zh-CN" altLang="en-US" smtClean="0">
              <a:solidFill>
                <a:srgbClr val="000000"/>
              </a:solidFill>
            </a:endParaRPr>
          </a:p>
        </p:txBody>
      </p:sp>
      <p:sp>
        <p:nvSpPr>
          <p:cNvPr id="787461" name="Rectangle 5"/>
          <p:cNvSpPr>
            <a:spLocks noChangeArrowheads="1"/>
          </p:cNvSpPr>
          <p:nvPr/>
        </p:nvSpPr>
        <p:spPr bwMode="auto">
          <a:xfrm>
            <a:off x="0" y="981075"/>
            <a:ext cx="889317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b="0">
                <a:latin typeface="Times New Roman" panose="02020603050405020304" charset="0"/>
                <a:ea typeface="黑体" panose="02010609060101010101" pitchFamily="49" charset="-122"/>
                <a:cs typeface="楷体_GB2312" pitchFamily="49" charset="-122"/>
              </a:rPr>
              <a:t>某工厂拟采用某种设备一台，市场上有</a:t>
            </a:r>
            <a:r>
              <a:rPr lang="en-US" altLang="zh-CN" b="0">
                <a:latin typeface="Times New Roman" panose="02020603050405020304" charset="0"/>
                <a:ea typeface="黑体" panose="02010609060101010101" pitchFamily="49" charset="-122"/>
                <a:cs typeface="楷体_GB2312" pitchFamily="49" charset="-122"/>
              </a:rPr>
              <a:t>A</a:t>
            </a:r>
            <a:r>
              <a:rPr lang="zh-CN" altLang="en-US" b="0">
                <a:latin typeface="Times New Roman" panose="02020603050405020304" charset="0"/>
                <a:ea typeface="黑体" panose="02010609060101010101" pitchFamily="49" charset="-122"/>
                <a:cs typeface="楷体_GB2312" pitchFamily="49" charset="-122"/>
              </a:rPr>
              <a:t>，</a:t>
            </a:r>
            <a:r>
              <a:rPr lang="en-US" altLang="zh-CN" b="0">
                <a:latin typeface="Times New Roman" panose="02020603050405020304" charset="0"/>
                <a:ea typeface="黑体" panose="02010609060101010101" pitchFamily="49" charset="-122"/>
                <a:cs typeface="楷体_GB2312" pitchFamily="49" charset="-122"/>
              </a:rPr>
              <a:t>B</a:t>
            </a:r>
            <a:r>
              <a:rPr lang="zh-CN" altLang="en-US" b="0">
                <a:latin typeface="Times New Roman" panose="02020603050405020304" charset="0"/>
                <a:ea typeface="黑体" panose="02010609060101010101" pitchFamily="49" charset="-122"/>
                <a:cs typeface="楷体_GB2312" pitchFamily="49" charset="-122"/>
              </a:rPr>
              <a:t>两种型号可选，寿命均为</a:t>
            </a:r>
            <a:r>
              <a:rPr lang="en-US" altLang="zh-CN" b="0">
                <a:latin typeface="Times New Roman" panose="02020603050405020304" charset="0"/>
                <a:ea typeface="黑体" panose="02010609060101010101" pitchFamily="49" charset="-122"/>
                <a:cs typeface="楷体_GB2312" pitchFamily="49" charset="-122"/>
              </a:rPr>
              <a:t>5</a:t>
            </a:r>
            <a:r>
              <a:rPr lang="zh-CN" altLang="en-US" b="0">
                <a:latin typeface="Times New Roman" panose="02020603050405020304" charset="0"/>
                <a:ea typeface="黑体" panose="02010609060101010101" pitchFamily="49" charset="-122"/>
                <a:cs typeface="楷体_GB2312" pitchFamily="49" charset="-122"/>
              </a:rPr>
              <a:t>年，</a:t>
            </a:r>
            <a:r>
              <a:rPr lang="en-US" altLang="zh-CN" b="0">
                <a:latin typeface="Times New Roman" panose="02020603050405020304" charset="0"/>
                <a:ea typeface="黑体" panose="02010609060101010101" pitchFamily="49" charset="-122"/>
                <a:cs typeface="楷体_GB2312" pitchFamily="49" charset="-122"/>
              </a:rPr>
              <a:t>i</a:t>
            </a:r>
            <a:r>
              <a:rPr lang="en-US" altLang="zh-CN" b="0" baseline="-25000">
                <a:latin typeface="Times New Roman" panose="02020603050405020304" charset="0"/>
                <a:ea typeface="黑体" panose="02010609060101010101" pitchFamily="49" charset="-122"/>
                <a:cs typeface="楷体_GB2312" pitchFamily="49" charset="-122"/>
              </a:rPr>
              <a:t>c</a:t>
            </a:r>
            <a:r>
              <a:rPr lang="zh-CN" altLang="en-US" b="0">
                <a:latin typeface="Times New Roman" panose="02020603050405020304" charset="0"/>
                <a:ea typeface="黑体" panose="02010609060101010101" pitchFamily="49" charset="-122"/>
                <a:cs typeface="楷体_GB2312" pitchFamily="49" charset="-122"/>
              </a:rPr>
              <a:t>＝</a:t>
            </a:r>
            <a:r>
              <a:rPr lang="en-US" altLang="zh-CN" b="0">
                <a:latin typeface="Times New Roman" panose="02020603050405020304" charset="0"/>
                <a:ea typeface="黑体" panose="02010609060101010101" pitchFamily="49" charset="-122"/>
                <a:cs typeface="楷体_GB2312" pitchFamily="49" charset="-122"/>
              </a:rPr>
              <a:t>8</a:t>
            </a:r>
            <a:r>
              <a:rPr lang="zh-CN" altLang="en-US" b="0">
                <a:latin typeface="Times New Roman" panose="02020603050405020304" charset="0"/>
                <a:ea typeface="黑体" panose="02010609060101010101" pitchFamily="49" charset="-122"/>
                <a:cs typeface="楷体_GB2312" pitchFamily="49" charset="-122"/>
              </a:rPr>
              <a:t>％，比较并选择两方案。</a:t>
            </a:r>
            <a:endParaRPr lang="zh-CN" altLang="en-US" b="0">
              <a:latin typeface="Times New Roman" panose="02020603050405020304" charset="0"/>
              <a:ea typeface="黑体" panose="02010609060101010101" pitchFamily="49" charset="-122"/>
              <a:cs typeface="楷体_GB2312" pitchFamily="49" charset="-122"/>
            </a:endParaRPr>
          </a:p>
        </p:txBody>
      </p:sp>
      <p:pic>
        <p:nvPicPr>
          <p:cNvPr id="787462" name="Picture 6"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825" y="3860800"/>
            <a:ext cx="8505825"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withEffect">
                                  <p:stCondLst>
                                    <p:cond delay="0"/>
                                  </p:stCondLst>
                                  <p:childTnLst>
                                    <p:set>
                                      <p:cBhvr>
                                        <p:cTn id="6" dur="1" fill="hold">
                                          <p:stCondLst>
                                            <p:cond delay="0"/>
                                          </p:stCondLst>
                                        </p:cTn>
                                        <p:tgtEl>
                                          <p:spTgt spid="787461"/>
                                        </p:tgtEl>
                                        <p:attrNameLst>
                                          <p:attrName>style.visibility</p:attrName>
                                        </p:attrNameLst>
                                      </p:cBhvr>
                                      <p:to>
                                        <p:strVal val="visible"/>
                                      </p:to>
                                    </p:set>
                                    <p:animEffect transition="in" filter="strips(downRight)">
                                      <p:cBhvr>
                                        <p:cTn id="7" dur="500"/>
                                        <p:tgtEl>
                                          <p:spTgt spid="787461"/>
                                        </p:tgtEl>
                                      </p:cBhvr>
                                    </p:animEffect>
                                  </p:childTnLst>
                                </p:cTn>
                              </p:par>
                              <p:par>
                                <p:cTn id="8" presetID="18" presetClass="entr" presetSubtype="6" fill="hold" nodeType="withEffect">
                                  <p:stCondLst>
                                    <p:cond delay="0"/>
                                  </p:stCondLst>
                                  <p:childTnLst>
                                    <p:set>
                                      <p:cBhvr>
                                        <p:cTn id="9" dur="1" fill="hold">
                                          <p:stCondLst>
                                            <p:cond delay="0"/>
                                          </p:stCondLst>
                                        </p:cTn>
                                        <p:tgtEl>
                                          <p:spTgt spid="787462"/>
                                        </p:tgtEl>
                                        <p:attrNameLst>
                                          <p:attrName>style.visibility</p:attrName>
                                        </p:attrNameLst>
                                      </p:cBhvr>
                                      <p:to>
                                        <p:strVal val="visible"/>
                                      </p:to>
                                    </p:set>
                                    <p:animEffect transition="in" filter="strips(downRight)">
                                      <p:cBhvr>
                                        <p:cTn id="10" dur="2000"/>
                                        <p:tgtEl>
                                          <p:spTgt spid="78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746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费用方法</a:t>
            </a:r>
            <a:endParaRPr lang="zh-CN" altLang="en-US" smtClean="0"/>
          </a:p>
        </p:txBody>
      </p:sp>
      <p:graphicFrame>
        <p:nvGraphicFramePr>
          <p:cNvPr id="788485" name="Object 5"/>
          <p:cNvGraphicFramePr>
            <a:graphicFrameLocks noChangeAspect="1"/>
          </p:cNvGraphicFramePr>
          <p:nvPr/>
        </p:nvGraphicFramePr>
        <p:xfrm>
          <a:off x="574675" y="939800"/>
          <a:ext cx="8569325" cy="3821113"/>
        </p:xfrm>
        <a:graphic>
          <a:graphicData uri="http://schemas.openxmlformats.org/presentationml/2006/ole">
            <mc:AlternateContent xmlns:mc="http://schemas.openxmlformats.org/markup-compatibility/2006">
              <mc:Choice xmlns:v="urn:schemas-microsoft-com:vml" Requires="v">
                <p:oleObj spid="_x0000_s56324" name="Equation" r:id="rId1" imgW="4102100" imgH="1828800" progId="Equation.3">
                  <p:embed/>
                </p:oleObj>
              </mc:Choice>
              <mc:Fallback>
                <p:oleObj name="Equation" r:id="rId1" imgW="4102100" imgH="1828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939800"/>
                        <a:ext cx="8569325" cy="382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788485"/>
                                        </p:tgtEl>
                                        <p:attrNameLst>
                                          <p:attrName>style.visibility</p:attrName>
                                        </p:attrNameLst>
                                      </p:cBhvr>
                                      <p:to>
                                        <p:strVal val="visible"/>
                                      </p:to>
                                    </p:set>
                                    <p:animEffect transition="in" filter="strips(downRight)">
                                      <p:cBhvr>
                                        <p:cTn id="7" dur="2000"/>
                                        <p:tgtEl>
                                          <p:spTgt spid="788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寿命无限和寿命不等的互斥方案</a:t>
            </a:r>
            <a:endParaRPr lang="zh-CN" altLang="en-US" smtClean="0">
              <a:solidFill>
                <a:srgbClr val="000000"/>
              </a:solidFill>
            </a:endParaRPr>
          </a:p>
        </p:txBody>
      </p:sp>
      <p:grpSp>
        <p:nvGrpSpPr>
          <p:cNvPr id="2" name="Group 5"/>
          <p:cNvGrpSpPr/>
          <p:nvPr/>
        </p:nvGrpSpPr>
        <p:grpSpPr bwMode="auto">
          <a:xfrm>
            <a:off x="250825" y="908050"/>
            <a:ext cx="8229600" cy="5505450"/>
            <a:chOff x="158" y="572"/>
            <a:chExt cx="5184" cy="3468"/>
          </a:xfrm>
        </p:grpSpPr>
        <p:sp>
          <p:nvSpPr>
            <p:cNvPr id="57348" name="Rectangle 6"/>
            <p:cNvSpPr>
              <a:spLocks noChangeArrowheads="1"/>
            </p:cNvSpPr>
            <p:nvPr/>
          </p:nvSpPr>
          <p:spPr bwMode="auto">
            <a:xfrm>
              <a:off x="158" y="572"/>
              <a:ext cx="5184" cy="3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70000"/>
                </a:lnSpc>
                <a:spcBef>
                  <a:spcPct val="50000"/>
                </a:spcBef>
                <a:buClr>
                  <a:schemeClr val="folHlink"/>
                </a:buClr>
                <a:buFont typeface="Wingdings" panose="05000000000000000000" pitchFamily="2" charset="2"/>
                <a:buChar char="Ø"/>
              </a:pPr>
              <a:r>
                <a:rPr lang="zh-CN" altLang="en-US">
                  <a:latin typeface="宋体" panose="02010600030101010101" pitchFamily="2" charset="-122"/>
                  <a:ea typeface="楷体_GB2312" pitchFamily="49" charset="-122"/>
                </a:rPr>
                <a:t>寿命无限</a:t>
              </a:r>
              <a:endParaRPr lang="zh-CN" altLang="en-US">
                <a:latin typeface="宋体" panose="02010600030101010101" pitchFamily="2" charset="-122"/>
                <a:ea typeface="楷体_GB2312" pitchFamily="49" charset="-122"/>
              </a:endParaRPr>
            </a:p>
            <a:p>
              <a:pPr eaLnBrk="1" hangingPunct="1">
                <a:lnSpc>
                  <a:spcPct val="170000"/>
                </a:lnSpc>
                <a:spcBef>
                  <a:spcPct val="50000"/>
                </a:spcBef>
                <a:buClr>
                  <a:schemeClr val="folHlink"/>
                </a:buClr>
                <a:buFont typeface="Wingdings" panose="05000000000000000000" pitchFamily="2" charset="2"/>
                <a:buNone/>
              </a:pPr>
              <a:endParaRPr lang="zh-CN" altLang="en-US">
                <a:latin typeface="宋体" panose="02010600030101010101" pitchFamily="2" charset="-122"/>
                <a:ea typeface="楷体_GB2312" pitchFamily="49" charset="-122"/>
              </a:endParaRPr>
            </a:p>
            <a:p>
              <a:pPr eaLnBrk="1" hangingPunct="1">
                <a:lnSpc>
                  <a:spcPct val="170000"/>
                </a:lnSpc>
                <a:spcBef>
                  <a:spcPct val="50000"/>
                </a:spcBef>
                <a:buClr>
                  <a:schemeClr val="folHlink"/>
                </a:buClr>
                <a:buFont typeface="Wingdings" panose="05000000000000000000" pitchFamily="2" charset="2"/>
                <a:buNone/>
              </a:pPr>
              <a:endParaRPr lang="zh-CN" altLang="en-US">
                <a:latin typeface="宋体" panose="02010600030101010101" pitchFamily="2" charset="-122"/>
                <a:ea typeface="楷体_GB2312" pitchFamily="49" charset="-122"/>
              </a:endParaRPr>
            </a:p>
            <a:p>
              <a:pPr eaLnBrk="1" hangingPunct="1">
                <a:lnSpc>
                  <a:spcPct val="170000"/>
                </a:lnSpc>
                <a:spcBef>
                  <a:spcPct val="50000"/>
                </a:spcBef>
                <a:buClr>
                  <a:schemeClr val="folHlink"/>
                </a:buClr>
                <a:buFont typeface="Wingdings" panose="05000000000000000000" pitchFamily="2" charset="2"/>
                <a:buChar char="Ø"/>
              </a:pPr>
              <a:r>
                <a:rPr lang="zh-CN" altLang="en-US">
                  <a:latin typeface="宋体" panose="02010600030101010101" pitchFamily="2" charset="-122"/>
                  <a:ea typeface="楷体_GB2312" pitchFamily="49" charset="-122"/>
                </a:rPr>
                <a:t>寿命不等</a:t>
              </a:r>
              <a:endParaRPr lang="zh-CN" altLang="en-US">
                <a:latin typeface="宋体" panose="02010600030101010101" pitchFamily="2" charset="-122"/>
                <a:ea typeface="楷体_GB2312" pitchFamily="49" charset="-122"/>
              </a:endParaRPr>
            </a:p>
            <a:p>
              <a:pPr eaLnBrk="1" hangingPunct="1">
                <a:lnSpc>
                  <a:spcPct val="140000"/>
                </a:lnSpc>
                <a:spcBef>
                  <a:spcPct val="0"/>
                </a:spcBef>
                <a:buClr>
                  <a:schemeClr val="folHlink"/>
                </a:buClr>
                <a:buFont typeface="Wingdings" panose="05000000000000000000" pitchFamily="2" charset="2"/>
                <a:buNone/>
              </a:pPr>
              <a:r>
                <a:rPr lang="zh-CN" altLang="en-US">
                  <a:latin typeface="楷体_GB2312" pitchFamily="49" charset="-122"/>
                  <a:ea typeface="楷体_GB2312" pitchFamily="49" charset="-122"/>
                </a:rPr>
                <a:t>           最小公倍数法</a:t>
              </a:r>
              <a:endParaRPr lang="zh-CN" altLang="en-US">
                <a:latin typeface="楷体_GB2312" pitchFamily="49" charset="-122"/>
                <a:ea typeface="楷体_GB2312" pitchFamily="49" charset="-122"/>
              </a:endParaRPr>
            </a:p>
            <a:p>
              <a:pPr eaLnBrk="1" hangingPunct="1">
                <a:lnSpc>
                  <a:spcPct val="140000"/>
                </a:lnSpc>
                <a:spcBef>
                  <a:spcPct val="0"/>
                </a:spcBef>
                <a:buClr>
                  <a:schemeClr val="folHlink"/>
                </a:buClr>
                <a:buFont typeface="Wingdings" panose="05000000000000000000" pitchFamily="2" charset="2"/>
                <a:buNone/>
              </a:pPr>
              <a:endParaRPr lang="zh-CN" altLang="en-US">
                <a:latin typeface="楷体_GB2312" pitchFamily="49" charset="-122"/>
                <a:ea typeface="楷体_GB2312" pitchFamily="49" charset="-122"/>
              </a:endParaRPr>
            </a:p>
          </p:txBody>
        </p:sp>
        <p:graphicFrame>
          <p:nvGraphicFramePr>
            <p:cNvPr id="57349" name="Object 7"/>
            <p:cNvGraphicFramePr>
              <a:graphicFrameLocks noChangeAspect="1"/>
            </p:cNvGraphicFramePr>
            <p:nvPr/>
          </p:nvGraphicFramePr>
          <p:xfrm>
            <a:off x="975" y="1162"/>
            <a:ext cx="3840" cy="1113"/>
          </p:xfrm>
          <a:graphic>
            <a:graphicData uri="http://schemas.openxmlformats.org/presentationml/2006/ole">
              <mc:AlternateContent xmlns:mc="http://schemas.openxmlformats.org/markup-compatibility/2006">
                <mc:Choice xmlns:v="urn:schemas-microsoft-com:vml" Requires="v">
                  <p:oleObj spid="_x0000_s57350" name="公式" r:id="rId1" imgW="1358265" imgH="393700" progId="Equation.3">
                    <p:embed/>
                  </p:oleObj>
                </mc:Choice>
                <mc:Fallback>
                  <p:oleObj name="公式" r:id="rId1" imgW="1358265" imgH="3937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 y="1162"/>
                          <a:ext cx="3840" cy="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例题</a:t>
            </a:r>
            <a:endParaRPr lang="zh-CN" altLang="en-US" smtClean="0">
              <a:solidFill>
                <a:srgbClr val="000000"/>
              </a:solidFill>
            </a:endParaRPr>
          </a:p>
        </p:txBody>
      </p:sp>
      <p:sp>
        <p:nvSpPr>
          <p:cNvPr id="791557" name="Rectangle 5"/>
          <p:cNvSpPr>
            <a:spLocks noChangeArrowheads="1"/>
          </p:cNvSpPr>
          <p:nvPr/>
        </p:nvSpPr>
        <p:spPr bwMode="auto">
          <a:xfrm>
            <a:off x="179388" y="836613"/>
            <a:ext cx="8785225"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55000"/>
              </a:lnSpc>
              <a:spcBef>
                <a:spcPct val="0"/>
              </a:spcBef>
              <a:buFontTx/>
              <a:buNone/>
            </a:pPr>
            <a:r>
              <a:rPr lang="zh-CN" altLang="en-US" sz="2800" b="0">
                <a:latin typeface="黑体" panose="02010609060101010101" pitchFamily="49" charset="-122"/>
                <a:ea typeface="黑体" panose="02010609060101010101" pitchFamily="49" charset="-122"/>
                <a:cs typeface="楷体_GB2312" pitchFamily="49" charset="-122"/>
              </a:rPr>
              <a:t>某桥梁工程，初步拟定</a:t>
            </a:r>
            <a:r>
              <a:rPr lang="en-US" altLang="zh-CN" sz="2800" b="0">
                <a:latin typeface="黑体" panose="02010609060101010101" pitchFamily="49" charset="-122"/>
                <a:ea typeface="黑体" panose="02010609060101010101" pitchFamily="49" charset="-122"/>
                <a:cs typeface="楷体_GB2312" pitchFamily="49" charset="-122"/>
              </a:rPr>
              <a:t>2</a:t>
            </a:r>
            <a:r>
              <a:rPr lang="zh-CN" altLang="en-US" sz="2800" b="0">
                <a:latin typeface="黑体" panose="02010609060101010101" pitchFamily="49" charset="-122"/>
                <a:ea typeface="黑体" panose="02010609060101010101" pitchFamily="49" charset="-122"/>
                <a:cs typeface="楷体_GB2312" pitchFamily="49" charset="-122"/>
              </a:rPr>
              <a:t>个结构类型方案</a:t>
            </a:r>
            <a:r>
              <a:rPr lang="en-US" altLang="zh-CN" sz="2800" b="0">
                <a:latin typeface="黑体" panose="02010609060101010101" pitchFamily="49" charset="-122"/>
                <a:ea typeface="黑体" panose="02010609060101010101" pitchFamily="49" charset="-122"/>
                <a:cs typeface="楷体_GB2312" pitchFamily="49" charset="-122"/>
              </a:rPr>
              <a:t>:</a:t>
            </a:r>
            <a:endParaRPr lang="en-US" altLang="zh-CN" sz="2800" b="0">
              <a:latin typeface="黑体" panose="02010609060101010101" pitchFamily="49" charset="-122"/>
              <a:ea typeface="黑体" panose="02010609060101010101" pitchFamily="49" charset="-122"/>
              <a:cs typeface="楷体_GB2312" pitchFamily="49" charset="-122"/>
            </a:endParaRPr>
          </a:p>
          <a:p>
            <a:pPr eaLnBrk="1" hangingPunct="1">
              <a:lnSpc>
                <a:spcPct val="155000"/>
              </a:lnSpc>
              <a:spcBef>
                <a:spcPct val="0"/>
              </a:spcBef>
              <a:buFontTx/>
              <a:buNone/>
            </a:pPr>
            <a:r>
              <a:rPr lang="en-US" altLang="zh-CN" sz="2800" b="0">
                <a:latin typeface="黑体" panose="02010609060101010101" pitchFamily="49" charset="-122"/>
                <a:ea typeface="黑体" panose="02010609060101010101" pitchFamily="49" charset="-122"/>
                <a:cs typeface="楷体_GB2312" pitchFamily="49" charset="-122"/>
              </a:rPr>
              <a:t>A</a:t>
            </a:r>
            <a:r>
              <a:rPr lang="zh-CN" altLang="en-US" sz="2800" b="0">
                <a:latin typeface="黑体" panose="02010609060101010101" pitchFamily="49" charset="-122"/>
                <a:ea typeface="黑体" panose="02010609060101010101" pitchFamily="49" charset="-122"/>
                <a:cs typeface="楷体_GB2312" pitchFamily="49" charset="-122"/>
              </a:rPr>
              <a:t>方案</a:t>
            </a:r>
            <a:r>
              <a:rPr lang="en-US" altLang="zh-CN" sz="2800" b="0">
                <a:latin typeface="黑体" panose="02010609060101010101" pitchFamily="49" charset="-122"/>
                <a:ea typeface="黑体" panose="02010609060101010101" pitchFamily="49" charset="-122"/>
                <a:cs typeface="楷体_GB2312" pitchFamily="49" charset="-122"/>
              </a:rPr>
              <a:t>I</a:t>
            </a:r>
            <a:r>
              <a:rPr lang="zh-CN" altLang="en-US" sz="2800" b="0">
                <a:latin typeface="黑体" panose="02010609060101010101" pitchFamily="49" charset="-122"/>
                <a:ea typeface="黑体" panose="02010609060101010101" pitchFamily="49" charset="-122"/>
                <a:cs typeface="楷体_GB2312" pitchFamily="49" charset="-122"/>
              </a:rPr>
              <a:t>＝</a:t>
            </a:r>
            <a:r>
              <a:rPr lang="en-US" altLang="zh-CN" sz="2800" b="0">
                <a:latin typeface="黑体" panose="02010609060101010101" pitchFamily="49" charset="-122"/>
                <a:ea typeface="黑体" panose="02010609060101010101" pitchFamily="49" charset="-122"/>
                <a:cs typeface="楷体_GB2312" pitchFamily="49" charset="-122"/>
              </a:rPr>
              <a:t>1500</a:t>
            </a:r>
            <a:r>
              <a:rPr lang="zh-CN" altLang="en-US" sz="2800" b="0">
                <a:latin typeface="黑体" panose="02010609060101010101" pitchFamily="49" charset="-122"/>
                <a:ea typeface="黑体" panose="02010609060101010101" pitchFamily="49" charset="-122"/>
                <a:cs typeface="楷体_GB2312" pitchFamily="49" charset="-122"/>
              </a:rPr>
              <a:t>万元，年维护费为</a:t>
            </a:r>
            <a:r>
              <a:rPr lang="en-US" altLang="zh-CN" sz="2800" b="0">
                <a:latin typeface="黑体" panose="02010609060101010101" pitchFamily="49" charset="-122"/>
                <a:ea typeface="黑体" panose="02010609060101010101" pitchFamily="49" charset="-122"/>
                <a:cs typeface="楷体_GB2312" pitchFamily="49" charset="-122"/>
              </a:rPr>
              <a:t>10</a:t>
            </a:r>
            <a:r>
              <a:rPr lang="zh-CN" altLang="en-US" sz="2800" b="0">
                <a:latin typeface="黑体" panose="02010609060101010101" pitchFamily="49" charset="-122"/>
                <a:ea typeface="黑体" panose="02010609060101010101" pitchFamily="49" charset="-122"/>
                <a:cs typeface="楷体_GB2312" pitchFamily="49" charset="-122"/>
              </a:rPr>
              <a:t>万元，每</a:t>
            </a:r>
            <a:r>
              <a:rPr lang="en-US" altLang="zh-CN" sz="2800" b="0">
                <a:latin typeface="黑体" panose="02010609060101010101" pitchFamily="49" charset="-122"/>
                <a:ea typeface="黑体" panose="02010609060101010101" pitchFamily="49" charset="-122"/>
                <a:cs typeface="楷体_GB2312" pitchFamily="49" charset="-122"/>
              </a:rPr>
              <a:t>5</a:t>
            </a:r>
            <a:r>
              <a:rPr lang="zh-CN" altLang="en-US" sz="2800" b="0">
                <a:latin typeface="黑体" panose="02010609060101010101" pitchFamily="49" charset="-122"/>
                <a:ea typeface="黑体" panose="02010609060101010101" pitchFamily="49" charset="-122"/>
                <a:cs typeface="楷体_GB2312" pitchFamily="49" charset="-122"/>
              </a:rPr>
              <a:t>年大修一次，费用为</a:t>
            </a:r>
            <a:r>
              <a:rPr lang="en-US" altLang="zh-CN" sz="2800" b="0">
                <a:latin typeface="黑体" panose="02010609060101010101" pitchFamily="49" charset="-122"/>
                <a:ea typeface="黑体" panose="02010609060101010101" pitchFamily="49" charset="-122"/>
                <a:cs typeface="楷体_GB2312" pitchFamily="49" charset="-122"/>
              </a:rPr>
              <a:t>100</a:t>
            </a:r>
            <a:r>
              <a:rPr lang="zh-CN" altLang="en-US" sz="2800" b="0">
                <a:latin typeface="黑体" panose="02010609060101010101" pitchFamily="49" charset="-122"/>
                <a:ea typeface="黑体" panose="02010609060101010101" pitchFamily="49" charset="-122"/>
                <a:cs typeface="楷体_GB2312" pitchFamily="49" charset="-122"/>
              </a:rPr>
              <a:t>万元</a:t>
            </a:r>
            <a:r>
              <a:rPr lang="en-US" altLang="zh-CN" sz="2800" b="0">
                <a:latin typeface="黑体" panose="02010609060101010101" pitchFamily="49" charset="-122"/>
                <a:ea typeface="黑体" panose="02010609060101010101" pitchFamily="49" charset="-122"/>
                <a:cs typeface="楷体_GB2312" pitchFamily="49" charset="-122"/>
              </a:rPr>
              <a:t>;</a:t>
            </a:r>
            <a:endParaRPr lang="en-US" altLang="zh-CN" sz="2800" b="0">
              <a:latin typeface="黑体" panose="02010609060101010101" pitchFamily="49" charset="-122"/>
              <a:ea typeface="黑体" panose="02010609060101010101" pitchFamily="49" charset="-122"/>
              <a:cs typeface="楷体_GB2312" pitchFamily="49" charset="-122"/>
            </a:endParaRPr>
          </a:p>
          <a:p>
            <a:pPr eaLnBrk="1" hangingPunct="1">
              <a:lnSpc>
                <a:spcPct val="155000"/>
              </a:lnSpc>
              <a:spcBef>
                <a:spcPct val="0"/>
              </a:spcBef>
              <a:buFontTx/>
              <a:buNone/>
            </a:pPr>
            <a:r>
              <a:rPr lang="en-US" altLang="zh-CN" sz="2800" b="0">
                <a:latin typeface="黑体" panose="02010609060101010101" pitchFamily="49" charset="-122"/>
                <a:ea typeface="黑体" panose="02010609060101010101" pitchFamily="49" charset="-122"/>
                <a:cs typeface="楷体_GB2312" pitchFamily="49" charset="-122"/>
              </a:rPr>
              <a:t>B</a:t>
            </a:r>
            <a:r>
              <a:rPr lang="zh-CN" altLang="en-US" sz="2800" b="0">
                <a:latin typeface="黑体" panose="02010609060101010101" pitchFamily="49" charset="-122"/>
                <a:ea typeface="黑体" panose="02010609060101010101" pitchFamily="49" charset="-122"/>
                <a:cs typeface="楷体_GB2312" pitchFamily="49" charset="-122"/>
              </a:rPr>
              <a:t>方案</a:t>
            </a:r>
            <a:r>
              <a:rPr lang="en-US" altLang="zh-CN" sz="2800" b="0">
                <a:latin typeface="黑体" panose="02010609060101010101" pitchFamily="49" charset="-122"/>
                <a:ea typeface="黑体" panose="02010609060101010101" pitchFamily="49" charset="-122"/>
                <a:cs typeface="楷体_GB2312" pitchFamily="49" charset="-122"/>
              </a:rPr>
              <a:t>I</a:t>
            </a:r>
            <a:r>
              <a:rPr lang="zh-CN" altLang="en-US" sz="2800" b="0">
                <a:latin typeface="黑体" panose="02010609060101010101" pitchFamily="49" charset="-122"/>
                <a:ea typeface="黑体" panose="02010609060101010101" pitchFamily="49" charset="-122"/>
                <a:cs typeface="楷体_GB2312" pitchFamily="49" charset="-122"/>
              </a:rPr>
              <a:t>＝</a:t>
            </a:r>
            <a:r>
              <a:rPr lang="en-US" altLang="zh-CN" sz="2800" b="0">
                <a:latin typeface="黑体" panose="02010609060101010101" pitchFamily="49" charset="-122"/>
                <a:ea typeface="黑体" panose="02010609060101010101" pitchFamily="49" charset="-122"/>
                <a:cs typeface="楷体_GB2312" pitchFamily="49" charset="-122"/>
              </a:rPr>
              <a:t>2000</a:t>
            </a:r>
            <a:r>
              <a:rPr lang="zh-CN" altLang="en-US" sz="2800" b="0">
                <a:latin typeface="黑体" panose="02010609060101010101" pitchFamily="49" charset="-122"/>
                <a:ea typeface="黑体" panose="02010609060101010101" pitchFamily="49" charset="-122"/>
                <a:cs typeface="楷体_GB2312" pitchFamily="49" charset="-122"/>
              </a:rPr>
              <a:t>万元，年维护费为</a:t>
            </a:r>
            <a:r>
              <a:rPr lang="en-US" altLang="zh-CN" sz="2800" b="0">
                <a:latin typeface="黑体" panose="02010609060101010101" pitchFamily="49" charset="-122"/>
                <a:ea typeface="黑体" panose="02010609060101010101" pitchFamily="49" charset="-122"/>
                <a:cs typeface="楷体_GB2312" pitchFamily="49" charset="-122"/>
              </a:rPr>
              <a:t>5</a:t>
            </a:r>
            <a:r>
              <a:rPr lang="zh-CN" altLang="en-US" sz="2800" b="0">
                <a:latin typeface="黑体" panose="02010609060101010101" pitchFamily="49" charset="-122"/>
                <a:ea typeface="黑体" panose="02010609060101010101" pitchFamily="49" charset="-122"/>
                <a:cs typeface="楷体_GB2312" pitchFamily="49" charset="-122"/>
              </a:rPr>
              <a:t>万元，每</a:t>
            </a:r>
            <a:r>
              <a:rPr lang="en-US" altLang="zh-CN" sz="2800" b="0">
                <a:latin typeface="黑体" panose="02010609060101010101" pitchFamily="49" charset="-122"/>
                <a:ea typeface="黑体" panose="02010609060101010101" pitchFamily="49" charset="-122"/>
                <a:cs typeface="楷体_GB2312" pitchFamily="49" charset="-122"/>
              </a:rPr>
              <a:t>10</a:t>
            </a:r>
            <a:r>
              <a:rPr lang="zh-CN" altLang="en-US" sz="2800" b="0">
                <a:latin typeface="黑体" panose="02010609060101010101" pitchFamily="49" charset="-122"/>
                <a:ea typeface="黑体" panose="02010609060101010101" pitchFamily="49" charset="-122"/>
                <a:cs typeface="楷体_GB2312" pitchFamily="49" charset="-122"/>
              </a:rPr>
              <a:t>年维修一次，费用为</a:t>
            </a:r>
            <a:r>
              <a:rPr lang="en-US" altLang="zh-CN" sz="2800" b="0">
                <a:latin typeface="黑体" panose="02010609060101010101" pitchFamily="49" charset="-122"/>
                <a:ea typeface="黑体" panose="02010609060101010101" pitchFamily="49" charset="-122"/>
                <a:cs typeface="楷体_GB2312" pitchFamily="49" charset="-122"/>
              </a:rPr>
              <a:t>100</a:t>
            </a:r>
            <a:r>
              <a:rPr lang="zh-CN" altLang="en-US" sz="2800" b="0">
                <a:latin typeface="黑体" panose="02010609060101010101" pitchFamily="49" charset="-122"/>
                <a:ea typeface="黑体" panose="02010609060101010101" pitchFamily="49" charset="-122"/>
                <a:cs typeface="楷体_GB2312" pitchFamily="49" charset="-122"/>
              </a:rPr>
              <a:t>万元</a:t>
            </a:r>
            <a:r>
              <a:rPr lang="en-US" altLang="zh-CN" sz="2800" b="0">
                <a:latin typeface="黑体" panose="02010609060101010101" pitchFamily="49" charset="-122"/>
                <a:ea typeface="黑体" panose="02010609060101010101" pitchFamily="49" charset="-122"/>
                <a:cs typeface="楷体_GB2312" pitchFamily="49" charset="-122"/>
              </a:rPr>
              <a:t>;</a:t>
            </a:r>
            <a:endParaRPr lang="zh-CN" altLang="en-US" sz="2800" b="0">
              <a:latin typeface="黑体" panose="02010609060101010101" pitchFamily="49" charset="-122"/>
              <a:ea typeface="黑体" panose="02010609060101010101" pitchFamily="49" charset="-122"/>
              <a:cs typeface="楷体_GB2312" pitchFamily="49" charset="-122"/>
            </a:endParaRPr>
          </a:p>
          <a:p>
            <a:pPr eaLnBrk="1" hangingPunct="1">
              <a:lnSpc>
                <a:spcPct val="155000"/>
              </a:lnSpc>
              <a:spcBef>
                <a:spcPct val="0"/>
              </a:spcBef>
              <a:buFontTx/>
              <a:buNone/>
            </a:pPr>
            <a:r>
              <a:rPr lang="zh-CN" altLang="en-US" sz="2800" b="0">
                <a:latin typeface="黑体" panose="02010609060101010101" pitchFamily="49" charset="-122"/>
                <a:ea typeface="黑体" panose="02010609060101010101" pitchFamily="49" charset="-122"/>
                <a:cs typeface="楷体_GB2312" pitchFamily="49" charset="-122"/>
              </a:rPr>
              <a:t>问哪一个方案更经济？</a:t>
            </a:r>
            <a:endParaRPr lang="zh-CN" altLang="en-US" sz="2800" b="0">
              <a:latin typeface="黑体" panose="02010609060101010101" pitchFamily="49" charset="-122"/>
              <a:ea typeface="黑体" panose="02010609060101010101" pitchFamily="49" charset="-122"/>
              <a:cs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791557"/>
                                        </p:tgtEl>
                                        <p:attrNameLst>
                                          <p:attrName>style.visibility</p:attrName>
                                        </p:attrNameLst>
                                      </p:cBhvr>
                                      <p:to>
                                        <p:strVal val="visible"/>
                                      </p:to>
                                    </p:set>
                                    <p:animEffect transition="in" filter="strips(downLeft)">
                                      <p:cBhvr>
                                        <p:cTn id="7" dur="500"/>
                                        <p:tgtEl>
                                          <p:spTgt spid="791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82" name="Rectangle 6"/>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例题</a:t>
            </a:r>
            <a:endParaRPr lang="zh-CN" altLang="en-US" smtClean="0"/>
          </a:p>
        </p:txBody>
      </p:sp>
      <p:graphicFrame>
        <p:nvGraphicFramePr>
          <p:cNvPr id="792583" name="Object 7"/>
          <p:cNvGraphicFramePr>
            <a:graphicFrameLocks noChangeAspect="1"/>
          </p:cNvGraphicFramePr>
          <p:nvPr/>
        </p:nvGraphicFramePr>
        <p:xfrm>
          <a:off x="571500" y="1116013"/>
          <a:ext cx="8216900" cy="5741987"/>
        </p:xfrm>
        <a:graphic>
          <a:graphicData uri="http://schemas.openxmlformats.org/presentationml/2006/ole">
            <mc:AlternateContent xmlns:mc="http://schemas.openxmlformats.org/markup-compatibility/2006">
              <mc:Choice xmlns:v="urn:schemas-microsoft-com:vml" Requires="v">
                <p:oleObj spid="_x0000_s59396" name="公式" r:id="rId1" imgW="3162300" imgH="2209800" progId="Equation.3">
                  <p:embed/>
                </p:oleObj>
              </mc:Choice>
              <mc:Fallback>
                <p:oleObj name="公式" r:id="rId1" imgW="3162300" imgH="22098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116013"/>
                        <a:ext cx="8216900" cy="574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92582"/>
                                        </p:tgtEl>
                                        <p:attrNameLst>
                                          <p:attrName>style.visibility</p:attrName>
                                        </p:attrNameLst>
                                      </p:cBhvr>
                                      <p:to>
                                        <p:strVal val="visible"/>
                                      </p:to>
                                    </p:set>
                                    <p:animEffect transition="in" filter="box(out)">
                                      <p:cBhvr>
                                        <p:cTn id="7" dur="500"/>
                                        <p:tgtEl>
                                          <p:spTgt spid="792582"/>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792583"/>
                                        </p:tgtEl>
                                        <p:attrNameLst>
                                          <p:attrName>style.visibility</p:attrName>
                                        </p:attrNameLst>
                                      </p:cBhvr>
                                      <p:to>
                                        <p:strVal val="visible"/>
                                      </p:to>
                                    </p:set>
                                    <p:animEffect transition="in" filter="strips(downRight)">
                                      <p:cBhvr>
                                        <p:cTn id="11" dur="500"/>
                                        <p:tgtEl>
                                          <p:spTgt spid="792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8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寿命不等方案</a:t>
            </a:r>
            <a:endParaRPr lang="zh-CN" altLang="en-US" smtClean="0">
              <a:solidFill>
                <a:srgbClr val="000000"/>
              </a:solidFill>
            </a:endParaRPr>
          </a:p>
        </p:txBody>
      </p:sp>
      <p:grpSp>
        <p:nvGrpSpPr>
          <p:cNvPr id="2" name="Group 5"/>
          <p:cNvGrpSpPr/>
          <p:nvPr/>
        </p:nvGrpSpPr>
        <p:grpSpPr bwMode="auto">
          <a:xfrm>
            <a:off x="179388" y="836613"/>
            <a:ext cx="8785225" cy="4525962"/>
            <a:chOff x="113" y="527"/>
            <a:chExt cx="5534" cy="2851"/>
          </a:xfrm>
        </p:grpSpPr>
        <p:sp>
          <p:nvSpPr>
            <p:cNvPr id="60420" name="Rectangle 6"/>
            <p:cNvSpPr>
              <a:spLocks noChangeArrowheads="1"/>
            </p:cNvSpPr>
            <p:nvPr/>
          </p:nvSpPr>
          <p:spPr bwMode="auto">
            <a:xfrm>
              <a:off x="113" y="527"/>
              <a:ext cx="5534" cy="2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例：有</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A</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B</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两个互斥方案。</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A</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方案的寿命为</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4</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年，</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B</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方案的寿命为</a:t>
              </a:r>
              <a:r>
                <a:rPr lang="en-US" altLang="zh-CN" b="0">
                  <a:latin typeface="黑体" panose="02010609060101010101" pitchFamily="49" charset="-122"/>
                  <a:ea typeface="黑体" panose="02010609060101010101" pitchFamily="49" charset="-122"/>
                  <a:cs typeface="楷体_GB2312" pitchFamily="49" charset="-122"/>
                  <a:sym typeface="Wingdings" panose="05000000000000000000" pitchFamily="2" charset="2"/>
                </a:rPr>
                <a:t>6</a:t>
              </a:r>
              <a:r>
                <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rPr>
                <a:t>年，其现金流量如下表，试比较两方案。</a:t>
              </a:r>
              <a:endPar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endParaRPr>
            </a:p>
            <a:p>
              <a:pPr eaLnBrk="1" hangingPunct="1">
                <a:lnSpc>
                  <a:spcPct val="130000"/>
                </a:lnSpc>
                <a:spcBef>
                  <a:spcPct val="0"/>
                </a:spcBef>
                <a:buFontTx/>
                <a:buNone/>
              </a:pPr>
              <a:endPar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endParaRPr>
            </a:p>
            <a:p>
              <a:pPr eaLnBrk="1" hangingPunct="1">
                <a:lnSpc>
                  <a:spcPct val="130000"/>
                </a:lnSpc>
                <a:spcBef>
                  <a:spcPct val="0"/>
                </a:spcBef>
                <a:buFontTx/>
                <a:buNone/>
              </a:pPr>
              <a:endPar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endParaRPr>
            </a:p>
            <a:p>
              <a:pPr eaLnBrk="1" hangingPunct="1">
                <a:lnSpc>
                  <a:spcPct val="130000"/>
                </a:lnSpc>
                <a:spcBef>
                  <a:spcPct val="0"/>
                </a:spcBef>
                <a:buFontTx/>
                <a:buNone/>
              </a:pPr>
              <a:endParaRPr lang="zh-CN" altLang="en-US" b="0">
                <a:latin typeface="黑体" panose="02010609060101010101" pitchFamily="49" charset="-122"/>
                <a:ea typeface="黑体" panose="02010609060101010101" pitchFamily="49" charset="-122"/>
                <a:cs typeface="楷体_GB2312" pitchFamily="49" charset="-122"/>
                <a:sym typeface="Wingdings" panose="05000000000000000000" pitchFamily="2" charset="2"/>
              </a:endParaRPr>
            </a:p>
            <a:p>
              <a:pPr algn="ctr" eaLnBrk="1" hangingPunct="1">
                <a:lnSpc>
                  <a:spcPct val="130000"/>
                </a:lnSpc>
                <a:spcBef>
                  <a:spcPct val="0"/>
                </a:spcBef>
                <a:buFontTx/>
                <a:buNone/>
              </a:pPr>
              <a:r>
                <a:rPr lang="zh-CN" altLang="en-US" u="sng">
                  <a:latin typeface="黑体" panose="02010609060101010101" pitchFamily="49" charset="-122"/>
                  <a:ea typeface="黑体" panose="02010609060101010101" pitchFamily="49" charset="-122"/>
                  <a:cs typeface="楷体_GB2312" pitchFamily="49" charset="-122"/>
                  <a:sym typeface="Wingdings" panose="05000000000000000000" pitchFamily="2" charset="2"/>
                </a:rPr>
                <a:t>需要解决可比性问题</a:t>
              </a:r>
              <a:endParaRPr lang="zh-CN" altLang="en-US" sz="2800" u="sng">
                <a:latin typeface="黑体" panose="02010609060101010101" pitchFamily="49" charset="-122"/>
                <a:ea typeface="黑体" panose="02010609060101010101" pitchFamily="49" charset="-122"/>
                <a:cs typeface="楷体_GB2312" pitchFamily="49" charset="-122"/>
              </a:endParaRPr>
            </a:p>
          </p:txBody>
        </p:sp>
        <p:pic>
          <p:nvPicPr>
            <p:cNvPr id="60421" name="Picture 7"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4" y="1752"/>
              <a:ext cx="5178"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最小公倍数法</a:t>
            </a:r>
            <a:endParaRPr lang="zh-CN" altLang="en-US" smtClean="0">
              <a:solidFill>
                <a:srgbClr val="000000"/>
              </a:solidFill>
            </a:endParaRPr>
          </a:p>
        </p:txBody>
      </p:sp>
      <p:sp>
        <p:nvSpPr>
          <p:cNvPr id="794629" name="Rectangle 5"/>
          <p:cNvSpPr>
            <a:spLocks noChangeArrowheads="1"/>
          </p:cNvSpPr>
          <p:nvPr/>
        </p:nvSpPr>
        <p:spPr bwMode="auto">
          <a:xfrm>
            <a:off x="179388" y="836613"/>
            <a:ext cx="8785225"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en-US" sz="2800" b="0">
                <a:latin typeface="黑体" panose="02010609060101010101" pitchFamily="49" charset="-122"/>
                <a:ea typeface="黑体" panose="02010609060101010101" pitchFamily="49" charset="-122"/>
                <a:cs typeface="楷体_GB2312" pitchFamily="49" charset="-122"/>
              </a:rPr>
              <a:t>假设：</a:t>
            </a:r>
            <a:br>
              <a:rPr lang="zh-CN" altLang="en-US" sz="2800" b="0">
                <a:latin typeface="黑体" panose="02010609060101010101" pitchFamily="49" charset="-122"/>
                <a:ea typeface="黑体" panose="02010609060101010101" pitchFamily="49" charset="-122"/>
                <a:cs typeface="楷体_GB2312" pitchFamily="49" charset="-122"/>
              </a:rPr>
            </a:br>
            <a:r>
              <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a:t>
            </a:r>
            <a:r>
              <a:rPr lang="en-US" altLang="zh-CN"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1</a:t>
            </a:r>
            <a:r>
              <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）在较长时间内，方案可以连续地以同种方案进行重复更新，直到最小公倍数寿命期或无限寿命期；</a:t>
            </a:r>
            <a:br>
              <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br>
            <a:r>
              <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a:t>
            </a:r>
            <a:r>
              <a:rPr lang="en-US" altLang="zh-CN"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2</a:t>
            </a:r>
            <a:r>
              <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rPr>
              <a:t>）替代更新方案与原方案现金流量完全相同。</a:t>
            </a:r>
            <a:endParaRPr lang="zh-CN" altLang="en-US" sz="2800" b="0">
              <a:latin typeface="黑体" panose="02010609060101010101" pitchFamily="49" charset="-122"/>
              <a:ea typeface="黑体" panose="02010609060101010101" pitchFamily="49" charset="-122"/>
              <a:cs typeface="楷体_GB2312" pitchFamily="49" charset="-122"/>
              <a:sym typeface="Wingdings" panose="05000000000000000000" pitchFamily="2" charset="2"/>
            </a:endParaRPr>
          </a:p>
        </p:txBody>
      </p:sp>
      <p:pic>
        <p:nvPicPr>
          <p:cNvPr id="794630" name="Picture 6" descr="未命名"/>
          <p:cNvPicPr>
            <a:picLocks noChangeAspect="1" noChangeArrowheads="1"/>
          </p:cNvPicPr>
          <p:nvPr/>
        </p:nvPicPr>
        <p:blipFill>
          <a:blip r:embed="rId1">
            <a:grayscl/>
            <a:extLst>
              <a:ext uri="{28A0092B-C50C-407E-A947-70E740481C1C}">
                <a14:useLocalDpi xmlns:a14="http://schemas.microsoft.com/office/drawing/2010/main" val="0"/>
              </a:ext>
            </a:extLst>
          </a:blip>
          <a:srcRect/>
          <a:stretch>
            <a:fillRect/>
          </a:stretch>
        </p:blipFill>
        <p:spPr bwMode="auto">
          <a:xfrm>
            <a:off x="0" y="3581400"/>
            <a:ext cx="9144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afterEffect">
                                  <p:stCondLst>
                                    <p:cond delay="0"/>
                                  </p:stCondLst>
                                  <p:childTnLst>
                                    <p:set>
                                      <p:cBhvr>
                                        <p:cTn id="6" dur="1" fill="hold">
                                          <p:stCondLst>
                                            <p:cond delay="0"/>
                                          </p:stCondLst>
                                        </p:cTn>
                                        <p:tgtEl>
                                          <p:spTgt spid="794629"/>
                                        </p:tgtEl>
                                        <p:attrNameLst>
                                          <p:attrName>style.visibility</p:attrName>
                                        </p:attrNameLst>
                                      </p:cBhvr>
                                      <p:to>
                                        <p:strVal val="visible"/>
                                      </p:to>
                                    </p:set>
                                    <p:animEffect transition="in" filter="strips(downLeft)">
                                      <p:cBhvr>
                                        <p:cTn id="7" dur="500"/>
                                        <p:tgtEl>
                                          <p:spTgt spid="79462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794630"/>
                                        </p:tgtEl>
                                        <p:attrNameLst>
                                          <p:attrName>style.visibility</p:attrName>
                                        </p:attrNameLst>
                                      </p:cBhvr>
                                      <p:to>
                                        <p:strVal val="visible"/>
                                      </p:to>
                                    </p:set>
                                    <p:animEffect transition="in" filter="strips(downLeft)">
                                      <p:cBhvr>
                                        <p:cTn id="12" dur="500"/>
                                        <p:tgtEl>
                                          <p:spTgt spid="794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29"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8"/>
          <p:cNvSpPr>
            <a:spLocks noChangeArrowheads="1"/>
          </p:cNvSpPr>
          <p:nvPr/>
        </p:nvSpPr>
        <p:spPr bwMode="auto">
          <a:xfrm>
            <a:off x="250825" y="836613"/>
            <a:ext cx="777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800">
                <a:solidFill>
                  <a:srgbClr val="990000"/>
                </a:solidFill>
                <a:ea typeface="楷体_GB2312" pitchFamily="49" charset="-122"/>
              </a:rPr>
              <a:t>1</a:t>
            </a:r>
            <a:r>
              <a:rPr lang="zh-CN" altLang="en-US" sz="2800">
                <a:solidFill>
                  <a:srgbClr val="990000"/>
                </a:solidFill>
                <a:ea typeface="楷体_GB2312" pitchFamily="49" charset="-122"/>
              </a:rPr>
              <a:t>、净现值法           </a:t>
            </a:r>
            <a:br>
              <a:rPr lang="zh-CN" altLang="en-US" sz="2800">
                <a:solidFill>
                  <a:srgbClr val="990000"/>
                </a:solidFill>
                <a:ea typeface="楷体_GB2312" pitchFamily="49" charset="-122"/>
              </a:rPr>
            </a:br>
            <a:br>
              <a:rPr lang="zh-CN" altLang="en-US" sz="2800">
                <a:solidFill>
                  <a:srgbClr val="990000"/>
                </a:solidFill>
                <a:ea typeface="楷体_GB2312" pitchFamily="49" charset="-122"/>
              </a:rPr>
            </a:br>
            <a:br>
              <a:rPr lang="zh-CN" altLang="en-US" sz="2800">
                <a:solidFill>
                  <a:srgbClr val="990000"/>
                </a:solidFill>
                <a:ea typeface="楷体_GB2312" pitchFamily="49" charset="-122"/>
              </a:rPr>
            </a:br>
            <a:r>
              <a:rPr lang="zh-CN" altLang="en-US" sz="2800">
                <a:solidFill>
                  <a:srgbClr val="990000"/>
                </a:solidFill>
                <a:ea typeface="楷体_GB2312" pitchFamily="49" charset="-122"/>
              </a:rPr>
              <a:t>                         </a:t>
            </a:r>
            <a:br>
              <a:rPr lang="zh-CN" altLang="en-US" sz="2800">
                <a:solidFill>
                  <a:srgbClr val="990000"/>
                </a:solidFill>
                <a:ea typeface="楷体_GB2312" pitchFamily="49" charset="-122"/>
              </a:rPr>
            </a:br>
            <a:br>
              <a:rPr lang="zh-CN" altLang="en-US" sz="2800">
                <a:solidFill>
                  <a:srgbClr val="990000"/>
                </a:solidFill>
                <a:ea typeface="楷体_GB2312" pitchFamily="49" charset="-122"/>
              </a:rPr>
            </a:br>
            <a:r>
              <a:rPr lang="zh-CN" altLang="en-US" sz="2800">
                <a:solidFill>
                  <a:srgbClr val="990000"/>
                </a:solidFill>
                <a:ea typeface="楷体_GB2312" pitchFamily="49" charset="-122"/>
              </a:rPr>
              <a:t>因此</a:t>
            </a:r>
            <a:r>
              <a:rPr lang="en-US" altLang="zh-CN" sz="2800">
                <a:solidFill>
                  <a:srgbClr val="990000"/>
                </a:solidFill>
                <a:ea typeface="楷体_GB2312" pitchFamily="49" charset="-122"/>
              </a:rPr>
              <a:t>A</a:t>
            </a:r>
            <a:r>
              <a:rPr lang="zh-CN" altLang="en-US" sz="2800">
                <a:solidFill>
                  <a:srgbClr val="990000"/>
                </a:solidFill>
                <a:ea typeface="楷体_GB2312" pitchFamily="49" charset="-122"/>
              </a:rPr>
              <a:t>优于</a:t>
            </a:r>
            <a:r>
              <a:rPr lang="en-US" altLang="zh-CN" sz="2800">
                <a:solidFill>
                  <a:srgbClr val="990000"/>
                </a:solidFill>
                <a:ea typeface="楷体_GB2312" pitchFamily="49" charset="-122"/>
              </a:rPr>
              <a:t>B</a:t>
            </a:r>
            <a:br>
              <a:rPr lang="en-US" altLang="zh-CN" sz="2800">
                <a:solidFill>
                  <a:srgbClr val="990000"/>
                </a:solidFill>
                <a:ea typeface="楷体_GB2312" pitchFamily="49" charset="-122"/>
              </a:rPr>
            </a:br>
            <a:br>
              <a:rPr lang="en-US" altLang="zh-CN" sz="2800">
                <a:solidFill>
                  <a:srgbClr val="990000"/>
                </a:solidFill>
                <a:ea typeface="楷体_GB2312" pitchFamily="49" charset="-122"/>
              </a:rPr>
            </a:br>
            <a:r>
              <a:rPr lang="en-US" altLang="zh-CN" sz="3600">
                <a:solidFill>
                  <a:srgbClr val="990000"/>
                </a:solidFill>
                <a:ea typeface="楷体_GB2312" pitchFamily="49" charset="-122"/>
              </a:rPr>
              <a:t>2</a:t>
            </a:r>
            <a:r>
              <a:rPr lang="zh-CN" altLang="en-US" sz="3600">
                <a:solidFill>
                  <a:srgbClr val="990000"/>
                </a:solidFill>
                <a:ea typeface="楷体_GB2312" pitchFamily="49" charset="-122"/>
              </a:rPr>
              <a:t>、直接用年值比较法</a:t>
            </a:r>
            <a:endParaRPr lang="zh-CN" altLang="en-US" sz="3600">
              <a:solidFill>
                <a:srgbClr val="990000"/>
              </a:solidFill>
              <a:ea typeface="楷体_GB2312" pitchFamily="49" charset="-122"/>
            </a:endParaRPr>
          </a:p>
        </p:txBody>
      </p:sp>
      <p:sp>
        <p:nvSpPr>
          <p:cNvPr id="62467" name="Rectangle 9"/>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例题</a:t>
            </a:r>
            <a:endParaRPr lang="zh-CN" altLang="en-US" smtClean="0"/>
          </a:p>
        </p:txBody>
      </p:sp>
      <p:graphicFrame>
        <p:nvGraphicFramePr>
          <p:cNvPr id="62468" name="Object 10"/>
          <p:cNvGraphicFramePr>
            <a:graphicFrameLocks noChangeAspect="1"/>
          </p:cNvGraphicFramePr>
          <p:nvPr/>
        </p:nvGraphicFramePr>
        <p:xfrm>
          <a:off x="0" y="1484313"/>
          <a:ext cx="9144000" cy="1439862"/>
        </p:xfrm>
        <a:graphic>
          <a:graphicData uri="http://schemas.openxmlformats.org/presentationml/2006/ole">
            <mc:AlternateContent xmlns:mc="http://schemas.openxmlformats.org/markup-compatibility/2006">
              <mc:Choice xmlns:v="urn:schemas-microsoft-com:vml" Requires="v">
                <p:oleObj spid="_x0000_s62470" name="公式" r:id="rId1" imgW="4419600" imgH="673100" progId="Equation.3">
                  <p:embed/>
                </p:oleObj>
              </mc:Choice>
              <mc:Fallback>
                <p:oleObj name="公式" r:id="rId1" imgW="4419600" imgH="6731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84313"/>
                        <a:ext cx="9144000" cy="1439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2469" name="Object 11"/>
          <p:cNvGraphicFramePr>
            <a:graphicFrameLocks noChangeAspect="1"/>
          </p:cNvGraphicFramePr>
          <p:nvPr/>
        </p:nvGraphicFramePr>
        <p:xfrm>
          <a:off x="539750" y="4581525"/>
          <a:ext cx="7416800" cy="1271588"/>
        </p:xfrm>
        <a:graphic>
          <a:graphicData uri="http://schemas.openxmlformats.org/presentationml/2006/ole">
            <mc:AlternateContent xmlns:mc="http://schemas.openxmlformats.org/markup-compatibility/2006">
              <mc:Choice xmlns:v="urn:schemas-microsoft-com:vml" Requires="v">
                <p:oleObj spid="_x0000_s62471" name="公式" r:id="rId3" imgW="2667000" imgH="457200" progId="Equation.3">
                  <p:embed/>
                </p:oleObj>
              </mc:Choice>
              <mc:Fallback>
                <p:oleObj name="公式" r:id="rId3" imgW="2667000" imgH="4572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581525"/>
                        <a:ext cx="7416800" cy="127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例题</a:t>
            </a:r>
            <a:endParaRPr lang="zh-CN" altLang="en-US" smtClean="0">
              <a:solidFill>
                <a:srgbClr val="000000"/>
              </a:solidFill>
            </a:endParaRPr>
          </a:p>
        </p:txBody>
      </p:sp>
      <p:grpSp>
        <p:nvGrpSpPr>
          <p:cNvPr id="63491" name="Group 5"/>
          <p:cNvGrpSpPr/>
          <p:nvPr/>
        </p:nvGrpSpPr>
        <p:grpSpPr bwMode="auto">
          <a:xfrm>
            <a:off x="-7938" y="819150"/>
            <a:ext cx="9037638" cy="3905250"/>
            <a:chOff x="-5" y="516"/>
            <a:chExt cx="5693" cy="2460"/>
          </a:xfrm>
        </p:grpSpPr>
        <p:sp>
          <p:nvSpPr>
            <p:cNvPr id="63492" name="Rectangle 6"/>
            <p:cNvSpPr>
              <a:spLocks noChangeArrowheads="1"/>
            </p:cNvSpPr>
            <p:nvPr/>
          </p:nvSpPr>
          <p:spPr bwMode="auto">
            <a:xfrm>
              <a:off x="-5" y="516"/>
              <a:ext cx="5184" cy="1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70000"/>
                </a:lnSpc>
                <a:spcBef>
                  <a:spcPct val="0"/>
                </a:spcBef>
                <a:buClr>
                  <a:schemeClr val="folHlink"/>
                </a:buClr>
                <a:buFont typeface="Wingdings" panose="05000000000000000000" pitchFamily="2" charset="2"/>
                <a:buNone/>
              </a:pPr>
              <a:r>
                <a:rPr lang="zh-CN" altLang="en-US">
                  <a:latin typeface="宋体" panose="02010600030101010101" pitchFamily="2" charset="-122"/>
                  <a:ea typeface="黑体" panose="02010609060101010101" pitchFamily="49" charset="-122"/>
                </a:rPr>
                <a:t>已知如下表所示的数据，试对方案</a:t>
              </a:r>
              <a:r>
                <a:rPr lang="en-US" altLang="zh-CN">
                  <a:latin typeface="宋体" panose="02010600030101010101" pitchFamily="2" charset="-122"/>
                  <a:ea typeface="黑体" panose="02010609060101010101" pitchFamily="49" charset="-122"/>
                </a:rPr>
                <a:t>A</a:t>
              </a:r>
              <a:r>
                <a:rPr lang="zh-CN" altLang="en-US">
                  <a:latin typeface="宋体" panose="02010600030101010101" pitchFamily="2" charset="-122"/>
                  <a:ea typeface="黑体" panose="02010609060101010101" pitchFamily="49" charset="-122"/>
                </a:rPr>
                <a:t>，</a:t>
              </a:r>
              <a:r>
                <a:rPr lang="en-US" altLang="zh-CN">
                  <a:latin typeface="宋体" panose="02010600030101010101" pitchFamily="2" charset="-122"/>
                  <a:ea typeface="黑体" panose="02010609060101010101" pitchFamily="49" charset="-122"/>
                </a:rPr>
                <a:t>B</a:t>
              </a:r>
              <a:r>
                <a:rPr lang="zh-CN" altLang="en-US">
                  <a:latin typeface="宋体" panose="02010600030101010101" pitchFamily="2" charset="-122"/>
                  <a:ea typeface="黑体" panose="02010609060101010101" pitchFamily="49" charset="-122"/>
                </a:rPr>
                <a:t>进行比较选择。设</a:t>
              </a:r>
              <a:r>
                <a:rPr lang="en-US" altLang="zh-CN">
                  <a:latin typeface="宋体" panose="02010600030101010101" pitchFamily="2" charset="-122"/>
                  <a:ea typeface="黑体" panose="02010609060101010101" pitchFamily="49" charset="-122"/>
                </a:rPr>
                <a:t>i</a:t>
              </a:r>
              <a:r>
                <a:rPr lang="en-US" altLang="zh-CN" baseline="-25000">
                  <a:latin typeface="宋体" panose="02010600030101010101" pitchFamily="2" charset="-122"/>
                  <a:ea typeface="黑体" panose="02010609060101010101" pitchFamily="49" charset="-122"/>
                </a:rPr>
                <a:t>c</a:t>
              </a:r>
              <a:r>
                <a:rPr lang="zh-CN" altLang="en-US">
                  <a:latin typeface="宋体" panose="02010600030101010101" pitchFamily="2" charset="-122"/>
                  <a:ea typeface="黑体" panose="02010609060101010101" pitchFamily="49" charset="-122"/>
                </a:rPr>
                <a:t>＝</a:t>
              </a:r>
              <a:r>
                <a:rPr lang="en-US" altLang="zh-CN">
                  <a:latin typeface="宋体" panose="02010600030101010101" pitchFamily="2" charset="-122"/>
                  <a:ea typeface="黑体" panose="02010609060101010101" pitchFamily="49" charset="-122"/>
                </a:rPr>
                <a:t>10</a:t>
              </a:r>
              <a:r>
                <a:rPr lang="zh-CN" altLang="en-US">
                  <a:latin typeface="宋体" panose="02010600030101010101" pitchFamily="2" charset="-122"/>
                  <a:ea typeface="黑体" panose="02010609060101010101" pitchFamily="49" charset="-122"/>
                </a:rPr>
                <a:t>％。</a:t>
              </a:r>
              <a:endParaRPr lang="zh-CN" altLang="en-US">
                <a:latin typeface="黑体" panose="02010609060101010101" pitchFamily="49" charset="-122"/>
                <a:ea typeface="黑体" panose="02010609060101010101" pitchFamily="49" charset="-122"/>
              </a:endParaRPr>
            </a:p>
          </p:txBody>
        </p:sp>
        <p:pic>
          <p:nvPicPr>
            <p:cNvPr id="63493" name="Picture 7"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632"/>
              <a:ext cx="5688"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现金流量图</a:t>
            </a:r>
            <a:endParaRPr lang="zh-CN" altLang="en-US" smtClean="0"/>
          </a:p>
        </p:txBody>
      </p:sp>
      <p:pic>
        <p:nvPicPr>
          <p:cNvPr id="797704" name="Picture 8" descr="未命名"/>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3725" y="1011238"/>
            <a:ext cx="5654675"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7705" name="Picture 9" descr="未命名"/>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962400"/>
            <a:ext cx="7954963" cy="273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Text Box 10"/>
          <p:cNvSpPr txBox="1">
            <a:spLocks noChangeArrowheads="1"/>
          </p:cNvSpPr>
          <p:nvPr/>
        </p:nvSpPr>
        <p:spPr bwMode="auto">
          <a:xfrm>
            <a:off x="457200" y="6273800"/>
            <a:ext cx="1092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en-US" altLang="zh-CN" sz="2800">
                <a:ea typeface="楷体_GB2312" pitchFamily="49" charset="-122"/>
              </a:rPr>
              <a:t>5000</a:t>
            </a:r>
            <a:endParaRPr lang="en-US" altLang="zh-CN" sz="280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97704"/>
                                        </p:tgtEl>
                                        <p:attrNameLst>
                                          <p:attrName>style.visibility</p:attrName>
                                        </p:attrNameLst>
                                      </p:cBhvr>
                                      <p:to>
                                        <p:strVal val="visible"/>
                                      </p:to>
                                    </p:set>
                                    <p:animEffect transition="in" filter="box(in)">
                                      <p:cBhvr>
                                        <p:cTn id="7" dur="500"/>
                                        <p:tgtEl>
                                          <p:spTgt spid="79770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7705"/>
                                        </p:tgtEl>
                                        <p:attrNameLst>
                                          <p:attrName>style.visibility</p:attrName>
                                        </p:attrNameLst>
                                      </p:cBhvr>
                                      <p:to>
                                        <p:strVal val="visible"/>
                                      </p:to>
                                    </p:set>
                                    <p:animEffect transition="in" filter="blinds(horizontal)">
                                      <p:cBhvr>
                                        <p:cTn id="12" dur="500"/>
                                        <p:tgtEl>
                                          <p:spTgt spid="797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en-US" altLang="zh-CN" smtClean="0"/>
              <a:t>NPV</a:t>
            </a:r>
            <a:r>
              <a:rPr lang="zh-CN" altLang="en-US" smtClean="0"/>
              <a:t>法</a:t>
            </a:r>
            <a:endParaRPr lang="zh-CN" altLang="en-US" smtClean="0"/>
          </a:p>
        </p:txBody>
      </p:sp>
      <p:graphicFrame>
        <p:nvGraphicFramePr>
          <p:cNvPr id="65539" name="Object 5"/>
          <p:cNvGraphicFramePr>
            <a:graphicFrameLocks noChangeAspect="1"/>
          </p:cNvGraphicFramePr>
          <p:nvPr/>
        </p:nvGraphicFramePr>
        <p:xfrm>
          <a:off x="0" y="838200"/>
          <a:ext cx="9677400" cy="4114800"/>
        </p:xfrm>
        <a:graphic>
          <a:graphicData uri="http://schemas.openxmlformats.org/presentationml/2006/ole">
            <mc:AlternateContent xmlns:mc="http://schemas.openxmlformats.org/markup-compatibility/2006">
              <mc:Choice xmlns:v="urn:schemas-microsoft-com:vml" Requires="v">
                <p:oleObj spid="_x0000_s65540" name="公式" r:id="rId1" imgW="4152900" imgH="1828800" progId="Equation.3">
                  <p:embed/>
                </p:oleObj>
              </mc:Choice>
              <mc:Fallback>
                <p:oleObj name="公式" r:id="rId1" imgW="4152900" imgH="18288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9677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年值法</a:t>
            </a:r>
            <a:endParaRPr lang="zh-CN" altLang="en-US" smtClean="0"/>
          </a:p>
        </p:txBody>
      </p:sp>
      <p:graphicFrame>
        <p:nvGraphicFramePr>
          <p:cNvPr id="66563" name="Object 5"/>
          <p:cNvGraphicFramePr>
            <a:graphicFrameLocks noChangeAspect="1"/>
          </p:cNvGraphicFramePr>
          <p:nvPr/>
        </p:nvGraphicFramePr>
        <p:xfrm>
          <a:off x="328613" y="914400"/>
          <a:ext cx="8258175" cy="2333625"/>
        </p:xfrm>
        <a:graphic>
          <a:graphicData uri="http://schemas.openxmlformats.org/presentationml/2006/ole">
            <mc:AlternateContent xmlns:mc="http://schemas.openxmlformats.org/markup-compatibility/2006">
              <mc:Choice xmlns:v="urn:schemas-microsoft-com:vml" Requires="v">
                <p:oleObj spid="_x0000_s66564" name="公式" r:id="rId1" imgW="3035300" imgH="889000" progId="Equation.3">
                  <p:embed/>
                </p:oleObj>
              </mc:Choice>
              <mc:Fallback>
                <p:oleObj name="公式" r:id="rId1" imgW="3035300" imgH="8890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914400"/>
                        <a:ext cx="8258175" cy="233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52400" y="165100"/>
            <a:ext cx="8178800" cy="609600"/>
          </a:xfrm>
        </p:spPr>
        <p:txBody>
          <a:bodyPr/>
          <a:lstStyle/>
          <a:p>
            <a:pPr eaLnBrk="1" hangingPunct="1"/>
            <a:r>
              <a:rPr lang="zh-CN" altLang="en-US" smtClean="0"/>
              <a:t>其他多方案经济评价</a:t>
            </a:r>
            <a:endParaRPr lang="zh-CN" altLang="en-US" smtClean="0"/>
          </a:p>
        </p:txBody>
      </p:sp>
      <p:sp>
        <p:nvSpPr>
          <p:cNvPr id="67587" name="Rectangle 3"/>
          <p:cNvSpPr>
            <a:spLocks noGrp="1" noChangeArrowheads="1"/>
          </p:cNvSpPr>
          <p:nvPr>
            <p:ph type="body" idx="1"/>
          </p:nvPr>
        </p:nvSpPr>
        <p:spPr/>
        <p:txBody>
          <a:bodyPr/>
          <a:lstStyle/>
          <a:p>
            <a:pPr lvl="1" eaLnBrk="1" hangingPunct="1"/>
            <a:r>
              <a:rPr lang="en-US" altLang="zh-CN" smtClean="0"/>
              <a:t>1. </a:t>
            </a:r>
            <a:r>
              <a:rPr lang="zh-CN" altLang="en-US" smtClean="0"/>
              <a:t>互补型方案</a:t>
            </a:r>
            <a:endParaRPr lang="zh-CN" altLang="en-US" smtClean="0"/>
          </a:p>
          <a:p>
            <a:pPr lvl="1" eaLnBrk="1" hangingPunct="1"/>
            <a:r>
              <a:rPr lang="en-US" altLang="zh-CN" smtClean="0"/>
              <a:t>2. </a:t>
            </a:r>
            <a:r>
              <a:rPr lang="zh-CN" altLang="en-US" smtClean="0"/>
              <a:t>现金流量相关型方案</a:t>
            </a:r>
            <a:endParaRPr lang="zh-CN" altLang="en-US" smtClean="0"/>
          </a:p>
          <a:p>
            <a:pPr lvl="1" eaLnBrk="1" hangingPunct="1"/>
            <a:r>
              <a:rPr lang="en-US" altLang="zh-CN" smtClean="0"/>
              <a:t>3. </a:t>
            </a:r>
            <a:r>
              <a:rPr lang="zh-CN" altLang="en-US" smtClean="0"/>
              <a:t>组合</a:t>
            </a:r>
            <a:r>
              <a:rPr lang="en-US" altLang="zh-CN" smtClean="0"/>
              <a:t>—</a:t>
            </a:r>
            <a:r>
              <a:rPr lang="zh-CN" altLang="en-US" smtClean="0"/>
              <a:t>互斥型方案</a:t>
            </a:r>
            <a:endParaRPr lang="zh-CN" altLang="en-US" smtClean="0"/>
          </a:p>
          <a:p>
            <a:pPr lvl="1" eaLnBrk="1" hangingPunct="1"/>
            <a:r>
              <a:rPr lang="en-US" altLang="zh-CN" smtClean="0"/>
              <a:t>4. </a:t>
            </a:r>
            <a:r>
              <a:rPr lang="zh-CN" altLang="en-US" smtClean="0"/>
              <a:t>混合相关型方案</a:t>
            </a:r>
            <a:endParaRPr lang="zh-CN" altLang="en-US" smtClean="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A50021"/>
                </a:solidFill>
              </a:rPr>
              <a:t>练习：</a:t>
            </a:r>
            <a:endParaRPr lang="en-US" altLang="zh-CN" smtClean="0">
              <a:solidFill>
                <a:srgbClr val="A50021"/>
              </a:solidFill>
            </a:endParaRPr>
          </a:p>
        </p:txBody>
      </p:sp>
      <p:sp>
        <p:nvSpPr>
          <p:cNvPr id="804869" name="AutoShape 5"/>
          <p:cNvSpPr>
            <a:spLocks noChangeArrowheads="1"/>
          </p:cNvSpPr>
          <p:nvPr/>
        </p:nvSpPr>
        <p:spPr bwMode="auto">
          <a:xfrm>
            <a:off x="152400" y="914400"/>
            <a:ext cx="8839200" cy="2667000"/>
          </a:xfrm>
          <a:prstGeom prst="roundRect">
            <a:avLst>
              <a:gd name="adj" fmla="val 16667"/>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40000"/>
              </a:lnSpc>
              <a:spcBef>
                <a:spcPct val="0"/>
              </a:spcBef>
              <a:buFontTx/>
              <a:buNone/>
            </a:pPr>
            <a:r>
              <a:rPr kumimoji="1" lang="zh-CN" altLang="en-US" b="0">
                <a:latin typeface="宋体" panose="02010600030101010101" pitchFamily="2" charset="-122"/>
                <a:ea typeface="黑体" panose="02010609060101010101" pitchFamily="49" charset="-122"/>
                <a:cs typeface="楷体_GB2312" pitchFamily="49" charset="-122"/>
              </a:rPr>
              <a:t>已知：</a:t>
            </a:r>
            <a:r>
              <a:rPr kumimoji="1" lang="en-US" altLang="zh-CN" b="0">
                <a:latin typeface="Times New Roman" panose="02020603050405020304" charset="0"/>
                <a:ea typeface="黑体" panose="02010609060101010101" pitchFamily="49" charset="-122"/>
                <a:cs typeface="楷体_GB2312" pitchFamily="49" charset="-122"/>
              </a:rPr>
              <a:t>A</a:t>
            </a:r>
            <a:r>
              <a:rPr kumimoji="1" lang="zh-CN" altLang="en-US" b="0">
                <a:latin typeface="宋体" panose="02010600030101010101" pitchFamily="2" charset="-122"/>
                <a:ea typeface="黑体" panose="02010609060101010101" pitchFamily="49" charset="-122"/>
                <a:cs typeface="楷体_GB2312" pitchFamily="49" charset="-122"/>
              </a:rPr>
              <a:t>，</a:t>
            </a:r>
            <a:r>
              <a:rPr kumimoji="1" lang="en-US" altLang="zh-CN" b="0">
                <a:latin typeface="Times New Roman" panose="02020603050405020304" charset="0"/>
                <a:ea typeface="黑体" panose="02010609060101010101" pitchFamily="49" charset="-122"/>
                <a:cs typeface="楷体_GB2312" pitchFamily="49" charset="-122"/>
              </a:rPr>
              <a:t>B</a:t>
            </a:r>
            <a:r>
              <a:rPr kumimoji="1" lang="zh-CN" altLang="en-US" b="0">
                <a:latin typeface="宋体" panose="02010600030101010101" pitchFamily="2" charset="-122"/>
                <a:ea typeface="黑体" panose="02010609060101010101" pitchFamily="49" charset="-122"/>
                <a:cs typeface="楷体_GB2312" pitchFamily="49" charset="-122"/>
              </a:rPr>
              <a:t>，</a:t>
            </a:r>
            <a:r>
              <a:rPr kumimoji="1" lang="en-US" altLang="zh-CN" b="0">
                <a:latin typeface="Times New Roman" panose="02020603050405020304" charset="0"/>
                <a:ea typeface="黑体" panose="02010609060101010101" pitchFamily="49" charset="-122"/>
                <a:cs typeface="楷体_GB2312" pitchFamily="49" charset="-122"/>
              </a:rPr>
              <a:t>C</a:t>
            </a:r>
            <a:r>
              <a:rPr kumimoji="1" lang="zh-CN" altLang="en-US" b="0">
                <a:latin typeface="宋体" panose="02010600030101010101" pitchFamily="2" charset="-122"/>
                <a:ea typeface="黑体" panose="02010609060101010101" pitchFamily="49" charset="-122"/>
                <a:cs typeface="楷体_GB2312" pitchFamily="49" charset="-122"/>
              </a:rPr>
              <a:t>三个独立方案的投资、年收益及据此计算出来的有关评价指标见下表，折现率为</a:t>
            </a:r>
            <a:r>
              <a:rPr kumimoji="1" lang="en-US" altLang="zh-CN" b="0">
                <a:latin typeface="Times New Roman" panose="02020603050405020304" charset="0"/>
                <a:ea typeface="黑体" panose="02010609060101010101" pitchFamily="49" charset="-122"/>
                <a:cs typeface="楷体_GB2312" pitchFamily="49" charset="-122"/>
              </a:rPr>
              <a:t>12%</a:t>
            </a:r>
            <a:r>
              <a:rPr kumimoji="1" lang="zh-CN" altLang="en-US" b="0">
                <a:latin typeface="宋体" panose="02010600030101010101" pitchFamily="2" charset="-122"/>
                <a:ea typeface="黑体" panose="02010609060101010101" pitchFamily="49" charset="-122"/>
                <a:cs typeface="楷体_GB2312" pitchFamily="49" charset="-122"/>
              </a:rPr>
              <a:t>。 （</a:t>
            </a:r>
            <a:r>
              <a:rPr kumimoji="1" lang="en-US" altLang="zh-CN" b="0">
                <a:latin typeface="宋体" panose="02010600030101010101" pitchFamily="2" charset="-122"/>
                <a:ea typeface="黑体" panose="02010609060101010101" pitchFamily="49" charset="-122"/>
                <a:cs typeface="楷体_GB2312" pitchFamily="49" charset="-122"/>
              </a:rPr>
              <a:t>1</a:t>
            </a:r>
            <a:r>
              <a:rPr kumimoji="1" lang="zh-CN" altLang="en-US" b="0">
                <a:latin typeface="宋体" panose="02010600030101010101" pitchFamily="2" charset="-122"/>
                <a:ea typeface="黑体" panose="02010609060101010101" pitchFamily="49" charset="-122"/>
                <a:cs typeface="楷体_GB2312" pitchFamily="49" charset="-122"/>
              </a:rPr>
              <a:t>）只能投资一个项目，应上那个项目？ （</a:t>
            </a:r>
            <a:r>
              <a:rPr kumimoji="1" lang="en-US" altLang="zh-CN" b="0">
                <a:latin typeface="宋体" panose="02010600030101010101" pitchFamily="2" charset="-122"/>
                <a:ea typeface="黑体" panose="02010609060101010101" pitchFamily="49" charset="-122"/>
                <a:cs typeface="楷体_GB2312" pitchFamily="49" charset="-122"/>
              </a:rPr>
              <a:t>2</a:t>
            </a:r>
            <a:r>
              <a:rPr kumimoji="1" lang="zh-CN" altLang="en-US" b="0">
                <a:latin typeface="宋体" panose="02010600030101010101" pitchFamily="2" charset="-122"/>
                <a:ea typeface="黑体" panose="02010609060101010101" pitchFamily="49" charset="-122"/>
                <a:cs typeface="楷体_GB2312" pitchFamily="49" charset="-122"/>
              </a:rPr>
              <a:t>）共有几种投资方案组合？（</a:t>
            </a:r>
            <a:r>
              <a:rPr kumimoji="1" lang="en-US" altLang="zh-CN" b="0">
                <a:latin typeface="宋体" panose="02010600030101010101" pitchFamily="2" charset="-122"/>
                <a:ea typeface="黑体" panose="02010609060101010101" pitchFamily="49" charset="-122"/>
                <a:cs typeface="楷体_GB2312" pitchFamily="49" charset="-122"/>
              </a:rPr>
              <a:t>3</a:t>
            </a:r>
            <a:r>
              <a:rPr kumimoji="1" lang="zh-CN" altLang="en-US" b="0">
                <a:latin typeface="宋体" panose="02010600030101010101" pitchFamily="2" charset="-122"/>
                <a:ea typeface="黑体" panose="02010609060101010101" pitchFamily="49" charset="-122"/>
                <a:cs typeface="楷体_GB2312" pitchFamily="49" charset="-122"/>
              </a:rPr>
              <a:t>）投资总额最多不得超过</a:t>
            </a:r>
            <a:r>
              <a:rPr kumimoji="1" lang="en-US" altLang="zh-CN" b="0">
                <a:latin typeface="Times New Roman" panose="02020603050405020304" charset="0"/>
                <a:ea typeface="黑体" panose="02010609060101010101" pitchFamily="49" charset="-122"/>
                <a:cs typeface="楷体_GB2312" pitchFamily="49" charset="-122"/>
              </a:rPr>
              <a:t>450</a:t>
            </a:r>
            <a:r>
              <a:rPr kumimoji="1" lang="zh-CN" altLang="en-US" b="0">
                <a:latin typeface="宋体" panose="02010600030101010101" pitchFamily="2" charset="-122"/>
                <a:ea typeface="黑体" panose="02010609060101010101" pitchFamily="49" charset="-122"/>
                <a:cs typeface="楷体_GB2312" pitchFamily="49" charset="-122"/>
              </a:rPr>
              <a:t>万元时，如何投资？</a:t>
            </a:r>
            <a:endParaRPr kumimoji="1" lang="zh-CN" altLang="en-US" b="0">
              <a:latin typeface="Times New Roman" panose="02020603050405020304" charset="0"/>
              <a:ea typeface="黑体" panose="02010609060101010101" pitchFamily="49" charset="-122"/>
              <a:cs typeface="楷体_GB2312" pitchFamily="49" charset="-122"/>
            </a:endParaRPr>
          </a:p>
        </p:txBody>
      </p:sp>
      <p:graphicFrame>
        <p:nvGraphicFramePr>
          <p:cNvPr id="804870" name="Group 6"/>
          <p:cNvGraphicFramePr>
            <a:graphicFrameLocks noGrp="1"/>
          </p:cNvGraphicFramePr>
          <p:nvPr/>
        </p:nvGraphicFramePr>
        <p:xfrm>
          <a:off x="250825" y="4076700"/>
          <a:ext cx="8534400" cy="2133600"/>
        </p:xfrm>
        <a:graphic>
          <a:graphicData uri="http://schemas.openxmlformats.org/drawingml/2006/table">
            <a:tbl>
              <a:tblPr/>
              <a:tblGrid>
                <a:gridCol w="914400"/>
                <a:gridCol w="1752600"/>
                <a:gridCol w="2057400"/>
                <a:gridCol w="1066800"/>
                <a:gridCol w="1320800"/>
                <a:gridCol w="1422400"/>
              </a:tblGrid>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方案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 第</a:t>
                      </a: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a:t>
                      </a: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年投资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1-10</a:t>
                      </a: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年净收益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寿命</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NPV </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NPVR</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A</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23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54.33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0.543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B</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300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58</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89.18</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0.297</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C</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250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49</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78.79</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0.315</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804869"/>
                                        </p:tgtEl>
                                        <p:attrNameLst>
                                          <p:attrName>style.visibility</p:attrName>
                                        </p:attrNameLst>
                                      </p:cBhvr>
                                      <p:to>
                                        <p:strVal val="visible"/>
                                      </p:to>
                                    </p:set>
                                    <p:animEffect transition="in" filter="strips(downRight)">
                                      <p:cBhvr>
                                        <p:cTn id="7" dur="500"/>
                                        <p:tgtEl>
                                          <p:spTgt spid="8048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804870"/>
                                        </p:tgtEl>
                                        <p:attrNameLst>
                                          <p:attrName>style.visibility</p:attrName>
                                        </p:attrNameLst>
                                      </p:cBhvr>
                                      <p:to>
                                        <p:strVal val="visible"/>
                                      </p:to>
                                    </p:set>
                                    <p:animEffect transition="in" filter="blinds(vertical)">
                                      <p:cBhvr>
                                        <p:cTn id="12" dur="500"/>
                                        <p:tgtEl>
                                          <p:spTgt spid="804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69"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净现值率排序</a:t>
            </a:r>
            <a:endParaRPr lang="zh-CN" altLang="en-US" smtClean="0"/>
          </a:p>
        </p:txBody>
      </p:sp>
      <p:graphicFrame>
        <p:nvGraphicFramePr>
          <p:cNvPr id="805893" name="Group 5"/>
          <p:cNvGraphicFramePr>
            <a:graphicFrameLocks noGrp="1"/>
          </p:cNvGraphicFramePr>
          <p:nvPr/>
        </p:nvGraphicFramePr>
        <p:xfrm>
          <a:off x="228600" y="1447800"/>
          <a:ext cx="8610600" cy="2133600"/>
        </p:xfrm>
        <a:graphic>
          <a:graphicData uri="http://schemas.openxmlformats.org/drawingml/2006/table">
            <a:tbl>
              <a:tblPr/>
              <a:tblGrid>
                <a:gridCol w="850900"/>
                <a:gridCol w="1739900"/>
                <a:gridCol w="2057400"/>
                <a:gridCol w="838200"/>
                <a:gridCol w="990600"/>
                <a:gridCol w="1219200"/>
                <a:gridCol w="914400"/>
              </a:tblGrid>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方案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 第</a:t>
                      </a: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a:t>
                      </a: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年投资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1-10</a:t>
                      </a: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年净收益 </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寿命</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NPV </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NPVR </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排序</a:t>
                      </a:r>
                      <a:endParaRPr kumimoji="0" lang="zh-CN" altLang="en-US"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A</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23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54.33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0.543</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rPr>
                        <a:t>1</a:t>
                      </a:r>
                      <a:endPar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B</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300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58</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89.18</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0.297</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rPr>
                        <a:t>3</a:t>
                      </a:r>
                      <a:endPar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34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C</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250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49</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10</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78.79</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rPr>
                        <a:t>0.315</a:t>
                      </a:r>
                      <a:endParaRPr kumimoji="0" lang="en-US" altLang="zh-CN" sz="2400" b="1" i="0" u="none" strike="noStrike" cap="none" normalizeH="0" baseline="0" smtClean="0">
                        <a:ln>
                          <a:noFill/>
                        </a:ln>
                        <a:solidFill>
                          <a:srgbClr val="00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rPr>
                        <a:t>2</a:t>
                      </a:r>
                      <a:endParaRPr kumimoji="0" lang="en-US" altLang="zh-CN" sz="2400" b="1" i="0" u="none" strike="noStrike" cap="none" normalizeH="0" baseline="0" smtClean="0">
                        <a:ln>
                          <a:noFill/>
                        </a:ln>
                        <a:solidFill>
                          <a:srgbClr val="FF0000"/>
                        </a:solidFill>
                        <a:effectLst/>
                        <a:latin typeface="黑体" panose="02010609060101010101" pitchFamily="49" charset="-122"/>
                        <a:ea typeface="黑体" panose="02010609060101010101" pitchFamily="49" charset="-122"/>
                        <a:cs typeface="楷体_GB2312"/>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805893"/>
                                        </p:tgtEl>
                                        <p:attrNameLst>
                                          <p:attrName>style.visibility</p:attrName>
                                        </p:attrNameLst>
                                      </p:cBhvr>
                                      <p:to>
                                        <p:strVal val="visible"/>
                                      </p:to>
                                    </p:set>
                                    <p:animEffect transition="in" filter="blinds(vertical)">
                                      <p:cBhvr>
                                        <p:cTn id="7" dur="500"/>
                                        <p:tgtEl>
                                          <p:spTgt spid="805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solidFill>
                  <a:srgbClr val="000000"/>
                </a:solidFill>
              </a:rPr>
              <a:t>方案组合法</a:t>
            </a:r>
            <a:endParaRPr lang="zh-CN" altLang="en-US" smtClean="0">
              <a:solidFill>
                <a:srgbClr val="000000"/>
              </a:solidFill>
            </a:endParaRPr>
          </a:p>
        </p:txBody>
      </p:sp>
      <p:sp>
        <p:nvSpPr>
          <p:cNvPr id="806917" name="Text Box 5"/>
          <p:cNvSpPr txBox="1">
            <a:spLocks noChangeArrowheads="1"/>
          </p:cNvSpPr>
          <p:nvPr/>
        </p:nvSpPr>
        <p:spPr bwMode="auto">
          <a:xfrm>
            <a:off x="304800" y="914400"/>
            <a:ext cx="84582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125000"/>
              </a:lnSpc>
              <a:spcBef>
                <a:spcPct val="50000"/>
              </a:spcBef>
              <a:buFontTx/>
              <a:buNone/>
            </a:pPr>
            <a:r>
              <a:rPr kumimoji="1" lang="zh-CN" altLang="en-US" sz="2800" b="0">
                <a:latin typeface="黑体" panose="02010609060101010101" pitchFamily="49" charset="-122"/>
                <a:ea typeface="黑体" panose="02010609060101010101" pitchFamily="49" charset="-122"/>
                <a:cs typeface="楷体_GB2312" pitchFamily="49" charset="-122"/>
              </a:rPr>
              <a:t>方案组合法是把受资金限制的独立方案都组合成相互排斥的方案，其中每一个组合方案代表一个相互排斥的组合，这就可以利用前述互斥方案的比较方法，选择最优的组合方案。</a:t>
            </a:r>
            <a:endParaRPr kumimoji="1" lang="zh-CN" altLang="en-US" sz="2800" b="0">
              <a:latin typeface="黑体" panose="02010609060101010101" pitchFamily="49" charset="-122"/>
              <a:ea typeface="黑体" panose="02010609060101010101" pitchFamily="49" charset="-122"/>
              <a:cs typeface="楷体_GB2312" pitchFamily="49" charset="-122"/>
            </a:endParaRPr>
          </a:p>
          <a:p>
            <a:pPr eaLnBrk="1" hangingPunct="1">
              <a:lnSpc>
                <a:spcPct val="125000"/>
              </a:lnSpc>
              <a:spcBef>
                <a:spcPct val="50000"/>
              </a:spcBef>
              <a:buFontTx/>
              <a:buNone/>
            </a:pPr>
            <a:r>
              <a:rPr kumimoji="1" lang="zh-CN" altLang="en-US" sz="2800" b="0">
                <a:latin typeface="黑体" panose="02010609060101010101" pitchFamily="49" charset="-122"/>
                <a:ea typeface="黑体" panose="02010609060101010101" pitchFamily="49" charset="-122"/>
                <a:cs typeface="楷体_GB2312" pitchFamily="49" charset="-122"/>
              </a:rPr>
              <a:t>方案组合法的步骤：</a:t>
            </a:r>
            <a:endParaRPr kumimoji="1" lang="zh-CN" altLang="en-US" sz="2800" b="0">
              <a:latin typeface="黑体" panose="02010609060101010101" pitchFamily="49" charset="-122"/>
              <a:ea typeface="黑体" panose="02010609060101010101" pitchFamily="49" charset="-122"/>
              <a:cs typeface="楷体_GB2312" pitchFamily="49" charset="-122"/>
            </a:endParaRPr>
          </a:p>
          <a:p>
            <a:pPr eaLnBrk="1" hangingPunct="1">
              <a:lnSpc>
                <a:spcPct val="125000"/>
              </a:lnSpc>
              <a:spcBef>
                <a:spcPct val="50000"/>
              </a:spcBef>
              <a:buFontTx/>
              <a:buNone/>
            </a:pPr>
            <a:r>
              <a:rPr kumimoji="1" lang="en-US" altLang="zh-CN" sz="2800" b="0">
                <a:latin typeface="黑体" panose="02010609060101010101" pitchFamily="49" charset="-122"/>
                <a:ea typeface="黑体" panose="02010609060101010101" pitchFamily="49" charset="-122"/>
                <a:cs typeface="楷体_GB2312" pitchFamily="49" charset="-122"/>
              </a:rPr>
              <a:t>1</a:t>
            </a:r>
            <a:r>
              <a:rPr kumimoji="1" lang="zh-CN" altLang="en-US" sz="2800" b="0">
                <a:latin typeface="黑体" panose="02010609060101010101" pitchFamily="49" charset="-122"/>
                <a:ea typeface="黑体" panose="02010609060101010101" pitchFamily="49" charset="-122"/>
                <a:cs typeface="楷体_GB2312" pitchFamily="49" charset="-122"/>
              </a:rPr>
              <a:t>、建立所有的互斥的方案组合；</a:t>
            </a:r>
            <a:endParaRPr kumimoji="1" lang="zh-CN" altLang="en-US" sz="2800" b="0">
              <a:latin typeface="黑体" panose="02010609060101010101" pitchFamily="49" charset="-122"/>
              <a:ea typeface="黑体" panose="02010609060101010101" pitchFamily="49" charset="-122"/>
              <a:cs typeface="楷体_GB2312" pitchFamily="49" charset="-122"/>
            </a:endParaRPr>
          </a:p>
          <a:p>
            <a:pPr eaLnBrk="1" hangingPunct="1">
              <a:lnSpc>
                <a:spcPct val="125000"/>
              </a:lnSpc>
              <a:spcBef>
                <a:spcPct val="50000"/>
              </a:spcBef>
              <a:buFontTx/>
              <a:buNone/>
            </a:pPr>
            <a:r>
              <a:rPr kumimoji="1" lang="en-US" altLang="zh-CN" sz="2800" b="0">
                <a:latin typeface="黑体" panose="02010609060101010101" pitchFamily="49" charset="-122"/>
                <a:ea typeface="黑体" panose="02010609060101010101" pitchFamily="49" charset="-122"/>
                <a:cs typeface="楷体_GB2312" pitchFamily="49" charset="-122"/>
              </a:rPr>
              <a:t>2</a:t>
            </a:r>
            <a:r>
              <a:rPr kumimoji="1" lang="zh-CN" altLang="en-US" sz="2800" b="0">
                <a:latin typeface="黑体" panose="02010609060101010101" pitchFamily="49" charset="-122"/>
                <a:ea typeface="黑体" panose="02010609060101010101" pitchFamily="49" charset="-122"/>
                <a:cs typeface="楷体_GB2312" pitchFamily="49" charset="-122"/>
              </a:rPr>
              <a:t>、计算各互斥方案的效益指标，如净现值指标；</a:t>
            </a:r>
            <a:endParaRPr kumimoji="1" lang="zh-CN" altLang="en-US" sz="2800" b="0">
              <a:latin typeface="黑体" panose="02010609060101010101" pitchFamily="49" charset="-122"/>
              <a:ea typeface="黑体" panose="02010609060101010101" pitchFamily="49" charset="-122"/>
              <a:cs typeface="楷体_GB2312" pitchFamily="49" charset="-122"/>
            </a:endParaRPr>
          </a:p>
          <a:p>
            <a:pPr eaLnBrk="1" hangingPunct="1">
              <a:lnSpc>
                <a:spcPct val="125000"/>
              </a:lnSpc>
              <a:spcBef>
                <a:spcPct val="50000"/>
              </a:spcBef>
              <a:buFontTx/>
              <a:buNone/>
            </a:pPr>
            <a:r>
              <a:rPr kumimoji="1" lang="en-US" altLang="zh-CN" sz="2800" b="0">
                <a:latin typeface="黑体" panose="02010609060101010101" pitchFamily="49" charset="-122"/>
                <a:ea typeface="黑体" panose="02010609060101010101" pitchFamily="49" charset="-122"/>
                <a:cs typeface="楷体_GB2312" pitchFamily="49" charset="-122"/>
              </a:rPr>
              <a:t>3</a:t>
            </a:r>
            <a:r>
              <a:rPr kumimoji="1" lang="zh-CN" altLang="en-US" sz="2800" b="0">
                <a:latin typeface="黑体" panose="02010609060101010101" pitchFamily="49" charset="-122"/>
                <a:ea typeface="黑体" panose="02010609060101010101" pitchFamily="49" charset="-122"/>
                <a:cs typeface="楷体_GB2312" pitchFamily="49" charset="-122"/>
              </a:rPr>
              <a:t>、进行各互斥方案组合的比选。</a:t>
            </a:r>
            <a:endParaRPr kumimoji="1" lang="zh-CN" altLang="en-US" sz="2800" b="0">
              <a:latin typeface="黑体" panose="02010609060101010101" pitchFamily="49" charset="-122"/>
              <a:ea typeface="黑体" panose="02010609060101010101" pitchFamily="49" charset="-122"/>
              <a:cs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806917"/>
                                        </p:tgtEl>
                                        <p:attrNameLst>
                                          <p:attrName>style.visibility</p:attrName>
                                        </p:attrNameLst>
                                      </p:cBhvr>
                                      <p:to>
                                        <p:strVal val="visible"/>
                                      </p:to>
                                    </p:set>
                                    <p:animEffect transition="in" filter="strips(downRight)">
                                      <p:cBhvr>
                                        <p:cTn id="7" dur="500"/>
                                        <p:tgtEl>
                                          <p:spTgt spid="806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917"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p:cNvSpPr>
            <a:spLocks noGrp="1" noChangeArrowheads="1"/>
          </p:cNvSpPr>
          <p:nvPr>
            <p:ph type="title"/>
          </p:nvPr>
        </p:nvSpPr>
        <p:spPr>
          <a:xfrm>
            <a:off x="457200" y="228600"/>
            <a:ext cx="7772400" cy="457200"/>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mtClean="0"/>
              <a:t>方案组合法</a:t>
            </a:r>
            <a:endParaRPr lang="zh-CN" altLang="en-US" smtClean="0"/>
          </a:p>
        </p:txBody>
      </p:sp>
      <p:graphicFrame>
        <p:nvGraphicFramePr>
          <p:cNvPr id="807997" name="Group 61"/>
          <p:cNvGraphicFramePr>
            <a:graphicFrameLocks noGrp="1"/>
          </p:cNvGraphicFramePr>
          <p:nvPr/>
        </p:nvGraphicFramePr>
        <p:xfrm>
          <a:off x="304800" y="1435100"/>
          <a:ext cx="8686800" cy="4097338"/>
        </p:xfrm>
        <a:graphic>
          <a:graphicData uri="http://schemas.openxmlformats.org/drawingml/2006/table">
            <a:tbl>
              <a:tblPr/>
              <a:tblGrid>
                <a:gridCol w="1066800"/>
                <a:gridCol w="1981200"/>
                <a:gridCol w="1752600"/>
                <a:gridCol w="2057400"/>
                <a:gridCol w="1828800"/>
              </a:tblGrid>
              <a:tr h="469936">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序号</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组合状态</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第</a:t>
                      </a:r>
                      <a:r>
                        <a:rPr kumimoji="0" lang="en-US" altLang="zh-CN"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0</a:t>
                      </a: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年投资</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1-10</a:t>
                      </a: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年净收入</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净现值</a:t>
                      </a:r>
                      <a:endParaRPr kumimoji="0" lang="zh-CN" altLang="en-US" sz="24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100</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23</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54.33</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×B×</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300</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58</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89.18</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××C</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250</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49</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78.79</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0C0C0"/>
                    </a:solid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AB×</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0C0C0"/>
                    </a:solid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400</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0C0C0"/>
                    </a:solid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81</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0C0C0"/>
                    </a:solid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143.51</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C0C0C0"/>
                    </a:solid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5</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A×C</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350</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72</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rPr>
                        <a:t>133.12</a:t>
                      </a:r>
                      <a:endParaRPr kumimoji="0" lang="en-US" altLang="zh-CN" sz="2800" b="1" i="0" u="none" strike="noStrike" cap="none" normalizeH="0" baseline="0" smtClean="0">
                        <a:ln>
                          <a:noFill/>
                        </a:ln>
                        <a:solidFill>
                          <a:srgbClr val="00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6</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×BC</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1"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550</a:t>
                      </a:r>
                      <a:endParaRPr kumimoji="0" lang="en-US" altLang="zh-CN" sz="2800" b="0" i="1"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107</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167.97</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18200">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7</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ABC</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0" i="1"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650</a:t>
                      </a:r>
                      <a:endParaRPr kumimoji="0" lang="en-US" altLang="zh-CN" sz="2800" b="0" i="1"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130</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defRPr sz="2800" b="1">
                          <a:solidFill>
                            <a:srgbClr val="000000"/>
                          </a:solidFill>
                          <a:latin typeface="Arial" panose="020B0604020202020204" pitchFamily="34" charset="0"/>
                          <a:ea typeface="宋体" panose="02010600030101010101" pitchFamily="2" charset="-122"/>
                        </a:defRPr>
                      </a:lvl1pPr>
                      <a:lvl2pPr marL="742950" indent="-285750" eaLnBrk="0" hangingPunct="0">
                        <a:spcBef>
                          <a:spcPct val="20000"/>
                        </a:spcBef>
                        <a:defRPr sz="2400" b="1">
                          <a:solidFill>
                            <a:srgbClr val="000000"/>
                          </a:solidFill>
                          <a:latin typeface="Arial" panose="020B0604020202020204" pitchFamily="34" charset="0"/>
                          <a:ea typeface="宋体" panose="02010600030101010101" pitchFamily="2" charset="-122"/>
                        </a:defRPr>
                      </a:lvl2pPr>
                      <a:lvl3pPr marL="1143000" indent="-228600" eaLnBrk="0" hangingPunct="0">
                        <a:spcBef>
                          <a:spcPct val="20000"/>
                        </a:spcBef>
                        <a:defRPr sz="2000" b="1">
                          <a:solidFill>
                            <a:srgbClr val="000000"/>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rgbClr val="000000"/>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b="1">
                          <a:solidFill>
                            <a:srgbClr val="000000"/>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rPr>
                        <a:t>222.3</a:t>
                      </a:r>
                      <a:endParaRPr kumimoji="0" lang="en-US" altLang="zh-CN" sz="2800" b="1" i="0" u="sng" strike="noStrike" cap="none" normalizeH="0" baseline="0" smtClean="0">
                        <a:ln>
                          <a:noFill/>
                        </a:ln>
                        <a:solidFill>
                          <a:srgbClr val="FF0000"/>
                        </a:solidFill>
                        <a:effectLst/>
                        <a:latin typeface="Arial" panose="020B0604020202020204" pitchFamily="34" charset="0"/>
                        <a:ea typeface="宋体" panose="02010600030101010101" pitchFamily="2" charset="-122"/>
                        <a:cs typeface="楷体_GB2312"/>
                      </a:endParaRPr>
                    </a:p>
                  </a:txBody>
                  <a:tcPr marT="45724" marB="45724"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807997"/>
                                        </p:tgtEl>
                                        <p:attrNameLst>
                                          <p:attrName>style.visibility</p:attrName>
                                        </p:attrNameLst>
                                      </p:cBhvr>
                                      <p:to>
                                        <p:strVal val="visible"/>
                                      </p:to>
                                    </p:set>
                                    <p:animEffect transition="in" filter="strips(downRight)">
                                      <p:cBhvr>
                                        <p:cTn id="7" dur="500"/>
                                        <p:tgtEl>
                                          <p:spTgt spid="807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kumimoji="1" lang="zh-CN" altLang="en-US" sz="3200" smtClean="0">
                <a:solidFill>
                  <a:srgbClr val="A50021"/>
                </a:solidFill>
              </a:rPr>
              <a:t>小结</a:t>
            </a:r>
            <a:r>
              <a:rPr kumimoji="1" lang="en-US" altLang="zh-CN" sz="3200" smtClean="0">
                <a:solidFill>
                  <a:srgbClr val="A50021"/>
                </a:solidFill>
              </a:rPr>
              <a:t>:</a:t>
            </a:r>
            <a:r>
              <a:rPr kumimoji="1" lang="zh-CN" altLang="en-US" sz="3200" smtClean="0">
                <a:solidFill>
                  <a:srgbClr val="A50021"/>
                </a:solidFill>
              </a:rPr>
              <a:t>互斥方案评价</a:t>
            </a:r>
            <a:endParaRPr kumimoji="1" lang="zh-CN" altLang="en-US" sz="3200" smtClean="0">
              <a:solidFill>
                <a:srgbClr val="A50021"/>
              </a:solidFill>
            </a:endParaRPr>
          </a:p>
        </p:txBody>
      </p:sp>
      <p:sp>
        <p:nvSpPr>
          <p:cNvPr id="73731" name="Rectangle 3"/>
          <p:cNvSpPr>
            <a:spLocks noGrp="1" noChangeArrowheads="1"/>
          </p:cNvSpPr>
          <p:nvPr>
            <p:ph type="body" idx="1"/>
          </p:nvPr>
        </p:nvSpPr>
        <p:spPr/>
        <p:txBody>
          <a:bodyPr/>
          <a:lstStyle/>
          <a:p>
            <a:pPr eaLnBrk="1" hangingPunct="1"/>
            <a:r>
              <a:rPr lang="zh-CN" altLang="en-US" smtClean="0"/>
              <a:t>费用和效益计算口径一致</a:t>
            </a:r>
            <a:endParaRPr lang="zh-CN" altLang="en-US" smtClean="0"/>
          </a:p>
          <a:p>
            <a:pPr eaLnBrk="1" hangingPunct="1"/>
            <a:r>
              <a:rPr lang="zh-CN" altLang="en-US" smtClean="0"/>
              <a:t>相同的计算期</a:t>
            </a:r>
            <a:endParaRPr lang="zh-CN" altLang="en-US" smtClean="0"/>
          </a:p>
          <a:p>
            <a:pPr eaLnBrk="1" hangingPunct="1"/>
            <a:r>
              <a:rPr lang="zh-CN" altLang="en-US" smtClean="0"/>
              <a:t>现金流量具有相同的时间单位</a:t>
            </a:r>
            <a:endParaRPr lang="zh-CN" altLang="en-US" smtClean="0"/>
          </a:p>
          <a:p>
            <a:pPr eaLnBrk="1" hangingPunct="1"/>
            <a:r>
              <a:rPr lang="zh-CN" altLang="en-US" smtClean="0"/>
              <a:t>投资额不等的互斥方案比选的实质是判断增量投资的经济合理性</a:t>
            </a:r>
            <a:r>
              <a:rPr lang="en-US" altLang="zh-CN" smtClean="0"/>
              <a:t>, </a:t>
            </a:r>
            <a:r>
              <a:rPr lang="zh-CN" altLang="en-US" smtClean="0"/>
              <a:t>遵循净现值最大原则</a:t>
            </a:r>
            <a:r>
              <a:rPr lang="en-US" altLang="zh-CN" smtClean="0"/>
              <a:t>.</a:t>
            </a:r>
            <a:endParaRPr lang="en-US" altLang="zh-CN" smtClean="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altLang="zh-CN" sz="3200" smtClean="0"/>
              <a:t>EXCEL </a:t>
            </a:r>
            <a:r>
              <a:rPr lang="zh-CN" altLang="en-US" sz="3200" smtClean="0"/>
              <a:t>函数</a:t>
            </a:r>
            <a:endParaRPr lang="zh-CN" altLang="en-US" sz="3200" smtClean="0"/>
          </a:p>
        </p:txBody>
      </p:sp>
      <p:sp>
        <p:nvSpPr>
          <p:cNvPr id="74755" name="Rectangle 3"/>
          <p:cNvSpPr>
            <a:spLocks noGrp="1" noChangeArrowheads="1"/>
          </p:cNvSpPr>
          <p:nvPr>
            <p:ph type="body" idx="1"/>
          </p:nvPr>
        </p:nvSpPr>
        <p:spPr/>
        <p:txBody>
          <a:bodyPr/>
          <a:lstStyle/>
          <a:p>
            <a:pPr eaLnBrk="1" hangingPunct="1"/>
            <a:r>
              <a:rPr lang="en-US" altLang="zh-CN" smtClean="0"/>
              <a:t>FV (rate, nper, pmt, pv, type)</a:t>
            </a:r>
            <a:endParaRPr lang="en-US" altLang="zh-CN" smtClean="0"/>
          </a:p>
          <a:p>
            <a:pPr eaLnBrk="1" hangingPunct="1"/>
            <a:r>
              <a:rPr lang="en-US" altLang="zh-CN" smtClean="0"/>
              <a:t>PV (rate, nper, pmt, fv, type)</a:t>
            </a:r>
            <a:endParaRPr lang="en-US" altLang="zh-CN" smtClean="0"/>
          </a:p>
          <a:p>
            <a:pPr eaLnBrk="1" hangingPunct="1"/>
            <a:r>
              <a:rPr lang="en-US" altLang="zh-CN" smtClean="0"/>
              <a:t>NPER (rate, pmt, pv, fv, type)</a:t>
            </a:r>
            <a:endParaRPr lang="en-US" altLang="zh-CN" smtClean="0"/>
          </a:p>
          <a:p>
            <a:pPr eaLnBrk="1" hangingPunct="1"/>
            <a:r>
              <a:rPr lang="en-US" altLang="zh-CN" smtClean="0"/>
              <a:t>PMT (rate, nper, pv, fv, type)</a:t>
            </a:r>
            <a:endParaRPr lang="en-US" altLang="zh-CN" smtClean="0"/>
          </a:p>
          <a:p>
            <a:pPr eaLnBrk="1" hangingPunct="1"/>
            <a:r>
              <a:rPr lang="en-US" altLang="zh-CN" smtClean="0"/>
              <a:t>RATE (nper, pmt, pv, fv, type)</a:t>
            </a:r>
            <a:endParaRPr lang="en-US" altLang="zh-CN" smtClean="0"/>
          </a:p>
          <a:p>
            <a:pPr eaLnBrk="1" hangingPunct="1"/>
            <a:r>
              <a:rPr lang="en-US" altLang="zh-CN" smtClean="0"/>
              <a:t>TYPE --- 0/</a:t>
            </a:r>
            <a:r>
              <a:rPr lang="zh-CN" altLang="en-US" smtClean="0"/>
              <a:t>默认</a:t>
            </a:r>
            <a:r>
              <a:rPr lang="en-US" altLang="zh-CN" smtClean="0"/>
              <a:t>:</a:t>
            </a:r>
            <a:r>
              <a:rPr lang="zh-CN" altLang="en-US" smtClean="0"/>
              <a:t>支付发生与期末</a:t>
            </a:r>
            <a:r>
              <a:rPr lang="en-US" altLang="zh-CN" smtClean="0"/>
              <a:t>, 1:</a:t>
            </a:r>
            <a:r>
              <a:rPr lang="zh-CN" altLang="en-US" smtClean="0"/>
              <a:t>期初</a:t>
            </a:r>
            <a:endParaRPr lang="zh-CN" altLang="en-US" smtClean="0"/>
          </a:p>
          <a:p>
            <a:pPr eaLnBrk="1" hangingPunct="1"/>
            <a:r>
              <a:rPr lang="en-US" altLang="zh-CN" smtClean="0"/>
              <a:t>NPV(rate, value1, value2…..)</a:t>
            </a:r>
            <a:endParaRPr lang="en-US" altLang="zh-CN" smtClean="0"/>
          </a:p>
          <a:p>
            <a:pPr eaLnBrk="1" hangingPunct="1"/>
            <a:r>
              <a:rPr lang="en-US" altLang="zh-CN" smtClean="0"/>
              <a:t>IRR (values, guess)</a:t>
            </a:r>
            <a:endParaRPr lang="en-US" altLang="zh-CN" smtClean="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endParaRPr lang="zh-CN" altLang="en-US" smtClean="0"/>
          </a:p>
        </p:txBody>
      </p:sp>
      <p:sp>
        <p:nvSpPr>
          <p:cNvPr id="75779" name="Rectangle 3"/>
          <p:cNvSpPr>
            <a:spLocks noGrp="1" noChangeArrowheads="1"/>
          </p:cNvSpPr>
          <p:nvPr>
            <p:ph type="body" idx="1"/>
          </p:nvPr>
        </p:nvSpPr>
        <p:spPr/>
        <p:txBody>
          <a:bodyPr/>
          <a:lstStyle/>
          <a:p>
            <a:pPr algn="ctr" eaLnBrk="1" hangingPunct="1">
              <a:buFontTx/>
              <a:buNone/>
            </a:pPr>
            <a:r>
              <a:rPr lang="en-US" altLang="zh-CN" sz="7200" smtClean="0"/>
              <a:t>Question?</a:t>
            </a:r>
            <a:endParaRPr lang="en-US" altLang="zh-CN" sz="7200" smtClean="0"/>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12700"/>
            <a:ext cx="8178800" cy="609600"/>
          </a:xfrm>
          <a:prstGeom prst="rect">
            <a:avLst/>
          </a:prstGeom>
        </p:spPr>
        <p:txBody>
          <a:bodyPr/>
          <a:lstStyle/>
          <a:p>
            <a:pPr>
              <a:defRPr/>
            </a:pPr>
            <a:r>
              <a:rPr lang="en-US" altLang="zh-CN" sz="3600" kern="0" dirty="0">
                <a:solidFill>
                  <a:srgbClr val="990000"/>
                </a:solidFill>
                <a:latin typeface="+mj-lt"/>
                <a:ea typeface="+mj-ea"/>
                <a:cs typeface="楷体_GB2312"/>
              </a:rPr>
              <a:t>2017</a:t>
            </a:r>
            <a:r>
              <a:rPr lang="zh-CN" altLang="en-US" sz="3600" kern="0" dirty="0">
                <a:solidFill>
                  <a:srgbClr val="990000"/>
                </a:solidFill>
                <a:latin typeface="+mj-lt"/>
                <a:ea typeface="+mj-ea"/>
                <a:cs typeface="楷体_GB2312"/>
              </a:rPr>
              <a:t>年阿斯塔纳世博会入围方案</a:t>
            </a:r>
            <a:endParaRPr lang="zh-CN" altLang="en-US" sz="3600" kern="0" dirty="0">
              <a:solidFill>
                <a:srgbClr val="990000"/>
              </a:solidFill>
              <a:latin typeface="+mj-lt"/>
              <a:ea typeface="+mj-ea"/>
              <a:cs typeface="楷体_GB2312"/>
            </a:endParaRPr>
          </a:p>
        </p:txBody>
      </p:sp>
      <p:pic>
        <p:nvPicPr>
          <p:cNvPr id="76803" name="内容占位符 3"/>
          <p:cNvPicPr>
            <a:picLocks noChangeAspect="1"/>
          </p:cNvPicPr>
          <p:nvPr/>
        </p:nvPicPr>
        <p:blipFill>
          <a:blip r:embed="rId1">
            <a:extLst>
              <a:ext uri="{28A0092B-C50C-407E-A947-70E740481C1C}">
                <a14:useLocalDpi xmlns:a14="http://schemas.microsoft.com/office/drawing/2010/main" val="0"/>
              </a:ext>
            </a:extLst>
          </a:blip>
          <a:srcRect l="28041" r="26447"/>
          <a:stretch>
            <a:fillRect/>
          </a:stretch>
        </p:blipFill>
        <p:spPr bwMode="auto">
          <a:xfrm>
            <a:off x="7242175" y="12700"/>
            <a:ext cx="1884363" cy="239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矩形 5"/>
          <p:cNvSpPr>
            <a:spLocks noChangeArrowheads="1"/>
          </p:cNvSpPr>
          <p:nvPr/>
        </p:nvSpPr>
        <p:spPr bwMode="auto">
          <a:xfrm>
            <a:off x="171450" y="836613"/>
            <a:ext cx="6972300"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just" eaLnBrk="1" hangingPunct="1">
              <a:lnSpc>
                <a:spcPct val="90000"/>
              </a:lnSpc>
              <a:spcBef>
                <a:spcPct val="50000"/>
              </a:spcBef>
            </a:pPr>
            <a:r>
              <a:rPr lang="zh-CN" altLang="en-US" sz="2800" b="0">
                <a:latin typeface="宋体" panose="02010600030101010101" pitchFamily="2" charset="-122"/>
                <a:ea typeface="楷体_GB2312" pitchFamily="49" charset="-122"/>
              </a:rPr>
              <a:t>哈萨克斯坦首都阿斯塔纳击败比利时城市列日，成功申办２０１７年专业性世博会，成为首个将迎来世博会的中亚城市。</a:t>
            </a:r>
            <a:endParaRPr lang="zh-CN" altLang="en-US" sz="2800">
              <a:solidFill>
                <a:srgbClr val="0000FF"/>
              </a:solidFill>
              <a:latin typeface="宋体" panose="02010600030101010101" pitchFamily="2" charset="-122"/>
              <a:ea typeface="楷体_GB2312" pitchFamily="49" charset="-122"/>
            </a:endParaRPr>
          </a:p>
        </p:txBody>
      </p:sp>
      <p:sp>
        <p:nvSpPr>
          <p:cNvPr id="76805" name="矩形 8"/>
          <p:cNvSpPr>
            <a:spLocks noChangeArrowheads="1"/>
          </p:cNvSpPr>
          <p:nvPr/>
        </p:nvSpPr>
        <p:spPr bwMode="auto">
          <a:xfrm>
            <a:off x="100013" y="2409825"/>
            <a:ext cx="7043737"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2800" b="0">
                <a:latin typeface="宋体" panose="02010600030101010101" pitchFamily="2" charset="-122"/>
                <a:ea typeface="楷体_GB2312" pitchFamily="49" charset="-122"/>
              </a:rPr>
              <a:t>来自世界各地的</a:t>
            </a:r>
            <a:r>
              <a:rPr lang="en-US" altLang="zh-CN" sz="2800" b="0">
                <a:latin typeface="宋体" panose="02010600030101010101" pitchFamily="2" charset="-122"/>
                <a:ea typeface="楷体_GB2312" pitchFamily="49" charset="-122"/>
              </a:rPr>
              <a:t>45</a:t>
            </a:r>
            <a:r>
              <a:rPr lang="zh-CN" altLang="en-US" sz="2800" b="0">
                <a:latin typeface="宋体" panose="02010600030101010101" pitchFamily="2" charset="-122"/>
                <a:ea typeface="楷体_GB2312" pitchFamily="49" charset="-122"/>
              </a:rPr>
              <a:t>个国际建筑师纷纷积极提出自己的设计建议。这次，关于阿斯塔纳世博会会场的设计，将会与“绿色经济”的主体密切相关。</a:t>
            </a:r>
            <a:endParaRPr lang="zh-CN" altLang="en-US" sz="2800">
              <a:solidFill>
                <a:srgbClr val="0000FF"/>
              </a:solidFill>
              <a:latin typeface="宋体" panose="02010600030101010101" pitchFamily="2" charset="-122"/>
              <a:ea typeface="楷体_GB2312" pitchFamily="49"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117725"/>
            <a:ext cx="4941888"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6388" y="3006725"/>
            <a:ext cx="6418262"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38338" y="2422525"/>
            <a:ext cx="71882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TI0OWQxZGJjNDE2MzIxNDlmMGQ4ZDUyYzcyZTE1MzkifQ=="/>
  <p:tag name="KSO_WPP_MARK_KEY" val="172ceed6-243c-462a-8cbf-c98928b50915"/>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pitchFamily="49" charset="-12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6921</Words>
  <Application>WPS 演示</Application>
  <PresentationFormat>全屏显示(4:3)</PresentationFormat>
  <Paragraphs>941</Paragraphs>
  <Slides>52</Slides>
  <Notes>19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17</vt:i4>
      </vt:variant>
      <vt:variant>
        <vt:lpstr>幻灯片标题</vt:lpstr>
      </vt:variant>
      <vt:variant>
        <vt:i4>52</vt:i4>
      </vt:variant>
    </vt:vector>
  </HeadingPairs>
  <TitlesOfParts>
    <vt:vector size="82" baseType="lpstr">
      <vt:lpstr>Arial</vt:lpstr>
      <vt:lpstr>宋体</vt:lpstr>
      <vt:lpstr>Wingdings</vt:lpstr>
      <vt:lpstr>楷体_GB2312</vt:lpstr>
      <vt:lpstr>新宋体</vt:lpstr>
      <vt:lpstr>楷体_GB2312</vt:lpstr>
      <vt:lpstr>Times</vt:lpstr>
      <vt:lpstr>Times New Roman</vt:lpstr>
      <vt:lpstr>Times</vt:lpstr>
      <vt:lpstr>微软雅黑</vt:lpstr>
      <vt:lpstr>Arial Unicode MS</vt:lpstr>
      <vt:lpstr>黑体</vt:lpstr>
      <vt:lpstr>Blank Presentation</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工程经济学  多方案经济评价方法</vt:lpstr>
      <vt:lpstr>2022年北京冬奥会</vt:lpstr>
      <vt:lpstr>国家速滑馆</vt:lpstr>
      <vt:lpstr>国家速滑馆最终方案：冰丝带</vt:lpstr>
      <vt:lpstr>国家速滑馆最终方案：冰丝带</vt:lpstr>
      <vt:lpstr>工程经济学  体系回顾</vt:lpstr>
      <vt:lpstr>本讲内容: 多方案评价和比选</vt:lpstr>
      <vt:lpstr>方案间关系的类型</vt:lpstr>
      <vt:lpstr>独立方案的选择</vt:lpstr>
      <vt:lpstr>方案选择中的资源限制</vt:lpstr>
      <vt:lpstr>方案间关系的类型</vt:lpstr>
      <vt:lpstr>方案间关系的类型</vt:lpstr>
      <vt:lpstr>互斥方案经济评价方法</vt:lpstr>
      <vt:lpstr>互斥方案比选的例子</vt:lpstr>
      <vt:lpstr>核心：增量分析 Incremental Analysis</vt:lpstr>
      <vt:lpstr>增量分析法的类别</vt:lpstr>
      <vt:lpstr>增量净现金流量</vt:lpstr>
      <vt:lpstr>增量净现值△NPV</vt:lpstr>
      <vt:lpstr>增量内部收益率△IRR</vt:lpstr>
      <vt:lpstr>增量内部收益率准则≠内部收益率最大准则</vt:lpstr>
      <vt:lpstr>采用增量内部收益率法的步骤</vt:lpstr>
      <vt:lpstr>互斥方案比选流程图</vt:lpstr>
      <vt:lpstr>例子</vt:lpstr>
      <vt:lpstr>方法一：从NPV角度分析</vt:lpstr>
      <vt:lpstr>方法二：从IRR角度分析</vt:lpstr>
      <vt:lpstr>其他的互斥方案评价方法</vt:lpstr>
      <vt:lpstr>寿命期不同的互斥方案经济效果评价</vt:lpstr>
      <vt:lpstr>例：寿命期不同的互斥方案评价</vt:lpstr>
      <vt:lpstr>方法一：净年值法</vt:lpstr>
      <vt:lpstr>方法二：净现值的最小公倍数法</vt:lpstr>
      <vt:lpstr>收益未知的互斥方案</vt:lpstr>
      <vt:lpstr>例题</vt:lpstr>
      <vt:lpstr>费用方法</vt:lpstr>
      <vt:lpstr>寿命无限和寿命不等的互斥方案</vt:lpstr>
      <vt:lpstr>例题</vt:lpstr>
      <vt:lpstr>例题</vt:lpstr>
      <vt:lpstr>寿命不等方案</vt:lpstr>
      <vt:lpstr>最小公倍数法</vt:lpstr>
      <vt:lpstr>例题</vt:lpstr>
      <vt:lpstr>例题</vt:lpstr>
      <vt:lpstr>现金流量图</vt:lpstr>
      <vt:lpstr>NPV法</vt:lpstr>
      <vt:lpstr>年值法</vt:lpstr>
      <vt:lpstr>其他多方案经济评价</vt:lpstr>
      <vt:lpstr>练习：</vt:lpstr>
      <vt:lpstr>净现值率排序</vt:lpstr>
      <vt:lpstr>方案组合法</vt:lpstr>
      <vt:lpstr>方案组合法</vt:lpstr>
      <vt:lpstr>小结:互斥方案评价</vt:lpstr>
      <vt:lpstr>EXCEL 函数</vt:lpstr>
      <vt:lpstr>PowerPoint 演示文稿</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1794</cp:revision>
  <dcterms:created xsi:type="dcterms:W3CDTF">2006-03-30T18:33:00Z</dcterms:created>
  <dcterms:modified xsi:type="dcterms:W3CDTF">2023-11-01T16:59:15Z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04A9E8C1F91C4A1A8D6A3C22939DEDE6</vt:lpwstr>
  </property>
  <property fmtid="{D5CDD505-2E9C-101B-9397-08002B2CF9AE}" pid="3" name="KSOProductBuildVer">
    <vt:lpwstr>2052-12.1.0.15712</vt:lpwstr>
  </property>
</Properties>
</file>