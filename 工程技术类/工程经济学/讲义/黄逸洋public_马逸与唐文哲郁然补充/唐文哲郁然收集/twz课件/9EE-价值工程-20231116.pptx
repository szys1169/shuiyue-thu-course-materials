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handoutMasterIdLst>
    <p:handoutMasterId r:id="rId77"/>
  </p:handoutMasterIdLst>
  <p:sldIdLst>
    <p:sldId id="1097" r:id="rId3"/>
    <p:sldId id="1098" r:id="rId4"/>
    <p:sldId id="1019" r:id="rId5"/>
    <p:sldId id="1021" r:id="rId6"/>
    <p:sldId id="1018" r:id="rId7"/>
    <p:sldId id="1060" r:id="rId8"/>
    <p:sldId id="1040" r:id="rId9"/>
    <p:sldId id="1074" r:id="rId10"/>
    <p:sldId id="1022" r:id="rId11"/>
    <p:sldId id="1077" r:id="rId12"/>
    <p:sldId id="1023" r:id="rId13"/>
    <p:sldId id="1024" r:id="rId14"/>
    <p:sldId id="412" r:id="rId15"/>
    <p:sldId id="1012" r:id="rId16"/>
    <p:sldId id="1013" r:id="rId17"/>
    <p:sldId id="648" r:id="rId18"/>
    <p:sldId id="1061" r:id="rId19"/>
    <p:sldId id="1062" r:id="rId20"/>
    <p:sldId id="1041" r:id="rId21"/>
    <p:sldId id="1059" r:id="rId22"/>
    <p:sldId id="1042" r:id="rId23"/>
    <p:sldId id="1063" r:id="rId24"/>
    <p:sldId id="418" r:id="rId25"/>
    <p:sldId id="1043" r:id="rId26"/>
    <p:sldId id="1048" r:id="rId27"/>
    <p:sldId id="1058" r:id="rId28"/>
    <p:sldId id="1064" r:id="rId29"/>
    <p:sldId id="1034" r:id="rId30"/>
    <p:sldId id="1035" r:id="rId31"/>
    <p:sldId id="1066" r:id="rId32"/>
    <p:sldId id="1068" r:id="rId33"/>
    <p:sldId id="1069" r:id="rId34"/>
    <p:sldId id="1070" r:id="rId35"/>
    <p:sldId id="1037" r:id="rId36"/>
    <p:sldId id="425" r:id="rId37"/>
    <p:sldId id="1065" r:id="rId38"/>
    <p:sldId id="426" r:id="rId39"/>
    <p:sldId id="654" r:id="rId40"/>
    <p:sldId id="427" r:id="rId41"/>
    <p:sldId id="655" r:id="rId42"/>
    <p:sldId id="1072" r:id="rId43"/>
    <p:sldId id="1073" r:id="rId44"/>
    <p:sldId id="1078" r:id="rId45"/>
    <p:sldId id="1079" r:id="rId46"/>
    <p:sldId id="1080" r:id="rId47"/>
    <p:sldId id="1081" r:id="rId48"/>
    <p:sldId id="1082" r:id="rId49"/>
    <p:sldId id="1083" r:id="rId50"/>
    <p:sldId id="1084" r:id="rId51"/>
    <p:sldId id="1085" r:id="rId52"/>
    <p:sldId id="1086" r:id="rId53"/>
    <p:sldId id="1087" r:id="rId54"/>
    <p:sldId id="1088" r:id="rId55"/>
    <p:sldId id="1089" r:id="rId56"/>
    <p:sldId id="1103" r:id="rId57"/>
    <p:sldId id="1090" r:id="rId58"/>
    <p:sldId id="1091" r:id="rId59"/>
    <p:sldId id="1092" r:id="rId60"/>
    <p:sldId id="1093" r:id="rId61"/>
    <p:sldId id="1104" r:id="rId62"/>
    <p:sldId id="1105" r:id="rId63"/>
    <p:sldId id="1106" r:id="rId64"/>
    <p:sldId id="1107" r:id="rId65"/>
    <p:sldId id="1108" r:id="rId66"/>
    <p:sldId id="1109" r:id="rId67"/>
    <p:sldId id="1110" r:id="rId68"/>
    <p:sldId id="1111" r:id="rId69"/>
    <p:sldId id="1112" r:id="rId70"/>
    <p:sldId id="1094" r:id="rId71"/>
    <p:sldId id="1100" r:id="rId72"/>
    <p:sldId id="1102" r:id="rId73"/>
    <p:sldId id="1099" r:id="rId74"/>
    <p:sldId id="1095" r:id="rId75"/>
  </p:sldIdLst>
  <p:sldSz cx="9144000" cy="6858000" type="screen4x3"/>
  <p:notesSz cx="6858000" cy="9144000"/>
  <p:custDataLst>
    <p:tags r:id="rId81"/>
  </p:custDataLst>
  <p:defaultTex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Garamond" panose="02020404030301010803"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FFFF00"/>
    <a:srgbClr val="66FF99"/>
    <a:srgbClr val="000000"/>
    <a:srgbClr val="CC9900"/>
    <a:srgbClr val="99FF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67" autoAdjust="0"/>
    <p:restoredTop sz="94718" autoAdjust="0"/>
  </p:normalViewPr>
  <p:slideViewPr>
    <p:cSldViewPr showGuides="1">
      <p:cViewPr varScale="1">
        <p:scale>
          <a:sx n="109" d="100"/>
          <a:sy n="109" d="100"/>
        </p:scale>
        <p:origin x="1812"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4752"/>
    </p:cViewPr>
  </p:sorterViewPr>
  <p:notesViewPr>
    <p:cSldViewPr>
      <p:cViewPr varScale="1">
        <p:scale>
          <a:sx n="35" d="100"/>
          <a:sy n="35" d="100"/>
        </p:scale>
        <p:origin x="-159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1" Type="http://schemas.openxmlformats.org/officeDocument/2006/relationships/tags" Target="tags/tag1.xml"/><Relationship Id="rId80" Type="http://schemas.openxmlformats.org/officeDocument/2006/relationships/tableStyles" Target="tableStyles.xml"/><Relationship Id="rId8" Type="http://schemas.openxmlformats.org/officeDocument/2006/relationships/slide" Target="slides/slide6.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handoutMaster" Target="handoutMasters/handoutMaster1.xml"/><Relationship Id="rId76" Type="http://schemas.openxmlformats.org/officeDocument/2006/relationships/notesMaster" Target="notesMasters/notesMaster1.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zh-CN" altLang="en-US"/>
          </a:p>
        </p:txBody>
      </p:sp>
      <p:sp>
        <p:nvSpPr>
          <p:cNvPr id="37891"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37892"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37893"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lstStyle>
            <a:lvl1pPr algn="r" eaLnBrk="1" hangingPunct="1">
              <a:defRPr kumimoji="1" sz="1200">
                <a:latin typeface="Times New Roman" panose="02020603050405020304" pitchFamily="18" charset="0"/>
              </a:defRPr>
            </a:lvl1pPr>
          </a:lstStyle>
          <a:p>
            <a:pPr>
              <a:defRPr/>
            </a:pPr>
            <a:fld id="{9463F053-FA26-4E08-B2BD-7B9E524D6CDE}"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zh-CN" altLang="en-US"/>
          </a:p>
        </p:txBody>
      </p:sp>
      <p:sp>
        <p:nvSpPr>
          <p:cNvPr id="35843" name="Rectangle 3"/>
          <p:cNvSpPr>
            <a:spLocks noGrp="1" noChangeArrowheads="1"/>
          </p:cNvSpPr>
          <p:nvPr>
            <p:ph type="dt"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5" name="Rectangle 5"/>
          <p:cNvSpPr>
            <a:spLocks noGrp="1" noChangeArrowheads="1"/>
          </p:cNvSpPr>
          <p:nvPr>
            <p:ph type="body" sz="quarter" idx="3"/>
          </p:nvPr>
        </p:nvSpPr>
        <p:spPr bwMode="auto">
          <a:xfrm>
            <a:off x="914400" y="4343400"/>
            <a:ext cx="5029200" cy="41148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35847" name="Rectangle 7"/>
          <p:cNvSpPr>
            <a:spLocks noGrp="1" noChangeArrowheads="1"/>
          </p:cNvSpPr>
          <p:nvPr>
            <p:ph type="sldNum" sz="quarter" idx="5"/>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lstStyle>
            <a:lvl1pPr algn="r" eaLnBrk="1" hangingPunct="1">
              <a:defRPr kumimoji="1" sz="1200">
                <a:latin typeface="Times New Roman" panose="02020603050405020304" pitchFamily="18" charset="0"/>
              </a:defRPr>
            </a:lvl1pPr>
          </a:lstStyle>
          <a:p>
            <a:pPr>
              <a:defRPr/>
            </a:pPr>
            <a:fld id="{C0EF8F18-40DD-4A99-90AB-CB7CE89CB99B}"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0825" cy="6850063"/>
            <a:chOff x="0" y="0"/>
            <a:chExt cx="5758" cy="4315"/>
          </a:xfrm>
        </p:grpSpPr>
        <p:grpSp>
          <p:nvGrpSpPr>
            <p:cNvPr id="5" name="Group 3"/>
            <p:cNvGrpSpPr/>
            <p:nvPr userDrawn="1"/>
          </p:nvGrpSpPr>
          <p:grpSpPr bwMode="auto">
            <a:xfrm>
              <a:off x="1728" y="2230"/>
              <a:ext cx="4027" cy="2085"/>
              <a:chOff x="1728" y="2230"/>
              <a:chExt cx="4027" cy="2085"/>
            </a:xfrm>
          </p:grpSpPr>
          <p:sp>
            <p:nvSpPr>
              <p:cNvPr id="8" name="Freeform 4"/>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ln>
            </p:spPr>
            <p:txBody>
              <a:bodyPr/>
              <a:lstStyle/>
              <a:p>
                <a:pPr eaLnBrk="1" hangingPunct="1">
                  <a:defRPr/>
                </a:pPr>
                <a:endParaRPr lang="zh-CN" altLang="en-US"/>
              </a:p>
            </p:txBody>
          </p:sp>
          <p:sp>
            <p:nvSpPr>
              <p:cNvPr id="9" name="Freeform 5"/>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ln>
            </p:spPr>
            <p:txBody>
              <a:bodyPr/>
              <a:lstStyle/>
              <a:p>
                <a:pPr eaLnBrk="1" hangingPunct="1">
                  <a:defRPr/>
                </a:pPr>
                <a:endParaRPr lang="zh-CN" altLang="en-US"/>
              </a:p>
            </p:txBody>
          </p:sp>
          <p:sp>
            <p:nvSpPr>
              <p:cNvPr id="10" name="Freeform 6"/>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ln>
            </p:spPr>
            <p:txBody>
              <a:bodyPr/>
              <a:lstStyle/>
              <a:p>
                <a:pPr eaLnBrk="1" hangingPunct="1">
                  <a:defRPr/>
                </a:pPr>
                <a:endParaRPr lang="zh-CN" altLang="en-US"/>
              </a:p>
            </p:txBody>
          </p:sp>
          <p:sp>
            <p:nvSpPr>
              <p:cNvPr id="11" name="Freeform 7"/>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 name="Freeform 8"/>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ln>
            </p:spPr>
            <p:txBody>
              <a:bodyPr/>
              <a:lstStyle/>
              <a:p>
                <a:pPr eaLnBrk="1" hangingPunct="1">
                  <a:defRPr/>
                </a:pPr>
                <a:endParaRPr lang="zh-CN" altLang="en-US"/>
              </a:p>
            </p:txBody>
          </p:sp>
        </p:grpSp>
        <p:sp>
          <p:nvSpPr>
            <p:cNvPr id="6" name="Freeform 9"/>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ln>
          </p:spPr>
          <p:txBody>
            <a:bodyPr/>
            <a:lstStyle/>
            <a:p>
              <a:pPr eaLnBrk="1" hangingPunct="1">
                <a:defRPr/>
              </a:pPr>
              <a:endParaRPr lang="zh-CN" altLang="en-US"/>
            </a:p>
          </p:txBody>
        </p:sp>
        <p:sp>
          <p:nvSpPr>
            <p:cNvPr id="7" name="Freeform 10"/>
            <p:cNvSpPr/>
            <p:nvPr/>
          </p:nvSpPr>
          <p:spPr bwMode="hidden">
            <a:xfrm>
              <a:off x="0" y="0"/>
              <a:ext cx="5758" cy="1776"/>
            </a:xfrm>
            <a:custGeom>
              <a:avLst/>
              <a:gdLst>
                <a:gd name="T0" fmla="*/ 0 w 5740"/>
                <a:gd name="T1" fmla="*/ 0 h 1906"/>
                <a:gd name="T2" fmla="*/ 0 w 5740"/>
                <a:gd name="T3" fmla="*/ 1163 h 1906"/>
                <a:gd name="T4" fmla="*/ 5866 w 5740"/>
                <a:gd name="T5" fmla="*/ 1163 h 1906"/>
                <a:gd name="T6" fmla="*/ 5866 w 5740"/>
                <a:gd name="T7" fmla="*/ 0 h 1906"/>
                <a:gd name="T8" fmla="*/ 0 w 5740"/>
                <a:gd name="T9" fmla="*/ 0 h 1906"/>
                <a:gd name="T10" fmla="*/ 0 w 5740"/>
                <a:gd name="T11" fmla="*/ 0 h 1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984075" name="Rectangle 11"/>
          <p:cNvSpPr>
            <a:spLocks noGrp="1" noChangeArrowheads="1"/>
          </p:cNvSpPr>
          <p:nvPr>
            <p:ph type="ctrTitle" sz="quarter"/>
          </p:nvPr>
        </p:nvSpPr>
        <p:spPr>
          <a:xfrm>
            <a:off x="685800" y="1736725"/>
            <a:ext cx="7772400" cy="1920875"/>
          </a:xfrm>
        </p:spPr>
        <p:txBody>
          <a:bodyPr/>
          <a:lstStyle>
            <a:lvl1pPr>
              <a:defRPr sz="6000"/>
            </a:lvl1pPr>
          </a:lstStyle>
          <a:p>
            <a:r>
              <a:rPr lang="zh-CN" altLang="en-US"/>
              <a:t>单击此处编辑母版标题样式</a:t>
            </a:r>
            <a:endParaRPr lang="zh-CN" altLang="en-US"/>
          </a:p>
        </p:txBody>
      </p:sp>
      <p:sp>
        <p:nvSpPr>
          <p:cNvPr id="984076"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3" name="Rectangle 13"/>
          <p:cNvSpPr>
            <a:spLocks noGrp="1" noChangeArrowheads="1"/>
          </p:cNvSpPr>
          <p:nvPr>
            <p:ph type="dt" sz="quarter" idx="10"/>
          </p:nvPr>
        </p:nvSpPr>
        <p:spPr>
          <a:xfrm>
            <a:off x="457200" y="6248400"/>
            <a:ext cx="2133600" cy="476250"/>
          </a:xfrm>
        </p:spPr>
        <p:txBody>
          <a:bodyPr/>
          <a:lstStyle>
            <a:lvl1pPr>
              <a:defRPr/>
            </a:lvl1pPr>
          </a:lstStyle>
          <a:p>
            <a:pPr>
              <a:defRPr/>
            </a:pPr>
            <a:endParaRPr lang="en-US" altLang="zh-CN"/>
          </a:p>
        </p:txBody>
      </p:sp>
      <p:sp>
        <p:nvSpPr>
          <p:cNvPr id="14" name="Rectangle 14"/>
          <p:cNvSpPr>
            <a:spLocks noGrp="1" noChangeArrowheads="1"/>
          </p:cNvSpPr>
          <p:nvPr>
            <p:ph type="ftr" sz="quarter" idx="11"/>
          </p:nvPr>
        </p:nvSpPr>
        <p:spPr>
          <a:xfrm>
            <a:off x="3124200" y="6251575"/>
            <a:ext cx="2895600" cy="476250"/>
          </a:xfrm>
        </p:spPr>
        <p:txBody>
          <a:bodyPr/>
          <a:lstStyle>
            <a:lvl1pPr>
              <a:defRPr/>
            </a:lvl1pPr>
          </a:lstStyle>
          <a:p>
            <a:pPr>
              <a:defRPr/>
            </a:pPr>
            <a:endParaRPr lang="en-US" altLang="zh-CN"/>
          </a:p>
        </p:txBody>
      </p:sp>
      <p:sp>
        <p:nvSpPr>
          <p:cNvPr id="15" name="Rectangle 15"/>
          <p:cNvSpPr>
            <a:spLocks noGrp="1" noChangeArrowheads="1"/>
          </p:cNvSpPr>
          <p:nvPr>
            <p:ph type="sldNum" sz="quarter" idx="12"/>
          </p:nvPr>
        </p:nvSpPr>
        <p:spPr>
          <a:xfrm>
            <a:off x="6553200" y="6254750"/>
            <a:ext cx="2133600" cy="476250"/>
          </a:xfrm>
        </p:spPr>
        <p:txBody>
          <a:bodyPr/>
          <a:lstStyle>
            <a:lvl1pPr>
              <a:defRPr/>
            </a:lvl1pPr>
          </a:lstStyle>
          <a:p>
            <a:pPr>
              <a:defRPr/>
            </a:pPr>
            <a:fld id="{63241166-56DE-4590-AAC1-AEF3BC48E0FD}"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22424805-E1E3-460A-8386-05CFCC9CD6E6}" type="slidenum">
              <a:rPr lang="zh-CN" altLang="en-US"/>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2B977B3-D913-404C-8D72-68CF88707E08}" type="slidenum">
              <a:rPr lang="zh-CN" altLang="en-US"/>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FC34FC8-3B28-4877-94D5-C9894EAFEB0B}" type="slidenum">
              <a:rPr lang="zh-CN" altLang="en-US"/>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2"/>
          <p:cNvSpPr>
            <a:spLocks noGrp="1" noChangeArrowheads="1"/>
          </p:cNvSpPr>
          <p:nvPr>
            <p:ph type="dt" sz="half"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E58FF78E-A714-414E-8747-7F23E0B6A8BB}" type="slidenum">
              <a:rPr lang="zh-CN" altLang="en-US"/>
            </a:fld>
            <a:endParaRPr lang="en-US" altLang="zh-CN"/>
          </a:p>
        </p:txBody>
      </p:sp>
      <p:sp>
        <p:nvSpPr>
          <p:cNvPr id="9"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dt" sz="half"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871DFB0C-8C23-4178-AEED-9A8915FFC202}" type="slidenum">
              <a:rPr lang="zh-CN" altLang="en-US"/>
            </a:fld>
            <a:endParaRPr lang="en-US" altLang="zh-CN"/>
          </a:p>
        </p:txBody>
      </p:sp>
      <p:sp>
        <p:nvSpPr>
          <p:cNvPr id="5"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EBF50BA-1FBC-4C22-BCDE-6440E8856468}" type="slidenum">
              <a:rPr lang="zh-CN" altLang="en-US"/>
            </a:fld>
            <a:endParaRPr lang="en-US" altLang="zh-CN"/>
          </a:p>
        </p:txBody>
      </p:sp>
      <p:sp>
        <p:nvSpPr>
          <p:cNvPr id="4"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D7EF2E7C-0521-41DB-B985-B2A4E310AC87}" type="slidenum">
              <a:rPr lang="zh-CN" altLang="en-US"/>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36D255D3-1EA5-4F10-ADF4-E18B4C70456F}" type="slidenum">
              <a:rPr lang="zh-CN" altLang="en-US"/>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25BC8ABC-643B-4A9F-A93F-472508E00E9E}" type="slidenum">
              <a:rPr lang="zh-CN" altLang="en-US"/>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2B050593-BE32-43A7-8DCC-977F71DE0667}" type="slidenum">
              <a:rPr lang="zh-CN" altLang="en-US"/>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2"/>
          <p:cNvSpPr>
            <a:spLocks noGrp="1" noChangeArrowheads="1"/>
          </p:cNvSpPr>
          <p:nvPr>
            <p:ph type="dt" sz="half" idx="10"/>
          </p:nvPr>
        </p:nvSpPr>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p:txBody>
          <a:bodyPr/>
          <a:lstStyle>
            <a:lvl1pPr>
              <a:defRPr/>
            </a:lvl1pPr>
          </a:lstStyle>
          <a:p>
            <a:pPr>
              <a:defRPr/>
            </a:pPr>
            <a:fld id="{CED7D304-5BA8-45B6-831B-C9FB8EEA5EF9}" type="slidenum">
              <a:rPr lang="zh-CN" altLang="en-US"/>
            </a:fld>
            <a:endParaRPr lang="en-US" altLang="zh-CN"/>
          </a:p>
        </p:txBody>
      </p:sp>
      <p:sp>
        <p:nvSpPr>
          <p:cNvPr id="8"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6DA59E03-8B25-4067-9734-D66383B55829}" type="slidenum">
              <a:rPr lang="zh-CN" altLang="en-US"/>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smtClean="0"/>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ED7D5984-0F24-463B-B666-95A84A5ED1D5}" type="slidenum">
              <a:rPr lang="zh-CN" altLang="en-US"/>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42" name="Rectangle 2"/>
          <p:cNvSpPr>
            <a:spLocks noGrp="1" noChangeArrowheads="1"/>
          </p:cNvSpPr>
          <p:nvPr>
            <p:ph type="dt" sz="half" idx="2"/>
          </p:nvPr>
        </p:nvSpPr>
        <p:spPr bwMode="auto">
          <a:xfrm>
            <a:off x="457200" y="6251575"/>
            <a:ext cx="2133600" cy="47625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983043" name="Rectangle 3"/>
          <p:cNvSpPr>
            <a:spLocks noGrp="1" noChangeArrowheads="1"/>
          </p:cNvSpPr>
          <p:nvPr>
            <p:ph type="sldNum" sz="quarter" idx="4"/>
          </p:nvPr>
        </p:nvSpPr>
        <p:spPr bwMode="auto">
          <a:xfrm>
            <a:off x="6553200" y="6248400"/>
            <a:ext cx="2133600" cy="47625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A45A9EA1-9ADF-4E34-97CD-7C760C1CA49F}" type="slidenum">
              <a:rPr lang="zh-CN" altLang="en-US"/>
            </a:fld>
            <a:endParaRPr lang="en-US" altLang="zh-CN"/>
          </a:p>
        </p:txBody>
      </p:sp>
      <p:grpSp>
        <p:nvGrpSpPr>
          <p:cNvPr id="1028" name="Group 4"/>
          <p:cNvGrpSpPr/>
          <p:nvPr/>
        </p:nvGrpSpPr>
        <p:grpSpPr bwMode="auto">
          <a:xfrm>
            <a:off x="0" y="0"/>
            <a:ext cx="9140825" cy="6850063"/>
            <a:chOff x="0" y="0"/>
            <a:chExt cx="5758" cy="4315"/>
          </a:xfrm>
        </p:grpSpPr>
        <p:grpSp>
          <p:nvGrpSpPr>
            <p:cNvPr id="1032" name="Group 5"/>
            <p:cNvGrpSpPr/>
            <p:nvPr userDrawn="1"/>
          </p:nvGrpSpPr>
          <p:grpSpPr bwMode="auto">
            <a:xfrm>
              <a:off x="1728" y="2230"/>
              <a:ext cx="4027" cy="2085"/>
              <a:chOff x="1728" y="2230"/>
              <a:chExt cx="4027" cy="2085"/>
            </a:xfrm>
          </p:grpSpPr>
          <p:sp>
            <p:nvSpPr>
              <p:cNvPr id="983046" name="Freeform 6"/>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ln>
            </p:spPr>
            <p:txBody>
              <a:bodyPr/>
              <a:lstStyle/>
              <a:p>
                <a:pPr eaLnBrk="1" hangingPunct="1">
                  <a:defRPr/>
                </a:pPr>
                <a:endParaRPr lang="zh-CN" altLang="en-US"/>
              </a:p>
            </p:txBody>
          </p:sp>
          <p:sp>
            <p:nvSpPr>
              <p:cNvPr id="983047" name="Freeform 7"/>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ln>
            </p:spPr>
            <p:txBody>
              <a:bodyPr/>
              <a:lstStyle/>
              <a:p>
                <a:pPr eaLnBrk="1" hangingPunct="1">
                  <a:defRPr/>
                </a:pPr>
                <a:endParaRPr lang="zh-CN" altLang="en-US"/>
              </a:p>
            </p:txBody>
          </p:sp>
          <p:sp>
            <p:nvSpPr>
              <p:cNvPr id="983048" name="Freeform 8"/>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ln>
            </p:spPr>
            <p:txBody>
              <a:bodyPr/>
              <a:lstStyle/>
              <a:p>
                <a:pPr eaLnBrk="1" hangingPunct="1">
                  <a:defRPr/>
                </a:pPr>
                <a:endParaRPr lang="zh-CN" altLang="en-US"/>
              </a:p>
            </p:txBody>
          </p:sp>
          <p:sp>
            <p:nvSpPr>
              <p:cNvPr id="1038" name="Freeform 9"/>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3050" name="Freeform 10"/>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ln>
            </p:spPr>
            <p:txBody>
              <a:bodyPr/>
              <a:lstStyle/>
              <a:p>
                <a:pPr eaLnBrk="1" hangingPunct="1">
                  <a:defRPr/>
                </a:pPr>
                <a:endParaRPr lang="zh-CN" altLang="en-US"/>
              </a:p>
            </p:txBody>
          </p:sp>
        </p:grpSp>
        <p:sp>
          <p:nvSpPr>
            <p:cNvPr id="983051" name="Freeform 11"/>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ln>
          </p:spPr>
          <p:txBody>
            <a:bodyPr/>
            <a:lstStyle/>
            <a:p>
              <a:pPr eaLnBrk="1" hangingPunct="1">
                <a:defRPr/>
              </a:pPr>
              <a:endParaRPr lang="zh-CN" altLang="en-US"/>
            </a:p>
          </p:txBody>
        </p:sp>
        <p:sp>
          <p:nvSpPr>
            <p:cNvPr id="1034" name="Freeform 12"/>
            <p:cNvSpPr/>
            <p:nvPr/>
          </p:nvSpPr>
          <p:spPr bwMode="hidden">
            <a:xfrm>
              <a:off x="0" y="0"/>
              <a:ext cx="5758" cy="1776"/>
            </a:xfrm>
            <a:custGeom>
              <a:avLst/>
              <a:gdLst>
                <a:gd name="T0" fmla="*/ 0 w 5740"/>
                <a:gd name="T1" fmla="*/ 0 h 1906"/>
                <a:gd name="T2" fmla="*/ 0 w 5740"/>
                <a:gd name="T3" fmla="*/ 1163 h 1906"/>
                <a:gd name="T4" fmla="*/ 5866 w 5740"/>
                <a:gd name="T5" fmla="*/ 1163 h 1906"/>
                <a:gd name="T6" fmla="*/ 5866 w 5740"/>
                <a:gd name="T7" fmla="*/ 0 h 1906"/>
                <a:gd name="T8" fmla="*/ 0 w 5740"/>
                <a:gd name="T9" fmla="*/ 0 h 1906"/>
                <a:gd name="T10" fmla="*/ 0 w 5740"/>
                <a:gd name="T11" fmla="*/ 0 h 1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983053" name="Rectangle 13"/>
          <p:cNvSpPr>
            <a:spLocks noGrp="1" noRot="1" noChangeArrowheads="1"/>
          </p:cNvSpPr>
          <p:nvPr>
            <p:ph type="title"/>
          </p:nvPr>
        </p:nvSpPr>
        <p:spPr bwMode="auto">
          <a:xfrm>
            <a:off x="457200" y="274638"/>
            <a:ext cx="8229600" cy="1143000"/>
          </a:xfrm>
          <a:prstGeom prst="rect">
            <a:avLst/>
          </a:prstGeom>
          <a:noFill/>
          <a:ln w="9525">
            <a:noFill/>
            <a:miter lim="800000"/>
          </a:ln>
          <a:effec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983054" name="Rectangle 14"/>
          <p:cNvSpPr>
            <a:spLocks noGrp="1" noChangeArrowheads="1"/>
          </p:cNvSpPr>
          <p:nvPr>
            <p:ph type="ftr" sz="quarter" idx="3"/>
          </p:nvPr>
        </p:nvSpPr>
        <p:spPr bwMode="auto">
          <a:xfrm>
            <a:off x="3124200" y="6248400"/>
            <a:ext cx="2895600" cy="47625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Arial" panose="020B0604020202020204" pitchFamily="34" charset="0"/>
              </a:defRPr>
            </a:lvl1pPr>
          </a:lstStyle>
          <a:p>
            <a:pPr>
              <a:defRPr/>
            </a:pPr>
            <a:endParaRPr lang="en-US" altLang="zh-CN"/>
          </a:p>
        </p:txBody>
      </p:sp>
      <p:sp>
        <p:nvSpPr>
          <p:cNvPr id="983055" name="Rectangle 15"/>
          <p:cNvSpPr>
            <a:spLocks noGrp="1" noChangeArrowheads="1"/>
          </p:cNvSpPr>
          <p:nvPr>
            <p:ph type="body" idx="1"/>
          </p:nvPr>
        </p:nvSpPr>
        <p:spPr bwMode="auto">
          <a:xfrm>
            <a:off x="4572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7.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bin"/></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4" name="Rectangle 8"/>
          <p:cNvSpPr>
            <a:spLocks noRot="1" noChangeArrowheads="1"/>
          </p:cNvSpPr>
          <p:nvPr/>
        </p:nvSpPr>
        <p:spPr bwMode="auto">
          <a:xfrm>
            <a:off x="1071563" y="188913"/>
            <a:ext cx="6715125" cy="998537"/>
          </a:xfrm>
          <a:prstGeom prst="rect">
            <a:avLst/>
          </a:prstGeom>
          <a:noFill/>
          <a:ln w="9525">
            <a:noFill/>
            <a:miter lim="800000"/>
          </a:ln>
        </p:spPr>
        <p:txBody>
          <a:bodyPr anchor="ctr"/>
          <a:lstStyle/>
          <a:p>
            <a:pPr marL="342900" indent="-342900" eaLnBrk="1" hangingPunct="1">
              <a:spcBef>
                <a:spcPct val="20000"/>
              </a:spcBef>
              <a:buClr>
                <a:schemeClr val="hlink"/>
              </a:buClr>
              <a:buSzPct val="70000"/>
              <a:defRPr/>
            </a:pPr>
            <a:r>
              <a:rPr lang="zh-CN" altLang="en-US" sz="4800" b="1" dirty="0">
                <a:solidFill>
                  <a:srgbClr val="FF7C80"/>
                </a:solidFill>
                <a:effectLst>
                  <a:outerShdw blurRad="38100" dist="38100" dir="2700000" algn="tl">
                    <a:srgbClr val="000000"/>
                  </a:outerShdw>
                </a:effectLst>
              </a:rPr>
              <a:t>引渤入疆工程惹争议</a:t>
            </a:r>
            <a:endParaRPr lang="en-US" altLang="zh-CN" sz="4800" b="1" i="1" dirty="0">
              <a:solidFill>
                <a:srgbClr val="FF7C80"/>
              </a:solidFill>
              <a:effectLst>
                <a:outerShdw blurRad="38100" dist="38100" dir="2700000" algn="tl">
                  <a:srgbClr val="000000"/>
                </a:outerShdw>
              </a:effectLst>
            </a:endParaRPr>
          </a:p>
        </p:txBody>
      </p:sp>
      <p:sp>
        <p:nvSpPr>
          <p:cNvPr id="1013765" name="Rectangle 9"/>
          <p:cNvSpPr>
            <a:spLocks noRot="1" noChangeArrowheads="1"/>
          </p:cNvSpPr>
          <p:nvPr/>
        </p:nvSpPr>
        <p:spPr bwMode="auto">
          <a:xfrm>
            <a:off x="179388" y="1566863"/>
            <a:ext cx="8785225" cy="566737"/>
          </a:xfrm>
          <a:prstGeom prst="rect">
            <a:avLst/>
          </a:prstGeom>
          <a:noFill/>
          <a:ln w="9525">
            <a:noFill/>
            <a:miter lim="800000"/>
          </a:ln>
        </p:spPr>
        <p:txBody>
          <a:bodyPr/>
          <a:lstStyle/>
          <a:p>
            <a:pPr marL="342900" indent="-342900" eaLnBrk="1" hangingPunct="1">
              <a:spcBef>
                <a:spcPct val="20000"/>
              </a:spcBef>
              <a:buClr>
                <a:schemeClr val="hlink"/>
              </a:buClr>
              <a:buSzPct val="70000"/>
              <a:buFont typeface="Wingdings" panose="05000000000000000000" pitchFamily="2" charset="2"/>
              <a:buChar char="l"/>
              <a:defRPr/>
            </a:pPr>
            <a:endParaRPr lang="en-US" altLang="zh-CN" sz="2800" b="1" i="1" dirty="0">
              <a:solidFill>
                <a:srgbClr val="FF7C80"/>
              </a:solidFill>
              <a:effectLst>
                <a:outerShdw blurRad="38100" dist="38100" dir="2700000" algn="tl">
                  <a:srgbClr val="000000"/>
                </a:outerShdw>
              </a:effectLst>
            </a:endParaRPr>
          </a:p>
        </p:txBody>
      </p:sp>
      <p:sp>
        <p:nvSpPr>
          <p:cNvPr id="4" name="Rectangle 9"/>
          <p:cNvSpPr txBox="1">
            <a:spLocks noRot="1" noChangeArrowheads="1"/>
          </p:cNvSpPr>
          <p:nvPr/>
        </p:nvSpPr>
        <p:spPr bwMode="auto">
          <a:xfrm>
            <a:off x="250825" y="2276475"/>
            <a:ext cx="8137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80000"/>
              </a:lnSpc>
              <a:buClrTx/>
              <a:buSzTx/>
              <a:buFont typeface="Arial" panose="020B0604020202020204" pitchFamily="34" charset="0"/>
              <a:buChar char="•"/>
            </a:pPr>
            <a:r>
              <a:rPr lang="zh-CN" altLang="en-US" sz="2800">
                <a:latin typeface="华文新魏" panose="02010800040101010101" pitchFamily="2" charset="-122"/>
                <a:ea typeface="华文新魏" panose="02010800040101010101" pitchFamily="2" charset="-122"/>
              </a:rPr>
              <a:t>乌鲁木齐召开的“陆海统筹 海水西调高峰论坛”：</a:t>
            </a:r>
            <a:endParaRPr lang="en-US" altLang="zh-CN" sz="2800">
              <a:latin typeface="华文新魏" panose="02010800040101010101" pitchFamily="2" charset="-122"/>
              <a:ea typeface="华文新魏" panose="02010800040101010101" pitchFamily="2" charset="-122"/>
            </a:endParaRPr>
          </a:p>
          <a:p>
            <a:pPr eaLnBrk="1" hangingPunct="1">
              <a:lnSpc>
                <a:spcPct val="80000"/>
              </a:lnSpc>
              <a:buClrTx/>
              <a:buSzTx/>
              <a:buFontTx/>
              <a:buNone/>
            </a:pPr>
            <a:r>
              <a:rPr lang="zh-CN" altLang="en-US" sz="2800">
                <a:latin typeface="华文新魏" panose="02010800040101010101" pitchFamily="2" charset="-122"/>
                <a:ea typeface="华文新魏" panose="02010800040101010101" pitchFamily="2" charset="-122"/>
              </a:rPr>
              <a:t>将渤海之水引入沙漠，化戈壁为良田。</a:t>
            </a:r>
            <a:endParaRPr lang="en-US" altLang="zh-CN" sz="2800">
              <a:latin typeface="华文新魏" panose="02010800040101010101" pitchFamily="2" charset="-122"/>
              <a:ea typeface="华文新魏" panose="02010800040101010101" pitchFamily="2" charset="-122"/>
            </a:endParaRPr>
          </a:p>
        </p:txBody>
      </p:sp>
      <p:sp>
        <p:nvSpPr>
          <p:cNvPr id="12" name="矩形 11"/>
          <p:cNvSpPr>
            <a:spLocks noChangeArrowheads="1"/>
          </p:cNvSpPr>
          <p:nvPr/>
        </p:nvSpPr>
        <p:spPr bwMode="auto">
          <a:xfrm>
            <a:off x="250825" y="3500438"/>
            <a:ext cx="5257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80000"/>
              </a:lnSpc>
              <a:buClrTx/>
              <a:buSzTx/>
              <a:buFontTx/>
              <a:buNone/>
            </a:pPr>
            <a:r>
              <a:rPr lang="en-US" altLang="zh-CN" sz="2800">
                <a:latin typeface="华文新魏" panose="02010800040101010101" pitchFamily="2" charset="-122"/>
                <a:ea typeface="华文新魏" panose="02010800040101010101" pitchFamily="2" charset="-122"/>
              </a:rPr>
              <a:t>——</a:t>
            </a:r>
            <a:r>
              <a:rPr lang="zh-CN" altLang="en-US" sz="2800">
                <a:latin typeface="华文新魏" panose="02010800040101010101" pitchFamily="2" charset="-122"/>
                <a:ea typeface="华文新魏" panose="02010800040101010101" pitchFamily="2" charset="-122"/>
              </a:rPr>
              <a:t>痴人说梦还是锦囊妙计？</a:t>
            </a:r>
            <a:r>
              <a:rPr lang="zh-CN" altLang="en-US" sz="2800">
                <a:solidFill>
                  <a:srgbClr val="000000"/>
                </a:solidFill>
                <a:latin typeface="华文新魏" panose="02010800040101010101" pitchFamily="2" charset="-122"/>
                <a:ea typeface="华文新魏" panose="02010800040101010101" pitchFamily="2" charset="-122"/>
              </a:rPr>
              <a:t> </a:t>
            </a:r>
            <a:endParaRPr lang="zh-CN" altLang="en-US" sz="2800">
              <a:solidFill>
                <a:srgbClr val="000000"/>
              </a:solidFill>
              <a:latin typeface="华文新魏" panose="02010800040101010101" pitchFamily="2" charset="-122"/>
              <a:ea typeface="华文新魏" panose="02010800040101010101" pitchFamily="2" charset="-122"/>
            </a:endParaRPr>
          </a:p>
        </p:txBody>
      </p:sp>
      <p:sp>
        <p:nvSpPr>
          <p:cNvPr id="17" name="矩形 16"/>
          <p:cNvSpPr>
            <a:spLocks noChangeArrowheads="1"/>
          </p:cNvSpPr>
          <p:nvPr/>
        </p:nvSpPr>
        <p:spPr bwMode="auto">
          <a:xfrm>
            <a:off x="250825" y="4508500"/>
            <a:ext cx="180022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80000"/>
              </a:lnSpc>
              <a:buClrTx/>
              <a:buSzTx/>
              <a:buFont typeface="Arial" panose="020B0604020202020204" pitchFamily="34" charset="0"/>
              <a:buChar char="•"/>
            </a:pPr>
            <a:r>
              <a:rPr lang="zh-CN" altLang="en-US" sz="2800">
                <a:latin typeface="华文新魏" panose="02010800040101010101" pitchFamily="2" charset="-122"/>
                <a:ea typeface="华文新魏" panose="02010800040101010101" pitchFamily="2" charset="-122"/>
              </a:rPr>
              <a:t>五大问题</a:t>
            </a:r>
            <a:endParaRPr lang="en-US" altLang="zh-CN" sz="2800">
              <a:latin typeface="华文新魏" panose="02010800040101010101" pitchFamily="2" charset="-122"/>
              <a:ea typeface="华文新魏" panose="02010800040101010101" pitchFamily="2" charset="-122"/>
            </a:endParaRPr>
          </a:p>
          <a:p>
            <a:pPr eaLnBrk="1" hangingPunct="1">
              <a:lnSpc>
                <a:spcPct val="80000"/>
              </a:lnSpc>
              <a:buClrTx/>
              <a:buSzTx/>
              <a:buFontTx/>
              <a:buNone/>
            </a:pPr>
            <a:r>
              <a:rPr lang="en-US" altLang="zh-CN" sz="2800">
                <a:latin typeface="楷体_GB2312"/>
                <a:ea typeface="楷体_GB2312"/>
                <a:cs typeface="楷体_GB2312"/>
              </a:rPr>
              <a:t>   &amp;</a:t>
            </a:r>
            <a:r>
              <a:rPr lang="zh-CN" altLang="en-US" sz="2800">
                <a:latin typeface="华文新魏" panose="02010800040101010101" pitchFamily="2" charset="-122"/>
                <a:ea typeface="华文新魏" panose="02010800040101010101" pitchFamily="2" charset="-122"/>
              </a:rPr>
              <a:t>对策</a:t>
            </a:r>
            <a:endParaRPr lang="zh-CN" altLang="en-US" sz="2800">
              <a:latin typeface="华文新魏" panose="02010800040101010101" pitchFamily="2" charset="-122"/>
              <a:ea typeface="华文新魏" panose="02010800040101010101" pitchFamily="2" charset="-122"/>
            </a:endParaRPr>
          </a:p>
        </p:txBody>
      </p:sp>
      <p:sp>
        <p:nvSpPr>
          <p:cNvPr id="23" name="矩形 22"/>
          <p:cNvSpPr>
            <a:spLocks noChangeArrowheads="1"/>
          </p:cNvSpPr>
          <p:nvPr/>
        </p:nvSpPr>
        <p:spPr bwMode="auto">
          <a:xfrm>
            <a:off x="250825" y="3933825"/>
            <a:ext cx="820896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80000"/>
              </a:lnSpc>
              <a:buClrTx/>
              <a:buSzTx/>
              <a:buFont typeface="Arial" panose="020B0604020202020204" pitchFamily="34" charset="0"/>
              <a:buChar char="•"/>
            </a:pPr>
            <a:r>
              <a:rPr lang="zh-CN" altLang="en-US" sz="2800">
                <a:latin typeface="华文新魏" panose="02010800040101010101" pitchFamily="2" charset="-122"/>
                <a:ea typeface="华文新魏" panose="02010800040101010101" pitchFamily="2" charset="-122"/>
              </a:rPr>
              <a:t>基本构想：</a:t>
            </a:r>
            <a:endParaRPr lang="zh-CN" altLang="en-US" sz="2800">
              <a:latin typeface="华文新魏" panose="02010800040101010101" pitchFamily="2" charset="-122"/>
              <a:ea typeface="华文新魏" panose="02010800040101010101" pitchFamily="2" charset="-122"/>
            </a:endParaRPr>
          </a:p>
        </p:txBody>
      </p:sp>
      <p:sp>
        <p:nvSpPr>
          <p:cNvPr id="11" name="矩形 10"/>
          <p:cNvSpPr>
            <a:spLocks noChangeArrowheads="1"/>
          </p:cNvSpPr>
          <p:nvPr/>
        </p:nvSpPr>
        <p:spPr bwMode="auto">
          <a:xfrm>
            <a:off x="250825" y="5445125"/>
            <a:ext cx="17843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zh-CN" altLang="en-US" sz="2800">
                <a:latin typeface="华文新魏" panose="02010800040101010101" pitchFamily="2" charset="-122"/>
                <a:ea typeface="华文新魏" panose="02010800040101010101" pitchFamily="2" charset="-122"/>
              </a:rPr>
              <a:t>网络热议</a:t>
            </a:r>
            <a:endParaRPr lang="en-US" altLang="zh-CN" sz="2800">
              <a:latin typeface="华文新魏" panose="02010800040101010101" pitchFamily="2" charset="-122"/>
              <a:ea typeface="华文新魏" panose="02010800040101010101" pitchFamily="2" charset="-122"/>
            </a:endParaRPr>
          </a:p>
          <a:p>
            <a:pPr eaLnBrk="1" hangingPunct="1">
              <a:spcBef>
                <a:spcPct val="0"/>
              </a:spcBef>
              <a:buClrTx/>
              <a:buSzTx/>
              <a:buFontTx/>
              <a:buNone/>
            </a:pPr>
            <a:r>
              <a:rPr lang="en-US" altLang="zh-CN" sz="2800">
                <a:latin typeface="楷体_GB2312"/>
                <a:ea typeface="楷体_GB2312"/>
                <a:cs typeface="楷体_GB2312"/>
              </a:rPr>
              <a:t>&amp;</a:t>
            </a:r>
            <a:r>
              <a:rPr lang="zh-CN" altLang="en-US" sz="2800">
                <a:latin typeface="华文新魏" panose="02010800040101010101" pitchFamily="2" charset="-122"/>
                <a:ea typeface="华文新魏" panose="02010800040101010101" pitchFamily="2" charset="-122"/>
              </a:rPr>
              <a:t>广泛质疑</a:t>
            </a:r>
            <a:endParaRPr lang="zh-CN" altLang="en-US" sz="1800">
              <a:latin typeface="Arial" panose="020B0604020202020204" pitchFamily="34" charset="0"/>
              <a:ea typeface="楷体_GB2312"/>
              <a:cs typeface="楷体_GB2312"/>
            </a:endParaRPr>
          </a:p>
        </p:txBody>
      </p:sp>
      <p:pic>
        <p:nvPicPr>
          <p:cNvPr id="2050" name="Picture 2" descr="D:\研究生\工程经济学助教\ppt\“引渤入新”项目示意图.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8813" y="1285875"/>
            <a:ext cx="7019925"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7" grpId="0"/>
      <p:bldP spid="23"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539750" y="3716338"/>
            <a:ext cx="80645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spcBef>
                <a:spcPct val="0"/>
              </a:spcBef>
              <a:buClrTx/>
              <a:buSzTx/>
              <a:buFontTx/>
              <a:buNone/>
            </a:pPr>
            <a:r>
              <a:rPr lang="zh-CN" altLang="en-US" sz="3600" b="1" dirty="0"/>
              <a:t>唐文哲 </a:t>
            </a:r>
            <a:r>
              <a:rPr lang="en-US" altLang="zh-CN" sz="3600" b="1" dirty="0"/>
              <a:t> </a:t>
            </a:r>
            <a:r>
              <a:rPr lang="zh-CN" altLang="en-US" sz="3600" b="1" dirty="0"/>
              <a:t>教授</a:t>
            </a:r>
            <a:endParaRPr lang="zh-CN" altLang="en-US" sz="3600" b="1" dirty="0"/>
          </a:p>
          <a:p>
            <a:pPr algn="ctr" eaLnBrk="1" hangingPunct="1">
              <a:spcBef>
                <a:spcPct val="0"/>
              </a:spcBef>
              <a:buClrTx/>
              <a:buSzTx/>
              <a:buFontTx/>
              <a:buNone/>
            </a:pPr>
            <a:r>
              <a:rPr lang="zh-CN" altLang="en-US" sz="3600" b="1" dirty="0"/>
              <a:t>清华大学土木水利学院</a:t>
            </a:r>
            <a:endParaRPr lang="en-US" altLang="zh-CN" sz="3600" b="1" dirty="0"/>
          </a:p>
          <a:p>
            <a:pPr algn="ctr" eaLnBrk="1" hangingPunct="1">
              <a:spcBef>
                <a:spcPct val="0"/>
              </a:spcBef>
              <a:buClrTx/>
              <a:buSzTx/>
              <a:buFontTx/>
              <a:buNone/>
            </a:pPr>
            <a:r>
              <a:rPr lang="en-US" altLang="zh-CN" sz="3600" b="1" dirty="0" smtClean="0"/>
              <a:t>2023</a:t>
            </a:r>
            <a:r>
              <a:rPr lang="zh-CN" altLang="en-US" sz="3600" b="1" dirty="0" smtClean="0"/>
              <a:t>年</a:t>
            </a:r>
            <a:r>
              <a:rPr lang="en-US" altLang="zh-CN" sz="3600" b="1" dirty="0" smtClean="0"/>
              <a:t>11</a:t>
            </a:r>
            <a:r>
              <a:rPr lang="zh-CN" altLang="en-US" sz="3600" b="1" dirty="0" smtClean="0"/>
              <a:t>月</a:t>
            </a:r>
            <a:r>
              <a:rPr lang="en-US" altLang="zh-CN" sz="3600" b="1" dirty="0" smtClean="0"/>
              <a:t>16</a:t>
            </a:r>
            <a:r>
              <a:rPr lang="zh-CN" altLang="en-US" sz="3600" b="1" smtClean="0"/>
              <a:t>日</a:t>
            </a:r>
            <a:endParaRPr lang="zh-CN" altLang="en-US" sz="3600" b="1" dirty="0"/>
          </a:p>
          <a:p>
            <a:pPr eaLnBrk="1" hangingPunct="1">
              <a:spcBef>
                <a:spcPct val="50000"/>
              </a:spcBef>
              <a:buClrTx/>
              <a:buSzTx/>
              <a:buFontTx/>
              <a:buNone/>
            </a:pPr>
            <a:endParaRPr lang="zh-CN" altLang="en-US" sz="3600" b="1" dirty="0">
              <a:latin typeface="Arial" panose="020B0604020202020204" pitchFamily="34" charset="0"/>
            </a:endParaRPr>
          </a:p>
        </p:txBody>
      </p:sp>
      <p:sp>
        <p:nvSpPr>
          <p:cNvPr id="6147" name="Rectangle 5"/>
          <p:cNvSpPr>
            <a:spLocks noChangeArrowheads="1"/>
          </p:cNvSpPr>
          <p:nvPr/>
        </p:nvSpPr>
        <p:spPr bwMode="auto">
          <a:xfrm>
            <a:off x="539750" y="476250"/>
            <a:ext cx="8064500"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spcBef>
                <a:spcPct val="0"/>
              </a:spcBef>
              <a:buClrTx/>
              <a:buSzTx/>
              <a:buFontTx/>
              <a:buNone/>
            </a:pPr>
            <a:r>
              <a:rPr lang="zh-CN" altLang="en-US" sz="6000" b="1">
                <a:solidFill>
                  <a:srgbClr val="FF0000"/>
                </a:solidFill>
              </a:rPr>
              <a:t>工程经济学</a:t>
            </a:r>
            <a:endParaRPr lang="zh-CN" altLang="en-US" sz="6000" b="1">
              <a:solidFill>
                <a:srgbClr val="FF0000"/>
              </a:solidFill>
            </a:endParaRPr>
          </a:p>
          <a:p>
            <a:pPr algn="ctr" eaLnBrk="1" hangingPunct="1">
              <a:spcBef>
                <a:spcPct val="0"/>
              </a:spcBef>
              <a:buClrTx/>
              <a:buSzTx/>
              <a:buFontTx/>
              <a:buNone/>
            </a:pPr>
            <a:endParaRPr lang="zh-CN" altLang="en-US" sz="3600" b="1"/>
          </a:p>
          <a:p>
            <a:pPr algn="ctr" eaLnBrk="1" hangingPunct="1">
              <a:spcBef>
                <a:spcPct val="0"/>
              </a:spcBef>
              <a:buClrTx/>
              <a:buSzTx/>
              <a:buFontTx/>
              <a:buNone/>
            </a:pPr>
            <a:r>
              <a:rPr lang="zh-CN" altLang="en-US" sz="4400" b="1">
                <a:solidFill>
                  <a:srgbClr val="FF7C80"/>
                </a:solidFill>
              </a:rPr>
              <a:t>价值工程</a:t>
            </a:r>
            <a:endParaRPr lang="zh-CN" altLang="en-US" sz="4400" b="1">
              <a:solidFill>
                <a:srgbClr val="FF7C80"/>
              </a:solidFill>
            </a:endParaRPr>
          </a:p>
          <a:p>
            <a:pPr eaLnBrk="1" hangingPunct="1">
              <a:spcBef>
                <a:spcPct val="50000"/>
              </a:spcBef>
              <a:buClrTx/>
              <a:buSzTx/>
              <a:buFontTx/>
              <a:buNone/>
            </a:pPr>
            <a:endParaRPr lang="zh-CN" altLang="en-US" sz="3600" b="1">
              <a:latin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4" name="Rectangle 4"/>
          <p:cNvSpPr>
            <a:spLocks noGrp="1" noRot="1" noChangeArrowheads="1"/>
          </p:cNvSpPr>
          <p:nvPr>
            <p:ph type="title"/>
          </p:nvPr>
        </p:nvSpPr>
        <p:spPr/>
        <p:txBody>
          <a:bodyPr/>
          <a:lstStyle/>
          <a:p>
            <a:pPr eaLnBrk="1" hangingPunct="1">
              <a:defRPr/>
            </a:pPr>
            <a:r>
              <a:rPr lang="zh-CN" altLang="en-US" smtClean="0"/>
              <a:t>价值工程（</a:t>
            </a:r>
            <a:r>
              <a:rPr lang="en-US" altLang="zh-CN" smtClean="0"/>
              <a:t>VE/VA</a:t>
            </a:r>
            <a:r>
              <a:rPr lang="zh-CN" altLang="en-US" smtClean="0"/>
              <a:t>）原理</a:t>
            </a:r>
            <a:endParaRPr lang="zh-CN" altLang="en-US" smtClean="0"/>
          </a:p>
        </p:txBody>
      </p:sp>
      <p:sp>
        <p:nvSpPr>
          <p:cNvPr id="896005" name="Rectangle 5"/>
          <p:cNvSpPr>
            <a:spLocks noGrp="1" noChangeArrowheads="1"/>
          </p:cNvSpPr>
          <p:nvPr>
            <p:ph type="body" idx="1"/>
          </p:nvPr>
        </p:nvSpPr>
        <p:spPr>
          <a:xfrm>
            <a:off x="457200" y="1600200"/>
            <a:ext cx="8686800" cy="4530725"/>
          </a:xfrm>
        </p:spPr>
        <p:txBody>
          <a:bodyPr/>
          <a:lstStyle/>
          <a:p>
            <a:pPr eaLnBrk="1" hangingPunct="1">
              <a:lnSpc>
                <a:spcPct val="90000"/>
              </a:lnSpc>
              <a:defRPr/>
            </a:pPr>
            <a:r>
              <a:rPr kumimoji="1" lang="zh-CN" altLang="en-US" sz="2800" b="1" smtClean="0">
                <a:effectLst/>
              </a:rPr>
              <a:t>价值工程（ </a:t>
            </a:r>
            <a:r>
              <a:rPr kumimoji="1" lang="en-US" altLang="zh-CN" sz="2800" b="1" smtClean="0">
                <a:effectLst/>
              </a:rPr>
              <a:t>Value </a:t>
            </a:r>
            <a:r>
              <a:rPr kumimoji="1" lang="zh-CN" altLang="en-US" sz="2800" b="1" smtClean="0">
                <a:effectLst/>
              </a:rPr>
              <a:t> </a:t>
            </a:r>
            <a:r>
              <a:rPr kumimoji="1" lang="en-US" altLang="zh-CN" sz="2800" b="1" smtClean="0">
                <a:effectLst/>
              </a:rPr>
              <a:t>Engineering </a:t>
            </a:r>
            <a:r>
              <a:rPr kumimoji="1" lang="zh-CN" altLang="en-US" sz="2800" b="1" smtClean="0">
                <a:effectLst/>
                <a:latin typeface="Arial" panose="020B0604020202020204"/>
              </a:rPr>
              <a:t>——</a:t>
            </a:r>
            <a:r>
              <a:rPr kumimoji="1" lang="en-US" altLang="zh-CN" sz="2800" b="1" smtClean="0">
                <a:effectLst/>
              </a:rPr>
              <a:t> VE）</a:t>
            </a:r>
            <a:r>
              <a:rPr kumimoji="1" lang="zh-CN" altLang="en-US" sz="2800" b="1" smtClean="0">
                <a:effectLst/>
              </a:rPr>
              <a:t>又称为价值分析（ </a:t>
            </a:r>
            <a:r>
              <a:rPr kumimoji="1" lang="en-US" altLang="zh-CN" sz="2800" b="1" smtClean="0">
                <a:effectLst/>
              </a:rPr>
              <a:t>Value</a:t>
            </a:r>
            <a:r>
              <a:rPr kumimoji="1" lang="zh-CN" altLang="en-US" sz="2800" b="1" smtClean="0">
                <a:effectLst/>
              </a:rPr>
              <a:t>  </a:t>
            </a:r>
            <a:r>
              <a:rPr kumimoji="1" lang="en-US" altLang="zh-CN" sz="2800" b="1" smtClean="0">
                <a:effectLst/>
              </a:rPr>
              <a:t>Analysis </a:t>
            </a:r>
            <a:r>
              <a:rPr kumimoji="1" lang="zh-CN" altLang="en-US" sz="2800" b="1" smtClean="0">
                <a:effectLst/>
                <a:latin typeface="Arial" panose="020B0604020202020204"/>
              </a:rPr>
              <a:t>——</a:t>
            </a:r>
            <a:r>
              <a:rPr kumimoji="1" lang="en-US" altLang="zh-CN" sz="2800" b="1" smtClean="0">
                <a:effectLst/>
              </a:rPr>
              <a:t> VA ）</a:t>
            </a:r>
            <a:endParaRPr kumimoji="1" lang="en-US" altLang="zh-CN" sz="2800" b="1" smtClean="0">
              <a:effectLst/>
            </a:endParaRPr>
          </a:p>
          <a:p>
            <a:pPr eaLnBrk="1" hangingPunct="1">
              <a:lnSpc>
                <a:spcPct val="90000"/>
              </a:lnSpc>
              <a:defRPr/>
            </a:pPr>
            <a:r>
              <a:rPr kumimoji="1" lang="en-US" altLang="zh-CN" sz="2800" b="1" smtClean="0">
                <a:effectLst/>
              </a:rPr>
              <a:t>VE/VA</a:t>
            </a:r>
            <a:r>
              <a:rPr kumimoji="1" lang="zh-CN" altLang="en-US" sz="2800" b="1" smtClean="0">
                <a:effectLst/>
              </a:rPr>
              <a:t>是</a:t>
            </a:r>
            <a:r>
              <a:rPr kumimoji="1" lang="zh-CN" altLang="en-US" sz="2800" b="1" smtClean="0">
                <a:solidFill>
                  <a:schemeClr val="folHlink"/>
                </a:solidFill>
                <a:effectLst/>
              </a:rPr>
              <a:t>二战时期</a:t>
            </a:r>
            <a:r>
              <a:rPr kumimoji="1" lang="zh-CN" altLang="en-US" sz="2800" b="1" smtClean="0">
                <a:effectLst/>
              </a:rPr>
              <a:t>美国设计师</a:t>
            </a:r>
            <a:r>
              <a:rPr kumimoji="1" lang="zh-CN" altLang="en-US" sz="2800" b="1" smtClean="0">
                <a:solidFill>
                  <a:schemeClr val="folHlink"/>
                </a:solidFill>
                <a:effectLst/>
              </a:rPr>
              <a:t>麦尔斯</a:t>
            </a:r>
            <a:r>
              <a:rPr kumimoji="1" lang="zh-CN" altLang="en-US" sz="2800" b="1" smtClean="0">
                <a:effectLst/>
              </a:rPr>
              <a:t>（</a:t>
            </a:r>
            <a:r>
              <a:rPr kumimoji="1" lang="en-US" altLang="zh-CN" sz="2800" b="1" smtClean="0">
                <a:effectLst/>
              </a:rPr>
              <a:t>L.S.Miles）</a:t>
            </a:r>
            <a:r>
              <a:rPr kumimoji="1" lang="zh-CN" altLang="en-US" sz="2800" b="1" smtClean="0">
                <a:effectLst/>
              </a:rPr>
              <a:t>在</a:t>
            </a:r>
            <a:r>
              <a:rPr kumimoji="1" lang="zh-CN" altLang="en-US" sz="2800" b="1" smtClean="0">
                <a:solidFill>
                  <a:schemeClr val="folHlink"/>
                </a:solidFill>
                <a:effectLst/>
              </a:rPr>
              <a:t>石棉</a:t>
            </a:r>
            <a:r>
              <a:rPr kumimoji="1" lang="zh-CN" altLang="en-US" sz="2800" b="1" smtClean="0">
                <a:effectLst/>
              </a:rPr>
              <a:t>短缺问题上研究出代替材料的方法，他总结出一套在保证相同功能的前提下降低成本的较完整的科学技术方法，其后又发展到改进设计、工艺和生产领域，而至目前完善成为一种</a:t>
            </a:r>
            <a:r>
              <a:rPr kumimoji="1" lang="zh-CN" altLang="en-US" sz="2800" b="1" smtClean="0">
                <a:solidFill>
                  <a:schemeClr val="folHlink"/>
                </a:solidFill>
                <a:effectLst/>
              </a:rPr>
              <a:t>技术经济</a:t>
            </a:r>
            <a:r>
              <a:rPr kumimoji="1" lang="zh-CN" altLang="en-US" sz="2800" b="1" smtClean="0">
                <a:effectLst/>
              </a:rPr>
              <a:t>分析方法，统称为价值工程。</a:t>
            </a:r>
            <a:endParaRPr kumimoji="1" lang="zh-CN" altLang="en-US" sz="2800" b="1" smtClean="0">
              <a:effectLst/>
            </a:endParaRPr>
          </a:p>
          <a:p>
            <a:pPr eaLnBrk="1" hangingPunct="1">
              <a:lnSpc>
                <a:spcPct val="90000"/>
              </a:lnSpc>
              <a:defRPr/>
            </a:pPr>
            <a:r>
              <a:rPr kumimoji="1" lang="zh-CN" altLang="en-US" sz="2800" b="1" smtClean="0">
                <a:effectLst/>
              </a:rPr>
              <a:t>我国对这种方法的认识是在</a:t>
            </a:r>
            <a:r>
              <a:rPr kumimoji="1" lang="zh-CN" altLang="en-US" sz="2800" b="1" smtClean="0">
                <a:solidFill>
                  <a:schemeClr val="folHlink"/>
                </a:solidFill>
                <a:effectLst/>
              </a:rPr>
              <a:t>1978</a:t>
            </a:r>
            <a:r>
              <a:rPr kumimoji="1" lang="zh-CN" altLang="en-US" sz="2800" b="1" smtClean="0">
                <a:effectLst/>
              </a:rPr>
              <a:t>年，现已被重视和普及。</a:t>
            </a:r>
            <a:endParaRPr kumimoji="1" lang="zh-CN" altLang="en-US" sz="2800" b="1" smtClean="0">
              <a:effectLst/>
            </a:endParaRPr>
          </a:p>
          <a:p>
            <a:pPr eaLnBrk="1" hangingPunct="1">
              <a:lnSpc>
                <a:spcPct val="90000"/>
              </a:lnSpc>
              <a:defRPr/>
            </a:pPr>
            <a:endParaRPr lang="zh-CN" altLang="en-US" sz="280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Rot="1" noChangeArrowheads="1"/>
          </p:cNvSpPr>
          <p:nvPr>
            <p:ph type="title"/>
          </p:nvPr>
        </p:nvSpPr>
        <p:spPr/>
        <p:txBody>
          <a:bodyPr/>
          <a:lstStyle/>
          <a:p>
            <a:pPr eaLnBrk="1" hangingPunct="1">
              <a:defRPr/>
            </a:pPr>
            <a:r>
              <a:rPr lang="zh-CN" altLang="en-US" smtClean="0"/>
              <a:t>价值工程（</a:t>
            </a:r>
            <a:r>
              <a:rPr lang="en-US" altLang="zh-CN" smtClean="0"/>
              <a:t>VE/VA</a:t>
            </a:r>
            <a:r>
              <a:rPr lang="zh-CN" altLang="en-US" smtClean="0"/>
              <a:t>） </a:t>
            </a:r>
            <a:endParaRPr lang="zh-CN" altLang="en-US" smtClean="0"/>
          </a:p>
        </p:txBody>
      </p:sp>
      <p:sp>
        <p:nvSpPr>
          <p:cNvPr id="898051" name="Rectangle 3"/>
          <p:cNvSpPr>
            <a:spLocks noGrp="1" noChangeArrowheads="1"/>
          </p:cNvSpPr>
          <p:nvPr>
            <p:ph type="body" idx="1"/>
          </p:nvPr>
        </p:nvSpPr>
        <p:spPr>
          <a:xfrm>
            <a:off x="539750" y="1125538"/>
            <a:ext cx="8229600" cy="4530725"/>
          </a:xfrm>
        </p:spPr>
        <p:txBody>
          <a:bodyPr/>
          <a:lstStyle/>
          <a:p>
            <a:pPr eaLnBrk="1" hangingPunct="1">
              <a:defRPr/>
            </a:pPr>
            <a:r>
              <a:rPr kumimoji="1" lang="zh-CN" altLang="en-US" smtClean="0">
                <a:effectLst/>
              </a:rPr>
              <a:t>研究如何以最低的寿命周期成本，可靠地实现对象（产品、作业或服务等）的必要功能，而致力于功能分析的一种有组织的技术经济思想方法和管理技术。</a:t>
            </a:r>
            <a:endParaRPr kumimoji="1" lang="zh-CN" altLang="en-US" smtClean="0">
              <a:effectLst/>
            </a:endParaRPr>
          </a:p>
          <a:p>
            <a:pPr eaLnBrk="1" hangingPunct="1">
              <a:defRPr/>
            </a:pPr>
            <a:r>
              <a:rPr kumimoji="1" lang="zh-CN" altLang="en-US" b="1" smtClean="0">
                <a:effectLst/>
              </a:rPr>
              <a:t>谋求以最低的产品全寿命周期成本，可靠地实现使用者所需的必要功能，对产品的功能成本进行有组织的系统分析的一种技术方法。</a:t>
            </a:r>
            <a:endParaRPr kumimoji="1" lang="zh-CN" altLang="en-US" b="1" smtClean="0">
              <a:effectLst/>
            </a:endParaRPr>
          </a:p>
          <a:p>
            <a:pPr eaLnBrk="1" hangingPunct="1">
              <a:defRPr/>
            </a:pPr>
            <a:endParaRPr kumimoji="1" lang="zh-CN" altLang="en-US" b="1" smtClean="0">
              <a:effectLst/>
            </a:endParaRPr>
          </a:p>
          <a:p>
            <a:pPr eaLnBrk="1" hangingPunct="1">
              <a:defRPr/>
            </a:pPr>
            <a:endParaRPr lang="zh-CN" altLang="en-US" smtClean="0"/>
          </a:p>
        </p:txBody>
      </p:sp>
      <p:grpSp>
        <p:nvGrpSpPr>
          <p:cNvPr id="2" name="Group 4"/>
          <p:cNvGrpSpPr/>
          <p:nvPr/>
        </p:nvGrpSpPr>
        <p:grpSpPr bwMode="auto">
          <a:xfrm>
            <a:off x="2268538" y="5229225"/>
            <a:ext cx="6019800" cy="1490663"/>
            <a:chOff x="1104" y="1776"/>
            <a:chExt cx="3792" cy="939"/>
          </a:xfrm>
        </p:grpSpPr>
        <p:sp>
          <p:nvSpPr>
            <p:cNvPr id="8197" name="Text Box 5"/>
            <p:cNvSpPr txBox="1">
              <a:spLocks noChangeArrowheads="1"/>
            </p:cNvSpPr>
            <p:nvPr/>
          </p:nvSpPr>
          <p:spPr bwMode="auto">
            <a:xfrm>
              <a:off x="1104" y="1984"/>
              <a:ext cx="1306"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chemeClr val="folHlink"/>
                  </a:solidFill>
                  <a:latin typeface="Times New Roman" panose="02020603050405020304" pitchFamily="18" charset="0"/>
                </a:rPr>
                <a:t>价值（</a:t>
              </a:r>
              <a:r>
                <a:rPr kumimoji="1" lang="en-US" altLang="zh-CN" sz="2800" b="1">
                  <a:solidFill>
                    <a:schemeClr val="folHlink"/>
                  </a:solidFill>
                  <a:latin typeface="Times New Roman" panose="02020603050405020304" pitchFamily="18" charset="0"/>
                </a:rPr>
                <a:t>V）=</a:t>
              </a:r>
              <a:endParaRPr kumimoji="1" lang="en-US" altLang="zh-CN" sz="2800" b="1">
                <a:solidFill>
                  <a:schemeClr val="folHlink"/>
                </a:solidFill>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endParaRPr kumimoji="1" lang="en-US" altLang="zh-CN" sz="2800" b="1">
                <a:solidFill>
                  <a:schemeClr val="folHlink"/>
                </a:solidFill>
                <a:latin typeface="Times New Roman" panose="02020603050405020304" pitchFamily="18" charset="0"/>
              </a:endParaRPr>
            </a:p>
          </p:txBody>
        </p:sp>
        <p:sp>
          <p:nvSpPr>
            <p:cNvPr id="8198" name="Line 6"/>
            <p:cNvSpPr>
              <a:spLocks noChangeShapeType="1"/>
            </p:cNvSpPr>
            <p:nvPr/>
          </p:nvSpPr>
          <p:spPr bwMode="auto">
            <a:xfrm>
              <a:off x="2496" y="2160"/>
              <a:ext cx="2112"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199" name="Text Box 7"/>
            <p:cNvSpPr txBox="1">
              <a:spLocks noChangeArrowheads="1"/>
            </p:cNvSpPr>
            <p:nvPr/>
          </p:nvSpPr>
          <p:spPr bwMode="auto">
            <a:xfrm>
              <a:off x="2832" y="1776"/>
              <a:ext cx="15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chemeClr val="folHlink"/>
                  </a:solidFill>
                  <a:latin typeface="Times New Roman" panose="02020603050405020304" pitchFamily="18" charset="0"/>
                </a:rPr>
                <a:t>产品功能（</a:t>
              </a:r>
              <a:r>
                <a:rPr kumimoji="1" lang="en-US" altLang="zh-CN" sz="2800" b="1">
                  <a:solidFill>
                    <a:schemeClr val="folHlink"/>
                  </a:solidFill>
                  <a:latin typeface="Times New Roman" panose="02020603050405020304" pitchFamily="18" charset="0"/>
                </a:rPr>
                <a:t>F）</a:t>
              </a:r>
              <a:endParaRPr kumimoji="1" lang="en-US" altLang="zh-CN" sz="2800" b="1">
                <a:solidFill>
                  <a:schemeClr val="folHlink"/>
                </a:solidFill>
                <a:latin typeface="Times New Roman" panose="02020603050405020304" pitchFamily="18" charset="0"/>
              </a:endParaRPr>
            </a:p>
          </p:txBody>
        </p:sp>
        <p:sp>
          <p:nvSpPr>
            <p:cNvPr id="8200" name="Text Box 8"/>
            <p:cNvSpPr txBox="1">
              <a:spLocks noChangeArrowheads="1"/>
            </p:cNvSpPr>
            <p:nvPr/>
          </p:nvSpPr>
          <p:spPr bwMode="auto">
            <a:xfrm>
              <a:off x="2544" y="2208"/>
              <a:ext cx="23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chemeClr val="folHlink"/>
                  </a:solidFill>
                  <a:latin typeface="Times New Roman" panose="02020603050405020304" pitchFamily="18" charset="0"/>
                </a:rPr>
                <a:t>全寿命周期成本（</a:t>
              </a:r>
              <a:r>
                <a:rPr kumimoji="1" lang="en-US" altLang="zh-CN" sz="2800" b="1">
                  <a:solidFill>
                    <a:schemeClr val="folHlink"/>
                  </a:solidFill>
                  <a:latin typeface="Times New Roman" panose="02020603050405020304" pitchFamily="18" charset="0"/>
                </a:rPr>
                <a:t>C）</a:t>
              </a:r>
              <a:endParaRPr kumimoji="1" lang="en-US" altLang="zh-CN" sz="2800" b="1">
                <a:solidFill>
                  <a:schemeClr val="folHlink"/>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Rot="1" noChangeArrowheads="1"/>
          </p:cNvSpPr>
          <p:nvPr>
            <p:ph type="title"/>
          </p:nvPr>
        </p:nvSpPr>
        <p:spPr/>
        <p:txBody>
          <a:bodyPr/>
          <a:lstStyle/>
          <a:p>
            <a:pPr eaLnBrk="1" hangingPunct="1">
              <a:defRPr/>
            </a:pPr>
            <a:r>
              <a:rPr lang="zh-CN" altLang="en-US" smtClean="0"/>
              <a:t>基本概念 </a:t>
            </a:r>
            <a:endParaRPr lang="zh-CN" altLang="en-US" smtClean="0"/>
          </a:p>
        </p:txBody>
      </p:sp>
      <p:sp>
        <p:nvSpPr>
          <p:cNvPr id="894979" name="Rectangle 3"/>
          <p:cNvSpPr>
            <a:spLocks noGrp="1" noChangeArrowheads="1"/>
          </p:cNvSpPr>
          <p:nvPr>
            <p:ph type="body" idx="1"/>
          </p:nvPr>
        </p:nvSpPr>
        <p:spPr>
          <a:xfrm>
            <a:off x="457200" y="1600200"/>
            <a:ext cx="8229600" cy="1755775"/>
          </a:xfrm>
        </p:spPr>
        <p:txBody>
          <a:bodyPr/>
          <a:lstStyle/>
          <a:p>
            <a:pPr eaLnBrk="1" hangingPunct="1">
              <a:defRPr/>
            </a:pPr>
            <a:r>
              <a:rPr lang="zh-CN" altLang="en-US" smtClean="0"/>
              <a:t>全寿命周期成本（</a:t>
            </a:r>
            <a:r>
              <a:rPr lang="en-US" altLang="zh-CN" smtClean="0"/>
              <a:t>C</a:t>
            </a:r>
            <a:r>
              <a:rPr lang="zh-CN" altLang="en-US" smtClean="0"/>
              <a:t>）</a:t>
            </a:r>
            <a:endParaRPr lang="zh-CN" altLang="en-US" smtClean="0"/>
          </a:p>
          <a:p>
            <a:pPr lvl="1" eaLnBrk="1" hangingPunct="1">
              <a:defRPr/>
            </a:pPr>
            <a:r>
              <a:rPr lang="zh-CN" altLang="en-US" smtClean="0"/>
              <a:t> </a:t>
            </a:r>
            <a:r>
              <a:rPr lang="en-US" altLang="zh-CN" smtClean="0">
                <a:latin typeface="Arial" panose="020B0604020202020204"/>
              </a:rPr>
              <a:t>——</a:t>
            </a:r>
            <a:r>
              <a:rPr lang="zh-CN" altLang="en-US" smtClean="0"/>
              <a:t>产品从设计制造到交付使用，直到报废为止的全过程的生产费用和使用费用之和。</a:t>
            </a:r>
            <a:endParaRPr lang="zh-CN" altLang="en-US" smtClean="0"/>
          </a:p>
        </p:txBody>
      </p:sp>
      <p:sp>
        <p:nvSpPr>
          <p:cNvPr id="894980" name="Text Box 4"/>
          <p:cNvSpPr txBox="1">
            <a:spLocks noChangeArrowheads="1"/>
          </p:cNvSpPr>
          <p:nvPr/>
        </p:nvSpPr>
        <p:spPr bwMode="auto">
          <a:xfrm>
            <a:off x="5292725" y="5949950"/>
            <a:ext cx="304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b="1">
                <a:latin typeface="Times New Roman" panose="02020603050405020304" pitchFamily="18" charset="0"/>
              </a:rPr>
              <a:t>   </a:t>
            </a:r>
            <a:r>
              <a:rPr kumimoji="1" lang="en-US" altLang="zh-CN" b="1">
                <a:solidFill>
                  <a:schemeClr val="folHlink"/>
                </a:solidFill>
                <a:latin typeface="Times New Roman" panose="02020603050405020304" pitchFamily="18" charset="0"/>
              </a:rPr>
              <a:t>C=C</a:t>
            </a:r>
            <a:r>
              <a:rPr kumimoji="1" lang="zh-CN" altLang="en-US" b="1" baseline="-25000">
                <a:solidFill>
                  <a:schemeClr val="folHlink"/>
                </a:solidFill>
                <a:latin typeface="Times New Roman" panose="02020603050405020304" pitchFamily="18" charset="0"/>
              </a:rPr>
              <a:t>生</a:t>
            </a:r>
            <a:r>
              <a:rPr kumimoji="1" lang="zh-CN" altLang="en-US" b="1">
                <a:solidFill>
                  <a:schemeClr val="folHlink"/>
                </a:solidFill>
                <a:latin typeface="Times New Roman" panose="02020603050405020304" pitchFamily="18" charset="0"/>
              </a:rPr>
              <a:t>+</a:t>
            </a:r>
            <a:r>
              <a:rPr kumimoji="1" lang="en-US" altLang="zh-CN" b="1">
                <a:solidFill>
                  <a:schemeClr val="folHlink"/>
                </a:solidFill>
                <a:latin typeface="Times New Roman" panose="02020603050405020304" pitchFamily="18" charset="0"/>
              </a:rPr>
              <a:t>C</a:t>
            </a:r>
            <a:r>
              <a:rPr kumimoji="1" lang="zh-CN" altLang="en-US" b="1" baseline="-25000">
                <a:solidFill>
                  <a:schemeClr val="folHlink"/>
                </a:solidFill>
                <a:latin typeface="Times New Roman" panose="02020603050405020304" pitchFamily="18" charset="0"/>
              </a:rPr>
              <a:t>使</a:t>
            </a:r>
            <a:endParaRPr kumimoji="1" lang="zh-CN" altLang="en-US" b="1" baseline="-25000">
              <a:solidFill>
                <a:schemeClr val="folHlink"/>
              </a:solidFill>
              <a:latin typeface="Times New Roman" panose="02020603050405020304" pitchFamily="18" charset="0"/>
            </a:endParaRPr>
          </a:p>
        </p:txBody>
      </p:sp>
      <p:grpSp>
        <p:nvGrpSpPr>
          <p:cNvPr id="2" name="Group 5"/>
          <p:cNvGrpSpPr/>
          <p:nvPr/>
        </p:nvGrpSpPr>
        <p:grpSpPr bwMode="auto">
          <a:xfrm>
            <a:off x="539750" y="3068638"/>
            <a:ext cx="5395913" cy="2989262"/>
            <a:chOff x="1076" y="140"/>
            <a:chExt cx="3399" cy="1883"/>
          </a:xfrm>
        </p:grpSpPr>
        <p:sp>
          <p:nvSpPr>
            <p:cNvPr id="9223" name="Line 6"/>
            <p:cNvSpPr>
              <a:spLocks noChangeShapeType="1"/>
            </p:cNvSpPr>
            <p:nvPr/>
          </p:nvSpPr>
          <p:spPr bwMode="auto">
            <a:xfrm>
              <a:off x="1847" y="1748"/>
              <a:ext cx="2107"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24" name="Line 7"/>
            <p:cNvSpPr>
              <a:spLocks noChangeShapeType="1"/>
            </p:cNvSpPr>
            <p:nvPr/>
          </p:nvSpPr>
          <p:spPr bwMode="auto">
            <a:xfrm flipV="1">
              <a:off x="1847" y="310"/>
              <a:ext cx="0" cy="1438"/>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25" name="Freeform 8"/>
            <p:cNvSpPr/>
            <p:nvPr/>
          </p:nvSpPr>
          <p:spPr bwMode="auto">
            <a:xfrm rot="-180665">
              <a:off x="2394" y="250"/>
              <a:ext cx="1092" cy="551"/>
            </a:xfrm>
            <a:custGeom>
              <a:avLst/>
              <a:gdLst>
                <a:gd name="T0" fmla="*/ 0 w 624"/>
                <a:gd name="T1" fmla="*/ 0 h 296"/>
                <a:gd name="T2" fmla="*/ 237512 w 624"/>
                <a:gd name="T3" fmla="*/ 498692 h 296"/>
                <a:gd name="T4" fmla="*/ 514778 w 624"/>
                <a:gd name="T5" fmla="*/ 82872 h 296"/>
                <a:gd name="T6" fmla="*/ 0 60000 65536"/>
                <a:gd name="T7" fmla="*/ 0 60000 65536"/>
                <a:gd name="T8" fmla="*/ 0 60000 65536"/>
                <a:gd name="T9" fmla="*/ 0 w 624"/>
                <a:gd name="T10" fmla="*/ 0 h 296"/>
                <a:gd name="T11" fmla="*/ 624 w 624"/>
                <a:gd name="T12" fmla="*/ 296 h 296"/>
              </a:gdLst>
              <a:ahLst/>
              <a:cxnLst>
                <a:cxn ang="T6">
                  <a:pos x="T0" y="T1"/>
                </a:cxn>
                <a:cxn ang="T7">
                  <a:pos x="T2" y="T3"/>
                </a:cxn>
                <a:cxn ang="T8">
                  <a:pos x="T4" y="T5"/>
                </a:cxn>
              </a:cxnLst>
              <a:rect l="T9" t="T10" r="T11" b="T12"/>
              <a:pathLst>
                <a:path w="624" h="296">
                  <a:moveTo>
                    <a:pt x="0" y="0"/>
                  </a:moveTo>
                  <a:cubicBezTo>
                    <a:pt x="92" y="140"/>
                    <a:pt x="184" y="280"/>
                    <a:pt x="288" y="288"/>
                  </a:cubicBezTo>
                  <a:cubicBezTo>
                    <a:pt x="392" y="296"/>
                    <a:pt x="508" y="172"/>
                    <a:pt x="624" y="48"/>
                  </a:cubicBezTo>
                </a:path>
              </a:pathLst>
            </a:custGeom>
            <a:noFill/>
            <a:ln w="38100" cap="sq">
              <a:solidFill>
                <a:schemeClr val="folHlink"/>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9226" name="Freeform 9"/>
            <p:cNvSpPr/>
            <p:nvPr/>
          </p:nvSpPr>
          <p:spPr bwMode="auto">
            <a:xfrm>
              <a:off x="2081" y="515"/>
              <a:ext cx="1560" cy="823"/>
            </a:xfrm>
            <a:custGeom>
              <a:avLst/>
              <a:gdLst>
                <a:gd name="T0" fmla="*/ 0 w 960"/>
                <a:gd name="T1" fmla="*/ 0 h 576"/>
                <a:gd name="T2" fmla="*/ 146499 w 960"/>
                <a:gd name="T3" fmla="*/ 34747 h 576"/>
                <a:gd name="T4" fmla="*/ 325426 w 960"/>
                <a:gd name="T5" fmla="*/ 41686 h 576"/>
                <a:gd name="T6" fmla="*/ 0 60000 65536"/>
                <a:gd name="T7" fmla="*/ 0 60000 65536"/>
                <a:gd name="T8" fmla="*/ 0 60000 65536"/>
                <a:gd name="T9" fmla="*/ 0 w 960"/>
                <a:gd name="T10" fmla="*/ 0 h 576"/>
                <a:gd name="T11" fmla="*/ 960 w 960"/>
                <a:gd name="T12" fmla="*/ 576 h 576"/>
              </a:gdLst>
              <a:ahLst/>
              <a:cxnLst>
                <a:cxn ang="T6">
                  <a:pos x="T0" y="T1"/>
                </a:cxn>
                <a:cxn ang="T7">
                  <a:pos x="T2" y="T3"/>
                </a:cxn>
                <a:cxn ang="T8">
                  <a:pos x="T4" y="T5"/>
                </a:cxn>
              </a:cxnLst>
              <a:rect l="T9" t="T10" r="T11" b="T12"/>
              <a:pathLst>
                <a:path w="960" h="576">
                  <a:moveTo>
                    <a:pt x="0" y="0"/>
                  </a:moveTo>
                  <a:cubicBezTo>
                    <a:pt x="136" y="192"/>
                    <a:pt x="272" y="384"/>
                    <a:pt x="432" y="480"/>
                  </a:cubicBezTo>
                  <a:cubicBezTo>
                    <a:pt x="592" y="576"/>
                    <a:pt x="776" y="576"/>
                    <a:pt x="960" y="576"/>
                  </a:cubicBezTo>
                </a:path>
              </a:pathLst>
            </a:custGeom>
            <a:noFill/>
            <a:ln w="38100" cap="sq">
              <a:solidFill>
                <a:srgbClr val="66FF99"/>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9227" name="Freeform 10"/>
            <p:cNvSpPr/>
            <p:nvPr/>
          </p:nvSpPr>
          <p:spPr bwMode="auto">
            <a:xfrm>
              <a:off x="2160" y="720"/>
              <a:ext cx="1481" cy="754"/>
            </a:xfrm>
            <a:custGeom>
              <a:avLst/>
              <a:gdLst>
                <a:gd name="T0" fmla="*/ 306632 w 912"/>
                <a:gd name="T1" fmla="*/ 0 h 528"/>
                <a:gd name="T2" fmla="*/ 145347 w 912"/>
                <a:gd name="T3" fmla="*/ 27622 h 528"/>
                <a:gd name="T4" fmla="*/ 0 w 912"/>
                <a:gd name="T5" fmla="*/ 37977 h 528"/>
                <a:gd name="T6" fmla="*/ 0 60000 65536"/>
                <a:gd name="T7" fmla="*/ 0 60000 65536"/>
                <a:gd name="T8" fmla="*/ 0 60000 65536"/>
                <a:gd name="T9" fmla="*/ 0 w 912"/>
                <a:gd name="T10" fmla="*/ 0 h 528"/>
                <a:gd name="T11" fmla="*/ 912 w 912"/>
                <a:gd name="T12" fmla="*/ 528 h 528"/>
              </a:gdLst>
              <a:ahLst/>
              <a:cxnLst>
                <a:cxn ang="T6">
                  <a:pos x="T0" y="T1"/>
                </a:cxn>
                <a:cxn ang="T7">
                  <a:pos x="T2" y="T3"/>
                </a:cxn>
                <a:cxn ang="T8">
                  <a:pos x="T4" y="T5"/>
                </a:cxn>
              </a:cxnLst>
              <a:rect l="T9" t="T10" r="T11" b="T12"/>
              <a:pathLst>
                <a:path w="912" h="528">
                  <a:moveTo>
                    <a:pt x="912" y="0"/>
                  </a:moveTo>
                  <a:cubicBezTo>
                    <a:pt x="748" y="148"/>
                    <a:pt x="584" y="296"/>
                    <a:pt x="432" y="384"/>
                  </a:cubicBezTo>
                  <a:cubicBezTo>
                    <a:pt x="280" y="472"/>
                    <a:pt x="140" y="500"/>
                    <a:pt x="0" y="528"/>
                  </a:cubicBezTo>
                </a:path>
              </a:pathLst>
            </a:custGeom>
            <a:noFill/>
            <a:ln w="38100" cap="sq">
              <a:solidFill>
                <a:schemeClr val="accent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9228" name="Line 11"/>
            <p:cNvSpPr>
              <a:spLocks noChangeShapeType="1"/>
            </p:cNvSpPr>
            <p:nvPr/>
          </p:nvSpPr>
          <p:spPr bwMode="auto">
            <a:xfrm flipH="1">
              <a:off x="1847" y="788"/>
              <a:ext cx="1015" cy="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29" name="Line 12"/>
            <p:cNvSpPr>
              <a:spLocks noChangeShapeType="1"/>
            </p:cNvSpPr>
            <p:nvPr/>
          </p:nvSpPr>
          <p:spPr bwMode="auto">
            <a:xfrm>
              <a:off x="2939" y="788"/>
              <a:ext cx="0" cy="96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30" name="Line 13"/>
            <p:cNvSpPr>
              <a:spLocks noChangeShapeType="1"/>
            </p:cNvSpPr>
            <p:nvPr/>
          </p:nvSpPr>
          <p:spPr bwMode="auto">
            <a:xfrm flipV="1">
              <a:off x="2004" y="583"/>
              <a:ext cx="467" cy="412"/>
            </a:xfrm>
            <a:prstGeom prst="line">
              <a:avLst/>
            </a:prstGeom>
            <a:noFill/>
            <a:ln w="12700" cap="sq">
              <a:solidFill>
                <a:srgbClr val="FF7C8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31" name="Line 14"/>
            <p:cNvSpPr>
              <a:spLocks noChangeShapeType="1"/>
            </p:cNvSpPr>
            <p:nvPr/>
          </p:nvSpPr>
          <p:spPr bwMode="auto">
            <a:xfrm flipV="1">
              <a:off x="2004" y="788"/>
              <a:ext cx="545" cy="480"/>
            </a:xfrm>
            <a:prstGeom prst="line">
              <a:avLst/>
            </a:prstGeom>
            <a:noFill/>
            <a:ln w="12700" cap="sq">
              <a:solidFill>
                <a:srgbClr val="FF7C8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32" name="Line 15"/>
            <p:cNvSpPr>
              <a:spLocks noChangeShapeType="1"/>
            </p:cNvSpPr>
            <p:nvPr/>
          </p:nvSpPr>
          <p:spPr bwMode="auto">
            <a:xfrm flipV="1">
              <a:off x="2081" y="926"/>
              <a:ext cx="624" cy="548"/>
            </a:xfrm>
            <a:prstGeom prst="line">
              <a:avLst/>
            </a:prstGeom>
            <a:noFill/>
            <a:ln w="12700" cap="sq">
              <a:solidFill>
                <a:srgbClr val="FF7C8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33" name="Line 16"/>
            <p:cNvSpPr>
              <a:spLocks noChangeShapeType="1"/>
            </p:cNvSpPr>
            <p:nvPr/>
          </p:nvSpPr>
          <p:spPr bwMode="auto">
            <a:xfrm flipV="1">
              <a:off x="2238" y="1131"/>
              <a:ext cx="545" cy="480"/>
            </a:xfrm>
            <a:prstGeom prst="line">
              <a:avLst/>
            </a:prstGeom>
            <a:noFill/>
            <a:ln w="12700" cap="sq">
              <a:solidFill>
                <a:srgbClr val="FF7C8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34" name="Line 17"/>
            <p:cNvSpPr>
              <a:spLocks noChangeShapeType="1"/>
            </p:cNvSpPr>
            <p:nvPr/>
          </p:nvSpPr>
          <p:spPr bwMode="auto">
            <a:xfrm flipV="1">
              <a:off x="2471" y="1338"/>
              <a:ext cx="391" cy="341"/>
            </a:xfrm>
            <a:prstGeom prst="line">
              <a:avLst/>
            </a:prstGeom>
            <a:noFill/>
            <a:ln w="12700" cap="sq">
              <a:solidFill>
                <a:srgbClr val="FF7C8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235" name="Text Box 18"/>
            <p:cNvSpPr txBox="1">
              <a:spLocks noChangeArrowheads="1"/>
            </p:cNvSpPr>
            <p:nvPr/>
          </p:nvSpPr>
          <p:spPr bwMode="auto">
            <a:xfrm>
              <a:off x="1604" y="16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C</a:t>
              </a:r>
              <a:endParaRPr kumimoji="1" lang="en-US" altLang="zh-CN" sz="2400">
                <a:latin typeface="Times New Roman" panose="02020603050405020304" pitchFamily="18" charset="0"/>
                <a:ea typeface="Gungsuh" pitchFamily="18" charset="-127"/>
              </a:endParaRPr>
            </a:p>
          </p:txBody>
        </p:sp>
        <p:sp>
          <p:nvSpPr>
            <p:cNvPr id="9236" name="Text Box 19"/>
            <p:cNvSpPr txBox="1">
              <a:spLocks noChangeArrowheads="1"/>
            </p:cNvSpPr>
            <p:nvPr/>
          </p:nvSpPr>
          <p:spPr bwMode="auto">
            <a:xfrm>
              <a:off x="1364" y="600"/>
              <a:ext cx="4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C</a:t>
              </a:r>
              <a:r>
                <a:rPr kumimoji="1" lang="en-US" altLang="zh-CN" sz="2400" baseline="-25000">
                  <a:latin typeface="Times New Roman" panose="02020603050405020304" pitchFamily="18" charset="0"/>
                </a:rPr>
                <a:t>min</a:t>
              </a:r>
              <a:endParaRPr kumimoji="1" lang="en-US" altLang="zh-CN" sz="2400" baseline="-25000">
                <a:latin typeface="Times New Roman" panose="02020603050405020304" pitchFamily="18" charset="0"/>
              </a:endParaRPr>
            </a:p>
          </p:txBody>
        </p:sp>
        <p:sp>
          <p:nvSpPr>
            <p:cNvPr id="9237" name="Text Box 20"/>
            <p:cNvSpPr txBox="1">
              <a:spLocks noChangeArrowheads="1"/>
            </p:cNvSpPr>
            <p:nvPr/>
          </p:nvSpPr>
          <p:spPr bwMode="auto">
            <a:xfrm>
              <a:off x="2804" y="456"/>
              <a:ext cx="2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B</a:t>
              </a:r>
              <a:endParaRPr kumimoji="1" lang="en-US" altLang="zh-CN" sz="2400">
                <a:latin typeface="Times New Roman" panose="02020603050405020304" pitchFamily="18" charset="0"/>
                <a:ea typeface="Gungsuh" pitchFamily="18" charset="-127"/>
              </a:endParaRPr>
            </a:p>
          </p:txBody>
        </p:sp>
        <p:sp>
          <p:nvSpPr>
            <p:cNvPr id="9238" name="Text Box 21"/>
            <p:cNvSpPr txBox="1">
              <a:spLocks noChangeArrowheads="1"/>
            </p:cNvSpPr>
            <p:nvPr/>
          </p:nvSpPr>
          <p:spPr bwMode="auto">
            <a:xfrm>
              <a:off x="3391" y="140"/>
              <a:ext cx="10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C= C</a:t>
              </a:r>
              <a:r>
                <a:rPr kumimoji="1" lang="zh-CN" altLang="en-US" sz="2400" baseline="-25000">
                  <a:latin typeface="Times New Roman" panose="02020603050405020304" pitchFamily="18" charset="0"/>
                </a:rPr>
                <a:t> 生</a:t>
              </a:r>
              <a:r>
                <a:rPr kumimoji="1" lang="en-US" altLang="zh-CN" sz="2400">
                  <a:latin typeface="Times New Roman" panose="02020603050405020304" pitchFamily="18" charset="0"/>
                  <a:ea typeface="Gungsuh" pitchFamily="18" charset="-127"/>
                </a:rPr>
                <a:t>+</a:t>
              </a:r>
              <a:r>
                <a:rPr kumimoji="1" lang="zh-CN" altLang="en-US" sz="2400" baseline="-25000">
                  <a:latin typeface="Times New Roman" panose="02020603050405020304" pitchFamily="18" charset="0"/>
                </a:rPr>
                <a:t> </a:t>
              </a:r>
              <a:r>
                <a:rPr kumimoji="1" lang="en-US" altLang="zh-CN" sz="2400">
                  <a:latin typeface="Times New Roman" panose="02020603050405020304" pitchFamily="18" charset="0"/>
                  <a:ea typeface="Gungsuh" pitchFamily="18" charset="-127"/>
                </a:rPr>
                <a:t>C</a:t>
              </a:r>
              <a:r>
                <a:rPr kumimoji="1" lang="zh-CN" altLang="en-US" sz="2400" baseline="-25000">
                  <a:latin typeface="Times New Roman" panose="02020603050405020304" pitchFamily="18" charset="0"/>
                </a:rPr>
                <a:t>使</a:t>
              </a:r>
              <a:endParaRPr kumimoji="1" lang="en-US" altLang="zh-CN" sz="2400" baseline="-25000">
                <a:latin typeface="Times New Roman" panose="02020603050405020304" pitchFamily="18" charset="0"/>
              </a:endParaRPr>
            </a:p>
          </p:txBody>
        </p:sp>
        <p:sp>
          <p:nvSpPr>
            <p:cNvPr id="9239" name="Text Box 22"/>
            <p:cNvSpPr txBox="1">
              <a:spLocks noChangeArrowheads="1"/>
            </p:cNvSpPr>
            <p:nvPr/>
          </p:nvSpPr>
          <p:spPr bwMode="auto">
            <a:xfrm>
              <a:off x="3703" y="620"/>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C</a:t>
              </a:r>
              <a:r>
                <a:rPr kumimoji="1" lang="zh-CN" altLang="en-US" sz="2400" baseline="-25000">
                  <a:latin typeface="Times New Roman" panose="02020603050405020304" pitchFamily="18" charset="0"/>
                </a:rPr>
                <a:t>生</a:t>
              </a:r>
              <a:endParaRPr kumimoji="1" lang="zh-CN" altLang="en-US" sz="2400" baseline="-25000">
                <a:latin typeface="Times New Roman" panose="02020603050405020304" pitchFamily="18" charset="0"/>
              </a:endParaRPr>
            </a:p>
          </p:txBody>
        </p:sp>
        <p:sp>
          <p:nvSpPr>
            <p:cNvPr id="9240" name="Text Box 23"/>
            <p:cNvSpPr txBox="1">
              <a:spLocks noChangeArrowheads="1"/>
            </p:cNvSpPr>
            <p:nvPr/>
          </p:nvSpPr>
          <p:spPr bwMode="auto">
            <a:xfrm>
              <a:off x="3703" y="1237"/>
              <a:ext cx="37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C</a:t>
              </a:r>
              <a:r>
                <a:rPr kumimoji="1" lang="zh-CN" altLang="en-US" sz="2400" baseline="-25000">
                  <a:latin typeface="Times New Roman" panose="02020603050405020304" pitchFamily="18" charset="0"/>
                </a:rPr>
                <a:t>使</a:t>
              </a:r>
              <a:endParaRPr kumimoji="1" lang="zh-CN" altLang="en-US" sz="2400" baseline="-25000">
                <a:latin typeface="Times New Roman" panose="02020603050405020304" pitchFamily="18" charset="0"/>
              </a:endParaRPr>
            </a:p>
          </p:txBody>
        </p:sp>
        <p:sp>
          <p:nvSpPr>
            <p:cNvPr id="9241" name="Text Box 24"/>
            <p:cNvSpPr txBox="1">
              <a:spLocks noChangeArrowheads="1"/>
            </p:cNvSpPr>
            <p:nvPr/>
          </p:nvSpPr>
          <p:spPr bwMode="auto">
            <a:xfrm>
              <a:off x="3869" y="1735"/>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F</a:t>
              </a:r>
              <a:endParaRPr kumimoji="1" lang="en-US" altLang="zh-CN" sz="2400">
                <a:latin typeface="Times New Roman" panose="02020603050405020304" pitchFamily="18" charset="0"/>
                <a:ea typeface="Gungsuh" pitchFamily="18" charset="-127"/>
              </a:endParaRPr>
            </a:p>
          </p:txBody>
        </p:sp>
        <p:sp>
          <p:nvSpPr>
            <p:cNvPr id="9242" name="Text Box 25"/>
            <p:cNvSpPr txBox="1">
              <a:spLocks noChangeArrowheads="1"/>
            </p:cNvSpPr>
            <p:nvPr/>
          </p:nvSpPr>
          <p:spPr bwMode="auto">
            <a:xfrm>
              <a:off x="2774" y="1735"/>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F</a:t>
              </a:r>
              <a:r>
                <a:rPr kumimoji="1" lang="en-US" altLang="zh-CN" sz="2400" baseline="-25000">
                  <a:latin typeface="Times New Roman" panose="02020603050405020304" pitchFamily="18" charset="0"/>
                  <a:ea typeface="Gungsuh" pitchFamily="18" charset="-127"/>
                </a:rPr>
                <a:t>0</a:t>
              </a:r>
              <a:endParaRPr kumimoji="1" lang="en-US" altLang="zh-CN" sz="2400" baseline="-25000">
                <a:latin typeface="Times New Roman" panose="02020603050405020304" pitchFamily="18" charset="0"/>
                <a:ea typeface="Gungsuh" pitchFamily="18" charset="-127"/>
              </a:endParaRPr>
            </a:p>
          </p:txBody>
        </p:sp>
        <p:sp>
          <p:nvSpPr>
            <p:cNvPr id="9243" name="Text Box 26"/>
            <p:cNvSpPr txBox="1">
              <a:spLocks noChangeArrowheads="1"/>
            </p:cNvSpPr>
            <p:nvPr/>
          </p:nvSpPr>
          <p:spPr bwMode="auto">
            <a:xfrm>
              <a:off x="1076" y="1141"/>
              <a:ext cx="95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400">
                  <a:latin typeface="Times New Roman" panose="02020603050405020304" pitchFamily="18" charset="0"/>
                </a:rPr>
                <a:t>不可取区域</a:t>
              </a:r>
              <a:endParaRPr kumimoji="1" lang="zh-CN" altLang="en-US" sz="2400">
                <a:latin typeface="Times New Roman" panose="02020603050405020304" pitchFamily="18" charset="0"/>
              </a:endParaRPr>
            </a:p>
          </p:txBody>
        </p:sp>
        <p:sp>
          <p:nvSpPr>
            <p:cNvPr id="9244" name="Line 27"/>
            <p:cNvSpPr>
              <a:spLocks noChangeShapeType="1"/>
            </p:cNvSpPr>
            <p:nvPr/>
          </p:nvSpPr>
          <p:spPr bwMode="auto">
            <a:xfrm flipV="1">
              <a:off x="1613" y="1354"/>
              <a:ext cx="468" cy="238"/>
            </a:xfrm>
            <a:prstGeom prst="line">
              <a:avLst/>
            </a:prstGeom>
            <a:noFill/>
            <a:ln w="12700" cap="sq">
              <a:solidFill>
                <a:srgbClr val="FF7C8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9222" name="Rectangle 28"/>
          <p:cNvSpPr>
            <a:spLocks noChangeArrowheads="1"/>
          </p:cNvSpPr>
          <p:nvPr/>
        </p:nvSpPr>
        <p:spPr bwMode="auto">
          <a:xfrm>
            <a:off x="5472113" y="3789363"/>
            <a:ext cx="367188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Arial" panose="020B0604020202020204" pitchFamily="34" charset="0"/>
              </a:rPr>
              <a:t>最低的寿命周期成本</a:t>
            </a:r>
            <a:r>
              <a:rPr kumimoji="1" lang="en-US" altLang="zh-CN" sz="2400" b="1">
                <a:latin typeface="Arial" panose="020B0604020202020204" pitchFamily="34" charset="0"/>
              </a:rPr>
              <a:t>B</a:t>
            </a:r>
            <a:r>
              <a:rPr kumimoji="1" lang="zh-CN" altLang="en-US" sz="2400" b="1">
                <a:latin typeface="Arial" panose="020B0604020202020204" pitchFamily="34" charset="0"/>
              </a:rPr>
              <a:t>点所对应的功能水平(</a:t>
            </a:r>
            <a:r>
              <a:rPr kumimoji="1" lang="en-US" altLang="zh-CN" sz="2400" b="1">
                <a:latin typeface="Arial" panose="020B0604020202020204" pitchFamily="34" charset="0"/>
              </a:rPr>
              <a:t>F0) </a:t>
            </a:r>
            <a:r>
              <a:rPr kumimoji="1" lang="zh-CN" altLang="en-US" sz="2400" b="1">
                <a:latin typeface="Arial" panose="020B0604020202020204" pitchFamily="34" charset="0"/>
              </a:rPr>
              <a:t>是从</a:t>
            </a:r>
            <a:r>
              <a:rPr kumimoji="1" lang="zh-CN" altLang="en-US" sz="2400" b="1">
                <a:solidFill>
                  <a:srgbClr val="FF7C80"/>
                </a:solidFill>
                <a:latin typeface="Arial" panose="020B0604020202020204" pitchFamily="34" charset="0"/>
              </a:rPr>
              <a:t>成本</a:t>
            </a:r>
            <a:r>
              <a:rPr kumimoji="1" lang="zh-CN" altLang="en-US" sz="2400" b="1">
                <a:latin typeface="Arial" panose="020B0604020202020204" pitchFamily="34" charset="0"/>
              </a:rPr>
              <a:t>方面考虑的</a:t>
            </a:r>
            <a:r>
              <a:rPr kumimoji="1" lang="zh-CN" altLang="en-US" sz="2400" b="1">
                <a:solidFill>
                  <a:srgbClr val="FF7C80"/>
                </a:solidFill>
                <a:latin typeface="Arial" panose="020B0604020202020204" pitchFamily="34" charset="0"/>
              </a:rPr>
              <a:t>最为适宜</a:t>
            </a:r>
            <a:r>
              <a:rPr kumimoji="1" lang="zh-CN" altLang="en-US" sz="2400" b="1">
                <a:latin typeface="Arial" panose="020B0604020202020204" pitchFamily="34" charset="0"/>
              </a:rPr>
              <a:t>的功能水平</a:t>
            </a:r>
            <a:endParaRPr kumimoji="1" lang="zh-CN" altLang="en-US" sz="2400" b="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94980">
                                            <p:txEl>
                                              <p:pRg st="0" end="0"/>
                                            </p:txEl>
                                          </p:spTgt>
                                        </p:tgtEl>
                                        <p:attrNameLst>
                                          <p:attrName>style.visibility</p:attrName>
                                        </p:attrNameLst>
                                      </p:cBhvr>
                                      <p:to>
                                        <p:strVal val="visible"/>
                                      </p:to>
                                    </p:set>
                                    <p:animEffect transition="in" filter="dissolve">
                                      <p:cBhvr>
                                        <p:cTn id="7" dur="500"/>
                                        <p:tgtEl>
                                          <p:spTgt spid="8949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4980" grpId="0" autoUpdateAnimBg="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9" name="Rectangle 3"/>
          <p:cNvSpPr>
            <a:spLocks noGrp="1" noChangeArrowheads="1"/>
          </p:cNvSpPr>
          <p:nvPr>
            <p:ph type="body" idx="4294967295"/>
          </p:nvPr>
        </p:nvSpPr>
        <p:spPr>
          <a:xfrm>
            <a:off x="755650" y="1628775"/>
            <a:ext cx="7473950" cy="4497388"/>
          </a:xfrm>
        </p:spPr>
        <p:txBody>
          <a:bodyPr/>
          <a:lstStyle/>
          <a:p>
            <a:pPr eaLnBrk="1" hangingPunct="1">
              <a:defRPr/>
            </a:pPr>
            <a:r>
              <a:rPr lang="zh-CN" altLang="en-US" smtClean="0"/>
              <a:t>全寿命周期成本</a:t>
            </a:r>
            <a:endParaRPr lang="zh-CN" altLang="en-US" smtClean="0"/>
          </a:p>
        </p:txBody>
      </p:sp>
      <p:grpSp>
        <p:nvGrpSpPr>
          <p:cNvPr id="10243" name="Group 4"/>
          <p:cNvGrpSpPr/>
          <p:nvPr/>
        </p:nvGrpSpPr>
        <p:grpSpPr bwMode="auto">
          <a:xfrm>
            <a:off x="1763713" y="2708275"/>
            <a:ext cx="6337300" cy="2233613"/>
            <a:chOff x="2235" y="8616"/>
            <a:chExt cx="6660" cy="2496"/>
          </a:xfrm>
        </p:grpSpPr>
        <p:sp>
          <p:nvSpPr>
            <p:cNvPr id="10244" name="AutoShape 5"/>
            <p:cNvSpPr>
              <a:spLocks noChangeAspect="1" noChangeArrowheads="1"/>
            </p:cNvSpPr>
            <p:nvPr/>
          </p:nvSpPr>
          <p:spPr bwMode="auto">
            <a:xfrm>
              <a:off x="2235" y="8616"/>
              <a:ext cx="6660" cy="2496"/>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type="none" w="sm" len="me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245" name="Line 6"/>
            <p:cNvSpPr>
              <a:spLocks noChangeShapeType="1"/>
            </p:cNvSpPr>
            <p:nvPr/>
          </p:nvSpPr>
          <p:spPr bwMode="auto">
            <a:xfrm>
              <a:off x="2595" y="8928"/>
              <a:ext cx="1" cy="21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6" name="Line 7"/>
            <p:cNvSpPr>
              <a:spLocks noChangeShapeType="1"/>
            </p:cNvSpPr>
            <p:nvPr/>
          </p:nvSpPr>
          <p:spPr bwMode="auto">
            <a:xfrm>
              <a:off x="8535" y="8928"/>
              <a:ext cx="1" cy="21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7" name="Line 8"/>
            <p:cNvSpPr>
              <a:spLocks noChangeShapeType="1"/>
            </p:cNvSpPr>
            <p:nvPr/>
          </p:nvSpPr>
          <p:spPr bwMode="auto">
            <a:xfrm>
              <a:off x="2595" y="9084"/>
              <a:ext cx="5940" cy="1"/>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48" name="Line 9"/>
            <p:cNvSpPr>
              <a:spLocks noChangeShapeType="1"/>
            </p:cNvSpPr>
            <p:nvPr/>
          </p:nvSpPr>
          <p:spPr bwMode="auto">
            <a:xfrm>
              <a:off x="2595" y="10956"/>
              <a:ext cx="5940" cy="1"/>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49" name="Line 10"/>
            <p:cNvSpPr>
              <a:spLocks noChangeShapeType="1"/>
            </p:cNvSpPr>
            <p:nvPr/>
          </p:nvSpPr>
          <p:spPr bwMode="auto">
            <a:xfrm>
              <a:off x="4575" y="9396"/>
              <a:ext cx="1"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0" name="Line 11"/>
            <p:cNvSpPr>
              <a:spLocks noChangeShapeType="1"/>
            </p:cNvSpPr>
            <p:nvPr/>
          </p:nvSpPr>
          <p:spPr bwMode="auto">
            <a:xfrm>
              <a:off x="6195" y="9396"/>
              <a:ext cx="0" cy="10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51" name="Line 12"/>
            <p:cNvSpPr>
              <a:spLocks noChangeShapeType="1"/>
            </p:cNvSpPr>
            <p:nvPr/>
          </p:nvSpPr>
          <p:spPr bwMode="auto">
            <a:xfrm>
              <a:off x="4575" y="9708"/>
              <a:ext cx="1620" cy="0"/>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52" name="Line 13"/>
            <p:cNvSpPr>
              <a:spLocks noChangeShapeType="1"/>
            </p:cNvSpPr>
            <p:nvPr/>
          </p:nvSpPr>
          <p:spPr bwMode="auto">
            <a:xfrm>
              <a:off x="6195" y="9708"/>
              <a:ext cx="2340" cy="1"/>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53" name="Line 14"/>
            <p:cNvSpPr>
              <a:spLocks noChangeShapeType="1"/>
            </p:cNvSpPr>
            <p:nvPr/>
          </p:nvSpPr>
          <p:spPr bwMode="auto">
            <a:xfrm>
              <a:off x="2595" y="10332"/>
              <a:ext cx="3600" cy="1"/>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54" name="Line 15"/>
            <p:cNvSpPr>
              <a:spLocks noChangeShapeType="1"/>
            </p:cNvSpPr>
            <p:nvPr/>
          </p:nvSpPr>
          <p:spPr bwMode="auto">
            <a:xfrm>
              <a:off x="6195" y="10332"/>
              <a:ext cx="2340" cy="1"/>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255" name="Text Box 16"/>
            <p:cNvSpPr txBox="1">
              <a:spLocks noChangeArrowheads="1"/>
            </p:cNvSpPr>
            <p:nvPr/>
          </p:nvSpPr>
          <p:spPr bwMode="auto">
            <a:xfrm>
              <a:off x="5115" y="8694"/>
              <a:ext cx="1440" cy="39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寿命周期</a:t>
              </a:r>
              <a:endParaRPr kumimoji="1" lang="zh-CN" altLang="en-US" sz="1200">
                <a:solidFill>
                  <a:srgbClr val="FF0000"/>
                </a:solidFill>
                <a:latin typeface="Times New Roman" panose="02020603050405020304" pitchFamily="18" charset="0"/>
              </a:endParaRPr>
            </a:p>
          </p:txBody>
        </p:sp>
        <p:sp>
          <p:nvSpPr>
            <p:cNvPr id="10256" name="Text Box 17"/>
            <p:cNvSpPr txBox="1">
              <a:spLocks noChangeArrowheads="1"/>
            </p:cNvSpPr>
            <p:nvPr/>
          </p:nvSpPr>
          <p:spPr bwMode="auto">
            <a:xfrm>
              <a:off x="3135" y="9240"/>
              <a:ext cx="900" cy="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研究开发</a:t>
              </a:r>
              <a:endParaRPr kumimoji="1" lang="zh-CN" altLang="en-US" sz="1200">
                <a:solidFill>
                  <a:srgbClr val="FF0000"/>
                </a:solidFill>
                <a:latin typeface="Times New Roman" panose="02020603050405020304" pitchFamily="18" charset="0"/>
              </a:endParaRPr>
            </a:p>
          </p:txBody>
        </p:sp>
        <p:sp>
          <p:nvSpPr>
            <p:cNvPr id="10257" name="Text Box 18"/>
            <p:cNvSpPr txBox="1">
              <a:spLocks noChangeArrowheads="1"/>
            </p:cNvSpPr>
            <p:nvPr/>
          </p:nvSpPr>
          <p:spPr bwMode="auto">
            <a:xfrm>
              <a:off x="4935" y="9240"/>
              <a:ext cx="900" cy="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设计制造</a:t>
              </a:r>
              <a:endParaRPr kumimoji="1" lang="zh-CN" altLang="en-US" sz="1200">
                <a:solidFill>
                  <a:srgbClr val="FF0000"/>
                </a:solidFill>
                <a:latin typeface="Times New Roman" panose="02020603050405020304" pitchFamily="18" charset="0"/>
              </a:endParaRPr>
            </a:p>
          </p:txBody>
        </p:sp>
        <p:sp>
          <p:nvSpPr>
            <p:cNvPr id="10258" name="Text Box 19"/>
            <p:cNvSpPr txBox="1">
              <a:spLocks noChangeArrowheads="1"/>
            </p:cNvSpPr>
            <p:nvPr/>
          </p:nvSpPr>
          <p:spPr bwMode="auto">
            <a:xfrm>
              <a:off x="6735" y="9240"/>
              <a:ext cx="900" cy="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投入使用</a:t>
              </a:r>
              <a:endParaRPr kumimoji="1" lang="zh-CN" altLang="en-US" sz="1200">
                <a:solidFill>
                  <a:srgbClr val="FF0000"/>
                </a:solidFill>
                <a:latin typeface="Times New Roman" panose="02020603050405020304" pitchFamily="18" charset="0"/>
              </a:endParaRPr>
            </a:p>
          </p:txBody>
        </p:sp>
        <p:sp>
          <p:nvSpPr>
            <p:cNvPr id="10259" name="Text Box 20"/>
            <p:cNvSpPr txBox="1">
              <a:spLocks noChangeArrowheads="1"/>
            </p:cNvSpPr>
            <p:nvPr/>
          </p:nvSpPr>
          <p:spPr bwMode="auto">
            <a:xfrm>
              <a:off x="6735" y="9864"/>
              <a:ext cx="1260" cy="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使用成本</a:t>
              </a:r>
              <a:r>
                <a:rPr kumimoji="1" lang="en-US" altLang="zh-CN" sz="1200">
                  <a:solidFill>
                    <a:srgbClr val="FF0000"/>
                  </a:solidFill>
                  <a:latin typeface="Times New Roman" panose="02020603050405020304" pitchFamily="18" charset="0"/>
                </a:rPr>
                <a:t>C</a:t>
              </a:r>
              <a:r>
                <a:rPr kumimoji="1" lang="en-US" altLang="zh-CN" sz="1200" baseline="-25000">
                  <a:solidFill>
                    <a:srgbClr val="FF0000"/>
                  </a:solidFill>
                  <a:latin typeface="Times New Roman" panose="02020603050405020304" pitchFamily="18" charset="0"/>
                </a:rPr>
                <a:t>2</a:t>
              </a:r>
              <a:endParaRPr kumimoji="1" lang="en-US" altLang="zh-CN" sz="1200">
                <a:solidFill>
                  <a:srgbClr val="FF0000"/>
                </a:solidFill>
                <a:latin typeface="Times New Roman" panose="02020603050405020304" pitchFamily="18" charset="0"/>
              </a:endParaRPr>
            </a:p>
          </p:txBody>
        </p:sp>
        <p:sp>
          <p:nvSpPr>
            <p:cNvPr id="10260" name="Text Box 21"/>
            <p:cNvSpPr txBox="1">
              <a:spLocks noChangeArrowheads="1"/>
            </p:cNvSpPr>
            <p:nvPr/>
          </p:nvSpPr>
          <p:spPr bwMode="auto">
            <a:xfrm>
              <a:off x="4575" y="10488"/>
              <a:ext cx="2700" cy="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寿命周期成本</a:t>
              </a:r>
              <a:r>
                <a:rPr kumimoji="1" lang="en-US" altLang="zh-CN" sz="1200" i="1">
                  <a:solidFill>
                    <a:srgbClr val="FF0000"/>
                  </a:solidFill>
                  <a:latin typeface="Times New Roman" panose="02020603050405020304" pitchFamily="18" charset="0"/>
                </a:rPr>
                <a:t>C</a:t>
              </a:r>
              <a:r>
                <a:rPr kumimoji="1" lang="en-US" altLang="zh-CN" sz="1200">
                  <a:solidFill>
                    <a:srgbClr val="FF0000"/>
                  </a:solidFill>
                  <a:latin typeface="Times New Roman" panose="02020603050405020304" pitchFamily="18" charset="0"/>
                </a:rPr>
                <a:t>=</a:t>
              </a:r>
              <a:r>
                <a:rPr kumimoji="1" lang="en-US" altLang="zh-CN" sz="1200" i="1">
                  <a:solidFill>
                    <a:srgbClr val="FF0000"/>
                  </a:solidFill>
                  <a:latin typeface="Times New Roman" panose="02020603050405020304" pitchFamily="18" charset="0"/>
                </a:rPr>
                <a:t>C</a:t>
              </a:r>
              <a:r>
                <a:rPr kumimoji="1" lang="en-US" altLang="zh-CN" sz="1200" baseline="-25000">
                  <a:solidFill>
                    <a:srgbClr val="FF0000"/>
                  </a:solidFill>
                  <a:latin typeface="Times New Roman" panose="02020603050405020304" pitchFamily="18" charset="0"/>
                </a:rPr>
                <a:t>1</a:t>
              </a:r>
              <a:r>
                <a:rPr kumimoji="1" lang="en-US" altLang="zh-CN" sz="1200">
                  <a:solidFill>
                    <a:srgbClr val="FF0000"/>
                  </a:solidFill>
                  <a:latin typeface="Times New Roman" panose="02020603050405020304" pitchFamily="18" charset="0"/>
                </a:rPr>
                <a:t>+</a:t>
              </a:r>
              <a:r>
                <a:rPr kumimoji="1" lang="en-US" altLang="zh-CN" sz="1200" i="1">
                  <a:solidFill>
                    <a:srgbClr val="FF0000"/>
                  </a:solidFill>
                  <a:latin typeface="Times New Roman" panose="02020603050405020304" pitchFamily="18" charset="0"/>
                </a:rPr>
                <a:t>C</a:t>
              </a:r>
              <a:r>
                <a:rPr kumimoji="1" lang="en-US" altLang="zh-CN" sz="1200" baseline="-25000">
                  <a:solidFill>
                    <a:srgbClr val="FF0000"/>
                  </a:solidFill>
                  <a:latin typeface="Times New Roman" panose="02020603050405020304" pitchFamily="18" charset="0"/>
                </a:rPr>
                <a:t>2</a:t>
              </a:r>
              <a:endParaRPr kumimoji="1" lang="en-US" altLang="zh-CN" sz="1200">
                <a:solidFill>
                  <a:srgbClr val="FF0000"/>
                </a:solidFill>
                <a:latin typeface="Times New Roman" panose="02020603050405020304" pitchFamily="18" charset="0"/>
              </a:endParaRPr>
            </a:p>
          </p:txBody>
        </p:sp>
        <p:sp>
          <p:nvSpPr>
            <p:cNvPr id="10261" name="Text Box 22"/>
            <p:cNvSpPr txBox="1">
              <a:spLocks noChangeArrowheads="1"/>
            </p:cNvSpPr>
            <p:nvPr/>
          </p:nvSpPr>
          <p:spPr bwMode="auto">
            <a:xfrm>
              <a:off x="3495" y="9864"/>
              <a:ext cx="1260" cy="3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生产成本</a:t>
              </a:r>
              <a:r>
                <a:rPr kumimoji="1" lang="en-US" altLang="zh-CN" sz="1200">
                  <a:solidFill>
                    <a:srgbClr val="FF0000"/>
                  </a:solidFill>
                  <a:latin typeface="Times New Roman" panose="02020603050405020304" pitchFamily="18" charset="0"/>
                </a:rPr>
                <a:t>C</a:t>
              </a:r>
              <a:r>
                <a:rPr kumimoji="1" lang="en-US" altLang="zh-CN" sz="1200" baseline="-25000">
                  <a:solidFill>
                    <a:srgbClr val="FF0000"/>
                  </a:solidFill>
                  <a:latin typeface="Times New Roman" panose="02020603050405020304" pitchFamily="18" charset="0"/>
                </a:rPr>
                <a:t>1</a:t>
              </a:r>
              <a:endParaRPr kumimoji="1" lang="en-US" altLang="zh-CN" sz="1200">
                <a:solidFill>
                  <a:srgbClr val="FF0000"/>
                </a:solidFill>
                <a:latin typeface="Times New Roman" panose="02020603050405020304" pitchFamily="18" charset="0"/>
              </a:endParaRPr>
            </a:p>
          </p:txBody>
        </p:sp>
        <p:sp>
          <p:nvSpPr>
            <p:cNvPr id="10262" name="Line 23"/>
            <p:cNvSpPr>
              <a:spLocks noChangeShapeType="1"/>
            </p:cNvSpPr>
            <p:nvPr/>
          </p:nvSpPr>
          <p:spPr bwMode="auto">
            <a:xfrm>
              <a:off x="2595" y="9708"/>
              <a:ext cx="1980" cy="1"/>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Rot="1" noChangeArrowheads="1"/>
          </p:cNvSpPr>
          <p:nvPr>
            <p:ph type="title"/>
          </p:nvPr>
        </p:nvSpPr>
        <p:spPr/>
        <p:txBody>
          <a:bodyPr/>
          <a:lstStyle/>
          <a:p>
            <a:pPr eaLnBrk="1" hangingPunct="1">
              <a:defRPr/>
            </a:pPr>
            <a:r>
              <a:rPr lang="en-US" altLang="zh-CN" smtClean="0"/>
              <a:t>VE</a:t>
            </a:r>
            <a:r>
              <a:rPr lang="zh-CN" altLang="en-US" smtClean="0"/>
              <a:t>基本概念</a:t>
            </a:r>
            <a:endParaRPr lang="zh-CN" altLang="en-US" smtClean="0"/>
          </a:p>
        </p:txBody>
      </p:sp>
      <p:sp>
        <p:nvSpPr>
          <p:cNvPr id="925699" name="Rectangle 3"/>
          <p:cNvSpPr>
            <a:spLocks noGrp="1" noChangeArrowheads="1"/>
          </p:cNvSpPr>
          <p:nvPr>
            <p:ph type="body" idx="1"/>
          </p:nvPr>
        </p:nvSpPr>
        <p:spPr/>
        <p:txBody>
          <a:bodyPr/>
          <a:lstStyle/>
          <a:p>
            <a:pPr eaLnBrk="1" hangingPunct="1">
              <a:lnSpc>
                <a:spcPct val="90000"/>
              </a:lnSpc>
              <a:defRPr/>
            </a:pPr>
            <a:r>
              <a:rPr lang="zh-CN" altLang="en-US" sz="2800" smtClean="0"/>
              <a:t>功能</a:t>
            </a:r>
            <a:endParaRPr lang="zh-CN" altLang="en-US" sz="2800" smtClean="0"/>
          </a:p>
          <a:p>
            <a:pPr lvl="1" eaLnBrk="1" hangingPunct="1">
              <a:lnSpc>
                <a:spcPct val="90000"/>
              </a:lnSpc>
              <a:defRPr/>
            </a:pPr>
            <a:r>
              <a:rPr lang="zh-CN" altLang="en-US" sz="2400" smtClean="0"/>
              <a:t>产品或服务满足用户需求的属性。</a:t>
            </a:r>
            <a:endParaRPr lang="zh-CN" altLang="en-US" sz="2400" smtClean="0"/>
          </a:p>
          <a:p>
            <a:pPr lvl="1" eaLnBrk="1" hangingPunct="1">
              <a:lnSpc>
                <a:spcPct val="90000"/>
              </a:lnSpc>
              <a:defRPr/>
            </a:pPr>
            <a:r>
              <a:rPr lang="zh-CN" altLang="en-US" sz="2400" smtClean="0"/>
              <a:t>用户购买的是</a:t>
            </a:r>
            <a:r>
              <a:rPr lang="zh-CN" altLang="en-US" sz="2400" smtClean="0">
                <a:latin typeface="Arial" panose="020B0604020202020204"/>
              </a:rPr>
              <a:t>“</a:t>
            </a:r>
            <a:r>
              <a:rPr lang="zh-CN" altLang="en-US" sz="2400" smtClean="0"/>
              <a:t>产品的功能</a:t>
            </a:r>
            <a:r>
              <a:rPr lang="zh-CN" altLang="en-US" sz="2400" smtClean="0">
                <a:latin typeface="Arial" panose="020B0604020202020204"/>
              </a:rPr>
              <a:t>”</a:t>
            </a:r>
            <a:r>
              <a:rPr lang="zh-CN" altLang="en-US" sz="2400" smtClean="0"/>
              <a:t>，而非</a:t>
            </a:r>
            <a:r>
              <a:rPr lang="zh-CN" altLang="en-US" sz="2400" smtClean="0">
                <a:latin typeface="Arial" panose="020B0604020202020204"/>
              </a:rPr>
              <a:t>“</a:t>
            </a:r>
            <a:r>
              <a:rPr lang="zh-CN" altLang="en-US" sz="2400" smtClean="0"/>
              <a:t>产品的实体本身</a:t>
            </a:r>
            <a:r>
              <a:rPr lang="zh-CN" altLang="en-US" sz="2400" smtClean="0">
                <a:latin typeface="Arial" panose="020B0604020202020204"/>
              </a:rPr>
              <a:t>”</a:t>
            </a:r>
            <a:r>
              <a:rPr lang="zh-CN" altLang="en-US" sz="2400" smtClean="0"/>
              <a:t>。</a:t>
            </a:r>
            <a:endParaRPr lang="zh-CN" altLang="en-US" sz="2400" smtClean="0"/>
          </a:p>
          <a:p>
            <a:pPr lvl="2" eaLnBrk="1" hangingPunct="1">
              <a:lnSpc>
                <a:spcPct val="90000"/>
              </a:lnSpc>
              <a:defRPr/>
            </a:pPr>
            <a:r>
              <a:rPr lang="zh-CN" altLang="en-US" sz="2000" smtClean="0"/>
              <a:t>例如，购买灯泡， 不在乎其外形、原理等，只要能提供发光照明的作用均可。</a:t>
            </a:r>
            <a:endParaRPr lang="zh-CN" altLang="en-US" sz="2000" smtClean="0"/>
          </a:p>
          <a:p>
            <a:pPr lvl="2" eaLnBrk="1" hangingPunct="1">
              <a:lnSpc>
                <a:spcPct val="90000"/>
              </a:lnSpc>
              <a:defRPr/>
            </a:pPr>
            <a:r>
              <a:rPr lang="zh-CN" altLang="en-US" sz="2000" smtClean="0"/>
              <a:t>麦尔斯正是从这个基本观点，提出了价值工程的</a:t>
            </a:r>
            <a:r>
              <a:rPr lang="zh-CN" altLang="en-US" sz="2000" smtClean="0">
                <a:latin typeface="Arial" panose="020B0604020202020204"/>
              </a:rPr>
              <a:t>“</a:t>
            </a:r>
            <a:r>
              <a:rPr lang="zh-CN" altLang="en-US" sz="2000" smtClean="0"/>
              <a:t>廉价代用品</a:t>
            </a:r>
            <a:r>
              <a:rPr lang="zh-CN" altLang="en-US" sz="2000" smtClean="0">
                <a:latin typeface="Arial" panose="020B0604020202020204"/>
              </a:rPr>
              <a:t>”</a:t>
            </a:r>
            <a:r>
              <a:rPr lang="zh-CN" altLang="en-US" sz="2000" smtClean="0"/>
              <a:t>的基本思路，即在实现同样功能的条件下，寻求较低成本的改进做法。</a:t>
            </a:r>
            <a:endParaRPr lang="zh-CN" altLang="en-US" sz="2000" smtClean="0"/>
          </a:p>
          <a:p>
            <a:pPr eaLnBrk="1" hangingPunct="1">
              <a:lnSpc>
                <a:spcPct val="90000"/>
              </a:lnSpc>
              <a:defRPr/>
            </a:pPr>
            <a:r>
              <a:rPr lang="zh-CN" altLang="en-US" sz="2800" smtClean="0"/>
              <a:t>价值</a:t>
            </a:r>
            <a:endParaRPr lang="zh-CN" altLang="en-US" sz="2800" smtClean="0"/>
          </a:p>
          <a:p>
            <a:pPr lvl="1" eaLnBrk="1" hangingPunct="1">
              <a:lnSpc>
                <a:spcPct val="90000"/>
              </a:lnSpc>
              <a:defRPr/>
            </a:pPr>
            <a:r>
              <a:rPr lang="zh-CN" altLang="en-US" sz="2400" smtClean="0"/>
              <a:t>特指</a:t>
            </a:r>
            <a:r>
              <a:rPr lang="zh-CN" altLang="en-US" sz="2400" smtClean="0">
                <a:latin typeface="Arial" panose="020B0604020202020204"/>
              </a:rPr>
              <a:t>“</a:t>
            </a:r>
            <a:r>
              <a:rPr lang="zh-CN" altLang="en-US" sz="2400" smtClean="0"/>
              <a:t>功能与成本之比</a:t>
            </a:r>
            <a:r>
              <a:rPr lang="zh-CN" altLang="en-US" sz="2400" smtClean="0">
                <a:latin typeface="Arial" panose="020B0604020202020204"/>
              </a:rPr>
              <a:t>”</a:t>
            </a:r>
            <a:r>
              <a:rPr lang="zh-CN" altLang="en-US" sz="2400" smtClean="0"/>
              <a:t>，有别于通常所讲的其他意义上的价值。</a:t>
            </a:r>
            <a:endParaRPr lang="zh-CN" altLang="en-US" sz="2400" smtClean="0"/>
          </a:p>
          <a:p>
            <a:pPr lvl="1" eaLnBrk="1" hangingPunct="1">
              <a:lnSpc>
                <a:spcPct val="90000"/>
              </a:lnSpc>
              <a:defRPr/>
            </a:pPr>
            <a:r>
              <a:rPr lang="zh-CN" altLang="en-US" sz="2400" smtClean="0"/>
              <a:t>提高价值的途径：</a:t>
            </a:r>
            <a:r>
              <a:rPr lang="zh-CN" altLang="en-US" sz="2400" smtClean="0">
                <a:solidFill>
                  <a:srgbClr val="FF0000"/>
                </a:solidFill>
              </a:rPr>
              <a:t>？</a:t>
            </a:r>
            <a:endParaRPr lang="zh-CN" altLang="en-US" sz="2400" smtClean="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ext Box 2"/>
          <p:cNvSpPr txBox="1">
            <a:spLocks noChangeArrowheads="1"/>
          </p:cNvSpPr>
          <p:nvPr/>
        </p:nvSpPr>
        <p:spPr bwMode="auto">
          <a:xfrm>
            <a:off x="304800" y="558800"/>
            <a:ext cx="52038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3600" b="1">
                <a:latin typeface="Times New Roman" panose="02020603050405020304" pitchFamily="18" charset="0"/>
              </a:rPr>
              <a:t>提高</a:t>
            </a:r>
            <a:r>
              <a:rPr kumimoji="1" lang="en-US" altLang="zh-CN" sz="3600" b="1">
                <a:latin typeface="Times New Roman" panose="02020603050405020304" pitchFamily="18" charset="0"/>
              </a:rPr>
              <a:t>V</a:t>
            </a:r>
            <a:r>
              <a:rPr kumimoji="1" lang="zh-CN" altLang="en-US" sz="3600" b="1">
                <a:latin typeface="Times New Roman" panose="02020603050405020304" pitchFamily="18" charset="0"/>
              </a:rPr>
              <a:t>的</a:t>
            </a:r>
            <a:r>
              <a:rPr kumimoji="1" lang="zh-CN" altLang="en-US" sz="3600" b="1">
                <a:solidFill>
                  <a:schemeClr val="folHlink"/>
                </a:solidFill>
                <a:latin typeface="Times New Roman" panose="02020603050405020304" pitchFamily="18" charset="0"/>
              </a:rPr>
              <a:t>途径</a:t>
            </a:r>
            <a:r>
              <a:rPr kumimoji="1" lang="zh-CN" altLang="en-US" sz="3600" b="1">
                <a:latin typeface="Times New Roman" panose="02020603050405020304" pitchFamily="18" charset="0"/>
              </a:rPr>
              <a:t>：根据公式</a:t>
            </a:r>
            <a:endParaRPr kumimoji="1" lang="zh-CN" altLang="en-US" sz="3600" b="1">
              <a:latin typeface="Times New Roman" panose="02020603050405020304" pitchFamily="18" charset="0"/>
            </a:endParaRPr>
          </a:p>
        </p:txBody>
      </p:sp>
      <p:grpSp>
        <p:nvGrpSpPr>
          <p:cNvPr id="2" name="Group 3"/>
          <p:cNvGrpSpPr/>
          <p:nvPr/>
        </p:nvGrpSpPr>
        <p:grpSpPr bwMode="auto">
          <a:xfrm>
            <a:off x="5508625" y="404813"/>
            <a:ext cx="1143000" cy="976312"/>
            <a:chOff x="2976" y="192"/>
            <a:chExt cx="720" cy="615"/>
          </a:xfrm>
        </p:grpSpPr>
        <p:sp>
          <p:nvSpPr>
            <p:cNvPr id="12308" name="Text Box 4"/>
            <p:cNvSpPr txBox="1">
              <a:spLocks noChangeArrowheads="1"/>
            </p:cNvSpPr>
            <p:nvPr/>
          </p:nvSpPr>
          <p:spPr bwMode="auto">
            <a:xfrm>
              <a:off x="2976" y="336"/>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V=</a:t>
              </a:r>
              <a:endParaRPr kumimoji="1" lang="en-US" altLang="zh-CN" sz="2800" b="1">
                <a:latin typeface="Times New Roman" panose="02020603050405020304" pitchFamily="18" charset="0"/>
                <a:ea typeface="Gungsuh" pitchFamily="18" charset="-127"/>
              </a:endParaRPr>
            </a:p>
          </p:txBody>
        </p:sp>
        <p:sp>
          <p:nvSpPr>
            <p:cNvPr id="12309" name="Text Box 5"/>
            <p:cNvSpPr txBox="1">
              <a:spLocks noChangeArrowheads="1"/>
            </p:cNvSpPr>
            <p:nvPr/>
          </p:nvSpPr>
          <p:spPr bwMode="auto">
            <a:xfrm>
              <a:off x="3408" y="192"/>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F</a:t>
              </a:r>
              <a:endParaRPr kumimoji="1" lang="en-US" altLang="zh-CN" sz="2800" b="1">
                <a:latin typeface="Times New Roman" panose="02020603050405020304" pitchFamily="18" charset="0"/>
                <a:ea typeface="Gungsuh" pitchFamily="18" charset="-127"/>
              </a:endParaRPr>
            </a:p>
          </p:txBody>
        </p:sp>
        <p:sp>
          <p:nvSpPr>
            <p:cNvPr id="12310" name="Text Box 6"/>
            <p:cNvSpPr txBox="1">
              <a:spLocks noChangeArrowheads="1"/>
            </p:cNvSpPr>
            <p:nvPr/>
          </p:nvSpPr>
          <p:spPr bwMode="auto">
            <a:xfrm>
              <a:off x="3408" y="480"/>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C</a:t>
              </a:r>
              <a:endParaRPr kumimoji="1" lang="en-US" altLang="zh-CN" sz="2800" b="1">
                <a:latin typeface="Times New Roman" panose="02020603050405020304" pitchFamily="18" charset="0"/>
                <a:ea typeface="Gungsuh" pitchFamily="18" charset="-127"/>
              </a:endParaRPr>
            </a:p>
          </p:txBody>
        </p:sp>
        <p:sp>
          <p:nvSpPr>
            <p:cNvPr id="12311" name="Line 7"/>
            <p:cNvSpPr>
              <a:spLocks noChangeShapeType="1"/>
            </p:cNvSpPr>
            <p:nvPr/>
          </p:nvSpPr>
          <p:spPr bwMode="auto">
            <a:xfrm>
              <a:off x="3360" y="511"/>
              <a:ext cx="33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978952" name="Text Box 8"/>
          <p:cNvSpPr txBox="1">
            <a:spLocks noChangeArrowheads="1"/>
          </p:cNvSpPr>
          <p:nvPr/>
        </p:nvSpPr>
        <p:spPr bwMode="auto">
          <a:xfrm>
            <a:off x="990600" y="1295400"/>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BatangChe" pitchFamily="49" charset="-128"/>
              </a:rPr>
              <a:t>（1）</a:t>
            </a:r>
            <a:r>
              <a:rPr kumimoji="1" lang="zh-CN" altLang="en-US" sz="2800" b="1">
                <a:latin typeface="Times New Roman" panose="02020603050405020304" pitchFamily="18" charset="0"/>
                <a:ea typeface="BatangChe" pitchFamily="49" charset="-128"/>
              </a:rPr>
              <a:t>  </a:t>
            </a:r>
            <a:r>
              <a:rPr kumimoji="1" lang="en-US" altLang="zh-CN" sz="2800" b="1">
                <a:latin typeface="Times New Roman" panose="02020603050405020304" pitchFamily="18" charset="0"/>
                <a:ea typeface="BatangChe" pitchFamily="49" charset="-128"/>
              </a:rPr>
              <a:t>F </a:t>
            </a:r>
            <a:r>
              <a:rPr kumimoji="1" lang="en-US" altLang="zh-CN" sz="2800" b="1">
                <a:latin typeface="Times New Roman" panose="02020603050405020304" pitchFamily="18" charset="0"/>
                <a:ea typeface="BatangChe" pitchFamily="49" charset="-128"/>
                <a:sym typeface="Symbol" panose="05050102010706020507" pitchFamily="18" charset="2"/>
              </a:rPr>
              <a:t> ， C  </a:t>
            </a:r>
            <a:endParaRPr kumimoji="1" lang="en-US" altLang="zh-CN" sz="2800" b="1">
              <a:latin typeface="Times New Roman" panose="02020603050405020304" pitchFamily="18" charset="0"/>
              <a:ea typeface="BatangChe" pitchFamily="49" charset="-128"/>
              <a:sym typeface="Symbol" panose="05050102010706020507" pitchFamily="18" charset="2"/>
            </a:endParaRPr>
          </a:p>
        </p:txBody>
      </p:sp>
      <p:sp>
        <p:nvSpPr>
          <p:cNvPr id="978953" name="Text Box 9"/>
          <p:cNvSpPr txBox="1">
            <a:spLocks noChangeArrowheads="1"/>
          </p:cNvSpPr>
          <p:nvPr/>
        </p:nvSpPr>
        <p:spPr bwMode="auto">
          <a:xfrm>
            <a:off x="984250" y="1876425"/>
            <a:ext cx="3179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BatangChe" pitchFamily="49" charset="-128"/>
              </a:rPr>
              <a:t>（2）   </a:t>
            </a:r>
            <a:r>
              <a:rPr kumimoji="1" lang="en-US" altLang="zh-CN" sz="2800" b="1">
                <a:latin typeface="Times New Roman" panose="02020603050405020304" pitchFamily="18" charset="0"/>
                <a:ea typeface="BatangChe" pitchFamily="49" charset="-128"/>
              </a:rPr>
              <a:t>F  </a:t>
            </a:r>
            <a:r>
              <a:rPr kumimoji="1" lang="zh-CN" altLang="en-US" sz="2800" b="1">
                <a:latin typeface="Times New Roman" panose="02020603050405020304" pitchFamily="18" charset="0"/>
                <a:ea typeface="BatangChe" pitchFamily="49" charset="-128"/>
                <a:sym typeface="Symbol" panose="05050102010706020507" pitchFamily="18" charset="2"/>
              </a:rPr>
              <a:t>，</a:t>
            </a:r>
            <a:r>
              <a:rPr kumimoji="1" lang="en-US" altLang="zh-CN" sz="2800" b="1">
                <a:latin typeface="Times New Roman" panose="02020603050405020304" pitchFamily="18" charset="0"/>
                <a:ea typeface="BatangChe" pitchFamily="49" charset="-128"/>
                <a:sym typeface="Symbol" panose="05050102010706020507" pitchFamily="18" charset="2"/>
              </a:rPr>
              <a:t>C </a:t>
            </a:r>
            <a:r>
              <a:rPr kumimoji="1" lang="zh-CN" altLang="en-US" sz="2800" b="1">
                <a:latin typeface="Times New Roman" panose="02020603050405020304" pitchFamily="18" charset="0"/>
                <a:ea typeface="BatangChe" pitchFamily="49" charset="-128"/>
                <a:sym typeface="Symbol" panose="05050102010706020507" pitchFamily="18" charset="2"/>
              </a:rPr>
              <a:t>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54" name="Text Box 10"/>
          <p:cNvSpPr txBox="1">
            <a:spLocks noChangeArrowheads="1"/>
          </p:cNvSpPr>
          <p:nvPr/>
        </p:nvSpPr>
        <p:spPr bwMode="auto">
          <a:xfrm>
            <a:off x="990600" y="2463800"/>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BatangChe" pitchFamily="49" charset="-128"/>
              </a:rPr>
              <a:t>（3）   </a:t>
            </a:r>
            <a:r>
              <a:rPr kumimoji="1" lang="en-US" altLang="zh-CN" sz="2800" b="1">
                <a:latin typeface="Times New Roman" panose="02020603050405020304" pitchFamily="18" charset="0"/>
                <a:ea typeface="BatangChe" pitchFamily="49" charset="-128"/>
              </a:rPr>
              <a:t>F  </a:t>
            </a:r>
            <a:r>
              <a:rPr kumimoji="1" lang="zh-CN" altLang="en-US" sz="2800" b="1">
                <a:latin typeface="Times New Roman" panose="02020603050405020304" pitchFamily="18" charset="0"/>
                <a:ea typeface="BatangChe" pitchFamily="49" charset="-128"/>
                <a:sym typeface="Symbol" panose="05050102010706020507" pitchFamily="18" charset="2"/>
              </a:rPr>
              <a:t>，</a:t>
            </a:r>
            <a:r>
              <a:rPr kumimoji="1" lang="en-US" altLang="zh-CN" sz="2800" b="1">
                <a:latin typeface="Times New Roman" panose="02020603050405020304" pitchFamily="18" charset="0"/>
                <a:ea typeface="BatangChe" pitchFamily="49" charset="-128"/>
                <a:sym typeface="Symbol" panose="05050102010706020507" pitchFamily="18" charset="2"/>
              </a:rPr>
              <a:t> C    </a:t>
            </a:r>
            <a:r>
              <a:rPr kumimoji="1" lang="zh-CN" altLang="en-US" sz="2800" b="1">
                <a:latin typeface="Times New Roman" panose="02020603050405020304" pitchFamily="18" charset="0"/>
                <a:ea typeface="BatangChe" pitchFamily="49" charset="-128"/>
              </a:rPr>
              <a:t> </a:t>
            </a:r>
            <a:endParaRPr kumimoji="1" lang="zh-CN" altLang="en-US" sz="2800" b="1">
              <a:latin typeface="Times New Roman" panose="02020603050405020304" pitchFamily="18" charset="0"/>
              <a:ea typeface="BatangChe" pitchFamily="49" charset="-128"/>
            </a:endParaRPr>
          </a:p>
        </p:txBody>
      </p:sp>
      <p:sp>
        <p:nvSpPr>
          <p:cNvPr id="978955" name="Text Box 11"/>
          <p:cNvSpPr txBox="1">
            <a:spLocks noChangeArrowheads="1"/>
          </p:cNvSpPr>
          <p:nvPr/>
        </p:nvSpPr>
        <p:spPr bwMode="auto">
          <a:xfrm>
            <a:off x="914400" y="3200400"/>
            <a:ext cx="335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BatangChe" pitchFamily="49" charset="-128"/>
              </a:rPr>
              <a:t>（4）   </a:t>
            </a:r>
            <a:r>
              <a:rPr kumimoji="1" lang="en-US" altLang="zh-CN" sz="2800" b="1">
                <a:latin typeface="Times New Roman" panose="02020603050405020304" pitchFamily="18" charset="0"/>
                <a:ea typeface="BatangChe" pitchFamily="49" charset="-128"/>
                <a:sym typeface="Symbol" panose="05050102010706020507" pitchFamily="18" charset="2"/>
              </a:rPr>
              <a:t>C  </a:t>
            </a:r>
            <a:r>
              <a:rPr kumimoji="1" lang="zh-CN" altLang="en-US" sz="2800" b="1">
                <a:latin typeface="Times New Roman" panose="02020603050405020304" pitchFamily="18" charset="0"/>
                <a:ea typeface="BatangChe" pitchFamily="49" charset="-128"/>
                <a:sym typeface="Symbol" panose="05050102010706020507" pitchFamily="18" charset="2"/>
              </a:rPr>
              <a:t>，</a:t>
            </a:r>
            <a:r>
              <a:rPr kumimoji="1" lang="en-US" altLang="zh-CN" sz="2800" b="1">
                <a:latin typeface="Times New Roman" panose="02020603050405020304" pitchFamily="18" charset="0"/>
                <a:ea typeface="BatangChe" pitchFamily="49" charset="-128"/>
                <a:sym typeface="Symbol" panose="05050102010706020507" pitchFamily="18" charset="2"/>
              </a:rPr>
              <a:t> </a:t>
            </a:r>
            <a:r>
              <a:rPr kumimoji="1" lang="en-US" altLang="zh-CN" sz="2800" b="1">
                <a:latin typeface="Times New Roman" panose="02020603050405020304" pitchFamily="18" charset="0"/>
                <a:ea typeface="BatangChe" pitchFamily="49" charset="-128"/>
              </a:rPr>
              <a:t>F </a:t>
            </a:r>
            <a:r>
              <a:rPr kumimoji="1" lang="zh-CN" altLang="en-US" sz="2800" b="1">
                <a:latin typeface="Times New Roman" panose="02020603050405020304" pitchFamily="18" charset="0"/>
                <a:ea typeface="BatangChe" pitchFamily="49" charset="-128"/>
                <a:sym typeface="Symbol" panose="05050102010706020507" pitchFamily="18" charset="2"/>
              </a:rPr>
              <a:t></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56" name="AutoShape 12"/>
          <p:cNvSpPr>
            <a:spLocks noChangeArrowheads="1"/>
          </p:cNvSpPr>
          <p:nvPr/>
        </p:nvSpPr>
        <p:spPr bwMode="auto">
          <a:xfrm>
            <a:off x="4419600" y="1447800"/>
            <a:ext cx="533400" cy="152400"/>
          </a:xfrm>
          <a:prstGeom prst="rightArrow">
            <a:avLst>
              <a:gd name="adj1" fmla="val 50000"/>
              <a:gd name="adj2" fmla="val 87500"/>
            </a:avLst>
          </a:prstGeom>
          <a:solidFill>
            <a:schemeClr val="accent1"/>
          </a:solidFill>
          <a:ln w="9525">
            <a:solidFill>
              <a:schemeClr val="tx1"/>
            </a:solidFill>
            <a:miter lim="800000"/>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78957" name="AutoShape 13"/>
          <p:cNvSpPr>
            <a:spLocks noChangeArrowheads="1"/>
          </p:cNvSpPr>
          <p:nvPr/>
        </p:nvSpPr>
        <p:spPr bwMode="auto">
          <a:xfrm>
            <a:off x="4419600" y="2057400"/>
            <a:ext cx="533400" cy="152400"/>
          </a:xfrm>
          <a:prstGeom prst="rightArrow">
            <a:avLst>
              <a:gd name="adj1" fmla="val 50000"/>
              <a:gd name="adj2" fmla="val 87500"/>
            </a:avLst>
          </a:prstGeom>
          <a:solidFill>
            <a:schemeClr val="accent1"/>
          </a:solidFill>
          <a:ln w="9525">
            <a:solidFill>
              <a:schemeClr val="tx1"/>
            </a:solidFill>
            <a:miter lim="800000"/>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78958" name="AutoShape 14"/>
          <p:cNvSpPr>
            <a:spLocks noChangeArrowheads="1"/>
          </p:cNvSpPr>
          <p:nvPr/>
        </p:nvSpPr>
        <p:spPr bwMode="auto">
          <a:xfrm>
            <a:off x="4405313" y="3276600"/>
            <a:ext cx="533400" cy="152400"/>
          </a:xfrm>
          <a:prstGeom prst="rightArrow">
            <a:avLst>
              <a:gd name="adj1" fmla="val 50000"/>
              <a:gd name="adj2" fmla="val 87500"/>
            </a:avLst>
          </a:prstGeom>
          <a:solidFill>
            <a:schemeClr val="accent1"/>
          </a:solidFill>
          <a:ln w="9525">
            <a:solidFill>
              <a:schemeClr val="tx1"/>
            </a:solidFill>
            <a:miter lim="800000"/>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78959" name="AutoShape 15"/>
          <p:cNvSpPr>
            <a:spLocks noChangeArrowheads="1"/>
          </p:cNvSpPr>
          <p:nvPr/>
        </p:nvSpPr>
        <p:spPr bwMode="auto">
          <a:xfrm>
            <a:off x="4405313" y="3962400"/>
            <a:ext cx="533400" cy="152400"/>
          </a:xfrm>
          <a:prstGeom prst="rightArrow">
            <a:avLst>
              <a:gd name="adj1" fmla="val 50000"/>
              <a:gd name="adj2" fmla="val 87500"/>
            </a:avLst>
          </a:prstGeom>
          <a:solidFill>
            <a:schemeClr val="accent1"/>
          </a:solidFill>
          <a:ln w="9525">
            <a:solidFill>
              <a:schemeClr val="tx1"/>
            </a:solidFill>
            <a:miter lim="800000"/>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78960" name="Rectangle 16"/>
          <p:cNvSpPr>
            <a:spLocks noChangeArrowheads="1"/>
          </p:cNvSpPr>
          <p:nvPr/>
        </p:nvSpPr>
        <p:spPr bwMode="auto">
          <a:xfrm>
            <a:off x="5148263" y="3213100"/>
            <a:ext cx="744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ea typeface="BatangChe" pitchFamily="49" charset="-128"/>
                <a:sym typeface="Symbol" panose="05050102010706020507" pitchFamily="18" charset="2"/>
              </a:rPr>
              <a:t>V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61" name="Rectangle 17"/>
          <p:cNvSpPr>
            <a:spLocks noChangeArrowheads="1"/>
          </p:cNvSpPr>
          <p:nvPr/>
        </p:nvSpPr>
        <p:spPr bwMode="auto">
          <a:xfrm>
            <a:off x="3492500" y="2643188"/>
            <a:ext cx="273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ea typeface="BatangChe" pitchFamily="49" charset="-128"/>
                <a:sym typeface="Symbol" panose="05050102010706020507" pitchFamily="18" charset="2"/>
              </a:rPr>
              <a:t>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62" name="Rectangle 18"/>
          <p:cNvSpPr>
            <a:spLocks noChangeArrowheads="1"/>
          </p:cNvSpPr>
          <p:nvPr/>
        </p:nvSpPr>
        <p:spPr bwMode="auto">
          <a:xfrm>
            <a:off x="5105400" y="1295400"/>
            <a:ext cx="744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ea typeface="BatangChe" pitchFamily="49" charset="-128"/>
                <a:sym typeface="Symbol" panose="05050102010706020507" pitchFamily="18" charset="2"/>
              </a:rPr>
              <a:t>V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63" name="Rectangle 19"/>
          <p:cNvSpPr>
            <a:spLocks noChangeArrowheads="1"/>
          </p:cNvSpPr>
          <p:nvPr/>
        </p:nvSpPr>
        <p:spPr bwMode="auto">
          <a:xfrm>
            <a:off x="990600" y="3886200"/>
            <a:ext cx="307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ea typeface="BatangChe" pitchFamily="49" charset="-128"/>
              </a:rPr>
              <a:t>（5）   </a:t>
            </a:r>
            <a:r>
              <a:rPr kumimoji="1" lang="en-US" altLang="zh-CN" sz="2800" b="1">
                <a:latin typeface="Times New Roman" panose="02020603050405020304" pitchFamily="18" charset="0"/>
                <a:ea typeface="BatangChe" pitchFamily="49" charset="-128"/>
              </a:rPr>
              <a:t>F </a:t>
            </a:r>
            <a:r>
              <a:rPr kumimoji="1" lang="en-US" altLang="zh-CN" sz="2800" b="1">
                <a:latin typeface="Times New Roman" panose="02020603050405020304" pitchFamily="18" charset="0"/>
                <a:ea typeface="BatangChe" pitchFamily="49" charset="-128"/>
                <a:sym typeface="Symbol" panose="05050102010706020507" pitchFamily="18" charset="2"/>
              </a:rPr>
              <a:t></a:t>
            </a:r>
            <a:r>
              <a:rPr kumimoji="1" lang="zh-CN" altLang="en-US" sz="2800" b="1">
                <a:latin typeface="Times New Roman" panose="02020603050405020304" pitchFamily="18" charset="0"/>
                <a:ea typeface="BatangChe" pitchFamily="49" charset="-128"/>
                <a:sym typeface="Symbol" panose="05050102010706020507" pitchFamily="18" charset="2"/>
              </a:rPr>
              <a:t>，</a:t>
            </a:r>
            <a:r>
              <a:rPr kumimoji="1" lang="en-US" altLang="zh-CN" sz="2800" b="1">
                <a:latin typeface="Times New Roman" panose="02020603050405020304" pitchFamily="18" charset="0"/>
                <a:ea typeface="BatangChe" pitchFamily="49" charset="-128"/>
                <a:sym typeface="Symbol" panose="05050102010706020507" pitchFamily="18" charset="2"/>
              </a:rPr>
              <a:t> C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64" name="Rectangle 20"/>
          <p:cNvSpPr>
            <a:spLocks noChangeArrowheads="1"/>
          </p:cNvSpPr>
          <p:nvPr/>
        </p:nvSpPr>
        <p:spPr bwMode="auto">
          <a:xfrm>
            <a:off x="5105400" y="1981200"/>
            <a:ext cx="744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ea typeface="BatangChe" pitchFamily="49" charset="-128"/>
                <a:sym typeface="Symbol" panose="05050102010706020507" pitchFamily="18" charset="2"/>
              </a:rPr>
              <a:t>V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65" name="Rectangle 21"/>
          <p:cNvSpPr>
            <a:spLocks noChangeArrowheads="1"/>
          </p:cNvSpPr>
          <p:nvPr/>
        </p:nvSpPr>
        <p:spPr bwMode="auto">
          <a:xfrm>
            <a:off x="5105400" y="2590800"/>
            <a:ext cx="744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ea typeface="BatangChe" pitchFamily="49" charset="-128"/>
                <a:sym typeface="Symbol" panose="05050102010706020507" pitchFamily="18" charset="2"/>
              </a:rPr>
              <a:t>V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
        <p:nvSpPr>
          <p:cNvPr id="978966" name="AutoShape 22"/>
          <p:cNvSpPr>
            <a:spLocks noChangeArrowheads="1"/>
          </p:cNvSpPr>
          <p:nvPr/>
        </p:nvSpPr>
        <p:spPr bwMode="auto">
          <a:xfrm>
            <a:off x="4419600" y="2667000"/>
            <a:ext cx="533400" cy="152400"/>
          </a:xfrm>
          <a:prstGeom prst="rightArrow">
            <a:avLst>
              <a:gd name="adj1" fmla="val 50000"/>
              <a:gd name="adj2" fmla="val 87500"/>
            </a:avLst>
          </a:prstGeom>
          <a:solidFill>
            <a:schemeClr val="accent1"/>
          </a:solidFill>
          <a:ln w="9525">
            <a:solidFill>
              <a:schemeClr val="tx1"/>
            </a:solidFill>
            <a:miter lim="800000"/>
          </a:ln>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978967" name="Rectangle 23"/>
          <p:cNvSpPr>
            <a:spLocks noChangeArrowheads="1"/>
          </p:cNvSpPr>
          <p:nvPr/>
        </p:nvSpPr>
        <p:spPr bwMode="auto">
          <a:xfrm>
            <a:off x="5148263" y="3933825"/>
            <a:ext cx="744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ea typeface="BatangChe" pitchFamily="49" charset="-128"/>
                <a:sym typeface="Symbol" panose="05050102010706020507" pitchFamily="18" charset="2"/>
              </a:rPr>
              <a:t>V </a:t>
            </a:r>
            <a:endParaRPr kumimoji="1" lang="zh-CN" altLang="en-US" sz="2800" b="1">
              <a:latin typeface="Times New Roman" panose="02020603050405020304" pitchFamily="18" charset="0"/>
              <a:ea typeface="BatangChe" pitchFamily="49" charset="-128"/>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8946">
                                            <p:txEl>
                                              <p:pRg st="0" end="0"/>
                                            </p:txEl>
                                          </p:spTgt>
                                        </p:tgtEl>
                                        <p:attrNameLst>
                                          <p:attrName>style.visibility</p:attrName>
                                        </p:attrNameLst>
                                      </p:cBhvr>
                                      <p:to>
                                        <p:strVal val="visible"/>
                                      </p:to>
                                    </p:set>
                                    <p:animEffect transition="in" filter="dissolve">
                                      <p:cBhvr>
                                        <p:cTn id="7" dur="500"/>
                                        <p:tgtEl>
                                          <p:spTgt spid="9789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78952">
                                            <p:txEl>
                                              <p:pRg st="0" end="0"/>
                                            </p:txEl>
                                          </p:spTgt>
                                        </p:tgtEl>
                                        <p:attrNameLst>
                                          <p:attrName>style.visibility</p:attrName>
                                        </p:attrNameLst>
                                      </p:cBhvr>
                                      <p:to>
                                        <p:strVal val="visible"/>
                                      </p:to>
                                    </p:set>
                                    <p:animEffect transition="in" filter="dissolve">
                                      <p:cBhvr>
                                        <p:cTn id="17" dur="500"/>
                                        <p:tgtEl>
                                          <p:spTgt spid="9789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78956"/>
                                        </p:tgtEl>
                                        <p:attrNameLst>
                                          <p:attrName>style.visibility</p:attrName>
                                        </p:attrNameLst>
                                      </p:cBhvr>
                                      <p:to>
                                        <p:strVal val="visible"/>
                                      </p:to>
                                    </p:set>
                                    <p:animEffect transition="in" filter="dissolve">
                                      <p:cBhvr>
                                        <p:cTn id="22" dur="500"/>
                                        <p:tgtEl>
                                          <p:spTgt spid="97895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78962">
                                            <p:txEl>
                                              <p:pRg st="0" end="0"/>
                                            </p:txEl>
                                          </p:spTgt>
                                        </p:tgtEl>
                                        <p:attrNameLst>
                                          <p:attrName>style.visibility</p:attrName>
                                        </p:attrNameLst>
                                      </p:cBhvr>
                                      <p:to>
                                        <p:strVal val="visible"/>
                                      </p:to>
                                    </p:set>
                                    <p:animEffect transition="in" filter="dissolve">
                                      <p:cBhvr>
                                        <p:cTn id="27" dur="500"/>
                                        <p:tgtEl>
                                          <p:spTgt spid="97896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78953">
                                            <p:txEl>
                                              <p:pRg st="0" end="0"/>
                                            </p:txEl>
                                          </p:spTgt>
                                        </p:tgtEl>
                                        <p:attrNameLst>
                                          <p:attrName>style.visibility</p:attrName>
                                        </p:attrNameLst>
                                      </p:cBhvr>
                                      <p:to>
                                        <p:strVal val="visible"/>
                                      </p:to>
                                    </p:set>
                                    <p:animEffect transition="in" filter="dissolve">
                                      <p:cBhvr>
                                        <p:cTn id="32" dur="500"/>
                                        <p:tgtEl>
                                          <p:spTgt spid="97895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78957"/>
                                        </p:tgtEl>
                                        <p:attrNameLst>
                                          <p:attrName>style.visibility</p:attrName>
                                        </p:attrNameLst>
                                      </p:cBhvr>
                                      <p:to>
                                        <p:strVal val="visible"/>
                                      </p:to>
                                    </p:set>
                                    <p:animEffect transition="in" filter="dissolve">
                                      <p:cBhvr>
                                        <p:cTn id="37" dur="500"/>
                                        <p:tgtEl>
                                          <p:spTgt spid="9789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78964">
                                            <p:txEl>
                                              <p:pRg st="0" end="0"/>
                                            </p:txEl>
                                          </p:spTgt>
                                        </p:tgtEl>
                                        <p:attrNameLst>
                                          <p:attrName>style.visibility</p:attrName>
                                        </p:attrNameLst>
                                      </p:cBhvr>
                                      <p:to>
                                        <p:strVal val="visible"/>
                                      </p:to>
                                    </p:set>
                                    <p:animEffect transition="in" filter="dissolve">
                                      <p:cBhvr>
                                        <p:cTn id="42" dur="500"/>
                                        <p:tgtEl>
                                          <p:spTgt spid="97896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978954">
                                            <p:txEl>
                                              <p:pRg st="0" end="0"/>
                                            </p:txEl>
                                          </p:spTgt>
                                        </p:tgtEl>
                                        <p:attrNameLst>
                                          <p:attrName>style.visibility</p:attrName>
                                        </p:attrNameLst>
                                      </p:cBhvr>
                                      <p:to>
                                        <p:strVal val="visible"/>
                                      </p:to>
                                    </p:set>
                                    <p:animEffect transition="in" filter="dissolve">
                                      <p:cBhvr>
                                        <p:cTn id="47" dur="500"/>
                                        <p:tgtEl>
                                          <p:spTgt spid="97895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978966"/>
                                        </p:tgtEl>
                                        <p:attrNameLst>
                                          <p:attrName>style.visibility</p:attrName>
                                        </p:attrNameLst>
                                      </p:cBhvr>
                                      <p:to>
                                        <p:strVal val="visible"/>
                                      </p:to>
                                    </p:set>
                                    <p:animEffect transition="in" filter="dissolve">
                                      <p:cBhvr>
                                        <p:cTn id="52" dur="500"/>
                                        <p:tgtEl>
                                          <p:spTgt spid="978966"/>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978965">
                                            <p:txEl>
                                              <p:pRg st="0" end="0"/>
                                            </p:txEl>
                                          </p:spTgt>
                                        </p:tgtEl>
                                        <p:attrNameLst>
                                          <p:attrName>style.visibility</p:attrName>
                                        </p:attrNameLst>
                                      </p:cBhvr>
                                      <p:to>
                                        <p:strVal val="visible"/>
                                      </p:to>
                                    </p:set>
                                    <p:animEffect transition="in" filter="dissolve">
                                      <p:cBhvr>
                                        <p:cTn id="57" dur="500"/>
                                        <p:tgtEl>
                                          <p:spTgt spid="978965">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978955">
                                            <p:txEl>
                                              <p:pRg st="0" end="0"/>
                                            </p:txEl>
                                          </p:spTgt>
                                        </p:tgtEl>
                                        <p:attrNameLst>
                                          <p:attrName>style.visibility</p:attrName>
                                        </p:attrNameLst>
                                      </p:cBhvr>
                                      <p:to>
                                        <p:strVal val="visible"/>
                                      </p:to>
                                    </p:set>
                                    <p:animEffect transition="in" filter="dissolve">
                                      <p:cBhvr>
                                        <p:cTn id="62" dur="500"/>
                                        <p:tgtEl>
                                          <p:spTgt spid="978955">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978958"/>
                                        </p:tgtEl>
                                        <p:attrNameLst>
                                          <p:attrName>style.visibility</p:attrName>
                                        </p:attrNameLst>
                                      </p:cBhvr>
                                      <p:to>
                                        <p:strVal val="visible"/>
                                      </p:to>
                                    </p:set>
                                    <p:animEffect transition="in" filter="dissolve">
                                      <p:cBhvr>
                                        <p:cTn id="67" dur="500"/>
                                        <p:tgtEl>
                                          <p:spTgt spid="97895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978961">
                                            <p:txEl>
                                              <p:pRg st="0" end="0"/>
                                            </p:txEl>
                                          </p:spTgt>
                                        </p:tgtEl>
                                        <p:attrNameLst>
                                          <p:attrName>style.visibility</p:attrName>
                                        </p:attrNameLst>
                                      </p:cBhvr>
                                      <p:to>
                                        <p:strVal val="visible"/>
                                      </p:to>
                                    </p:set>
                                    <p:animEffect transition="in" filter="dissolve">
                                      <p:cBhvr>
                                        <p:cTn id="72" dur="500"/>
                                        <p:tgtEl>
                                          <p:spTgt spid="978961">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978963">
                                            <p:txEl>
                                              <p:pRg st="0" end="0"/>
                                            </p:txEl>
                                          </p:spTgt>
                                        </p:tgtEl>
                                        <p:attrNameLst>
                                          <p:attrName>style.visibility</p:attrName>
                                        </p:attrNameLst>
                                      </p:cBhvr>
                                      <p:to>
                                        <p:strVal val="visible"/>
                                      </p:to>
                                    </p:set>
                                    <p:animEffect transition="in" filter="dissolve">
                                      <p:cBhvr>
                                        <p:cTn id="77" dur="500"/>
                                        <p:tgtEl>
                                          <p:spTgt spid="97896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978959"/>
                                        </p:tgtEl>
                                        <p:attrNameLst>
                                          <p:attrName>style.visibility</p:attrName>
                                        </p:attrNameLst>
                                      </p:cBhvr>
                                      <p:to>
                                        <p:strVal val="visible"/>
                                      </p:to>
                                    </p:set>
                                    <p:animEffect transition="in" filter="dissolve">
                                      <p:cBhvr>
                                        <p:cTn id="82" dur="500"/>
                                        <p:tgtEl>
                                          <p:spTgt spid="97895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978960">
                                            <p:txEl>
                                              <p:pRg st="0" end="0"/>
                                            </p:txEl>
                                          </p:spTgt>
                                        </p:tgtEl>
                                        <p:attrNameLst>
                                          <p:attrName>style.visibility</p:attrName>
                                        </p:attrNameLst>
                                      </p:cBhvr>
                                      <p:to>
                                        <p:strVal val="visible"/>
                                      </p:to>
                                    </p:set>
                                    <p:animEffect transition="in" filter="dissolve">
                                      <p:cBhvr>
                                        <p:cTn id="87" dur="500"/>
                                        <p:tgtEl>
                                          <p:spTgt spid="978960">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978967">
                                            <p:txEl>
                                              <p:pRg st="0" end="0"/>
                                            </p:txEl>
                                          </p:spTgt>
                                        </p:tgtEl>
                                        <p:attrNameLst>
                                          <p:attrName>style.visibility</p:attrName>
                                        </p:attrNameLst>
                                      </p:cBhvr>
                                      <p:to>
                                        <p:strVal val="visible"/>
                                      </p:to>
                                    </p:set>
                                    <p:animEffect transition="in" filter="dissolve">
                                      <p:cBhvr>
                                        <p:cTn id="92" dur="500"/>
                                        <p:tgtEl>
                                          <p:spTgt spid="9789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46" grpId="0" autoUpdateAnimBg="0" build="p"/>
      <p:bldP spid="978952" grpId="0" autoUpdateAnimBg="0" build="p"/>
      <p:bldP spid="978953" grpId="0" autoUpdateAnimBg="0" build="p"/>
      <p:bldP spid="978954" grpId="0" autoUpdateAnimBg="0" build="p"/>
      <p:bldP spid="978955" grpId="0" autoUpdateAnimBg="0" build="p"/>
      <p:bldP spid="978956" grpId="0" animBg="1"/>
      <p:bldP spid="978957" grpId="0" animBg="1"/>
      <p:bldP spid="978958" grpId="0" animBg="1"/>
      <p:bldP spid="978959" grpId="0" animBg="1"/>
      <p:bldP spid="978960" grpId="0" autoUpdateAnimBg="0" build="p"/>
      <p:bldP spid="978961" grpId="0" autoUpdateAnimBg="0" build="p"/>
      <p:bldP spid="978962" grpId="0" autoUpdateAnimBg="0" build="p"/>
      <p:bldP spid="978963" grpId="0" autoUpdateAnimBg="0" build="p"/>
      <p:bldP spid="978964" grpId="0" autoUpdateAnimBg="0" build="p"/>
      <p:bldP spid="978965" grpId="0" autoUpdateAnimBg="0" build="p"/>
      <p:bldP spid="978966" grpId="0" animBg="1"/>
      <p:bldP spid="978967" grpId="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2"/>
          <p:cNvSpPr>
            <a:spLocks noGrp="1" noRot="1" noChangeArrowheads="1"/>
          </p:cNvSpPr>
          <p:nvPr>
            <p:ph type="title"/>
          </p:nvPr>
        </p:nvSpPr>
        <p:spPr/>
        <p:txBody>
          <a:bodyPr/>
          <a:lstStyle/>
          <a:p>
            <a:pPr eaLnBrk="1" hangingPunct="1">
              <a:defRPr/>
            </a:pPr>
            <a:r>
              <a:rPr lang="en-US" altLang="zh-CN" smtClean="0"/>
              <a:t>VE</a:t>
            </a:r>
            <a:r>
              <a:rPr lang="zh-CN" altLang="en-US" smtClean="0"/>
              <a:t>的特点</a:t>
            </a:r>
            <a:endParaRPr lang="zh-CN" altLang="en-US" smtClean="0"/>
          </a:p>
        </p:txBody>
      </p:sp>
      <p:sp>
        <p:nvSpPr>
          <p:cNvPr id="13315" name="Rectangle 3"/>
          <p:cNvSpPr>
            <a:spLocks noGrp="1" noChangeArrowheads="1"/>
          </p:cNvSpPr>
          <p:nvPr>
            <p:ph type="body" idx="1"/>
          </p:nvPr>
        </p:nvSpPr>
        <p:spPr/>
        <p:txBody>
          <a:bodyPr/>
          <a:lstStyle/>
          <a:p>
            <a:pPr eaLnBrk="1" hangingPunct="1"/>
            <a:r>
              <a:rPr kumimoji="1" lang="zh-CN" altLang="en-US" b="1" smtClean="0">
                <a:effectLst/>
              </a:rPr>
              <a:t> 着眼于全寿命周期成本</a:t>
            </a:r>
            <a:endParaRPr kumimoji="1" lang="zh-CN" altLang="en-US" b="1" smtClean="0">
              <a:effectLst/>
            </a:endParaRPr>
          </a:p>
          <a:p>
            <a:pPr eaLnBrk="1" hangingPunct="1"/>
            <a:r>
              <a:rPr kumimoji="1" lang="zh-CN" altLang="en-US" b="1" smtClean="0">
                <a:effectLst/>
              </a:rPr>
              <a:t> 以</a:t>
            </a:r>
            <a:r>
              <a:rPr kumimoji="1" lang="zh-CN" altLang="en-US" b="1" smtClean="0">
                <a:solidFill>
                  <a:srgbClr val="FF7C80"/>
                </a:solidFill>
                <a:effectLst/>
              </a:rPr>
              <a:t>提高价值</a:t>
            </a:r>
            <a:r>
              <a:rPr kumimoji="1" lang="zh-CN" altLang="en-US" b="1" smtClean="0">
                <a:effectLst/>
              </a:rPr>
              <a:t>为</a:t>
            </a:r>
            <a:r>
              <a:rPr kumimoji="1" lang="zh-CN" altLang="en-US" b="1" smtClean="0">
                <a:solidFill>
                  <a:srgbClr val="FF7C80"/>
                </a:solidFill>
                <a:effectLst/>
              </a:rPr>
              <a:t>目标</a:t>
            </a:r>
            <a:r>
              <a:rPr kumimoji="1" lang="zh-CN" altLang="en-US" b="1" smtClean="0">
                <a:effectLst/>
              </a:rPr>
              <a:t>，反映了生产者和用户的共同利益</a:t>
            </a:r>
            <a:endParaRPr kumimoji="1" lang="zh-CN" altLang="en-US" b="1" smtClean="0">
              <a:effectLst/>
            </a:endParaRPr>
          </a:p>
          <a:p>
            <a:pPr eaLnBrk="1" hangingPunct="1"/>
            <a:r>
              <a:rPr kumimoji="1" lang="zh-CN" altLang="en-US" b="1" smtClean="0">
                <a:effectLst/>
              </a:rPr>
              <a:t> 以</a:t>
            </a:r>
            <a:r>
              <a:rPr kumimoji="1" lang="zh-CN" altLang="en-US" b="1" smtClean="0">
                <a:solidFill>
                  <a:srgbClr val="FF7C80"/>
                </a:solidFill>
                <a:effectLst/>
              </a:rPr>
              <a:t>功能</a:t>
            </a:r>
            <a:r>
              <a:rPr kumimoji="1" lang="zh-CN" altLang="en-US" b="1" smtClean="0">
                <a:effectLst/>
              </a:rPr>
              <a:t>分析为</a:t>
            </a:r>
            <a:r>
              <a:rPr kumimoji="1" lang="zh-CN" altLang="en-US" b="1" smtClean="0">
                <a:solidFill>
                  <a:srgbClr val="FF7C80"/>
                </a:solidFill>
                <a:effectLst/>
              </a:rPr>
              <a:t>核心</a:t>
            </a:r>
            <a:endParaRPr kumimoji="1" lang="zh-CN" altLang="en-US" b="1" smtClean="0">
              <a:solidFill>
                <a:srgbClr val="FF7C80"/>
              </a:solidFill>
              <a:effectLst/>
            </a:endParaRPr>
          </a:p>
          <a:p>
            <a:pPr eaLnBrk="1" hangingPunct="1"/>
            <a:r>
              <a:rPr kumimoji="1" lang="zh-CN" altLang="en-US" b="1" smtClean="0">
                <a:effectLst/>
              </a:rPr>
              <a:t> 是有组织的集体创造活动</a:t>
            </a:r>
            <a:endParaRPr kumimoji="1" lang="zh-CN" altLang="en-US" b="1" smtClean="0">
              <a:effectLst/>
            </a:endParaRPr>
          </a:p>
          <a:p>
            <a:pPr eaLnBrk="1" hangingPunct="1"/>
            <a:r>
              <a:rPr kumimoji="1" lang="zh-CN" altLang="en-US" b="1" smtClean="0">
                <a:effectLst/>
              </a:rPr>
              <a:t>一般在方案的研究设计阶段应用</a:t>
            </a:r>
            <a:endParaRPr kumimoji="1" lang="zh-CN" altLang="en-US" b="1" smtClean="0">
              <a:effectLs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704"/>
          <p:cNvSpPr>
            <a:spLocks noChangeShapeType="1"/>
          </p:cNvSpPr>
          <p:nvPr/>
        </p:nvSpPr>
        <p:spPr bwMode="auto">
          <a:xfrm>
            <a:off x="3592513" y="3659188"/>
            <a:ext cx="0" cy="0"/>
          </a:xfrm>
          <a:prstGeom prst="line">
            <a:avLst/>
          </a:prstGeom>
          <a:noFill/>
          <a:ln w="12700" cap="rnd">
            <a:solidFill>
              <a:srgbClr val="0000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4339" name="Line 705"/>
          <p:cNvSpPr>
            <a:spLocks noChangeShapeType="1"/>
          </p:cNvSpPr>
          <p:nvPr/>
        </p:nvSpPr>
        <p:spPr bwMode="auto">
          <a:xfrm>
            <a:off x="3592513" y="3887788"/>
            <a:ext cx="0" cy="0"/>
          </a:xfrm>
          <a:prstGeom prst="line">
            <a:avLst/>
          </a:prstGeom>
          <a:noFill/>
          <a:ln w="12700" cap="rnd">
            <a:solidFill>
              <a:srgbClr val="0000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4340" name="Line 709"/>
          <p:cNvSpPr>
            <a:spLocks noChangeShapeType="1"/>
          </p:cNvSpPr>
          <p:nvPr/>
        </p:nvSpPr>
        <p:spPr bwMode="auto">
          <a:xfrm>
            <a:off x="3592513" y="3887788"/>
            <a:ext cx="0" cy="0"/>
          </a:xfrm>
          <a:prstGeom prst="line">
            <a:avLst/>
          </a:prstGeom>
          <a:noFill/>
          <a:ln w="12700" cap="rnd">
            <a:solidFill>
              <a:srgbClr val="000000"/>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4341" name="Line 710"/>
          <p:cNvSpPr>
            <a:spLocks noChangeShapeType="1"/>
          </p:cNvSpPr>
          <p:nvPr/>
        </p:nvSpPr>
        <p:spPr bwMode="auto">
          <a:xfrm>
            <a:off x="3592513" y="4116388"/>
            <a:ext cx="0" cy="0"/>
          </a:xfrm>
          <a:prstGeom prst="line">
            <a:avLst/>
          </a:prstGeom>
          <a:noFill/>
          <a:ln w="12700" cap="rnd">
            <a:solidFill>
              <a:srgbClr val="000000"/>
            </a:solidFill>
            <a:miter lim="800000"/>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990962" name="Group 754"/>
          <p:cNvGraphicFramePr>
            <a:graphicFrameLocks noGrp="1"/>
          </p:cNvGraphicFramePr>
          <p:nvPr/>
        </p:nvGraphicFramePr>
        <p:xfrm>
          <a:off x="250825" y="0"/>
          <a:ext cx="8893175" cy="6918328"/>
        </p:xfrm>
        <a:graphic>
          <a:graphicData uri="http://schemas.openxmlformats.org/drawingml/2006/table">
            <a:tbl>
              <a:tblPr/>
              <a:tblGrid>
                <a:gridCol w="1030288"/>
                <a:gridCol w="1838325"/>
                <a:gridCol w="1839912"/>
                <a:gridCol w="1839913"/>
                <a:gridCol w="2344737"/>
              </a:tblGrid>
              <a:tr h="45720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价值工程工作阶段</a:t>
                      </a:r>
                      <a:endParaRPr kumimoji="1" lang="zh-CN" altLang="en-US"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设计程序</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工作步骤</a:t>
                      </a:r>
                      <a:endPar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价值工程对应问题</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55625">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基本步骤</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详细步骤</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r>
              <a:tr h="36830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准备阶段</a:t>
                      </a:r>
                      <a:endParaRPr kumimoji="1"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制定工作计划</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rPr>
                        <a:t>确定目标</a:t>
                      </a:r>
                      <a:endParaRPr kumimoji="1" lang="zh-CN" altLang="en-US" sz="1800" b="0"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对象选择</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这是什么</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71475">
                <a:tc vMerge="1">
                  <a:tcPr/>
                </a:tc>
                <a:tc vMerge="1">
                  <a:tcPr/>
                </a:tc>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信息搜集</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r>
              <a:tr h="369888">
                <a:tc rowSpan="5">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分析阶段</a:t>
                      </a:r>
                      <a:endParaRPr kumimoji="1"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5">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规定评价</a:t>
                      </a:r>
                      <a:r>
                        <a:rPr kumimoji="1" lang="en-US" altLang="zh-CN"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cs typeface="Times New Roman" panose="02020603050405020304" pitchFamily="18" charset="0"/>
                        </a:rPr>
                        <a:t>(</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功能要求事项实现程度的</a:t>
                      </a:r>
                      <a:r>
                        <a:rPr kumimoji="1" lang="en-US" altLang="zh-CN"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cs typeface="Times New Roman" panose="02020603050405020304" pitchFamily="18" charset="0"/>
                        </a:rPr>
                        <a:t>)</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标准</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rPr>
                        <a:t>功能分析</a:t>
                      </a:r>
                      <a:endParaRPr kumimoji="1" lang="zh-CN" altLang="en-US" sz="1800" b="0"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功能定义</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这是干什么用的</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8300">
                <a:tc vMerge="1">
                  <a:tcPr/>
                </a:tc>
                <a:tc vMerge="1">
                  <a:tcPr/>
                </a:tc>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功能整理</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r>
              <a:tr h="369888">
                <a:tc vMerge="1">
                  <a:tcPr/>
                </a:tc>
                <a:tc vMerge="1">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rPr>
                        <a:t>功能评价</a:t>
                      </a:r>
                      <a:endParaRPr kumimoji="1" lang="zh-CN" altLang="en-US" sz="1800" b="0"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功能成本分析</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它的成本是多少</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9888">
                <a:tc vMerge="1">
                  <a:tcPr/>
                </a:tc>
                <a:tc vMerge="1">
                  <a:tcPr/>
                </a:tc>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功能评价</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它的价值是多少</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9888">
                <a:tc vMerge="1">
                  <a:tcPr/>
                </a:tc>
                <a:tc vMerge="1">
                  <a:tcPr/>
                </a:tc>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 </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确定改进范围</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r>
              <a:tr h="646113">
                <a:tc rowSpan="5">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创新阶段</a:t>
                      </a:r>
                      <a:endParaRPr kumimoji="1" lang="zh-CN" altLang="en-US" sz="1800" b="1" i="0" u="none" strike="noStrike" cap="none" normalizeH="0" baseline="0" dirty="0" smtClean="0">
                        <a:ln>
                          <a:noFill/>
                        </a:ln>
                        <a:solidFill>
                          <a:schemeClr val="tx1"/>
                        </a:solidFill>
                        <a:effectLst/>
                        <a:latin typeface="Garamond" panose="02020404030301010803"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初步设计</a:t>
                      </a:r>
                      <a:r>
                        <a:rPr kumimoji="1" lang="en-US" altLang="zh-CN"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cs typeface="Times New Roman" panose="02020603050405020304" pitchFamily="18" charset="0"/>
                        </a:rPr>
                        <a:t>(</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提出各种设计方案</a:t>
                      </a:r>
                      <a:r>
                        <a:rPr kumimoji="1" lang="en-US" altLang="zh-CN"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5">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8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rPr>
                        <a:t>方案创新</a:t>
                      </a:r>
                      <a:endParaRPr kumimoji="1" lang="zh-CN" altLang="en-US" sz="1800" b="0"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方案创造</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有其它方法实现这一功能吗</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9888">
                <a:tc vMerge="1">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评价各设计方案，对方案进行改进、选优</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r>
                        <a:rPr kumimoji="1"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概略评价</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新方案的成本是多少</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69888">
                <a:tc vMerge="1">
                  <a:tcPr/>
                </a:tc>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8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vMerge="1">
                  <a:tcPr/>
                </a:tc>
              </a:tr>
              <a:tr h="369888">
                <a:tc vMerge="1">
                  <a:tcPr/>
                </a:tc>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8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r>
              <a:tr h="647700">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书面化</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提出提案</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新方案能满足功能要求吗</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9143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实施阶段</a:t>
                      </a:r>
                      <a:endParaRPr kumimoji="1" lang="zh-CN" altLang="en-US" sz="1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检查实施情况并评价活动成果</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rPr>
                        <a:t>实施评价成果</a:t>
                      </a:r>
                      <a:endParaRPr kumimoji="1" lang="zh-CN" altLang="en-US" sz="1800" b="0"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r>
                        <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审批</a:t>
                      </a:r>
                      <a:endParaRPr kumimoji="1"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14.</a:t>
                      </a:r>
                      <a:r>
                        <a:rPr kumimoji="1" lang="zh-CN" altLang="en-US"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实施与检查</a:t>
                      </a:r>
                      <a:endParaRPr kumimoji="1" lang="zh-CN" altLang="en-US"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15.</a:t>
                      </a:r>
                      <a:r>
                        <a:rPr kumimoji="1" lang="zh-CN" altLang="en-US"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rPr>
                        <a:t>成果鉴定</a:t>
                      </a:r>
                      <a:endParaRPr kumimoji="1" lang="zh-CN" altLang="en-US"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zh-CN" altLang="en-US" sz="1800" b="1" i="0" u="none" strike="noStrike" cap="none" normalizeH="0" baseline="0" dirty="0" smtClean="0">
                          <a:ln>
                            <a:noFill/>
                          </a:ln>
                          <a:solidFill>
                            <a:srgbClr val="FFFF00"/>
                          </a:solidFill>
                          <a:effectLst/>
                          <a:latin typeface="Arial" panose="020B0604020202020204" pitchFamily="34" charset="0"/>
                          <a:ea typeface="宋体" panose="02010600030101010101" pitchFamily="2" charset="-122"/>
                          <a:cs typeface="Times New Roman" panose="02020603050405020304" pitchFamily="18" charset="0"/>
                        </a:rPr>
                        <a:t>偏离目标了吗</a:t>
                      </a:r>
                      <a:r>
                        <a:rPr kumimoji="1" lang="en-US" altLang="zh-CN" sz="1800" b="1" i="0" u="none" strike="noStrike" cap="none" normalizeH="0" baseline="0" dirty="0" smtClean="0">
                          <a:ln>
                            <a:noFill/>
                          </a:ln>
                          <a:solidFill>
                            <a:srgbClr val="FFFF00"/>
                          </a:solidFill>
                          <a:effectLst/>
                          <a:latin typeface="Garamond" panose="02020404030301010803" pitchFamily="18" charset="0"/>
                          <a:ea typeface="宋体" panose="02010600030101010101" pitchFamily="2" charset="-122"/>
                          <a:cs typeface="Times New Roman" panose="02020603050405020304" pitchFamily="18" charset="0"/>
                        </a:rPr>
                        <a:t>?</a:t>
                      </a:r>
                      <a:endParaRPr kumimoji="1" lang="en-US" altLang="zh-CN" sz="18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Rot="1" noChangeArrowheads="1"/>
          </p:cNvSpPr>
          <p:nvPr>
            <p:ph type="title"/>
          </p:nvPr>
        </p:nvSpPr>
        <p:spPr/>
        <p:txBody>
          <a:bodyPr/>
          <a:lstStyle/>
          <a:p>
            <a:pPr eaLnBrk="1" hangingPunct="1">
              <a:defRPr/>
            </a:pPr>
            <a:r>
              <a:rPr lang="en-US" altLang="zh-CN" smtClean="0"/>
              <a:t>VE</a:t>
            </a:r>
            <a:r>
              <a:rPr lang="zh-CN" altLang="en-US" smtClean="0"/>
              <a:t>实施步骤</a:t>
            </a:r>
            <a:endParaRPr lang="zh-CN" altLang="en-US" smtClean="0"/>
          </a:p>
        </p:txBody>
      </p:sp>
      <p:sp>
        <p:nvSpPr>
          <p:cNvPr id="901123" name="Rectangle 3"/>
          <p:cNvSpPr>
            <a:spLocks noGrp="1" noChangeArrowheads="1"/>
          </p:cNvSpPr>
          <p:nvPr>
            <p:ph type="body" idx="1"/>
          </p:nvPr>
        </p:nvSpPr>
        <p:spPr/>
        <p:txBody>
          <a:bodyPr/>
          <a:lstStyle/>
          <a:p>
            <a:pPr eaLnBrk="1" hangingPunct="1">
              <a:buFont typeface="Wingdings" panose="05000000000000000000" pitchFamily="2" charset="2"/>
              <a:buNone/>
              <a:defRPr/>
            </a:pPr>
            <a:r>
              <a:rPr lang="en-US" altLang="zh-CN" sz="3600" smtClean="0">
                <a:solidFill>
                  <a:srgbClr val="FF0000"/>
                </a:solidFill>
              </a:rPr>
              <a:t>1. </a:t>
            </a:r>
            <a:r>
              <a:rPr lang="zh-CN" altLang="en-US" sz="3600" smtClean="0">
                <a:solidFill>
                  <a:srgbClr val="FF0000"/>
                </a:solidFill>
              </a:rPr>
              <a:t>选择分析对象</a:t>
            </a:r>
            <a:endParaRPr lang="zh-CN" altLang="en-US" sz="3600" smtClean="0">
              <a:solidFill>
                <a:srgbClr val="FF0000"/>
              </a:solidFill>
            </a:endParaRPr>
          </a:p>
          <a:p>
            <a:pPr eaLnBrk="1" hangingPunct="1">
              <a:buFont typeface="Wingdings" panose="05000000000000000000" pitchFamily="2" charset="2"/>
              <a:buNone/>
              <a:defRPr/>
            </a:pPr>
            <a:r>
              <a:rPr lang="en-US" altLang="zh-CN" sz="3600" smtClean="0">
                <a:solidFill>
                  <a:srgbClr val="FF0000"/>
                </a:solidFill>
              </a:rPr>
              <a:t>2. </a:t>
            </a:r>
            <a:r>
              <a:rPr lang="zh-CN" altLang="en-US" sz="3600" smtClean="0">
                <a:solidFill>
                  <a:srgbClr val="FF0000"/>
                </a:solidFill>
              </a:rPr>
              <a:t>收集资料、信息</a:t>
            </a:r>
            <a:endParaRPr lang="zh-CN" altLang="en-US" sz="3600" smtClean="0">
              <a:solidFill>
                <a:srgbClr val="FF0000"/>
              </a:solidFill>
            </a:endParaRPr>
          </a:p>
          <a:p>
            <a:pPr eaLnBrk="1" hangingPunct="1">
              <a:buFont typeface="Wingdings" panose="05000000000000000000" pitchFamily="2" charset="2"/>
              <a:buNone/>
              <a:defRPr/>
            </a:pPr>
            <a:r>
              <a:rPr lang="en-US" altLang="zh-CN" sz="3600" smtClean="0">
                <a:solidFill>
                  <a:srgbClr val="FF0000"/>
                </a:solidFill>
              </a:rPr>
              <a:t>3. </a:t>
            </a:r>
            <a:r>
              <a:rPr lang="zh-CN" altLang="en-US" sz="3600" smtClean="0">
                <a:solidFill>
                  <a:srgbClr val="FF0000"/>
                </a:solidFill>
              </a:rPr>
              <a:t>功能分析</a:t>
            </a:r>
            <a:endParaRPr lang="zh-CN" altLang="en-US" sz="3600" smtClean="0">
              <a:solidFill>
                <a:srgbClr val="FF0000"/>
              </a:solidFill>
            </a:endParaRPr>
          </a:p>
          <a:p>
            <a:pPr eaLnBrk="1" hangingPunct="1">
              <a:buFont typeface="Wingdings" panose="05000000000000000000" pitchFamily="2" charset="2"/>
              <a:buNone/>
              <a:defRPr/>
            </a:pPr>
            <a:r>
              <a:rPr lang="en-US" altLang="zh-CN" sz="3600" smtClean="0">
                <a:solidFill>
                  <a:srgbClr val="FF0000"/>
                </a:solidFill>
              </a:rPr>
              <a:t>4. </a:t>
            </a:r>
            <a:r>
              <a:rPr lang="zh-CN" altLang="en-US" sz="3600" smtClean="0">
                <a:solidFill>
                  <a:srgbClr val="FF0000"/>
                </a:solidFill>
              </a:rPr>
              <a:t>功能评价</a:t>
            </a:r>
            <a:endParaRPr lang="zh-CN" altLang="en-US" sz="3600" smtClean="0">
              <a:solidFill>
                <a:srgbClr val="FF0000"/>
              </a:solidFill>
            </a:endParaRPr>
          </a:p>
          <a:p>
            <a:pPr eaLnBrk="1" hangingPunct="1">
              <a:buFont typeface="Wingdings" panose="05000000000000000000" pitchFamily="2" charset="2"/>
              <a:buNone/>
              <a:defRPr/>
            </a:pPr>
            <a:r>
              <a:rPr lang="en-US" altLang="zh-CN" sz="3600" smtClean="0">
                <a:solidFill>
                  <a:srgbClr val="FF0000"/>
                </a:solidFill>
              </a:rPr>
              <a:t>5. </a:t>
            </a:r>
            <a:r>
              <a:rPr lang="zh-CN" altLang="en-US" sz="3600" smtClean="0">
                <a:solidFill>
                  <a:srgbClr val="FF0000"/>
                </a:solidFill>
              </a:rPr>
              <a:t>方案创新</a:t>
            </a:r>
            <a:endParaRPr lang="zh-CN" altLang="en-US" sz="3600" smtClean="0">
              <a:solidFill>
                <a:srgbClr val="FF0000"/>
              </a:solidFill>
            </a:endParaRPr>
          </a:p>
          <a:p>
            <a:pPr eaLnBrk="1" hangingPunct="1">
              <a:buFont typeface="Wingdings" panose="05000000000000000000" pitchFamily="2" charset="2"/>
              <a:buNone/>
              <a:defRPr/>
            </a:pPr>
            <a:r>
              <a:rPr lang="en-US" altLang="zh-CN" sz="3600" smtClean="0">
                <a:solidFill>
                  <a:srgbClr val="FF0000"/>
                </a:solidFill>
              </a:rPr>
              <a:t>6. </a:t>
            </a:r>
            <a:r>
              <a:rPr lang="zh-CN" altLang="en-US" sz="3600" smtClean="0">
                <a:solidFill>
                  <a:srgbClr val="FF0000"/>
                </a:solidFill>
              </a:rPr>
              <a:t>方案评价</a:t>
            </a:r>
            <a:endParaRPr lang="zh-CN" altLang="en-US" sz="3600" smtClean="0">
              <a:solidFill>
                <a:srgbClr val="FF0000"/>
              </a:solidFill>
            </a:endParaRPr>
          </a:p>
          <a:p>
            <a:pPr eaLnBrk="1" hangingPunct="1">
              <a:buFont typeface="Wingdings" panose="05000000000000000000" pitchFamily="2" charset="2"/>
              <a:buNone/>
              <a:defRPr/>
            </a:pPr>
            <a:endParaRPr lang="zh-CN" altLang="en-US" sz="3600" smtClean="0"/>
          </a:p>
          <a:p>
            <a:pPr lvl="1" eaLnBrk="1" hangingPunct="1">
              <a:defRPr/>
            </a:pPr>
            <a:endParaRPr lang="zh-CN" altLang="en-US"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Rot="1" noChangeArrowheads="1"/>
          </p:cNvSpPr>
          <p:nvPr>
            <p:ph type="title"/>
          </p:nvPr>
        </p:nvSpPr>
        <p:spPr/>
        <p:txBody>
          <a:bodyPr/>
          <a:lstStyle/>
          <a:p>
            <a:pPr algn="l" eaLnBrk="1" hangingPunct="1">
              <a:defRPr/>
            </a:pPr>
            <a:r>
              <a:rPr lang="en-US" altLang="zh-CN" smtClean="0">
                <a:solidFill>
                  <a:srgbClr val="FF0000"/>
                </a:solidFill>
              </a:rPr>
              <a:t>1.VE</a:t>
            </a:r>
            <a:r>
              <a:rPr lang="zh-CN" altLang="en-US" smtClean="0">
                <a:solidFill>
                  <a:srgbClr val="FF0000"/>
                </a:solidFill>
              </a:rPr>
              <a:t>对象的选择</a:t>
            </a:r>
            <a:endParaRPr lang="zh-CN" altLang="en-US" smtClean="0">
              <a:solidFill>
                <a:srgbClr val="FF0000"/>
              </a:solidFill>
            </a:endParaRPr>
          </a:p>
        </p:txBody>
      </p:sp>
      <p:sp>
        <p:nvSpPr>
          <p:cNvPr id="902147" name="Rectangle 3"/>
          <p:cNvSpPr>
            <a:spLocks noGrp="1" noChangeArrowheads="1"/>
          </p:cNvSpPr>
          <p:nvPr>
            <p:ph type="body" idx="1"/>
          </p:nvPr>
        </p:nvSpPr>
        <p:spPr/>
        <p:txBody>
          <a:bodyPr/>
          <a:lstStyle/>
          <a:p>
            <a:pPr eaLnBrk="1" hangingPunct="1">
              <a:defRPr/>
            </a:pPr>
            <a:r>
              <a:rPr kumimoji="1" lang="zh-CN" altLang="en-US" b="1" smtClean="0">
                <a:effectLst/>
              </a:rPr>
              <a:t>选择对象的</a:t>
            </a:r>
            <a:r>
              <a:rPr kumimoji="1" lang="zh-CN" altLang="en-US" b="1" smtClean="0">
                <a:solidFill>
                  <a:schemeClr val="folHlink"/>
                </a:solidFill>
                <a:effectLst/>
              </a:rPr>
              <a:t>原则</a:t>
            </a:r>
            <a:r>
              <a:rPr kumimoji="1" lang="zh-CN" altLang="en-US" b="1" smtClean="0">
                <a:effectLst/>
              </a:rPr>
              <a:t>：</a:t>
            </a:r>
            <a:endParaRPr kumimoji="1" lang="zh-CN" altLang="en-US" b="1" smtClean="0">
              <a:effectLst/>
            </a:endParaRPr>
          </a:p>
          <a:p>
            <a:pPr lvl="1" eaLnBrk="1" hangingPunct="1">
              <a:defRPr/>
            </a:pPr>
            <a:r>
              <a:rPr kumimoji="1" lang="zh-CN" altLang="en-US" b="1" smtClean="0">
                <a:effectLst/>
              </a:rPr>
              <a:t> 优先考虑在企业生产经营上有</a:t>
            </a:r>
            <a:r>
              <a:rPr kumimoji="1" lang="zh-CN" altLang="en-US" b="1" smtClean="0">
                <a:solidFill>
                  <a:schemeClr val="folHlink"/>
                </a:solidFill>
                <a:effectLst/>
              </a:rPr>
              <a:t>迫切需要</a:t>
            </a:r>
            <a:r>
              <a:rPr kumimoji="1" lang="zh-CN" altLang="en-US" b="1" smtClean="0">
                <a:effectLst/>
              </a:rPr>
              <a:t>的、对国计民生有重大影响的项目</a:t>
            </a:r>
            <a:endParaRPr kumimoji="1" lang="zh-CN" altLang="en-US" b="1" smtClean="0">
              <a:effectLst/>
            </a:endParaRPr>
          </a:p>
          <a:p>
            <a:pPr lvl="1" eaLnBrk="1" hangingPunct="1">
              <a:defRPr/>
            </a:pPr>
            <a:r>
              <a:rPr kumimoji="1" lang="zh-CN" altLang="en-US" b="1" smtClean="0">
                <a:effectLst/>
              </a:rPr>
              <a:t>  在改善价值上有</a:t>
            </a:r>
            <a:r>
              <a:rPr kumimoji="1" lang="zh-CN" altLang="en-US" b="1" smtClean="0">
                <a:solidFill>
                  <a:schemeClr val="folHlink"/>
                </a:solidFill>
                <a:effectLst/>
              </a:rPr>
              <a:t>较大潜力</a:t>
            </a:r>
            <a:r>
              <a:rPr kumimoji="1" lang="zh-CN" altLang="en-US" b="1" smtClean="0">
                <a:effectLst/>
              </a:rPr>
              <a:t>的产品或项目</a:t>
            </a:r>
            <a:endParaRPr kumimoji="1" lang="zh-CN" altLang="en-US" b="1" smtClean="0">
              <a:effectLst/>
            </a:endParaRPr>
          </a:p>
          <a:p>
            <a:pPr eaLnBrk="1" hangingPunct="1">
              <a:defRPr/>
            </a:pPr>
            <a:r>
              <a:rPr kumimoji="1" lang="zh-CN" altLang="en-US" b="1" smtClean="0">
                <a:effectLst/>
              </a:rPr>
              <a:t>选择</a:t>
            </a:r>
            <a:r>
              <a:rPr kumimoji="1" lang="zh-CN" altLang="en-US" b="1" smtClean="0">
                <a:solidFill>
                  <a:schemeClr val="folHlink"/>
                </a:solidFill>
                <a:effectLst/>
              </a:rPr>
              <a:t>方法</a:t>
            </a:r>
            <a:r>
              <a:rPr kumimoji="1" lang="zh-CN" altLang="en-US" b="1" smtClean="0">
                <a:effectLst/>
              </a:rPr>
              <a:t>：</a:t>
            </a:r>
            <a:endParaRPr kumimoji="1" lang="zh-CN" altLang="en-US" b="1" smtClean="0">
              <a:effectLst/>
            </a:endParaRPr>
          </a:p>
          <a:p>
            <a:pPr lvl="1" eaLnBrk="1" hangingPunct="1">
              <a:defRPr/>
            </a:pPr>
            <a:r>
              <a:rPr kumimoji="1" lang="en-US" altLang="zh-CN" b="1" smtClean="0">
                <a:effectLst/>
              </a:rPr>
              <a:t>ABC</a:t>
            </a:r>
            <a:r>
              <a:rPr kumimoji="1" lang="zh-CN" altLang="en-US" b="1" smtClean="0">
                <a:effectLst/>
              </a:rPr>
              <a:t>分析法（成本比重法） ：</a:t>
            </a:r>
            <a:endParaRPr kumimoji="1" lang="zh-CN" altLang="en-US" b="1" smtClean="0">
              <a:effectLst/>
            </a:endParaRPr>
          </a:p>
          <a:p>
            <a:pPr lvl="3" eaLnBrk="1" hangingPunct="1">
              <a:defRPr/>
            </a:pPr>
            <a:r>
              <a:rPr kumimoji="1" lang="zh-CN" altLang="en-US" b="1" smtClean="0">
                <a:effectLst/>
              </a:rPr>
              <a:t>是意大利经济学家帕莱脱(</a:t>
            </a:r>
            <a:r>
              <a:rPr kumimoji="1" lang="en-US" altLang="zh-CN" b="1" smtClean="0">
                <a:effectLst/>
              </a:rPr>
              <a:t>Pareto)</a:t>
            </a:r>
            <a:r>
              <a:rPr kumimoji="1" lang="zh-CN" altLang="en-US" b="1" smtClean="0">
                <a:effectLst/>
              </a:rPr>
              <a:t>创造的，现已被广泛使用，尤其在材料成本分析中。</a:t>
            </a:r>
            <a:endParaRPr kumimoji="1" lang="zh-CN" altLang="en-US" b="1" smtClean="0">
              <a:effectLst/>
            </a:endParaRPr>
          </a:p>
          <a:p>
            <a:pPr lvl="3" eaLnBrk="1" hangingPunct="1">
              <a:defRPr/>
            </a:pPr>
            <a:r>
              <a:rPr kumimoji="1" lang="zh-CN" altLang="en-US" b="1" smtClean="0">
                <a:effectLst/>
              </a:rPr>
              <a:t>详见下页</a:t>
            </a:r>
            <a:endParaRPr kumimoji="1" lang="zh-CN" altLang="en-US" b="1" smtClean="0">
              <a:effectLst/>
            </a:endParaRPr>
          </a:p>
          <a:p>
            <a:pPr eaLnBrk="1" hangingPunct="1">
              <a:defRPr/>
            </a:pPr>
            <a:endParaRPr lang="zh-CN" altLang="en-US"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a:spLocks noChangeArrowheads="1"/>
          </p:cNvSpPr>
          <p:nvPr/>
        </p:nvSpPr>
        <p:spPr bwMode="auto">
          <a:xfrm>
            <a:off x="533400" y="228600"/>
            <a:ext cx="7261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400" b="1">
                <a:latin typeface="Times New Roman" panose="02020603050405020304" pitchFamily="18" charset="0"/>
              </a:rPr>
              <a:t>将各零件按其</a:t>
            </a:r>
            <a:r>
              <a:rPr kumimoji="1" lang="zh-CN" altLang="en-US" sz="2400" b="1">
                <a:solidFill>
                  <a:schemeClr val="folHlink"/>
                </a:solidFill>
                <a:latin typeface="Times New Roman" panose="02020603050405020304" pitchFamily="18" charset="0"/>
              </a:rPr>
              <a:t>成本</a:t>
            </a:r>
            <a:r>
              <a:rPr kumimoji="1" lang="zh-CN" altLang="en-US" sz="2400" b="1">
                <a:latin typeface="Times New Roman" panose="02020603050405020304" pitchFamily="18" charset="0"/>
              </a:rPr>
              <a:t>大小进行排序，按以下</a:t>
            </a:r>
            <a:r>
              <a:rPr kumimoji="1" lang="zh-CN" altLang="en-US" sz="2400" b="1">
                <a:solidFill>
                  <a:srgbClr val="FF7C80"/>
                </a:solidFill>
                <a:latin typeface="Times New Roman" panose="02020603050405020304" pitchFamily="18" charset="0"/>
              </a:rPr>
              <a:t>原则</a:t>
            </a:r>
            <a:r>
              <a:rPr kumimoji="1" lang="zh-CN" altLang="en-US" sz="2400" b="1">
                <a:latin typeface="Times New Roman" panose="02020603050405020304" pitchFamily="18" charset="0"/>
              </a:rPr>
              <a:t>分类：</a:t>
            </a:r>
            <a:endParaRPr kumimoji="1" lang="zh-CN" altLang="en-US" sz="2400" b="1">
              <a:latin typeface="Times New Roman" panose="02020603050405020304" pitchFamily="18" charset="0"/>
            </a:endParaRPr>
          </a:p>
        </p:txBody>
      </p:sp>
      <p:graphicFrame>
        <p:nvGraphicFramePr>
          <p:cNvPr id="212063" name="Group 95"/>
          <p:cNvGraphicFramePr>
            <a:graphicFrameLocks noGrp="1"/>
          </p:cNvGraphicFramePr>
          <p:nvPr/>
        </p:nvGraphicFramePr>
        <p:xfrm>
          <a:off x="228600" y="838200"/>
          <a:ext cx="8915400" cy="2524126"/>
        </p:xfrm>
        <a:graphic>
          <a:graphicData uri="http://schemas.openxmlformats.org/drawingml/2006/table">
            <a:tbl>
              <a:tblPr/>
              <a:tblGrid>
                <a:gridCol w="1524000"/>
                <a:gridCol w="2209800"/>
                <a:gridCol w="2667000"/>
                <a:gridCol w="2514600"/>
              </a:tblGrid>
              <a:tr h="6858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零件种类</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零件数量</a:t>
                      </a: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n(%)</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零件成本</a:t>
                      </a: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研究对象的选择</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118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少10%-20%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高70％-80％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重点</a:t>
                      </a: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对象</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43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其余</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其余</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一般</a:t>
                      </a: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对象</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27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8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多70％-80％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低10%-20%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不作为对象</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2010" name="Text Box 42"/>
          <p:cNvSpPr txBox="1">
            <a:spLocks noChangeArrowheads="1"/>
          </p:cNvSpPr>
          <p:nvPr/>
        </p:nvSpPr>
        <p:spPr bwMode="auto">
          <a:xfrm>
            <a:off x="685800" y="4572000"/>
            <a:ext cx="302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400" b="1">
                <a:latin typeface="Times New Roman" panose="02020603050405020304" pitchFamily="18" charset="0"/>
              </a:rPr>
              <a:t>画出</a:t>
            </a:r>
            <a:r>
              <a:rPr kumimoji="1" lang="en-US" altLang="zh-CN" sz="2400" b="1">
                <a:latin typeface="Times New Roman" panose="02020603050405020304" pitchFamily="18" charset="0"/>
              </a:rPr>
              <a:t>ABC</a:t>
            </a:r>
            <a:r>
              <a:rPr kumimoji="1" lang="zh-CN" altLang="en-US" sz="2400" b="1">
                <a:latin typeface="Times New Roman" panose="02020603050405020304" pitchFamily="18" charset="0"/>
              </a:rPr>
              <a:t>分析图：</a:t>
            </a:r>
            <a:endParaRPr kumimoji="1" lang="zh-CN" altLang="en-US" sz="2400" b="1">
              <a:latin typeface="Times New Roman" panose="02020603050405020304" pitchFamily="18" charset="0"/>
            </a:endParaRPr>
          </a:p>
        </p:txBody>
      </p:sp>
      <p:grpSp>
        <p:nvGrpSpPr>
          <p:cNvPr id="2" name="Group 97"/>
          <p:cNvGrpSpPr/>
          <p:nvPr/>
        </p:nvGrpSpPr>
        <p:grpSpPr bwMode="auto">
          <a:xfrm>
            <a:off x="3683000" y="3986213"/>
            <a:ext cx="4610100" cy="2871787"/>
            <a:chOff x="2320" y="2511"/>
            <a:chExt cx="2904" cy="1809"/>
          </a:xfrm>
        </p:grpSpPr>
        <p:sp>
          <p:nvSpPr>
            <p:cNvPr id="17442" name="Text Box 59"/>
            <p:cNvSpPr txBox="1">
              <a:spLocks noChangeArrowheads="1"/>
            </p:cNvSpPr>
            <p:nvPr/>
          </p:nvSpPr>
          <p:spPr bwMode="auto">
            <a:xfrm>
              <a:off x="2866" y="2529"/>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b="1">
                  <a:latin typeface="Times New Roman" panose="02020603050405020304" pitchFamily="18" charset="0"/>
                  <a:ea typeface="Gungsuh" pitchFamily="18" charset="-127"/>
                </a:rPr>
                <a:t>A</a:t>
              </a:r>
              <a:endParaRPr kumimoji="1" lang="en-US" altLang="zh-CN" sz="2400" b="1">
                <a:latin typeface="Times New Roman" panose="02020603050405020304" pitchFamily="18" charset="0"/>
                <a:ea typeface="Gungsuh" pitchFamily="18" charset="-127"/>
              </a:endParaRPr>
            </a:p>
          </p:txBody>
        </p:sp>
        <p:sp>
          <p:nvSpPr>
            <p:cNvPr id="17443" name="Text Box 60"/>
            <p:cNvSpPr txBox="1">
              <a:spLocks noChangeArrowheads="1"/>
            </p:cNvSpPr>
            <p:nvPr/>
          </p:nvSpPr>
          <p:spPr bwMode="auto">
            <a:xfrm>
              <a:off x="3192" y="252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b="1">
                  <a:latin typeface="Times New Roman" panose="02020603050405020304" pitchFamily="18" charset="0"/>
                  <a:ea typeface="Gungsuh" pitchFamily="18" charset="-127"/>
                </a:rPr>
                <a:t>B</a:t>
              </a:r>
              <a:endParaRPr kumimoji="1" lang="en-US" altLang="zh-CN" sz="2400" b="1">
                <a:latin typeface="Times New Roman" panose="02020603050405020304" pitchFamily="18" charset="0"/>
                <a:ea typeface="Gungsuh" pitchFamily="18" charset="-127"/>
              </a:endParaRPr>
            </a:p>
          </p:txBody>
        </p:sp>
        <p:sp>
          <p:nvSpPr>
            <p:cNvPr id="17444" name="Text Box 61"/>
            <p:cNvSpPr txBox="1">
              <a:spLocks noChangeArrowheads="1"/>
            </p:cNvSpPr>
            <p:nvPr/>
          </p:nvSpPr>
          <p:spPr bwMode="auto">
            <a:xfrm>
              <a:off x="3792" y="255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b="1">
                  <a:latin typeface="Times New Roman" panose="02020603050405020304" pitchFamily="18" charset="0"/>
                  <a:ea typeface="Gungsuh" pitchFamily="18" charset="-127"/>
                </a:rPr>
                <a:t>C</a:t>
              </a:r>
              <a:endParaRPr kumimoji="1" lang="en-US" altLang="zh-CN" sz="2400" b="1">
                <a:latin typeface="Times New Roman" panose="02020603050405020304" pitchFamily="18" charset="0"/>
                <a:ea typeface="Gungsuh" pitchFamily="18" charset="-127"/>
              </a:endParaRPr>
            </a:p>
          </p:txBody>
        </p:sp>
        <p:sp>
          <p:nvSpPr>
            <p:cNvPr id="17445" name="Line 44"/>
            <p:cNvSpPr>
              <a:spLocks noChangeShapeType="1"/>
            </p:cNvSpPr>
            <p:nvPr/>
          </p:nvSpPr>
          <p:spPr bwMode="auto">
            <a:xfrm>
              <a:off x="2841" y="4076"/>
              <a:ext cx="1868" cy="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6" name="Line 45"/>
            <p:cNvSpPr>
              <a:spLocks noChangeShapeType="1"/>
            </p:cNvSpPr>
            <p:nvPr/>
          </p:nvSpPr>
          <p:spPr bwMode="auto">
            <a:xfrm flipV="1">
              <a:off x="2832" y="2655"/>
              <a:ext cx="0" cy="1436"/>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7" name="Freeform 46"/>
            <p:cNvSpPr/>
            <p:nvPr/>
          </p:nvSpPr>
          <p:spPr bwMode="auto">
            <a:xfrm>
              <a:off x="2832" y="3038"/>
              <a:ext cx="1632" cy="1038"/>
            </a:xfrm>
            <a:custGeom>
              <a:avLst/>
              <a:gdLst>
                <a:gd name="T0" fmla="*/ 0 w 1152"/>
                <a:gd name="T1" fmla="*/ 123947 h 672"/>
                <a:gd name="T2" fmla="*/ 12529 w 1152"/>
                <a:gd name="T3" fmla="*/ 53117 h 672"/>
                <a:gd name="T4" fmla="*/ 34527 w 1152"/>
                <a:gd name="T5" fmla="*/ 17728 h 672"/>
                <a:gd name="T6" fmla="*/ 75276 w 1152"/>
                <a:gd name="T7" fmla="*/ 0 h 672"/>
                <a:gd name="T8" fmla="*/ 0 60000 65536"/>
                <a:gd name="T9" fmla="*/ 0 60000 65536"/>
                <a:gd name="T10" fmla="*/ 0 60000 65536"/>
                <a:gd name="T11" fmla="*/ 0 60000 65536"/>
                <a:gd name="T12" fmla="*/ 0 w 1152"/>
                <a:gd name="T13" fmla="*/ 0 h 672"/>
                <a:gd name="T14" fmla="*/ 1152 w 1152"/>
                <a:gd name="T15" fmla="*/ 672 h 672"/>
              </a:gdLst>
              <a:ahLst/>
              <a:cxnLst>
                <a:cxn ang="T8">
                  <a:pos x="T0" y="T1"/>
                </a:cxn>
                <a:cxn ang="T9">
                  <a:pos x="T2" y="T3"/>
                </a:cxn>
                <a:cxn ang="T10">
                  <a:pos x="T4" y="T5"/>
                </a:cxn>
                <a:cxn ang="T11">
                  <a:pos x="T6" y="T7"/>
                </a:cxn>
              </a:cxnLst>
              <a:rect l="T12" t="T13" r="T14" b="T15"/>
              <a:pathLst>
                <a:path w="1152" h="672">
                  <a:moveTo>
                    <a:pt x="0" y="672"/>
                  </a:moveTo>
                  <a:cubicBezTo>
                    <a:pt x="52" y="528"/>
                    <a:pt x="104" y="384"/>
                    <a:pt x="192" y="288"/>
                  </a:cubicBezTo>
                  <a:cubicBezTo>
                    <a:pt x="280" y="192"/>
                    <a:pt x="368" y="144"/>
                    <a:pt x="528" y="96"/>
                  </a:cubicBezTo>
                  <a:cubicBezTo>
                    <a:pt x="688" y="48"/>
                    <a:pt x="920" y="24"/>
                    <a:pt x="1152" y="0"/>
                  </a:cubicBezTo>
                </a:path>
              </a:pathLst>
            </a:custGeom>
            <a:noFill/>
            <a:ln w="38100" cap="sq">
              <a:solidFill>
                <a:schemeClr val="folHlink"/>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7448" name="Line 49"/>
            <p:cNvSpPr>
              <a:spLocks noChangeShapeType="1"/>
            </p:cNvSpPr>
            <p:nvPr/>
          </p:nvSpPr>
          <p:spPr bwMode="auto">
            <a:xfrm flipH="1">
              <a:off x="3120" y="3447"/>
              <a:ext cx="0" cy="644"/>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9" name="Line 50"/>
            <p:cNvSpPr>
              <a:spLocks noChangeShapeType="1"/>
            </p:cNvSpPr>
            <p:nvPr/>
          </p:nvSpPr>
          <p:spPr bwMode="auto">
            <a:xfrm>
              <a:off x="3504" y="3213"/>
              <a:ext cx="0" cy="878"/>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50" name="Text Box 56"/>
            <p:cNvSpPr txBox="1">
              <a:spLocks noChangeArrowheads="1"/>
            </p:cNvSpPr>
            <p:nvPr/>
          </p:nvSpPr>
          <p:spPr bwMode="auto">
            <a:xfrm>
              <a:off x="2640" y="391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400" b="1">
                  <a:latin typeface="Times New Roman" panose="02020603050405020304" pitchFamily="18" charset="0"/>
                  <a:ea typeface="Gungsuh" pitchFamily="18" charset="-127"/>
                </a:rPr>
                <a:t>0</a:t>
              </a:r>
              <a:endParaRPr kumimoji="1" lang="zh-CN" altLang="en-US" sz="2400" b="1">
                <a:latin typeface="Times New Roman" panose="02020603050405020304" pitchFamily="18" charset="0"/>
                <a:ea typeface="Gungsuh" pitchFamily="18" charset="-127"/>
              </a:endParaRPr>
            </a:p>
          </p:txBody>
        </p:sp>
        <p:sp>
          <p:nvSpPr>
            <p:cNvPr id="17451" name="Text Box 57"/>
            <p:cNvSpPr txBox="1">
              <a:spLocks noChangeArrowheads="1"/>
            </p:cNvSpPr>
            <p:nvPr/>
          </p:nvSpPr>
          <p:spPr bwMode="auto">
            <a:xfrm>
              <a:off x="2320" y="2511"/>
              <a:ext cx="5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b="1">
                  <a:latin typeface="Times New Roman" panose="02020603050405020304" pitchFamily="18" charset="0"/>
                  <a:ea typeface="Gungsuh" pitchFamily="18" charset="-127"/>
                </a:rPr>
                <a:t>C(%)</a:t>
              </a:r>
              <a:endParaRPr kumimoji="1" lang="en-US" altLang="zh-CN" sz="2400" b="1">
                <a:latin typeface="Times New Roman" panose="02020603050405020304" pitchFamily="18" charset="0"/>
                <a:ea typeface="Gungsuh" pitchFamily="18" charset="-127"/>
              </a:endParaRPr>
            </a:p>
          </p:txBody>
        </p:sp>
        <p:sp>
          <p:nvSpPr>
            <p:cNvPr id="17452" name="Text Box 58"/>
            <p:cNvSpPr txBox="1">
              <a:spLocks noChangeArrowheads="1"/>
            </p:cNvSpPr>
            <p:nvPr/>
          </p:nvSpPr>
          <p:spPr bwMode="auto">
            <a:xfrm>
              <a:off x="4681" y="4010"/>
              <a:ext cx="5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b="1">
                  <a:latin typeface="Times New Roman" panose="02020603050405020304" pitchFamily="18" charset="0"/>
                </a:rPr>
                <a:t>n(%)</a:t>
              </a:r>
              <a:endParaRPr kumimoji="1" lang="en-US" altLang="zh-CN" sz="2400" b="1">
                <a:latin typeface="Times New Roman" panose="02020603050405020304" pitchFamily="18" charset="0"/>
              </a:endParaRPr>
            </a:p>
          </p:txBody>
        </p:sp>
        <p:sp>
          <p:nvSpPr>
            <p:cNvPr id="17453" name="Line 65"/>
            <p:cNvSpPr>
              <a:spLocks noChangeShapeType="1"/>
            </p:cNvSpPr>
            <p:nvPr/>
          </p:nvSpPr>
          <p:spPr bwMode="auto">
            <a:xfrm flipV="1">
              <a:off x="4416" y="3038"/>
              <a:ext cx="0" cy="1053"/>
            </a:xfrm>
            <a:prstGeom prst="line">
              <a:avLst/>
            </a:prstGeom>
            <a:noFill/>
            <a:ln w="9525" cap="rnd">
              <a:solidFill>
                <a:schemeClr val="tx1"/>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54" name="Line 66"/>
            <p:cNvSpPr>
              <a:spLocks noChangeShapeType="1"/>
            </p:cNvSpPr>
            <p:nvPr/>
          </p:nvSpPr>
          <p:spPr bwMode="auto">
            <a:xfrm flipH="1">
              <a:off x="2832" y="3447"/>
              <a:ext cx="288" cy="0"/>
            </a:xfrm>
            <a:prstGeom prst="line">
              <a:avLst/>
            </a:prstGeom>
            <a:noFill/>
            <a:ln w="9525" cap="rnd">
              <a:solidFill>
                <a:schemeClr val="tx1"/>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55" name="Line 67"/>
            <p:cNvSpPr>
              <a:spLocks noChangeShapeType="1"/>
            </p:cNvSpPr>
            <p:nvPr/>
          </p:nvSpPr>
          <p:spPr bwMode="auto">
            <a:xfrm flipH="1">
              <a:off x="2832" y="3213"/>
              <a:ext cx="672" cy="0"/>
            </a:xfrm>
            <a:prstGeom prst="line">
              <a:avLst/>
            </a:prstGeom>
            <a:noFill/>
            <a:ln w="9525" cap="rnd">
              <a:solidFill>
                <a:schemeClr val="tx1"/>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56" name="Line 68"/>
            <p:cNvSpPr>
              <a:spLocks noChangeShapeType="1"/>
            </p:cNvSpPr>
            <p:nvPr/>
          </p:nvSpPr>
          <p:spPr bwMode="auto">
            <a:xfrm flipH="1">
              <a:off x="2832" y="3038"/>
              <a:ext cx="1584" cy="0"/>
            </a:xfrm>
            <a:prstGeom prst="line">
              <a:avLst/>
            </a:prstGeom>
            <a:noFill/>
            <a:ln w="9525" cap="rnd">
              <a:solidFill>
                <a:schemeClr val="tx1"/>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57" name="Text Box 69"/>
            <p:cNvSpPr txBox="1">
              <a:spLocks noChangeArrowheads="1"/>
            </p:cNvSpPr>
            <p:nvPr/>
          </p:nvSpPr>
          <p:spPr bwMode="auto">
            <a:xfrm>
              <a:off x="3024" y="4032"/>
              <a:ext cx="17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000" b="1">
                  <a:latin typeface="Times New Roman" panose="02020603050405020304" pitchFamily="18" charset="0"/>
                  <a:ea typeface="Gungsuh" pitchFamily="18" charset="-127"/>
                </a:rPr>
                <a:t>20     40                100</a:t>
              </a:r>
              <a:r>
                <a:rPr kumimoji="1" lang="zh-CN" altLang="en-US" sz="2400" b="1">
                  <a:latin typeface="Times New Roman" panose="02020603050405020304" pitchFamily="18" charset="0"/>
                  <a:ea typeface="Gungsuh" pitchFamily="18" charset="-127"/>
                </a:rPr>
                <a:t>     </a:t>
              </a:r>
              <a:endParaRPr kumimoji="1" lang="zh-CN" altLang="en-US" sz="2400" b="1">
                <a:latin typeface="Times New Roman" panose="02020603050405020304" pitchFamily="18" charset="0"/>
                <a:ea typeface="Gungsuh" pitchFamily="18" charset="-127"/>
              </a:endParaRPr>
            </a:p>
          </p:txBody>
        </p:sp>
        <p:sp>
          <p:nvSpPr>
            <p:cNvPr id="17458" name="Text Box 72"/>
            <p:cNvSpPr txBox="1">
              <a:spLocks noChangeArrowheads="1"/>
            </p:cNvSpPr>
            <p:nvPr/>
          </p:nvSpPr>
          <p:spPr bwMode="auto">
            <a:xfrm>
              <a:off x="2604" y="3322"/>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000" b="1">
                  <a:latin typeface="Times New Roman" panose="02020603050405020304" pitchFamily="18" charset="0"/>
                  <a:ea typeface="Gungsuh" pitchFamily="18" charset="-127"/>
                </a:rPr>
                <a:t>70</a:t>
              </a:r>
              <a:endParaRPr kumimoji="1" lang="en-US" altLang="zh-CN" sz="2000" b="1">
                <a:latin typeface="Times New Roman" panose="02020603050405020304" pitchFamily="18" charset="0"/>
                <a:ea typeface="Gungsuh" pitchFamily="18" charset="-127"/>
              </a:endParaRPr>
            </a:p>
          </p:txBody>
        </p:sp>
        <p:sp>
          <p:nvSpPr>
            <p:cNvPr id="17459" name="Text Box 73"/>
            <p:cNvSpPr txBox="1">
              <a:spLocks noChangeArrowheads="1"/>
            </p:cNvSpPr>
            <p:nvPr/>
          </p:nvSpPr>
          <p:spPr bwMode="auto">
            <a:xfrm>
              <a:off x="2604" y="3088"/>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000" b="1">
                  <a:latin typeface="Times New Roman" panose="02020603050405020304" pitchFamily="18" charset="0"/>
                  <a:ea typeface="Gungsuh" pitchFamily="18" charset="-127"/>
                </a:rPr>
                <a:t>90</a:t>
              </a:r>
              <a:endParaRPr kumimoji="1" lang="en-US" altLang="zh-CN" sz="2000" b="1">
                <a:latin typeface="Times New Roman" panose="02020603050405020304" pitchFamily="18" charset="0"/>
                <a:ea typeface="Gungsuh" pitchFamily="18" charset="-127"/>
              </a:endParaRPr>
            </a:p>
          </p:txBody>
        </p:sp>
        <p:sp>
          <p:nvSpPr>
            <p:cNvPr id="17460" name="Text Box 74"/>
            <p:cNvSpPr txBox="1">
              <a:spLocks noChangeArrowheads="1"/>
            </p:cNvSpPr>
            <p:nvPr/>
          </p:nvSpPr>
          <p:spPr bwMode="auto">
            <a:xfrm>
              <a:off x="2524" y="2906"/>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000" b="1">
                  <a:latin typeface="Times New Roman" panose="02020603050405020304" pitchFamily="18" charset="0"/>
                  <a:ea typeface="Gungsuh" pitchFamily="18" charset="-127"/>
                </a:rPr>
                <a:t>100</a:t>
              </a:r>
              <a:endParaRPr kumimoji="1" lang="en-US" altLang="zh-CN" sz="2000" b="1">
                <a:latin typeface="Times New Roman" panose="02020603050405020304" pitchFamily="18" charset="0"/>
                <a:ea typeface="Gungsuh" pitchFamily="18" charset="-127"/>
              </a:endParaRPr>
            </a:p>
          </p:txBody>
        </p:sp>
        <p:sp>
          <p:nvSpPr>
            <p:cNvPr id="17461" name="Line 75"/>
            <p:cNvSpPr>
              <a:spLocks noChangeShapeType="1"/>
            </p:cNvSpPr>
            <p:nvPr/>
          </p:nvSpPr>
          <p:spPr bwMode="auto">
            <a:xfrm>
              <a:off x="2832" y="2799"/>
              <a:ext cx="1632"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62" name="Line 76"/>
            <p:cNvSpPr>
              <a:spLocks noChangeShapeType="1"/>
            </p:cNvSpPr>
            <p:nvPr/>
          </p:nvSpPr>
          <p:spPr bwMode="auto">
            <a:xfrm flipV="1">
              <a:off x="3120" y="2655"/>
              <a:ext cx="0" cy="251"/>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63" name="Line 77"/>
            <p:cNvSpPr>
              <a:spLocks noChangeShapeType="1"/>
            </p:cNvSpPr>
            <p:nvPr/>
          </p:nvSpPr>
          <p:spPr bwMode="auto">
            <a:xfrm flipV="1">
              <a:off x="3504" y="2655"/>
              <a:ext cx="0" cy="251"/>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64" name="Line 78"/>
            <p:cNvSpPr>
              <a:spLocks noChangeShapeType="1"/>
            </p:cNvSpPr>
            <p:nvPr/>
          </p:nvSpPr>
          <p:spPr bwMode="auto">
            <a:xfrm flipV="1">
              <a:off x="4416" y="2673"/>
              <a:ext cx="0" cy="251"/>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65" name="Line 86"/>
            <p:cNvSpPr>
              <a:spLocks noChangeShapeType="1"/>
            </p:cNvSpPr>
            <p:nvPr/>
          </p:nvSpPr>
          <p:spPr bwMode="auto">
            <a:xfrm rot="20767473" flipV="1">
              <a:off x="3048" y="2756"/>
              <a:ext cx="144" cy="86"/>
            </a:xfrm>
            <a:prstGeom prst="line">
              <a:avLst/>
            </a:prstGeom>
            <a:noFill/>
            <a:ln w="381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66" name="Line 87"/>
            <p:cNvSpPr>
              <a:spLocks noChangeShapeType="1"/>
            </p:cNvSpPr>
            <p:nvPr/>
          </p:nvSpPr>
          <p:spPr bwMode="auto">
            <a:xfrm rot="20983507" flipV="1">
              <a:off x="3432" y="2756"/>
              <a:ext cx="144" cy="86"/>
            </a:xfrm>
            <a:prstGeom prst="line">
              <a:avLst/>
            </a:prstGeom>
            <a:noFill/>
            <a:ln w="381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7467" name="Line 88"/>
            <p:cNvSpPr>
              <a:spLocks noChangeShapeType="1"/>
            </p:cNvSpPr>
            <p:nvPr/>
          </p:nvSpPr>
          <p:spPr bwMode="auto">
            <a:xfrm rot="21004621" flipV="1">
              <a:off x="4344" y="2756"/>
              <a:ext cx="144" cy="86"/>
            </a:xfrm>
            <a:prstGeom prst="line">
              <a:avLst/>
            </a:prstGeom>
            <a:noFill/>
            <a:ln w="38100">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
        <p:nvSpPr>
          <p:cNvPr id="17440" name="Text Box 98"/>
          <p:cNvSpPr txBox="1">
            <a:spLocks noChangeArrowheads="1"/>
          </p:cNvSpPr>
          <p:nvPr/>
        </p:nvSpPr>
        <p:spPr bwMode="auto">
          <a:xfrm>
            <a:off x="3059113" y="3763963"/>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Tx/>
              <a:buSzTx/>
              <a:buFontTx/>
              <a:buNone/>
            </a:pPr>
            <a:r>
              <a:rPr lang="zh-CN" altLang="en-US" sz="1800">
                <a:latin typeface="Arial" panose="020B0604020202020204" pitchFamily="34" charset="0"/>
              </a:rPr>
              <a:t>成本累计比重 </a:t>
            </a:r>
            <a:endParaRPr lang="zh-CN" altLang="en-US" sz="1800">
              <a:latin typeface="Arial" panose="020B0604020202020204" pitchFamily="34" charset="0"/>
            </a:endParaRPr>
          </a:p>
        </p:txBody>
      </p:sp>
      <p:sp>
        <p:nvSpPr>
          <p:cNvPr id="17441" name="Text Box 99"/>
          <p:cNvSpPr txBox="1">
            <a:spLocks noChangeArrowheads="1"/>
          </p:cNvSpPr>
          <p:nvPr/>
        </p:nvSpPr>
        <p:spPr bwMode="auto">
          <a:xfrm>
            <a:off x="7092950" y="558958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Tx/>
              <a:buSzTx/>
              <a:buFontTx/>
              <a:buNone/>
            </a:pPr>
            <a:r>
              <a:rPr lang="zh-CN" altLang="en-US" sz="1800">
                <a:latin typeface="Arial" panose="020B0604020202020204" pitchFamily="34" charset="0"/>
              </a:rPr>
              <a:t>数量累计比重 </a:t>
            </a:r>
            <a:endParaRPr lang="zh-CN"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1970">
                                            <p:txEl>
                                              <p:pRg st="0" end="0"/>
                                            </p:txEl>
                                          </p:spTgt>
                                        </p:tgtEl>
                                        <p:attrNameLst>
                                          <p:attrName>style.visibility</p:attrName>
                                        </p:attrNameLst>
                                      </p:cBhvr>
                                      <p:to>
                                        <p:strVal val="visible"/>
                                      </p:to>
                                    </p:set>
                                    <p:animEffect transition="in" filter="dissolve">
                                      <p:cBhvr>
                                        <p:cTn id="7" dur="500"/>
                                        <p:tgtEl>
                                          <p:spTgt spid="2119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2063"/>
                                        </p:tgtEl>
                                        <p:attrNameLst>
                                          <p:attrName>style.visibility</p:attrName>
                                        </p:attrNameLst>
                                      </p:cBhvr>
                                      <p:to>
                                        <p:strVal val="visible"/>
                                      </p:to>
                                    </p:set>
                                    <p:animEffect transition="in" filter="dissolve">
                                      <p:cBhvr>
                                        <p:cTn id="12" dur="500"/>
                                        <p:tgtEl>
                                          <p:spTgt spid="21206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2010">
                                            <p:txEl>
                                              <p:pRg st="0" end="0"/>
                                            </p:txEl>
                                          </p:spTgt>
                                        </p:tgtEl>
                                        <p:attrNameLst>
                                          <p:attrName>style.visibility</p:attrName>
                                        </p:attrNameLst>
                                      </p:cBhvr>
                                      <p:to>
                                        <p:strVal val="visible"/>
                                      </p:to>
                                    </p:set>
                                    <p:animEffect transition="in" filter="dissolve">
                                      <p:cBhvr>
                                        <p:cTn id="17" dur="500"/>
                                        <p:tgtEl>
                                          <p:spTgt spid="2120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autoUpdateAnimBg="0" build="p"/>
      <p:bldP spid="212010" grpId="0" autoUpdateAnimBg="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Text Box 2"/>
          <p:cNvSpPr txBox="1">
            <a:spLocks noChangeArrowheads="1"/>
          </p:cNvSpPr>
          <p:nvPr/>
        </p:nvSpPr>
        <p:spPr bwMode="auto">
          <a:xfrm>
            <a:off x="457200" y="228600"/>
            <a:ext cx="83058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115000"/>
              </a:lnSpc>
              <a:spcBef>
                <a:spcPct val="50000"/>
              </a:spcBef>
              <a:buClr>
                <a:schemeClr val="tx2"/>
              </a:buClr>
              <a:buSzPct val="90000"/>
              <a:buFont typeface="Symbol" panose="05050102010706020507" pitchFamily="18" charset="2"/>
              <a:buNone/>
            </a:pPr>
            <a:r>
              <a:rPr kumimoji="1" lang="zh-CN" altLang="en-US" sz="2400" b="1">
                <a:latin typeface="Times New Roman" panose="02020603050405020304" pitchFamily="18" charset="0"/>
              </a:rPr>
              <a:t>        </a:t>
            </a:r>
            <a:r>
              <a:rPr kumimoji="1" lang="zh-CN" altLang="en-US" sz="2800" b="1">
                <a:latin typeface="Times New Roman" panose="02020603050405020304" pitchFamily="18" charset="0"/>
              </a:rPr>
              <a:t>例：某八层住宅工程，结构为钢筋混凝土框架，材料、机械、人工费总计为216357.83元，建筑面积为1691.73</a:t>
            </a:r>
            <a:r>
              <a:rPr kumimoji="1" lang="en-US" altLang="zh-CN" sz="2800" b="1">
                <a:latin typeface="Times New Roman" panose="02020603050405020304" pitchFamily="18" charset="0"/>
              </a:rPr>
              <a:t>m</a:t>
            </a:r>
            <a:r>
              <a:rPr kumimoji="1" lang="en-US" altLang="zh-CN" sz="2800" b="1" baseline="30000">
                <a:latin typeface="Times New Roman" panose="02020603050405020304" pitchFamily="18" charset="0"/>
              </a:rPr>
              <a:t>2,</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各分部工程所占费用如下表。</a:t>
            </a:r>
            <a:endParaRPr kumimoji="1" lang="zh-CN" altLang="en-US" sz="2800" b="1">
              <a:latin typeface="Times New Roman" panose="02020603050405020304" pitchFamily="18" charset="0"/>
            </a:endParaRPr>
          </a:p>
        </p:txBody>
      </p:sp>
      <p:graphicFrame>
        <p:nvGraphicFramePr>
          <p:cNvPr id="879692" name="Group 76"/>
          <p:cNvGraphicFramePr>
            <a:graphicFrameLocks noGrp="1"/>
          </p:cNvGraphicFramePr>
          <p:nvPr/>
        </p:nvGraphicFramePr>
        <p:xfrm>
          <a:off x="1066800" y="1981200"/>
          <a:ext cx="7239000" cy="4664079"/>
        </p:xfrm>
        <a:graphic>
          <a:graphicData uri="http://schemas.openxmlformats.org/drawingml/2006/table">
            <a:tbl>
              <a:tblPr/>
              <a:tblGrid>
                <a:gridCol w="1676400"/>
                <a:gridCol w="1371600"/>
                <a:gridCol w="2700338"/>
                <a:gridCol w="1490662"/>
              </a:tblGrid>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分部名称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代 号</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费  用（元）</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基  础</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29113.01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13.46</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墙  体</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41909.53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19.37</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框  架</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75149.86</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34.73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楼地面</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D</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10446.04</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4.83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装  饰</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E</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20571.49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9.51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门  窗</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33777.31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15.61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其  他</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G</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5390.59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2.49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231">
                <a:tc grid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总       计</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216357.83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79618"/>
                                        </p:tgtEl>
                                        <p:attrNameLst>
                                          <p:attrName>style.visibility</p:attrName>
                                        </p:attrNameLst>
                                      </p:cBhvr>
                                      <p:to>
                                        <p:strVal val="visible"/>
                                      </p:to>
                                    </p:set>
                                    <p:animEffect transition="in" filter="dissolve">
                                      <p:cBhvr>
                                        <p:cTn id="7" dur="500"/>
                                        <p:tgtEl>
                                          <p:spTgt spid="8796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879692"/>
                                        </p:tgtEl>
                                        <p:attrNameLst>
                                          <p:attrName>style.visibility</p:attrName>
                                        </p:attrNameLst>
                                      </p:cBhvr>
                                      <p:to>
                                        <p:strVal val="visible"/>
                                      </p:to>
                                    </p:set>
                                    <p:animEffect transition="in" filter="barn(outHorizontal)">
                                      <p:cBhvr>
                                        <p:cTn id="12" dur="500"/>
                                        <p:tgtEl>
                                          <p:spTgt spid="879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752" name="Group 112"/>
          <p:cNvGraphicFramePr>
            <a:graphicFrameLocks noGrp="1"/>
          </p:cNvGraphicFramePr>
          <p:nvPr/>
        </p:nvGraphicFramePr>
        <p:xfrm>
          <a:off x="381000" y="838200"/>
          <a:ext cx="8229600" cy="4208463"/>
        </p:xfrm>
        <a:graphic>
          <a:graphicData uri="http://schemas.openxmlformats.org/drawingml/2006/table">
            <a:tbl>
              <a:tblPr/>
              <a:tblGrid>
                <a:gridCol w="1676400"/>
                <a:gridCol w="914400"/>
                <a:gridCol w="1905000"/>
                <a:gridCol w="1143000"/>
                <a:gridCol w="2590800"/>
              </a:tblGrid>
              <a:tr h="5334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分部名称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代 号</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费  用（元）</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累计百分比（%）</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243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框  架</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75149.86</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34.73</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34.73</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085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墙  体</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41909.53</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19.37</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54.1</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243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门  窗</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33777.31</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15.61</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rPr>
                        <a:t>69.71</a:t>
                      </a:r>
                      <a:endParaRPr kumimoji="0" lang="zh-CN" altLang="en-US" sz="2400" b="1"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746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基  础</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29113.01</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13.46</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83.17</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243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装  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E</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20571.49</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9.51</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92.68</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085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楼地面</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D</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10446.04</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4.83</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97.51</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243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其  他</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G</a:t>
                      </a:r>
                      <a:endPar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5390.59</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2.49</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0850">
                <a:tc grid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总       计</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216357.83</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9519" name="Rectangle 76"/>
          <p:cNvSpPr>
            <a:spLocks noChangeArrowheads="1"/>
          </p:cNvSpPr>
          <p:nvPr/>
        </p:nvSpPr>
        <p:spPr bwMode="auto">
          <a:xfrm>
            <a:off x="457200" y="228600"/>
            <a:ext cx="4797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buClr>
                <a:schemeClr val="accent2"/>
              </a:buClr>
              <a:buSzPct val="80000"/>
              <a:buFont typeface="Wingdings" panose="05000000000000000000" pitchFamily="2" charset="2"/>
              <a:buNone/>
            </a:pPr>
            <a:r>
              <a:rPr kumimoji="1" lang="zh-CN" altLang="en-US" sz="2400" b="1">
                <a:latin typeface="Times New Roman" panose="02020603050405020304" pitchFamily="18" charset="0"/>
              </a:rPr>
              <a:t>按费用（或其百分比）大小排序：</a:t>
            </a:r>
            <a:endParaRPr kumimoji="1" lang="zh-CN" altLang="en-US" sz="2400" b="1">
              <a:latin typeface="Times New Roman" panose="02020603050405020304" pitchFamily="18" charset="0"/>
            </a:endParaRPr>
          </a:p>
        </p:txBody>
      </p:sp>
      <p:sp>
        <p:nvSpPr>
          <p:cNvPr id="19520" name="Rectangle 110"/>
          <p:cNvSpPr>
            <a:spLocks noChangeArrowheads="1"/>
          </p:cNvSpPr>
          <p:nvPr/>
        </p:nvSpPr>
        <p:spPr bwMode="auto">
          <a:xfrm>
            <a:off x="304800" y="5181600"/>
            <a:ext cx="85344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buClr>
                <a:schemeClr val="accent2"/>
              </a:buClr>
              <a:buSzPct val="80000"/>
              <a:buFont typeface="Wingdings" panose="05000000000000000000" pitchFamily="2" charset="2"/>
              <a:buNone/>
            </a:pPr>
            <a:r>
              <a:rPr kumimoji="1" lang="zh-CN" altLang="en-US" sz="2400" b="1">
                <a:latin typeface="Times New Roman" panose="02020603050405020304" pitchFamily="18" charset="0"/>
              </a:rPr>
              <a:t>         由上表可知：应选框架、</a:t>
            </a:r>
            <a:r>
              <a:rPr lang="zh-CN" altLang="en-US" sz="2400" b="1">
                <a:latin typeface="Times New Roman" panose="02020603050405020304" pitchFamily="18" charset="0"/>
              </a:rPr>
              <a:t>墙体、门窗作为研究对象。</a:t>
            </a:r>
            <a:endParaRPr lang="zh-CN" altLang="en-US" sz="2400" b="1">
              <a:latin typeface="Times New Roman" panose="02020603050405020304" pitchFamily="18" charset="0"/>
            </a:endParaRPr>
          </a:p>
          <a:p>
            <a:pPr eaLnBrk="1" hangingPunct="1">
              <a:buClr>
                <a:schemeClr val="accent2"/>
              </a:buClr>
              <a:buSzPct val="80000"/>
              <a:buFont typeface="Wingdings" panose="05000000000000000000" pitchFamily="2" charset="2"/>
              <a:buNone/>
            </a:pPr>
            <a:r>
              <a:rPr lang="zh-CN" altLang="en-US" sz="2400" b="1">
                <a:latin typeface="Times New Roman" panose="02020603050405020304" pitchFamily="18" charset="0"/>
              </a:rPr>
              <a:t>         这种方法的缺点：</a:t>
            </a:r>
            <a:r>
              <a:rPr lang="zh-CN" altLang="en-US" sz="2400" b="1">
                <a:solidFill>
                  <a:srgbClr val="FF0000"/>
                </a:solidFill>
                <a:latin typeface="Times New Roman" panose="02020603050405020304" pitchFamily="18" charset="0"/>
              </a:rPr>
              <a:t>没有将费用与功能联系起来共同考虑，容易忽视功能重要但成本不高的对象。</a:t>
            </a:r>
            <a:endParaRPr kumimoji="1" lang="zh-CN" altLang="en-US" sz="2400" b="1">
              <a:solidFill>
                <a:srgbClr val="FF0000"/>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Text Box 2050"/>
          <p:cNvSpPr txBox="1">
            <a:spLocks noChangeArrowheads="1"/>
          </p:cNvSpPr>
          <p:nvPr/>
        </p:nvSpPr>
        <p:spPr bwMode="auto">
          <a:xfrm>
            <a:off x="611188" y="549275"/>
            <a:ext cx="568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4000" b="1">
                <a:solidFill>
                  <a:srgbClr val="FF0000"/>
                </a:solidFill>
                <a:latin typeface="Times New Roman" panose="02020603050405020304" pitchFamily="18" charset="0"/>
              </a:rPr>
              <a:t>2.</a:t>
            </a:r>
            <a:r>
              <a:rPr kumimoji="1" lang="zh-CN" altLang="en-US" sz="4000" b="1">
                <a:solidFill>
                  <a:srgbClr val="FF0000"/>
                </a:solidFill>
                <a:latin typeface="Times New Roman" panose="02020603050405020304" pitchFamily="18" charset="0"/>
              </a:rPr>
              <a:t>信息资料的收集</a:t>
            </a:r>
            <a:r>
              <a:rPr kumimoji="1" lang="zh-CN" altLang="en-US" sz="2800" b="1">
                <a:latin typeface="Times New Roman" panose="02020603050405020304" pitchFamily="18" charset="0"/>
              </a:rPr>
              <a:t>         </a:t>
            </a:r>
            <a:endParaRPr kumimoji="1" lang="zh-CN" altLang="en-US" sz="2800" b="1">
              <a:latin typeface="Times New Roman" panose="02020603050405020304" pitchFamily="18" charset="0"/>
            </a:endParaRPr>
          </a:p>
        </p:txBody>
      </p:sp>
      <p:sp>
        <p:nvSpPr>
          <p:cNvPr id="481284" name="Rectangle 2052"/>
          <p:cNvSpPr>
            <a:spLocks noChangeArrowheads="1"/>
          </p:cNvSpPr>
          <p:nvPr/>
        </p:nvSpPr>
        <p:spPr bwMode="auto">
          <a:xfrm>
            <a:off x="755650" y="1989138"/>
            <a:ext cx="3398838"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FFFF00"/>
                </a:solidFill>
                <a:latin typeface="Times New Roman" panose="02020603050405020304" pitchFamily="18" charset="0"/>
              </a:rPr>
              <a:t>收集资料时要注意：</a:t>
            </a:r>
            <a:endParaRPr kumimoji="1" lang="zh-CN" altLang="en-US" sz="2800" b="1">
              <a:solidFill>
                <a:srgbClr val="FFFF00"/>
              </a:solidFill>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rPr>
              <a:t>目的性</a:t>
            </a:r>
            <a:endParaRPr kumimoji="1" lang="zh-CN" altLang="en-US" sz="2800" b="1">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rPr>
              <a:t>可靠性</a:t>
            </a:r>
            <a:endParaRPr kumimoji="1" lang="zh-CN" altLang="en-US" sz="2800" b="1">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rPr>
              <a:t>适时性</a:t>
            </a:r>
            <a:endParaRPr kumimoji="1"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1282">
                                            <p:txEl>
                                              <p:pRg st="0" end="0"/>
                                            </p:txEl>
                                          </p:spTgt>
                                        </p:tgtEl>
                                        <p:attrNameLst>
                                          <p:attrName>style.visibility</p:attrName>
                                        </p:attrNameLst>
                                      </p:cBhvr>
                                      <p:to>
                                        <p:strVal val="visible"/>
                                      </p:to>
                                    </p:set>
                                    <p:animEffect transition="in" filter="dissolve">
                                      <p:cBhvr>
                                        <p:cTn id="7" dur="500"/>
                                        <p:tgtEl>
                                          <p:spTgt spid="4812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1284">
                                            <p:txEl>
                                              <p:pRg st="0" end="0"/>
                                            </p:txEl>
                                          </p:spTgt>
                                        </p:tgtEl>
                                        <p:attrNameLst>
                                          <p:attrName>style.visibility</p:attrName>
                                        </p:attrNameLst>
                                      </p:cBhvr>
                                      <p:to>
                                        <p:strVal val="visible"/>
                                      </p:to>
                                    </p:set>
                                    <p:animEffect transition="in" filter="dissolve">
                                      <p:cBhvr>
                                        <p:cTn id="12" dur="500"/>
                                        <p:tgtEl>
                                          <p:spTgt spid="4812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1284">
                                            <p:txEl>
                                              <p:pRg st="1" end="1"/>
                                            </p:txEl>
                                          </p:spTgt>
                                        </p:tgtEl>
                                        <p:attrNameLst>
                                          <p:attrName>style.visibility</p:attrName>
                                        </p:attrNameLst>
                                      </p:cBhvr>
                                      <p:to>
                                        <p:strVal val="visible"/>
                                      </p:to>
                                    </p:set>
                                    <p:animEffect transition="in" filter="dissolve">
                                      <p:cBhvr>
                                        <p:cTn id="17" dur="500"/>
                                        <p:tgtEl>
                                          <p:spTgt spid="48128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1284">
                                            <p:txEl>
                                              <p:pRg st="2" end="2"/>
                                            </p:txEl>
                                          </p:spTgt>
                                        </p:tgtEl>
                                        <p:attrNameLst>
                                          <p:attrName>style.visibility</p:attrName>
                                        </p:attrNameLst>
                                      </p:cBhvr>
                                      <p:to>
                                        <p:strVal val="visible"/>
                                      </p:to>
                                    </p:set>
                                    <p:animEffect transition="in" filter="dissolve">
                                      <p:cBhvr>
                                        <p:cTn id="22" dur="500"/>
                                        <p:tgtEl>
                                          <p:spTgt spid="48128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81284">
                                            <p:txEl>
                                              <p:pRg st="3" end="3"/>
                                            </p:txEl>
                                          </p:spTgt>
                                        </p:tgtEl>
                                        <p:attrNameLst>
                                          <p:attrName>style.visibility</p:attrName>
                                        </p:attrNameLst>
                                      </p:cBhvr>
                                      <p:to>
                                        <p:strVal val="visible"/>
                                      </p:to>
                                    </p:set>
                                    <p:animEffect transition="in" filter="dissolve">
                                      <p:cBhvr>
                                        <p:cTn id="27" dur="500"/>
                                        <p:tgtEl>
                                          <p:spTgt spid="4812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2" grpId="0" autoUpdateAnimBg="0" build="p"/>
      <p:bldP spid="481284" grpId="0" autoUpdateAnimBg="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a:lstStyle/>
          <a:p>
            <a:pPr algn="l" eaLnBrk="1" hangingPunct="1"/>
            <a:r>
              <a:rPr kumimoji="1" lang="en-US" altLang="zh-CN" b="0" smtClean="0">
                <a:solidFill>
                  <a:srgbClr val="FF0000"/>
                </a:solidFill>
                <a:effectLst/>
              </a:rPr>
              <a:t>3.</a:t>
            </a:r>
            <a:r>
              <a:rPr kumimoji="1" lang="zh-CN" altLang="en-US" b="0" smtClean="0">
                <a:solidFill>
                  <a:srgbClr val="FF0000"/>
                </a:solidFill>
                <a:effectLst/>
              </a:rPr>
              <a:t>功能分析</a:t>
            </a:r>
            <a:endParaRPr kumimoji="1" lang="zh-CN" altLang="en-US" b="0" smtClean="0">
              <a:solidFill>
                <a:srgbClr val="FF0000"/>
              </a:solidFill>
              <a:effectLst/>
            </a:endParaRPr>
          </a:p>
        </p:txBody>
      </p:sp>
      <p:sp>
        <p:nvSpPr>
          <p:cNvPr id="957443" name="Rectangle 3"/>
          <p:cNvSpPr>
            <a:spLocks noGrp="1" noChangeArrowheads="1"/>
          </p:cNvSpPr>
          <p:nvPr>
            <p:ph type="body" idx="1"/>
          </p:nvPr>
        </p:nvSpPr>
        <p:spPr/>
        <p:txBody>
          <a:bodyPr/>
          <a:lstStyle/>
          <a:p>
            <a:pPr eaLnBrk="1" hangingPunct="1">
              <a:defRPr/>
            </a:pPr>
            <a:r>
              <a:rPr kumimoji="1" lang="zh-CN" altLang="en-US" smtClean="0">
                <a:effectLst/>
              </a:rPr>
              <a:t>价值工程的核心和基本内容</a:t>
            </a:r>
            <a:endParaRPr kumimoji="1" lang="zh-CN" altLang="en-US" smtClean="0">
              <a:effectLst/>
            </a:endParaRPr>
          </a:p>
          <a:p>
            <a:pPr eaLnBrk="1" hangingPunct="1">
              <a:defRPr/>
            </a:pPr>
            <a:endParaRPr kumimoji="1" lang="zh-CN" altLang="en-US" b="1" smtClean="0">
              <a:effectLst/>
            </a:endParaRPr>
          </a:p>
          <a:p>
            <a:pPr eaLnBrk="1" hangingPunct="1">
              <a:defRPr/>
            </a:pPr>
            <a:endParaRPr kumimoji="1" lang="zh-CN" altLang="en-US" b="1" smtClean="0">
              <a:effectLst/>
            </a:endParaRPr>
          </a:p>
          <a:p>
            <a:pPr eaLnBrk="1" hangingPunct="1">
              <a:defRPr/>
            </a:pPr>
            <a:endParaRPr kumimoji="1" lang="zh-CN" altLang="en-US" b="1" smtClean="0">
              <a:effectLst/>
            </a:endParaRPr>
          </a:p>
          <a:p>
            <a:pPr eaLnBrk="1" hangingPunct="1">
              <a:defRPr/>
            </a:pPr>
            <a:endParaRPr lang="zh-CN" altLang="en-US" smtClean="0"/>
          </a:p>
        </p:txBody>
      </p:sp>
      <p:grpSp>
        <p:nvGrpSpPr>
          <p:cNvPr id="21508" name="Group 4"/>
          <p:cNvGrpSpPr/>
          <p:nvPr/>
        </p:nvGrpSpPr>
        <p:grpSpPr bwMode="auto">
          <a:xfrm>
            <a:off x="2268538" y="2420938"/>
            <a:ext cx="3559175" cy="1743075"/>
            <a:chOff x="1200" y="1071"/>
            <a:chExt cx="2242" cy="1098"/>
          </a:xfrm>
        </p:grpSpPr>
        <p:sp>
          <p:nvSpPr>
            <p:cNvPr id="21509" name="AutoShape 5"/>
            <p:cNvSpPr/>
            <p:nvPr/>
          </p:nvSpPr>
          <p:spPr bwMode="auto">
            <a:xfrm>
              <a:off x="2208" y="1152"/>
              <a:ext cx="144" cy="912"/>
            </a:xfrm>
            <a:prstGeom prst="leftBrace">
              <a:avLst>
                <a:gd name="adj1" fmla="val 52778"/>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grpSp>
          <p:nvGrpSpPr>
            <p:cNvPr id="21510" name="Group 6"/>
            <p:cNvGrpSpPr/>
            <p:nvPr/>
          </p:nvGrpSpPr>
          <p:grpSpPr bwMode="auto">
            <a:xfrm>
              <a:off x="1200" y="1071"/>
              <a:ext cx="2242" cy="1098"/>
              <a:chOff x="1200" y="1071"/>
              <a:chExt cx="2242" cy="1098"/>
            </a:xfrm>
          </p:grpSpPr>
          <p:sp>
            <p:nvSpPr>
              <p:cNvPr id="21511" name="Rectangle 7"/>
              <p:cNvSpPr>
                <a:spLocks noChangeArrowheads="1"/>
              </p:cNvSpPr>
              <p:nvPr/>
            </p:nvSpPr>
            <p:spPr bwMode="auto">
              <a:xfrm>
                <a:off x="1200" y="1440"/>
                <a:ext cx="11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功能分析</a:t>
                </a:r>
                <a:endParaRPr kumimoji="1" lang="zh-CN" altLang="en-US" sz="2800" b="1">
                  <a:latin typeface="Times New Roman" panose="02020603050405020304" pitchFamily="18" charset="0"/>
                </a:endParaRPr>
              </a:p>
            </p:txBody>
          </p:sp>
          <p:sp>
            <p:nvSpPr>
              <p:cNvPr id="21512" name="Rectangle 8"/>
              <p:cNvSpPr>
                <a:spLocks noChangeArrowheads="1"/>
              </p:cNvSpPr>
              <p:nvPr/>
            </p:nvSpPr>
            <p:spPr bwMode="auto">
              <a:xfrm>
                <a:off x="2426" y="1071"/>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功能定义</a:t>
                </a:r>
                <a:endParaRPr kumimoji="1" lang="zh-CN" altLang="en-US" sz="2800" b="1">
                  <a:latin typeface="Times New Roman" panose="02020603050405020304" pitchFamily="18" charset="0"/>
                </a:endParaRPr>
              </a:p>
            </p:txBody>
          </p:sp>
          <p:sp>
            <p:nvSpPr>
              <p:cNvPr id="21513" name="Rectangle 9"/>
              <p:cNvSpPr>
                <a:spLocks noChangeArrowheads="1"/>
              </p:cNvSpPr>
              <p:nvPr/>
            </p:nvSpPr>
            <p:spPr bwMode="auto">
              <a:xfrm>
                <a:off x="2200" y="1480"/>
                <a:ext cx="1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    功能分类</a:t>
                </a:r>
                <a:endParaRPr kumimoji="1" lang="en-US" altLang="zh-CN" sz="2800" b="1">
                  <a:latin typeface="Times New Roman" panose="02020603050405020304" pitchFamily="18" charset="0"/>
                </a:endParaRPr>
              </a:p>
            </p:txBody>
          </p:sp>
          <p:sp>
            <p:nvSpPr>
              <p:cNvPr id="21514" name="Rectangle 10"/>
              <p:cNvSpPr>
                <a:spLocks noChangeArrowheads="1"/>
              </p:cNvSpPr>
              <p:nvPr/>
            </p:nvSpPr>
            <p:spPr bwMode="auto">
              <a:xfrm>
                <a:off x="2426" y="1842"/>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功能整理</a:t>
                </a:r>
                <a:endParaRPr kumimoji="1" lang="zh-CN" altLang="en-US" sz="2800" b="1">
                  <a:latin typeface="Times New Roman" panose="02020603050405020304" pitchFamily="18" charset="0"/>
                </a:endParaRPr>
              </a:p>
            </p:txBody>
          </p:sp>
        </p:gr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rrowheads="1"/>
          </p:cNvSpPr>
          <p:nvPr>
            <p:ph type="title"/>
          </p:nvPr>
        </p:nvSpPr>
        <p:spPr/>
        <p:txBody>
          <a:bodyPr/>
          <a:lstStyle/>
          <a:p>
            <a:pPr eaLnBrk="1" hangingPunct="1"/>
            <a:r>
              <a:rPr kumimoji="1" lang="zh-CN" altLang="en-US" b="0" smtClean="0">
                <a:solidFill>
                  <a:schemeClr val="tx1"/>
                </a:solidFill>
                <a:effectLst/>
              </a:rPr>
              <a:t>功能定义：</a:t>
            </a:r>
            <a:endParaRPr kumimoji="1" lang="zh-CN" altLang="en-US" b="0" smtClean="0">
              <a:solidFill>
                <a:schemeClr val="tx1"/>
              </a:solidFill>
              <a:effectLst/>
            </a:endParaRPr>
          </a:p>
        </p:txBody>
      </p:sp>
      <p:sp>
        <p:nvSpPr>
          <p:cNvPr id="22531" name="Rectangle 3"/>
          <p:cNvSpPr>
            <a:spLocks noGrp="1" noChangeArrowheads="1"/>
          </p:cNvSpPr>
          <p:nvPr>
            <p:ph type="body" idx="1"/>
          </p:nvPr>
        </p:nvSpPr>
        <p:spPr/>
        <p:txBody>
          <a:bodyPr/>
          <a:lstStyle/>
          <a:p>
            <a:pPr eaLnBrk="1" hangingPunct="1"/>
            <a:r>
              <a:rPr kumimoji="1" lang="zh-CN" altLang="en-US" b="1" smtClean="0">
                <a:effectLst/>
              </a:rPr>
              <a:t>用简洁的词语最准确地表达研究对象的功用或作用。</a:t>
            </a:r>
            <a:endParaRPr kumimoji="1" lang="en-US" altLang="zh-CN" b="1" smtClean="0">
              <a:effectLst/>
            </a:endParaRPr>
          </a:p>
          <a:p>
            <a:pPr eaLnBrk="1" hangingPunct="1"/>
            <a:r>
              <a:rPr kumimoji="1" lang="zh-CN" altLang="en-US" smtClean="0">
                <a:effectLst/>
              </a:rPr>
              <a:t>对价值工程对象及其组成部分的功能所作的明确表述。</a:t>
            </a:r>
            <a:endParaRPr kumimoji="1" lang="zh-CN" altLang="en-US" smtClean="0">
              <a:effectLst/>
            </a:endParaRPr>
          </a:p>
          <a:p>
            <a:pPr eaLnBrk="1" hangingPunct="1"/>
            <a:r>
              <a:rPr kumimoji="1" lang="zh-CN" altLang="en-US" b="1" smtClean="0">
                <a:effectLst/>
              </a:rPr>
              <a:t>要求</a:t>
            </a:r>
            <a:endParaRPr kumimoji="1" lang="zh-CN" altLang="en-US" b="1" smtClean="0">
              <a:effectLst/>
            </a:endParaRPr>
          </a:p>
          <a:p>
            <a:pPr lvl="1" eaLnBrk="1" hangingPunct="1"/>
            <a:r>
              <a:rPr kumimoji="1" lang="zh-CN" altLang="en-US" b="1" smtClean="0">
                <a:effectLst/>
              </a:rPr>
              <a:t> 准确、简洁；</a:t>
            </a:r>
            <a:endParaRPr kumimoji="1" lang="zh-CN" altLang="en-US" b="1" smtClean="0">
              <a:effectLst/>
            </a:endParaRPr>
          </a:p>
          <a:p>
            <a:pPr lvl="1" eaLnBrk="1" hangingPunct="1"/>
            <a:r>
              <a:rPr kumimoji="1" lang="zh-CN" altLang="en-US" b="1" smtClean="0">
                <a:effectLst/>
              </a:rPr>
              <a:t>适当抽象；</a:t>
            </a:r>
            <a:endParaRPr kumimoji="1" lang="zh-CN" altLang="en-US" b="1" smtClean="0">
              <a:effectLst/>
            </a:endParaRPr>
          </a:p>
          <a:p>
            <a:pPr lvl="1" eaLnBrk="1" hangingPunct="1"/>
            <a:r>
              <a:rPr kumimoji="1" lang="zh-CN" altLang="en-US" b="1" smtClean="0">
                <a:effectLst/>
              </a:rPr>
              <a:t>尽可能地量化。</a:t>
            </a:r>
            <a:endParaRPr kumimoji="1" lang="zh-CN" altLang="en-US" b="1" smtClean="0">
              <a:effectLs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rrowheads="1"/>
          </p:cNvSpPr>
          <p:nvPr>
            <p:ph type="title"/>
          </p:nvPr>
        </p:nvSpPr>
        <p:spPr/>
        <p:txBody>
          <a:bodyPr/>
          <a:lstStyle/>
          <a:p>
            <a:pPr eaLnBrk="1" hangingPunct="1"/>
            <a:r>
              <a:rPr kumimoji="1" lang="zh-CN" altLang="en-US" b="0" smtClean="0">
                <a:solidFill>
                  <a:schemeClr val="tx1"/>
                </a:solidFill>
                <a:effectLst/>
              </a:rPr>
              <a:t>功能分类</a:t>
            </a:r>
            <a:r>
              <a:rPr kumimoji="1" lang="zh-CN" altLang="en-US" b="0" smtClean="0">
                <a:solidFill>
                  <a:schemeClr val="tx1"/>
                </a:solidFill>
                <a:effectLst/>
                <a:latin typeface="Arial" panose="020B0604020202020204" pitchFamily="34" charset="0"/>
              </a:rPr>
              <a:t>——</a:t>
            </a:r>
            <a:r>
              <a:rPr kumimoji="1" lang="zh-CN" altLang="en-US" sz="2800" b="0" smtClean="0">
                <a:solidFill>
                  <a:schemeClr val="tx1"/>
                </a:solidFill>
                <a:effectLst/>
              </a:rPr>
              <a:t>功能分析的基础</a:t>
            </a:r>
            <a:endParaRPr kumimoji="1" lang="zh-CN" altLang="en-US" sz="2800" b="0" smtClean="0">
              <a:solidFill>
                <a:schemeClr val="tx1"/>
              </a:solidFill>
              <a:effectLst/>
            </a:endParaRPr>
          </a:p>
        </p:txBody>
      </p:sp>
      <p:sp>
        <p:nvSpPr>
          <p:cNvPr id="927747" name="Rectangle 3"/>
          <p:cNvSpPr>
            <a:spLocks noGrp="1" noChangeArrowheads="1"/>
          </p:cNvSpPr>
          <p:nvPr>
            <p:ph type="body" idx="1"/>
          </p:nvPr>
        </p:nvSpPr>
        <p:spPr>
          <a:xfrm>
            <a:off x="457200" y="1600200"/>
            <a:ext cx="8229600" cy="4852988"/>
          </a:xfrm>
        </p:spPr>
        <p:txBody>
          <a:bodyPr/>
          <a:lstStyle/>
          <a:p>
            <a:pPr eaLnBrk="1" hangingPunct="1">
              <a:defRPr/>
            </a:pPr>
            <a:r>
              <a:rPr lang="zh-CN" altLang="en-US" smtClean="0"/>
              <a:t>按功能性质特点：使用功能与美学功能</a:t>
            </a:r>
            <a:endParaRPr lang="zh-CN" altLang="en-US" smtClean="0"/>
          </a:p>
          <a:p>
            <a:pPr eaLnBrk="1" hangingPunct="1">
              <a:defRPr/>
            </a:pPr>
            <a:r>
              <a:rPr lang="zh-CN" altLang="en-US" smtClean="0"/>
              <a:t>按重要程度：基本功能和辅助功能</a:t>
            </a:r>
            <a:endParaRPr lang="zh-CN" altLang="en-US" smtClean="0"/>
          </a:p>
          <a:p>
            <a:pPr eaLnBrk="1" hangingPunct="1">
              <a:defRPr/>
            </a:pPr>
            <a:r>
              <a:rPr lang="zh-CN" altLang="en-US" smtClean="0"/>
              <a:t>按用户要求</a:t>
            </a:r>
            <a:r>
              <a:rPr lang="en-US" altLang="zh-CN" smtClean="0"/>
              <a:t>:   </a:t>
            </a:r>
            <a:r>
              <a:rPr lang="zh-CN" altLang="en-US" smtClean="0"/>
              <a:t>必要功能和非必要功能</a:t>
            </a:r>
            <a:endParaRPr lang="zh-CN" altLang="en-US" smtClean="0"/>
          </a:p>
          <a:p>
            <a:pPr eaLnBrk="1" hangingPunct="1">
              <a:defRPr/>
            </a:pPr>
            <a:r>
              <a:rPr lang="zh-CN" altLang="en-US" smtClean="0"/>
              <a:t>按功能定量：过剩功能和不足功能</a:t>
            </a:r>
            <a:endParaRPr lang="zh-CN" altLang="en-US" smtClean="0"/>
          </a:p>
          <a:p>
            <a:pPr eaLnBrk="1" hangingPunct="1">
              <a:defRPr/>
            </a:pPr>
            <a:r>
              <a:rPr lang="zh-CN" altLang="en-US" smtClean="0"/>
              <a:t>按功能整理的要求分：上位（目的）功能、下位（手段）功能</a:t>
            </a:r>
            <a:endParaRPr lang="zh-CN" altLang="en-US"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Rectangle 2"/>
          <p:cNvSpPr>
            <a:spLocks noGrp="1" noRot="1" noChangeArrowheads="1"/>
          </p:cNvSpPr>
          <p:nvPr>
            <p:ph type="title"/>
          </p:nvPr>
        </p:nvSpPr>
        <p:spPr/>
        <p:txBody>
          <a:bodyPr/>
          <a:lstStyle/>
          <a:p>
            <a:pPr eaLnBrk="1" hangingPunct="1">
              <a:defRPr/>
            </a:pPr>
            <a:r>
              <a:rPr lang="zh-CN" altLang="en-US" smtClean="0">
                <a:solidFill>
                  <a:schemeClr val="tx1"/>
                </a:solidFill>
              </a:rPr>
              <a:t>功能分类</a:t>
            </a:r>
            <a:endParaRPr lang="zh-CN" altLang="en-US" smtClean="0">
              <a:solidFill>
                <a:schemeClr val="tx1"/>
              </a:solidFill>
            </a:endParaRPr>
          </a:p>
        </p:txBody>
      </p:sp>
      <p:sp>
        <p:nvSpPr>
          <p:cNvPr id="24579" name="Rectangle 3"/>
          <p:cNvSpPr>
            <a:spLocks noGrp="1" noChangeArrowheads="1"/>
          </p:cNvSpPr>
          <p:nvPr>
            <p:ph type="body" idx="1"/>
          </p:nvPr>
        </p:nvSpPr>
        <p:spPr>
          <a:xfrm>
            <a:off x="0" y="1412875"/>
            <a:ext cx="9144000" cy="4752975"/>
          </a:xfrm>
        </p:spPr>
        <p:txBody>
          <a:bodyPr/>
          <a:lstStyle/>
          <a:p>
            <a:pPr eaLnBrk="1" hangingPunct="1">
              <a:lnSpc>
                <a:spcPct val="80000"/>
              </a:lnSpc>
            </a:pPr>
            <a:r>
              <a:rPr kumimoji="1" lang="zh-CN" altLang="en-US" sz="2400" b="1" smtClean="0">
                <a:effectLst/>
              </a:rPr>
              <a:t>使用功能（</a:t>
            </a:r>
            <a:r>
              <a:rPr kumimoji="1" lang="en-US" altLang="zh-CN" sz="2400" b="1" smtClean="0">
                <a:effectLst/>
              </a:rPr>
              <a:t>use function</a:t>
            </a:r>
            <a:r>
              <a:rPr kumimoji="1" lang="zh-CN" altLang="en-US" sz="2400" b="1" smtClean="0">
                <a:effectLst/>
              </a:rPr>
              <a:t>）和品味功能（</a:t>
            </a:r>
            <a:r>
              <a:rPr kumimoji="1" lang="en-US" altLang="zh-CN" sz="2400" b="1" smtClean="0">
                <a:effectLst/>
              </a:rPr>
              <a:t>esteem function</a:t>
            </a:r>
            <a:r>
              <a:rPr kumimoji="1" lang="zh-CN" altLang="en-US" sz="2400" b="1" smtClean="0">
                <a:effectLst/>
              </a:rPr>
              <a:t>）</a:t>
            </a:r>
            <a:endParaRPr kumimoji="1" lang="zh-CN" altLang="en-US" sz="2400" b="1" smtClean="0">
              <a:effectLst/>
            </a:endParaRPr>
          </a:p>
          <a:p>
            <a:pPr lvl="1" eaLnBrk="1" hangingPunct="1">
              <a:lnSpc>
                <a:spcPct val="80000"/>
              </a:lnSpc>
            </a:pPr>
            <a:r>
              <a:rPr kumimoji="1" lang="zh-CN" altLang="en-US" sz="2400" b="1" smtClean="0">
                <a:effectLst/>
              </a:rPr>
              <a:t>使用功能是对象所具有的与技术经济用途直接有关的功能；</a:t>
            </a:r>
            <a:endParaRPr kumimoji="1" lang="zh-CN" altLang="en-US" sz="2400" b="1" smtClean="0">
              <a:effectLst/>
            </a:endParaRPr>
          </a:p>
          <a:p>
            <a:pPr lvl="1" eaLnBrk="1" hangingPunct="1">
              <a:lnSpc>
                <a:spcPct val="80000"/>
              </a:lnSpc>
            </a:pPr>
            <a:r>
              <a:rPr kumimoji="1" lang="zh-CN" altLang="en-US" sz="2400" b="1" smtClean="0">
                <a:effectLst/>
              </a:rPr>
              <a:t>品味功能是与使用者的精神感觉、主观意识有关的功能，如美观、豪华等。</a:t>
            </a:r>
            <a:endParaRPr kumimoji="1" lang="zh-CN" altLang="en-US" sz="2400" b="1" smtClean="0">
              <a:effectLst/>
            </a:endParaRPr>
          </a:p>
          <a:p>
            <a:pPr eaLnBrk="1" hangingPunct="1">
              <a:lnSpc>
                <a:spcPct val="80000"/>
              </a:lnSpc>
            </a:pPr>
            <a:r>
              <a:rPr kumimoji="1" lang="zh-CN" altLang="en-US" sz="2400" b="1" smtClean="0">
                <a:effectLst/>
              </a:rPr>
              <a:t>基本功能（</a:t>
            </a:r>
            <a:r>
              <a:rPr kumimoji="1" lang="en-US" altLang="zh-CN" sz="2400" b="1" smtClean="0">
                <a:effectLst/>
              </a:rPr>
              <a:t>basic function</a:t>
            </a:r>
            <a:r>
              <a:rPr kumimoji="1" lang="zh-CN" altLang="en-US" sz="2400" b="1" smtClean="0">
                <a:effectLst/>
              </a:rPr>
              <a:t>）和辅助功能（</a:t>
            </a:r>
            <a:r>
              <a:rPr kumimoji="1" lang="en-US" altLang="zh-CN" sz="2400" b="1" smtClean="0">
                <a:effectLst/>
              </a:rPr>
              <a:t>supporting function</a:t>
            </a:r>
            <a:r>
              <a:rPr kumimoji="1" lang="zh-CN" altLang="en-US" sz="2400" b="1" smtClean="0">
                <a:effectLst/>
              </a:rPr>
              <a:t>）</a:t>
            </a:r>
            <a:endParaRPr kumimoji="1" lang="zh-CN" altLang="en-US" sz="2400" b="1" smtClean="0">
              <a:effectLst/>
            </a:endParaRPr>
          </a:p>
          <a:p>
            <a:pPr lvl="1" eaLnBrk="1" hangingPunct="1">
              <a:lnSpc>
                <a:spcPct val="80000"/>
              </a:lnSpc>
            </a:pPr>
            <a:r>
              <a:rPr kumimoji="1" lang="zh-CN" altLang="en-US" sz="2400" b="1" smtClean="0">
                <a:effectLst/>
              </a:rPr>
              <a:t>基本功能是决定对象性质和存在的基本要素；</a:t>
            </a:r>
            <a:endParaRPr kumimoji="1" lang="zh-CN" altLang="en-US" sz="2400" b="1" smtClean="0">
              <a:effectLst/>
            </a:endParaRPr>
          </a:p>
          <a:p>
            <a:pPr lvl="1" eaLnBrk="1" hangingPunct="1">
              <a:lnSpc>
                <a:spcPct val="80000"/>
              </a:lnSpc>
            </a:pPr>
            <a:r>
              <a:rPr kumimoji="1" lang="zh-CN" altLang="en-US" sz="2400" b="1" smtClean="0">
                <a:effectLst/>
              </a:rPr>
              <a:t>辅助功能是为更好实现基本功能而附加的一些因素。</a:t>
            </a:r>
            <a:endParaRPr kumimoji="1" lang="zh-CN" altLang="en-US" sz="2400" b="1" smtClean="0">
              <a:effectLst/>
            </a:endParaRPr>
          </a:p>
          <a:p>
            <a:pPr eaLnBrk="1" hangingPunct="1">
              <a:lnSpc>
                <a:spcPct val="80000"/>
              </a:lnSpc>
            </a:pPr>
            <a:r>
              <a:rPr kumimoji="1" lang="zh-CN" altLang="en-US" sz="2400" b="1" smtClean="0">
                <a:effectLst/>
              </a:rPr>
              <a:t>必要功能（</a:t>
            </a:r>
            <a:r>
              <a:rPr kumimoji="1" lang="en-US" altLang="zh-CN" sz="2400" b="1" smtClean="0">
                <a:effectLst/>
              </a:rPr>
              <a:t>necessary function</a:t>
            </a:r>
            <a:r>
              <a:rPr kumimoji="1" lang="zh-CN" altLang="en-US" sz="2400" b="1" smtClean="0">
                <a:effectLst/>
              </a:rPr>
              <a:t>）和不必要功能（</a:t>
            </a:r>
            <a:r>
              <a:rPr kumimoji="1" lang="en-US" altLang="zh-CN" sz="2400" b="1" smtClean="0">
                <a:effectLst/>
              </a:rPr>
              <a:t>unnecessary function</a:t>
            </a:r>
            <a:r>
              <a:rPr kumimoji="1" lang="zh-CN" altLang="en-US" sz="2400" b="1" smtClean="0">
                <a:effectLst/>
              </a:rPr>
              <a:t>）</a:t>
            </a:r>
            <a:endParaRPr kumimoji="1" lang="zh-CN" altLang="en-US" sz="2400" b="1" smtClean="0">
              <a:effectLst/>
            </a:endParaRPr>
          </a:p>
          <a:p>
            <a:pPr lvl="1" eaLnBrk="1" hangingPunct="1">
              <a:lnSpc>
                <a:spcPct val="80000"/>
              </a:lnSpc>
            </a:pPr>
            <a:r>
              <a:rPr kumimoji="1" lang="zh-CN" altLang="en-US" sz="2400" b="1" smtClean="0">
                <a:effectLst/>
              </a:rPr>
              <a:t>必要功能是为满足使用者的要求而必须具备的功能；</a:t>
            </a:r>
            <a:endParaRPr kumimoji="1" lang="zh-CN" altLang="en-US" sz="2400" b="1" smtClean="0">
              <a:effectLst/>
            </a:endParaRPr>
          </a:p>
          <a:p>
            <a:pPr lvl="1" eaLnBrk="1" hangingPunct="1">
              <a:lnSpc>
                <a:spcPct val="80000"/>
              </a:lnSpc>
            </a:pPr>
            <a:r>
              <a:rPr kumimoji="1" lang="zh-CN" altLang="en-US" sz="2400" b="1" smtClean="0">
                <a:effectLst/>
              </a:rPr>
              <a:t>不必要功能是与满足使用者的需求无关的功能。</a:t>
            </a:r>
            <a:endParaRPr kumimoji="1" lang="zh-CN" altLang="en-US" sz="2400" b="1" smtClean="0">
              <a:effectLst/>
            </a:endParaRPr>
          </a:p>
          <a:p>
            <a:pPr eaLnBrk="1" hangingPunct="1">
              <a:lnSpc>
                <a:spcPct val="80000"/>
              </a:lnSpc>
            </a:pPr>
            <a:r>
              <a:rPr kumimoji="1" lang="zh-CN" altLang="en-US" sz="2400" b="1" smtClean="0">
                <a:effectLst/>
              </a:rPr>
              <a:t>不足功能（</a:t>
            </a:r>
            <a:r>
              <a:rPr kumimoji="1" lang="en-US" altLang="zh-CN" sz="2400" b="1" smtClean="0">
                <a:effectLst/>
              </a:rPr>
              <a:t>insufficient function</a:t>
            </a:r>
            <a:r>
              <a:rPr kumimoji="1" lang="zh-CN" altLang="en-US" sz="2400" b="1" smtClean="0">
                <a:effectLst/>
              </a:rPr>
              <a:t>）和过剩功能（</a:t>
            </a:r>
            <a:r>
              <a:rPr kumimoji="1" lang="en-US" altLang="zh-CN" sz="2400" b="1" smtClean="0">
                <a:effectLst/>
              </a:rPr>
              <a:t>plethoric function</a:t>
            </a:r>
            <a:r>
              <a:rPr kumimoji="1" lang="zh-CN" altLang="en-US" sz="2400" b="1" smtClean="0">
                <a:effectLst/>
              </a:rPr>
              <a:t>）</a:t>
            </a:r>
            <a:endParaRPr kumimoji="1" lang="zh-CN" altLang="en-US" sz="2400" b="1" smtClean="0">
              <a:effectLst/>
            </a:endParaRPr>
          </a:p>
          <a:p>
            <a:pPr lvl="1" eaLnBrk="1" hangingPunct="1">
              <a:lnSpc>
                <a:spcPct val="80000"/>
              </a:lnSpc>
            </a:pPr>
            <a:r>
              <a:rPr kumimoji="1" lang="zh-CN" altLang="en-US" sz="2400" b="1" smtClean="0">
                <a:effectLst/>
              </a:rPr>
              <a:t>不足功能是对象尚未满足使用者需求的必要功能；</a:t>
            </a:r>
            <a:endParaRPr kumimoji="1" lang="zh-CN" altLang="en-US" sz="2400" b="1" smtClean="0">
              <a:effectLst/>
            </a:endParaRPr>
          </a:p>
          <a:p>
            <a:pPr lvl="1" eaLnBrk="1" hangingPunct="1">
              <a:lnSpc>
                <a:spcPct val="80000"/>
              </a:lnSpc>
            </a:pPr>
            <a:r>
              <a:rPr kumimoji="1" lang="zh-CN" altLang="en-US" sz="2400" b="1" smtClean="0">
                <a:effectLst/>
              </a:rPr>
              <a:t>过剩功能是超过使用者需求的功能</a:t>
            </a:r>
            <a:endParaRPr kumimoji="1" lang="zh-CN" altLang="en-US" sz="2400" b="1" smtClean="0">
              <a:effectLs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Rot="1" noChangeArrowheads="1"/>
          </p:cNvSpPr>
          <p:nvPr>
            <p:ph type="title"/>
          </p:nvPr>
        </p:nvSpPr>
        <p:spPr/>
        <p:txBody>
          <a:bodyPr/>
          <a:lstStyle/>
          <a:p>
            <a:pPr eaLnBrk="1" hangingPunct="1">
              <a:defRPr/>
            </a:pPr>
            <a:r>
              <a:rPr lang="zh-CN" altLang="en-US" smtClean="0"/>
              <a:t>功能整理</a:t>
            </a:r>
            <a:endParaRPr lang="zh-CN" altLang="en-US" smtClean="0"/>
          </a:p>
        </p:txBody>
      </p:sp>
      <p:sp>
        <p:nvSpPr>
          <p:cNvPr id="928771" name="Rectangle 3"/>
          <p:cNvSpPr>
            <a:spLocks noGrp="1" noChangeArrowheads="1"/>
          </p:cNvSpPr>
          <p:nvPr>
            <p:ph type="body" idx="1"/>
          </p:nvPr>
        </p:nvSpPr>
        <p:spPr>
          <a:xfrm>
            <a:off x="457200" y="1600200"/>
            <a:ext cx="8435975" cy="4530725"/>
          </a:xfrm>
        </p:spPr>
        <p:txBody>
          <a:bodyPr/>
          <a:lstStyle/>
          <a:p>
            <a:pPr eaLnBrk="1" hangingPunct="1">
              <a:defRPr/>
            </a:pPr>
            <a:r>
              <a:rPr lang="zh-CN" altLang="en-US" sz="2800" smtClean="0"/>
              <a:t>将上述定义的各类功能间的关系，进行梳理，形成功能系统图。</a:t>
            </a:r>
            <a:endParaRPr lang="zh-CN" altLang="en-US" sz="2800" smtClean="0"/>
          </a:p>
          <a:p>
            <a:pPr lvl="1" eaLnBrk="1" hangingPunct="1">
              <a:defRPr/>
            </a:pPr>
            <a:r>
              <a:rPr lang="zh-CN" altLang="en-US" sz="2400" smtClean="0"/>
              <a:t>分析产品的基本功能和辅助功能</a:t>
            </a:r>
            <a:endParaRPr lang="zh-CN" altLang="en-US" sz="2400" smtClean="0"/>
          </a:p>
          <a:p>
            <a:pPr lvl="1" eaLnBrk="1" hangingPunct="1">
              <a:defRPr/>
            </a:pPr>
            <a:r>
              <a:rPr lang="zh-CN" altLang="en-US" sz="2400" smtClean="0"/>
              <a:t>明确功能的上下位和并列关系</a:t>
            </a:r>
            <a:endParaRPr lang="zh-CN" altLang="en-US" sz="2400" smtClean="0"/>
          </a:p>
          <a:p>
            <a:pPr lvl="1" eaLnBrk="1" hangingPunct="1">
              <a:defRPr/>
            </a:pPr>
            <a:r>
              <a:rPr lang="zh-CN" altLang="en-US" sz="2400" smtClean="0"/>
              <a:t>建立功能系统图</a:t>
            </a:r>
            <a:endParaRPr lang="zh-CN" altLang="en-US" sz="2400" smtClean="0"/>
          </a:p>
          <a:p>
            <a:pPr eaLnBrk="1" hangingPunct="1">
              <a:defRPr/>
            </a:pPr>
            <a:r>
              <a:rPr lang="zh-CN" altLang="en-US" sz="2800" smtClean="0"/>
              <a:t>进一步明确上、下位功能间的关系。即将用户最终要求的总体目标（一级功能），细分为生产或服务者可采取措施的、具体的各项子目标</a:t>
            </a:r>
            <a:r>
              <a:rPr lang="en-US" altLang="zh-CN" sz="2800" smtClean="0"/>
              <a:t>(</a:t>
            </a:r>
            <a:r>
              <a:rPr lang="zh-CN" altLang="en-US" sz="2800" smtClean="0"/>
              <a:t>各下级功能</a:t>
            </a:r>
            <a:r>
              <a:rPr lang="en-US" altLang="zh-CN" sz="2800" smtClean="0"/>
              <a:t>)</a:t>
            </a:r>
            <a:r>
              <a:rPr lang="zh-CN" altLang="en-US" sz="2800" smtClean="0"/>
              <a:t>，细化至各手段功能，以便实现。</a:t>
            </a:r>
            <a:endParaRPr lang="zh-CN" altLang="en-US" sz="280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Rot="1" noChangeArrowheads="1"/>
          </p:cNvSpPr>
          <p:nvPr>
            <p:ph type="title"/>
          </p:nvPr>
        </p:nvSpPr>
        <p:spPr/>
        <p:txBody>
          <a:bodyPr/>
          <a:lstStyle/>
          <a:p>
            <a:pPr eaLnBrk="1" hangingPunct="1">
              <a:defRPr/>
            </a:pPr>
            <a:r>
              <a:rPr lang="zh-CN" altLang="en-US" sz="4000" smtClean="0"/>
              <a:t>功能系统图基本模式</a:t>
            </a:r>
            <a:r>
              <a:rPr lang="en-US" altLang="zh-CN" sz="4000" smtClean="0"/>
              <a:t>(Bytheway 1965)</a:t>
            </a:r>
            <a:endParaRPr lang="en-US" altLang="zh-CN" sz="4000" smtClean="0"/>
          </a:p>
        </p:txBody>
      </p:sp>
      <p:sp>
        <p:nvSpPr>
          <p:cNvPr id="961539" name="Rectangle 3"/>
          <p:cNvSpPr>
            <a:spLocks noGrp="1" noChangeArrowheads="1"/>
          </p:cNvSpPr>
          <p:nvPr>
            <p:ph type="body" idx="1"/>
          </p:nvPr>
        </p:nvSpPr>
        <p:spPr/>
        <p:txBody>
          <a:bodyPr/>
          <a:lstStyle/>
          <a:p>
            <a:pPr eaLnBrk="1" hangingPunct="1">
              <a:defRPr/>
            </a:pPr>
            <a:endParaRPr lang="zh-CN" altLang="en-US" smtClean="0"/>
          </a:p>
        </p:txBody>
      </p:sp>
      <p:grpSp>
        <p:nvGrpSpPr>
          <p:cNvPr id="26628" name="Group 4"/>
          <p:cNvGrpSpPr/>
          <p:nvPr/>
        </p:nvGrpSpPr>
        <p:grpSpPr bwMode="auto">
          <a:xfrm>
            <a:off x="0" y="1628775"/>
            <a:ext cx="9144000" cy="4895850"/>
            <a:chOff x="2233" y="7680"/>
            <a:chExt cx="6300" cy="3744"/>
          </a:xfrm>
        </p:grpSpPr>
        <p:sp>
          <p:nvSpPr>
            <p:cNvPr id="26629" name="AutoShape 5"/>
            <p:cNvSpPr>
              <a:spLocks noChangeAspect="1" noChangeArrowheads="1"/>
            </p:cNvSpPr>
            <p:nvPr/>
          </p:nvSpPr>
          <p:spPr bwMode="auto">
            <a:xfrm>
              <a:off x="2233" y="7680"/>
              <a:ext cx="6300" cy="3744"/>
            </a:xfrm>
            <a:prstGeom prst="rect">
              <a:avLst/>
            </a:prstGeom>
            <a:solidFill>
              <a:srgbClr val="FFFFCC"/>
            </a:solidFill>
            <a:ln>
              <a:noFill/>
            </a:ln>
            <a:extLst>
              <a:ext uri="{91240B29-F687-4F45-9708-019B960494DF}">
                <a14:hiddenLine xmlns:a14="http://schemas.microsoft.com/office/drawing/2010/main" w="9525">
                  <a:solidFill>
                    <a:srgbClr val="000000"/>
                  </a:solidFill>
                  <a:prstDash val="sysDot"/>
                  <a:miter lim="800000"/>
                  <a:headEnd type="none" w="sm" len="med"/>
                  <a:tailEnd type="none" w="sm" len="me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30" name="Text Box 6"/>
            <p:cNvSpPr txBox="1">
              <a:spLocks noChangeArrowheads="1"/>
            </p:cNvSpPr>
            <p:nvPr/>
          </p:nvSpPr>
          <p:spPr bwMode="auto">
            <a:xfrm>
              <a:off x="6373" y="7836"/>
              <a:ext cx="720" cy="313"/>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11</a:t>
              </a:r>
              <a:endParaRPr kumimoji="1" lang="en-US" altLang="zh-CN" sz="1200">
                <a:solidFill>
                  <a:srgbClr val="FF0000"/>
                </a:solidFill>
                <a:latin typeface="Times New Roman" panose="02020603050405020304" pitchFamily="18" charset="0"/>
              </a:endParaRPr>
            </a:p>
          </p:txBody>
        </p:sp>
        <p:sp>
          <p:nvSpPr>
            <p:cNvPr id="26631" name="Text Box 7"/>
            <p:cNvSpPr txBox="1">
              <a:spLocks noChangeArrowheads="1"/>
            </p:cNvSpPr>
            <p:nvPr/>
          </p:nvSpPr>
          <p:spPr bwMode="auto">
            <a:xfrm>
              <a:off x="6373" y="8304"/>
              <a:ext cx="720" cy="312"/>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12</a:t>
              </a:r>
              <a:endParaRPr kumimoji="1" lang="en-US" altLang="zh-CN" sz="1200">
                <a:solidFill>
                  <a:srgbClr val="FF0000"/>
                </a:solidFill>
                <a:latin typeface="Times New Roman" panose="02020603050405020304" pitchFamily="18" charset="0"/>
              </a:endParaRPr>
            </a:p>
          </p:txBody>
        </p:sp>
        <p:sp>
          <p:nvSpPr>
            <p:cNvPr id="26632" name="Text Box 8"/>
            <p:cNvSpPr txBox="1">
              <a:spLocks noChangeArrowheads="1"/>
            </p:cNvSpPr>
            <p:nvPr/>
          </p:nvSpPr>
          <p:spPr bwMode="auto">
            <a:xfrm>
              <a:off x="6373" y="8772"/>
              <a:ext cx="720" cy="314"/>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21</a:t>
              </a:r>
              <a:endParaRPr kumimoji="1" lang="en-US" altLang="zh-CN" sz="1200">
                <a:solidFill>
                  <a:srgbClr val="FF0000"/>
                </a:solidFill>
                <a:latin typeface="Times New Roman" panose="02020603050405020304" pitchFamily="18" charset="0"/>
              </a:endParaRPr>
            </a:p>
          </p:txBody>
        </p:sp>
        <p:sp>
          <p:nvSpPr>
            <p:cNvPr id="26633" name="Text Box 9"/>
            <p:cNvSpPr txBox="1">
              <a:spLocks noChangeArrowheads="1"/>
            </p:cNvSpPr>
            <p:nvPr/>
          </p:nvSpPr>
          <p:spPr bwMode="auto">
            <a:xfrm>
              <a:off x="6373" y="9241"/>
              <a:ext cx="720" cy="311"/>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22</a:t>
              </a:r>
              <a:endParaRPr kumimoji="1" lang="en-US" altLang="zh-CN" sz="1200">
                <a:solidFill>
                  <a:srgbClr val="FF0000"/>
                </a:solidFill>
                <a:latin typeface="Times New Roman" panose="02020603050405020304" pitchFamily="18" charset="0"/>
              </a:endParaRPr>
            </a:p>
          </p:txBody>
        </p:sp>
        <p:sp>
          <p:nvSpPr>
            <p:cNvPr id="26634" name="Text Box 10"/>
            <p:cNvSpPr txBox="1">
              <a:spLocks noChangeArrowheads="1"/>
            </p:cNvSpPr>
            <p:nvPr/>
          </p:nvSpPr>
          <p:spPr bwMode="auto">
            <a:xfrm>
              <a:off x="6373" y="9708"/>
              <a:ext cx="720" cy="313"/>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31</a:t>
              </a:r>
              <a:endParaRPr kumimoji="1" lang="en-US" altLang="zh-CN" sz="1200">
                <a:solidFill>
                  <a:srgbClr val="FF0000"/>
                </a:solidFill>
                <a:latin typeface="Times New Roman" panose="02020603050405020304" pitchFamily="18" charset="0"/>
              </a:endParaRPr>
            </a:p>
          </p:txBody>
        </p:sp>
        <p:sp>
          <p:nvSpPr>
            <p:cNvPr id="26635" name="Text Box 11"/>
            <p:cNvSpPr txBox="1">
              <a:spLocks noChangeArrowheads="1"/>
            </p:cNvSpPr>
            <p:nvPr/>
          </p:nvSpPr>
          <p:spPr bwMode="auto">
            <a:xfrm>
              <a:off x="6373" y="10176"/>
              <a:ext cx="720" cy="314"/>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32</a:t>
              </a:r>
              <a:endParaRPr kumimoji="1" lang="en-US" altLang="zh-CN" sz="1200">
                <a:solidFill>
                  <a:srgbClr val="FF0000"/>
                </a:solidFill>
                <a:latin typeface="Times New Roman" panose="02020603050405020304" pitchFamily="18" charset="0"/>
              </a:endParaRPr>
            </a:p>
          </p:txBody>
        </p:sp>
        <p:sp>
          <p:nvSpPr>
            <p:cNvPr id="26636" name="Text Box 12"/>
            <p:cNvSpPr txBox="1">
              <a:spLocks noChangeArrowheads="1"/>
            </p:cNvSpPr>
            <p:nvPr/>
          </p:nvSpPr>
          <p:spPr bwMode="auto">
            <a:xfrm>
              <a:off x="4753" y="8149"/>
              <a:ext cx="720" cy="311"/>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1</a:t>
              </a:r>
              <a:endParaRPr kumimoji="1" lang="en-US" altLang="zh-CN" sz="1200">
                <a:solidFill>
                  <a:srgbClr val="FF0000"/>
                </a:solidFill>
                <a:latin typeface="Times New Roman" panose="02020603050405020304" pitchFamily="18" charset="0"/>
              </a:endParaRPr>
            </a:p>
          </p:txBody>
        </p:sp>
        <p:sp>
          <p:nvSpPr>
            <p:cNvPr id="26637" name="Text Box 13"/>
            <p:cNvSpPr txBox="1">
              <a:spLocks noChangeArrowheads="1"/>
            </p:cNvSpPr>
            <p:nvPr/>
          </p:nvSpPr>
          <p:spPr bwMode="auto">
            <a:xfrm>
              <a:off x="4753" y="8928"/>
              <a:ext cx="720" cy="313"/>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2</a:t>
              </a:r>
              <a:endParaRPr kumimoji="1" lang="en-US" altLang="zh-CN" sz="1200">
                <a:solidFill>
                  <a:srgbClr val="FF0000"/>
                </a:solidFill>
                <a:latin typeface="Times New Roman" panose="02020603050405020304" pitchFamily="18" charset="0"/>
              </a:endParaRPr>
            </a:p>
          </p:txBody>
        </p:sp>
        <p:sp>
          <p:nvSpPr>
            <p:cNvPr id="26638" name="Text Box 14"/>
            <p:cNvSpPr txBox="1">
              <a:spLocks noChangeArrowheads="1"/>
            </p:cNvSpPr>
            <p:nvPr/>
          </p:nvSpPr>
          <p:spPr bwMode="auto">
            <a:xfrm>
              <a:off x="4753" y="9864"/>
              <a:ext cx="720" cy="312"/>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F3</a:t>
              </a:r>
              <a:endParaRPr kumimoji="1" lang="en-US" altLang="zh-CN" sz="1200" i="1">
                <a:solidFill>
                  <a:srgbClr val="FF0000"/>
                </a:solidFill>
                <a:latin typeface="Times New Roman" panose="02020603050405020304" pitchFamily="18" charset="0"/>
              </a:endParaRPr>
            </a:p>
          </p:txBody>
        </p:sp>
        <p:sp>
          <p:nvSpPr>
            <p:cNvPr id="26639" name="Text Box 15"/>
            <p:cNvSpPr txBox="1">
              <a:spLocks noChangeArrowheads="1"/>
            </p:cNvSpPr>
            <p:nvPr/>
          </p:nvSpPr>
          <p:spPr bwMode="auto">
            <a:xfrm>
              <a:off x="3313" y="8928"/>
              <a:ext cx="720" cy="313"/>
            </a:xfrm>
            <a:prstGeom prst="rect">
              <a:avLst/>
            </a:prstGeom>
            <a:solidFill>
              <a:srgbClr val="FFFFFF"/>
            </a:solidFill>
            <a:ln w="9525">
              <a:solidFill>
                <a:srgbClr val="000000"/>
              </a:solidFill>
              <a:miter lim="800000"/>
            </a:ln>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en-US" altLang="zh-CN" sz="1200" i="1">
                  <a:solidFill>
                    <a:srgbClr val="FF0000"/>
                  </a:solidFill>
                  <a:latin typeface="Times New Roman" panose="02020603050405020304" pitchFamily="18" charset="0"/>
                </a:rPr>
                <a:t>F</a:t>
              </a:r>
              <a:r>
                <a:rPr kumimoji="1" lang="en-US" altLang="zh-CN" sz="1200" baseline="-25000">
                  <a:solidFill>
                    <a:srgbClr val="FF0000"/>
                  </a:solidFill>
                  <a:latin typeface="Times New Roman" panose="02020603050405020304" pitchFamily="18" charset="0"/>
                </a:rPr>
                <a:t>0</a:t>
              </a:r>
              <a:endParaRPr kumimoji="1" lang="en-US" altLang="zh-CN" sz="1200">
                <a:solidFill>
                  <a:srgbClr val="FF0000"/>
                </a:solidFill>
                <a:latin typeface="Times New Roman" panose="02020603050405020304" pitchFamily="18" charset="0"/>
              </a:endParaRPr>
            </a:p>
          </p:txBody>
        </p:sp>
        <p:sp>
          <p:nvSpPr>
            <p:cNvPr id="26640" name="Line 16"/>
            <p:cNvSpPr>
              <a:spLocks noChangeShapeType="1"/>
            </p:cNvSpPr>
            <p:nvPr/>
          </p:nvSpPr>
          <p:spPr bwMode="auto">
            <a:xfrm>
              <a:off x="4033" y="9084"/>
              <a:ext cx="7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1" name="Line 17"/>
            <p:cNvSpPr>
              <a:spLocks noChangeShapeType="1"/>
            </p:cNvSpPr>
            <p:nvPr/>
          </p:nvSpPr>
          <p:spPr bwMode="auto">
            <a:xfrm>
              <a:off x="4393" y="8304"/>
              <a:ext cx="0" cy="171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2" name="Line 18"/>
            <p:cNvSpPr>
              <a:spLocks noChangeShapeType="1"/>
            </p:cNvSpPr>
            <p:nvPr/>
          </p:nvSpPr>
          <p:spPr bwMode="auto">
            <a:xfrm>
              <a:off x="4393" y="8304"/>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3" name="Line 19"/>
            <p:cNvSpPr>
              <a:spLocks noChangeShapeType="1"/>
            </p:cNvSpPr>
            <p:nvPr/>
          </p:nvSpPr>
          <p:spPr bwMode="auto">
            <a:xfrm>
              <a:off x="4393" y="10020"/>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4" name="Line 20"/>
            <p:cNvSpPr>
              <a:spLocks noChangeShapeType="1"/>
            </p:cNvSpPr>
            <p:nvPr/>
          </p:nvSpPr>
          <p:spPr bwMode="auto">
            <a:xfrm>
              <a:off x="5473" y="8304"/>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5" name="Line 21"/>
            <p:cNvSpPr>
              <a:spLocks noChangeShapeType="1"/>
            </p:cNvSpPr>
            <p:nvPr/>
          </p:nvSpPr>
          <p:spPr bwMode="auto">
            <a:xfrm>
              <a:off x="5473" y="9084"/>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6" name="Line 22"/>
            <p:cNvSpPr>
              <a:spLocks noChangeShapeType="1"/>
            </p:cNvSpPr>
            <p:nvPr/>
          </p:nvSpPr>
          <p:spPr bwMode="auto">
            <a:xfrm>
              <a:off x="5473" y="10020"/>
              <a:ext cx="5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7" name="Line 23"/>
            <p:cNvSpPr>
              <a:spLocks noChangeShapeType="1"/>
            </p:cNvSpPr>
            <p:nvPr/>
          </p:nvSpPr>
          <p:spPr bwMode="auto">
            <a:xfrm>
              <a:off x="6013" y="7992"/>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8" name="Line 24"/>
            <p:cNvSpPr>
              <a:spLocks noChangeShapeType="1"/>
            </p:cNvSpPr>
            <p:nvPr/>
          </p:nvSpPr>
          <p:spPr bwMode="auto">
            <a:xfrm>
              <a:off x="6013" y="8460"/>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9" name="Line 25"/>
            <p:cNvSpPr>
              <a:spLocks noChangeShapeType="1"/>
            </p:cNvSpPr>
            <p:nvPr/>
          </p:nvSpPr>
          <p:spPr bwMode="auto">
            <a:xfrm>
              <a:off x="6013" y="8928"/>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0" name="Line 26"/>
            <p:cNvSpPr>
              <a:spLocks noChangeShapeType="1"/>
            </p:cNvSpPr>
            <p:nvPr/>
          </p:nvSpPr>
          <p:spPr bwMode="auto">
            <a:xfrm>
              <a:off x="6013" y="9396"/>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1" name="Line 27"/>
            <p:cNvSpPr>
              <a:spLocks noChangeShapeType="1"/>
            </p:cNvSpPr>
            <p:nvPr/>
          </p:nvSpPr>
          <p:spPr bwMode="auto">
            <a:xfrm>
              <a:off x="6013" y="9864"/>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2" name="Line 28"/>
            <p:cNvSpPr>
              <a:spLocks noChangeShapeType="1"/>
            </p:cNvSpPr>
            <p:nvPr/>
          </p:nvSpPr>
          <p:spPr bwMode="auto">
            <a:xfrm>
              <a:off x="6013" y="10331"/>
              <a:ext cx="3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3" name="Line 29"/>
            <p:cNvSpPr>
              <a:spLocks noChangeShapeType="1"/>
            </p:cNvSpPr>
            <p:nvPr/>
          </p:nvSpPr>
          <p:spPr bwMode="auto">
            <a:xfrm>
              <a:off x="6013" y="799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4" name="Line 30"/>
            <p:cNvSpPr>
              <a:spLocks noChangeShapeType="1"/>
            </p:cNvSpPr>
            <p:nvPr/>
          </p:nvSpPr>
          <p:spPr bwMode="auto">
            <a:xfrm>
              <a:off x="6013" y="8928"/>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5" name="Line 31"/>
            <p:cNvSpPr>
              <a:spLocks noChangeShapeType="1"/>
            </p:cNvSpPr>
            <p:nvPr/>
          </p:nvSpPr>
          <p:spPr bwMode="auto">
            <a:xfrm>
              <a:off x="6013" y="9864"/>
              <a:ext cx="0" cy="46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6" name="AutoShape 32"/>
            <p:cNvSpPr/>
            <p:nvPr/>
          </p:nvSpPr>
          <p:spPr bwMode="auto">
            <a:xfrm>
              <a:off x="7273" y="7836"/>
              <a:ext cx="360" cy="780"/>
            </a:xfrm>
            <a:prstGeom prst="rightBrace">
              <a:avLst>
                <a:gd name="adj1" fmla="val 18056"/>
                <a:gd name="adj2" fmla="val 50000"/>
              </a:avLst>
            </a:prstGeom>
            <a:noFill/>
            <a:ln w="317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57" name="Text Box 33"/>
            <p:cNvSpPr txBox="1">
              <a:spLocks noChangeArrowheads="1"/>
            </p:cNvSpPr>
            <p:nvPr/>
          </p:nvSpPr>
          <p:spPr bwMode="auto">
            <a:xfrm>
              <a:off x="7633" y="8148"/>
              <a:ext cx="72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zh-CN" altLang="en-US" sz="1200">
                  <a:solidFill>
                    <a:srgbClr val="FF0000"/>
                  </a:solidFill>
                  <a:latin typeface="Times New Roman" panose="02020603050405020304" pitchFamily="18" charset="0"/>
                </a:rPr>
                <a:t>功能区</a:t>
              </a:r>
              <a:r>
                <a:rPr kumimoji="1" lang="en-US" altLang="zh-CN" sz="1200">
                  <a:solidFill>
                    <a:srgbClr val="FF0000"/>
                  </a:solidFill>
                  <a:latin typeface="Times New Roman" panose="02020603050405020304" pitchFamily="18" charset="0"/>
                </a:rPr>
                <a:t>1</a:t>
              </a:r>
              <a:endParaRPr kumimoji="1" lang="en-US" altLang="zh-CN" sz="1200">
                <a:solidFill>
                  <a:srgbClr val="FF0000"/>
                </a:solidFill>
                <a:latin typeface="Times New Roman" panose="02020603050405020304" pitchFamily="18" charset="0"/>
              </a:endParaRPr>
            </a:p>
          </p:txBody>
        </p:sp>
        <p:sp>
          <p:nvSpPr>
            <p:cNvPr id="26658" name="AutoShape 34"/>
            <p:cNvSpPr/>
            <p:nvPr/>
          </p:nvSpPr>
          <p:spPr bwMode="auto">
            <a:xfrm>
              <a:off x="7273" y="8772"/>
              <a:ext cx="360" cy="780"/>
            </a:xfrm>
            <a:prstGeom prst="rightBrace">
              <a:avLst>
                <a:gd name="adj1" fmla="val 18056"/>
                <a:gd name="adj2" fmla="val 50000"/>
              </a:avLst>
            </a:prstGeom>
            <a:noFill/>
            <a:ln w="317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59" name="Text Box 35"/>
            <p:cNvSpPr txBox="1">
              <a:spLocks noChangeArrowheads="1"/>
            </p:cNvSpPr>
            <p:nvPr/>
          </p:nvSpPr>
          <p:spPr bwMode="auto">
            <a:xfrm>
              <a:off x="7633" y="9084"/>
              <a:ext cx="72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zh-CN" altLang="en-US" sz="1200">
                  <a:solidFill>
                    <a:srgbClr val="FF0000"/>
                  </a:solidFill>
                  <a:latin typeface="Times New Roman" panose="02020603050405020304" pitchFamily="18" charset="0"/>
                </a:rPr>
                <a:t>功能区</a:t>
              </a:r>
              <a:r>
                <a:rPr kumimoji="1" lang="en-US" altLang="zh-CN" sz="1200">
                  <a:solidFill>
                    <a:srgbClr val="FF0000"/>
                  </a:solidFill>
                  <a:latin typeface="Times New Roman" panose="02020603050405020304" pitchFamily="18" charset="0"/>
                </a:rPr>
                <a:t>2</a:t>
              </a:r>
              <a:endParaRPr kumimoji="1" lang="en-US" altLang="zh-CN" sz="1200">
                <a:solidFill>
                  <a:srgbClr val="FF0000"/>
                </a:solidFill>
                <a:latin typeface="Times New Roman" panose="02020603050405020304" pitchFamily="18" charset="0"/>
              </a:endParaRPr>
            </a:p>
          </p:txBody>
        </p:sp>
        <p:sp>
          <p:nvSpPr>
            <p:cNvPr id="26660" name="AutoShape 36"/>
            <p:cNvSpPr/>
            <p:nvPr/>
          </p:nvSpPr>
          <p:spPr bwMode="auto">
            <a:xfrm>
              <a:off x="7273" y="9708"/>
              <a:ext cx="360" cy="780"/>
            </a:xfrm>
            <a:prstGeom prst="rightBrace">
              <a:avLst>
                <a:gd name="adj1" fmla="val 18056"/>
                <a:gd name="adj2" fmla="val 50000"/>
              </a:avLst>
            </a:prstGeom>
            <a:noFill/>
            <a:ln w="317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61" name="Text Box 37"/>
            <p:cNvSpPr txBox="1">
              <a:spLocks noChangeArrowheads="1"/>
            </p:cNvSpPr>
            <p:nvPr/>
          </p:nvSpPr>
          <p:spPr bwMode="auto">
            <a:xfrm>
              <a:off x="7633" y="10020"/>
              <a:ext cx="72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r>
                <a:rPr kumimoji="1" lang="zh-CN" altLang="en-US" sz="1200">
                  <a:solidFill>
                    <a:srgbClr val="FF0000"/>
                  </a:solidFill>
                  <a:latin typeface="Times New Roman" panose="02020603050405020304" pitchFamily="18" charset="0"/>
                </a:rPr>
                <a:t>功能区</a:t>
              </a:r>
              <a:r>
                <a:rPr kumimoji="1" lang="en-US" altLang="zh-CN" sz="1200">
                  <a:solidFill>
                    <a:srgbClr val="FF0000"/>
                  </a:solidFill>
                  <a:latin typeface="Times New Roman" panose="02020603050405020304" pitchFamily="18" charset="0"/>
                </a:rPr>
                <a:t>3</a:t>
              </a:r>
              <a:endParaRPr kumimoji="1" lang="en-US" altLang="zh-CN" sz="1200">
                <a:solidFill>
                  <a:srgbClr val="FF0000"/>
                </a:solidFill>
                <a:latin typeface="Times New Roman" panose="02020603050405020304" pitchFamily="18" charset="0"/>
              </a:endParaRPr>
            </a:p>
          </p:txBody>
        </p:sp>
        <p:sp>
          <p:nvSpPr>
            <p:cNvPr id="26662" name="Text Box 38"/>
            <p:cNvSpPr txBox="1">
              <a:spLocks noChangeArrowheads="1"/>
            </p:cNvSpPr>
            <p:nvPr/>
          </p:nvSpPr>
          <p:spPr bwMode="auto">
            <a:xfrm>
              <a:off x="3493" y="10332"/>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目的</a:t>
              </a:r>
              <a:endParaRPr kumimoji="1" lang="zh-CN" altLang="en-US" sz="1200">
                <a:solidFill>
                  <a:srgbClr val="FF0000"/>
                </a:solidFill>
                <a:latin typeface="Times New Roman" panose="02020603050405020304" pitchFamily="18" charset="0"/>
              </a:endParaRPr>
            </a:p>
          </p:txBody>
        </p:sp>
        <p:sp>
          <p:nvSpPr>
            <p:cNvPr id="26663" name="Text Box 39"/>
            <p:cNvSpPr txBox="1">
              <a:spLocks noChangeArrowheads="1"/>
            </p:cNvSpPr>
            <p:nvPr/>
          </p:nvSpPr>
          <p:spPr bwMode="auto">
            <a:xfrm>
              <a:off x="4933" y="10332"/>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手段</a:t>
              </a:r>
              <a:endParaRPr kumimoji="1" lang="zh-CN" altLang="en-US" sz="1200">
                <a:solidFill>
                  <a:srgbClr val="FF0000"/>
                </a:solidFill>
                <a:latin typeface="Times New Roman" panose="02020603050405020304" pitchFamily="18" charset="0"/>
              </a:endParaRPr>
            </a:p>
          </p:txBody>
        </p:sp>
        <p:sp>
          <p:nvSpPr>
            <p:cNvPr id="26664" name="Text Box 40"/>
            <p:cNvSpPr txBox="1">
              <a:spLocks noChangeArrowheads="1"/>
            </p:cNvSpPr>
            <p:nvPr/>
          </p:nvSpPr>
          <p:spPr bwMode="auto">
            <a:xfrm>
              <a:off x="4933" y="10644"/>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目的</a:t>
              </a:r>
              <a:endParaRPr kumimoji="1" lang="zh-CN" altLang="en-US" sz="1200">
                <a:solidFill>
                  <a:srgbClr val="FF0000"/>
                </a:solidFill>
                <a:latin typeface="Times New Roman" panose="02020603050405020304" pitchFamily="18" charset="0"/>
              </a:endParaRPr>
            </a:p>
          </p:txBody>
        </p:sp>
        <p:sp>
          <p:nvSpPr>
            <p:cNvPr id="26665" name="Text Box 41"/>
            <p:cNvSpPr txBox="1">
              <a:spLocks noChangeArrowheads="1"/>
            </p:cNvSpPr>
            <p:nvPr/>
          </p:nvSpPr>
          <p:spPr bwMode="auto">
            <a:xfrm>
              <a:off x="6553" y="10644"/>
              <a:ext cx="3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just" eaLnBrk="1" hangingPunct="1">
                <a:buClrTx/>
                <a:buSzTx/>
                <a:buFontTx/>
                <a:buNone/>
              </a:pPr>
              <a:r>
                <a:rPr kumimoji="1" lang="zh-CN" altLang="en-US" sz="1200">
                  <a:solidFill>
                    <a:srgbClr val="FF0000"/>
                  </a:solidFill>
                  <a:latin typeface="Times New Roman" panose="02020603050405020304" pitchFamily="18" charset="0"/>
                </a:rPr>
                <a:t>手段</a:t>
              </a:r>
              <a:endParaRPr kumimoji="1" lang="zh-CN" altLang="en-US" sz="1200">
                <a:solidFill>
                  <a:srgbClr val="FF0000"/>
                </a:solidFill>
                <a:latin typeface="Times New Roman" panose="02020603050405020304" pitchFamily="18" charset="0"/>
              </a:endParaRPr>
            </a:p>
          </p:txBody>
        </p:sp>
        <p:sp>
          <p:nvSpPr>
            <p:cNvPr id="26666" name="Line 42"/>
            <p:cNvSpPr>
              <a:spLocks noChangeShapeType="1"/>
            </p:cNvSpPr>
            <p:nvPr/>
          </p:nvSpPr>
          <p:spPr bwMode="auto">
            <a:xfrm>
              <a:off x="3673" y="9240"/>
              <a:ext cx="0" cy="1092"/>
            </a:xfrm>
            <a:prstGeom prst="line">
              <a:avLst/>
            </a:prstGeom>
            <a:noFill/>
            <a:ln w="3175">
              <a:solidFill>
                <a:srgbClr val="000000"/>
              </a:solidFill>
              <a:prstDash val="sysDot"/>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6667" name="Line 43"/>
            <p:cNvSpPr>
              <a:spLocks noChangeShapeType="1"/>
            </p:cNvSpPr>
            <p:nvPr/>
          </p:nvSpPr>
          <p:spPr bwMode="auto">
            <a:xfrm>
              <a:off x="3853" y="10488"/>
              <a:ext cx="1080" cy="0"/>
            </a:xfrm>
            <a:prstGeom prst="line">
              <a:avLst/>
            </a:prstGeom>
            <a:noFill/>
            <a:ln w="9525">
              <a:solidFill>
                <a:srgbClr val="000000"/>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6668" name="Line 44"/>
            <p:cNvSpPr>
              <a:spLocks noChangeShapeType="1"/>
            </p:cNvSpPr>
            <p:nvPr/>
          </p:nvSpPr>
          <p:spPr bwMode="auto">
            <a:xfrm>
              <a:off x="5293" y="10800"/>
              <a:ext cx="1260" cy="0"/>
            </a:xfrm>
            <a:prstGeom prst="line">
              <a:avLst/>
            </a:prstGeom>
            <a:noFill/>
            <a:ln w="9525">
              <a:solidFill>
                <a:srgbClr val="000000"/>
              </a:solidFill>
              <a:prstDash val="sysDot"/>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6669" name="Line 45"/>
            <p:cNvSpPr>
              <a:spLocks noChangeShapeType="1"/>
            </p:cNvSpPr>
            <p:nvPr/>
          </p:nvSpPr>
          <p:spPr bwMode="auto">
            <a:xfrm>
              <a:off x="6733" y="10488"/>
              <a:ext cx="0" cy="156"/>
            </a:xfrm>
            <a:prstGeom prst="line">
              <a:avLst/>
            </a:prstGeom>
            <a:noFill/>
            <a:ln w="9525">
              <a:solidFill>
                <a:srgbClr val="000000"/>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6670" name="Text Box 46"/>
            <p:cNvSpPr txBox="1">
              <a:spLocks noChangeArrowheads="1"/>
            </p:cNvSpPr>
            <p:nvPr/>
          </p:nvSpPr>
          <p:spPr bwMode="auto">
            <a:xfrm>
              <a:off x="4753" y="11112"/>
              <a:ext cx="306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buClrTx/>
                <a:buSzTx/>
                <a:buFontTx/>
                <a:buNone/>
              </a:pPr>
              <a:endParaRPr kumimoji="1" lang="zh-CN" altLang="en-US" sz="1200">
                <a:solidFill>
                  <a:srgbClr val="FF0000"/>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p:cNvSpPr txBox="1">
            <a:spLocks noChangeArrowheads="1"/>
          </p:cNvSpPr>
          <p:nvPr/>
        </p:nvSpPr>
        <p:spPr bwMode="auto">
          <a:xfrm>
            <a:off x="869950" y="1503363"/>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整体功能</a:t>
            </a:r>
            <a:endParaRPr kumimoji="1" lang="zh-CN" altLang="en-US" sz="2400" b="1">
              <a:latin typeface="Times New Roman" panose="02020603050405020304" pitchFamily="18" charset="0"/>
            </a:endParaRPr>
          </a:p>
        </p:txBody>
      </p:sp>
      <p:sp>
        <p:nvSpPr>
          <p:cNvPr id="218115" name="Text Box 3"/>
          <p:cNvSpPr txBox="1">
            <a:spLocks noChangeArrowheads="1"/>
          </p:cNvSpPr>
          <p:nvPr/>
        </p:nvSpPr>
        <p:spPr bwMode="auto">
          <a:xfrm>
            <a:off x="1130300" y="295116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目的</a:t>
            </a:r>
            <a:endParaRPr kumimoji="1" lang="zh-CN" altLang="en-US" sz="2400" b="1">
              <a:latin typeface="Times New Roman" panose="02020603050405020304" pitchFamily="18" charset="0"/>
            </a:endParaRPr>
          </a:p>
        </p:txBody>
      </p:sp>
      <p:sp>
        <p:nvSpPr>
          <p:cNvPr id="218116" name="Text Box 4"/>
          <p:cNvSpPr txBox="1">
            <a:spLocks noChangeArrowheads="1"/>
          </p:cNvSpPr>
          <p:nvPr/>
        </p:nvSpPr>
        <p:spPr bwMode="auto">
          <a:xfrm>
            <a:off x="596900" y="3408363"/>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（上位功能）</a:t>
            </a:r>
            <a:endParaRPr kumimoji="1" lang="zh-CN" altLang="en-US" sz="2400" b="1">
              <a:latin typeface="Times New Roman" panose="02020603050405020304" pitchFamily="18" charset="0"/>
            </a:endParaRPr>
          </a:p>
        </p:txBody>
      </p:sp>
      <p:sp>
        <p:nvSpPr>
          <p:cNvPr id="218117" name="Text Box 5"/>
          <p:cNvSpPr txBox="1">
            <a:spLocks noChangeArrowheads="1"/>
          </p:cNvSpPr>
          <p:nvPr/>
        </p:nvSpPr>
        <p:spPr bwMode="auto">
          <a:xfrm>
            <a:off x="2654300" y="3408363"/>
            <a:ext cx="2349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（下位功能）</a:t>
            </a:r>
            <a:endParaRPr kumimoji="1" lang="zh-CN" altLang="en-US" sz="2400" b="1">
              <a:latin typeface="Times New Roman" panose="02020603050405020304" pitchFamily="18" charset="0"/>
            </a:endParaRPr>
          </a:p>
        </p:txBody>
      </p:sp>
      <p:sp>
        <p:nvSpPr>
          <p:cNvPr id="218118" name="Text Box 6"/>
          <p:cNvSpPr txBox="1">
            <a:spLocks noChangeArrowheads="1"/>
          </p:cNvSpPr>
          <p:nvPr/>
        </p:nvSpPr>
        <p:spPr bwMode="auto">
          <a:xfrm>
            <a:off x="2774950" y="9906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分功能1</a:t>
            </a:r>
            <a:endParaRPr kumimoji="1" lang="zh-CN" altLang="en-US" sz="2400" b="1">
              <a:latin typeface="Times New Roman" panose="02020603050405020304" pitchFamily="18" charset="0"/>
            </a:endParaRPr>
          </a:p>
        </p:txBody>
      </p:sp>
      <p:sp>
        <p:nvSpPr>
          <p:cNvPr id="218119" name="Text Box 7"/>
          <p:cNvSpPr txBox="1">
            <a:spLocks noChangeArrowheads="1"/>
          </p:cNvSpPr>
          <p:nvPr/>
        </p:nvSpPr>
        <p:spPr bwMode="auto">
          <a:xfrm>
            <a:off x="2774950" y="22098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分功能2</a:t>
            </a:r>
            <a:endParaRPr kumimoji="1" lang="zh-CN" altLang="en-US" sz="2400" b="1">
              <a:latin typeface="Times New Roman" panose="02020603050405020304" pitchFamily="18" charset="0"/>
            </a:endParaRPr>
          </a:p>
        </p:txBody>
      </p:sp>
      <p:sp>
        <p:nvSpPr>
          <p:cNvPr id="218120" name="Text Box 8"/>
          <p:cNvSpPr txBox="1">
            <a:spLocks noChangeArrowheads="1"/>
          </p:cNvSpPr>
          <p:nvPr/>
        </p:nvSpPr>
        <p:spPr bwMode="auto">
          <a:xfrm>
            <a:off x="4387850" y="6858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子功能1</a:t>
            </a:r>
            <a:endParaRPr kumimoji="1" lang="zh-CN" altLang="en-US" sz="2400" b="1">
              <a:latin typeface="Times New Roman" panose="02020603050405020304" pitchFamily="18" charset="0"/>
            </a:endParaRPr>
          </a:p>
        </p:txBody>
      </p:sp>
      <p:sp>
        <p:nvSpPr>
          <p:cNvPr id="218121" name="Text Box 9"/>
          <p:cNvSpPr txBox="1">
            <a:spLocks noChangeArrowheads="1"/>
          </p:cNvSpPr>
          <p:nvPr/>
        </p:nvSpPr>
        <p:spPr bwMode="auto">
          <a:xfrm>
            <a:off x="4419600" y="13716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子功能2</a:t>
            </a:r>
            <a:endParaRPr kumimoji="1" lang="zh-CN" altLang="en-US" sz="2400" b="1">
              <a:latin typeface="Times New Roman" panose="02020603050405020304" pitchFamily="18" charset="0"/>
            </a:endParaRPr>
          </a:p>
        </p:txBody>
      </p:sp>
      <p:sp>
        <p:nvSpPr>
          <p:cNvPr id="218122" name="Text Box 10"/>
          <p:cNvSpPr txBox="1">
            <a:spLocks noChangeArrowheads="1"/>
          </p:cNvSpPr>
          <p:nvPr/>
        </p:nvSpPr>
        <p:spPr bwMode="auto">
          <a:xfrm>
            <a:off x="4419600" y="19050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子功能3</a:t>
            </a:r>
            <a:endParaRPr kumimoji="1" lang="zh-CN" altLang="en-US" sz="2400" b="1">
              <a:latin typeface="Times New Roman" panose="02020603050405020304" pitchFamily="18" charset="0"/>
            </a:endParaRPr>
          </a:p>
        </p:txBody>
      </p:sp>
      <p:sp>
        <p:nvSpPr>
          <p:cNvPr id="218123" name="Text Box 11"/>
          <p:cNvSpPr txBox="1">
            <a:spLocks noChangeArrowheads="1"/>
          </p:cNvSpPr>
          <p:nvPr/>
        </p:nvSpPr>
        <p:spPr bwMode="auto">
          <a:xfrm>
            <a:off x="4419600" y="25908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子功能4</a:t>
            </a:r>
            <a:endParaRPr kumimoji="1" lang="zh-CN" altLang="en-US" sz="2400" b="1">
              <a:latin typeface="Times New Roman" panose="02020603050405020304" pitchFamily="18" charset="0"/>
            </a:endParaRPr>
          </a:p>
        </p:txBody>
      </p:sp>
      <p:sp>
        <p:nvSpPr>
          <p:cNvPr id="218124" name="Text Box 12"/>
          <p:cNvSpPr txBox="1">
            <a:spLocks noChangeArrowheads="1"/>
          </p:cNvSpPr>
          <p:nvPr/>
        </p:nvSpPr>
        <p:spPr bwMode="auto">
          <a:xfrm>
            <a:off x="5016500" y="4170363"/>
            <a:ext cx="128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手段</a:t>
            </a:r>
            <a:endParaRPr kumimoji="1" lang="zh-CN" altLang="en-US" sz="2400" b="1">
              <a:latin typeface="Times New Roman" panose="02020603050405020304" pitchFamily="18" charset="0"/>
            </a:endParaRPr>
          </a:p>
        </p:txBody>
      </p:sp>
      <p:sp>
        <p:nvSpPr>
          <p:cNvPr id="218125" name="Text Box 13"/>
          <p:cNvSpPr txBox="1">
            <a:spLocks noChangeArrowheads="1"/>
          </p:cNvSpPr>
          <p:nvPr/>
        </p:nvSpPr>
        <p:spPr bwMode="auto">
          <a:xfrm>
            <a:off x="3263900" y="4170363"/>
            <a:ext cx="1163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目的</a:t>
            </a:r>
            <a:endParaRPr kumimoji="1" lang="zh-CN" altLang="en-US" sz="2400" b="1">
              <a:latin typeface="Times New Roman" panose="02020603050405020304" pitchFamily="18" charset="0"/>
            </a:endParaRPr>
          </a:p>
        </p:txBody>
      </p:sp>
      <p:sp>
        <p:nvSpPr>
          <p:cNvPr id="218126" name="Text Box 14"/>
          <p:cNvSpPr txBox="1">
            <a:spLocks noChangeArrowheads="1"/>
          </p:cNvSpPr>
          <p:nvPr/>
        </p:nvSpPr>
        <p:spPr bwMode="auto">
          <a:xfrm>
            <a:off x="3263900" y="2951163"/>
            <a:ext cx="1163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手段</a:t>
            </a:r>
            <a:endParaRPr kumimoji="1" lang="zh-CN" altLang="en-US" sz="2400" b="1">
              <a:latin typeface="Times New Roman" panose="02020603050405020304" pitchFamily="18" charset="0"/>
            </a:endParaRPr>
          </a:p>
        </p:txBody>
      </p:sp>
      <p:sp>
        <p:nvSpPr>
          <p:cNvPr id="218127" name="Text Box 15"/>
          <p:cNvSpPr txBox="1">
            <a:spLocks noChangeArrowheads="1"/>
          </p:cNvSpPr>
          <p:nvPr/>
        </p:nvSpPr>
        <p:spPr bwMode="auto">
          <a:xfrm>
            <a:off x="6019800" y="381000"/>
            <a:ext cx="156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末位功能1</a:t>
            </a:r>
            <a:endParaRPr kumimoji="1" lang="zh-CN" altLang="en-US" sz="2400" b="1">
              <a:latin typeface="Times New Roman" panose="02020603050405020304" pitchFamily="18" charset="0"/>
            </a:endParaRPr>
          </a:p>
        </p:txBody>
      </p:sp>
      <p:sp>
        <p:nvSpPr>
          <p:cNvPr id="218128" name="Text Box 16"/>
          <p:cNvSpPr txBox="1">
            <a:spLocks noChangeArrowheads="1"/>
          </p:cNvSpPr>
          <p:nvPr/>
        </p:nvSpPr>
        <p:spPr bwMode="auto">
          <a:xfrm>
            <a:off x="6019800" y="1066800"/>
            <a:ext cx="156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末位功能2</a:t>
            </a:r>
            <a:endParaRPr kumimoji="1" lang="zh-CN" altLang="en-US" sz="2400" b="1">
              <a:latin typeface="Times New Roman" panose="02020603050405020304" pitchFamily="18" charset="0"/>
            </a:endParaRPr>
          </a:p>
        </p:txBody>
      </p:sp>
      <p:sp>
        <p:nvSpPr>
          <p:cNvPr id="218129" name="Text Box 17"/>
          <p:cNvSpPr txBox="1">
            <a:spLocks noChangeArrowheads="1"/>
          </p:cNvSpPr>
          <p:nvPr/>
        </p:nvSpPr>
        <p:spPr bwMode="auto">
          <a:xfrm>
            <a:off x="6311900" y="5008563"/>
            <a:ext cx="1212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手段</a:t>
            </a:r>
            <a:endParaRPr kumimoji="1" lang="zh-CN" altLang="en-US" sz="2400" b="1">
              <a:latin typeface="Times New Roman" panose="02020603050405020304" pitchFamily="18" charset="0"/>
            </a:endParaRPr>
          </a:p>
        </p:txBody>
      </p:sp>
      <p:sp>
        <p:nvSpPr>
          <p:cNvPr id="218130" name="Text Box 18"/>
          <p:cNvSpPr txBox="1">
            <a:spLocks noChangeArrowheads="1"/>
          </p:cNvSpPr>
          <p:nvPr/>
        </p:nvSpPr>
        <p:spPr bwMode="auto">
          <a:xfrm>
            <a:off x="4940300" y="5008563"/>
            <a:ext cx="1071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目的</a:t>
            </a:r>
            <a:endParaRPr kumimoji="1" lang="zh-CN" altLang="en-US" sz="2400" b="1">
              <a:latin typeface="Times New Roman" panose="02020603050405020304" pitchFamily="18" charset="0"/>
            </a:endParaRPr>
          </a:p>
        </p:txBody>
      </p:sp>
      <p:sp>
        <p:nvSpPr>
          <p:cNvPr id="218131" name="Line 19"/>
          <p:cNvSpPr>
            <a:spLocks noChangeShapeType="1"/>
          </p:cNvSpPr>
          <p:nvPr/>
        </p:nvSpPr>
        <p:spPr bwMode="auto">
          <a:xfrm>
            <a:off x="1587500" y="2189163"/>
            <a:ext cx="0" cy="7620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2" name="Group 25"/>
          <p:cNvGrpSpPr/>
          <p:nvPr/>
        </p:nvGrpSpPr>
        <p:grpSpPr bwMode="auto">
          <a:xfrm>
            <a:off x="2273300" y="1198563"/>
            <a:ext cx="381000" cy="1219200"/>
            <a:chOff x="1680" y="816"/>
            <a:chExt cx="240" cy="768"/>
          </a:xfrm>
        </p:grpSpPr>
        <p:sp>
          <p:nvSpPr>
            <p:cNvPr id="27695" name="Line 21"/>
            <p:cNvSpPr>
              <a:spLocks noChangeShapeType="1"/>
            </p:cNvSpPr>
            <p:nvPr/>
          </p:nvSpPr>
          <p:spPr bwMode="auto">
            <a:xfrm>
              <a:off x="1680" y="1152"/>
              <a:ext cx="144"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6" name="Line 22"/>
            <p:cNvSpPr>
              <a:spLocks noChangeShapeType="1"/>
            </p:cNvSpPr>
            <p:nvPr/>
          </p:nvSpPr>
          <p:spPr bwMode="auto">
            <a:xfrm>
              <a:off x="1824" y="816"/>
              <a:ext cx="0" cy="768"/>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7" name="Line 23"/>
            <p:cNvSpPr>
              <a:spLocks noChangeShapeType="1"/>
            </p:cNvSpPr>
            <p:nvPr/>
          </p:nvSpPr>
          <p:spPr bwMode="auto">
            <a:xfrm>
              <a:off x="1824" y="816"/>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8" name="Line 24"/>
            <p:cNvSpPr>
              <a:spLocks noChangeShapeType="1"/>
            </p:cNvSpPr>
            <p:nvPr/>
          </p:nvSpPr>
          <p:spPr bwMode="auto">
            <a:xfrm>
              <a:off x="1824" y="1584"/>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3" name="Group 26"/>
          <p:cNvGrpSpPr/>
          <p:nvPr/>
        </p:nvGrpSpPr>
        <p:grpSpPr bwMode="auto">
          <a:xfrm>
            <a:off x="3994150" y="893763"/>
            <a:ext cx="304800" cy="685800"/>
            <a:chOff x="1680" y="816"/>
            <a:chExt cx="240" cy="768"/>
          </a:xfrm>
        </p:grpSpPr>
        <p:sp>
          <p:nvSpPr>
            <p:cNvPr id="27691" name="Line 27"/>
            <p:cNvSpPr>
              <a:spLocks noChangeShapeType="1"/>
            </p:cNvSpPr>
            <p:nvPr/>
          </p:nvSpPr>
          <p:spPr bwMode="auto">
            <a:xfrm>
              <a:off x="1680" y="1152"/>
              <a:ext cx="144"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2" name="Line 28"/>
            <p:cNvSpPr>
              <a:spLocks noChangeShapeType="1"/>
            </p:cNvSpPr>
            <p:nvPr/>
          </p:nvSpPr>
          <p:spPr bwMode="auto">
            <a:xfrm>
              <a:off x="1824" y="816"/>
              <a:ext cx="0" cy="768"/>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3" name="Line 29"/>
            <p:cNvSpPr>
              <a:spLocks noChangeShapeType="1"/>
            </p:cNvSpPr>
            <p:nvPr/>
          </p:nvSpPr>
          <p:spPr bwMode="auto">
            <a:xfrm>
              <a:off x="1824" y="816"/>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4" name="Line 30"/>
            <p:cNvSpPr>
              <a:spLocks noChangeShapeType="1"/>
            </p:cNvSpPr>
            <p:nvPr/>
          </p:nvSpPr>
          <p:spPr bwMode="auto">
            <a:xfrm>
              <a:off x="1824" y="1584"/>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 name="Group 31"/>
          <p:cNvGrpSpPr/>
          <p:nvPr/>
        </p:nvGrpSpPr>
        <p:grpSpPr bwMode="auto">
          <a:xfrm>
            <a:off x="3994150" y="2112963"/>
            <a:ext cx="304800" cy="685800"/>
            <a:chOff x="1680" y="816"/>
            <a:chExt cx="240" cy="768"/>
          </a:xfrm>
        </p:grpSpPr>
        <p:sp>
          <p:nvSpPr>
            <p:cNvPr id="27687" name="Line 32"/>
            <p:cNvSpPr>
              <a:spLocks noChangeShapeType="1"/>
            </p:cNvSpPr>
            <p:nvPr/>
          </p:nvSpPr>
          <p:spPr bwMode="auto">
            <a:xfrm>
              <a:off x="1680" y="1152"/>
              <a:ext cx="144"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88" name="Line 33"/>
            <p:cNvSpPr>
              <a:spLocks noChangeShapeType="1"/>
            </p:cNvSpPr>
            <p:nvPr/>
          </p:nvSpPr>
          <p:spPr bwMode="auto">
            <a:xfrm>
              <a:off x="1824" y="816"/>
              <a:ext cx="0" cy="768"/>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89" name="Line 34"/>
            <p:cNvSpPr>
              <a:spLocks noChangeShapeType="1"/>
            </p:cNvSpPr>
            <p:nvPr/>
          </p:nvSpPr>
          <p:spPr bwMode="auto">
            <a:xfrm>
              <a:off x="1824" y="816"/>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0" name="Line 35"/>
            <p:cNvSpPr>
              <a:spLocks noChangeShapeType="1"/>
            </p:cNvSpPr>
            <p:nvPr/>
          </p:nvSpPr>
          <p:spPr bwMode="auto">
            <a:xfrm>
              <a:off x="1824" y="1584"/>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5" name="Group 36"/>
          <p:cNvGrpSpPr/>
          <p:nvPr/>
        </p:nvGrpSpPr>
        <p:grpSpPr bwMode="auto">
          <a:xfrm>
            <a:off x="5594350" y="588963"/>
            <a:ext cx="304800" cy="685800"/>
            <a:chOff x="1680" y="816"/>
            <a:chExt cx="240" cy="768"/>
          </a:xfrm>
        </p:grpSpPr>
        <p:sp>
          <p:nvSpPr>
            <p:cNvPr id="27683" name="Line 37"/>
            <p:cNvSpPr>
              <a:spLocks noChangeShapeType="1"/>
            </p:cNvSpPr>
            <p:nvPr/>
          </p:nvSpPr>
          <p:spPr bwMode="auto">
            <a:xfrm>
              <a:off x="1680" y="1152"/>
              <a:ext cx="144"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84" name="Line 38"/>
            <p:cNvSpPr>
              <a:spLocks noChangeShapeType="1"/>
            </p:cNvSpPr>
            <p:nvPr/>
          </p:nvSpPr>
          <p:spPr bwMode="auto">
            <a:xfrm>
              <a:off x="1824" y="816"/>
              <a:ext cx="0" cy="768"/>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85" name="Line 39"/>
            <p:cNvSpPr>
              <a:spLocks noChangeShapeType="1"/>
            </p:cNvSpPr>
            <p:nvPr/>
          </p:nvSpPr>
          <p:spPr bwMode="auto">
            <a:xfrm>
              <a:off x="1824" y="816"/>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86" name="Line 40"/>
            <p:cNvSpPr>
              <a:spLocks noChangeShapeType="1"/>
            </p:cNvSpPr>
            <p:nvPr/>
          </p:nvSpPr>
          <p:spPr bwMode="auto">
            <a:xfrm>
              <a:off x="1824" y="1584"/>
              <a:ext cx="9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218153" name="Line 41"/>
          <p:cNvSpPr>
            <a:spLocks noChangeShapeType="1"/>
          </p:cNvSpPr>
          <p:nvPr/>
        </p:nvSpPr>
        <p:spPr bwMode="auto">
          <a:xfrm>
            <a:off x="3644900" y="3865563"/>
            <a:ext cx="0" cy="3048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8155" name="Line 43"/>
          <p:cNvSpPr>
            <a:spLocks noChangeShapeType="1"/>
          </p:cNvSpPr>
          <p:nvPr/>
        </p:nvSpPr>
        <p:spPr bwMode="auto">
          <a:xfrm>
            <a:off x="5321300" y="4627563"/>
            <a:ext cx="0" cy="3810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8156" name="Line 44"/>
          <p:cNvSpPr>
            <a:spLocks noChangeShapeType="1"/>
          </p:cNvSpPr>
          <p:nvPr/>
        </p:nvSpPr>
        <p:spPr bwMode="auto">
          <a:xfrm>
            <a:off x="5778500" y="5237163"/>
            <a:ext cx="533400" cy="158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8157" name="Line 45"/>
          <p:cNvSpPr>
            <a:spLocks noChangeShapeType="1"/>
          </p:cNvSpPr>
          <p:nvPr/>
        </p:nvSpPr>
        <p:spPr bwMode="auto">
          <a:xfrm>
            <a:off x="6769100" y="1579563"/>
            <a:ext cx="0" cy="33528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8158" name="Line 46"/>
          <p:cNvSpPr>
            <a:spLocks noChangeShapeType="1"/>
          </p:cNvSpPr>
          <p:nvPr/>
        </p:nvSpPr>
        <p:spPr bwMode="auto">
          <a:xfrm>
            <a:off x="3568700" y="2646363"/>
            <a:ext cx="0" cy="3810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8159" name="Line 47"/>
          <p:cNvSpPr>
            <a:spLocks noChangeShapeType="1"/>
          </p:cNvSpPr>
          <p:nvPr/>
        </p:nvSpPr>
        <p:spPr bwMode="auto">
          <a:xfrm>
            <a:off x="5321300" y="3027363"/>
            <a:ext cx="0" cy="10668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8161" name="AutoShape 49"/>
          <p:cNvSpPr/>
          <p:nvPr/>
        </p:nvSpPr>
        <p:spPr bwMode="auto">
          <a:xfrm>
            <a:off x="7575550" y="588963"/>
            <a:ext cx="76200" cy="762000"/>
          </a:xfrm>
          <a:prstGeom prst="rightBrace">
            <a:avLst>
              <a:gd name="adj1" fmla="val 83333"/>
              <a:gd name="adj2" fmla="val 50000"/>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18162" name="Text Box 50"/>
          <p:cNvSpPr txBox="1">
            <a:spLocks noChangeArrowheads="1"/>
          </p:cNvSpPr>
          <p:nvPr/>
        </p:nvSpPr>
        <p:spPr bwMode="auto">
          <a:xfrm>
            <a:off x="7740650" y="533400"/>
            <a:ext cx="9302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并列关系</a:t>
            </a:r>
            <a:endParaRPr kumimoji="1" lang="zh-CN" altLang="en-US" sz="2400" b="1">
              <a:latin typeface="Times New Roman" panose="02020603050405020304" pitchFamily="18" charset="0"/>
            </a:endParaRPr>
          </a:p>
        </p:txBody>
      </p:sp>
      <p:sp>
        <p:nvSpPr>
          <p:cNvPr id="218163" name="Text Box 51"/>
          <p:cNvSpPr txBox="1">
            <a:spLocks noChangeArrowheads="1"/>
          </p:cNvSpPr>
          <p:nvPr/>
        </p:nvSpPr>
        <p:spPr bwMode="auto">
          <a:xfrm>
            <a:off x="2916238" y="5589588"/>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ea typeface="黑体" panose="02010609060101010101" pitchFamily="49" charset="-122"/>
              </a:rPr>
              <a:t>功 能 系 统 图</a:t>
            </a:r>
            <a:endParaRPr kumimoji="1" lang="zh-CN" altLang="en-US" sz="2400" b="1">
              <a:latin typeface="Times New Roman" panose="02020603050405020304" pitchFamily="18" charset="0"/>
              <a:ea typeface="黑体" panose="02010609060101010101" pitchFamily="49" charset="-122"/>
            </a:endParaRPr>
          </a:p>
        </p:txBody>
      </p:sp>
      <p:sp>
        <p:nvSpPr>
          <p:cNvPr id="218164" name="Line 52"/>
          <p:cNvSpPr>
            <a:spLocks noChangeShapeType="1"/>
          </p:cNvSpPr>
          <p:nvPr/>
        </p:nvSpPr>
        <p:spPr bwMode="auto">
          <a:xfrm>
            <a:off x="1905000" y="3124200"/>
            <a:ext cx="12192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18165" name="Line 53"/>
          <p:cNvSpPr>
            <a:spLocks noChangeShapeType="1"/>
          </p:cNvSpPr>
          <p:nvPr/>
        </p:nvSpPr>
        <p:spPr bwMode="auto">
          <a:xfrm>
            <a:off x="4038600" y="4419600"/>
            <a:ext cx="91440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8114">
                                            <p:txEl>
                                              <p:pRg st="0" end="0"/>
                                            </p:txEl>
                                          </p:spTgt>
                                        </p:tgtEl>
                                        <p:attrNameLst>
                                          <p:attrName>style.visibility</p:attrName>
                                        </p:attrNameLst>
                                      </p:cBhvr>
                                      <p:to>
                                        <p:strVal val="visible"/>
                                      </p:to>
                                    </p:set>
                                    <p:animEffect transition="in" filter="dissolve">
                                      <p:cBhvr>
                                        <p:cTn id="7" dur="500"/>
                                        <p:tgtEl>
                                          <p:spTgt spid="2181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8118">
                                            <p:txEl>
                                              <p:pRg st="0" end="0"/>
                                            </p:txEl>
                                          </p:spTgt>
                                        </p:tgtEl>
                                        <p:attrNameLst>
                                          <p:attrName>style.visibility</p:attrName>
                                        </p:attrNameLst>
                                      </p:cBhvr>
                                      <p:to>
                                        <p:strVal val="visible"/>
                                      </p:to>
                                    </p:set>
                                    <p:animEffect transition="in" filter="dissolve">
                                      <p:cBhvr>
                                        <p:cTn id="17" dur="500"/>
                                        <p:tgtEl>
                                          <p:spTgt spid="2181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8119">
                                            <p:txEl>
                                              <p:pRg st="0" end="0"/>
                                            </p:txEl>
                                          </p:spTgt>
                                        </p:tgtEl>
                                        <p:attrNameLst>
                                          <p:attrName>style.visibility</p:attrName>
                                        </p:attrNameLst>
                                      </p:cBhvr>
                                      <p:to>
                                        <p:strVal val="visible"/>
                                      </p:to>
                                    </p:set>
                                    <p:animEffect transition="in" filter="dissolve">
                                      <p:cBhvr>
                                        <p:cTn id="22" dur="500"/>
                                        <p:tgtEl>
                                          <p:spTgt spid="21811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18158"/>
                                        </p:tgtEl>
                                        <p:attrNameLst>
                                          <p:attrName>style.visibility</p:attrName>
                                        </p:attrNameLst>
                                      </p:cBhvr>
                                      <p:to>
                                        <p:strVal val="visible"/>
                                      </p:to>
                                    </p:set>
                                    <p:animEffect transition="in" filter="dissolve">
                                      <p:cBhvr>
                                        <p:cTn id="27" dur="500"/>
                                        <p:tgtEl>
                                          <p:spTgt spid="21815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8126">
                                            <p:txEl>
                                              <p:pRg st="0" end="0"/>
                                            </p:txEl>
                                          </p:spTgt>
                                        </p:tgtEl>
                                        <p:attrNameLst>
                                          <p:attrName>style.visibility</p:attrName>
                                        </p:attrNameLst>
                                      </p:cBhvr>
                                      <p:to>
                                        <p:strVal val="visible"/>
                                      </p:to>
                                    </p:set>
                                    <p:animEffect transition="in" filter="dissolve">
                                      <p:cBhvr>
                                        <p:cTn id="32" dur="500"/>
                                        <p:tgtEl>
                                          <p:spTgt spid="21812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18131"/>
                                        </p:tgtEl>
                                        <p:attrNameLst>
                                          <p:attrName>style.visibility</p:attrName>
                                        </p:attrNameLst>
                                      </p:cBhvr>
                                      <p:to>
                                        <p:strVal val="visible"/>
                                      </p:to>
                                    </p:set>
                                    <p:animEffect transition="in" filter="dissolve">
                                      <p:cBhvr>
                                        <p:cTn id="37" dur="500"/>
                                        <p:tgtEl>
                                          <p:spTgt spid="21813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18164"/>
                                        </p:tgtEl>
                                        <p:attrNameLst>
                                          <p:attrName>style.visibility</p:attrName>
                                        </p:attrNameLst>
                                      </p:cBhvr>
                                      <p:to>
                                        <p:strVal val="visible"/>
                                      </p:to>
                                    </p:set>
                                    <p:animEffect transition="in" filter="dissolve">
                                      <p:cBhvr>
                                        <p:cTn id="42" dur="500"/>
                                        <p:tgtEl>
                                          <p:spTgt spid="21816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8115">
                                            <p:txEl>
                                              <p:pRg st="0" end="0"/>
                                            </p:txEl>
                                          </p:spTgt>
                                        </p:tgtEl>
                                        <p:attrNameLst>
                                          <p:attrName>style.visibility</p:attrName>
                                        </p:attrNameLst>
                                      </p:cBhvr>
                                      <p:to>
                                        <p:strVal val="visible"/>
                                      </p:to>
                                    </p:set>
                                    <p:animEffect transition="in" filter="dissolve">
                                      <p:cBhvr>
                                        <p:cTn id="47" dur="500"/>
                                        <p:tgtEl>
                                          <p:spTgt spid="21811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8116">
                                            <p:txEl>
                                              <p:pRg st="0" end="0"/>
                                            </p:txEl>
                                          </p:spTgt>
                                        </p:tgtEl>
                                        <p:attrNameLst>
                                          <p:attrName>style.visibility</p:attrName>
                                        </p:attrNameLst>
                                      </p:cBhvr>
                                      <p:to>
                                        <p:strVal val="visible"/>
                                      </p:to>
                                    </p:set>
                                    <p:animEffect transition="in" filter="dissolve">
                                      <p:cBhvr>
                                        <p:cTn id="52" dur="500"/>
                                        <p:tgtEl>
                                          <p:spTgt spid="21811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18117">
                                            <p:txEl>
                                              <p:pRg st="0" end="0"/>
                                            </p:txEl>
                                          </p:spTgt>
                                        </p:tgtEl>
                                        <p:attrNameLst>
                                          <p:attrName>style.visibility</p:attrName>
                                        </p:attrNameLst>
                                      </p:cBhvr>
                                      <p:to>
                                        <p:strVal val="visible"/>
                                      </p:to>
                                    </p:set>
                                    <p:animEffect transition="in" filter="dissolve">
                                      <p:cBhvr>
                                        <p:cTn id="57" dur="500"/>
                                        <p:tgtEl>
                                          <p:spTgt spid="218117">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dissolve">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18120">
                                            <p:txEl>
                                              <p:pRg st="0" end="0"/>
                                            </p:txEl>
                                          </p:spTgt>
                                        </p:tgtEl>
                                        <p:attrNameLst>
                                          <p:attrName>style.visibility</p:attrName>
                                        </p:attrNameLst>
                                      </p:cBhvr>
                                      <p:to>
                                        <p:strVal val="visible"/>
                                      </p:to>
                                    </p:set>
                                    <p:animEffect transition="in" filter="dissolve">
                                      <p:cBhvr>
                                        <p:cTn id="67" dur="500"/>
                                        <p:tgtEl>
                                          <p:spTgt spid="218120">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18121">
                                            <p:txEl>
                                              <p:pRg st="0" end="0"/>
                                            </p:txEl>
                                          </p:spTgt>
                                        </p:tgtEl>
                                        <p:attrNameLst>
                                          <p:attrName>style.visibility</p:attrName>
                                        </p:attrNameLst>
                                      </p:cBhvr>
                                      <p:to>
                                        <p:strVal val="visible"/>
                                      </p:to>
                                    </p:set>
                                    <p:animEffect transition="in" filter="dissolve">
                                      <p:cBhvr>
                                        <p:cTn id="72" dur="500"/>
                                        <p:tgtEl>
                                          <p:spTgt spid="218121">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dissolve">
                                      <p:cBhvr>
                                        <p:cTn id="77" dur="5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218122">
                                            <p:txEl>
                                              <p:pRg st="0" end="0"/>
                                            </p:txEl>
                                          </p:spTgt>
                                        </p:tgtEl>
                                        <p:attrNameLst>
                                          <p:attrName>style.visibility</p:attrName>
                                        </p:attrNameLst>
                                      </p:cBhvr>
                                      <p:to>
                                        <p:strVal val="visible"/>
                                      </p:to>
                                    </p:set>
                                    <p:animEffect transition="in" filter="dissolve">
                                      <p:cBhvr>
                                        <p:cTn id="82" dur="500"/>
                                        <p:tgtEl>
                                          <p:spTgt spid="218122">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218123">
                                            <p:txEl>
                                              <p:pRg st="0" end="0"/>
                                            </p:txEl>
                                          </p:spTgt>
                                        </p:tgtEl>
                                        <p:attrNameLst>
                                          <p:attrName>style.visibility</p:attrName>
                                        </p:attrNameLst>
                                      </p:cBhvr>
                                      <p:to>
                                        <p:strVal val="visible"/>
                                      </p:to>
                                    </p:set>
                                    <p:animEffect transition="in" filter="dissolve">
                                      <p:cBhvr>
                                        <p:cTn id="87" dur="500"/>
                                        <p:tgtEl>
                                          <p:spTgt spid="218123">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218159"/>
                                        </p:tgtEl>
                                        <p:attrNameLst>
                                          <p:attrName>style.visibility</p:attrName>
                                        </p:attrNameLst>
                                      </p:cBhvr>
                                      <p:to>
                                        <p:strVal val="visible"/>
                                      </p:to>
                                    </p:set>
                                    <p:animEffect transition="in" filter="dissolve">
                                      <p:cBhvr>
                                        <p:cTn id="92" dur="500"/>
                                        <p:tgtEl>
                                          <p:spTgt spid="218159"/>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218124">
                                            <p:txEl>
                                              <p:pRg st="0" end="0"/>
                                            </p:txEl>
                                          </p:spTgt>
                                        </p:tgtEl>
                                        <p:attrNameLst>
                                          <p:attrName>style.visibility</p:attrName>
                                        </p:attrNameLst>
                                      </p:cBhvr>
                                      <p:to>
                                        <p:strVal val="visible"/>
                                      </p:to>
                                    </p:set>
                                    <p:animEffect transition="in" filter="dissolve">
                                      <p:cBhvr>
                                        <p:cTn id="97" dur="500"/>
                                        <p:tgtEl>
                                          <p:spTgt spid="218124">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218165"/>
                                        </p:tgtEl>
                                        <p:attrNameLst>
                                          <p:attrName>style.visibility</p:attrName>
                                        </p:attrNameLst>
                                      </p:cBhvr>
                                      <p:to>
                                        <p:strVal val="visible"/>
                                      </p:to>
                                    </p:set>
                                    <p:animEffect transition="in" filter="dissolve">
                                      <p:cBhvr>
                                        <p:cTn id="102" dur="500"/>
                                        <p:tgtEl>
                                          <p:spTgt spid="218165"/>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nodeType="clickEffect">
                                  <p:stCondLst>
                                    <p:cond delay="0"/>
                                  </p:stCondLst>
                                  <p:childTnLst>
                                    <p:set>
                                      <p:cBhvr>
                                        <p:cTn id="106" dur="1" fill="hold">
                                          <p:stCondLst>
                                            <p:cond delay="0"/>
                                          </p:stCondLst>
                                        </p:cTn>
                                        <p:tgtEl>
                                          <p:spTgt spid="218153"/>
                                        </p:tgtEl>
                                        <p:attrNameLst>
                                          <p:attrName>style.visibility</p:attrName>
                                        </p:attrNameLst>
                                      </p:cBhvr>
                                      <p:to>
                                        <p:strVal val="visible"/>
                                      </p:to>
                                    </p:set>
                                    <p:animEffect transition="in" filter="dissolve">
                                      <p:cBhvr>
                                        <p:cTn id="107" dur="500"/>
                                        <p:tgtEl>
                                          <p:spTgt spid="218153"/>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218125">
                                            <p:txEl>
                                              <p:pRg st="0" end="0"/>
                                            </p:txEl>
                                          </p:spTgt>
                                        </p:tgtEl>
                                        <p:attrNameLst>
                                          <p:attrName>style.visibility</p:attrName>
                                        </p:attrNameLst>
                                      </p:cBhvr>
                                      <p:to>
                                        <p:strVal val="visible"/>
                                      </p:to>
                                    </p:set>
                                    <p:animEffect transition="in" filter="dissolve">
                                      <p:cBhvr>
                                        <p:cTn id="112" dur="500"/>
                                        <p:tgtEl>
                                          <p:spTgt spid="218125">
                                            <p:txEl>
                                              <p:pRg st="0" end="0"/>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nodeType="clickEffect">
                                  <p:stCondLst>
                                    <p:cond delay="0"/>
                                  </p:stCondLst>
                                  <p:childTnLst>
                                    <p:set>
                                      <p:cBhvr>
                                        <p:cTn id="116" dur="1" fill="hold">
                                          <p:stCondLst>
                                            <p:cond delay="0"/>
                                          </p:stCondLst>
                                        </p:cTn>
                                        <p:tgtEl>
                                          <p:spTgt spid="5"/>
                                        </p:tgtEl>
                                        <p:attrNameLst>
                                          <p:attrName>style.visibility</p:attrName>
                                        </p:attrNameLst>
                                      </p:cBhvr>
                                      <p:to>
                                        <p:strVal val="visible"/>
                                      </p:to>
                                    </p:set>
                                    <p:animEffect transition="in" filter="dissolve">
                                      <p:cBhvr>
                                        <p:cTn id="117" dur="500"/>
                                        <p:tgtEl>
                                          <p:spTgt spid="5"/>
                                        </p:tgtEl>
                                      </p:cBhvr>
                                    </p:animEffect>
                                  </p:childTnLst>
                                </p:cTn>
                              </p:par>
                            </p:childTnLst>
                          </p:cTn>
                        </p:par>
                      </p:childTnLst>
                    </p:cTn>
                  </p:par>
                  <p:par>
                    <p:cTn id="118" fill="hold">
                      <p:stCondLst>
                        <p:cond delay="indefinite"/>
                      </p:stCondLst>
                      <p:childTnLst>
                        <p:par>
                          <p:cTn id="119" fill="hold">
                            <p:stCondLst>
                              <p:cond delay="0"/>
                            </p:stCondLst>
                            <p:childTnLst>
                              <p:par>
                                <p:cTn id="120" presetID="9" presetClass="entr" presetSubtype="0" fill="hold" grpId="0" nodeType="clickEffect">
                                  <p:stCondLst>
                                    <p:cond delay="0"/>
                                  </p:stCondLst>
                                  <p:childTnLst>
                                    <p:set>
                                      <p:cBhvr>
                                        <p:cTn id="121" dur="1" fill="hold">
                                          <p:stCondLst>
                                            <p:cond delay="0"/>
                                          </p:stCondLst>
                                        </p:cTn>
                                        <p:tgtEl>
                                          <p:spTgt spid="218127">
                                            <p:txEl>
                                              <p:pRg st="0" end="0"/>
                                            </p:txEl>
                                          </p:spTgt>
                                        </p:tgtEl>
                                        <p:attrNameLst>
                                          <p:attrName>style.visibility</p:attrName>
                                        </p:attrNameLst>
                                      </p:cBhvr>
                                      <p:to>
                                        <p:strVal val="visible"/>
                                      </p:to>
                                    </p:set>
                                    <p:animEffect transition="in" filter="dissolve">
                                      <p:cBhvr>
                                        <p:cTn id="122" dur="500"/>
                                        <p:tgtEl>
                                          <p:spTgt spid="218127">
                                            <p:txEl>
                                              <p:pRg st="0" end="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218128">
                                            <p:txEl>
                                              <p:pRg st="0" end="0"/>
                                            </p:txEl>
                                          </p:spTgt>
                                        </p:tgtEl>
                                        <p:attrNameLst>
                                          <p:attrName>style.visibility</p:attrName>
                                        </p:attrNameLst>
                                      </p:cBhvr>
                                      <p:to>
                                        <p:strVal val="visible"/>
                                      </p:to>
                                    </p:set>
                                    <p:animEffect transition="in" filter="dissolve">
                                      <p:cBhvr>
                                        <p:cTn id="127" dur="500"/>
                                        <p:tgtEl>
                                          <p:spTgt spid="218128">
                                            <p:txEl>
                                              <p:pRg st="0" end="0"/>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218161"/>
                                        </p:tgtEl>
                                        <p:attrNameLst>
                                          <p:attrName>style.visibility</p:attrName>
                                        </p:attrNameLst>
                                      </p:cBhvr>
                                      <p:to>
                                        <p:strVal val="visible"/>
                                      </p:to>
                                    </p:set>
                                    <p:animEffect transition="in" filter="dissolve">
                                      <p:cBhvr>
                                        <p:cTn id="132" dur="500"/>
                                        <p:tgtEl>
                                          <p:spTgt spid="218161"/>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218162">
                                            <p:txEl>
                                              <p:pRg st="0" end="0"/>
                                            </p:txEl>
                                          </p:spTgt>
                                        </p:tgtEl>
                                        <p:attrNameLst>
                                          <p:attrName>style.visibility</p:attrName>
                                        </p:attrNameLst>
                                      </p:cBhvr>
                                      <p:to>
                                        <p:strVal val="visible"/>
                                      </p:to>
                                    </p:set>
                                    <p:animEffect transition="in" filter="dissolve">
                                      <p:cBhvr>
                                        <p:cTn id="137" dur="500"/>
                                        <p:tgtEl>
                                          <p:spTgt spid="218162">
                                            <p:txEl>
                                              <p:pRg st="0" end="0"/>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nodeType="clickEffect">
                                  <p:stCondLst>
                                    <p:cond delay="0"/>
                                  </p:stCondLst>
                                  <p:childTnLst>
                                    <p:set>
                                      <p:cBhvr>
                                        <p:cTn id="141" dur="1" fill="hold">
                                          <p:stCondLst>
                                            <p:cond delay="0"/>
                                          </p:stCondLst>
                                        </p:cTn>
                                        <p:tgtEl>
                                          <p:spTgt spid="218157"/>
                                        </p:tgtEl>
                                        <p:attrNameLst>
                                          <p:attrName>style.visibility</p:attrName>
                                        </p:attrNameLst>
                                      </p:cBhvr>
                                      <p:to>
                                        <p:strVal val="visible"/>
                                      </p:to>
                                    </p:set>
                                    <p:animEffect transition="in" filter="dissolve">
                                      <p:cBhvr>
                                        <p:cTn id="142" dur="500"/>
                                        <p:tgtEl>
                                          <p:spTgt spid="218157"/>
                                        </p:tgtEl>
                                      </p:cBhvr>
                                    </p:animEffect>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218129">
                                            <p:txEl>
                                              <p:pRg st="0" end="0"/>
                                            </p:txEl>
                                          </p:spTgt>
                                        </p:tgtEl>
                                        <p:attrNameLst>
                                          <p:attrName>style.visibility</p:attrName>
                                        </p:attrNameLst>
                                      </p:cBhvr>
                                      <p:to>
                                        <p:strVal val="visible"/>
                                      </p:to>
                                    </p:set>
                                    <p:animEffect transition="in" filter="dissolve">
                                      <p:cBhvr>
                                        <p:cTn id="147" dur="500"/>
                                        <p:tgtEl>
                                          <p:spTgt spid="218129">
                                            <p:txEl>
                                              <p:pRg st="0" end="0"/>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ntr" presetSubtype="0" fill="hold" nodeType="clickEffect">
                                  <p:stCondLst>
                                    <p:cond delay="0"/>
                                  </p:stCondLst>
                                  <p:childTnLst>
                                    <p:set>
                                      <p:cBhvr>
                                        <p:cTn id="151" dur="1" fill="hold">
                                          <p:stCondLst>
                                            <p:cond delay="0"/>
                                          </p:stCondLst>
                                        </p:cTn>
                                        <p:tgtEl>
                                          <p:spTgt spid="218156"/>
                                        </p:tgtEl>
                                        <p:attrNameLst>
                                          <p:attrName>style.visibility</p:attrName>
                                        </p:attrNameLst>
                                      </p:cBhvr>
                                      <p:to>
                                        <p:strVal val="visible"/>
                                      </p:to>
                                    </p:set>
                                    <p:animEffect transition="in" filter="dissolve">
                                      <p:cBhvr>
                                        <p:cTn id="152" dur="500"/>
                                        <p:tgtEl>
                                          <p:spTgt spid="218156"/>
                                        </p:tgtEl>
                                      </p:cBhvr>
                                    </p:animEffect>
                                  </p:childTnLst>
                                </p:cTn>
                              </p:par>
                            </p:childTnLst>
                          </p:cTn>
                        </p:par>
                      </p:childTnLst>
                    </p:cTn>
                  </p:par>
                  <p:par>
                    <p:cTn id="153" fill="hold">
                      <p:stCondLst>
                        <p:cond delay="indefinite"/>
                      </p:stCondLst>
                      <p:childTnLst>
                        <p:par>
                          <p:cTn id="154" fill="hold">
                            <p:stCondLst>
                              <p:cond delay="0"/>
                            </p:stCondLst>
                            <p:childTnLst>
                              <p:par>
                                <p:cTn id="155" presetID="9" presetClass="entr" presetSubtype="0" fill="hold" nodeType="clickEffect">
                                  <p:stCondLst>
                                    <p:cond delay="0"/>
                                  </p:stCondLst>
                                  <p:childTnLst>
                                    <p:set>
                                      <p:cBhvr>
                                        <p:cTn id="156" dur="1" fill="hold">
                                          <p:stCondLst>
                                            <p:cond delay="0"/>
                                          </p:stCondLst>
                                        </p:cTn>
                                        <p:tgtEl>
                                          <p:spTgt spid="218155"/>
                                        </p:tgtEl>
                                        <p:attrNameLst>
                                          <p:attrName>style.visibility</p:attrName>
                                        </p:attrNameLst>
                                      </p:cBhvr>
                                      <p:to>
                                        <p:strVal val="visible"/>
                                      </p:to>
                                    </p:set>
                                    <p:animEffect transition="in" filter="dissolve">
                                      <p:cBhvr>
                                        <p:cTn id="157" dur="500"/>
                                        <p:tgtEl>
                                          <p:spTgt spid="218155"/>
                                        </p:tgtEl>
                                      </p:cBhvr>
                                    </p:animEffect>
                                  </p:childTnLst>
                                </p:cTn>
                              </p:par>
                            </p:childTnLst>
                          </p:cTn>
                        </p:par>
                      </p:childTnLst>
                    </p:cTn>
                  </p:par>
                  <p:par>
                    <p:cTn id="158" fill="hold">
                      <p:stCondLst>
                        <p:cond delay="indefinite"/>
                      </p:stCondLst>
                      <p:childTnLst>
                        <p:par>
                          <p:cTn id="159" fill="hold">
                            <p:stCondLst>
                              <p:cond delay="0"/>
                            </p:stCondLst>
                            <p:childTnLst>
                              <p:par>
                                <p:cTn id="160" presetID="9" presetClass="entr" presetSubtype="0" fill="hold" grpId="0" nodeType="clickEffect">
                                  <p:stCondLst>
                                    <p:cond delay="0"/>
                                  </p:stCondLst>
                                  <p:childTnLst>
                                    <p:set>
                                      <p:cBhvr>
                                        <p:cTn id="161" dur="1" fill="hold">
                                          <p:stCondLst>
                                            <p:cond delay="0"/>
                                          </p:stCondLst>
                                        </p:cTn>
                                        <p:tgtEl>
                                          <p:spTgt spid="218130">
                                            <p:txEl>
                                              <p:pRg st="0" end="0"/>
                                            </p:txEl>
                                          </p:spTgt>
                                        </p:tgtEl>
                                        <p:attrNameLst>
                                          <p:attrName>style.visibility</p:attrName>
                                        </p:attrNameLst>
                                      </p:cBhvr>
                                      <p:to>
                                        <p:strVal val="visible"/>
                                      </p:to>
                                    </p:set>
                                    <p:animEffect transition="in" filter="dissolve">
                                      <p:cBhvr>
                                        <p:cTn id="162" dur="500"/>
                                        <p:tgtEl>
                                          <p:spTgt spid="218130">
                                            <p:txEl>
                                              <p:pRg st="0" end="0"/>
                                            </p:txEl>
                                          </p:spTgt>
                                        </p:tgtEl>
                                      </p:cBhvr>
                                    </p:animEffect>
                                  </p:childTnLst>
                                </p:cTn>
                              </p:par>
                            </p:childTnLst>
                          </p:cTn>
                        </p:par>
                      </p:childTnLst>
                    </p:cTn>
                  </p:par>
                  <p:par>
                    <p:cTn id="163" fill="hold">
                      <p:stCondLst>
                        <p:cond delay="indefinite"/>
                      </p:stCondLst>
                      <p:childTnLst>
                        <p:par>
                          <p:cTn id="164" fill="hold">
                            <p:stCondLst>
                              <p:cond delay="0"/>
                            </p:stCondLst>
                            <p:childTnLst>
                              <p:par>
                                <p:cTn id="165" presetID="9" presetClass="entr" presetSubtype="0" fill="hold" grpId="0" nodeType="clickEffect">
                                  <p:stCondLst>
                                    <p:cond delay="0"/>
                                  </p:stCondLst>
                                  <p:childTnLst>
                                    <p:set>
                                      <p:cBhvr>
                                        <p:cTn id="166" dur="1" fill="hold">
                                          <p:stCondLst>
                                            <p:cond delay="0"/>
                                          </p:stCondLst>
                                        </p:cTn>
                                        <p:tgtEl>
                                          <p:spTgt spid="218163">
                                            <p:txEl>
                                              <p:pRg st="0" end="0"/>
                                            </p:txEl>
                                          </p:spTgt>
                                        </p:tgtEl>
                                        <p:attrNameLst>
                                          <p:attrName>style.visibility</p:attrName>
                                        </p:attrNameLst>
                                      </p:cBhvr>
                                      <p:to>
                                        <p:strVal val="visible"/>
                                      </p:to>
                                    </p:set>
                                    <p:animEffect transition="in" filter="dissolve">
                                      <p:cBhvr>
                                        <p:cTn id="167" dur="500"/>
                                        <p:tgtEl>
                                          <p:spTgt spid="2181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autoUpdateAnimBg="0" build="p"/>
      <p:bldP spid="218115" grpId="0" autoUpdateAnimBg="0" build="p"/>
      <p:bldP spid="218116" grpId="0" autoUpdateAnimBg="0" build="p"/>
      <p:bldP spid="218117" grpId="0" autoUpdateAnimBg="0" build="p"/>
      <p:bldP spid="218118" grpId="0" autoUpdateAnimBg="0" build="p"/>
      <p:bldP spid="218119" grpId="0" autoUpdateAnimBg="0" build="p"/>
      <p:bldP spid="218120" grpId="0" autoUpdateAnimBg="0" build="p"/>
      <p:bldP spid="218121" grpId="0" autoUpdateAnimBg="0" build="p"/>
      <p:bldP spid="218122" grpId="0" autoUpdateAnimBg="0" build="p"/>
      <p:bldP spid="218123" grpId="0" autoUpdateAnimBg="0" build="p"/>
      <p:bldP spid="218124" grpId="0" autoUpdateAnimBg="0" build="p"/>
      <p:bldP spid="218125" grpId="0" autoUpdateAnimBg="0" build="p"/>
      <p:bldP spid="218126" grpId="0" autoUpdateAnimBg="0" build="p"/>
      <p:bldP spid="218127" grpId="0" autoUpdateAnimBg="0" build="p"/>
      <p:bldP spid="218128" grpId="0" autoUpdateAnimBg="0" build="p"/>
      <p:bldP spid="218129" grpId="0" autoUpdateAnimBg="0" build="p"/>
      <p:bldP spid="218130" grpId="0" autoUpdateAnimBg="0" build="p"/>
      <p:bldP spid="218161" grpId="0" animBg="1"/>
      <p:bldP spid="218162" grpId="0" autoUpdateAnimBg="0" build="p"/>
      <p:bldP spid="218163" grpId="0" autoUpdateAnimBg="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Grp="1" noRot="1" noChangeArrowheads="1"/>
          </p:cNvSpPr>
          <p:nvPr>
            <p:ph type="title"/>
          </p:nvPr>
        </p:nvSpPr>
        <p:spPr/>
        <p:txBody>
          <a:bodyPr/>
          <a:lstStyle/>
          <a:p>
            <a:pPr algn="l" eaLnBrk="1" hangingPunct="1">
              <a:defRPr/>
            </a:pPr>
            <a:r>
              <a:rPr lang="en-US" altLang="zh-CN" smtClean="0">
                <a:solidFill>
                  <a:srgbClr val="FF0000"/>
                </a:solidFill>
              </a:rPr>
              <a:t>4.</a:t>
            </a:r>
            <a:r>
              <a:rPr lang="zh-CN" altLang="en-US" smtClean="0">
                <a:solidFill>
                  <a:srgbClr val="FF0000"/>
                </a:solidFill>
              </a:rPr>
              <a:t>功能评价</a:t>
            </a:r>
            <a:r>
              <a:rPr lang="zh-CN" altLang="en-US" smtClean="0"/>
              <a:t>   </a:t>
            </a:r>
            <a:endParaRPr lang="zh-CN" altLang="en-US" smtClean="0"/>
          </a:p>
        </p:txBody>
      </p:sp>
      <p:sp>
        <p:nvSpPr>
          <p:cNvPr id="930819" name="Rectangle 3"/>
          <p:cNvSpPr>
            <a:spLocks noGrp="1" noChangeArrowheads="1"/>
          </p:cNvSpPr>
          <p:nvPr>
            <p:ph type="body" sz="half" idx="1"/>
          </p:nvPr>
        </p:nvSpPr>
        <p:spPr>
          <a:xfrm>
            <a:off x="468313" y="1484313"/>
            <a:ext cx="8135937" cy="4530725"/>
          </a:xfrm>
        </p:spPr>
        <p:txBody>
          <a:bodyPr/>
          <a:lstStyle/>
          <a:p>
            <a:pPr eaLnBrk="1" hangingPunct="1">
              <a:defRPr/>
            </a:pPr>
            <a:r>
              <a:rPr lang="zh-CN" altLang="en-US" sz="2800" smtClean="0"/>
              <a:t>定量的分析过程。</a:t>
            </a:r>
            <a:endParaRPr lang="zh-CN" altLang="en-US" sz="2800" smtClean="0"/>
          </a:p>
          <a:p>
            <a:pPr eaLnBrk="1" hangingPunct="1">
              <a:defRPr/>
            </a:pPr>
            <a:r>
              <a:rPr lang="zh-CN" altLang="en-US" sz="2800" smtClean="0"/>
              <a:t>找出低功能区域或 </a:t>
            </a:r>
            <a:r>
              <a:rPr lang="en-US" altLang="zh-CN" sz="2800" smtClean="0"/>
              <a:t>V&lt;1 </a:t>
            </a:r>
            <a:r>
              <a:rPr lang="zh-CN" altLang="en-US" sz="2800" smtClean="0"/>
              <a:t>的部分，明确需要改进的具体对象。</a:t>
            </a:r>
            <a:endParaRPr lang="zh-CN" altLang="en-US" sz="2800" smtClean="0"/>
          </a:p>
          <a:p>
            <a:pPr eaLnBrk="1" hangingPunct="1">
              <a:defRPr/>
            </a:pPr>
            <a:r>
              <a:rPr lang="zh-CN" altLang="en-US" sz="2800" smtClean="0"/>
              <a:t>功能不便于量化，从而无法实现与成本（很容易量化为货币值）的比值计算、以得到价值系数。</a:t>
            </a:r>
            <a:endParaRPr lang="zh-CN" altLang="en-US" sz="2800" smtClean="0"/>
          </a:p>
          <a:p>
            <a:pPr eaLnBrk="1" hangingPunct="1">
              <a:defRPr/>
            </a:pPr>
            <a:r>
              <a:rPr lang="zh-CN" altLang="en-US" sz="2800" smtClean="0"/>
              <a:t>功能量化的两种方法（对应着两种功能评价方法）</a:t>
            </a:r>
            <a:endParaRPr lang="zh-CN" altLang="en-US" sz="2800" smtClean="0"/>
          </a:p>
          <a:p>
            <a:pPr lvl="1" eaLnBrk="1" hangingPunct="1">
              <a:defRPr/>
            </a:pPr>
            <a:r>
              <a:rPr lang="zh-CN" altLang="en-US" sz="2400" smtClean="0"/>
              <a:t>绝对值法</a:t>
            </a:r>
            <a:endParaRPr lang="zh-CN" altLang="en-US" sz="2400" smtClean="0"/>
          </a:p>
          <a:p>
            <a:pPr lvl="1" eaLnBrk="1" hangingPunct="1">
              <a:defRPr/>
            </a:pPr>
            <a:r>
              <a:rPr lang="zh-CN" altLang="en-US" sz="2400" smtClean="0">
                <a:solidFill>
                  <a:srgbClr val="FFFF00"/>
                </a:solidFill>
              </a:rPr>
              <a:t>相对值法</a:t>
            </a:r>
            <a:r>
              <a:rPr lang="zh-CN" altLang="en-US" sz="2400" smtClean="0"/>
              <a:t>（功能系数法－－打分、量化为</a:t>
            </a:r>
            <a:r>
              <a:rPr lang="zh-CN" altLang="en-US" sz="2400" smtClean="0">
                <a:latin typeface="Arial" panose="020B0604020202020204"/>
              </a:rPr>
              <a:t>“</a:t>
            </a:r>
            <a:r>
              <a:rPr lang="zh-CN" altLang="en-US" sz="2400" smtClean="0"/>
              <a:t>分</a:t>
            </a:r>
            <a:r>
              <a:rPr lang="zh-CN" altLang="en-US" sz="2400" smtClean="0">
                <a:latin typeface="Arial" panose="020B0604020202020204"/>
              </a:rPr>
              <a:t>”</a:t>
            </a:r>
            <a:r>
              <a:rPr lang="zh-CN" altLang="en-US" sz="2400" smtClean="0"/>
              <a:t>）</a:t>
            </a:r>
            <a:endParaRPr lang="zh-CN" altLang="en-US" sz="24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61" name="Rectangle 5"/>
          <p:cNvSpPr>
            <a:spLocks noGrp="1" noRot="1" noChangeArrowheads="1"/>
          </p:cNvSpPr>
          <p:nvPr>
            <p:ph type="title"/>
          </p:nvPr>
        </p:nvSpPr>
        <p:spPr>
          <a:xfrm>
            <a:off x="323850" y="260350"/>
            <a:ext cx="8229600" cy="1139825"/>
          </a:xfrm>
        </p:spPr>
        <p:txBody>
          <a:bodyPr/>
          <a:lstStyle/>
          <a:p>
            <a:pPr eaLnBrk="1" hangingPunct="1">
              <a:defRPr/>
            </a:pPr>
            <a:r>
              <a:rPr lang="zh-CN" altLang="en-US" smtClean="0"/>
              <a:t>功能系数法－－</a:t>
            </a:r>
            <a:r>
              <a:rPr lang="zh-CN" altLang="en-US" sz="3200" smtClean="0"/>
              <a:t>相对值法</a:t>
            </a:r>
            <a:endParaRPr lang="zh-CN" altLang="en-US" sz="3200" smtClean="0"/>
          </a:p>
        </p:txBody>
      </p:sp>
      <p:graphicFrame>
        <p:nvGraphicFramePr>
          <p:cNvPr id="29699" name="Object 4"/>
          <p:cNvGraphicFramePr>
            <a:graphicFrameLocks noGrp="1" noChangeAspect="1"/>
          </p:cNvGraphicFramePr>
          <p:nvPr>
            <p:ph idx="1"/>
          </p:nvPr>
        </p:nvGraphicFramePr>
        <p:xfrm>
          <a:off x="1763713" y="5300663"/>
          <a:ext cx="4897437" cy="1108075"/>
        </p:xfrm>
        <a:graphic>
          <a:graphicData uri="http://schemas.openxmlformats.org/presentationml/2006/ole">
            <mc:AlternateContent xmlns:mc="http://schemas.openxmlformats.org/markup-compatibility/2006">
              <mc:Choice xmlns:v="urn:schemas-microsoft-com:vml" Requires="v">
                <p:oleObj spid="_x0000_s29719" name="公式" r:id="rId1" imgW="1167765" imgH="482600" progId="Equation.3">
                  <p:embed/>
                </p:oleObj>
              </mc:Choice>
              <mc:Fallback>
                <p:oleObj name="公式" r:id="rId1" imgW="1167765"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5300663"/>
                        <a:ext cx="4897437" cy="11080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7"/>
          <p:cNvGrpSpPr/>
          <p:nvPr/>
        </p:nvGrpSpPr>
        <p:grpSpPr bwMode="auto">
          <a:xfrm>
            <a:off x="1547813" y="1506538"/>
            <a:ext cx="5981700" cy="1063625"/>
            <a:chOff x="768" y="3230"/>
            <a:chExt cx="3701" cy="657"/>
          </a:xfrm>
        </p:grpSpPr>
        <p:sp>
          <p:nvSpPr>
            <p:cNvPr id="29711" name="Text Box 8"/>
            <p:cNvSpPr txBox="1">
              <a:spLocks noChangeArrowheads="1"/>
            </p:cNvSpPr>
            <p:nvPr/>
          </p:nvSpPr>
          <p:spPr bwMode="auto">
            <a:xfrm>
              <a:off x="768" y="3409"/>
              <a:ext cx="183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功能系数（</a:t>
              </a:r>
              <a:r>
                <a:rPr kumimoji="1" lang="en-US" altLang="zh-CN" sz="2800" b="1">
                  <a:solidFill>
                    <a:srgbClr val="99FF66"/>
                  </a:solidFill>
                  <a:latin typeface="Times New Roman" panose="02020603050405020304" pitchFamily="18" charset="0"/>
                </a:rPr>
                <a:t>F</a:t>
              </a:r>
              <a:r>
                <a:rPr kumimoji="1" lang="en-US" altLang="zh-CN" sz="2800" b="1" baseline="-25000">
                  <a:solidFill>
                    <a:srgbClr val="99FF66"/>
                  </a:solidFill>
                  <a:latin typeface="Times New Roman" panose="02020603050405020304" pitchFamily="18" charset="0"/>
                </a:rPr>
                <a:t>i</a:t>
              </a:r>
              <a:r>
                <a:rPr kumimoji="1" lang="en-US" altLang="zh-CN" sz="2800" b="1">
                  <a:solidFill>
                    <a:srgbClr val="99FF66"/>
                  </a:solidFill>
                  <a:latin typeface="Times New Roman" panose="02020603050405020304" pitchFamily="18" charset="0"/>
                </a:rPr>
                <a:t>）＝</a:t>
              </a:r>
              <a:endParaRPr kumimoji="1" lang="en-US" altLang="zh-CN" sz="2800" b="1">
                <a:solidFill>
                  <a:srgbClr val="99FF66"/>
                </a:solidFill>
                <a:latin typeface="Times New Roman" panose="02020603050405020304" pitchFamily="18" charset="0"/>
              </a:endParaRPr>
            </a:p>
          </p:txBody>
        </p:sp>
        <p:sp>
          <p:nvSpPr>
            <p:cNvPr id="29712" name="Line 9"/>
            <p:cNvSpPr>
              <a:spLocks noChangeShapeType="1"/>
            </p:cNvSpPr>
            <p:nvPr/>
          </p:nvSpPr>
          <p:spPr bwMode="auto">
            <a:xfrm flipV="1">
              <a:off x="2592" y="3552"/>
              <a:ext cx="1680" cy="0"/>
            </a:xfrm>
            <a:prstGeom prst="line">
              <a:avLst/>
            </a:prstGeom>
            <a:noFill/>
            <a:ln w="28575" cap="sq">
              <a:solidFill>
                <a:srgbClr val="99FF66"/>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9713" name="Text Box 10"/>
            <p:cNvSpPr txBox="1">
              <a:spLocks noChangeArrowheads="1"/>
            </p:cNvSpPr>
            <p:nvPr/>
          </p:nvSpPr>
          <p:spPr bwMode="auto">
            <a:xfrm>
              <a:off x="2643" y="3230"/>
              <a:ext cx="182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零部件</a:t>
              </a:r>
              <a:r>
                <a:rPr kumimoji="1" lang="zh-CN" altLang="en-US" sz="2800" b="1">
                  <a:solidFill>
                    <a:srgbClr val="FF0000"/>
                  </a:solidFill>
                  <a:latin typeface="Times New Roman" panose="02020603050405020304" pitchFamily="18" charset="0"/>
                </a:rPr>
                <a:t>得分</a:t>
              </a:r>
              <a:r>
                <a:rPr kumimoji="1" lang="zh-CN" altLang="en-US" sz="2800" b="1">
                  <a:solidFill>
                    <a:srgbClr val="99FF66"/>
                  </a:solidFill>
                  <a:latin typeface="Times New Roman" panose="02020603050405020304" pitchFamily="18" charset="0"/>
                </a:rPr>
                <a:t>累计   </a:t>
              </a:r>
              <a:endParaRPr kumimoji="1" lang="zh-CN" altLang="en-US" sz="2800" b="1">
                <a:solidFill>
                  <a:srgbClr val="99FF66"/>
                </a:solidFill>
                <a:latin typeface="Times New Roman" panose="02020603050405020304" pitchFamily="18" charset="0"/>
              </a:endParaRPr>
            </a:p>
          </p:txBody>
        </p:sp>
        <p:sp>
          <p:nvSpPr>
            <p:cNvPr id="29714" name="Text Box 11"/>
            <p:cNvSpPr txBox="1">
              <a:spLocks noChangeArrowheads="1"/>
            </p:cNvSpPr>
            <p:nvPr/>
          </p:nvSpPr>
          <p:spPr bwMode="auto">
            <a:xfrm>
              <a:off x="2791" y="3566"/>
              <a:ext cx="7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    </a:t>
              </a:r>
              <a:r>
                <a:rPr kumimoji="1" lang="zh-CN" altLang="en-US" sz="2800" b="1">
                  <a:solidFill>
                    <a:srgbClr val="FF0000"/>
                  </a:solidFill>
                  <a:latin typeface="Times New Roman" panose="02020603050405020304" pitchFamily="18" charset="0"/>
                </a:rPr>
                <a:t>总分</a:t>
              </a:r>
              <a:endParaRPr kumimoji="1" lang="zh-CN" altLang="en-US" sz="2800" b="1">
                <a:solidFill>
                  <a:srgbClr val="FF0000"/>
                </a:solidFill>
                <a:latin typeface="Times New Roman" panose="02020603050405020304" pitchFamily="18" charset="0"/>
              </a:endParaRPr>
            </a:p>
          </p:txBody>
        </p:sp>
      </p:grpSp>
      <p:grpSp>
        <p:nvGrpSpPr>
          <p:cNvPr id="3" name="Group 12"/>
          <p:cNvGrpSpPr/>
          <p:nvPr/>
        </p:nvGrpSpPr>
        <p:grpSpPr bwMode="auto">
          <a:xfrm>
            <a:off x="1476375" y="2565400"/>
            <a:ext cx="5759450" cy="1027113"/>
            <a:chOff x="816" y="768"/>
            <a:chExt cx="3216" cy="679"/>
          </a:xfrm>
        </p:grpSpPr>
        <p:sp>
          <p:nvSpPr>
            <p:cNvPr id="29707" name="Text Box 13"/>
            <p:cNvSpPr txBox="1">
              <a:spLocks noChangeArrowheads="1"/>
            </p:cNvSpPr>
            <p:nvPr/>
          </p:nvSpPr>
          <p:spPr bwMode="auto">
            <a:xfrm>
              <a:off x="816" y="961"/>
              <a:ext cx="1876"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成本系数（</a:t>
              </a:r>
              <a:r>
                <a:rPr kumimoji="1" lang="en-US" altLang="zh-CN" sz="2800" b="1">
                  <a:solidFill>
                    <a:srgbClr val="99FF66"/>
                  </a:solidFill>
                  <a:latin typeface="Times New Roman" panose="02020603050405020304" pitchFamily="18" charset="0"/>
                </a:rPr>
                <a:t>C</a:t>
              </a:r>
              <a:r>
                <a:rPr kumimoji="1" lang="en-US" altLang="zh-CN" sz="2800" b="1" baseline="-25000">
                  <a:solidFill>
                    <a:srgbClr val="99FF66"/>
                  </a:solidFill>
                  <a:latin typeface="Times New Roman" panose="02020603050405020304" pitchFamily="18" charset="0"/>
                </a:rPr>
                <a:t>i</a:t>
              </a:r>
              <a:r>
                <a:rPr kumimoji="1" lang="en-US" altLang="zh-CN" sz="2800" b="1">
                  <a:solidFill>
                    <a:srgbClr val="99FF66"/>
                  </a:solidFill>
                  <a:latin typeface="Times New Roman" panose="02020603050405020304" pitchFamily="18" charset="0"/>
                </a:rPr>
                <a:t>）</a:t>
              </a:r>
              <a:r>
                <a:rPr kumimoji="1" lang="zh-CN" altLang="en-US" sz="2800" b="1">
                  <a:solidFill>
                    <a:srgbClr val="99FF66"/>
                  </a:solidFill>
                  <a:latin typeface="Times New Roman" panose="02020603050405020304" pitchFamily="18" charset="0"/>
                </a:rPr>
                <a:t>＝</a:t>
              </a:r>
              <a:endParaRPr kumimoji="1" lang="zh-CN" altLang="en-US" sz="2800" b="1">
                <a:solidFill>
                  <a:srgbClr val="99FF66"/>
                </a:solidFill>
                <a:latin typeface="Times New Roman" panose="02020603050405020304" pitchFamily="18" charset="0"/>
              </a:endParaRPr>
            </a:p>
          </p:txBody>
        </p:sp>
        <p:sp>
          <p:nvSpPr>
            <p:cNvPr id="29708" name="Line 14"/>
            <p:cNvSpPr>
              <a:spLocks noChangeShapeType="1"/>
            </p:cNvSpPr>
            <p:nvPr/>
          </p:nvSpPr>
          <p:spPr bwMode="auto">
            <a:xfrm>
              <a:off x="2688" y="1152"/>
              <a:ext cx="1344" cy="0"/>
            </a:xfrm>
            <a:prstGeom prst="line">
              <a:avLst/>
            </a:prstGeom>
            <a:noFill/>
            <a:ln w="28575" cap="sq">
              <a:solidFill>
                <a:srgbClr val="99FF66"/>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9709" name="Text Box 15"/>
            <p:cNvSpPr txBox="1">
              <a:spLocks noChangeArrowheads="1"/>
            </p:cNvSpPr>
            <p:nvPr/>
          </p:nvSpPr>
          <p:spPr bwMode="auto">
            <a:xfrm>
              <a:off x="2765" y="768"/>
              <a:ext cx="1247"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零部件成本</a:t>
              </a:r>
              <a:endParaRPr kumimoji="1" lang="zh-CN" altLang="en-US" sz="2800" b="1">
                <a:solidFill>
                  <a:srgbClr val="99FF66"/>
                </a:solidFill>
                <a:latin typeface="Times New Roman" panose="02020603050405020304" pitchFamily="18" charset="0"/>
              </a:endParaRPr>
            </a:p>
          </p:txBody>
        </p:sp>
        <p:sp>
          <p:nvSpPr>
            <p:cNvPr id="29710" name="Text Box 16"/>
            <p:cNvSpPr txBox="1">
              <a:spLocks noChangeArrowheads="1"/>
            </p:cNvSpPr>
            <p:nvPr/>
          </p:nvSpPr>
          <p:spPr bwMode="auto">
            <a:xfrm>
              <a:off x="2915" y="1104"/>
              <a:ext cx="79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总成本</a:t>
              </a:r>
              <a:endParaRPr kumimoji="1" lang="zh-CN" altLang="en-US" sz="2800" b="1">
                <a:solidFill>
                  <a:srgbClr val="99FF66"/>
                </a:solidFill>
                <a:latin typeface="Times New Roman" panose="02020603050405020304" pitchFamily="18" charset="0"/>
              </a:endParaRPr>
            </a:p>
          </p:txBody>
        </p:sp>
      </p:grpSp>
      <p:grpSp>
        <p:nvGrpSpPr>
          <p:cNvPr id="4" name="Group 17"/>
          <p:cNvGrpSpPr/>
          <p:nvPr/>
        </p:nvGrpSpPr>
        <p:grpSpPr bwMode="auto">
          <a:xfrm>
            <a:off x="1476375" y="3716338"/>
            <a:ext cx="6324600" cy="1150937"/>
            <a:chOff x="768" y="2160"/>
            <a:chExt cx="3984" cy="725"/>
          </a:xfrm>
        </p:grpSpPr>
        <p:sp>
          <p:nvSpPr>
            <p:cNvPr id="29703" name="Text Box 18"/>
            <p:cNvSpPr txBox="1">
              <a:spLocks noChangeArrowheads="1"/>
            </p:cNvSpPr>
            <p:nvPr/>
          </p:nvSpPr>
          <p:spPr bwMode="auto">
            <a:xfrm>
              <a:off x="768" y="2379"/>
              <a:ext cx="20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价值系数 </a:t>
              </a:r>
              <a:r>
                <a:rPr kumimoji="1" lang="en-US" altLang="zh-CN" sz="2800" b="1">
                  <a:solidFill>
                    <a:srgbClr val="99FF66"/>
                  </a:solidFill>
                  <a:latin typeface="Times New Roman" panose="02020603050405020304" pitchFamily="18" charset="0"/>
                </a:rPr>
                <a:t>（ v</a:t>
              </a:r>
              <a:r>
                <a:rPr kumimoji="1" lang="en-US" altLang="zh-CN" sz="2800" b="1" baseline="-25000">
                  <a:solidFill>
                    <a:srgbClr val="99FF66"/>
                  </a:solidFill>
                  <a:latin typeface="Times New Roman" panose="02020603050405020304" pitchFamily="18" charset="0"/>
                </a:rPr>
                <a:t>i</a:t>
              </a:r>
              <a:r>
                <a:rPr kumimoji="1" lang="en-US" altLang="zh-CN" sz="2800" b="1">
                  <a:solidFill>
                    <a:srgbClr val="99FF66"/>
                  </a:solidFill>
                  <a:latin typeface="Times New Roman" panose="02020603050405020304" pitchFamily="18" charset="0"/>
                </a:rPr>
                <a:t> ）＝</a:t>
              </a:r>
              <a:endParaRPr kumimoji="1" lang="en-US" altLang="zh-CN" sz="2800" b="1">
                <a:solidFill>
                  <a:srgbClr val="99FF66"/>
                </a:solidFill>
                <a:latin typeface="Times New Roman" panose="02020603050405020304" pitchFamily="18" charset="0"/>
              </a:endParaRPr>
            </a:p>
          </p:txBody>
        </p:sp>
        <p:sp>
          <p:nvSpPr>
            <p:cNvPr id="29704" name="Line 19"/>
            <p:cNvSpPr>
              <a:spLocks noChangeShapeType="1"/>
            </p:cNvSpPr>
            <p:nvPr/>
          </p:nvSpPr>
          <p:spPr bwMode="auto">
            <a:xfrm flipV="1">
              <a:off x="2928" y="2544"/>
              <a:ext cx="1584" cy="0"/>
            </a:xfrm>
            <a:prstGeom prst="line">
              <a:avLst/>
            </a:prstGeom>
            <a:noFill/>
            <a:ln w="28575" cap="sq">
              <a:solidFill>
                <a:srgbClr val="99FF66"/>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9705" name="Text Box 20"/>
            <p:cNvSpPr txBox="1">
              <a:spLocks noChangeArrowheads="1"/>
            </p:cNvSpPr>
            <p:nvPr/>
          </p:nvSpPr>
          <p:spPr bwMode="auto">
            <a:xfrm>
              <a:off x="2928" y="2160"/>
              <a:ext cx="18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功能系数</a:t>
              </a:r>
              <a:r>
                <a:rPr kumimoji="1" lang="en-US" altLang="zh-CN" sz="2800" b="1">
                  <a:solidFill>
                    <a:srgbClr val="99FF66"/>
                  </a:solidFill>
                  <a:latin typeface="Times New Roman" panose="02020603050405020304" pitchFamily="18" charset="0"/>
                </a:rPr>
                <a:t>（ f</a:t>
              </a:r>
              <a:r>
                <a:rPr kumimoji="1" lang="en-US" altLang="zh-CN" sz="2800" b="1" baseline="-25000">
                  <a:solidFill>
                    <a:srgbClr val="99FF66"/>
                  </a:solidFill>
                  <a:latin typeface="Times New Roman" panose="02020603050405020304" pitchFamily="18" charset="0"/>
                </a:rPr>
                <a:t>i</a:t>
              </a:r>
              <a:r>
                <a:rPr kumimoji="1" lang="zh-CN" altLang="en-US" sz="2800" b="1">
                  <a:solidFill>
                    <a:srgbClr val="99FF66"/>
                  </a:solidFill>
                  <a:latin typeface="Times New Roman" panose="02020603050405020304" pitchFamily="18" charset="0"/>
                </a:rPr>
                <a:t> </a:t>
              </a:r>
              <a:r>
                <a:rPr kumimoji="1" lang="en-US" altLang="zh-CN" sz="2800" b="1">
                  <a:solidFill>
                    <a:srgbClr val="99FF66"/>
                  </a:solidFill>
                  <a:latin typeface="Times New Roman" panose="02020603050405020304" pitchFamily="18" charset="0"/>
                </a:rPr>
                <a:t>）</a:t>
              </a:r>
              <a:endParaRPr kumimoji="1" lang="en-US" altLang="zh-CN" sz="2800" b="1">
                <a:solidFill>
                  <a:srgbClr val="99FF66"/>
                </a:solidFill>
                <a:latin typeface="Times New Roman" panose="02020603050405020304" pitchFamily="18" charset="0"/>
              </a:endParaRPr>
            </a:p>
          </p:txBody>
        </p:sp>
        <p:sp>
          <p:nvSpPr>
            <p:cNvPr id="29706" name="Text Box 21"/>
            <p:cNvSpPr txBox="1">
              <a:spLocks noChangeArrowheads="1"/>
            </p:cNvSpPr>
            <p:nvPr/>
          </p:nvSpPr>
          <p:spPr bwMode="auto">
            <a:xfrm>
              <a:off x="2894" y="2558"/>
              <a:ext cx="17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99FF66"/>
                  </a:solidFill>
                  <a:latin typeface="Times New Roman" panose="02020603050405020304" pitchFamily="18" charset="0"/>
                </a:rPr>
                <a:t>成本系数</a:t>
              </a:r>
              <a:r>
                <a:rPr kumimoji="1" lang="en-US" altLang="zh-CN" sz="2800" b="1">
                  <a:solidFill>
                    <a:srgbClr val="99FF66"/>
                  </a:solidFill>
                  <a:latin typeface="Times New Roman" panose="02020603050405020304" pitchFamily="18" charset="0"/>
                </a:rPr>
                <a:t>( c</a:t>
              </a:r>
              <a:r>
                <a:rPr kumimoji="1" lang="en-US" altLang="zh-CN" sz="2800" b="1" baseline="-25000">
                  <a:solidFill>
                    <a:srgbClr val="99FF66"/>
                  </a:solidFill>
                  <a:latin typeface="Times New Roman" panose="02020603050405020304" pitchFamily="18" charset="0"/>
                </a:rPr>
                <a:t>i</a:t>
              </a:r>
              <a:r>
                <a:rPr kumimoji="1" lang="zh-CN" altLang="en-US" sz="2800" b="1">
                  <a:solidFill>
                    <a:srgbClr val="99FF66"/>
                  </a:solidFill>
                  <a:latin typeface="Times New Roman" panose="02020603050405020304" pitchFamily="18" charset="0"/>
                </a:rPr>
                <a:t> </a:t>
              </a:r>
              <a:r>
                <a:rPr kumimoji="1" lang="en-US" altLang="zh-CN" sz="2800" b="1">
                  <a:solidFill>
                    <a:srgbClr val="99FF66"/>
                  </a:solidFill>
                  <a:latin typeface="Times New Roman" panose="02020603050405020304" pitchFamily="18" charset="0"/>
                </a:rPr>
                <a:t>)</a:t>
              </a:r>
              <a:endParaRPr kumimoji="1" lang="en-US" altLang="zh-CN" sz="2800" b="1">
                <a:solidFill>
                  <a:srgbClr val="99FF66"/>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70" name="Rectangle 2"/>
          <p:cNvSpPr>
            <a:spLocks noGrp="1" noRot="1" noChangeArrowheads="1"/>
          </p:cNvSpPr>
          <p:nvPr>
            <p:ph type="title"/>
          </p:nvPr>
        </p:nvSpPr>
        <p:spPr/>
        <p:txBody>
          <a:bodyPr/>
          <a:lstStyle/>
          <a:p>
            <a:pPr eaLnBrk="1" hangingPunct="1">
              <a:defRPr/>
            </a:pPr>
            <a:r>
              <a:rPr lang="zh-CN" altLang="en-US" smtClean="0"/>
              <a:t>各种打分方法</a:t>
            </a:r>
            <a:endParaRPr lang="zh-CN" altLang="en-US" smtClean="0"/>
          </a:p>
        </p:txBody>
      </p:sp>
      <p:sp>
        <p:nvSpPr>
          <p:cNvPr id="30723" name="Rectangle 3"/>
          <p:cNvSpPr>
            <a:spLocks noGrp="1" noChangeArrowheads="1"/>
          </p:cNvSpPr>
          <p:nvPr>
            <p:ph type="body" idx="1"/>
          </p:nvPr>
        </p:nvSpPr>
        <p:spPr>
          <a:xfrm>
            <a:off x="457200" y="1600200"/>
            <a:ext cx="8229600" cy="3049588"/>
          </a:xfrm>
        </p:spPr>
        <p:txBody>
          <a:bodyPr/>
          <a:lstStyle/>
          <a:p>
            <a:pPr eaLnBrk="1" hangingPunct="1"/>
            <a:r>
              <a:rPr kumimoji="1" lang="zh-CN" altLang="en-US" b="1" smtClean="0">
                <a:effectLst/>
              </a:rPr>
              <a:t>强制确定法（又称</a:t>
            </a:r>
            <a:r>
              <a:rPr kumimoji="1" lang="en-US" altLang="zh-CN" b="1" smtClean="0">
                <a:effectLst/>
              </a:rPr>
              <a:t>FD</a:t>
            </a:r>
            <a:r>
              <a:rPr kumimoji="1" lang="zh-CN" altLang="en-US" b="1" smtClean="0">
                <a:effectLst/>
              </a:rPr>
              <a:t>法）</a:t>
            </a:r>
            <a:endParaRPr kumimoji="1" lang="zh-CN" altLang="en-US" b="1" smtClean="0">
              <a:effectLst/>
            </a:endParaRPr>
          </a:p>
          <a:p>
            <a:pPr lvl="1" eaLnBrk="1" hangingPunct="1"/>
            <a:r>
              <a:rPr kumimoji="1" lang="zh-CN" altLang="en-US" b="1" smtClean="0">
                <a:effectLst/>
              </a:rPr>
              <a:t>01评分法</a:t>
            </a:r>
            <a:endParaRPr kumimoji="1" lang="zh-CN" altLang="en-US" b="1" smtClean="0">
              <a:effectLst/>
            </a:endParaRPr>
          </a:p>
          <a:p>
            <a:pPr lvl="1" eaLnBrk="1" hangingPunct="1"/>
            <a:r>
              <a:rPr kumimoji="1" lang="en-US" altLang="zh-CN" b="1" smtClean="0">
                <a:effectLst/>
              </a:rPr>
              <a:t>04</a:t>
            </a:r>
            <a:r>
              <a:rPr kumimoji="1" lang="zh-CN" altLang="en-US" b="1" smtClean="0">
                <a:effectLst/>
              </a:rPr>
              <a:t>评分法</a:t>
            </a:r>
            <a:endParaRPr kumimoji="1" lang="zh-CN" altLang="en-US" b="1" smtClean="0">
              <a:effectLst/>
            </a:endParaRPr>
          </a:p>
          <a:p>
            <a:pPr eaLnBrk="1" hangingPunct="1"/>
            <a:r>
              <a:rPr kumimoji="1" lang="zh-CN" altLang="en-US" b="1" smtClean="0">
                <a:effectLst/>
              </a:rPr>
              <a:t>倍比法</a:t>
            </a:r>
            <a:r>
              <a:rPr kumimoji="1" lang="en-US" altLang="zh-CN" b="1" smtClean="0">
                <a:effectLst/>
              </a:rPr>
              <a:t>(</a:t>
            </a:r>
            <a:r>
              <a:rPr kumimoji="1" lang="zh-CN" altLang="en-US" b="1" smtClean="0">
                <a:effectLst/>
              </a:rPr>
              <a:t>又称环比评分法、</a:t>
            </a:r>
            <a:r>
              <a:rPr kumimoji="1" lang="en-US" altLang="zh-CN" b="1" smtClean="0">
                <a:effectLst/>
              </a:rPr>
              <a:t>DARE</a:t>
            </a:r>
            <a:r>
              <a:rPr kumimoji="1" lang="zh-CN" altLang="en-US" b="1" smtClean="0">
                <a:effectLst/>
              </a:rPr>
              <a:t>法）</a:t>
            </a:r>
            <a:endParaRPr kumimoji="1" lang="zh-CN" altLang="en-US" b="1" smtClean="0">
              <a:effectLst/>
            </a:endParaRPr>
          </a:p>
          <a:p>
            <a:pPr eaLnBrk="1" hangingPunct="1"/>
            <a:r>
              <a:rPr kumimoji="1" lang="zh-CN" altLang="en-US" b="1" smtClean="0">
                <a:effectLst/>
              </a:rPr>
              <a:t>直接评分法</a:t>
            </a:r>
            <a:endParaRPr kumimoji="1" lang="zh-CN" altLang="en-US" b="1" smtClean="0">
              <a:effectLst/>
            </a:endParaRPr>
          </a:p>
          <a:p>
            <a:pPr eaLnBrk="1" hangingPunct="1"/>
            <a:endParaRPr kumimoji="1" lang="zh-CN" altLang="en-US" b="1" smtClean="0">
              <a:effectLs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p:txBody>
          <a:bodyPr/>
          <a:lstStyle/>
          <a:p>
            <a:pPr eaLnBrk="1" hangingPunct="1"/>
            <a:r>
              <a:rPr kumimoji="1" lang="zh-CN" altLang="en-US" b="0" smtClean="0">
                <a:effectLst/>
              </a:rPr>
              <a:t>强制确定法－－</a:t>
            </a:r>
            <a:r>
              <a:rPr kumimoji="1" lang="zh-CN" altLang="en-US" sz="2400" b="0" smtClean="0">
                <a:effectLst/>
              </a:rPr>
              <a:t>01评分法</a:t>
            </a:r>
            <a:endParaRPr kumimoji="1" lang="zh-CN" altLang="en-US" b="0" smtClean="0">
              <a:effectLst/>
            </a:endParaRPr>
          </a:p>
        </p:txBody>
      </p:sp>
      <p:sp>
        <p:nvSpPr>
          <p:cNvPr id="31747" name="Rectangle 3"/>
          <p:cNvSpPr>
            <a:spLocks noGrp="1" noChangeArrowheads="1"/>
          </p:cNvSpPr>
          <p:nvPr>
            <p:ph type="body" sz="half" idx="1"/>
          </p:nvPr>
        </p:nvSpPr>
        <p:spPr>
          <a:xfrm>
            <a:off x="457200" y="1600200"/>
            <a:ext cx="8362950" cy="1468438"/>
          </a:xfrm>
        </p:spPr>
        <p:txBody>
          <a:bodyPr/>
          <a:lstStyle/>
          <a:p>
            <a:pPr eaLnBrk="1" hangingPunct="1"/>
            <a:r>
              <a:rPr kumimoji="1" lang="zh-CN" altLang="en-US" sz="2400" b="1" smtClean="0">
                <a:effectLst/>
              </a:rPr>
              <a:t>由5－10个专家按功能的重要程度两两比较， 重要者得</a:t>
            </a:r>
            <a:r>
              <a:rPr kumimoji="1" lang="zh-CN" altLang="en-US" sz="2400" b="1" smtClean="0">
                <a:solidFill>
                  <a:srgbClr val="99FF66"/>
                </a:solidFill>
                <a:effectLst/>
              </a:rPr>
              <a:t>1</a:t>
            </a:r>
            <a:r>
              <a:rPr kumimoji="1" lang="zh-CN" altLang="en-US" sz="2400" b="1" smtClean="0">
                <a:effectLst/>
              </a:rPr>
              <a:t>分，不重要者得</a:t>
            </a:r>
            <a:r>
              <a:rPr kumimoji="1" lang="zh-CN" altLang="en-US" sz="2400" b="1" smtClean="0">
                <a:solidFill>
                  <a:srgbClr val="99FF66"/>
                </a:solidFill>
                <a:effectLst/>
              </a:rPr>
              <a:t>0</a:t>
            </a:r>
            <a:r>
              <a:rPr kumimoji="1" lang="zh-CN" altLang="en-US" sz="2400" b="1" smtClean="0">
                <a:effectLst/>
              </a:rPr>
              <a:t>分，自己与自己比较不得分用</a:t>
            </a:r>
            <a:r>
              <a:rPr kumimoji="1" lang="zh-CN" altLang="en-US" sz="2400" b="1" smtClean="0">
                <a:effectLst/>
                <a:latin typeface="Arial" panose="020B0604020202020204" pitchFamily="34" charset="0"/>
              </a:rPr>
              <a:t>“</a:t>
            </a:r>
            <a:r>
              <a:rPr kumimoji="1" lang="zh-CN" altLang="en-US" sz="2400" b="1" smtClean="0">
                <a:effectLst/>
              </a:rPr>
              <a:t>×</a:t>
            </a:r>
            <a:r>
              <a:rPr kumimoji="1" lang="zh-CN" altLang="en-US" sz="2400" b="1" smtClean="0">
                <a:effectLst/>
                <a:latin typeface="Arial" panose="020B0604020202020204" pitchFamily="34" charset="0"/>
              </a:rPr>
              <a:t>”</a:t>
            </a:r>
            <a:r>
              <a:rPr kumimoji="1" lang="zh-CN" altLang="en-US" sz="2400" b="1" smtClean="0">
                <a:effectLst/>
              </a:rPr>
              <a:t>表示，</a:t>
            </a:r>
            <a:endParaRPr kumimoji="1" lang="zh-CN" altLang="en-US" sz="2400" b="1" smtClean="0">
              <a:effectLst/>
            </a:endParaRPr>
          </a:p>
          <a:p>
            <a:pPr eaLnBrk="1" hangingPunct="1"/>
            <a:r>
              <a:rPr kumimoji="1" lang="zh-CN" altLang="en-US" sz="2400" b="1" smtClean="0">
                <a:effectLst/>
              </a:rPr>
              <a:t>不能直接反映功能差异很大或很小的零部件间的关系。</a:t>
            </a:r>
            <a:endParaRPr kumimoji="1" lang="zh-CN" altLang="en-US" sz="2400" b="1" smtClean="0">
              <a:effectLst/>
            </a:endParaRPr>
          </a:p>
        </p:txBody>
      </p:sp>
      <p:graphicFrame>
        <p:nvGraphicFramePr>
          <p:cNvPr id="962653" name="Group 93"/>
          <p:cNvGraphicFramePr>
            <a:graphicFrameLocks noGrp="1"/>
          </p:cNvGraphicFramePr>
          <p:nvPr>
            <p:ph sz="half" idx="2"/>
          </p:nvPr>
        </p:nvGraphicFramePr>
        <p:xfrm>
          <a:off x="1331913" y="3213100"/>
          <a:ext cx="6851650" cy="3130550"/>
        </p:xfrm>
        <a:graphic>
          <a:graphicData uri="http://schemas.openxmlformats.org/drawingml/2006/table">
            <a:tbl>
              <a:tblPr/>
              <a:tblGrid>
                <a:gridCol w="1044575"/>
                <a:gridCol w="804862"/>
                <a:gridCol w="803275"/>
                <a:gridCol w="804863"/>
                <a:gridCol w="803275"/>
                <a:gridCol w="803275"/>
                <a:gridCol w="560387"/>
                <a:gridCol w="1227138"/>
              </a:tblGrid>
              <a:tr h="366713">
                <a:tc row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零件功能</a:t>
                      </a: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gridSpan="5">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一对一比较结果</a:t>
                      </a: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hMerge="1">
                  <a:tcPr/>
                </a:tc>
                <a:tc hMerge="1">
                  <a:tcPr/>
                </a:tc>
                <a:tc hMerge="1">
                  <a:tcPr/>
                </a:tc>
                <a:tc hMerge="1">
                  <a:tcPr/>
                </a:tc>
                <a:tc row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得分</a:t>
                      </a: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row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功能评价系数</a:t>
                      </a: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365125">
                <a:tc vMerge="1">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A</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B</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C</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D</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E</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vMerge="1">
                  <a:tcPr/>
                </a:tc>
                <a:tc vMerge="1">
                  <a:tcPr/>
                </a:tc>
              </a:tr>
              <a:tr h="164464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A</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B</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C</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D</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E</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0.3</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0.2</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0.4</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0.1</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7540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合计</a:t>
                      </a: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14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Text Box 2"/>
          <p:cNvSpPr txBox="1">
            <a:spLocks noChangeArrowheads="1"/>
          </p:cNvSpPr>
          <p:nvPr/>
        </p:nvSpPr>
        <p:spPr bwMode="auto">
          <a:xfrm>
            <a:off x="468313" y="1125538"/>
            <a:ext cx="82073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rPr>
              <a:t>例如，某个产品有五个零部件,相互间进行功能重要性对比。以某一评价人员为例：（见下表）</a:t>
            </a:r>
            <a:endParaRPr kumimoji="1" lang="zh-CN" altLang="en-US" sz="2800" b="1">
              <a:latin typeface="Times New Roman" panose="02020603050405020304" pitchFamily="18" charset="0"/>
            </a:endParaRPr>
          </a:p>
        </p:txBody>
      </p:sp>
      <p:graphicFrame>
        <p:nvGraphicFramePr>
          <p:cNvPr id="913445" name="Group 37"/>
          <p:cNvGraphicFramePr>
            <a:graphicFrameLocks noGrp="1"/>
          </p:cNvGraphicFramePr>
          <p:nvPr/>
        </p:nvGraphicFramePr>
        <p:xfrm>
          <a:off x="539750" y="2276475"/>
          <a:ext cx="8382000" cy="3810000"/>
        </p:xfrm>
        <a:graphic>
          <a:graphicData uri="http://schemas.openxmlformats.org/drawingml/2006/table">
            <a:tbl>
              <a:tblPr/>
              <a:tblGrid>
                <a:gridCol w="1752600"/>
                <a:gridCol w="990600"/>
                <a:gridCol w="990600"/>
                <a:gridCol w="1066800"/>
                <a:gridCol w="1066800"/>
                <a:gridCol w="1143000"/>
                <a:gridCol w="1371600"/>
              </a:tblGrid>
              <a:tr h="6858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零件名称</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D</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E</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得分</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5685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D</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E</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5562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总分</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3410">
                                            <p:txEl>
                                              <p:pRg st="0" end="0"/>
                                            </p:txEl>
                                          </p:spTgt>
                                        </p:tgtEl>
                                        <p:attrNameLst>
                                          <p:attrName>style.visibility</p:attrName>
                                        </p:attrNameLst>
                                      </p:cBhvr>
                                      <p:to>
                                        <p:strVal val="visible"/>
                                      </p:to>
                                    </p:set>
                                    <p:animEffect transition="in" filter="dissolve">
                                      <p:cBhvr>
                                        <p:cTn id="7" dur="500"/>
                                        <p:tgtEl>
                                          <p:spTgt spid="913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13445"/>
                                        </p:tgtEl>
                                        <p:attrNameLst>
                                          <p:attrName>style.visibility</p:attrName>
                                        </p:attrNameLst>
                                      </p:cBhvr>
                                      <p:to>
                                        <p:strVal val="visible"/>
                                      </p:to>
                                    </p:set>
                                    <p:animEffect transition="in" filter="dissolve">
                                      <p:cBhvr>
                                        <p:cTn id="12" dur="500"/>
                                        <p:tgtEl>
                                          <p:spTgt spid="913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10"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4434" name="Group 2"/>
          <p:cNvGraphicFramePr>
            <a:graphicFrameLocks noGrp="1"/>
          </p:cNvGraphicFramePr>
          <p:nvPr/>
        </p:nvGraphicFramePr>
        <p:xfrm>
          <a:off x="0" y="1600200"/>
          <a:ext cx="9144000" cy="3395663"/>
        </p:xfrm>
        <a:graphic>
          <a:graphicData uri="http://schemas.openxmlformats.org/drawingml/2006/table">
            <a:tbl>
              <a:tblPr/>
              <a:tblGrid>
                <a:gridCol w="1295400"/>
                <a:gridCol w="533400"/>
                <a:gridCol w="533400"/>
                <a:gridCol w="533400"/>
                <a:gridCol w="533400"/>
                <a:gridCol w="533400"/>
                <a:gridCol w="533400"/>
                <a:gridCol w="533400"/>
                <a:gridCol w="533400"/>
                <a:gridCol w="533400"/>
                <a:gridCol w="533400"/>
                <a:gridCol w="762000"/>
                <a:gridCol w="762000"/>
                <a:gridCol w="990600"/>
              </a:tblGrid>
              <a:tr h="701197">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一</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二</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三</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四</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五</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六</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七</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八</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九</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十</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得分总数</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rgbClr val="FF0000"/>
                          </a:solidFill>
                          <a:effectLst>
                            <a:outerShdw blurRad="38100" dist="38100" dir="2700000" algn="tl">
                              <a:srgbClr val="000000"/>
                            </a:outerShdw>
                          </a:effectLst>
                          <a:latin typeface="Garamond" panose="02020404030301010803" pitchFamily="18" charset="0"/>
                          <a:ea typeface="宋体" panose="02010600030101010101" pitchFamily="2" charset="-122"/>
                        </a:rPr>
                        <a:t>平均得分</a:t>
                      </a:r>
                      <a:endParaRPr kumimoji="0" lang="zh-CN" altLang="en-US" sz="2000" b="0" i="0" u="none" strike="noStrike" cap="none" normalizeH="0" baseline="0" smtClean="0">
                        <a:ln>
                          <a:noFill/>
                        </a:ln>
                        <a:solidFill>
                          <a:srgbClr val="FF0000"/>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rPr>
                        <a:t>功能评价系数</a:t>
                      </a:r>
                      <a:endParaRPr kumimoji="0" lang="zh-CN" altLang="en-US" sz="2000" b="0"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21334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D</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E</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38</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26</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3.8</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0.9</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2.6</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0.38</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0.24</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0.09</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0.26</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0.03</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1121">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总   计</a:t>
                      </a:r>
                      <a:endPar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rgbClr val="66FF99"/>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0" i="0" u="none" strike="noStrike" cap="none" normalizeH="0" baseline="0" smtClean="0">
                        <a:ln>
                          <a:noFill/>
                        </a:ln>
                        <a:solidFill>
                          <a:srgbClr val="66FF99"/>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marT="45730" marB="4573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3856" name="Line 64"/>
          <p:cNvSpPr>
            <a:spLocks noChangeShapeType="1"/>
          </p:cNvSpPr>
          <p:nvPr/>
        </p:nvSpPr>
        <p:spPr bwMode="auto">
          <a:xfrm rot="572436">
            <a:off x="26988" y="1711325"/>
            <a:ext cx="1344612" cy="504825"/>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3857" name="Text Box 65"/>
          <p:cNvSpPr txBox="1">
            <a:spLocks noChangeArrowheads="1"/>
          </p:cNvSpPr>
          <p:nvPr/>
        </p:nvSpPr>
        <p:spPr bwMode="auto">
          <a:xfrm>
            <a:off x="228600" y="304800"/>
            <a:ext cx="8610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a:latin typeface="Times New Roman" panose="02020603050405020304" pitchFamily="18" charset="0"/>
              </a:rPr>
              <a:t>         </a:t>
            </a:r>
            <a:r>
              <a:rPr kumimoji="1" lang="zh-CN" altLang="en-US" sz="2800" b="1">
                <a:latin typeface="Times New Roman" panose="02020603050405020304" pitchFamily="18" charset="0"/>
              </a:rPr>
              <a:t>如请10个评价人员进行评定，把10人的评价得分汇总,求出平均得分和功能评价系数，见下表:</a:t>
            </a:r>
            <a:endParaRPr kumimoji="1" lang="zh-CN" altLang="en-US" sz="2800" b="1">
              <a:latin typeface="Times New Roman" panose="02020603050405020304" pitchFamily="18" charset="0"/>
            </a:endParaRPr>
          </a:p>
        </p:txBody>
      </p:sp>
      <p:sp>
        <p:nvSpPr>
          <p:cNvPr id="33858" name="Rectangle 66"/>
          <p:cNvSpPr>
            <a:spLocks noChangeArrowheads="1"/>
          </p:cNvSpPr>
          <p:nvPr/>
        </p:nvSpPr>
        <p:spPr bwMode="auto">
          <a:xfrm>
            <a:off x="762000" y="1524000"/>
            <a:ext cx="5905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1600">
                <a:latin typeface="Times New Roman" panose="02020603050405020304" pitchFamily="18" charset="0"/>
              </a:rPr>
              <a:t>评价</a:t>
            </a:r>
            <a:endParaRPr kumimoji="1" lang="zh-CN" altLang="en-US" sz="1600">
              <a:latin typeface="Times New Roman" panose="02020603050405020304" pitchFamily="18" charset="0"/>
            </a:endParaRPr>
          </a:p>
          <a:p>
            <a:pPr eaLnBrk="1" hangingPunct="1">
              <a:spcBef>
                <a:spcPct val="0"/>
              </a:spcBef>
              <a:buClrTx/>
              <a:buSzTx/>
              <a:buFontTx/>
              <a:buNone/>
            </a:pPr>
            <a:r>
              <a:rPr kumimoji="1" lang="zh-CN" altLang="en-US" sz="1600">
                <a:latin typeface="Times New Roman" panose="02020603050405020304" pitchFamily="18" charset="0"/>
              </a:rPr>
              <a:t>人员</a:t>
            </a:r>
            <a:endParaRPr kumimoji="1" lang="zh-CN" altLang="en-US" sz="1600">
              <a:latin typeface="Times New Roman" panose="02020603050405020304" pitchFamily="18" charset="0"/>
            </a:endParaRPr>
          </a:p>
        </p:txBody>
      </p:sp>
      <p:sp>
        <p:nvSpPr>
          <p:cNvPr id="33859" name="Rectangle 67"/>
          <p:cNvSpPr>
            <a:spLocks noChangeArrowheads="1"/>
          </p:cNvSpPr>
          <p:nvPr/>
        </p:nvSpPr>
        <p:spPr bwMode="auto">
          <a:xfrm>
            <a:off x="0" y="1752600"/>
            <a:ext cx="6254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1600">
                <a:latin typeface="Times New Roman" panose="02020603050405020304" pitchFamily="18" charset="0"/>
              </a:rPr>
              <a:t>零件</a:t>
            </a:r>
            <a:endParaRPr kumimoji="1" lang="zh-CN" altLang="en-US" sz="1600">
              <a:latin typeface="Times New Roman" panose="02020603050405020304" pitchFamily="18" charset="0"/>
            </a:endParaRPr>
          </a:p>
          <a:p>
            <a:pPr eaLnBrk="1" hangingPunct="1">
              <a:spcBef>
                <a:spcPct val="0"/>
              </a:spcBef>
              <a:buClrTx/>
              <a:buSzTx/>
              <a:buFontTx/>
              <a:buNone/>
            </a:pPr>
            <a:r>
              <a:rPr kumimoji="1" lang="zh-CN" altLang="en-US" sz="1600">
                <a:latin typeface="Times New Roman" panose="02020603050405020304" pitchFamily="18" charset="0"/>
              </a:rPr>
              <a:t>名称</a:t>
            </a:r>
            <a:endParaRPr kumimoji="1" lang="zh-CN" altLang="en-US" sz="1600">
              <a:latin typeface="Times New Roman" panose="02020603050405020304" pitchFamily="18" charset="0"/>
            </a:endParaRPr>
          </a:p>
        </p:txBody>
      </p:sp>
      <p:grpSp>
        <p:nvGrpSpPr>
          <p:cNvPr id="33860" name="Group 68"/>
          <p:cNvGrpSpPr/>
          <p:nvPr/>
        </p:nvGrpSpPr>
        <p:grpSpPr bwMode="auto">
          <a:xfrm>
            <a:off x="1547813" y="5229225"/>
            <a:ext cx="5299075" cy="1128713"/>
            <a:chOff x="864" y="3312"/>
            <a:chExt cx="3338" cy="711"/>
          </a:xfrm>
        </p:grpSpPr>
        <p:sp>
          <p:nvSpPr>
            <p:cNvPr id="33861" name="Text Box 69"/>
            <p:cNvSpPr txBox="1">
              <a:spLocks noChangeArrowheads="1"/>
            </p:cNvSpPr>
            <p:nvPr/>
          </p:nvSpPr>
          <p:spPr bwMode="auto">
            <a:xfrm>
              <a:off x="864" y="3504"/>
              <a:ext cx="17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chemeClr val="folHlink"/>
                  </a:solidFill>
                  <a:latin typeface="Times New Roman" panose="02020603050405020304" pitchFamily="18" charset="0"/>
                </a:rPr>
                <a:t>功能评价系数 </a:t>
              </a:r>
              <a:r>
                <a:rPr kumimoji="1" lang="en-US" altLang="zh-CN" sz="2800" b="1">
                  <a:solidFill>
                    <a:schemeClr val="folHlink"/>
                  </a:solidFill>
                  <a:latin typeface="Times New Roman" panose="02020603050405020304" pitchFamily="18" charset="0"/>
                </a:rPr>
                <a:t>F=</a:t>
              </a:r>
              <a:endParaRPr kumimoji="1" lang="en-US" altLang="zh-CN" sz="2800" b="1">
                <a:latin typeface="Times New Roman" panose="02020603050405020304" pitchFamily="18" charset="0"/>
              </a:endParaRPr>
            </a:p>
          </p:txBody>
        </p:sp>
        <p:sp>
          <p:nvSpPr>
            <p:cNvPr id="33862" name="Line 70"/>
            <p:cNvSpPr>
              <a:spLocks noChangeShapeType="1"/>
            </p:cNvSpPr>
            <p:nvPr/>
          </p:nvSpPr>
          <p:spPr bwMode="auto">
            <a:xfrm>
              <a:off x="2766" y="3667"/>
              <a:ext cx="1410"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3863" name="Text Box 71"/>
            <p:cNvSpPr txBox="1">
              <a:spLocks noChangeArrowheads="1"/>
            </p:cNvSpPr>
            <p:nvPr/>
          </p:nvSpPr>
          <p:spPr bwMode="auto">
            <a:xfrm>
              <a:off x="2928" y="3312"/>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FF0000"/>
                  </a:solidFill>
                  <a:latin typeface="Times New Roman" panose="02020603050405020304" pitchFamily="18" charset="0"/>
                </a:rPr>
                <a:t>平均得分</a:t>
              </a:r>
              <a:endParaRPr kumimoji="1" lang="en-US" altLang="zh-CN" sz="2800" b="1">
                <a:solidFill>
                  <a:srgbClr val="FF0000"/>
                </a:solidFill>
                <a:latin typeface="Times New Roman" panose="02020603050405020304" pitchFamily="18" charset="0"/>
              </a:endParaRPr>
            </a:p>
          </p:txBody>
        </p:sp>
        <p:sp>
          <p:nvSpPr>
            <p:cNvPr id="33864" name="Text Box 72"/>
            <p:cNvSpPr txBox="1">
              <a:spLocks noChangeArrowheads="1"/>
            </p:cNvSpPr>
            <p:nvPr/>
          </p:nvSpPr>
          <p:spPr bwMode="auto">
            <a:xfrm>
              <a:off x="2736" y="3696"/>
              <a:ext cx="14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solidFill>
                    <a:srgbClr val="66FF99"/>
                  </a:solidFill>
                  <a:latin typeface="Times New Roman" panose="02020603050405020304" pitchFamily="18" charset="0"/>
                </a:rPr>
                <a:t>平均得分总和</a:t>
              </a:r>
              <a:endParaRPr kumimoji="1" lang="zh-CN" altLang="en-US" sz="2800" b="1">
                <a:solidFill>
                  <a:srgbClr val="66FF99"/>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p:txBody>
          <a:bodyPr/>
          <a:lstStyle/>
          <a:p>
            <a:pPr eaLnBrk="1" hangingPunct="1"/>
            <a:r>
              <a:rPr kumimoji="1" lang="zh-CN" altLang="en-US" b="0" smtClean="0">
                <a:effectLst/>
              </a:rPr>
              <a:t>强制确定法－－</a:t>
            </a:r>
            <a:r>
              <a:rPr kumimoji="1" lang="zh-CN" altLang="en-US" sz="2400" b="0" smtClean="0">
                <a:effectLst/>
              </a:rPr>
              <a:t>0</a:t>
            </a:r>
            <a:r>
              <a:rPr kumimoji="1" lang="en-US" altLang="zh-CN" sz="2400" b="0" smtClean="0">
                <a:effectLst/>
              </a:rPr>
              <a:t>4</a:t>
            </a:r>
            <a:r>
              <a:rPr kumimoji="1" lang="zh-CN" altLang="en-US" sz="2400" b="0" smtClean="0">
                <a:effectLst/>
              </a:rPr>
              <a:t>评分法</a:t>
            </a:r>
            <a:endParaRPr kumimoji="1" lang="zh-CN" altLang="en-US" sz="2400" b="0" smtClean="0">
              <a:effectLst/>
            </a:endParaRPr>
          </a:p>
        </p:txBody>
      </p:sp>
      <p:sp>
        <p:nvSpPr>
          <p:cNvPr id="966659" name="Rectangle 3"/>
          <p:cNvSpPr>
            <a:spLocks noGrp="1" noChangeArrowheads="1"/>
          </p:cNvSpPr>
          <p:nvPr>
            <p:ph type="body" idx="1"/>
          </p:nvPr>
        </p:nvSpPr>
        <p:spPr>
          <a:xfrm>
            <a:off x="457200" y="1600200"/>
            <a:ext cx="8686800" cy="4530725"/>
          </a:xfrm>
        </p:spPr>
        <p:txBody>
          <a:bodyPr/>
          <a:lstStyle/>
          <a:p>
            <a:pPr eaLnBrk="1" hangingPunct="1">
              <a:defRPr/>
            </a:pPr>
            <a:r>
              <a:rPr kumimoji="1" lang="zh-CN" altLang="en-US" b="1" smtClean="0">
                <a:effectLst/>
              </a:rPr>
              <a:t>04评分法与01评分法相似，但其评分标准不同；</a:t>
            </a:r>
            <a:r>
              <a:rPr kumimoji="1" lang="zh-CN" altLang="en-US" smtClean="0">
                <a:effectLst/>
              </a:rPr>
              <a:t>分为四种情况：</a:t>
            </a:r>
            <a:endParaRPr kumimoji="1" lang="zh-CN" altLang="en-US" smtClean="0">
              <a:effectLst/>
            </a:endParaRPr>
          </a:p>
          <a:p>
            <a:pPr lvl="1" eaLnBrk="1" hangingPunct="1">
              <a:defRPr/>
            </a:pPr>
            <a:r>
              <a:rPr kumimoji="1" lang="zh-CN" altLang="en-US" smtClean="0">
                <a:effectLst/>
              </a:rPr>
              <a:t>非常重要的功能得</a:t>
            </a:r>
            <a:r>
              <a:rPr kumimoji="1" lang="en-US" altLang="zh-CN" smtClean="0">
                <a:effectLst/>
              </a:rPr>
              <a:t>4</a:t>
            </a:r>
            <a:r>
              <a:rPr kumimoji="1" lang="zh-CN" altLang="en-US" smtClean="0">
                <a:effectLst/>
              </a:rPr>
              <a:t>分，很不重要的功能得</a:t>
            </a:r>
            <a:r>
              <a:rPr kumimoji="1" lang="en-US" altLang="zh-CN" smtClean="0">
                <a:effectLst/>
              </a:rPr>
              <a:t>0</a:t>
            </a:r>
            <a:r>
              <a:rPr kumimoji="1" lang="zh-CN" altLang="en-US" smtClean="0">
                <a:effectLst/>
              </a:rPr>
              <a:t>分；</a:t>
            </a:r>
            <a:endParaRPr kumimoji="1" lang="zh-CN" altLang="en-US" smtClean="0">
              <a:effectLst/>
            </a:endParaRPr>
          </a:p>
          <a:p>
            <a:pPr lvl="1" eaLnBrk="1" hangingPunct="1">
              <a:defRPr/>
            </a:pPr>
            <a:r>
              <a:rPr kumimoji="1" lang="zh-CN" altLang="en-US" smtClean="0">
                <a:effectLst/>
              </a:rPr>
              <a:t> 比较重要的功能得</a:t>
            </a:r>
            <a:r>
              <a:rPr kumimoji="1" lang="en-US" altLang="zh-CN" smtClean="0">
                <a:effectLst/>
              </a:rPr>
              <a:t>3</a:t>
            </a:r>
            <a:r>
              <a:rPr kumimoji="1" lang="zh-CN" altLang="en-US" smtClean="0">
                <a:effectLst/>
              </a:rPr>
              <a:t>分，不太重要的功能得</a:t>
            </a:r>
            <a:r>
              <a:rPr kumimoji="1" lang="en-US" altLang="zh-CN" smtClean="0">
                <a:effectLst/>
              </a:rPr>
              <a:t>1</a:t>
            </a:r>
            <a:r>
              <a:rPr kumimoji="1" lang="zh-CN" altLang="en-US" smtClean="0">
                <a:effectLst/>
              </a:rPr>
              <a:t>分；</a:t>
            </a:r>
            <a:endParaRPr kumimoji="1" lang="zh-CN" altLang="en-US" smtClean="0">
              <a:effectLst/>
            </a:endParaRPr>
          </a:p>
          <a:p>
            <a:pPr lvl="1" eaLnBrk="1" hangingPunct="1">
              <a:defRPr/>
            </a:pPr>
            <a:r>
              <a:rPr kumimoji="1" lang="zh-CN" altLang="en-US" smtClean="0">
                <a:effectLst/>
              </a:rPr>
              <a:t> 两个功能重要程度相同时各得</a:t>
            </a:r>
            <a:r>
              <a:rPr kumimoji="1" lang="en-US" altLang="zh-CN" smtClean="0">
                <a:effectLst/>
              </a:rPr>
              <a:t>2</a:t>
            </a:r>
            <a:r>
              <a:rPr kumimoji="1" lang="zh-CN" altLang="en-US" smtClean="0">
                <a:effectLst/>
              </a:rPr>
              <a:t>分；</a:t>
            </a:r>
            <a:endParaRPr kumimoji="1" lang="zh-CN" altLang="en-US" smtClean="0">
              <a:effectLst/>
            </a:endParaRPr>
          </a:p>
          <a:p>
            <a:pPr lvl="1" eaLnBrk="1" hangingPunct="1">
              <a:defRPr/>
            </a:pPr>
            <a:r>
              <a:rPr kumimoji="1" lang="zh-CN" altLang="en-US" smtClean="0">
                <a:effectLst/>
              </a:rPr>
              <a:t>自身对比不得分。</a:t>
            </a:r>
            <a:endParaRPr lang="zh-CN" altLang="en-US" smtClean="0"/>
          </a:p>
        </p:txBody>
      </p:sp>
      <p:grpSp>
        <p:nvGrpSpPr>
          <p:cNvPr id="2" name="Group 4"/>
          <p:cNvGrpSpPr/>
          <p:nvPr/>
        </p:nvGrpSpPr>
        <p:grpSpPr bwMode="auto">
          <a:xfrm>
            <a:off x="755650" y="4797425"/>
            <a:ext cx="6727825" cy="1814513"/>
            <a:chOff x="864" y="2896"/>
            <a:chExt cx="4238" cy="1143"/>
          </a:xfrm>
        </p:grpSpPr>
        <p:sp>
          <p:nvSpPr>
            <p:cNvPr id="34821" name="Text Box 5"/>
            <p:cNvSpPr txBox="1">
              <a:spLocks noChangeArrowheads="1"/>
            </p:cNvSpPr>
            <p:nvPr/>
          </p:nvSpPr>
          <p:spPr bwMode="auto">
            <a:xfrm>
              <a:off x="1612" y="2896"/>
              <a:ext cx="34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非常重要的一方4分，另一方则0分</a:t>
              </a:r>
              <a:endParaRPr kumimoji="1" lang="zh-CN" altLang="en-US" sz="2800" b="1">
                <a:latin typeface="Times New Roman" panose="02020603050405020304" pitchFamily="18" charset="0"/>
              </a:endParaRPr>
            </a:p>
          </p:txBody>
        </p:sp>
        <p:sp>
          <p:nvSpPr>
            <p:cNvPr id="34822" name="Text Box 6"/>
            <p:cNvSpPr txBox="1">
              <a:spLocks noChangeArrowheads="1"/>
            </p:cNvSpPr>
            <p:nvPr/>
          </p:nvSpPr>
          <p:spPr bwMode="auto">
            <a:xfrm>
              <a:off x="1612" y="3328"/>
              <a:ext cx="34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比较重要的一方3分，另一方则1分</a:t>
              </a:r>
              <a:endParaRPr kumimoji="1" lang="zh-CN" altLang="en-US" sz="2800" b="1">
                <a:latin typeface="Times New Roman" panose="02020603050405020304" pitchFamily="18" charset="0"/>
              </a:endParaRPr>
            </a:p>
          </p:txBody>
        </p:sp>
        <p:sp>
          <p:nvSpPr>
            <p:cNvPr id="34823" name="Text Box 7"/>
            <p:cNvSpPr txBox="1">
              <a:spLocks noChangeArrowheads="1"/>
            </p:cNvSpPr>
            <p:nvPr/>
          </p:nvSpPr>
          <p:spPr bwMode="auto">
            <a:xfrm>
              <a:off x="1612" y="3712"/>
              <a:ext cx="27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两者相同重要，则各得2分</a:t>
              </a:r>
              <a:endParaRPr kumimoji="1" lang="zh-CN" altLang="en-US" sz="2800" b="1">
                <a:latin typeface="Times New Roman" panose="02020603050405020304" pitchFamily="18" charset="0"/>
              </a:endParaRPr>
            </a:p>
          </p:txBody>
        </p:sp>
        <p:sp>
          <p:nvSpPr>
            <p:cNvPr id="34824" name="Text Box 8"/>
            <p:cNvSpPr txBox="1">
              <a:spLocks noChangeArrowheads="1"/>
            </p:cNvSpPr>
            <p:nvPr/>
          </p:nvSpPr>
          <p:spPr bwMode="auto">
            <a:xfrm>
              <a:off x="864" y="3279"/>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标准</a:t>
              </a:r>
              <a:endParaRPr kumimoji="1" lang="zh-CN" altLang="en-US" sz="2800" b="1">
                <a:latin typeface="Times New Roman" panose="02020603050405020304" pitchFamily="18" charset="0"/>
              </a:endParaRPr>
            </a:p>
          </p:txBody>
        </p:sp>
        <p:sp>
          <p:nvSpPr>
            <p:cNvPr id="34825" name="AutoShape 9"/>
            <p:cNvSpPr/>
            <p:nvPr/>
          </p:nvSpPr>
          <p:spPr bwMode="auto">
            <a:xfrm>
              <a:off x="1440" y="3024"/>
              <a:ext cx="96" cy="912"/>
            </a:xfrm>
            <a:prstGeom prst="leftBrace">
              <a:avLst>
                <a:gd name="adj1" fmla="val 79167"/>
                <a:gd name="adj2" fmla="val 50000"/>
              </a:avLst>
            </a:prstGeom>
            <a:noFill/>
            <a:ln w="12700" cap="sq">
              <a:solidFill>
                <a:schemeClr val="tx1"/>
              </a:solidFill>
              <a:rou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endParaRPr lang="zh-CN" altLang="en-US" sz="1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6" name="Text Box 2"/>
          <p:cNvSpPr txBox="1">
            <a:spLocks noChangeArrowheads="1"/>
          </p:cNvSpPr>
          <p:nvPr/>
        </p:nvSpPr>
        <p:spPr bwMode="auto">
          <a:xfrm>
            <a:off x="533400" y="228600"/>
            <a:ext cx="66294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125000"/>
              </a:lnSpc>
              <a:spcBef>
                <a:spcPct val="0"/>
              </a:spcBef>
              <a:buClrTx/>
              <a:buSzTx/>
              <a:buFontTx/>
              <a:buNone/>
            </a:pPr>
            <a:r>
              <a:rPr kumimoji="1" lang="zh-CN" altLang="en-US" sz="2400" b="1">
                <a:latin typeface="Times New Roman" panose="02020603050405020304" pitchFamily="18" charset="0"/>
              </a:rPr>
              <a:t>  例：各种功能的重要性关系为：</a:t>
            </a:r>
            <a:endParaRPr kumimoji="1" lang="zh-CN" altLang="en-US" sz="2400" b="1">
              <a:latin typeface="Times New Roman" panose="02020603050405020304" pitchFamily="18" charset="0"/>
            </a:endParaRPr>
          </a:p>
          <a:p>
            <a:pPr eaLnBrk="1" hangingPunct="1">
              <a:lnSpc>
                <a:spcPct val="125000"/>
              </a:lnSpc>
              <a:spcBef>
                <a:spcPct val="0"/>
              </a:spcBef>
              <a:buClrTx/>
              <a:buSzTx/>
              <a:buFontTx/>
              <a:buNone/>
            </a:pPr>
            <a:r>
              <a:rPr kumimoji="1" lang="en-US" altLang="zh-CN" sz="2400" b="1">
                <a:latin typeface="Times New Roman" panose="02020603050405020304" pitchFamily="18" charset="0"/>
              </a:rPr>
              <a:t>                 F</a:t>
            </a:r>
            <a:r>
              <a:rPr kumimoji="1" lang="en-US" altLang="zh-CN" sz="2400" b="1" baseline="-25000">
                <a:latin typeface="Times New Roman" panose="02020603050405020304" pitchFamily="18" charset="0"/>
              </a:rPr>
              <a:t>3 </a:t>
            </a:r>
            <a:r>
              <a:rPr kumimoji="1" lang="zh-CN" altLang="en-US" sz="2400" b="1">
                <a:latin typeface="Times New Roman" panose="02020603050405020304" pitchFamily="18" charset="0"/>
              </a:rPr>
              <a:t>相对于</a:t>
            </a:r>
            <a:r>
              <a:rPr kumimoji="1" lang="en-US" altLang="zh-CN" sz="2400" b="1">
                <a:latin typeface="Times New Roman" panose="02020603050405020304" pitchFamily="18" charset="0"/>
              </a:rPr>
              <a:t>F</a:t>
            </a:r>
            <a:r>
              <a:rPr kumimoji="1" lang="en-US" altLang="zh-CN" sz="2400" b="1" baseline="-25000">
                <a:latin typeface="Times New Roman" panose="02020603050405020304" pitchFamily="18" charset="0"/>
              </a:rPr>
              <a:t>4 </a:t>
            </a:r>
            <a:r>
              <a:rPr kumimoji="1" lang="zh-CN" altLang="en-US" sz="2400" b="1">
                <a:latin typeface="Times New Roman" panose="02020603050405020304" pitchFamily="18" charset="0"/>
              </a:rPr>
              <a:t>很重要；</a:t>
            </a:r>
            <a:endParaRPr kumimoji="1" lang="zh-CN" altLang="en-US" sz="2400" b="1">
              <a:latin typeface="Times New Roman" panose="02020603050405020304" pitchFamily="18" charset="0"/>
            </a:endParaRPr>
          </a:p>
          <a:p>
            <a:pPr eaLnBrk="1" hangingPunct="1">
              <a:lnSpc>
                <a:spcPct val="125000"/>
              </a:lnSpc>
              <a:spcBef>
                <a:spcPct val="0"/>
              </a:spcBef>
              <a:buClrTx/>
              <a:buSzTx/>
              <a:buFontTx/>
              <a:buNone/>
            </a:pPr>
            <a:r>
              <a:rPr kumimoji="1" lang="en-US" altLang="zh-CN" sz="2400" b="1">
                <a:latin typeface="Times New Roman" panose="02020603050405020304" pitchFamily="18" charset="0"/>
              </a:rPr>
              <a:t>                 F</a:t>
            </a:r>
            <a:r>
              <a:rPr kumimoji="1" lang="en-US" altLang="zh-CN" sz="2400" b="1" baseline="-25000">
                <a:latin typeface="Times New Roman" panose="02020603050405020304" pitchFamily="18" charset="0"/>
              </a:rPr>
              <a:t>3 </a:t>
            </a:r>
            <a:r>
              <a:rPr kumimoji="1" lang="zh-CN" altLang="en-US" sz="2400" b="1">
                <a:latin typeface="Times New Roman" panose="02020603050405020304" pitchFamily="18" charset="0"/>
              </a:rPr>
              <a:t>相对于</a:t>
            </a:r>
            <a:r>
              <a:rPr kumimoji="1" lang="en-US" altLang="zh-CN" sz="2400" b="1">
                <a:latin typeface="Times New Roman" panose="02020603050405020304" pitchFamily="18" charset="0"/>
              </a:rPr>
              <a:t>F</a:t>
            </a:r>
            <a:r>
              <a:rPr kumimoji="1" lang="en-US" altLang="zh-CN" sz="2400" b="1" baseline="-25000">
                <a:latin typeface="Times New Roman" panose="02020603050405020304" pitchFamily="18" charset="0"/>
              </a:rPr>
              <a:t>1 </a:t>
            </a:r>
            <a:r>
              <a:rPr kumimoji="1" lang="zh-CN" altLang="en-US" sz="2400" b="1">
                <a:latin typeface="Times New Roman" panose="02020603050405020304" pitchFamily="18" charset="0"/>
              </a:rPr>
              <a:t>较重要；</a:t>
            </a:r>
            <a:endParaRPr kumimoji="1" lang="zh-CN" altLang="en-US" sz="2400" b="1">
              <a:latin typeface="Times New Roman" panose="02020603050405020304" pitchFamily="18" charset="0"/>
            </a:endParaRPr>
          </a:p>
          <a:p>
            <a:pPr eaLnBrk="1" hangingPunct="1">
              <a:lnSpc>
                <a:spcPct val="125000"/>
              </a:lnSpc>
              <a:spcBef>
                <a:spcPct val="0"/>
              </a:spcBef>
              <a:buClrTx/>
              <a:buSzTx/>
              <a:buFontTx/>
              <a:buNone/>
            </a:pPr>
            <a:r>
              <a:rPr kumimoji="1" lang="en-US" altLang="zh-CN" sz="2400" b="1">
                <a:latin typeface="Times New Roman" panose="02020603050405020304" pitchFamily="18" charset="0"/>
              </a:rPr>
              <a:t>                 F</a:t>
            </a:r>
            <a:r>
              <a:rPr kumimoji="1" lang="en-US" altLang="zh-CN" sz="2400" b="1" baseline="-25000">
                <a:latin typeface="Times New Roman" panose="02020603050405020304" pitchFamily="18" charset="0"/>
              </a:rPr>
              <a:t>2 </a:t>
            </a:r>
            <a:r>
              <a:rPr lang="zh-CN" altLang="en-US" sz="2400" b="1">
                <a:latin typeface="Times New Roman" panose="02020603050405020304" pitchFamily="18" charset="0"/>
              </a:rPr>
              <a:t>和</a:t>
            </a:r>
            <a:r>
              <a:rPr kumimoji="1" lang="en-US" altLang="zh-CN" sz="2400" b="1">
                <a:latin typeface="Times New Roman" panose="02020603050405020304" pitchFamily="18" charset="0"/>
              </a:rPr>
              <a:t>F</a:t>
            </a:r>
            <a:r>
              <a:rPr kumimoji="1" lang="en-US" altLang="zh-CN" sz="2400" b="1" baseline="-25000">
                <a:latin typeface="Times New Roman" panose="02020603050405020304" pitchFamily="18" charset="0"/>
              </a:rPr>
              <a:t>5 </a:t>
            </a:r>
            <a:r>
              <a:rPr kumimoji="1" lang="zh-CN" altLang="en-US" sz="2400" b="1">
                <a:latin typeface="Times New Roman" panose="02020603050405020304" pitchFamily="18" charset="0"/>
              </a:rPr>
              <a:t>同样</a:t>
            </a:r>
            <a:r>
              <a:rPr lang="zh-CN" altLang="en-US" sz="2400" b="1">
                <a:latin typeface="Times New Roman" panose="02020603050405020304" pitchFamily="18" charset="0"/>
              </a:rPr>
              <a:t>重要；</a:t>
            </a:r>
            <a:endParaRPr lang="zh-CN" altLang="en-US" sz="2400" b="1">
              <a:latin typeface="Times New Roman" panose="02020603050405020304" pitchFamily="18" charset="0"/>
            </a:endParaRPr>
          </a:p>
          <a:p>
            <a:pPr eaLnBrk="1" hangingPunct="1">
              <a:lnSpc>
                <a:spcPct val="125000"/>
              </a:lnSpc>
              <a:spcBef>
                <a:spcPct val="0"/>
              </a:spcBef>
              <a:buClrTx/>
              <a:buSzTx/>
              <a:buFontTx/>
              <a:buNone/>
            </a:pPr>
            <a:r>
              <a:rPr lang="en-US" altLang="zh-CN" sz="2400" b="1">
                <a:latin typeface="Times New Roman" panose="02020603050405020304" pitchFamily="18" charset="0"/>
              </a:rPr>
              <a:t>                 F</a:t>
            </a:r>
            <a:r>
              <a:rPr lang="en-US" altLang="zh-CN" sz="2400" b="1" baseline="-25000">
                <a:latin typeface="Times New Roman" panose="02020603050405020304" pitchFamily="18" charset="0"/>
              </a:rPr>
              <a:t>4 </a:t>
            </a:r>
            <a:r>
              <a:rPr lang="zh-CN" altLang="en-US" sz="2400" b="1">
                <a:latin typeface="Times New Roman" panose="02020603050405020304" pitchFamily="18" charset="0"/>
              </a:rPr>
              <a:t>和</a:t>
            </a:r>
            <a:r>
              <a:rPr lang="en-US" altLang="zh-CN" sz="2400" b="1">
                <a:latin typeface="Times New Roman" panose="02020603050405020304" pitchFamily="18" charset="0"/>
              </a:rPr>
              <a:t>F</a:t>
            </a:r>
            <a:r>
              <a:rPr lang="en-US" altLang="zh-CN" sz="2400" b="1" baseline="-25000">
                <a:latin typeface="Times New Roman" panose="02020603050405020304" pitchFamily="18" charset="0"/>
              </a:rPr>
              <a:t>5 </a:t>
            </a:r>
            <a:r>
              <a:rPr lang="zh-CN" altLang="en-US" sz="2400" b="1">
                <a:latin typeface="Times New Roman" panose="02020603050405020304" pitchFamily="18" charset="0"/>
              </a:rPr>
              <a:t>同样重要。</a:t>
            </a:r>
            <a:endParaRPr lang="zh-CN" altLang="en-US" sz="2400" b="1">
              <a:latin typeface="Times New Roman" panose="02020603050405020304" pitchFamily="18" charset="0"/>
            </a:endParaRPr>
          </a:p>
          <a:p>
            <a:pPr eaLnBrk="1" hangingPunct="1">
              <a:lnSpc>
                <a:spcPct val="125000"/>
              </a:lnSpc>
              <a:spcBef>
                <a:spcPct val="0"/>
              </a:spcBef>
              <a:buClrTx/>
              <a:buSzTx/>
              <a:buFontTx/>
              <a:buNone/>
            </a:pPr>
            <a:r>
              <a:rPr lang="zh-CN" altLang="en-US" sz="2400" b="1">
                <a:latin typeface="Times New Roman" panose="02020603050405020304" pitchFamily="18" charset="0"/>
              </a:rPr>
              <a:t>        </a:t>
            </a:r>
            <a:r>
              <a:rPr kumimoji="1" lang="zh-CN" altLang="en-US" sz="2400" b="1">
                <a:latin typeface="Times New Roman" panose="02020603050405020304" pitchFamily="18" charset="0"/>
              </a:rPr>
              <a:t>用04评分法计算各功能的权重，填下表</a:t>
            </a:r>
            <a:endParaRPr kumimoji="1" lang="zh-CN" altLang="en-US" sz="2400" b="1">
              <a:latin typeface="Times New Roman" panose="02020603050405020304" pitchFamily="18" charset="0"/>
            </a:endParaRPr>
          </a:p>
        </p:txBody>
      </p:sp>
      <p:graphicFrame>
        <p:nvGraphicFramePr>
          <p:cNvPr id="968707" name="Group 3"/>
          <p:cNvGraphicFramePr>
            <a:graphicFrameLocks noGrp="1"/>
          </p:cNvGraphicFramePr>
          <p:nvPr/>
        </p:nvGraphicFramePr>
        <p:xfrm>
          <a:off x="838200" y="3124200"/>
          <a:ext cx="7543800" cy="3232153"/>
        </p:xfrm>
        <a:graphic>
          <a:graphicData uri="http://schemas.openxmlformats.org/drawingml/2006/table">
            <a:tbl>
              <a:tblPr/>
              <a:tblGrid>
                <a:gridCol w="1068388"/>
                <a:gridCol w="714375"/>
                <a:gridCol w="668337"/>
                <a:gridCol w="668338"/>
                <a:gridCol w="668337"/>
                <a:gridCol w="519113"/>
                <a:gridCol w="966787"/>
                <a:gridCol w="2270125"/>
              </a:tblGrid>
              <a:tr h="4619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功能</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得分</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功能指数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19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hlink"/>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1" i="0" u="none" strike="noStrike" cap="none" normalizeH="0" baseline="0" smtClean="0">
                        <a:ln>
                          <a:noFill/>
                        </a:ln>
                        <a:solidFill>
                          <a:schemeClr val="hlink"/>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rgbClr val="99FF66"/>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1" i="0" u="none" strike="noStrike" cap="none" normalizeH="0" baseline="0" smtClean="0">
                        <a:ln>
                          <a:noFill/>
                        </a:ln>
                        <a:solidFill>
                          <a:srgbClr val="99FF66"/>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accent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1" i="0" u="none" strike="noStrike" cap="none" normalizeH="0" baseline="0" smtClean="0">
                        <a:ln>
                          <a:noFill/>
                        </a:ln>
                        <a:solidFill>
                          <a:schemeClr val="accent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1"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0.25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19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hlink"/>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1" i="0" u="none" strike="noStrike" cap="none" normalizeH="0" baseline="0" smtClean="0">
                        <a:ln>
                          <a:noFill/>
                        </a:ln>
                        <a:solidFill>
                          <a:schemeClr val="hlink"/>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1" i="0" u="none" strike="noStrike" cap="none" normalizeH="0" baseline="0" smtClean="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0.125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rgbClr val="99FF66"/>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zh-CN" altLang="en-US" sz="2400" b="1" i="0" u="none" strike="noStrike" cap="none" normalizeH="0" baseline="0" smtClean="0">
                        <a:ln>
                          <a:noFill/>
                        </a:ln>
                        <a:solidFill>
                          <a:srgbClr val="99FF66"/>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1" i="0" u="none" strike="noStrike" cap="none" normalizeH="0" baseline="0" smtClean="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0.375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19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accent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1" i="0" u="none" strike="noStrike" cap="none" normalizeH="0" baseline="0" smtClean="0">
                        <a:ln>
                          <a:noFill/>
                        </a:ln>
                        <a:solidFill>
                          <a:schemeClr val="accent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1" i="0" u="none" strike="noStrike" cap="none" normalizeH="0" baseline="0" smtClean="0">
                        <a:ln>
                          <a:noFill/>
                        </a:ln>
                        <a:solidFill>
                          <a:srgbClr val="FF7C80"/>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0.125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19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endParaRPr kumimoji="0" lang="en-US" altLang="zh-CN" sz="24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zh-CN" altLang="en-US" sz="2400" b="1" i="0" u="none" strike="noStrike" cap="none" normalizeH="0" baseline="0" smtClean="0">
                        <a:ln>
                          <a:noFill/>
                        </a:ln>
                        <a:solidFill>
                          <a:schemeClr val="folHlink"/>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0.125</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5">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rPr>
                        <a:t>40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sym typeface="Symbol" panose="05050102010706020507" pitchFamily="18"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1.000</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68706"/>
                                        </p:tgtEl>
                                        <p:attrNameLst>
                                          <p:attrName>style.visibility</p:attrName>
                                        </p:attrNameLst>
                                      </p:cBhvr>
                                      <p:to>
                                        <p:strVal val="visible"/>
                                      </p:to>
                                    </p:set>
                                    <p:animEffect transition="in" filter="blinds(horizontal)">
                                      <p:cBhvr>
                                        <p:cTn id="7" dur="500"/>
                                        <p:tgtEl>
                                          <p:spTgt spid="968706"/>
                                        </p:tgtEl>
                                      </p:cBhvr>
                                    </p:animEffect>
                                  </p:childTnLst>
                                  <p:subTnLst>
                                    <p:audio>
                                      <p:cMediaNode>
                                        <p:cTn display="0" masterRel="sameClick">
                                          <p:stCondLst>
                                            <p:cond evt="begin" delay="0">
                                              <p:tn val="5"/>
                                            </p:cond>
                                          </p:stCondLst>
                                          <p:endCondLst>
                                            <p:cond evt="onStopAudio" delay="0">
                                              <p:tgtEl>
                                                <p:sldTgt/>
                                              </p:tgtEl>
                                            </p:cond>
                                          </p:endCondLst>
                                        </p:cTn>
                                        <p:tgtEl>
                                          <p:sndTgt r:embed="rId1" name="chimes.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68707"/>
                                        </p:tgtEl>
                                        <p:attrNameLst>
                                          <p:attrName>style.visibility</p:attrName>
                                        </p:attrNameLst>
                                      </p:cBhvr>
                                      <p:to>
                                        <p:strVal val="visible"/>
                                      </p:to>
                                    </p:set>
                                    <p:animEffect transition="in" filter="blinds(horizontal)">
                                      <p:cBhvr>
                                        <p:cTn id="12" dur="500"/>
                                        <p:tgtEl>
                                          <p:spTgt spid="968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870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sz="half" idx="1"/>
          </p:nvPr>
        </p:nvSpPr>
        <p:spPr>
          <a:xfrm>
            <a:off x="250825" y="476250"/>
            <a:ext cx="8435975" cy="892175"/>
          </a:xfrm>
        </p:spPr>
        <p:txBody>
          <a:bodyPr/>
          <a:lstStyle/>
          <a:p>
            <a:pPr eaLnBrk="1" hangingPunct="1"/>
            <a:r>
              <a:rPr kumimoji="1" lang="zh-CN" altLang="en-US" sz="3600" b="1" smtClean="0">
                <a:effectLst/>
              </a:rPr>
              <a:t>环比评分法（</a:t>
            </a:r>
            <a:r>
              <a:rPr kumimoji="1" lang="en-US" altLang="zh-CN" sz="3600" b="1" smtClean="0">
                <a:effectLst/>
              </a:rPr>
              <a:t>DARE</a:t>
            </a:r>
            <a:r>
              <a:rPr kumimoji="1" lang="zh-CN" altLang="en-US" sz="3600" b="1" smtClean="0">
                <a:effectLst/>
              </a:rPr>
              <a:t>法）</a:t>
            </a:r>
            <a:endParaRPr kumimoji="1" lang="zh-CN" altLang="en-US" sz="3600" b="1" smtClean="0">
              <a:effectLst/>
            </a:endParaRPr>
          </a:p>
        </p:txBody>
      </p:sp>
      <p:graphicFrame>
        <p:nvGraphicFramePr>
          <p:cNvPr id="969770" name="Group 42"/>
          <p:cNvGraphicFramePr>
            <a:graphicFrameLocks noGrp="1"/>
          </p:cNvGraphicFramePr>
          <p:nvPr>
            <p:ph sz="half" idx="2"/>
          </p:nvPr>
        </p:nvGraphicFramePr>
        <p:xfrm>
          <a:off x="0" y="1412875"/>
          <a:ext cx="8461375" cy="4327525"/>
        </p:xfrm>
        <a:graphic>
          <a:graphicData uri="http://schemas.openxmlformats.org/drawingml/2006/table">
            <a:tbl>
              <a:tblPr/>
              <a:tblGrid>
                <a:gridCol w="2428875"/>
                <a:gridCol w="1908175"/>
                <a:gridCol w="1541463"/>
                <a:gridCol w="2582862"/>
              </a:tblGrid>
              <a:tr h="10689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评价对象</a:t>
                      </a:r>
                      <a:endPar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相对比值</a:t>
                      </a:r>
                      <a:endPar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得分</a:t>
                      </a:r>
                      <a:endPar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功能评价系数</a:t>
                      </a:r>
                      <a:endPar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220465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5000"/>
                        </a:lnSpc>
                        <a:spcBef>
                          <a:spcPct val="0"/>
                        </a:spcBef>
                        <a:spcAft>
                          <a:spcPct val="0"/>
                        </a:spcAft>
                        <a:buClr>
                          <a:schemeClr val="bg1"/>
                        </a:buClr>
                        <a:buSzPct val="70000"/>
                        <a:buFont typeface="Wingdings" panose="05000000000000000000" pitchFamily="2" charset="2"/>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5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=1.5</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5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/F</a:t>
                      </a:r>
                      <a:r>
                        <a:rPr kumimoji="0" lang="en-US" altLang="zh-CN" sz="3200" b="0" i="0" u="none" strike="noStrike" cap="none" normalizeH="0" baseline="-3000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9</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4.5</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0.51</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0.26</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0.17</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0.06</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1053920">
                <a:tc grid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合计</a:t>
                      </a:r>
                      <a:endParaRPr kumimoji="0" lang="zh-CN" altLang="en-US"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hMerge="1">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17.5</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1.00</a:t>
                      </a:r>
                      <a:endParaRPr kumimoji="0" lang="en-US" altLang="zh-CN" sz="3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793" marB="46793"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Rot="1" noChangeArrowheads="1"/>
          </p:cNvSpPr>
          <p:nvPr>
            <p:ph type="title"/>
          </p:nvPr>
        </p:nvSpPr>
        <p:spPr/>
        <p:txBody>
          <a:bodyPr/>
          <a:lstStyle/>
          <a:p>
            <a:pPr eaLnBrk="1" hangingPunct="1">
              <a:defRPr/>
            </a:pPr>
            <a:r>
              <a:rPr lang="zh-CN" altLang="en-US" smtClean="0"/>
              <a:t>打分方法</a:t>
            </a:r>
            <a:endParaRPr lang="zh-CN" altLang="en-US" smtClean="0"/>
          </a:p>
        </p:txBody>
      </p:sp>
      <p:sp>
        <p:nvSpPr>
          <p:cNvPr id="971779" name="Rectangle 3"/>
          <p:cNvSpPr>
            <a:spLocks noGrp="1" noChangeArrowheads="1"/>
          </p:cNvSpPr>
          <p:nvPr>
            <p:ph type="body" sz="half" idx="1"/>
          </p:nvPr>
        </p:nvSpPr>
        <p:spPr>
          <a:xfrm>
            <a:off x="457200" y="1600200"/>
            <a:ext cx="8075613" cy="1466850"/>
          </a:xfrm>
        </p:spPr>
        <p:txBody>
          <a:bodyPr/>
          <a:lstStyle/>
          <a:p>
            <a:pPr eaLnBrk="1" hangingPunct="1">
              <a:defRPr/>
            </a:pPr>
            <a:r>
              <a:rPr lang="zh-CN" altLang="en-US" sz="2800" smtClean="0"/>
              <a:t>直接评分法</a:t>
            </a:r>
            <a:endParaRPr lang="zh-CN" altLang="en-US" sz="2800" smtClean="0"/>
          </a:p>
          <a:p>
            <a:pPr lvl="1" eaLnBrk="1" hangingPunct="1">
              <a:defRPr/>
            </a:pPr>
            <a:r>
              <a:rPr lang="zh-CN" altLang="en-US" sz="2400" smtClean="0"/>
              <a:t>由专业人员对各功能直接打分</a:t>
            </a:r>
            <a:endParaRPr lang="zh-CN" altLang="en-US" sz="2400" smtClean="0"/>
          </a:p>
          <a:p>
            <a:pPr eaLnBrk="1" hangingPunct="1">
              <a:defRPr/>
            </a:pPr>
            <a:endParaRPr lang="zh-CN" altLang="en-US" sz="2800" smtClean="0"/>
          </a:p>
        </p:txBody>
      </p:sp>
      <p:graphicFrame>
        <p:nvGraphicFramePr>
          <p:cNvPr id="971847" name="Group 71"/>
          <p:cNvGraphicFramePr>
            <a:graphicFrameLocks noGrp="1"/>
          </p:cNvGraphicFramePr>
          <p:nvPr>
            <p:ph sz="half" idx="2"/>
          </p:nvPr>
        </p:nvGraphicFramePr>
        <p:xfrm>
          <a:off x="755650" y="2995613"/>
          <a:ext cx="7570788" cy="3024187"/>
        </p:xfrm>
        <a:graphic>
          <a:graphicData uri="http://schemas.openxmlformats.org/drawingml/2006/table">
            <a:tbl>
              <a:tblPr/>
              <a:tblGrid>
                <a:gridCol w="1054100"/>
                <a:gridCol w="493713"/>
                <a:gridCol w="493712"/>
                <a:gridCol w="498475"/>
                <a:gridCol w="493713"/>
                <a:gridCol w="498475"/>
                <a:gridCol w="496887"/>
                <a:gridCol w="492125"/>
                <a:gridCol w="498475"/>
                <a:gridCol w="495300"/>
                <a:gridCol w="496888"/>
                <a:gridCol w="779462"/>
                <a:gridCol w="779463"/>
              </a:tblGrid>
              <a:tr h="1008062">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          评价</a:t>
                      </a:r>
                      <a:endPar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          人员</a:t>
                      </a:r>
                      <a:endPar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70000"/>
                        <a:buFontTx/>
                        <a:buNone/>
                      </a:pPr>
                      <a:r>
                        <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零件</a:t>
                      </a:r>
                      <a:endPar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70000"/>
                        <a:buFontTx/>
                        <a:buNone/>
                      </a:pPr>
                      <a:r>
                        <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功能</a:t>
                      </a:r>
                      <a:endParaRPr kumimoji="0" lang="zh-CN" altLang="en-US" sz="12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6</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7</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8</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9</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各零件得分</a:t>
                      </a:r>
                      <a:endParaRPr kumimoji="0" lang="zh-CN" altLang="en-US"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功能评价系数</a:t>
                      </a:r>
                      <a:endParaRPr kumimoji="0" lang="zh-CN" altLang="en-US"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16177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A</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B</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C</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D</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E</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T="45723" marB="4572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21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37</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0.24</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0.21</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0.37</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0.05</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70000"/>
                        <a:buFontTx/>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0.13</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39842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zh-CN" altLang="en-US"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合计</a:t>
                      </a:r>
                      <a:endParaRPr kumimoji="0" lang="zh-CN" altLang="en-US"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T="45723" marB="45723"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bg1"/>
                        </a:buClr>
                        <a:buSzPct val="70000"/>
                        <a:buFont typeface="Wingdings" panose="05000000000000000000" pitchFamily="2" charset="2"/>
                        <a:buNone/>
                      </a:pPr>
                      <a:r>
                        <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smtClean="0">
                        <a:ln>
                          <a:noFill/>
                        </a:ln>
                        <a:solidFill>
                          <a:schemeClr val="bg1"/>
                        </a:solidFill>
                        <a:effectLst>
                          <a:outerShdw blurRad="38100" dist="38100" dir="2700000" algn="tl">
                            <a:srgbClr val="C0C0C0"/>
                          </a:outerShdw>
                        </a:effectLst>
                        <a:latin typeface="Garamond" panose="02020404030301010803" pitchFamily="18" charset="0"/>
                        <a:ea typeface="宋体" panose="02010600030101010101" pitchFamily="2" charset="-122"/>
                      </a:endParaRPr>
                    </a:p>
                  </a:txBody>
                  <a:tcPr marL="90000" marR="90000" marT="46803" marB="46803"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bl>
          </a:graphicData>
        </a:graphic>
      </p:graphicFrame>
      <p:sp>
        <p:nvSpPr>
          <p:cNvPr id="37951" name="Line 67"/>
          <p:cNvSpPr>
            <a:spLocks noChangeShapeType="1"/>
          </p:cNvSpPr>
          <p:nvPr/>
        </p:nvSpPr>
        <p:spPr bwMode="auto">
          <a:xfrm>
            <a:off x="755650" y="3068638"/>
            <a:ext cx="1008063" cy="720725"/>
          </a:xfrm>
          <a:prstGeom prst="line">
            <a:avLst/>
          </a:prstGeom>
          <a:noFill/>
          <a:ln w="9525">
            <a:solidFill>
              <a:schemeClr val="bg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2" name="Text Box 2"/>
          <p:cNvSpPr txBox="1">
            <a:spLocks noChangeArrowheads="1"/>
          </p:cNvSpPr>
          <p:nvPr/>
        </p:nvSpPr>
        <p:spPr bwMode="auto">
          <a:xfrm>
            <a:off x="457200" y="304800"/>
            <a:ext cx="7283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rPr>
              <a:t>按以下原则进行选择（3种情况）：</a:t>
            </a:r>
            <a:endParaRPr kumimoji="1" lang="zh-CN" altLang="en-US" sz="2800" b="1">
              <a:latin typeface="Times New Roman" panose="02020603050405020304" pitchFamily="18" charset="0"/>
            </a:endParaRPr>
          </a:p>
        </p:txBody>
      </p:sp>
      <p:grpSp>
        <p:nvGrpSpPr>
          <p:cNvPr id="2" name="Group 3"/>
          <p:cNvGrpSpPr/>
          <p:nvPr/>
        </p:nvGrpSpPr>
        <p:grpSpPr bwMode="auto">
          <a:xfrm>
            <a:off x="1905000" y="990600"/>
            <a:ext cx="3016250" cy="2625725"/>
            <a:chOff x="432" y="864"/>
            <a:chExt cx="1900" cy="1654"/>
          </a:xfrm>
        </p:grpSpPr>
        <p:sp>
          <p:nvSpPr>
            <p:cNvPr id="38917" name="Line 4"/>
            <p:cNvSpPr>
              <a:spLocks noChangeShapeType="1"/>
            </p:cNvSpPr>
            <p:nvPr/>
          </p:nvSpPr>
          <p:spPr bwMode="auto">
            <a:xfrm>
              <a:off x="432" y="2208"/>
              <a:ext cx="1802" cy="0"/>
            </a:xfrm>
            <a:prstGeom prst="line">
              <a:avLst/>
            </a:prstGeom>
            <a:noFill/>
            <a:ln w="12700" cap="sq">
              <a:solidFill>
                <a:schemeClr val="folHlink"/>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918" name="Line 5"/>
            <p:cNvSpPr>
              <a:spLocks noChangeShapeType="1"/>
            </p:cNvSpPr>
            <p:nvPr/>
          </p:nvSpPr>
          <p:spPr bwMode="auto">
            <a:xfrm flipV="1">
              <a:off x="432" y="960"/>
              <a:ext cx="0" cy="1248"/>
            </a:xfrm>
            <a:prstGeom prst="line">
              <a:avLst/>
            </a:prstGeom>
            <a:noFill/>
            <a:ln w="12700" cap="sq">
              <a:solidFill>
                <a:schemeClr val="folHlink"/>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919" name="Line 6"/>
            <p:cNvSpPr>
              <a:spLocks noChangeShapeType="1"/>
            </p:cNvSpPr>
            <p:nvPr/>
          </p:nvSpPr>
          <p:spPr bwMode="auto">
            <a:xfrm flipV="1">
              <a:off x="432" y="1008"/>
              <a:ext cx="1392" cy="1200"/>
            </a:xfrm>
            <a:prstGeom prst="line">
              <a:avLst/>
            </a:prstGeom>
            <a:noFill/>
            <a:ln w="38100" cap="sq">
              <a:solidFill>
                <a:srgbClr val="FF7C8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920" name="Text Box 7"/>
            <p:cNvSpPr txBox="1">
              <a:spLocks noChangeArrowheads="1"/>
            </p:cNvSpPr>
            <p:nvPr/>
          </p:nvSpPr>
          <p:spPr bwMode="auto">
            <a:xfrm>
              <a:off x="1680" y="1056"/>
              <a:ext cx="4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V=1</a:t>
              </a:r>
              <a:endParaRPr kumimoji="1" lang="en-US" altLang="zh-CN" sz="2400">
                <a:latin typeface="Times New Roman" panose="02020603050405020304" pitchFamily="18" charset="0"/>
                <a:ea typeface="Gungsuh" pitchFamily="18" charset="-127"/>
              </a:endParaRPr>
            </a:p>
          </p:txBody>
        </p:sp>
        <p:sp>
          <p:nvSpPr>
            <p:cNvPr id="38921" name="Text Box 8"/>
            <p:cNvSpPr txBox="1">
              <a:spLocks noChangeArrowheads="1"/>
            </p:cNvSpPr>
            <p:nvPr/>
          </p:nvSpPr>
          <p:spPr bwMode="auto">
            <a:xfrm>
              <a:off x="1137" y="1872"/>
              <a:ext cx="4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V&lt;1</a:t>
              </a:r>
              <a:endParaRPr kumimoji="1" lang="en-US" altLang="zh-CN" sz="2400">
                <a:latin typeface="Times New Roman" panose="02020603050405020304" pitchFamily="18" charset="0"/>
                <a:ea typeface="Gungsuh" pitchFamily="18" charset="-127"/>
              </a:endParaRPr>
            </a:p>
          </p:txBody>
        </p:sp>
        <p:sp>
          <p:nvSpPr>
            <p:cNvPr id="38922" name="Text Box 9"/>
            <p:cNvSpPr txBox="1">
              <a:spLocks noChangeArrowheads="1"/>
            </p:cNvSpPr>
            <p:nvPr/>
          </p:nvSpPr>
          <p:spPr bwMode="auto">
            <a:xfrm>
              <a:off x="510" y="1296"/>
              <a:ext cx="4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V&gt;1</a:t>
              </a:r>
              <a:endParaRPr kumimoji="1" lang="en-US" altLang="zh-CN" sz="2400">
                <a:latin typeface="Times New Roman" panose="02020603050405020304" pitchFamily="18" charset="0"/>
                <a:ea typeface="Gungsuh" pitchFamily="18" charset="-127"/>
              </a:endParaRPr>
            </a:p>
          </p:txBody>
        </p:sp>
        <p:sp>
          <p:nvSpPr>
            <p:cNvPr id="38923" name="Text Box 10"/>
            <p:cNvSpPr txBox="1">
              <a:spLocks noChangeArrowheads="1"/>
            </p:cNvSpPr>
            <p:nvPr/>
          </p:nvSpPr>
          <p:spPr bwMode="auto">
            <a:xfrm>
              <a:off x="2087" y="2230"/>
              <a:ext cx="2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C</a:t>
              </a:r>
              <a:endParaRPr kumimoji="1" lang="en-US" altLang="zh-CN" sz="2400">
                <a:latin typeface="Times New Roman" panose="02020603050405020304" pitchFamily="18" charset="0"/>
                <a:ea typeface="Gungsuh" pitchFamily="18" charset="-127"/>
              </a:endParaRPr>
            </a:p>
          </p:txBody>
        </p:sp>
        <p:sp>
          <p:nvSpPr>
            <p:cNvPr id="38924" name="Text Box 11"/>
            <p:cNvSpPr txBox="1">
              <a:spLocks noChangeArrowheads="1"/>
            </p:cNvSpPr>
            <p:nvPr/>
          </p:nvSpPr>
          <p:spPr bwMode="auto">
            <a:xfrm>
              <a:off x="432" y="864"/>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400">
                  <a:latin typeface="Times New Roman" panose="02020603050405020304" pitchFamily="18" charset="0"/>
                  <a:ea typeface="Gungsuh" pitchFamily="18" charset="-127"/>
                </a:rPr>
                <a:t>F</a:t>
              </a:r>
              <a:endParaRPr kumimoji="1" lang="en-US" altLang="zh-CN" sz="2400">
                <a:latin typeface="Times New Roman" panose="02020603050405020304" pitchFamily="18" charset="0"/>
                <a:ea typeface="Gungsuh" pitchFamily="18" charset="-127"/>
              </a:endParaRPr>
            </a:p>
          </p:txBody>
        </p:sp>
      </p:grpSp>
      <p:sp>
        <p:nvSpPr>
          <p:cNvPr id="916492" name="Text Box 12"/>
          <p:cNvSpPr txBox="1">
            <a:spLocks noChangeArrowheads="1"/>
          </p:cNvSpPr>
          <p:nvPr/>
        </p:nvSpPr>
        <p:spPr bwMode="auto">
          <a:xfrm>
            <a:off x="762000" y="3886200"/>
            <a:ext cx="838200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V&lt;1</a:t>
            </a:r>
            <a:r>
              <a:rPr kumimoji="1" lang="zh-CN" altLang="en-US" sz="2800" b="1">
                <a:latin typeface="Times New Roman" panose="02020603050405020304" pitchFamily="18" charset="0"/>
                <a:ea typeface="Gungsuh" pitchFamily="18" charset="-127"/>
              </a:rPr>
              <a:t>，</a:t>
            </a:r>
            <a:r>
              <a:rPr kumimoji="1" lang="zh-CN" altLang="en-US" sz="2800" b="1">
                <a:latin typeface="Times New Roman" panose="02020603050405020304" pitchFamily="18" charset="0"/>
              </a:rPr>
              <a:t>成本偏高，应作为分析对象</a:t>
            </a:r>
            <a:endParaRPr kumimoji="1" lang="zh-CN" altLang="en-US" sz="2800" b="1">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V&gt;1</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较理想，但若</a:t>
            </a:r>
            <a:r>
              <a:rPr kumimoji="1" lang="en-US" altLang="zh-CN" sz="2800" b="1">
                <a:latin typeface="Times New Roman" panose="02020603050405020304" pitchFamily="18" charset="0"/>
              </a:rPr>
              <a:t>V</a:t>
            </a:r>
            <a:r>
              <a:rPr kumimoji="1" lang="zh-CN" altLang="en-US" sz="2800" b="1">
                <a:latin typeface="Times New Roman" panose="02020603050405020304" pitchFamily="18" charset="0"/>
              </a:rPr>
              <a:t>很大可能存在质量隐患，则要</a:t>
            </a:r>
            <a:endParaRPr kumimoji="1" lang="zh-CN" altLang="en-US" sz="2800" b="1">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rPr>
              <a:t>           考虑；</a:t>
            </a:r>
            <a:endParaRPr kumimoji="1" lang="zh-CN" altLang="en-US" sz="2800" b="1">
              <a:latin typeface="Times New Roman" panose="02020603050405020304" pitchFamily="18" charset="0"/>
            </a:endParaRPr>
          </a:p>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V</a:t>
            </a:r>
            <a:r>
              <a:rPr kumimoji="1" lang="en-US" altLang="zh-CN" sz="2800" b="1">
                <a:latin typeface="Times New Roman" panose="02020603050405020304" pitchFamily="18" charset="0"/>
              </a:rPr>
              <a:t>＝</a:t>
            </a:r>
            <a:r>
              <a:rPr kumimoji="1" lang="en-US" altLang="zh-CN" sz="2800" b="1">
                <a:latin typeface="Times New Roman" panose="02020603050405020304" pitchFamily="18" charset="0"/>
                <a:ea typeface="Gungsuh" pitchFamily="18" charset="-127"/>
              </a:rPr>
              <a:t>1</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重要性与成本相符，是合理的， 不必分析</a:t>
            </a:r>
            <a:endParaRPr kumimoji="1"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16482">
                                            <p:txEl>
                                              <p:pRg st="0" end="0"/>
                                            </p:txEl>
                                          </p:spTgt>
                                        </p:tgtEl>
                                        <p:attrNameLst>
                                          <p:attrName>style.visibility</p:attrName>
                                        </p:attrNameLst>
                                      </p:cBhvr>
                                      <p:to>
                                        <p:strVal val="visible"/>
                                      </p:to>
                                    </p:set>
                                    <p:animEffect transition="in" filter="dissolve">
                                      <p:cBhvr>
                                        <p:cTn id="7" dur="500"/>
                                        <p:tgtEl>
                                          <p:spTgt spid="916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16492">
                                            <p:txEl>
                                              <p:pRg st="0" end="0"/>
                                            </p:txEl>
                                          </p:spTgt>
                                        </p:tgtEl>
                                        <p:attrNameLst>
                                          <p:attrName>style.visibility</p:attrName>
                                        </p:attrNameLst>
                                      </p:cBhvr>
                                      <p:to>
                                        <p:strVal val="visible"/>
                                      </p:to>
                                    </p:set>
                                    <p:animEffect transition="in" filter="dissolve">
                                      <p:cBhvr>
                                        <p:cTn id="17" dur="500"/>
                                        <p:tgtEl>
                                          <p:spTgt spid="91649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16492">
                                            <p:txEl>
                                              <p:pRg st="1" end="1"/>
                                            </p:txEl>
                                          </p:spTgt>
                                        </p:tgtEl>
                                        <p:attrNameLst>
                                          <p:attrName>style.visibility</p:attrName>
                                        </p:attrNameLst>
                                      </p:cBhvr>
                                      <p:to>
                                        <p:strVal val="visible"/>
                                      </p:to>
                                    </p:set>
                                    <p:animEffect transition="in" filter="dissolve">
                                      <p:cBhvr>
                                        <p:cTn id="22" dur="500"/>
                                        <p:tgtEl>
                                          <p:spTgt spid="91649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16492">
                                            <p:txEl>
                                              <p:pRg st="2" end="2"/>
                                            </p:txEl>
                                          </p:spTgt>
                                        </p:tgtEl>
                                        <p:attrNameLst>
                                          <p:attrName>style.visibility</p:attrName>
                                        </p:attrNameLst>
                                      </p:cBhvr>
                                      <p:to>
                                        <p:strVal val="visible"/>
                                      </p:to>
                                    </p:set>
                                    <p:animEffect transition="in" filter="dissolve">
                                      <p:cBhvr>
                                        <p:cTn id="27" dur="500"/>
                                        <p:tgtEl>
                                          <p:spTgt spid="91649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916492">
                                            <p:txEl>
                                              <p:pRg st="3" end="3"/>
                                            </p:txEl>
                                          </p:spTgt>
                                        </p:tgtEl>
                                        <p:attrNameLst>
                                          <p:attrName>style.visibility</p:attrName>
                                        </p:attrNameLst>
                                      </p:cBhvr>
                                      <p:to>
                                        <p:strVal val="visible"/>
                                      </p:to>
                                    </p:set>
                                    <p:animEffect transition="in" filter="dissolve">
                                      <p:cBhvr>
                                        <p:cTn id="32" dur="500"/>
                                        <p:tgtEl>
                                          <p:spTgt spid="91649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2" grpId="0" autoUpdateAnimBg="0" build="p"/>
      <p:bldP spid="916492" grpId="0" autoUpdateAnimBg="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3" name="Text Box 13"/>
          <p:cNvSpPr txBox="1">
            <a:spLocks noChangeArrowheads="1"/>
          </p:cNvSpPr>
          <p:nvPr/>
        </p:nvSpPr>
        <p:spPr bwMode="auto">
          <a:xfrm>
            <a:off x="696913" y="549275"/>
            <a:ext cx="8447087" cy="618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115000"/>
              </a:lnSpc>
              <a:spcBef>
                <a:spcPct val="0"/>
              </a:spcBef>
              <a:buClrTx/>
              <a:buSzTx/>
              <a:buFontTx/>
              <a:buNone/>
            </a:pPr>
            <a:r>
              <a:rPr kumimoji="1" lang="en-US" altLang="zh-CN" sz="4000" b="1">
                <a:solidFill>
                  <a:srgbClr val="FF0000"/>
                </a:solidFill>
                <a:latin typeface="Times New Roman" panose="02020603050405020304" pitchFamily="18" charset="0"/>
              </a:rPr>
              <a:t>5.</a:t>
            </a:r>
            <a:r>
              <a:rPr kumimoji="1" lang="zh-CN" altLang="en-US" sz="4000" b="1">
                <a:solidFill>
                  <a:srgbClr val="FF0000"/>
                </a:solidFill>
                <a:latin typeface="Times New Roman" panose="02020603050405020304" pitchFamily="18" charset="0"/>
              </a:rPr>
              <a:t>方案创新</a:t>
            </a:r>
            <a:endParaRPr kumimoji="1" lang="zh-CN" altLang="en-US" sz="4000" b="1">
              <a:solidFill>
                <a:srgbClr val="FF0000"/>
              </a:solidFill>
              <a:latin typeface="Times New Roman" panose="02020603050405020304" pitchFamily="18" charset="0"/>
            </a:endParaRPr>
          </a:p>
          <a:p>
            <a:pPr eaLnBrk="1" hangingPunct="1">
              <a:lnSpc>
                <a:spcPct val="115000"/>
              </a:lnSpc>
              <a:spcBef>
                <a:spcPct val="0"/>
              </a:spcBef>
              <a:buClrTx/>
              <a:buSzTx/>
              <a:buFontTx/>
              <a:buNone/>
            </a:pPr>
            <a:r>
              <a:rPr kumimoji="1" lang="zh-CN" altLang="en-US" sz="2800" b="1">
                <a:solidFill>
                  <a:schemeClr val="folHlink"/>
                </a:solidFill>
                <a:latin typeface="Times New Roman" panose="02020603050405020304" pitchFamily="18" charset="0"/>
              </a:rPr>
              <a:t>方案创新的方法： </a:t>
            </a:r>
            <a:endParaRPr kumimoji="1" lang="zh-CN" altLang="en-US" sz="2800" b="1">
              <a:solidFill>
                <a:schemeClr val="folHlink"/>
              </a:solidFill>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1. 头脑风暴法（</a:t>
            </a:r>
            <a:r>
              <a:rPr kumimoji="1" lang="en-US" altLang="zh-CN" sz="2800" b="1">
                <a:latin typeface="Times New Roman" panose="02020603050405020304" pitchFamily="18" charset="0"/>
              </a:rPr>
              <a:t>BS</a:t>
            </a:r>
            <a:r>
              <a:rPr kumimoji="1" lang="zh-CN" altLang="en-US" sz="2800" b="1">
                <a:latin typeface="Times New Roman" panose="02020603050405020304" pitchFamily="18" charset="0"/>
              </a:rPr>
              <a:t>法）</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            ——畅谈会，针对问题提出自己的想法，但不能 互相批评</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2. 哥顿法（模糊目标法）</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            ——把要研究的问题适当抽象，以利于开拓思路，一般用于开发新产品的方案</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en-US" altLang="zh-CN" sz="2800" b="1">
                <a:latin typeface="Times New Roman" panose="02020603050405020304" pitchFamily="18" charset="0"/>
              </a:rPr>
              <a:t>3. Delphi</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            ——通过信函或其它联络方式，背对背地发表自的建议和意见，由组织单位整理各方建议，取得最优方案。</a:t>
            </a:r>
            <a:endParaRPr kumimoji="1"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293">
                                            <p:txEl>
                                              <p:pRg st="0" end="0"/>
                                            </p:txEl>
                                          </p:spTgt>
                                        </p:tgtEl>
                                        <p:attrNameLst>
                                          <p:attrName>style.visibility</p:attrName>
                                        </p:attrNameLst>
                                      </p:cBhvr>
                                      <p:to>
                                        <p:strVal val="visible"/>
                                      </p:to>
                                    </p:set>
                                    <p:animEffect transition="in" filter="dissolve">
                                      <p:cBhvr>
                                        <p:cTn id="7" dur="500"/>
                                        <p:tgtEl>
                                          <p:spTgt spid="2252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5293">
                                            <p:txEl>
                                              <p:pRg st="1" end="1"/>
                                            </p:txEl>
                                          </p:spTgt>
                                        </p:tgtEl>
                                        <p:attrNameLst>
                                          <p:attrName>style.visibility</p:attrName>
                                        </p:attrNameLst>
                                      </p:cBhvr>
                                      <p:to>
                                        <p:strVal val="visible"/>
                                      </p:to>
                                    </p:set>
                                    <p:animEffect transition="in" filter="dissolve">
                                      <p:cBhvr>
                                        <p:cTn id="12" dur="500"/>
                                        <p:tgtEl>
                                          <p:spTgt spid="2252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5293">
                                            <p:txEl>
                                              <p:pRg st="2" end="2"/>
                                            </p:txEl>
                                          </p:spTgt>
                                        </p:tgtEl>
                                        <p:attrNameLst>
                                          <p:attrName>style.visibility</p:attrName>
                                        </p:attrNameLst>
                                      </p:cBhvr>
                                      <p:to>
                                        <p:strVal val="visible"/>
                                      </p:to>
                                    </p:set>
                                    <p:animEffect transition="in" filter="dissolve">
                                      <p:cBhvr>
                                        <p:cTn id="17" dur="500"/>
                                        <p:tgtEl>
                                          <p:spTgt spid="2252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5293">
                                            <p:txEl>
                                              <p:pRg st="3" end="3"/>
                                            </p:txEl>
                                          </p:spTgt>
                                        </p:tgtEl>
                                        <p:attrNameLst>
                                          <p:attrName>style.visibility</p:attrName>
                                        </p:attrNameLst>
                                      </p:cBhvr>
                                      <p:to>
                                        <p:strVal val="visible"/>
                                      </p:to>
                                    </p:set>
                                    <p:animEffect transition="in" filter="dissolve">
                                      <p:cBhvr>
                                        <p:cTn id="22" dur="500"/>
                                        <p:tgtEl>
                                          <p:spTgt spid="2252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5293">
                                            <p:txEl>
                                              <p:pRg st="4" end="4"/>
                                            </p:txEl>
                                          </p:spTgt>
                                        </p:tgtEl>
                                        <p:attrNameLst>
                                          <p:attrName>style.visibility</p:attrName>
                                        </p:attrNameLst>
                                      </p:cBhvr>
                                      <p:to>
                                        <p:strVal val="visible"/>
                                      </p:to>
                                    </p:set>
                                    <p:animEffect transition="in" filter="dissolve">
                                      <p:cBhvr>
                                        <p:cTn id="27" dur="500"/>
                                        <p:tgtEl>
                                          <p:spTgt spid="2252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5293">
                                            <p:txEl>
                                              <p:pRg st="5" end="5"/>
                                            </p:txEl>
                                          </p:spTgt>
                                        </p:tgtEl>
                                        <p:attrNameLst>
                                          <p:attrName>style.visibility</p:attrName>
                                        </p:attrNameLst>
                                      </p:cBhvr>
                                      <p:to>
                                        <p:strVal val="visible"/>
                                      </p:to>
                                    </p:set>
                                    <p:animEffect transition="in" filter="dissolve">
                                      <p:cBhvr>
                                        <p:cTn id="32" dur="500"/>
                                        <p:tgtEl>
                                          <p:spTgt spid="2252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25293">
                                            <p:txEl>
                                              <p:pRg st="6" end="6"/>
                                            </p:txEl>
                                          </p:spTgt>
                                        </p:tgtEl>
                                        <p:attrNameLst>
                                          <p:attrName>style.visibility</p:attrName>
                                        </p:attrNameLst>
                                      </p:cBhvr>
                                      <p:to>
                                        <p:strVal val="visible"/>
                                      </p:to>
                                    </p:set>
                                    <p:animEffect transition="in" filter="dissolve">
                                      <p:cBhvr>
                                        <p:cTn id="37" dur="500"/>
                                        <p:tgtEl>
                                          <p:spTgt spid="22529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25293">
                                            <p:txEl>
                                              <p:pRg st="7" end="7"/>
                                            </p:txEl>
                                          </p:spTgt>
                                        </p:tgtEl>
                                        <p:attrNameLst>
                                          <p:attrName>style.visibility</p:attrName>
                                        </p:attrNameLst>
                                      </p:cBhvr>
                                      <p:to>
                                        <p:strVal val="visible"/>
                                      </p:to>
                                    </p:set>
                                    <p:animEffect transition="in" filter="dissolve">
                                      <p:cBhvr>
                                        <p:cTn id="42" dur="500"/>
                                        <p:tgtEl>
                                          <p:spTgt spid="22529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3" grpId="0" autoUpdateAnimBg="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rrowheads="1"/>
          </p:cNvSpPr>
          <p:nvPr>
            <p:ph type="title"/>
          </p:nvPr>
        </p:nvSpPr>
        <p:spPr/>
        <p:txBody>
          <a:bodyPr/>
          <a:lstStyle/>
          <a:p>
            <a:pPr algn="l" eaLnBrk="1" hangingPunct="1"/>
            <a:r>
              <a:rPr kumimoji="1" lang="en-US" altLang="zh-CN" b="0" smtClean="0">
                <a:solidFill>
                  <a:srgbClr val="FF0000"/>
                </a:solidFill>
                <a:effectLst/>
              </a:rPr>
              <a:t>6.</a:t>
            </a:r>
            <a:r>
              <a:rPr kumimoji="1" lang="zh-CN" altLang="en-US" b="0" smtClean="0">
                <a:solidFill>
                  <a:srgbClr val="FF0000"/>
                </a:solidFill>
                <a:effectLst/>
              </a:rPr>
              <a:t>方案评价</a:t>
            </a:r>
            <a:endParaRPr kumimoji="1" lang="zh-CN" altLang="en-US" b="0" smtClean="0">
              <a:solidFill>
                <a:srgbClr val="FF0000"/>
              </a:solidFill>
              <a:effectLst/>
            </a:endParaRPr>
          </a:p>
        </p:txBody>
      </p:sp>
      <p:sp>
        <p:nvSpPr>
          <p:cNvPr id="40963" name="Rectangle 3"/>
          <p:cNvSpPr>
            <a:spLocks noGrp="1" noChangeArrowheads="1"/>
          </p:cNvSpPr>
          <p:nvPr>
            <p:ph type="body" idx="1"/>
          </p:nvPr>
        </p:nvSpPr>
        <p:spPr/>
        <p:txBody>
          <a:bodyPr/>
          <a:lstStyle/>
          <a:p>
            <a:pPr eaLnBrk="1" hangingPunct="1"/>
            <a:r>
              <a:rPr kumimoji="1" lang="zh-CN" altLang="en-US" b="1" smtClean="0">
                <a:effectLst/>
              </a:rPr>
              <a:t>概略评价</a:t>
            </a:r>
            <a:endParaRPr kumimoji="1" lang="zh-CN" altLang="en-US" b="1" smtClean="0">
              <a:effectLst/>
            </a:endParaRPr>
          </a:p>
          <a:p>
            <a:pPr lvl="1" eaLnBrk="1" hangingPunct="1"/>
            <a:r>
              <a:rPr kumimoji="1" lang="zh-CN" altLang="en-US" b="1" smtClean="0">
                <a:effectLst/>
              </a:rPr>
              <a:t>技术、</a:t>
            </a:r>
            <a:endParaRPr kumimoji="1" lang="zh-CN" altLang="en-US" b="1" smtClean="0">
              <a:effectLst/>
            </a:endParaRPr>
          </a:p>
          <a:p>
            <a:pPr lvl="1" eaLnBrk="1" hangingPunct="1"/>
            <a:r>
              <a:rPr kumimoji="1" lang="zh-CN" altLang="en-US" b="1" smtClean="0">
                <a:effectLst/>
              </a:rPr>
              <a:t>经济、</a:t>
            </a:r>
            <a:endParaRPr kumimoji="1" lang="zh-CN" altLang="en-US" b="1" smtClean="0">
              <a:effectLst/>
            </a:endParaRPr>
          </a:p>
          <a:p>
            <a:pPr lvl="1" eaLnBrk="1" hangingPunct="1"/>
            <a:r>
              <a:rPr kumimoji="1" lang="zh-CN" altLang="en-US" b="1" smtClean="0">
                <a:effectLst/>
              </a:rPr>
              <a:t>社会。</a:t>
            </a:r>
            <a:endParaRPr kumimoji="1" lang="zh-CN" altLang="en-US" b="1" smtClean="0">
              <a:effectLst/>
            </a:endParaRPr>
          </a:p>
          <a:p>
            <a:pPr eaLnBrk="1" hangingPunct="1"/>
            <a:r>
              <a:rPr kumimoji="1" lang="zh-CN" altLang="en-US" b="1" smtClean="0">
                <a:effectLst/>
              </a:rPr>
              <a:t>详细评价</a:t>
            </a:r>
            <a:endParaRPr kumimoji="1" lang="zh-CN" altLang="en-US" b="1" smtClean="0">
              <a:effectLst/>
            </a:endParaRPr>
          </a:p>
          <a:p>
            <a:pPr lvl="1" eaLnBrk="1" hangingPunct="1"/>
            <a:r>
              <a:rPr kumimoji="1" lang="zh-CN" altLang="en-US" b="1" smtClean="0">
                <a:effectLst/>
              </a:rPr>
              <a:t>技术、</a:t>
            </a:r>
            <a:endParaRPr kumimoji="1" lang="zh-CN" altLang="en-US" b="1" smtClean="0">
              <a:effectLst/>
            </a:endParaRPr>
          </a:p>
          <a:p>
            <a:pPr lvl="1" eaLnBrk="1" hangingPunct="1"/>
            <a:r>
              <a:rPr kumimoji="1" lang="zh-CN" altLang="en-US" b="1" smtClean="0">
                <a:effectLst/>
              </a:rPr>
              <a:t>经济、</a:t>
            </a:r>
            <a:endParaRPr kumimoji="1" lang="zh-CN" altLang="en-US" b="1" smtClean="0">
              <a:effectLst/>
            </a:endParaRPr>
          </a:p>
          <a:p>
            <a:pPr lvl="1" eaLnBrk="1" hangingPunct="1"/>
            <a:r>
              <a:rPr kumimoji="1" lang="zh-CN" altLang="en-US" b="1" smtClean="0">
                <a:effectLst/>
              </a:rPr>
              <a:t>社会。</a:t>
            </a:r>
            <a:endParaRPr kumimoji="1" lang="zh-CN" altLang="en-US" b="1" smtClean="0">
              <a:effectLs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Text Box 3"/>
          <p:cNvSpPr txBox="1">
            <a:spLocks noChangeArrowheads="1"/>
          </p:cNvSpPr>
          <p:nvPr/>
        </p:nvSpPr>
        <p:spPr bwMode="auto">
          <a:xfrm>
            <a:off x="228600" y="304800"/>
            <a:ext cx="8915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a:latin typeface="Times New Roman" panose="02020603050405020304" pitchFamily="18" charset="0"/>
              </a:rPr>
              <a:t>         </a:t>
            </a:r>
            <a:r>
              <a:rPr kumimoji="1" lang="zh-CN" altLang="en-US" sz="2800" b="1">
                <a:latin typeface="Times New Roman" panose="02020603050405020304" pitchFamily="18" charset="0"/>
              </a:rPr>
              <a:t>例题：某监理工程师针对设计院提出的某商住楼，提出了</a:t>
            </a:r>
            <a:r>
              <a:rPr kumimoji="1" lang="en-US" altLang="zh-CN" sz="2800" b="1">
                <a:latin typeface="Times New Roman" panose="02020603050405020304" pitchFamily="18" charset="0"/>
              </a:rPr>
              <a:t>A、B、C</a:t>
            </a:r>
            <a:r>
              <a:rPr kumimoji="1" lang="zh-CN" altLang="en-US" sz="2800" b="1">
                <a:latin typeface="Times New Roman" panose="02020603050405020304" pitchFamily="18" charset="0"/>
              </a:rPr>
              <a:t>三个方案，进行技术经济分析和专家调整后得出如下表所示数据：</a:t>
            </a:r>
            <a:endParaRPr kumimoji="1" lang="zh-CN" altLang="en-US" sz="2800" b="1">
              <a:latin typeface="Times New Roman" panose="02020603050405020304" pitchFamily="18" charset="0"/>
            </a:endParaRPr>
          </a:p>
        </p:txBody>
      </p:sp>
      <p:graphicFrame>
        <p:nvGraphicFramePr>
          <p:cNvPr id="226372" name="Group 68"/>
          <p:cNvGraphicFramePr>
            <a:graphicFrameLocks noGrp="1"/>
          </p:cNvGraphicFramePr>
          <p:nvPr/>
        </p:nvGraphicFramePr>
        <p:xfrm>
          <a:off x="685800" y="2057400"/>
          <a:ext cx="7620000" cy="4191001"/>
        </p:xfrm>
        <a:graphic>
          <a:graphicData uri="http://schemas.openxmlformats.org/drawingml/2006/table">
            <a:tbl>
              <a:tblPr/>
              <a:tblGrid>
                <a:gridCol w="1706563"/>
                <a:gridCol w="1189037"/>
                <a:gridCol w="1066800"/>
                <a:gridCol w="1219200"/>
                <a:gridCol w="2438400"/>
              </a:tblGrid>
              <a:tr h="520700">
                <a:tc row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方案功能</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方案功能得分</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row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方案功能</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重要程度</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vMerge="1">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522288">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endPar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8</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0.25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endPar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8</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endPar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0.25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endPar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0.10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F</a:t>
                      </a:r>
                      <a:r>
                        <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endParaRPr kumimoji="0" lang="en-US" altLang="zh-CN" sz="2800" b="1" i="0" u="none" strike="noStrike" cap="none" normalizeH="0" baseline="-2500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8</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8</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0.05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451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单方造价</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1325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1118</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1226</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307"/>
                                        </p:tgtEl>
                                        <p:attrNameLst>
                                          <p:attrName>style.visibility</p:attrName>
                                        </p:attrNameLst>
                                      </p:cBhvr>
                                      <p:to>
                                        <p:strVal val="visible"/>
                                      </p:to>
                                    </p:set>
                                    <p:animEffect transition="in" filter="blinds(horizontal)">
                                      <p:cBhvr>
                                        <p:cTn id="7" dur="500"/>
                                        <p:tgtEl>
                                          <p:spTgt spid="226307"/>
                                        </p:tgtEl>
                                      </p:cBhvr>
                                    </p:animEffect>
                                  </p:childTnLst>
                                  <p:subTnLst>
                                    <p:audio>
                                      <p:cMediaNode>
                                        <p:cTn display="0" masterRel="sameClick">
                                          <p:stCondLst>
                                            <p:cond evt="begin" delay="0">
                                              <p:tn val="5"/>
                                            </p:cond>
                                          </p:stCondLst>
                                          <p:endCondLst>
                                            <p:cond evt="onStopAudio" delay="0">
                                              <p:tgtEl>
                                                <p:sldTgt/>
                                              </p:tgtEl>
                                            </p:cond>
                                          </p:endCondLst>
                                        </p:cTn>
                                        <p:tgtEl>
                                          <p:sndTgt r:embed="rId1" name="chimes.wav"/>
                                        </p:tgtEl>
                                      </p:cMediaNode>
                                    </p:audio>
                                  </p:sub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26372"/>
                                        </p:tgtEl>
                                        <p:attrNameLst>
                                          <p:attrName>style.visibility</p:attrName>
                                        </p:attrNameLst>
                                      </p:cBhvr>
                                      <p:to>
                                        <p:strVal val="visible"/>
                                      </p:to>
                                    </p:set>
                                    <p:animEffect transition="in" filter="blinds(horizontal)">
                                      <p:cBhvr>
                                        <p:cTn id="11" dur="500"/>
                                        <p:tgtEl>
                                          <p:spTgt spid="226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Text Box 2"/>
          <p:cNvSpPr txBox="1">
            <a:spLocks noChangeArrowheads="1"/>
          </p:cNvSpPr>
          <p:nvPr/>
        </p:nvSpPr>
        <p:spPr bwMode="auto">
          <a:xfrm>
            <a:off x="381000" y="692150"/>
            <a:ext cx="87630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lnSpc>
                <a:spcPct val="115000"/>
              </a:lnSpc>
              <a:spcBef>
                <a:spcPct val="0"/>
              </a:spcBef>
              <a:buClrTx/>
              <a:buSzTx/>
              <a:buFontTx/>
              <a:buNone/>
            </a:pPr>
            <a:r>
              <a:rPr kumimoji="1" lang="zh-CN" altLang="en-US" sz="2800" b="1">
                <a:latin typeface="Times New Roman" panose="02020603050405020304" pitchFamily="18" charset="0"/>
              </a:rPr>
              <a:t>问题：1.在下表中计算方案成本系数、功能系数和价值</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               系数，并确定最优方案。</a:t>
            </a:r>
            <a:endParaRPr kumimoji="1" lang="zh-CN" altLang="en-US" sz="2800" b="1">
              <a:latin typeface="Times New Roman" panose="02020603050405020304" pitchFamily="18" charset="0"/>
            </a:endParaRPr>
          </a:p>
          <a:p>
            <a:pPr eaLnBrk="1" hangingPunct="1">
              <a:lnSpc>
                <a:spcPct val="115000"/>
              </a:lnSpc>
              <a:spcBef>
                <a:spcPct val="0"/>
              </a:spcBef>
              <a:buClrTx/>
              <a:buSzTx/>
              <a:buFontTx/>
              <a:buNone/>
            </a:pPr>
            <a:r>
              <a:rPr kumimoji="1" lang="zh-CN" altLang="en-US" sz="2800" b="1">
                <a:latin typeface="Times New Roman" panose="02020603050405020304" pitchFamily="18" charset="0"/>
              </a:rPr>
              <a:t>            2.简述价值工程的工作步骤和阶段划分。</a:t>
            </a:r>
            <a:endParaRPr kumimoji="1" lang="zh-CN" altLang="en-US" sz="2800" b="1">
              <a:latin typeface="Times New Roman" panose="02020603050405020304" pitchFamily="18" charset="0"/>
            </a:endParaRPr>
          </a:p>
        </p:txBody>
      </p:sp>
      <p:graphicFrame>
        <p:nvGraphicFramePr>
          <p:cNvPr id="487477" name="Group 53"/>
          <p:cNvGraphicFramePr>
            <a:graphicFrameLocks noGrp="1"/>
          </p:cNvGraphicFramePr>
          <p:nvPr/>
        </p:nvGraphicFramePr>
        <p:xfrm>
          <a:off x="304800" y="2286000"/>
          <a:ext cx="8839200" cy="3581401"/>
        </p:xfrm>
        <a:graphic>
          <a:graphicData uri="http://schemas.openxmlformats.org/drawingml/2006/table">
            <a:tbl>
              <a:tblPr/>
              <a:tblGrid>
                <a:gridCol w="914400"/>
                <a:gridCol w="1611313"/>
                <a:gridCol w="1712912"/>
                <a:gridCol w="1552575"/>
                <a:gridCol w="1574800"/>
                <a:gridCol w="1473200"/>
              </a:tblGrid>
              <a:tr h="8794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方案</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单方造价</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成本系数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功能系数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价值系数</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最优方案</a:t>
                      </a:r>
                      <a:endParaRPr kumimoji="0" lang="zh-CN" altLang="en-US" sz="24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977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A</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1325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0.361</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0.332</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0.92</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611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1118</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0.305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0.333</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B</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611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C</a:t>
                      </a: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1226</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0.334</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0.335</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9925">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合计</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3669</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1.000</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Garamond" panose="02020404030301010803" pitchFamily="18"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defRPr sz="2400">
                          <a:solidFill>
                            <a:schemeClr val="tx1"/>
                          </a:solidFill>
                          <a:latin typeface="Garamond" panose="02020404030301010803" pitchFamily="18" charset="0"/>
                          <a:ea typeface="宋体" panose="02010600030101010101" pitchFamily="2" charset="-122"/>
                        </a:defRPr>
                      </a:lvl2pPr>
                      <a:lvl3pPr marL="1143000" indent="-228600" eaLnBrk="0" hangingPunct="0">
                        <a:spcBef>
                          <a:spcPct val="20000"/>
                        </a:spcBef>
                        <a:buClr>
                          <a:schemeClr val="tx2"/>
                        </a:buClr>
                        <a:buSzPct val="70000"/>
                        <a:buFont typeface="Wingdings" panose="05000000000000000000" pitchFamily="2" charset="2"/>
                        <a:defRPr sz="2000">
                          <a:solidFill>
                            <a:schemeClr val="tx1"/>
                          </a:solidFill>
                          <a:latin typeface="Garamond" panose="02020404030301010803" pitchFamily="18"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4pPr>
                      <a:lvl5pPr marL="2057400" indent="-228600" eaLnBrk="0" hangingPunct="0">
                        <a:spcBef>
                          <a:spcPct val="20000"/>
                        </a:spcBef>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defRPr>
                          <a:solidFill>
                            <a:schemeClr val="tx1"/>
                          </a:solidFill>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a:t>
                      </a:r>
                      <a:endParaRPr kumimoji="0" lang="zh-CN" altLang="en-US" sz="2800" b="1"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87426"/>
                                        </p:tgtEl>
                                        <p:attrNameLst>
                                          <p:attrName>style.visibility</p:attrName>
                                        </p:attrNameLst>
                                      </p:cBhvr>
                                      <p:to>
                                        <p:strVal val="visible"/>
                                      </p:to>
                                    </p:set>
                                    <p:animEffect transition="in" filter="blinds(horizontal)">
                                      <p:cBhvr>
                                        <p:cTn id="7" dur="500"/>
                                        <p:tgtEl>
                                          <p:spTgt spid="487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85" name="Text Box 1081"/>
          <p:cNvSpPr txBox="1">
            <a:spLocks noChangeArrowheads="1"/>
          </p:cNvSpPr>
          <p:nvPr/>
        </p:nvSpPr>
        <p:spPr bwMode="auto">
          <a:xfrm>
            <a:off x="315913" y="400050"/>
            <a:ext cx="7937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rPr>
              <a:t>解：</a:t>
            </a:r>
            <a:endParaRPr kumimoji="1" lang="zh-CN" altLang="en-US" sz="2400" b="1">
              <a:latin typeface="Times New Roman" panose="02020603050405020304" pitchFamily="18" charset="0"/>
            </a:endParaRPr>
          </a:p>
        </p:txBody>
      </p:sp>
      <p:sp>
        <p:nvSpPr>
          <p:cNvPr id="227386" name="Text Box 1082"/>
          <p:cNvSpPr txBox="1">
            <a:spLocks noChangeArrowheads="1"/>
          </p:cNvSpPr>
          <p:nvPr/>
        </p:nvSpPr>
        <p:spPr bwMode="auto">
          <a:xfrm>
            <a:off x="779463" y="350838"/>
            <a:ext cx="2603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1.计算功能得分</a:t>
            </a:r>
            <a:endParaRPr kumimoji="1" lang="zh-CN" altLang="en-US" sz="2800" b="1">
              <a:latin typeface="Times New Roman" panose="02020603050405020304" pitchFamily="18" charset="0"/>
            </a:endParaRPr>
          </a:p>
        </p:txBody>
      </p:sp>
      <p:sp>
        <p:nvSpPr>
          <p:cNvPr id="227388" name="Text Box 1084"/>
          <p:cNvSpPr txBox="1">
            <a:spLocks noChangeArrowheads="1"/>
          </p:cNvSpPr>
          <p:nvPr/>
        </p:nvSpPr>
        <p:spPr bwMode="auto">
          <a:xfrm>
            <a:off x="685800" y="2078038"/>
            <a:ext cx="2446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2.功能总得分</a:t>
            </a:r>
            <a:endParaRPr kumimoji="1" lang="zh-CN" altLang="en-US" sz="2800" b="1">
              <a:latin typeface="Times New Roman" panose="02020603050405020304" pitchFamily="18" charset="0"/>
            </a:endParaRPr>
          </a:p>
        </p:txBody>
      </p:sp>
      <p:sp>
        <p:nvSpPr>
          <p:cNvPr id="227392" name="Text Box 1088"/>
          <p:cNvSpPr txBox="1">
            <a:spLocks noChangeArrowheads="1"/>
          </p:cNvSpPr>
          <p:nvPr/>
        </p:nvSpPr>
        <p:spPr bwMode="auto">
          <a:xfrm>
            <a:off x="1066800" y="939800"/>
            <a:ext cx="7718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sym typeface="Symbol" panose="05050102010706020507" pitchFamily="18" charset="2"/>
              </a:rPr>
              <a:t>A</a:t>
            </a:r>
            <a:r>
              <a:rPr kumimoji="1" lang="en-US" altLang="zh-CN" sz="2800" b="1">
                <a:latin typeface="Times New Roman" panose="02020603050405020304" pitchFamily="18" charset="0"/>
                <a:sym typeface="Symbol" panose="05050102010706020507" pitchFamily="18" charset="2"/>
              </a:rPr>
              <a:t>=90.25+8 0.35+10 0.25+9 0.1+8 0.05=8.85</a:t>
            </a:r>
            <a:endParaRPr kumimoji="1" lang="en-US" altLang="zh-CN" sz="2800" b="1">
              <a:latin typeface="Times New Roman" panose="02020603050405020304" pitchFamily="18" charset="0"/>
              <a:sym typeface="Symbol" panose="05050102010706020507" pitchFamily="18" charset="2"/>
            </a:endParaRPr>
          </a:p>
        </p:txBody>
      </p:sp>
      <p:sp>
        <p:nvSpPr>
          <p:cNvPr id="227387" name="Text Box 1083"/>
          <p:cNvSpPr txBox="1">
            <a:spLocks noChangeArrowheads="1"/>
          </p:cNvSpPr>
          <p:nvPr/>
        </p:nvSpPr>
        <p:spPr bwMode="auto">
          <a:xfrm>
            <a:off x="1162050" y="1519238"/>
            <a:ext cx="1060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同理</a:t>
            </a:r>
            <a:endParaRPr kumimoji="1" lang="zh-CN" altLang="en-US" sz="2800" b="1">
              <a:latin typeface="Times New Roman" panose="02020603050405020304" pitchFamily="18" charset="0"/>
            </a:endParaRPr>
          </a:p>
        </p:txBody>
      </p:sp>
      <p:sp>
        <p:nvSpPr>
          <p:cNvPr id="227393" name="Text Box 1089"/>
          <p:cNvSpPr txBox="1">
            <a:spLocks noChangeArrowheads="1"/>
          </p:cNvSpPr>
          <p:nvPr/>
        </p:nvSpPr>
        <p:spPr bwMode="auto">
          <a:xfrm>
            <a:off x="2362200" y="1524000"/>
            <a:ext cx="1579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sym typeface="Symbol" panose="05050102010706020507" pitchFamily="18" charset="2"/>
              </a:rPr>
              <a:t>B</a:t>
            </a:r>
            <a:r>
              <a:rPr kumimoji="1" lang="en-US" altLang="zh-CN" sz="2800" b="1">
                <a:latin typeface="Times New Roman" panose="02020603050405020304" pitchFamily="18" charset="0"/>
                <a:sym typeface="Symbol" panose="05050102010706020507" pitchFamily="18" charset="2"/>
              </a:rPr>
              <a:t>=8.90</a:t>
            </a:r>
            <a:endParaRPr kumimoji="1" lang="en-US" altLang="zh-CN" sz="2800" b="1" baseline="-25000">
              <a:latin typeface="Times New Roman" panose="02020603050405020304" pitchFamily="18" charset="0"/>
            </a:endParaRPr>
          </a:p>
        </p:txBody>
      </p:sp>
      <p:sp>
        <p:nvSpPr>
          <p:cNvPr id="227394" name="Text Box 1090"/>
          <p:cNvSpPr txBox="1">
            <a:spLocks noChangeArrowheads="1"/>
          </p:cNvSpPr>
          <p:nvPr/>
        </p:nvSpPr>
        <p:spPr bwMode="auto">
          <a:xfrm>
            <a:off x="4156075" y="1524000"/>
            <a:ext cx="1579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i="1">
                <a:latin typeface="Times New Roman" panose="02020603050405020304" pitchFamily="18" charset="0"/>
                <a:sym typeface="Symbol" panose="05050102010706020507" pitchFamily="18" charset="2"/>
              </a:rPr>
              <a:t></a:t>
            </a:r>
            <a:r>
              <a:rPr kumimoji="1" lang="en-US" altLang="zh-CN" sz="2800" b="1" baseline="-25000">
                <a:latin typeface="Times New Roman" panose="02020603050405020304" pitchFamily="18" charset="0"/>
              </a:rPr>
              <a:t>C</a:t>
            </a:r>
            <a:r>
              <a:rPr kumimoji="1" lang="en-US" altLang="zh-CN" sz="2800" b="1">
                <a:latin typeface="Times New Roman" panose="02020603050405020304" pitchFamily="18" charset="0"/>
              </a:rPr>
              <a:t>=8.95</a:t>
            </a:r>
            <a:endParaRPr kumimoji="1" lang="en-US" altLang="zh-CN" sz="2800" b="1">
              <a:latin typeface="Times New Roman" panose="02020603050405020304" pitchFamily="18" charset="0"/>
            </a:endParaRPr>
          </a:p>
        </p:txBody>
      </p:sp>
      <p:sp>
        <p:nvSpPr>
          <p:cNvPr id="227395" name="Text Box 1091"/>
          <p:cNvSpPr txBox="1">
            <a:spLocks noChangeArrowheads="1"/>
          </p:cNvSpPr>
          <p:nvPr/>
        </p:nvSpPr>
        <p:spPr bwMode="auto">
          <a:xfrm>
            <a:off x="3124200" y="2057400"/>
            <a:ext cx="3105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8.85+8.9+8.95=26.7</a:t>
            </a:r>
            <a:endParaRPr kumimoji="1" lang="zh-CN" altLang="en-US" sz="2800" b="1">
              <a:latin typeface="Times New Roman" panose="02020603050405020304" pitchFamily="18" charset="0"/>
            </a:endParaRPr>
          </a:p>
        </p:txBody>
      </p:sp>
      <p:sp>
        <p:nvSpPr>
          <p:cNvPr id="227389" name="Text Box 1085"/>
          <p:cNvSpPr txBox="1">
            <a:spLocks noChangeArrowheads="1"/>
          </p:cNvSpPr>
          <p:nvPr/>
        </p:nvSpPr>
        <p:spPr bwMode="auto">
          <a:xfrm>
            <a:off x="685800" y="2667000"/>
            <a:ext cx="2446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3.功能系数</a:t>
            </a:r>
            <a:endParaRPr kumimoji="1" lang="zh-CN" altLang="en-US" sz="2800" b="1">
              <a:latin typeface="Times New Roman" panose="02020603050405020304" pitchFamily="18" charset="0"/>
            </a:endParaRPr>
          </a:p>
        </p:txBody>
      </p:sp>
      <p:sp>
        <p:nvSpPr>
          <p:cNvPr id="227396" name="Text Box 1092"/>
          <p:cNvSpPr txBox="1">
            <a:spLocks noChangeArrowheads="1"/>
          </p:cNvSpPr>
          <p:nvPr/>
        </p:nvSpPr>
        <p:spPr bwMode="auto">
          <a:xfrm>
            <a:off x="1066800" y="3505200"/>
            <a:ext cx="779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F</a:t>
            </a:r>
            <a:r>
              <a:rPr kumimoji="1" lang="en-US" altLang="zh-CN" sz="2800" b="1" baseline="-25000">
                <a:latin typeface="Times New Roman" panose="02020603050405020304" pitchFamily="18" charset="0"/>
              </a:rPr>
              <a:t>A</a:t>
            </a:r>
            <a:r>
              <a:rPr kumimoji="1" lang="en-US" altLang="zh-CN" sz="2800" b="1">
                <a:latin typeface="Times New Roman" panose="02020603050405020304" pitchFamily="18" charset="0"/>
              </a:rPr>
              <a:t>=</a:t>
            </a:r>
            <a:endParaRPr kumimoji="1" lang="en-US" altLang="zh-CN" sz="2800" b="1">
              <a:latin typeface="Times New Roman" panose="02020603050405020304" pitchFamily="18" charset="0"/>
            </a:endParaRPr>
          </a:p>
        </p:txBody>
      </p:sp>
      <p:grpSp>
        <p:nvGrpSpPr>
          <p:cNvPr id="2" name="Group 1133"/>
          <p:cNvGrpSpPr/>
          <p:nvPr/>
        </p:nvGrpSpPr>
        <p:grpSpPr bwMode="auto">
          <a:xfrm>
            <a:off x="1828800" y="3352800"/>
            <a:ext cx="914400" cy="900113"/>
            <a:chOff x="1152" y="2112"/>
            <a:chExt cx="576" cy="567"/>
          </a:xfrm>
        </p:grpSpPr>
        <p:sp>
          <p:nvSpPr>
            <p:cNvPr id="44059" name="Line 1093"/>
            <p:cNvSpPr>
              <a:spLocks noChangeShapeType="1"/>
            </p:cNvSpPr>
            <p:nvPr/>
          </p:nvSpPr>
          <p:spPr bwMode="auto">
            <a:xfrm>
              <a:off x="1152" y="2400"/>
              <a:ext cx="5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60" name="Text Box 1094"/>
            <p:cNvSpPr txBox="1">
              <a:spLocks noChangeArrowheads="1"/>
            </p:cNvSpPr>
            <p:nvPr/>
          </p:nvSpPr>
          <p:spPr bwMode="auto">
            <a:xfrm>
              <a:off x="1152" y="2112"/>
              <a:ext cx="5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8.85</a:t>
              </a:r>
              <a:endParaRPr kumimoji="1" lang="zh-CN" altLang="en-US" sz="2800" b="1">
                <a:latin typeface="Times New Roman" panose="02020603050405020304" pitchFamily="18" charset="0"/>
              </a:endParaRPr>
            </a:p>
          </p:txBody>
        </p:sp>
        <p:sp>
          <p:nvSpPr>
            <p:cNvPr id="44061" name="Text Box 1095"/>
            <p:cNvSpPr txBox="1">
              <a:spLocks noChangeArrowheads="1"/>
            </p:cNvSpPr>
            <p:nvPr/>
          </p:nvSpPr>
          <p:spPr bwMode="auto">
            <a:xfrm>
              <a:off x="1152" y="2352"/>
              <a:ext cx="5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26.7</a:t>
              </a:r>
              <a:endParaRPr kumimoji="1" lang="zh-CN" altLang="en-US" sz="2800" b="1">
                <a:latin typeface="Times New Roman" panose="02020603050405020304" pitchFamily="18" charset="0"/>
              </a:endParaRPr>
            </a:p>
          </p:txBody>
        </p:sp>
      </p:grpSp>
      <p:sp>
        <p:nvSpPr>
          <p:cNvPr id="227400" name="Text Box 1096"/>
          <p:cNvSpPr txBox="1">
            <a:spLocks noChangeArrowheads="1"/>
          </p:cNvSpPr>
          <p:nvPr/>
        </p:nvSpPr>
        <p:spPr bwMode="auto">
          <a:xfrm>
            <a:off x="2743200" y="3505200"/>
            <a:ext cx="1395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 0.332;</a:t>
            </a:r>
            <a:endParaRPr kumimoji="1" lang="zh-CN" altLang="en-US" sz="2800" b="1">
              <a:latin typeface="Times New Roman" panose="02020603050405020304" pitchFamily="18" charset="0"/>
            </a:endParaRPr>
          </a:p>
        </p:txBody>
      </p:sp>
      <p:sp>
        <p:nvSpPr>
          <p:cNvPr id="227401" name="Text Box 1097"/>
          <p:cNvSpPr txBox="1">
            <a:spLocks noChangeArrowheads="1"/>
          </p:cNvSpPr>
          <p:nvPr/>
        </p:nvSpPr>
        <p:spPr bwMode="auto">
          <a:xfrm>
            <a:off x="4343400" y="3505200"/>
            <a:ext cx="109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同理</a:t>
            </a:r>
            <a:endParaRPr kumimoji="1" lang="zh-CN" altLang="en-US" sz="2800" b="1">
              <a:latin typeface="Times New Roman" panose="02020603050405020304" pitchFamily="18" charset="0"/>
            </a:endParaRPr>
          </a:p>
        </p:txBody>
      </p:sp>
      <p:sp>
        <p:nvSpPr>
          <p:cNvPr id="227402" name="Text Box 1098"/>
          <p:cNvSpPr txBox="1">
            <a:spLocks noChangeArrowheads="1"/>
          </p:cNvSpPr>
          <p:nvPr/>
        </p:nvSpPr>
        <p:spPr bwMode="auto">
          <a:xfrm>
            <a:off x="5257800" y="3505200"/>
            <a:ext cx="1684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F</a:t>
            </a:r>
            <a:r>
              <a:rPr kumimoji="1" lang="en-US" altLang="zh-CN" sz="2800" b="1" baseline="-25000">
                <a:latin typeface="Times New Roman" panose="02020603050405020304" pitchFamily="18" charset="0"/>
              </a:rPr>
              <a:t>B</a:t>
            </a:r>
            <a:r>
              <a:rPr kumimoji="1" lang="en-US" altLang="zh-CN" sz="2800" b="1">
                <a:latin typeface="Times New Roman" panose="02020603050405020304" pitchFamily="18" charset="0"/>
              </a:rPr>
              <a:t>=0.333;</a:t>
            </a:r>
            <a:endParaRPr kumimoji="1" lang="en-US" altLang="zh-CN" sz="2800" b="1" baseline="-25000">
              <a:latin typeface="Times New Roman" panose="02020603050405020304" pitchFamily="18" charset="0"/>
            </a:endParaRPr>
          </a:p>
        </p:txBody>
      </p:sp>
      <p:sp>
        <p:nvSpPr>
          <p:cNvPr id="227403" name="Text Box 1099"/>
          <p:cNvSpPr txBox="1">
            <a:spLocks noChangeArrowheads="1"/>
          </p:cNvSpPr>
          <p:nvPr/>
        </p:nvSpPr>
        <p:spPr bwMode="auto">
          <a:xfrm>
            <a:off x="7086600" y="3505200"/>
            <a:ext cx="1579563" cy="519113"/>
          </a:xfrm>
          <a:prstGeom prst="rect">
            <a:avLst/>
          </a:prstGeom>
          <a:noFill/>
          <a:ln w="9525">
            <a:noFill/>
            <a:miter lim="800000"/>
          </a:ln>
          <a:effectLst/>
        </p:spPr>
        <p:txBody>
          <a:bodyPr wrap="none">
            <a:spAutoFit/>
          </a:bodyPr>
          <a:lstStyle/>
          <a:p>
            <a:pPr eaLnBrk="1" hangingPunct="1">
              <a:defRPr/>
            </a:pPr>
            <a:r>
              <a:rPr kumimoji="1" lang="en-US" altLang="zh-CN" sz="2800" b="1">
                <a:latin typeface="Times New Roman" panose="02020603050405020304" pitchFamily="18" charset="0"/>
              </a:rPr>
              <a:t>F</a:t>
            </a:r>
            <a:r>
              <a:rPr kumimoji="1" lang="en-US" altLang="zh-CN" sz="2800" b="1" baseline="-25000">
                <a:effectLst>
                  <a:outerShdw blurRad="38100" dist="38100" dir="2700000" algn="tl">
                    <a:srgbClr val="000000"/>
                  </a:outerShdw>
                </a:effectLst>
                <a:latin typeface="Times New Roman" panose="02020603050405020304" pitchFamily="18" charset="0"/>
              </a:rPr>
              <a:t>C</a:t>
            </a:r>
            <a:r>
              <a:rPr kumimoji="1" lang="en-US" altLang="zh-CN" sz="2800" b="1">
                <a:effectLst>
                  <a:outerShdw blurRad="38100" dist="38100" dir="2700000" algn="tl">
                    <a:srgbClr val="000000"/>
                  </a:outerShdw>
                </a:effectLst>
                <a:latin typeface="Times New Roman" panose="02020603050405020304" pitchFamily="18" charset="0"/>
              </a:rPr>
              <a:t>=0.335</a:t>
            </a:r>
            <a:endParaRPr kumimoji="1" lang="en-US" altLang="zh-CN" sz="2800" b="1" baseline="-25000">
              <a:effectLst>
                <a:outerShdw blurRad="38100" dist="38100" dir="2700000" algn="tl">
                  <a:srgbClr val="000000"/>
                </a:outerShdw>
              </a:effectLst>
              <a:latin typeface="Times New Roman" panose="02020603050405020304" pitchFamily="18" charset="0"/>
            </a:endParaRPr>
          </a:p>
        </p:txBody>
      </p:sp>
      <p:sp>
        <p:nvSpPr>
          <p:cNvPr id="227390" name="Text Box 1086"/>
          <p:cNvSpPr txBox="1">
            <a:spLocks noChangeArrowheads="1"/>
          </p:cNvSpPr>
          <p:nvPr/>
        </p:nvSpPr>
        <p:spPr bwMode="auto">
          <a:xfrm>
            <a:off x="609600" y="4356100"/>
            <a:ext cx="2449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4.成本系数</a:t>
            </a:r>
            <a:endParaRPr kumimoji="1" lang="zh-CN" altLang="en-US" sz="2800" b="1">
              <a:latin typeface="Times New Roman" panose="02020603050405020304" pitchFamily="18" charset="0"/>
            </a:endParaRPr>
          </a:p>
        </p:txBody>
      </p:sp>
      <p:sp>
        <p:nvSpPr>
          <p:cNvPr id="227404" name="Text Box 1100"/>
          <p:cNvSpPr txBox="1">
            <a:spLocks noChangeArrowheads="1"/>
          </p:cNvSpPr>
          <p:nvPr/>
        </p:nvSpPr>
        <p:spPr bwMode="auto">
          <a:xfrm>
            <a:off x="990600" y="5105400"/>
            <a:ext cx="1493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C</a:t>
            </a:r>
            <a:r>
              <a:rPr kumimoji="1" lang="en-US" altLang="zh-CN" sz="2800" b="1" baseline="-25000">
                <a:latin typeface="Times New Roman" panose="02020603050405020304" pitchFamily="18" charset="0"/>
              </a:rPr>
              <a:t>A</a:t>
            </a:r>
            <a:r>
              <a:rPr kumimoji="1" lang="en-US" altLang="zh-CN" sz="2800" b="1">
                <a:latin typeface="Times New Roman" panose="02020603050405020304" pitchFamily="18" charset="0"/>
              </a:rPr>
              <a:t>＝</a:t>
            </a:r>
            <a:endParaRPr kumimoji="1" lang="en-US" altLang="zh-CN" sz="2800" b="1">
              <a:latin typeface="Times New Roman" panose="02020603050405020304" pitchFamily="18" charset="0"/>
            </a:endParaRPr>
          </a:p>
        </p:txBody>
      </p:sp>
      <p:sp>
        <p:nvSpPr>
          <p:cNvPr id="227405" name="Text Box 1101"/>
          <p:cNvSpPr txBox="1">
            <a:spLocks noChangeArrowheads="1"/>
          </p:cNvSpPr>
          <p:nvPr/>
        </p:nvSpPr>
        <p:spPr bwMode="auto">
          <a:xfrm>
            <a:off x="5105400" y="5105400"/>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C</a:t>
            </a:r>
            <a:r>
              <a:rPr kumimoji="1" lang="en-US" altLang="zh-CN" sz="2800" b="1" baseline="-25000">
                <a:latin typeface="Times New Roman" panose="02020603050405020304" pitchFamily="18" charset="0"/>
              </a:rPr>
              <a:t>B</a:t>
            </a:r>
            <a:r>
              <a:rPr kumimoji="1" lang="en-US" altLang="zh-CN" sz="2800" b="1">
                <a:latin typeface="Times New Roman" panose="02020603050405020304" pitchFamily="18" charset="0"/>
              </a:rPr>
              <a:t>＝0.305；</a:t>
            </a:r>
            <a:endParaRPr kumimoji="1" lang="en-US" altLang="zh-CN" sz="2800" b="1" baseline="-25000">
              <a:latin typeface="Times New Roman" panose="02020603050405020304" pitchFamily="18" charset="0"/>
            </a:endParaRPr>
          </a:p>
        </p:txBody>
      </p:sp>
      <p:sp>
        <p:nvSpPr>
          <p:cNvPr id="227406" name="Text Box 1102"/>
          <p:cNvSpPr txBox="1">
            <a:spLocks noChangeArrowheads="1"/>
          </p:cNvSpPr>
          <p:nvPr/>
        </p:nvSpPr>
        <p:spPr bwMode="auto">
          <a:xfrm>
            <a:off x="7010400" y="5105400"/>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C</a:t>
            </a:r>
            <a:r>
              <a:rPr kumimoji="1" lang="en-US" altLang="zh-CN" sz="2800" b="1" baseline="-25000">
                <a:latin typeface="Times New Roman" panose="02020603050405020304" pitchFamily="18" charset="0"/>
              </a:rPr>
              <a:t>C</a:t>
            </a:r>
            <a:r>
              <a:rPr kumimoji="1" lang="en-US" altLang="zh-CN" sz="2800" b="1">
                <a:latin typeface="Times New Roman" panose="02020603050405020304" pitchFamily="18" charset="0"/>
              </a:rPr>
              <a:t>＝0.334</a:t>
            </a:r>
            <a:endParaRPr kumimoji="1" lang="en-US" altLang="zh-CN" sz="2800" b="1" baseline="-25000">
              <a:latin typeface="Times New Roman" panose="02020603050405020304" pitchFamily="18" charset="0"/>
            </a:endParaRPr>
          </a:p>
        </p:txBody>
      </p:sp>
      <p:sp>
        <p:nvSpPr>
          <p:cNvPr id="227412" name="Text Box 1108"/>
          <p:cNvSpPr txBox="1">
            <a:spLocks noChangeArrowheads="1"/>
          </p:cNvSpPr>
          <p:nvPr/>
        </p:nvSpPr>
        <p:spPr bwMode="auto">
          <a:xfrm>
            <a:off x="2895600" y="5105400"/>
            <a:ext cx="1963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 0.361</a:t>
            </a:r>
            <a:r>
              <a:rPr kumimoji="1" lang="zh-CN" altLang="en-US" sz="2800" b="1">
                <a:latin typeface="Times New Roman" panose="02020603050405020304" pitchFamily="18" charset="0"/>
              </a:rPr>
              <a:t>；</a:t>
            </a:r>
            <a:endParaRPr kumimoji="1" lang="zh-CN" altLang="en-US" sz="2800" b="1">
              <a:latin typeface="Times New Roman" panose="02020603050405020304" pitchFamily="18" charset="0"/>
            </a:endParaRPr>
          </a:p>
        </p:txBody>
      </p:sp>
      <p:grpSp>
        <p:nvGrpSpPr>
          <p:cNvPr id="3" name="Group 1134"/>
          <p:cNvGrpSpPr/>
          <p:nvPr/>
        </p:nvGrpSpPr>
        <p:grpSpPr bwMode="auto">
          <a:xfrm>
            <a:off x="1981200" y="4876800"/>
            <a:ext cx="914400" cy="976313"/>
            <a:chOff x="1248" y="3072"/>
            <a:chExt cx="576" cy="615"/>
          </a:xfrm>
        </p:grpSpPr>
        <p:sp>
          <p:nvSpPr>
            <p:cNvPr id="44056" name="Text Box 1106"/>
            <p:cNvSpPr txBox="1">
              <a:spLocks noChangeArrowheads="1"/>
            </p:cNvSpPr>
            <p:nvPr/>
          </p:nvSpPr>
          <p:spPr bwMode="auto">
            <a:xfrm>
              <a:off x="1248" y="3072"/>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1325</a:t>
              </a:r>
              <a:endParaRPr kumimoji="1" lang="zh-CN" altLang="en-US" sz="2800" b="1">
                <a:latin typeface="Times New Roman" panose="02020603050405020304" pitchFamily="18" charset="0"/>
                <a:ea typeface="Gungsuh" pitchFamily="18" charset="-127"/>
              </a:endParaRPr>
            </a:p>
          </p:txBody>
        </p:sp>
        <p:sp>
          <p:nvSpPr>
            <p:cNvPr id="44057" name="Text Box 1107"/>
            <p:cNvSpPr txBox="1">
              <a:spLocks noChangeArrowheads="1"/>
            </p:cNvSpPr>
            <p:nvPr/>
          </p:nvSpPr>
          <p:spPr bwMode="auto">
            <a:xfrm>
              <a:off x="1248" y="3360"/>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3669</a:t>
              </a:r>
              <a:endParaRPr kumimoji="1" lang="zh-CN" altLang="en-US" sz="2800" b="1">
                <a:latin typeface="Times New Roman" panose="02020603050405020304" pitchFamily="18" charset="0"/>
                <a:ea typeface="Gungsuh" pitchFamily="18" charset="-127"/>
              </a:endParaRPr>
            </a:p>
          </p:txBody>
        </p:sp>
        <p:sp>
          <p:nvSpPr>
            <p:cNvPr id="44058" name="Line 1109"/>
            <p:cNvSpPr>
              <a:spLocks noChangeShapeType="1"/>
            </p:cNvSpPr>
            <p:nvPr/>
          </p:nvSpPr>
          <p:spPr bwMode="auto">
            <a:xfrm>
              <a:off x="1248" y="3408"/>
              <a:ext cx="576"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227415" name="Text Box 1111"/>
          <p:cNvSpPr txBox="1">
            <a:spLocks noChangeArrowheads="1"/>
          </p:cNvSpPr>
          <p:nvPr/>
        </p:nvSpPr>
        <p:spPr bwMode="auto">
          <a:xfrm>
            <a:off x="4267200" y="5105400"/>
            <a:ext cx="1096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同理</a:t>
            </a:r>
            <a:endParaRPr kumimoji="1"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7385">
                                            <p:txEl>
                                              <p:pRg st="0" end="0"/>
                                            </p:txEl>
                                          </p:spTgt>
                                        </p:tgtEl>
                                        <p:attrNameLst>
                                          <p:attrName>style.visibility</p:attrName>
                                        </p:attrNameLst>
                                      </p:cBhvr>
                                      <p:to>
                                        <p:strVal val="visible"/>
                                      </p:to>
                                    </p:set>
                                    <p:animEffect transition="in" filter="dissolve">
                                      <p:cBhvr>
                                        <p:cTn id="7" dur="500"/>
                                        <p:tgtEl>
                                          <p:spTgt spid="2273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7386">
                                            <p:txEl>
                                              <p:pRg st="0" end="0"/>
                                            </p:txEl>
                                          </p:spTgt>
                                        </p:tgtEl>
                                        <p:attrNameLst>
                                          <p:attrName>style.visibility</p:attrName>
                                        </p:attrNameLst>
                                      </p:cBhvr>
                                      <p:to>
                                        <p:strVal val="visible"/>
                                      </p:to>
                                    </p:set>
                                    <p:animEffect transition="in" filter="dissolve">
                                      <p:cBhvr>
                                        <p:cTn id="12" dur="500"/>
                                        <p:tgtEl>
                                          <p:spTgt spid="2273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7392">
                                            <p:txEl>
                                              <p:pRg st="0" end="0"/>
                                            </p:txEl>
                                          </p:spTgt>
                                        </p:tgtEl>
                                        <p:attrNameLst>
                                          <p:attrName>style.visibility</p:attrName>
                                        </p:attrNameLst>
                                      </p:cBhvr>
                                      <p:to>
                                        <p:strVal val="visible"/>
                                      </p:to>
                                    </p:set>
                                    <p:animEffect transition="in" filter="dissolve">
                                      <p:cBhvr>
                                        <p:cTn id="17" dur="500"/>
                                        <p:tgtEl>
                                          <p:spTgt spid="22739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7387">
                                            <p:txEl>
                                              <p:pRg st="0" end="0"/>
                                            </p:txEl>
                                          </p:spTgt>
                                        </p:tgtEl>
                                        <p:attrNameLst>
                                          <p:attrName>style.visibility</p:attrName>
                                        </p:attrNameLst>
                                      </p:cBhvr>
                                      <p:to>
                                        <p:strVal val="visible"/>
                                      </p:to>
                                    </p:set>
                                    <p:animEffect transition="in" filter="dissolve">
                                      <p:cBhvr>
                                        <p:cTn id="22" dur="500"/>
                                        <p:tgtEl>
                                          <p:spTgt spid="22738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7393">
                                            <p:txEl>
                                              <p:pRg st="0" end="0"/>
                                            </p:txEl>
                                          </p:spTgt>
                                        </p:tgtEl>
                                        <p:attrNameLst>
                                          <p:attrName>style.visibility</p:attrName>
                                        </p:attrNameLst>
                                      </p:cBhvr>
                                      <p:to>
                                        <p:strVal val="visible"/>
                                      </p:to>
                                    </p:set>
                                    <p:animEffect transition="in" filter="dissolve">
                                      <p:cBhvr>
                                        <p:cTn id="27" dur="500"/>
                                        <p:tgtEl>
                                          <p:spTgt spid="22739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7394">
                                            <p:txEl>
                                              <p:pRg st="0" end="0"/>
                                            </p:txEl>
                                          </p:spTgt>
                                        </p:tgtEl>
                                        <p:attrNameLst>
                                          <p:attrName>style.visibility</p:attrName>
                                        </p:attrNameLst>
                                      </p:cBhvr>
                                      <p:to>
                                        <p:strVal val="visible"/>
                                      </p:to>
                                    </p:set>
                                    <p:animEffect transition="in" filter="dissolve">
                                      <p:cBhvr>
                                        <p:cTn id="32" dur="500"/>
                                        <p:tgtEl>
                                          <p:spTgt spid="22739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27388">
                                            <p:txEl>
                                              <p:pRg st="0" end="0"/>
                                            </p:txEl>
                                          </p:spTgt>
                                        </p:tgtEl>
                                        <p:attrNameLst>
                                          <p:attrName>style.visibility</p:attrName>
                                        </p:attrNameLst>
                                      </p:cBhvr>
                                      <p:to>
                                        <p:strVal val="visible"/>
                                      </p:to>
                                    </p:set>
                                    <p:animEffect transition="in" filter="dissolve">
                                      <p:cBhvr>
                                        <p:cTn id="37" dur="500"/>
                                        <p:tgtEl>
                                          <p:spTgt spid="22738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27395">
                                            <p:txEl>
                                              <p:pRg st="0" end="0"/>
                                            </p:txEl>
                                          </p:spTgt>
                                        </p:tgtEl>
                                        <p:attrNameLst>
                                          <p:attrName>style.visibility</p:attrName>
                                        </p:attrNameLst>
                                      </p:cBhvr>
                                      <p:to>
                                        <p:strVal val="visible"/>
                                      </p:to>
                                    </p:set>
                                    <p:animEffect transition="in" filter="dissolve">
                                      <p:cBhvr>
                                        <p:cTn id="42" dur="500"/>
                                        <p:tgtEl>
                                          <p:spTgt spid="22739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27389">
                                            <p:txEl>
                                              <p:pRg st="0" end="0"/>
                                            </p:txEl>
                                          </p:spTgt>
                                        </p:tgtEl>
                                        <p:attrNameLst>
                                          <p:attrName>style.visibility</p:attrName>
                                        </p:attrNameLst>
                                      </p:cBhvr>
                                      <p:to>
                                        <p:strVal val="visible"/>
                                      </p:to>
                                    </p:set>
                                    <p:animEffect transition="in" filter="dissolve">
                                      <p:cBhvr>
                                        <p:cTn id="47" dur="500"/>
                                        <p:tgtEl>
                                          <p:spTgt spid="22738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27396">
                                            <p:txEl>
                                              <p:pRg st="0" end="0"/>
                                            </p:txEl>
                                          </p:spTgt>
                                        </p:tgtEl>
                                        <p:attrNameLst>
                                          <p:attrName>style.visibility</p:attrName>
                                        </p:attrNameLst>
                                      </p:cBhvr>
                                      <p:to>
                                        <p:strVal val="visible"/>
                                      </p:to>
                                    </p:set>
                                    <p:animEffect transition="in" filter="dissolve">
                                      <p:cBhvr>
                                        <p:cTn id="52" dur="500"/>
                                        <p:tgtEl>
                                          <p:spTgt spid="22739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dissolve">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27400">
                                            <p:txEl>
                                              <p:pRg st="0" end="0"/>
                                            </p:txEl>
                                          </p:spTgt>
                                        </p:tgtEl>
                                        <p:attrNameLst>
                                          <p:attrName>style.visibility</p:attrName>
                                        </p:attrNameLst>
                                      </p:cBhvr>
                                      <p:to>
                                        <p:strVal val="visible"/>
                                      </p:to>
                                    </p:set>
                                    <p:animEffect transition="in" filter="dissolve">
                                      <p:cBhvr>
                                        <p:cTn id="62" dur="500"/>
                                        <p:tgtEl>
                                          <p:spTgt spid="227400">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27401">
                                            <p:txEl>
                                              <p:pRg st="0" end="0"/>
                                            </p:txEl>
                                          </p:spTgt>
                                        </p:tgtEl>
                                        <p:attrNameLst>
                                          <p:attrName>style.visibility</p:attrName>
                                        </p:attrNameLst>
                                      </p:cBhvr>
                                      <p:to>
                                        <p:strVal val="visible"/>
                                      </p:to>
                                    </p:set>
                                    <p:animEffect transition="in" filter="dissolve">
                                      <p:cBhvr>
                                        <p:cTn id="67" dur="500"/>
                                        <p:tgtEl>
                                          <p:spTgt spid="227401">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27402">
                                            <p:txEl>
                                              <p:pRg st="0" end="0"/>
                                            </p:txEl>
                                          </p:spTgt>
                                        </p:tgtEl>
                                        <p:attrNameLst>
                                          <p:attrName>style.visibility</p:attrName>
                                        </p:attrNameLst>
                                      </p:cBhvr>
                                      <p:to>
                                        <p:strVal val="visible"/>
                                      </p:to>
                                    </p:set>
                                    <p:animEffect transition="in" filter="dissolve">
                                      <p:cBhvr>
                                        <p:cTn id="72" dur="500"/>
                                        <p:tgtEl>
                                          <p:spTgt spid="227402">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27403">
                                            <p:txEl>
                                              <p:pRg st="0" end="0"/>
                                            </p:txEl>
                                          </p:spTgt>
                                        </p:tgtEl>
                                        <p:attrNameLst>
                                          <p:attrName>style.visibility</p:attrName>
                                        </p:attrNameLst>
                                      </p:cBhvr>
                                      <p:to>
                                        <p:strVal val="visible"/>
                                      </p:to>
                                    </p:set>
                                    <p:animEffect transition="in" filter="dissolve">
                                      <p:cBhvr>
                                        <p:cTn id="77" dur="500"/>
                                        <p:tgtEl>
                                          <p:spTgt spid="22740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227390">
                                            <p:txEl>
                                              <p:pRg st="0" end="0"/>
                                            </p:txEl>
                                          </p:spTgt>
                                        </p:tgtEl>
                                        <p:attrNameLst>
                                          <p:attrName>style.visibility</p:attrName>
                                        </p:attrNameLst>
                                      </p:cBhvr>
                                      <p:to>
                                        <p:strVal val="visible"/>
                                      </p:to>
                                    </p:set>
                                    <p:animEffect transition="in" filter="dissolve">
                                      <p:cBhvr>
                                        <p:cTn id="82" dur="500"/>
                                        <p:tgtEl>
                                          <p:spTgt spid="227390">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227404">
                                            <p:txEl>
                                              <p:pRg st="0" end="0"/>
                                            </p:txEl>
                                          </p:spTgt>
                                        </p:tgtEl>
                                        <p:attrNameLst>
                                          <p:attrName>style.visibility</p:attrName>
                                        </p:attrNameLst>
                                      </p:cBhvr>
                                      <p:to>
                                        <p:strVal val="visible"/>
                                      </p:to>
                                    </p:set>
                                    <p:animEffect transition="in" filter="dissolve">
                                      <p:cBhvr>
                                        <p:cTn id="87" dur="500"/>
                                        <p:tgtEl>
                                          <p:spTgt spid="227404">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dissolve">
                                      <p:cBhvr>
                                        <p:cTn id="92" dur="500"/>
                                        <p:tgtEl>
                                          <p:spTgt spid="3"/>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227412">
                                            <p:txEl>
                                              <p:pRg st="0" end="0"/>
                                            </p:txEl>
                                          </p:spTgt>
                                        </p:tgtEl>
                                        <p:attrNameLst>
                                          <p:attrName>style.visibility</p:attrName>
                                        </p:attrNameLst>
                                      </p:cBhvr>
                                      <p:to>
                                        <p:strVal val="visible"/>
                                      </p:to>
                                    </p:set>
                                    <p:animEffect transition="in" filter="dissolve">
                                      <p:cBhvr>
                                        <p:cTn id="97" dur="500"/>
                                        <p:tgtEl>
                                          <p:spTgt spid="227412">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227415">
                                            <p:txEl>
                                              <p:pRg st="0" end="0"/>
                                            </p:txEl>
                                          </p:spTgt>
                                        </p:tgtEl>
                                        <p:attrNameLst>
                                          <p:attrName>style.visibility</p:attrName>
                                        </p:attrNameLst>
                                      </p:cBhvr>
                                      <p:to>
                                        <p:strVal val="visible"/>
                                      </p:to>
                                    </p:set>
                                    <p:animEffect transition="in" filter="dissolve">
                                      <p:cBhvr>
                                        <p:cTn id="102" dur="500"/>
                                        <p:tgtEl>
                                          <p:spTgt spid="227415">
                                            <p:txEl>
                                              <p:pRg st="0" end="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227405">
                                            <p:txEl>
                                              <p:pRg st="0" end="0"/>
                                            </p:txEl>
                                          </p:spTgt>
                                        </p:tgtEl>
                                        <p:attrNameLst>
                                          <p:attrName>style.visibility</p:attrName>
                                        </p:attrNameLst>
                                      </p:cBhvr>
                                      <p:to>
                                        <p:strVal val="visible"/>
                                      </p:to>
                                    </p:set>
                                    <p:animEffect transition="in" filter="dissolve">
                                      <p:cBhvr>
                                        <p:cTn id="107" dur="500"/>
                                        <p:tgtEl>
                                          <p:spTgt spid="227405">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227406">
                                            <p:txEl>
                                              <p:pRg st="0" end="0"/>
                                            </p:txEl>
                                          </p:spTgt>
                                        </p:tgtEl>
                                        <p:attrNameLst>
                                          <p:attrName>style.visibility</p:attrName>
                                        </p:attrNameLst>
                                      </p:cBhvr>
                                      <p:to>
                                        <p:strVal val="visible"/>
                                      </p:to>
                                    </p:set>
                                    <p:animEffect transition="in" filter="dissolve">
                                      <p:cBhvr>
                                        <p:cTn id="112" dur="500"/>
                                        <p:tgtEl>
                                          <p:spTgt spid="22740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85" grpId="0" autoUpdateAnimBg="0" build="p"/>
      <p:bldP spid="227386" grpId="0" autoUpdateAnimBg="0" build="p"/>
      <p:bldP spid="227388" grpId="0" autoUpdateAnimBg="0" build="p"/>
      <p:bldP spid="227392" grpId="0" autoUpdateAnimBg="0" build="p"/>
      <p:bldP spid="227387" grpId="0" autoUpdateAnimBg="0" build="p"/>
      <p:bldP spid="227393" grpId="0" autoUpdateAnimBg="0" build="p"/>
      <p:bldP spid="227394" grpId="0" autoUpdateAnimBg="0" build="p"/>
      <p:bldP spid="227395" grpId="0" autoUpdateAnimBg="0" build="p"/>
      <p:bldP spid="227389" grpId="0" autoUpdateAnimBg="0" build="p"/>
      <p:bldP spid="227396" grpId="0" autoUpdateAnimBg="0" build="p"/>
      <p:bldP spid="227400" grpId="0" autoUpdateAnimBg="0" build="p"/>
      <p:bldP spid="227401" grpId="0" autoUpdateAnimBg="0" build="p"/>
      <p:bldP spid="227402" grpId="0" autoUpdateAnimBg="0" build="p"/>
      <p:bldP spid="227403" grpId="0" autoUpdateAnimBg="0" build="p"/>
      <p:bldP spid="227390" grpId="0" autoUpdateAnimBg="0" build="p"/>
      <p:bldP spid="227404" grpId="0" autoUpdateAnimBg="0" build="p"/>
      <p:bldP spid="227405" grpId="0" autoUpdateAnimBg="0" build="p"/>
      <p:bldP spid="227406" grpId="0" autoUpdateAnimBg="0" build="p"/>
      <p:bldP spid="227412" grpId="0" autoUpdateAnimBg="0" build="p"/>
      <p:bldP spid="227415" grpId="0" autoUpdateAnimBg="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1403350" y="549275"/>
            <a:ext cx="2466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5.价值系数</a:t>
            </a:r>
            <a:endParaRPr kumimoji="1" lang="zh-CN" altLang="en-US" sz="2800" b="1">
              <a:latin typeface="Times New Roman" panose="02020603050405020304" pitchFamily="18" charset="0"/>
            </a:endParaRPr>
          </a:p>
        </p:txBody>
      </p:sp>
      <p:sp>
        <p:nvSpPr>
          <p:cNvPr id="45059" name="Text Box 7"/>
          <p:cNvSpPr txBox="1">
            <a:spLocks noChangeArrowheads="1"/>
          </p:cNvSpPr>
          <p:nvPr/>
        </p:nvSpPr>
        <p:spPr bwMode="auto">
          <a:xfrm>
            <a:off x="1600200" y="1066800"/>
            <a:ext cx="576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F</a:t>
            </a:r>
            <a:r>
              <a:rPr kumimoji="1" lang="en-US" altLang="zh-CN" sz="2800" b="1" baseline="-25000">
                <a:latin typeface="Times New Roman" panose="02020603050405020304" pitchFamily="18" charset="0"/>
                <a:ea typeface="Gungsuh" pitchFamily="18" charset="-127"/>
              </a:rPr>
              <a:t>A</a:t>
            </a:r>
            <a:endParaRPr kumimoji="1" lang="en-US" altLang="zh-CN" sz="2800" b="1" baseline="-25000">
              <a:latin typeface="Times New Roman" panose="02020603050405020304" pitchFamily="18" charset="0"/>
              <a:ea typeface="Gungsuh" pitchFamily="18" charset="-127"/>
            </a:endParaRPr>
          </a:p>
        </p:txBody>
      </p:sp>
      <p:sp>
        <p:nvSpPr>
          <p:cNvPr id="45060" name="Text Box 11"/>
          <p:cNvSpPr txBox="1">
            <a:spLocks noChangeArrowheads="1"/>
          </p:cNvSpPr>
          <p:nvPr/>
        </p:nvSpPr>
        <p:spPr bwMode="auto">
          <a:xfrm>
            <a:off x="2590800" y="1066800"/>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0.332</a:t>
            </a:r>
            <a:endParaRPr kumimoji="1" lang="zh-CN" altLang="en-US" sz="2800" b="1">
              <a:latin typeface="Times New Roman" panose="02020603050405020304" pitchFamily="18" charset="0"/>
              <a:ea typeface="Gungsuh" pitchFamily="18" charset="-127"/>
            </a:endParaRPr>
          </a:p>
        </p:txBody>
      </p:sp>
      <p:sp>
        <p:nvSpPr>
          <p:cNvPr id="45061" name="Text Box 3"/>
          <p:cNvSpPr txBox="1">
            <a:spLocks noChangeArrowheads="1"/>
          </p:cNvSpPr>
          <p:nvPr/>
        </p:nvSpPr>
        <p:spPr bwMode="auto">
          <a:xfrm>
            <a:off x="609600" y="1293813"/>
            <a:ext cx="81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V</a:t>
            </a:r>
            <a:r>
              <a:rPr kumimoji="1" lang="en-US" altLang="zh-CN" sz="2800" b="1" baseline="-25000">
                <a:latin typeface="Times New Roman" panose="02020603050405020304" pitchFamily="18" charset="0"/>
              </a:rPr>
              <a:t>A</a:t>
            </a:r>
            <a:r>
              <a:rPr kumimoji="1" lang="en-US" altLang="zh-CN" sz="2800" b="1">
                <a:latin typeface="Times New Roman" panose="02020603050405020304" pitchFamily="18" charset="0"/>
              </a:rPr>
              <a:t>=</a:t>
            </a:r>
            <a:endParaRPr kumimoji="1" lang="en-US" altLang="zh-CN" sz="2800" b="1">
              <a:latin typeface="Times New Roman" panose="02020603050405020304" pitchFamily="18" charset="0"/>
            </a:endParaRPr>
          </a:p>
        </p:txBody>
      </p:sp>
      <p:sp>
        <p:nvSpPr>
          <p:cNvPr id="45062" name="Text Box 4"/>
          <p:cNvSpPr txBox="1">
            <a:spLocks noChangeArrowheads="1"/>
          </p:cNvSpPr>
          <p:nvPr/>
        </p:nvSpPr>
        <p:spPr bwMode="auto">
          <a:xfrm>
            <a:off x="1676400" y="2438400"/>
            <a:ext cx="167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V</a:t>
            </a:r>
            <a:r>
              <a:rPr kumimoji="1" lang="en-US" altLang="zh-CN" sz="2800" b="1" baseline="-25000">
                <a:latin typeface="Times New Roman" panose="02020603050405020304" pitchFamily="18" charset="0"/>
              </a:rPr>
              <a:t>B</a:t>
            </a:r>
            <a:r>
              <a:rPr kumimoji="1" lang="en-US" altLang="zh-CN" sz="2800" b="1">
                <a:latin typeface="Times New Roman" panose="02020603050405020304" pitchFamily="18" charset="0"/>
              </a:rPr>
              <a:t>=1.09;</a:t>
            </a:r>
            <a:endParaRPr kumimoji="1" lang="en-US" altLang="zh-CN" sz="2800" b="1">
              <a:latin typeface="Times New Roman" panose="02020603050405020304" pitchFamily="18" charset="0"/>
            </a:endParaRPr>
          </a:p>
        </p:txBody>
      </p:sp>
      <p:sp>
        <p:nvSpPr>
          <p:cNvPr id="45063" name="Text Box 5"/>
          <p:cNvSpPr txBox="1">
            <a:spLocks noChangeArrowheads="1"/>
          </p:cNvSpPr>
          <p:nvPr/>
        </p:nvSpPr>
        <p:spPr bwMode="auto">
          <a:xfrm>
            <a:off x="3505200" y="2438400"/>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en-US" altLang="zh-CN" sz="2800" b="1">
                <a:latin typeface="Times New Roman" panose="02020603050405020304" pitchFamily="18" charset="0"/>
              </a:rPr>
              <a:t>V</a:t>
            </a:r>
            <a:r>
              <a:rPr kumimoji="1" lang="en-US" altLang="zh-CN" sz="2800" b="1" baseline="-25000">
                <a:latin typeface="Times New Roman" panose="02020603050405020304" pitchFamily="18" charset="0"/>
              </a:rPr>
              <a:t>C</a:t>
            </a:r>
            <a:r>
              <a:rPr kumimoji="1" lang="en-US" altLang="zh-CN" sz="2800" b="1">
                <a:latin typeface="Times New Roman" panose="02020603050405020304" pitchFamily="18" charset="0"/>
              </a:rPr>
              <a:t>=1.00</a:t>
            </a:r>
            <a:endParaRPr kumimoji="1" lang="en-US" altLang="zh-CN" sz="2800" b="1">
              <a:latin typeface="Times New Roman" panose="02020603050405020304" pitchFamily="18" charset="0"/>
            </a:endParaRPr>
          </a:p>
        </p:txBody>
      </p:sp>
      <p:sp>
        <p:nvSpPr>
          <p:cNvPr id="45064" name="Line 6"/>
          <p:cNvSpPr>
            <a:spLocks noChangeShapeType="1"/>
          </p:cNvSpPr>
          <p:nvPr/>
        </p:nvSpPr>
        <p:spPr bwMode="auto">
          <a:xfrm>
            <a:off x="1447800" y="1600200"/>
            <a:ext cx="763588"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065" name="Text Box 8"/>
          <p:cNvSpPr txBox="1">
            <a:spLocks noChangeArrowheads="1"/>
          </p:cNvSpPr>
          <p:nvPr/>
        </p:nvSpPr>
        <p:spPr bwMode="auto">
          <a:xfrm>
            <a:off x="1600200" y="1600200"/>
            <a:ext cx="615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en-US" altLang="zh-CN" sz="2800" b="1">
                <a:latin typeface="Times New Roman" panose="02020603050405020304" pitchFamily="18" charset="0"/>
                <a:ea typeface="Gungsuh" pitchFamily="18" charset="-127"/>
              </a:rPr>
              <a:t>C</a:t>
            </a:r>
            <a:r>
              <a:rPr kumimoji="1" lang="en-US" altLang="zh-CN" sz="2800" b="1" baseline="-25000">
                <a:latin typeface="Times New Roman" panose="02020603050405020304" pitchFamily="18" charset="0"/>
                <a:ea typeface="Gungsuh" pitchFamily="18" charset="-127"/>
              </a:rPr>
              <a:t>A</a:t>
            </a:r>
            <a:endParaRPr kumimoji="1" lang="en-US" altLang="zh-CN" sz="2800" b="1" baseline="-25000">
              <a:latin typeface="Times New Roman" panose="02020603050405020304" pitchFamily="18" charset="0"/>
              <a:ea typeface="Gungsuh" pitchFamily="18" charset="-127"/>
            </a:endParaRPr>
          </a:p>
        </p:txBody>
      </p:sp>
      <p:sp>
        <p:nvSpPr>
          <p:cNvPr id="45066" name="Text Box 9"/>
          <p:cNvSpPr txBox="1">
            <a:spLocks noChangeArrowheads="1"/>
          </p:cNvSpPr>
          <p:nvPr/>
        </p:nvSpPr>
        <p:spPr bwMode="auto">
          <a:xfrm>
            <a:off x="2262188" y="13589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a:t>
            </a:r>
            <a:endParaRPr kumimoji="1" lang="zh-CN" altLang="en-US" sz="2800" b="1">
              <a:latin typeface="Times New Roman" panose="02020603050405020304" pitchFamily="18" charset="0"/>
              <a:ea typeface="Gungsuh" pitchFamily="18" charset="-127"/>
            </a:endParaRPr>
          </a:p>
        </p:txBody>
      </p:sp>
      <p:sp>
        <p:nvSpPr>
          <p:cNvPr id="45067" name="Line 10"/>
          <p:cNvSpPr>
            <a:spLocks noChangeShapeType="1"/>
          </p:cNvSpPr>
          <p:nvPr/>
        </p:nvSpPr>
        <p:spPr bwMode="auto">
          <a:xfrm>
            <a:off x="2667000" y="1600200"/>
            <a:ext cx="857250" cy="0"/>
          </a:xfrm>
          <a:prstGeom prst="line">
            <a:avLst/>
          </a:prstGeom>
          <a:noFill/>
          <a:ln w="12700" cap="sq">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5068" name="Text Box 12"/>
          <p:cNvSpPr txBox="1">
            <a:spLocks noChangeArrowheads="1"/>
          </p:cNvSpPr>
          <p:nvPr/>
        </p:nvSpPr>
        <p:spPr bwMode="auto">
          <a:xfrm>
            <a:off x="2667000" y="1600200"/>
            <a:ext cx="982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0.361</a:t>
            </a:r>
            <a:endParaRPr kumimoji="1" lang="zh-CN" altLang="en-US" sz="2800" b="1">
              <a:latin typeface="Times New Roman" panose="02020603050405020304" pitchFamily="18" charset="0"/>
              <a:ea typeface="Gungsuh" pitchFamily="18" charset="-127"/>
            </a:endParaRPr>
          </a:p>
        </p:txBody>
      </p:sp>
      <p:sp>
        <p:nvSpPr>
          <p:cNvPr id="45069" name="Text Box 13"/>
          <p:cNvSpPr txBox="1">
            <a:spLocks noChangeArrowheads="1"/>
          </p:cNvSpPr>
          <p:nvPr/>
        </p:nvSpPr>
        <p:spPr bwMode="auto">
          <a:xfrm>
            <a:off x="3659188" y="1295400"/>
            <a:ext cx="12176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rPr>
              <a:t>= 0.92;</a:t>
            </a:r>
            <a:endParaRPr kumimoji="1" lang="zh-CN" altLang="en-US" sz="2800" b="1">
              <a:latin typeface="Times New Roman" panose="02020603050405020304" pitchFamily="18" charset="0"/>
              <a:ea typeface="Gungsuh" pitchFamily="18" charset="-127"/>
            </a:endParaRPr>
          </a:p>
        </p:txBody>
      </p:sp>
      <p:sp>
        <p:nvSpPr>
          <p:cNvPr id="45070" name="Text Box 14"/>
          <p:cNvSpPr txBox="1">
            <a:spLocks noChangeArrowheads="1"/>
          </p:cNvSpPr>
          <p:nvPr/>
        </p:nvSpPr>
        <p:spPr bwMode="auto">
          <a:xfrm>
            <a:off x="609600" y="2438400"/>
            <a:ext cx="1154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2800" b="1">
                <a:latin typeface="Times New Roman" panose="02020603050405020304" pitchFamily="18" charset="0"/>
              </a:rPr>
              <a:t>同理</a:t>
            </a:r>
            <a:endParaRPr kumimoji="1" lang="zh-CN" altLang="en-US" sz="2800" b="1">
              <a:latin typeface="Times New Roman" panose="02020603050405020304" pitchFamily="18" charset="0"/>
            </a:endParaRPr>
          </a:p>
        </p:txBody>
      </p:sp>
      <p:sp>
        <p:nvSpPr>
          <p:cNvPr id="45071" name="Text Box 15"/>
          <p:cNvSpPr txBox="1">
            <a:spLocks noChangeArrowheads="1"/>
          </p:cNvSpPr>
          <p:nvPr/>
        </p:nvSpPr>
        <p:spPr bwMode="auto">
          <a:xfrm>
            <a:off x="1143000" y="3429000"/>
            <a:ext cx="177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kumimoji="1" lang="zh-CN" altLang="en-US" sz="2800" b="1">
                <a:latin typeface="Times New Roman" panose="02020603050405020304" pitchFamily="18" charset="0"/>
                <a:ea typeface="Gungsuh" pitchFamily="18" charset="-127"/>
                <a:sym typeface="Symbol" panose="05050102010706020507" pitchFamily="18" charset="2"/>
              </a:rPr>
              <a:t> </a:t>
            </a:r>
            <a:r>
              <a:rPr kumimoji="1" lang="en-US" altLang="zh-CN" sz="2800" b="1">
                <a:latin typeface="Times New Roman" panose="02020603050405020304" pitchFamily="18" charset="0"/>
                <a:ea typeface="Gungsuh" pitchFamily="18" charset="-127"/>
                <a:sym typeface="Symbol" panose="05050102010706020507" pitchFamily="18" charset="2"/>
              </a:rPr>
              <a:t>B</a:t>
            </a:r>
            <a:r>
              <a:rPr kumimoji="1" lang="zh-CN" altLang="en-US" sz="2800" b="1">
                <a:latin typeface="Times New Roman" panose="02020603050405020304" pitchFamily="18" charset="0"/>
                <a:sym typeface="Symbol" panose="05050102010706020507" pitchFamily="18" charset="2"/>
              </a:rPr>
              <a:t>为优</a:t>
            </a:r>
            <a:endParaRPr kumimoji="1" lang="zh-CN" altLang="en-US" sz="2800" b="1">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5342" name="Group 494"/>
          <p:cNvGraphicFramePr>
            <a:graphicFrameLocks noGrp="1"/>
          </p:cNvGraphicFramePr>
          <p:nvPr/>
        </p:nvGraphicFramePr>
        <p:xfrm>
          <a:off x="1619250" y="2420938"/>
          <a:ext cx="5616575" cy="2447928"/>
        </p:xfrm>
        <a:graphic>
          <a:graphicData uri="http://schemas.openxmlformats.org/drawingml/2006/table">
            <a:tbl>
              <a:tblPr/>
              <a:tblGrid>
                <a:gridCol w="1028700"/>
                <a:gridCol w="1111250"/>
                <a:gridCol w="1158875"/>
                <a:gridCol w="1158875"/>
                <a:gridCol w="1158875"/>
              </a:tblGrid>
              <a:tr h="293688">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zh-CN" altLang="en-US"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方案功能</a:t>
                      </a:r>
                      <a:endParaRPr kumimoji="1" lang="zh-CN" altLang="en-US"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重要性系数</a:t>
                      </a:r>
                      <a:endParaRPr kumimoji="1" lang="zh-CN" altLang="en-US"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得     分</a:t>
                      </a:r>
                      <a:endParaRPr kumimoji="1" lang="zh-CN" altLang="en-US"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hMerge="1">
                  <a:tcPr/>
                </a:tc>
                <a:tc hMerge="1">
                  <a:tcPr/>
                </a:tc>
              </a:tr>
              <a:tr h="392112">
                <a:tc vMerge="1">
                  <a:tcPr/>
                </a:tc>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r h="2936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en-US" altLang="zh-CN" sz="1200" b="0" i="0" u="none" strike="noStrike" cap="none" normalizeH="0" baseline="-3000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0.227</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r h="2936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en-US" altLang="zh-CN" sz="1200" b="0" i="0" u="none" strike="noStrike" cap="none" normalizeH="0" baseline="-3000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0.295</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r h="2936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en-US" altLang="zh-CN" sz="1200" b="0" i="0" u="none" strike="noStrike" cap="none" normalizeH="0" baseline="-3000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0.159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r h="2936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en-US" altLang="zh-CN" sz="1200" b="0" i="0" u="none" strike="noStrike" cap="none" normalizeH="0" baseline="-3000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0.205</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r h="2936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F</a:t>
                      </a:r>
                      <a:r>
                        <a:rPr kumimoji="1" lang="en-US" altLang="zh-CN" sz="1200" b="0" i="0" u="none" strike="noStrike" cap="none" normalizeH="0" baseline="-3000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0.114</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r h="29368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单方造价（元</a:t>
                      </a: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1200" b="0" i="0" u="none" strike="noStrike" cap="none" normalizeH="0" baseline="3000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zh-CN" altLang="en-US"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h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1420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1230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1150</a:t>
                      </a:r>
                      <a:endParaRPr kumimoji="1" lang="en-US" altLang="zh-CN" sz="2400" b="0" i="0" u="none" strike="noStrike" cap="none" normalizeH="0" baseline="0" smtClean="0">
                        <a:ln>
                          <a:noFill/>
                        </a:ln>
                        <a:solidFill>
                          <a:schemeClr val="bg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tx1"/>
                    </a:solidFill>
                  </a:tcPr>
                </a:tc>
              </a:tr>
            </a:tbl>
          </a:graphicData>
        </a:graphic>
      </p:graphicFrame>
      <p:sp>
        <p:nvSpPr>
          <p:cNvPr id="46133" name="Rectangle 493"/>
          <p:cNvSpPr>
            <a:spLocks noChangeArrowheads="1"/>
          </p:cNvSpPr>
          <p:nvPr/>
        </p:nvSpPr>
        <p:spPr bwMode="auto">
          <a:xfrm>
            <a:off x="-320675" y="4567238"/>
            <a:ext cx="336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kumimoji="1" lang="zh-CN" altLang="en-US" sz="1200">
                <a:latin typeface="Times New Roman" panose="02020603050405020304" pitchFamily="18" charset="0"/>
                <a:cs typeface="Times New Roman" panose="02020603050405020304" pitchFamily="18" charset="0"/>
              </a:rPr>
              <a:t>。</a:t>
            </a:r>
            <a:endParaRPr kumimoji="1" lang="zh-CN" altLang="en-US" sz="2400">
              <a:latin typeface="Times New Roman" panose="02020603050405020304" pitchFamily="18" charset="0"/>
            </a:endParaRPr>
          </a:p>
        </p:txBody>
      </p:sp>
      <p:sp>
        <p:nvSpPr>
          <p:cNvPr id="975344" name="Rectangle 496"/>
          <p:cNvSpPr>
            <a:spLocks noGrp="1" noChangeArrowheads="1"/>
          </p:cNvSpPr>
          <p:nvPr>
            <p:ph type="body" idx="1"/>
          </p:nvPr>
        </p:nvSpPr>
        <p:spPr>
          <a:xfrm>
            <a:off x="395288" y="333375"/>
            <a:ext cx="8229600" cy="6048375"/>
          </a:xfrm>
        </p:spPr>
        <p:txBody>
          <a:bodyPr/>
          <a:lstStyle/>
          <a:p>
            <a:pPr eaLnBrk="1" hangingPunct="1">
              <a:defRPr/>
            </a:pPr>
            <a:r>
              <a:rPr lang="zh-CN" altLang="en-US" smtClean="0"/>
              <a:t>例：某开发公司在某公寓建设工作中采用价值工程的方法对其施工方案进行了分析。现有三个方案，经有关专家的分析论证得到如下表所示的信息：</a:t>
            </a:r>
            <a:endParaRPr lang="zh-CN" altLang="en-US" smtClean="0"/>
          </a:p>
          <a:p>
            <a:pPr eaLnBrk="1" hangingPunct="1">
              <a:defRPr/>
            </a:pPr>
            <a:endParaRPr lang="zh-CN" altLang="en-US" smtClean="0"/>
          </a:p>
          <a:p>
            <a:pPr eaLnBrk="1" hangingPunct="1">
              <a:defRPr/>
            </a:pPr>
            <a:endParaRPr lang="zh-CN" altLang="en-US" smtClean="0"/>
          </a:p>
          <a:p>
            <a:pPr eaLnBrk="1" hangingPunct="1">
              <a:defRPr/>
            </a:pPr>
            <a:endParaRPr lang="zh-CN" altLang="en-US" smtClean="0"/>
          </a:p>
          <a:p>
            <a:pPr eaLnBrk="1" hangingPunct="1">
              <a:defRPr/>
            </a:pPr>
            <a:endParaRPr lang="zh-CN" altLang="en-US" smtClean="0"/>
          </a:p>
          <a:p>
            <a:pPr eaLnBrk="1" hangingPunct="1">
              <a:defRPr/>
            </a:pPr>
            <a:endParaRPr kumimoji="1" lang="zh-CN" altLang="en-US" smtClean="0">
              <a:effectLst/>
            </a:endParaRPr>
          </a:p>
          <a:p>
            <a:pPr eaLnBrk="1" hangingPunct="1">
              <a:defRPr/>
            </a:pPr>
            <a:r>
              <a:rPr kumimoji="1" lang="zh-CN" altLang="en-US" smtClean="0">
                <a:effectLst/>
              </a:rPr>
              <a:t>试计算各方案的功能系数、成本系数、价值系数并进行方案选择。</a:t>
            </a:r>
            <a:endParaRPr lang="zh-CN" altLang="en-US" smtClean="0"/>
          </a:p>
          <a:p>
            <a:pPr eaLnBrk="1" hangingPunct="1">
              <a:defRPr/>
            </a:pPr>
            <a:endParaRPr lang="zh-CN" altLang="en-US"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3" name="Rectangle 3"/>
          <p:cNvSpPr>
            <a:spLocks noGrp="1" noChangeArrowheads="1"/>
          </p:cNvSpPr>
          <p:nvPr>
            <p:ph type="body" idx="1"/>
          </p:nvPr>
        </p:nvSpPr>
        <p:spPr>
          <a:xfrm>
            <a:off x="468313" y="692150"/>
            <a:ext cx="8218487" cy="5832475"/>
          </a:xfrm>
        </p:spPr>
        <p:txBody>
          <a:bodyPr/>
          <a:lstStyle/>
          <a:p>
            <a:pPr eaLnBrk="1" hangingPunct="1">
              <a:lnSpc>
                <a:spcPct val="115000"/>
              </a:lnSpc>
              <a:buFont typeface="Wingdings" panose="05000000000000000000" pitchFamily="2" charset="2"/>
              <a:buNone/>
              <a:defRPr/>
            </a:pPr>
            <a:r>
              <a:rPr lang="zh-CN" altLang="en-US" sz="2000" smtClean="0"/>
              <a:t>解：首先计算方案的功能得分：</a:t>
            </a:r>
            <a:endParaRPr lang="zh-CN" altLang="en-US" sz="2000" smtClean="0"/>
          </a:p>
          <a:p>
            <a:pPr eaLnBrk="1" hangingPunct="1">
              <a:lnSpc>
                <a:spcPct val="115000"/>
              </a:lnSpc>
              <a:buFont typeface="Wingdings" panose="05000000000000000000" pitchFamily="2" charset="2"/>
              <a:buNone/>
              <a:defRPr/>
            </a:pPr>
            <a:r>
              <a:rPr lang="en-US" altLang="zh-CN" sz="2000" smtClean="0"/>
              <a:t>F</a:t>
            </a:r>
            <a:r>
              <a:rPr lang="en-US" altLang="zh-CN" sz="2000" baseline="-25000" smtClean="0"/>
              <a:t>A</a:t>
            </a:r>
            <a:r>
              <a:rPr lang="en-US" altLang="zh-CN" sz="2000" smtClean="0"/>
              <a:t>=9×0.227+10×0.295+9×0.159+8×0.205+9×0.114=9.090</a:t>
            </a:r>
            <a:endParaRPr lang="en-US" altLang="zh-CN" sz="2000" smtClean="0"/>
          </a:p>
          <a:p>
            <a:pPr eaLnBrk="1" hangingPunct="1">
              <a:lnSpc>
                <a:spcPct val="115000"/>
              </a:lnSpc>
              <a:buFont typeface="Wingdings" panose="05000000000000000000" pitchFamily="2" charset="2"/>
              <a:buNone/>
              <a:defRPr/>
            </a:pPr>
            <a:r>
              <a:rPr lang="en-US" altLang="zh-CN" sz="2000" smtClean="0"/>
              <a:t>F</a:t>
            </a:r>
            <a:r>
              <a:rPr lang="en-US" altLang="zh-CN" sz="2000" baseline="-25000" smtClean="0"/>
              <a:t>B</a:t>
            </a:r>
            <a:r>
              <a:rPr lang="en-US" altLang="zh-CN" sz="2000" smtClean="0"/>
              <a:t>=10×0.227+10×0.295+9×0.159+8×0.205+7×0.114=9.089</a:t>
            </a:r>
            <a:endParaRPr lang="en-US" altLang="zh-CN" sz="2000" smtClean="0"/>
          </a:p>
          <a:p>
            <a:pPr eaLnBrk="1" hangingPunct="1">
              <a:lnSpc>
                <a:spcPct val="115000"/>
              </a:lnSpc>
              <a:buFont typeface="Wingdings" panose="05000000000000000000" pitchFamily="2" charset="2"/>
              <a:buNone/>
              <a:defRPr/>
            </a:pPr>
            <a:r>
              <a:rPr lang="en-US" altLang="zh-CN" sz="2000" smtClean="0"/>
              <a:t>F</a:t>
            </a:r>
            <a:r>
              <a:rPr lang="en-US" altLang="zh-CN" sz="2000" baseline="-25000" smtClean="0"/>
              <a:t>C</a:t>
            </a:r>
            <a:r>
              <a:rPr lang="en-US" altLang="zh-CN" sz="2000" smtClean="0"/>
              <a:t>=9×0.227+8×0.295+10×0.159+8×0.205+9×0.114=8.659</a:t>
            </a:r>
            <a:endParaRPr lang="en-US" altLang="zh-CN" sz="2000" smtClean="0"/>
          </a:p>
          <a:p>
            <a:pPr eaLnBrk="1" hangingPunct="1">
              <a:lnSpc>
                <a:spcPct val="115000"/>
              </a:lnSpc>
              <a:buFont typeface="Wingdings" panose="05000000000000000000" pitchFamily="2" charset="2"/>
              <a:buNone/>
              <a:defRPr/>
            </a:pPr>
            <a:r>
              <a:rPr lang="zh-CN" altLang="en-US" sz="2000" smtClean="0"/>
              <a:t>总得分：</a:t>
            </a:r>
            <a:r>
              <a:rPr lang="en-US" altLang="zh-CN" sz="2000" smtClean="0"/>
              <a:t>F</a:t>
            </a:r>
            <a:r>
              <a:rPr lang="en-US" altLang="zh-CN" sz="2000" baseline="-25000" smtClean="0"/>
              <a:t>A</a:t>
            </a:r>
            <a:r>
              <a:rPr lang="zh-CN" altLang="en-US" sz="2000" smtClean="0"/>
              <a:t>＋</a:t>
            </a:r>
            <a:r>
              <a:rPr lang="en-US" altLang="zh-CN" sz="2000" smtClean="0"/>
              <a:t>F</a:t>
            </a:r>
            <a:r>
              <a:rPr lang="en-US" altLang="zh-CN" sz="2000" baseline="-25000" smtClean="0"/>
              <a:t>B</a:t>
            </a:r>
            <a:r>
              <a:rPr lang="zh-CN" altLang="en-US" sz="2000" smtClean="0"/>
              <a:t>＋</a:t>
            </a:r>
            <a:r>
              <a:rPr lang="en-US" altLang="zh-CN" sz="2000" smtClean="0"/>
              <a:t>F</a:t>
            </a:r>
            <a:r>
              <a:rPr lang="en-US" altLang="zh-CN" sz="2000" baseline="-25000" smtClean="0"/>
              <a:t>C</a:t>
            </a:r>
            <a:r>
              <a:rPr lang="en-US" altLang="zh-CN" sz="2000" smtClean="0"/>
              <a:t>=26.838</a:t>
            </a:r>
            <a:endParaRPr lang="zh-CN" altLang="en-US" sz="2000" smtClean="0"/>
          </a:p>
          <a:p>
            <a:pPr eaLnBrk="1" hangingPunct="1">
              <a:lnSpc>
                <a:spcPct val="115000"/>
              </a:lnSpc>
              <a:buFont typeface="Wingdings" panose="05000000000000000000" pitchFamily="2" charset="2"/>
              <a:buNone/>
              <a:defRPr/>
            </a:pPr>
            <a:r>
              <a:rPr lang="zh-CN" altLang="en-US" sz="2000" smtClean="0"/>
              <a:t>则功能系数为：</a:t>
            </a:r>
            <a:endParaRPr lang="zh-CN" altLang="en-US" sz="2000" smtClean="0"/>
          </a:p>
          <a:p>
            <a:pPr eaLnBrk="1" hangingPunct="1">
              <a:lnSpc>
                <a:spcPct val="115000"/>
              </a:lnSpc>
              <a:buFont typeface="Wingdings" panose="05000000000000000000" pitchFamily="2" charset="2"/>
              <a:buNone/>
              <a:defRPr/>
            </a:pPr>
            <a:r>
              <a:rPr lang="en-US" altLang="zh-CN" sz="2000" smtClean="0"/>
              <a:t>A:9.090/26.838</a:t>
            </a:r>
            <a:r>
              <a:rPr lang="zh-CN" altLang="en-US" sz="2000" smtClean="0"/>
              <a:t>＝</a:t>
            </a:r>
            <a:r>
              <a:rPr lang="en-US" altLang="zh-CN" sz="2000" smtClean="0"/>
              <a:t>0.339;B: 9.089/26.838=0.339;C:8.659/26.838=0.322</a:t>
            </a:r>
            <a:endParaRPr lang="en-US" altLang="zh-CN" sz="2000" smtClean="0"/>
          </a:p>
          <a:p>
            <a:pPr eaLnBrk="1" hangingPunct="1">
              <a:lnSpc>
                <a:spcPct val="115000"/>
              </a:lnSpc>
              <a:buFont typeface="Wingdings" panose="05000000000000000000" pitchFamily="2" charset="2"/>
              <a:buNone/>
              <a:defRPr/>
            </a:pPr>
            <a:r>
              <a:rPr lang="zh-CN" altLang="en-US" sz="2000" smtClean="0"/>
              <a:t>成本系数为：</a:t>
            </a:r>
            <a:endParaRPr lang="zh-CN" altLang="en-US" sz="2000" smtClean="0"/>
          </a:p>
          <a:p>
            <a:pPr eaLnBrk="1" hangingPunct="1">
              <a:lnSpc>
                <a:spcPct val="115000"/>
              </a:lnSpc>
              <a:buFont typeface="Wingdings" panose="05000000000000000000" pitchFamily="2" charset="2"/>
              <a:buNone/>
              <a:defRPr/>
            </a:pPr>
            <a:r>
              <a:rPr lang="en-US" altLang="zh-CN" sz="2000" smtClean="0"/>
              <a:t>A:1420/(1420+1230+1150)=0.374;B: 1230/(1420+1230+1150)=0.324</a:t>
            </a:r>
            <a:endParaRPr lang="en-US" altLang="zh-CN" sz="2000" smtClean="0"/>
          </a:p>
          <a:p>
            <a:pPr eaLnBrk="1" hangingPunct="1">
              <a:lnSpc>
                <a:spcPct val="115000"/>
              </a:lnSpc>
              <a:buFont typeface="Wingdings" panose="05000000000000000000" pitchFamily="2" charset="2"/>
              <a:buNone/>
              <a:defRPr/>
            </a:pPr>
            <a:r>
              <a:rPr lang="en-US" altLang="zh-CN" sz="2000" smtClean="0"/>
              <a:t>C:1150/(1420+1230+1150)=0.302</a:t>
            </a:r>
            <a:endParaRPr lang="en-US" altLang="zh-CN" sz="2000" smtClean="0"/>
          </a:p>
          <a:p>
            <a:pPr eaLnBrk="1" hangingPunct="1">
              <a:lnSpc>
                <a:spcPct val="115000"/>
              </a:lnSpc>
              <a:buFont typeface="Wingdings" panose="05000000000000000000" pitchFamily="2" charset="2"/>
              <a:buNone/>
              <a:defRPr/>
            </a:pPr>
            <a:r>
              <a:rPr lang="zh-CN" altLang="en-US" sz="2000" smtClean="0"/>
              <a:t>价值系数为：</a:t>
            </a:r>
            <a:endParaRPr lang="zh-CN" altLang="en-US" sz="2000" smtClean="0"/>
          </a:p>
          <a:p>
            <a:pPr eaLnBrk="1" hangingPunct="1">
              <a:lnSpc>
                <a:spcPct val="115000"/>
              </a:lnSpc>
              <a:buFont typeface="Wingdings" panose="05000000000000000000" pitchFamily="2" charset="2"/>
              <a:buNone/>
              <a:defRPr/>
            </a:pPr>
            <a:r>
              <a:rPr lang="en-US" altLang="zh-CN" sz="2000" smtClean="0"/>
              <a:t>A:0.339/0.374</a:t>
            </a:r>
            <a:r>
              <a:rPr lang="zh-CN" altLang="en-US" sz="2000" smtClean="0"/>
              <a:t>＝</a:t>
            </a:r>
            <a:r>
              <a:rPr lang="en-US" altLang="zh-CN" sz="2000" smtClean="0"/>
              <a:t>0.906; B:0.339/0.324=1.046; C:0.322/0.302=1.067</a:t>
            </a:r>
            <a:endParaRPr lang="en-US" altLang="zh-CN" sz="2000" smtClean="0"/>
          </a:p>
          <a:p>
            <a:pPr eaLnBrk="1" hangingPunct="1">
              <a:lnSpc>
                <a:spcPct val="115000"/>
              </a:lnSpc>
              <a:buFont typeface="Wingdings" panose="05000000000000000000" pitchFamily="2" charset="2"/>
              <a:buNone/>
              <a:defRPr/>
            </a:pPr>
            <a:r>
              <a:rPr lang="zh-CN" altLang="en-US" sz="2000" smtClean="0"/>
              <a:t>方案</a:t>
            </a:r>
            <a:r>
              <a:rPr lang="en-US" altLang="zh-CN" sz="2000" smtClean="0"/>
              <a:t>C</a:t>
            </a:r>
            <a:r>
              <a:rPr lang="zh-CN" altLang="en-US" sz="2000" smtClean="0"/>
              <a:t>的价值系数最高，故</a:t>
            </a:r>
            <a:r>
              <a:rPr lang="en-US" altLang="zh-CN" sz="2000" smtClean="0"/>
              <a:t>C</a:t>
            </a:r>
            <a:r>
              <a:rPr lang="zh-CN" altLang="en-US" sz="2000" smtClean="0"/>
              <a:t>为最优方案。</a:t>
            </a:r>
            <a:endParaRPr lang="zh-CN" altLang="en-US" sz="2000"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5" name="Rectangle 3"/>
          <p:cNvSpPr>
            <a:spLocks noGrp="1" noChangeArrowheads="1"/>
          </p:cNvSpPr>
          <p:nvPr>
            <p:ph type="body" idx="1"/>
          </p:nvPr>
        </p:nvSpPr>
        <p:spPr>
          <a:xfrm>
            <a:off x="0" y="188913"/>
            <a:ext cx="8893175" cy="6669087"/>
          </a:xfrm>
        </p:spPr>
        <p:txBody>
          <a:bodyPr/>
          <a:lstStyle/>
          <a:p>
            <a:pPr algn="just" eaLnBrk="1" hangingPunct="1">
              <a:lnSpc>
                <a:spcPct val="80000"/>
              </a:lnSpc>
              <a:buClr>
                <a:srgbClr val="FF3300"/>
              </a:buClr>
              <a:buSzPct val="120000"/>
              <a:buFont typeface="Wingdings" panose="05000000000000000000" pitchFamily="2" charset="2"/>
              <a:buNone/>
              <a:defRPr/>
            </a:pPr>
            <a:r>
              <a:rPr lang="en-US" altLang="zh-CN" sz="3600" b="1" smtClean="0"/>
              <a:t>【</a:t>
            </a:r>
            <a:r>
              <a:rPr lang="zh-CN" altLang="en-US" sz="3600" b="1" smtClean="0"/>
              <a:t>例</a:t>
            </a:r>
            <a:r>
              <a:rPr lang="en-US" altLang="zh-CN" sz="3600" b="1" smtClean="0"/>
              <a:t>】</a:t>
            </a:r>
            <a:r>
              <a:rPr lang="zh-CN" altLang="en-US" sz="2800" smtClean="0"/>
              <a:t>某厂有三层混砖结构住宅</a:t>
            </a:r>
            <a:r>
              <a:rPr lang="en-US" altLang="zh-CN" sz="2800" smtClean="0"/>
              <a:t>14</a:t>
            </a:r>
            <a:r>
              <a:rPr lang="zh-CN" altLang="en-US" sz="2800" smtClean="0"/>
              <a:t>幢。随着企业的不断发展，职工人数逐年增加，职工住房条件日趋紧张。为改善职工居住条件，该厂决定在原有住宅区内新建住宅。</a:t>
            </a:r>
            <a:endParaRPr lang="zh-CN" altLang="en-US" sz="2800" smtClean="0"/>
          </a:p>
          <a:p>
            <a:pPr eaLnBrk="1" hangingPunct="1">
              <a:lnSpc>
                <a:spcPct val="80000"/>
              </a:lnSpc>
              <a:buFont typeface="Wingdings" panose="05000000000000000000" pitchFamily="2" charset="2"/>
              <a:buNone/>
              <a:defRPr/>
            </a:pPr>
            <a:r>
              <a:rPr lang="zh-CN" altLang="en-US" smtClean="0"/>
              <a:t>  </a:t>
            </a:r>
            <a:r>
              <a:rPr lang="zh-CN" altLang="en-US" b="1" smtClean="0">
                <a:solidFill>
                  <a:srgbClr val="FF0000"/>
                </a:solidFill>
              </a:rPr>
              <a:t>新建住宅功能分析</a:t>
            </a:r>
            <a:endParaRPr lang="zh-CN" altLang="en-US" b="1" smtClean="0">
              <a:solidFill>
                <a:srgbClr val="FF0000"/>
              </a:solidFill>
            </a:endParaRPr>
          </a:p>
          <a:p>
            <a:pPr eaLnBrk="1" hangingPunct="1">
              <a:lnSpc>
                <a:spcPct val="80000"/>
              </a:lnSpc>
              <a:buFont typeface="Wingdings" panose="05000000000000000000" pitchFamily="2" charset="2"/>
              <a:buNone/>
              <a:defRPr/>
            </a:pPr>
            <a:r>
              <a:rPr lang="zh-CN" altLang="en-US" sz="2800" b="1" smtClean="0">
                <a:solidFill>
                  <a:srgbClr val="FF0000"/>
                </a:solidFill>
              </a:rPr>
              <a:t>    </a:t>
            </a:r>
            <a:r>
              <a:rPr lang="zh-CN" altLang="en-US" sz="2800" smtClean="0"/>
              <a:t>为了使住宅扩建工程达到投资少、效益高的目的。价值工程小组工作人员认真分析了住宅扩建工程的功能，认为增加住房户数（</a:t>
            </a:r>
            <a:r>
              <a:rPr lang="en-US" altLang="zh-CN" sz="2800" smtClean="0"/>
              <a:t>F1</a:t>
            </a:r>
            <a:r>
              <a:rPr lang="zh-CN" altLang="en-US" sz="2800" smtClean="0"/>
              <a:t>）、改善居住条件（</a:t>
            </a:r>
            <a:r>
              <a:rPr lang="en-US" altLang="zh-CN" sz="2800" smtClean="0"/>
              <a:t>F2</a:t>
            </a:r>
            <a:r>
              <a:rPr lang="zh-CN" altLang="en-US" sz="2800" smtClean="0"/>
              <a:t>）、增加使用面积（</a:t>
            </a:r>
            <a:r>
              <a:rPr lang="en-US" altLang="zh-CN" sz="2800" smtClean="0"/>
              <a:t>F3</a:t>
            </a:r>
            <a:r>
              <a:rPr lang="zh-CN" altLang="en-US" sz="2800" smtClean="0"/>
              <a:t>）、利用原有土地（</a:t>
            </a:r>
            <a:r>
              <a:rPr lang="en-US" altLang="zh-CN" sz="2800" smtClean="0"/>
              <a:t>F4</a:t>
            </a:r>
            <a:r>
              <a:rPr lang="zh-CN" altLang="en-US" sz="2800" smtClean="0"/>
              <a:t>）、保护原有林木（</a:t>
            </a:r>
            <a:r>
              <a:rPr lang="en-US" altLang="zh-CN" sz="2800" smtClean="0"/>
              <a:t>F5</a:t>
            </a:r>
            <a:r>
              <a:rPr lang="zh-CN" altLang="en-US" sz="2800" smtClean="0"/>
              <a:t>）等五项功能作为主要功能。</a:t>
            </a:r>
            <a:endParaRPr lang="zh-CN" altLang="en-US" sz="2800" smtClean="0"/>
          </a:p>
          <a:p>
            <a:pPr eaLnBrk="1" hangingPunct="1">
              <a:lnSpc>
                <a:spcPct val="80000"/>
              </a:lnSpc>
              <a:buFont typeface="Wingdings" panose="05000000000000000000" pitchFamily="2" charset="2"/>
              <a:buNone/>
              <a:defRPr/>
            </a:pPr>
            <a:r>
              <a:rPr lang="zh-CN" altLang="en-US" sz="3600" b="1" smtClean="0"/>
              <a:t>  </a:t>
            </a:r>
            <a:r>
              <a:rPr lang="zh-CN" altLang="en-US" sz="3600" b="1" smtClean="0">
                <a:solidFill>
                  <a:srgbClr val="FF0000"/>
                </a:solidFill>
              </a:rPr>
              <a:t>功能评价</a:t>
            </a:r>
            <a:endParaRPr lang="zh-CN" altLang="en-US" sz="3600" b="1" smtClean="0">
              <a:solidFill>
                <a:srgbClr val="FF0000"/>
              </a:solidFill>
            </a:endParaRPr>
          </a:p>
          <a:p>
            <a:pPr eaLnBrk="1" hangingPunct="1">
              <a:lnSpc>
                <a:spcPct val="80000"/>
              </a:lnSpc>
              <a:buFont typeface="Wingdings" panose="05000000000000000000" pitchFamily="2" charset="2"/>
              <a:buNone/>
              <a:defRPr/>
            </a:pPr>
            <a:r>
              <a:rPr lang="zh-CN" altLang="en-US" sz="2800" smtClean="0"/>
              <a:t>     经价值工程小组集体讨论，认为增加住房户数最重要，其次改善居住条件与增加使用面积同等重要，利用原有土地与保护原有林木同样不太重要。即</a:t>
            </a:r>
            <a:r>
              <a:rPr lang="en-US" altLang="zh-CN" sz="2800" smtClean="0"/>
              <a:t>F1&gt;F2=F3&gt;F4=F5</a:t>
            </a:r>
            <a:r>
              <a:rPr lang="zh-CN" altLang="en-US" sz="2800" smtClean="0"/>
              <a:t>，利用</a:t>
            </a:r>
            <a:r>
              <a:rPr lang="en-US" altLang="zh-CN" sz="2800" smtClean="0"/>
              <a:t>0~4</a:t>
            </a:r>
            <a:r>
              <a:rPr lang="zh-CN" altLang="en-US" sz="2800" smtClean="0"/>
              <a:t>评分法，各项功能的评价系数见下表。</a:t>
            </a:r>
            <a:endParaRPr lang="zh-CN" altLang="en-US" sz="2800" smtClean="0"/>
          </a:p>
          <a:p>
            <a:pPr eaLnBrk="1" hangingPunct="1">
              <a:lnSpc>
                <a:spcPct val="80000"/>
              </a:lnSpc>
              <a:defRPr/>
            </a:pPr>
            <a:endParaRPr lang="zh-CN" altLang="en-US" sz="280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Rectangle 2"/>
          <p:cNvSpPr>
            <a:spLocks noGrp="1" noRot="1" noChangeArrowheads="1"/>
          </p:cNvSpPr>
          <p:nvPr>
            <p:ph type="title"/>
          </p:nvPr>
        </p:nvSpPr>
        <p:spPr/>
        <p:txBody>
          <a:bodyPr/>
          <a:lstStyle/>
          <a:p>
            <a:pPr eaLnBrk="1" hangingPunct="1">
              <a:defRPr/>
            </a:pPr>
            <a:r>
              <a:rPr lang="zh-CN" altLang="en-US" b="0" smtClean="0">
                <a:solidFill>
                  <a:schemeClr val="tx1"/>
                </a:solidFill>
              </a:rPr>
              <a:t> </a:t>
            </a:r>
            <a:r>
              <a:rPr lang="en-US" altLang="zh-CN" b="0" smtClean="0">
                <a:solidFill>
                  <a:schemeClr val="tx1"/>
                </a:solidFill>
              </a:rPr>
              <a:t>0-4</a:t>
            </a:r>
            <a:r>
              <a:rPr lang="zh-CN" altLang="en-US" b="0" smtClean="0">
                <a:solidFill>
                  <a:schemeClr val="tx1"/>
                </a:solidFill>
              </a:rPr>
              <a:t>评分法</a:t>
            </a:r>
            <a:endParaRPr lang="zh-CN" altLang="en-US" b="0" smtClean="0">
              <a:solidFill>
                <a:schemeClr val="tx1"/>
              </a:solidFill>
            </a:endParaRPr>
          </a:p>
        </p:txBody>
      </p:sp>
      <p:sp>
        <p:nvSpPr>
          <p:cNvPr id="992259" name="Rectangle 3"/>
          <p:cNvSpPr>
            <a:spLocks noGrp="1" noChangeArrowheads="1"/>
          </p:cNvSpPr>
          <p:nvPr>
            <p:ph type="body" idx="1"/>
          </p:nvPr>
        </p:nvSpPr>
        <p:spPr/>
        <p:txBody>
          <a:bodyPr/>
          <a:lstStyle/>
          <a:p>
            <a:pPr algn="just" eaLnBrk="1" hangingPunct="1">
              <a:buClr>
                <a:srgbClr val="FF3300"/>
              </a:buClr>
              <a:buSzPct val="120000"/>
              <a:buFont typeface="Wingdings" panose="05000000000000000000" pitchFamily="2" charset="2"/>
              <a:buNone/>
              <a:defRPr/>
            </a:pPr>
            <a:endParaRPr lang="zh-CN" altLang="en-US" b="1" smtClean="0">
              <a:solidFill>
                <a:srgbClr val="0066FF"/>
              </a:solidFill>
            </a:endParaRPr>
          </a:p>
          <a:p>
            <a:pPr lvl="1" eaLnBrk="1" hangingPunct="1">
              <a:lnSpc>
                <a:spcPct val="110000"/>
              </a:lnSpc>
              <a:defRPr/>
            </a:pPr>
            <a:r>
              <a:rPr lang="zh-CN" altLang="en-US" smtClean="0"/>
              <a:t>很重要的功能因素得</a:t>
            </a:r>
            <a:r>
              <a:rPr lang="en-US" altLang="zh-CN" smtClean="0"/>
              <a:t>4</a:t>
            </a:r>
            <a:r>
              <a:rPr lang="zh-CN" altLang="en-US" smtClean="0"/>
              <a:t>分，另一很不重要的功能因素得</a:t>
            </a:r>
            <a:r>
              <a:rPr lang="en-US" altLang="zh-CN" smtClean="0"/>
              <a:t>0</a:t>
            </a:r>
            <a:r>
              <a:rPr lang="zh-CN" altLang="en-US" smtClean="0"/>
              <a:t>分；</a:t>
            </a:r>
            <a:endParaRPr lang="zh-CN" altLang="en-US" smtClean="0"/>
          </a:p>
          <a:p>
            <a:pPr lvl="1" eaLnBrk="1" hangingPunct="1">
              <a:lnSpc>
                <a:spcPct val="110000"/>
              </a:lnSpc>
              <a:defRPr/>
            </a:pPr>
            <a:r>
              <a:rPr lang="zh-CN" altLang="en-US" smtClean="0"/>
              <a:t>较重要的功能因素得</a:t>
            </a:r>
            <a:r>
              <a:rPr lang="en-US" altLang="zh-CN" smtClean="0"/>
              <a:t>3</a:t>
            </a:r>
            <a:r>
              <a:rPr lang="zh-CN" altLang="en-US" smtClean="0"/>
              <a:t>分，另一较不重要的功能因素得</a:t>
            </a:r>
            <a:r>
              <a:rPr lang="en-US" altLang="zh-CN" smtClean="0"/>
              <a:t>1</a:t>
            </a:r>
            <a:r>
              <a:rPr lang="zh-CN" altLang="en-US" smtClean="0"/>
              <a:t>分；</a:t>
            </a:r>
            <a:endParaRPr lang="zh-CN" altLang="en-US" smtClean="0"/>
          </a:p>
          <a:p>
            <a:pPr lvl="1" eaLnBrk="1" hangingPunct="1">
              <a:lnSpc>
                <a:spcPct val="110000"/>
              </a:lnSpc>
              <a:defRPr/>
            </a:pPr>
            <a:r>
              <a:rPr lang="zh-CN" altLang="en-US" smtClean="0"/>
              <a:t>同样重要或基本同样重要时，则两个功能因素各得</a:t>
            </a:r>
            <a:r>
              <a:rPr lang="en-US" altLang="zh-CN" smtClean="0"/>
              <a:t>2</a:t>
            </a:r>
            <a:r>
              <a:rPr lang="zh-CN" altLang="en-US" smtClean="0"/>
              <a:t>分。</a:t>
            </a:r>
            <a:r>
              <a:rPr lang="zh-CN" altLang="en-US" sz="3200" smtClean="0"/>
              <a:t> </a:t>
            </a:r>
            <a:endParaRPr lang="zh-CN" altLang="en-US" sz="320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4"/>
          <p:cNvSpPr>
            <a:spLocks noGrp="1" noRot="1" noChangeArrowheads="1"/>
          </p:cNvSpPr>
          <p:nvPr>
            <p:ph type="title"/>
          </p:nvPr>
        </p:nvSpPr>
        <p:spPr/>
        <p:txBody>
          <a:bodyPr/>
          <a:lstStyle/>
          <a:p>
            <a:pPr eaLnBrk="1" hangingPunct="1"/>
            <a:r>
              <a:rPr lang="en-US" altLang="zh-CN" smtClean="0">
                <a:solidFill>
                  <a:schemeClr val="tx1"/>
                </a:solidFill>
                <a:effectLst/>
              </a:rPr>
              <a:t>0~4</a:t>
            </a:r>
            <a:r>
              <a:rPr lang="zh-CN" altLang="en-US" smtClean="0">
                <a:solidFill>
                  <a:schemeClr val="tx1"/>
                </a:solidFill>
                <a:effectLst/>
              </a:rPr>
              <a:t>评分法</a:t>
            </a:r>
            <a:endParaRPr lang="zh-CN" altLang="en-US" smtClean="0">
              <a:solidFill>
                <a:schemeClr val="tx1"/>
              </a:solidFill>
              <a:effectLst/>
            </a:endParaRPr>
          </a:p>
        </p:txBody>
      </p:sp>
      <p:graphicFrame>
        <p:nvGraphicFramePr>
          <p:cNvPr id="993356" name="Group 76"/>
          <p:cNvGraphicFramePr>
            <a:graphicFrameLocks noGrp="1"/>
          </p:cNvGraphicFramePr>
          <p:nvPr>
            <p:ph idx="1"/>
          </p:nvPr>
        </p:nvGraphicFramePr>
        <p:xfrm>
          <a:off x="457200" y="1600200"/>
          <a:ext cx="8229600" cy="4541840"/>
        </p:xfrm>
        <a:graphic>
          <a:graphicData uri="http://schemas.openxmlformats.org/drawingml/2006/table">
            <a:tbl>
              <a:tblPr/>
              <a:tblGrid>
                <a:gridCol w="958850"/>
                <a:gridCol w="958850"/>
                <a:gridCol w="957263"/>
                <a:gridCol w="957262"/>
                <a:gridCol w="958850"/>
                <a:gridCol w="958850"/>
                <a:gridCol w="958850"/>
                <a:gridCol w="1520825"/>
              </a:tblGrid>
              <a:tr h="1066874">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功能</a:t>
                      </a:r>
                      <a:endParaRPr kumimoji="0" lang="zh-CN" altLang="en-US"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tabLst>
                          <a:tab pos="266700" algn="r"/>
                          <a:tab pos="2636520" algn="ctr"/>
                          <a:tab pos="5273675" algn="r"/>
                        </a:tabLst>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5</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得分</a:t>
                      </a:r>
                      <a:endParaRPr kumimoji="0" lang="zh-CN" altLang="en-US"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功能评价系数</a:t>
                      </a:r>
                      <a:endParaRPr kumimoji="0" lang="zh-CN" altLang="en-US"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61">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0.35</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61">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9</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0.225</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61">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tabLst>
                          <a:tab pos="266700" algn="r"/>
                          <a:tab pos="2636520" algn="ctr"/>
                          <a:tab pos="5273675" algn="r"/>
                        </a:tabLst>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rPr>
                        <a:t>2</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9</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0.225</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61">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61">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32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5</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0.1</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61">
                <a:tc gridSpan="6">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合计</a:t>
                      </a:r>
                      <a:endParaRPr kumimoji="0" lang="zh-CN" altLang="en-US"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40</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32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1.00</a:t>
                      </a:r>
                      <a:endParaRPr kumimoji="0" lang="en-US" altLang="zh-CN" sz="5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0" name="Rectangle 2"/>
          <p:cNvSpPr>
            <a:spLocks noGrp="1" noRot="1" noChangeArrowheads="1"/>
          </p:cNvSpPr>
          <p:nvPr>
            <p:ph type="title"/>
          </p:nvPr>
        </p:nvSpPr>
        <p:spPr/>
        <p:txBody>
          <a:bodyPr/>
          <a:lstStyle/>
          <a:p>
            <a:pPr eaLnBrk="1" hangingPunct="1">
              <a:defRPr/>
            </a:pPr>
            <a:r>
              <a:rPr lang="zh-CN" altLang="en-US" smtClean="0">
                <a:solidFill>
                  <a:srgbClr val="FF0000"/>
                </a:solidFill>
              </a:rPr>
              <a:t>方案创新</a:t>
            </a:r>
            <a:endParaRPr lang="zh-CN" altLang="en-US" smtClean="0">
              <a:solidFill>
                <a:srgbClr val="FF0000"/>
              </a:solidFill>
            </a:endParaRPr>
          </a:p>
        </p:txBody>
      </p:sp>
      <p:sp>
        <p:nvSpPr>
          <p:cNvPr id="995331" name="Rectangle 3"/>
          <p:cNvSpPr>
            <a:spLocks noGrp="1" noChangeArrowheads="1"/>
          </p:cNvSpPr>
          <p:nvPr>
            <p:ph type="body" idx="1"/>
          </p:nvPr>
        </p:nvSpPr>
        <p:spPr/>
        <p:txBody>
          <a:bodyPr/>
          <a:lstStyle/>
          <a:p>
            <a:pPr eaLnBrk="1" hangingPunct="1">
              <a:lnSpc>
                <a:spcPct val="120000"/>
              </a:lnSpc>
              <a:buFont typeface="Wingdings" panose="05000000000000000000" pitchFamily="2" charset="2"/>
              <a:buNone/>
              <a:defRPr/>
            </a:pPr>
            <a:r>
              <a:rPr lang="zh-CN" altLang="en-US" sz="2800" smtClean="0"/>
              <a:t>     在对该住宅功能评价的基础上，为确定住宅扩建工程设计方案，价值工程人员走访了住宅原设计施工负责人，调查了解住宅的居住情况和建筑物自然状况，认真审核住宅楼的原设计图纸和施工记录，最后认定原住宅地基条件较好，地下水位深且地耐力大；原建筑虽经多年使用，但各承重构件尤其原基础十分牢固，具有承受更大荷载的潜力。价值工程人员经过严密计算分析和征求各方面意见，提出两个不同的设计方案：</a:t>
            </a:r>
            <a:endParaRPr lang="zh-CN" altLang="en-US" sz="2800" smtClean="0"/>
          </a:p>
          <a:p>
            <a:pPr eaLnBrk="1" hangingPunct="1">
              <a:lnSpc>
                <a:spcPct val="90000"/>
              </a:lnSpc>
              <a:defRPr/>
            </a:pPr>
            <a:endParaRPr lang="zh-CN" altLang="en-US" sz="280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5" name="Rectangle 3"/>
          <p:cNvSpPr>
            <a:spLocks noGrp="1" noChangeArrowheads="1"/>
          </p:cNvSpPr>
          <p:nvPr>
            <p:ph type="body" idx="1"/>
          </p:nvPr>
        </p:nvSpPr>
        <p:spPr>
          <a:xfrm>
            <a:off x="457200" y="260350"/>
            <a:ext cx="8229600" cy="5865813"/>
          </a:xfrm>
        </p:spPr>
        <p:txBody>
          <a:bodyPr/>
          <a:lstStyle/>
          <a:p>
            <a:pPr eaLnBrk="1" hangingPunct="1">
              <a:lnSpc>
                <a:spcPct val="90000"/>
              </a:lnSpc>
              <a:defRPr/>
            </a:pPr>
            <a:r>
              <a:rPr lang="zh-CN" altLang="en-US" sz="3600" b="1" smtClean="0"/>
              <a:t>方案甲：</a:t>
            </a:r>
            <a:r>
              <a:rPr lang="zh-CN" altLang="en-US" sz="2800" smtClean="0"/>
              <a:t>在对原住宅楼实施大修理的基础上加层。工程内容包括：屋顶地面翻修。内墙粉刷、外墙抹灰。增加厨房、厕所（</a:t>
            </a:r>
            <a:r>
              <a:rPr lang="en-US" altLang="zh-CN" sz="2800" smtClean="0"/>
              <a:t>333m</a:t>
            </a:r>
            <a:r>
              <a:rPr lang="en-US" altLang="zh-CN" sz="2800" baseline="30000" smtClean="0"/>
              <a:t>2</a:t>
            </a:r>
            <a:r>
              <a:rPr lang="zh-CN" altLang="en-US" sz="2800" smtClean="0"/>
              <a:t>）。改造给排水工程。增建两层住房（</a:t>
            </a:r>
            <a:r>
              <a:rPr lang="en-US" altLang="zh-CN" sz="2800" smtClean="0"/>
              <a:t>605 m</a:t>
            </a:r>
            <a:r>
              <a:rPr lang="en-US" altLang="zh-CN" sz="2800" baseline="30000" smtClean="0"/>
              <a:t>2</a:t>
            </a:r>
            <a:r>
              <a:rPr lang="zh-CN" altLang="en-US" sz="2800" smtClean="0"/>
              <a:t>）。工程需投资</a:t>
            </a:r>
            <a:r>
              <a:rPr lang="en-US" altLang="zh-CN" sz="2800" smtClean="0"/>
              <a:t>50</a:t>
            </a:r>
            <a:r>
              <a:rPr lang="zh-CN" altLang="en-US" sz="2800" smtClean="0"/>
              <a:t>万元，工期</a:t>
            </a:r>
            <a:r>
              <a:rPr lang="en-US" altLang="zh-CN" sz="2800" smtClean="0"/>
              <a:t>4</a:t>
            </a:r>
            <a:r>
              <a:rPr lang="zh-CN" altLang="en-US" sz="2800" smtClean="0"/>
              <a:t>个月，施工期间住户需全部迁出。工程完工后，可增加住户</a:t>
            </a:r>
            <a:r>
              <a:rPr lang="en-US" altLang="zh-CN" sz="2800" smtClean="0"/>
              <a:t>18</a:t>
            </a:r>
            <a:r>
              <a:rPr lang="zh-CN" altLang="en-US" sz="2800" smtClean="0"/>
              <a:t>户，原有绿化林木</a:t>
            </a:r>
            <a:r>
              <a:rPr lang="en-US" altLang="zh-CN" sz="2800" smtClean="0"/>
              <a:t>50%</a:t>
            </a:r>
            <a:r>
              <a:rPr lang="zh-CN" altLang="en-US" sz="2800" smtClean="0"/>
              <a:t>被破坏。</a:t>
            </a:r>
            <a:endParaRPr lang="zh-CN" altLang="en-US" sz="2800" smtClean="0"/>
          </a:p>
          <a:p>
            <a:pPr eaLnBrk="1" hangingPunct="1">
              <a:lnSpc>
                <a:spcPct val="90000"/>
              </a:lnSpc>
              <a:defRPr/>
            </a:pPr>
            <a:r>
              <a:rPr lang="zh-CN" altLang="en-US" sz="3600" b="1" smtClean="0"/>
              <a:t>方案乙：</a:t>
            </a:r>
            <a:r>
              <a:rPr lang="zh-CN" altLang="en-US" sz="2800" smtClean="0"/>
              <a:t>拆除旧住宅，建设新住宅。工程内容包括：拆除原有住宅两栋，可新建一栋，新建住宅每栋</a:t>
            </a:r>
            <a:r>
              <a:rPr lang="en-US" altLang="zh-CN" sz="2800" smtClean="0"/>
              <a:t>60</a:t>
            </a:r>
            <a:r>
              <a:rPr lang="zh-CN" altLang="en-US" sz="2800" smtClean="0"/>
              <a:t>套，每套</a:t>
            </a:r>
            <a:r>
              <a:rPr lang="en-US" altLang="zh-CN" sz="2800" smtClean="0"/>
              <a:t>80 m</a:t>
            </a:r>
            <a:r>
              <a:rPr lang="en-US" altLang="zh-CN" sz="2800" baseline="30000" smtClean="0"/>
              <a:t>2</a:t>
            </a:r>
            <a:r>
              <a:rPr lang="zh-CN" altLang="en-US" sz="2800" smtClean="0"/>
              <a:t>，工程需投资</a:t>
            </a:r>
            <a:r>
              <a:rPr lang="en-US" altLang="zh-CN" sz="2800" smtClean="0"/>
              <a:t>100</a:t>
            </a:r>
            <a:r>
              <a:rPr lang="zh-CN" altLang="en-US" sz="2800" smtClean="0"/>
              <a:t>万元，工期</a:t>
            </a:r>
            <a:r>
              <a:rPr lang="en-US" altLang="zh-CN" sz="2800" smtClean="0"/>
              <a:t>8</a:t>
            </a:r>
            <a:r>
              <a:rPr lang="zh-CN" altLang="en-US" sz="2800" smtClean="0"/>
              <a:t>个月，施工期间住户需全部迁出。工程完工后，可增加住户</a:t>
            </a:r>
            <a:r>
              <a:rPr lang="en-US" altLang="zh-CN" sz="2800" smtClean="0"/>
              <a:t>18</a:t>
            </a:r>
            <a:r>
              <a:rPr lang="zh-CN" altLang="en-US" sz="2800" smtClean="0"/>
              <a:t>户，原有绿化林木全部被破坏。</a:t>
            </a:r>
            <a:endParaRPr lang="zh-CN" altLang="en-US" sz="2800" smtClean="0"/>
          </a:p>
          <a:p>
            <a:pPr eaLnBrk="1" hangingPunct="1">
              <a:lnSpc>
                <a:spcPct val="90000"/>
              </a:lnSpc>
              <a:defRPr/>
            </a:pPr>
            <a:endParaRPr lang="zh-CN" altLang="en-US" sz="2800" smtClean="0"/>
          </a:p>
        </p:txBody>
      </p:sp>
      <p:sp>
        <p:nvSpPr>
          <p:cNvPr id="52227" name="Text Box 4"/>
          <p:cNvSpPr txBox="1">
            <a:spLocks noChangeArrowheads="1"/>
          </p:cNvSpPr>
          <p:nvPr/>
        </p:nvSpPr>
        <p:spPr bwMode="auto">
          <a:xfrm>
            <a:off x="4767263" y="5700713"/>
            <a:ext cx="8699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lang="zh-CN" altLang="en-US" sz="5400">
                <a:solidFill>
                  <a:srgbClr val="FF0000"/>
                </a:solidFill>
              </a:rPr>
              <a:t>？</a:t>
            </a:r>
            <a:endParaRPr lang="zh-CN" altLang="en-US" sz="5400">
              <a:solidFill>
                <a:srgbClr val="FF0000"/>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Rot="1" noChangeArrowheads="1"/>
          </p:cNvSpPr>
          <p:nvPr>
            <p:ph type="title"/>
          </p:nvPr>
        </p:nvSpPr>
        <p:spPr/>
        <p:txBody>
          <a:bodyPr/>
          <a:lstStyle/>
          <a:p>
            <a:pPr eaLnBrk="1" hangingPunct="1">
              <a:defRPr/>
            </a:pPr>
            <a:r>
              <a:rPr lang="zh-CN" altLang="en-US" dirty="0" smtClean="0">
                <a:solidFill>
                  <a:srgbClr val="FF0000"/>
                </a:solidFill>
              </a:rPr>
              <a:t>方案评价</a:t>
            </a:r>
            <a:endParaRPr lang="zh-CN" altLang="en-US" dirty="0" smtClean="0">
              <a:solidFill>
                <a:srgbClr val="FF0000"/>
              </a:solidFill>
            </a:endParaRPr>
          </a:p>
        </p:txBody>
      </p:sp>
      <p:graphicFrame>
        <p:nvGraphicFramePr>
          <p:cNvPr id="997632" name="Group 256"/>
          <p:cNvGraphicFramePr>
            <a:graphicFrameLocks noGrp="1"/>
          </p:cNvGraphicFramePr>
          <p:nvPr>
            <p:ph idx="1"/>
          </p:nvPr>
        </p:nvGraphicFramePr>
        <p:xfrm>
          <a:off x="457200" y="1600200"/>
          <a:ext cx="8229600" cy="4525964"/>
        </p:xfrm>
        <a:graphic>
          <a:graphicData uri="http://schemas.openxmlformats.org/drawingml/2006/table">
            <a:tbl>
              <a:tblPr/>
              <a:tblGrid>
                <a:gridCol w="1316038"/>
                <a:gridCol w="1382712"/>
                <a:gridCol w="1382713"/>
                <a:gridCol w="1384300"/>
                <a:gridCol w="1381125"/>
                <a:gridCol w="1382712"/>
              </a:tblGrid>
              <a:tr h="504825">
                <a:tc row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项目功能</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重要度权数</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方案甲</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方案乙</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r>
              <a:tr h="500063">
                <a:tc vMerge="1">
                  <a:tcPr/>
                </a:tc>
                <a:tc vMerge="1">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功能得分</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加权得分</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功能得分</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加权得分</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20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0.35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1650">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20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0.225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7</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1.575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2.25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3238">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20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3</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0.225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9</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2.025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9</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2.025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1650">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20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4</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0.1</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6</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0.6</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F</a:t>
                      </a:r>
                      <a:r>
                        <a:rPr kumimoji="0" lang="en-US" altLang="zh-CN" sz="2000" b="0" i="0" u="none" strike="noStrike" cap="none" normalizeH="0" baseline="-3000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0.1</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rPr>
                        <a:t>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rPr>
                        <a:t>0.5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0.1</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0063">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方案加权得分和</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rPr>
                        <a:t>8.6</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8.475</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r>
              <a:tr h="504825">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方案功能评价系数</a:t>
                      </a:r>
                      <a:endParaRPr kumimoji="0" lang="zh-CN" altLang="en-US"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0.5037</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0.4963</a:t>
                      </a:r>
                      <a:endParaRPr kumimoji="0" lang="en-US" altLang="zh-CN" sz="40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p:txBody>
          <a:bodyPr/>
          <a:lstStyle/>
          <a:p>
            <a:pPr eaLnBrk="1" hangingPunct="1"/>
            <a:r>
              <a:rPr lang="zh-CN" altLang="en-US" b="0" smtClean="0">
                <a:solidFill>
                  <a:schemeClr val="tx1"/>
                </a:solidFill>
                <a:effectLst/>
              </a:rPr>
              <a:t>各方案价值系数计算表</a:t>
            </a:r>
            <a:endParaRPr lang="zh-CN" altLang="en-US" b="0" smtClean="0">
              <a:solidFill>
                <a:schemeClr val="tx1"/>
              </a:solidFill>
              <a:effectLst/>
            </a:endParaRPr>
          </a:p>
        </p:txBody>
      </p:sp>
      <p:graphicFrame>
        <p:nvGraphicFramePr>
          <p:cNvPr id="999535" name="Group 111"/>
          <p:cNvGraphicFramePr>
            <a:graphicFrameLocks noGrp="1"/>
          </p:cNvGraphicFramePr>
          <p:nvPr>
            <p:ph idx="1"/>
          </p:nvPr>
        </p:nvGraphicFramePr>
        <p:xfrm>
          <a:off x="457200" y="1600200"/>
          <a:ext cx="8229600" cy="4525964"/>
        </p:xfrm>
        <a:graphic>
          <a:graphicData uri="http://schemas.openxmlformats.org/drawingml/2006/table">
            <a:tbl>
              <a:tblPr/>
              <a:tblGrid>
                <a:gridCol w="1646238"/>
                <a:gridCol w="1644650"/>
                <a:gridCol w="1647825"/>
                <a:gridCol w="1644650"/>
                <a:gridCol w="1646237"/>
              </a:tblGrid>
              <a:tr h="1233488">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方案名称</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功能评价系数</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成本费用（万元）</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成本指数</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价值系数</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73113">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修理加层</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0.5037</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50</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0.333</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1.513</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71525">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拆旧建新</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0.4963</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100</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0.667</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0.744</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1747838">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合计</a:t>
                      </a: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1.000</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150</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pPr>
                      <a:r>
                        <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Times New Roman" panose="02020603050405020304" pitchFamily="18" charset="0"/>
                          <a:ea typeface="仿宋_GB2312" pitchFamily="49" charset="-122"/>
                          <a:cs typeface="Times New Roman" panose="02020603050405020304" pitchFamily="18" charset="0"/>
                        </a:rPr>
                        <a:t>1.000</a:t>
                      </a:r>
                      <a:endParaRPr kumimoji="0" lang="en-US" altLang="zh-CN"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2400" b="0" i="0" u="none" strike="noStrike" cap="none" normalizeH="0" baseline="0" smtClean="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54307" name="Rectangle 113"/>
          <p:cNvSpPr>
            <a:spLocks noChangeArrowheads="1"/>
          </p:cNvSpPr>
          <p:nvPr/>
        </p:nvSpPr>
        <p:spPr bwMode="auto">
          <a:xfrm>
            <a:off x="323850" y="6308725"/>
            <a:ext cx="8424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lang="zh-CN" altLang="en-US" sz="1800" b="1">
                <a:solidFill>
                  <a:srgbClr val="FF0000"/>
                </a:solidFill>
              </a:rPr>
              <a:t>经计算可知，修理加层方案价值系数较大，据此选定方案甲为最优方案</a:t>
            </a:r>
            <a:endParaRPr lang="zh-CN" altLang="en-US" sz="1800" b="1">
              <a:solidFill>
                <a:srgbClr val="FF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6" name="Rectangle 4"/>
          <p:cNvSpPr>
            <a:spLocks noRot="1" noChangeArrowheads="1"/>
          </p:cNvSpPr>
          <p:nvPr/>
        </p:nvSpPr>
        <p:spPr bwMode="auto">
          <a:xfrm>
            <a:off x="0" y="260350"/>
            <a:ext cx="8540750" cy="1143000"/>
          </a:xfrm>
          <a:prstGeom prst="rect">
            <a:avLst/>
          </a:prstGeom>
          <a:noFill/>
          <a:ln w="9525">
            <a:noFill/>
            <a:miter lim="800000"/>
          </a:ln>
          <a:effectLst/>
        </p:spPr>
        <p:txBody>
          <a:bodyPr anchor="ctr"/>
          <a:lstStyle/>
          <a:p>
            <a:pPr algn="ctr" eaLnBrk="1" hangingPunct="1">
              <a:defRPr/>
            </a:pPr>
            <a:r>
              <a:rPr lang="zh-CN" altLang="en-US" sz="4400" b="1">
                <a:solidFill>
                  <a:schemeClr val="tx2"/>
                </a:solidFill>
                <a:effectLst>
                  <a:outerShdw blurRad="38100" dist="38100" dir="2700000" algn="tl">
                    <a:srgbClr val="000000"/>
                  </a:outerShdw>
                </a:effectLst>
              </a:rPr>
              <a:t>大广坝电站案例</a:t>
            </a:r>
            <a:endParaRPr lang="zh-CN" altLang="en-US" sz="4400" b="1">
              <a:solidFill>
                <a:schemeClr val="tx2"/>
              </a:solidFill>
              <a:effectLst>
                <a:outerShdw blurRad="38100" dist="38100" dir="2700000" algn="tl">
                  <a:srgbClr val="000000"/>
                </a:outerShdw>
              </a:effectLst>
            </a:endParaRPr>
          </a:p>
        </p:txBody>
      </p:sp>
      <p:sp>
        <p:nvSpPr>
          <p:cNvPr id="1001477" name="Rectangle 5"/>
          <p:cNvSpPr>
            <a:spLocks noRot="1" noChangeArrowheads="1"/>
          </p:cNvSpPr>
          <p:nvPr/>
        </p:nvSpPr>
        <p:spPr bwMode="auto">
          <a:xfrm>
            <a:off x="304800" y="1981200"/>
            <a:ext cx="8540750" cy="3886200"/>
          </a:xfrm>
          <a:prstGeom prst="rect">
            <a:avLst/>
          </a:prstGeom>
          <a:noFill/>
          <a:ln w="9525">
            <a:noFill/>
            <a:miter lim="800000"/>
          </a:ln>
          <a:effectLst/>
        </p:spPr>
        <p:txBody>
          <a:bodyPr/>
          <a:lstStyle/>
          <a:p>
            <a:pPr marL="342900" indent="-342900" eaLnBrk="1" hangingPunct="1">
              <a:spcBef>
                <a:spcPct val="20000"/>
              </a:spcBef>
              <a:buClr>
                <a:schemeClr val="hlink"/>
              </a:buClr>
              <a:buSzPct val="70000"/>
              <a:buFont typeface="Wingdings" panose="05000000000000000000" pitchFamily="2" charset="2"/>
              <a:buChar char="n"/>
              <a:defRPr/>
            </a:pPr>
            <a:r>
              <a:rPr lang="zh-CN" altLang="en-US" sz="3200" dirty="0">
                <a:effectLst>
                  <a:outerShdw blurRad="38100" dist="38100" dir="2700000" algn="tl">
                    <a:srgbClr val="000000"/>
                  </a:outerShdw>
                </a:effectLst>
              </a:rPr>
              <a:t>修改征地方案</a:t>
            </a:r>
            <a:endParaRPr lang="zh-CN" altLang="en-US" sz="3200" dirty="0">
              <a:effectLst>
                <a:outerShdw blurRad="38100" dist="38100" dir="2700000" algn="tl">
                  <a:srgbClr val="000000"/>
                </a:outerShdw>
              </a:effectLst>
            </a:endParaRPr>
          </a:p>
          <a:p>
            <a:pPr marL="342900" indent="-342900" eaLnBrk="1" hangingPunct="1">
              <a:spcBef>
                <a:spcPct val="20000"/>
              </a:spcBef>
              <a:buClr>
                <a:schemeClr val="hlink"/>
              </a:buClr>
              <a:buSzPct val="70000"/>
              <a:buFont typeface="Wingdings" panose="05000000000000000000" pitchFamily="2" charset="2"/>
              <a:buChar char="n"/>
              <a:defRPr/>
            </a:pPr>
            <a:r>
              <a:rPr lang="zh-CN" altLang="en-US" sz="3200" dirty="0">
                <a:effectLst>
                  <a:outerShdw blurRad="38100" dist="38100" dir="2700000" algn="tl">
                    <a:srgbClr val="000000"/>
                  </a:outerShdw>
                </a:effectLst>
              </a:rPr>
              <a:t>修改料场</a:t>
            </a:r>
            <a:endParaRPr lang="zh-CN" altLang="en-US" sz="3200" dirty="0">
              <a:effectLst>
                <a:outerShdw blurRad="38100" dist="38100" dir="2700000" algn="tl">
                  <a:srgbClr val="000000"/>
                </a:outerShdw>
              </a:effectLst>
            </a:endParaRPr>
          </a:p>
          <a:p>
            <a:pPr marL="342900" indent="-342900" eaLnBrk="1" hangingPunct="1">
              <a:spcBef>
                <a:spcPct val="20000"/>
              </a:spcBef>
              <a:buClr>
                <a:schemeClr val="hlink"/>
              </a:buClr>
              <a:buSzPct val="70000"/>
              <a:buFont typeface="Wingdings" panose="05000000000000000000" pitchFamily="2" charset="2"/>
              <a:buChar char="n"/>
              <a:defRPr/>
            </a:pPr>
            <a:r>
              <a:rPr lang="zh-CN" altLang="en-US" sz="3200" dirty="0">
                <a:effectLst>
                  <a:outerShdw blurRad="38100" dist="38100" dir="2700000" algn="tl">
                    <a:srgbClr val="000000"/>
                  </a:outerShdw>
                </a:effectLst>
              </a:rPr>
              <a:t>取消拦渣堤</a:t>
            </a:r>
            <a:endParaRPr lang="zh-CN" altLang="en-US" sz="3200" dirty="0">
              <a:effectLst>
                <a:outerShdw blurRad="38100" dist="38100" dir="2700000" algn="tl">
                  <a:srgbClr val="000000"/>
                </a:outerShdw>
              </a:effectLst>
            </a:endParaRPr>
          </a:p>
          <a:p>
            <a:pPr marL="342900" indent="-342900" eaLnBrk="1" hangingPunct="1">
              <a:spcBef>
                <a:spcPct val="20000"/>
              </a:spcBef>
              <a:buClr>
                <a:schemeClr val="hlink"/>
              </a:buClr>
              <a:buSzPct val="70000"/>
              <a:buFont typeface="Wingdings" panose="05000000000000000000" pitchFamily="2" charset="2"/>
              <a:buChar char="n"/>
              <a:defRPr/>
            </a:pPr>
            <a:r>
              <a:rPr lang="zh-CN" altLang="en-US" sz="3200" dirty="0">
                <a:effectLst>
                  <a:outerShdw blurRad="38100" dist="38100" dir="2700000" algn="tl">
                    <a:srgbClr val="000000"/>
                  </a:outerShdw>
                </a:effectLst>
              </a:rPr>
              <a:t>改变开挖方式</a:t>
            </a:r>
            <a:endParaRPr lang="zh-CN" altLang="en-US" sz="3200" dirty="0">
              <a:effectLst>
                <a:outerShdw blurRad="38100" dist="38100" dir="2700000" algn="tl">
                  <a:srgbClr val="000000"/>
                </a:outerShdw>
              </a:effectLst>
            </a:endParaRPr>
          </a:p>
          <a:p>
            <a:pPr marL="342900" indent="-342900" eaLnBrk="1" hangingPunct="1">
              <a:spcBef>
                <a:spcPct val="20000"/>
              </a:spcBef>
              <a:buClr>
                <a:schemeClr val="hlink"/>
              </a:buClr>
              <a:buSzPct val="70000"/>
              <a:buFont typeface="Wingdings" panose="05000000000000000000" pitchFamily="2" charset="2"/>
              <a:buChar char="n"/>
              <a:defRPr/>
            </a:pPr>
            <a:r>
              <a:rPr lang="zh-CN" altLang="en-US" sz="3200" dirty="0">
                <a:effectLst>
                  <a:outerShdw blurRad="38100" dist="38100" dir="2700000" algn="tl">
                    <a:srgbClr val="000000"/>
                  </a:outerShdw>
                </a:effectLst>
              </a:rPr>
              <a:t>闸门运输方式</a:t>
            </a:r>
            <a:endParaRPr lang="zh-CN" altLang="en-US" sz="3200" dirty="0">
              <a:effectLst>
                <a:outerShdw blurRad="38100" dist="38100" dir="2700000" algn="tl">
                  <a:srgbClr val="000000"/>
                </a:outerShdw>
              </a:effectLst>
            </a:endParaRPr>
          </a:p>
          <a:p>
            <a:pPr marL="342900" indent="-342900" eaLnBrk="1" hangingPunct="1">
              <a:spcBef>
                <a:spcPct val="20000"/>
              </a:spcBef>
              <a:buClr>
                <a:schemeClr val="hlink"/>
              </a:buClr>
              <a:buSzPct val="70000"/>
              <a:buFont typeface="Wingdings" panose="05000000000000000000" pitchFamily="2" charset="2"/>
              <a:buChar char="n"/>
              <a:defRPr/>
            </a:pPr>
            <a:r>
              <a:rPr lang="en-US" altLang="zh-CN" sz="3200" dirty="0">
                <a:effectLst>
                  <a:outerShdw blurRad="38100" dist="38100" dir="2700000" algn="tl">
                    <a:srgbClr val="000000"/>
                  </a:outerShdw>
                </a:effectLst>
                <a:latin typeface="Arial" panose="020B0604020202020204"/>
              </a:rPr>
              <a:t>………</a:t>
            </a:r>
            <a:r>
              <a:rPr lang="en-US" altLang="zh-CN" sz="3200" dirty="0">
                <a:effectLst>
                  <a:outerShdw blurRad="38100" dist="38100" dir="2700000" algn="tl">
                    <a:srgbClr val="000000"/>
                  </a:outerShdw>
                </a:effectLst>
              </a:rPr>
              <a:t>..</a:t>
            </a:r>
            <a:endParaRPr lang="en-US" altLang="zh-CN" sz="3200" dirty="0">
              <a:effectLst>
                <a:outerShdw blurRad="38100" dist="38100" dir="2700000" algn="tl">
                  <a:srgbClr val="000000"/>
                </a:outerShdw>
              </a:effectLst>
            </a:endParaRPr>
          </a:p>
        </p:txBody>
      </p:sp>
      <p:pic>
        <p:nvPicPr>
          <p:cNvPr id="55300" name="内容占位符 4" descr="20073158444471.jpg"/>
          <p:cNvPicPr>
            <a:picLocks noGrp="1" noChangeAspect="1"/>
          </p:cNvPicPr>
          <p:nvPr>
            <p:ph idx="1"/>
          </p:nvPr>
        </p:nvPicPr>
        <p:blipFill>
          <a:blip r:embed="rId1">
            <a:extLst>
              <a:ext uri="{28A0092B-C50C-407E-A947-70E740481C1C}">
                <a14:useLocalDpi xmlns:a14="http://schemas.microsoft.com/office/drawing/2010/main" val="0"/>
              </a:ext>
            </a:extLst>
          </a:blip>
          <a:srcRect b="5714"/>
          <a:stretch>
            <a:fillRect/>
          </a:stretch>
        </p:blipFill>
        <p:spPr>
          <a:xfrm>
            <a:off x="3429000" y="1928813"/>
            <a:ext cx="5715000" cy="3790950"/>
          </a:xfr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500" name="Rectangle 4"/>
          <p:cNvSpPr>
            <a:spLocks noGrp="1" noRot="1" noChangeArrowheads="1"/>
          </p:cNvSpPr>
          <p:nvPr>
            <p:ph type="title"/>
          </p:nvPr>
        </p:nvSpPr>
        <p:spPr>
          <a:xfrm>
            <a:off x="323850" y="115888"/>
            <a:ext cx="8540750" cy="1143000"/>
          </a:xfrm>
        </p:spPr>
        <p:txBody>
          <a:bodyPr/>
          <a:lstStyle/>
          <a:p>
            <a:pPr eaLnBrk="1" hangingPunct="1">
              <a:defRPr/>
            </a:pPr>
            <a:r>
              <a:rPr lang="zh-CN" altLang="en-US" smtClean="0"/>
              <a:t>案例</a:t>
            </a:r>
            <a:r>
              <a:rPr lang="en-US" altLang="zh-CN" smtClean="0"/>
              <a:t>:</a:t>
            </a:r>
            <a:r>
              <a:rPr lang="zh-CN" altLang="en-US" smtClean="0"/>
              <a:t>平班水电站消能工优化设计</a:t>
            </a:r>
            <a:endParaRPr lang="zh-CN" altLang="en-US" smtClean="0"/>
          </a:p>
        </p:txBody>
      </p:sp>
      <p:sp>
        <p:nvSpPr>
          <p:cNvPr id="1002501" name="Rectangle 5"/>
          <p:cNvSpPr>
            <a:spLocks noGrp="1" noRot="1" noChangeArrowheads="1"/>
          </p:cNvSpPr>
          <p:nvPr>
            <p:ph type="body" idx="1"/>
          </p:nvPr>
        </p:nvSpPr>
        <p:spPr>
          <a:xfrm>
            <a:off x="179388" y="1125538"/>
            <a:ext cx="8540750" cy="3886200"/>
          </a:xfrm>
        </p:spPr>
        <p:txBody>
          <a:bodyPr/>
          <a:lstStyle/>
          <a:p>
            <a:pPr eaLnBrk="1" hangingPunct="1">
              <a:defRPr/>
            </a:pPr>
            <a:r>
              <a:rPr lang="zh-CN" altLang="en-US" smtClean="0"/>
              <a:t>平班水电站是红水河综合利用规划的第三个梯级电站，上游连接天生桥二级水电站，下游接龙滩水电站，坝址位于广西隆林县委乐乡附近，在新洲河口上游</a:t>
            </a:r>
            <a:r>
              <a:rPr lang="en-US" altLang="zh-CN" smtClean="0"/>
              <a:t>200m</a:t>
            </a:r>
            <a:r>
              <a:rPr lang="zh-CN" altLang="en-US" smtClean="0"/>
              <a:t>的南盘江上。</a:t>
            </a:r>
            <a:endParaRPr lang="zh-CN" altLang="en-US" smtClean="0"/>
          </a:p>
          <a:p>
            <a:pPr eaLnBrk="1" hangingPunct="1">
              <a:defRPr/>
            </a:pPr>
            <a:r>
              <a:rPr lang="zh-CN" altLang="en-US" smtClean="0"/>
              <a:t>该水电站是以发电为主的大型水电枢纽工程，属</a:t>
            </a:r>
            <a:r>
              <a:rPr lang="en-US" altLang="zh-CN" smtClean="0"/>
              <a:t>Ⅱ</a:t>
            </a:r>
            <a:r>
              <a:rPr lang="zh-CN" altLang="en-US" smtClean="0"/>
              <a:t>等工程，永久建筑物为二级建筑物。</a:t>
            </a:r>
            <a:endParaRPr lang="zh-CN" altLang="en-US" smtClean="0"/>
          </a:p>
          <a:p>
            <a:pPr eaLnBrk="1" hangingPunct="1">
              <a:defRPr/>
            </a:pPr>
            <a:r>
              <a:rPr lang="zh-CN" altLang="en-US" smtClean="0"/>
              <a:t>电站装机容量为</a:t>
            </a:r>
            <a:r>
              <a:rPr lang="en-US" altLang="zh-CN" smtClean="0"/>
              <a:t>405MW</a:t>
            </a:r>
            <a:r>
              <a:rPr lang="zh-CN" altLang="en-US" smtClean="0"/>
              <a:t>。</a:t>
            </a:r>
            <a:endParaRPr lang="zh-CN" altLang="en-US" smtClean="0"/>
          </a:p>
          <a:p>
            <a:pPr eaLnBrk="1" hangingPunct="1">
              <a:defRPr/>
            </a:pPr>
            <a:r>
              <a:rPr lang="zh-CN" altLang="en-US" smtClean="0"/>
              <a:t>枢纽主要建筑物由右岸厂房、溢流坝和左右岸接头重力坝等组成，其中溢流坝布置在左岸深河槽 </a:t>
            </a:r>
            <a:endParaRPr lang="zh-CN" altLang="en-US" smtClean="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p7"/>
          <p:cNvPicPr>
            <a:picLocks noChangeAspect="1" noChangeArrowheads="1"/>
          </p:cNvPicPr>
          <p:nvPr/>
        </p:nvPicPr>
        <p:blipFill>
          <a:blip r:embed="rId1">
            <a:extLst>
              <a:ext uri="{28A0092B-C50C-407E-A947-70E740481C1C}">
                <a14:useLocalDpi xmlns:a14="http://schemas.microsoft.com/office/drawing/2010/main" val="0"/>
              </a:ext>
            </a:extLst>
          </a:blip>
          <a:srcRect b="10147"/>
          <a:stretch>
            <a:fillRect/>
          </a:stretch>
        </p:blipFill>
        <p:spPr bwMode="auto">
          <a:xfrm>
            <a:off x="971550" y="0"/>
            <a:ext cx="7561263"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 descr="p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77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descr="p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92150"/>
            <a:ext cx="8785225"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1">
            <a:extLst>
              <a:ext uri="{28A0092B-C50C-407E-A947-70E740481C1C}">
                <a14:useLocalDpi xmlns:a14="http://schemas.microsoft.com/office/drawing/2010/main" val="0"/>
              </a:ext>
            </a:extLst>
          </a:blip>
          <a:srcRect l="16606" t="39000" r="45004" b="28516"/>
          <a:stretch>
            <a:fillRect/>
          </a:stretch>
        </p:blipFill>
        <p:spPr bwMode="auto">
          <a:xfrm>
            <a:off x="0" y="0"/>
            <a:ext cx="9120188"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4" descr="p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88913"/>
            <a:ext cx="9144000"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descr="p9"/>
          <p:cNvPicPr>
            <a:picLocks noChangeAspect="1" noChangeArrowheads="1"/>
          </p:cNvPicPr>
          <p:nvPr/>
        </p:nvPicPr>
        <p:blipFill>
          <a:blip r:embed="rId1">
            <a:extLst>
              <a:ext uri="{28A0092B-C50C-407E-A947-70E740481C1C}">
                <a14:useLocalDpi xmlns:a14="http://schemas.microsoft.com/office/drawing/2010/main" val="0"/>
              </a:ext>
            </a:extLst>
          </a:blip>
          <a:srcRect l="8757" b="23579"/>
          <a:stretch>
            <a:fillRect/>
          </a:stretch>
        </p:blipFill>
        <p:spPr bwMode="auto">
          <a:xfrm>
            <a:off x="0" y="620713"/>
            <a:ext cx="8640763" cy="575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descr="p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33375"/>
            <a:ext cx="8893175"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4" descr="p12"/>
          <p:cNvPicPr>
            <a:picLocks noChangeAspect="1" noChangeArrowheads="1"/>
          </p:cNvPicPr>
          <p:nvPr/>
        </p:nvPicPr>
        <p:blipFill>
          <a:blip r:embed="rId1">
            <a:extLst>
              <a:ext uri="{28A0092B-C50C-407E-A947-70E740481C1C}">
                <a14:useLocalDpi xmlns:a14="http://schemas.microsoft.com/office/drawing/2010/main" val="0"/>
              </a:ext>
            </a:extLst>
          </a:blip>
          <a:srcRect l="2751"/>
          <a:stretch>
            <a:fillRect/>
          </a:stretch>
        </p:blipFill>
        <p:spPr bwMode="auto">
          <a:xfrm rot="60000">
            <a:off x="-6350" y="6350"/>
            <a:ext cx="8820150" cy="672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DFC22696-36FD-41F2-BB10-8F49C923F052}"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
        <p:nvSpPr>
          <p:cNvPr id="3" name="标题 1"/>
          <p:cNvSpPr txBox="1"/>
          <p:nvPr/>
        </p:nvSpPr>
        <p:spPr>
          <a:xfrm>
            <a:off x="755650" y="98425"/>
            <a:ext cx="7772400" cy="1143000"/>
          </a:xfrm>
          <a:prstGeom prst="rect">
            <a:avLst/>
          </a:prstGeom>
        </p:spPr>
        <p:txBody>
          <a:bodyPr>
            <a:normAutofit/>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pPr>
              <a:defRPr/>
            </a:pPr>
            <a:r>
              <a:rPr lang="zh-CN" altLang="en-US" sz="4000" kern="0" dirty="0" smtClean="0">
                <a:solidFill>
                  <a:schemeClr val="tx1"/>
                </a:solidFill>
                <a:latin typeface="宋体" panose="02010600030101010101" pitchFamily="2" charset="-122"/>
              </a:rPr>
              <a:t>吉布洛水电站</a:t>
            </a:r>
            <a:endParaRPr lang="zh-CN" altLang="en-US" sz="4000" kern="0" dirty="0">
              <a:solidFill>
                <a:schemeClr val="tx1"/>
              </a:solidFill>
              <a:latin typeface="宋体" panose="02010600030101010101" pitchFamily="2" charset="-122"/>
            </a:endParaRPr>
          </a:p>
        </p:txBody>
      </p:sp>
      <p:sp>
        <p:nvSpPr>
          <p:cNvPr id="4" name="内容占位符 2"/>
          <p:cNvSpPr txBox="1"/>
          <p:nvPr/>
        </p:nvSpPr>
        <p:spPr>
          <a:xfrm>
            <a:off x="49213" y="1036638"/>
            <a:ext cx="4257675" cy="2638425"/>
          </a:xfrm>
          <a:prstGeom prst="rect">
            <a:avLst/>
          </a:prstGeom>
        </p:spPr>
        <p:txBody>
          <a:bodyPr>
            <a:normAutofit fontScale="55000" lnSpcReduction="20000"/>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2"/>
                </a:solidFill>
                <a:latin typeface="+mn-lt"/>
              </a:defRPr>
            </a:lvl2pPr>
            <a:lvl3pPr marL="1143000" indent="-228600" algn="l" rtl="0" eaLnBrk="0" fontAlgn="base" hangingPunct="0">
              <a:spcBef>
                <a:spcPct val="20000"/>
              </a:spcBef>
              <a:spcAft>
                <a:spcPct val="0"/>
              </a:spcAft>
              <a:buClr>
                <a:schemeClr val="tx2"/>
              </a:buClr>
              <a:buChar char="•"/>
              <a:defRPr sz="2400">
                <a:solidFill>
                  <a:schemeClr val="tx2"/>
                </a:solidFill>
                <a:latin typeface="+mn-lt"/>
              </a:defRPr>
            </a:lvl3pPr>
            <a:lvl4pPr marL="1600200" indent="-228600" algn="l" rtl="0" eaLnBrk="0" fontAlgn="base" hangingPunct="0">
              <a:spcBef>
                <a:spcPct val="20000"/>
              </a:spcBef>
              <a:spcAft>
                <a:spcPct val="0"/>
              </a:spcAft>
              <a:buClr>
                <a:schemeClr val="tx2"/>
              </a:buClr>
              <a:buChar char="–"/>
              <a:defRPr sz="2000">
                <a:solidFill>
                  <a:schemeClr val="tx2"/>
                </a:solidFill>
                <a:latin typeface="+mn-lt"/>
              </a:defRPr>
            </a:lvl4pPr>
            <a:lvl5pPr marL="2057400" indent="-228600" algn="l" rtl="0" eaLnBrk="0" fontAlgn="base" hangingPunct="0">
              <a:spcBef>
                <a:spcPct val="20000"/>
              </a:spcBef>
              <a:spcAft>
                <a:spcPct val="0"/>
              </a:spcAft>
              <a:buClr>
                <a:schemeClr val="tx2"/>
              </a:buClr>
              <a:buChar char="»"/>
              <a:defRPr sz="2000">
                <a:solidFill>
                  <a:schemeClr val="tx2"/>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zh-CN" kern="0" dirty="0" smtClean="0"/>
          </a:p>
          <a:p>
            <a:pPr>
              <a:buFont typeface="Wingdings" panose="05000000000000000000" pitchFamily="2" charset="2"/>
              <a:buChar char="Ø"/>
              <a:defRPr/>
            </a:pPr>
            <a:r>
              <a:rPr lang="zh-CN" altLang="en-US" sz="4400" kern="0" dirty="0" smtClean="0">
                <a:solidFill>
                  <a:schemeClr val="tx1"/>
                </a:solidFill>
                <a:latin typeface="宋体" panose="02010600030101010101" pitchFamily="2" charset="-122"/>
              </a:rPr>
              <a:t>施工与设计建立了“三位一体”</a:t>
            </a:r>
            <a:r>
              <a:rPr lang="zh-CN" altLang="en-US" sz="4400" kern="0" dirty="0">
                <a:solidFill>
                  <a:schemeClr val="tx1"/>
                </a:solidFill>
                <a:latin typeface="宋体" panose="02010600030101010101" pitchFamily="2" charset="-122"/>
              </a:rPr>
              <a:t>的伙伴关系合作模式，即双方达成利益共同体、责任共同体和关系共同体，有效的解决了上述设计管理工作中出现的一系列问题，促进了</a:t>
            </a:r>
            <a:r>
              <a:rPr lang="zh-CN" altLang="en-US" sz="4400" kern="0" dirty="0" smtClean="0">
                <a:solidFill>
                  <a:schemeClr val="tx1"/>
                </a:solidFill>
                <a:latin typeface="宋体" panose="02010600030101010101" pitchFamily="2" charset="-122"/>
              </a:rPr>
              <a:t>设计优化。</a:t>
            </a:r>
            <a:endParaRPr lang="en-US" altLang="zh-CN" sz="4400" kern="0" dirty="0" smtClean="0">
              <a:solidFill>
                <a:schemeClr val="tx1"/>
              </a:solidFill>
              <a:latin typeface="宋体" panose="02010600030101010101" pitchFamily="2" charset="-122"/>
            </a:endParaRPr>
          </a:p>
        </p:txBody>
      </p:sp>
      <p:pic>
        <p:nvPicPr>
          <p:cNvPr id="6554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475163" y="1203325"/>
            <a:ext cx="4611687"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213" y="3751263"/>
            <a:ext cx="4465637"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770313"/>
            <a:ext cx="4572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4" name="矩形 6"/>
          <p:cNvSpPr>
            <a:spLocks noChangeArrowheads="1"/>
          </p:cNvSpPr>
          <p:nvPr/>
        </p:nvSpPr>
        <p:spPr bwMode="auto">
          <a:xfrm>
            <a:off x="7277100" y="1230313"/>
            <a:ext cx="1978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lang="zh-CN" altLang="en-US" sz="2400">
                <a:solidFill>
                  <a:srgbClr val="FF0000"/>
                </a:solidFill>
                <a:latin typeface="隶书" panose="02010509060101010101" pitchFamily="49" charset="-122"/>
              </a:rPr>
              <a:t>投标方案</a:t>
            </a:r>
            <a:endParaRPr lang="zh-CN" altLang="en-US" sz="2400">
              <a:solidFill>
                <a:srgbClr val="FF0000"/>
              </a:solidFill>
              <a:latin typeface="隶书" panose="02010509060101010101" pitchFamily="49" charset="-122"/>
            </a:endParaRPr>
          </a:p>
        </p:txBody>
      </p:sp>
      <p:sp>
        <p:nvSpPr>
          <p:cNvPr id="65545" name="矩形 9"/>
          <p:cNvSpPr>
            <a:spLocks noChangeArrowheads="1"/>
          </p:cNvSpPr>
          <p:nvPr/>
        </p:nvSpPr>
        <p:spPr bwMode="auto">
          <a:xfrm>
            <a:off x="2484438" y="4005263"/>
            <a:ext cx="1978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lang="zh-CN" altLang="en-US" sz="2400">
                <a:solidFill>
                  <a:srgbClr val="FF0000"/>
                </a:solidFill>
                <a:latin typeface="隶书" panose="02010509060101010101" pitchFamily="49" charset="-122"/>
              </a:rPr>
              <a:t>基本设计</a:t>
            </a:r>
            <a:endParaRPr lang="zh-CN" altLang="en-US" sz="2400">
              <a:solidFill>
                <a:srgbClr val="FF0000"/>
              </a:solidFill>
              <a:latin typeface="隶书" panose="02010509060101010101" pitchFamily="49" charset="-122"/>
            </a:endParaRPr>
          </a:p>
        </p:txBody>
      </p:sp>
      <p:sp>
        <p:nvSpPr>
          <p:cNvPr id="65546" name="矩形 10"/>
          <p:cNvSpPr>
            <a:spLocks noChangeArrowheads="1"/>
          </p:cNvSpPr>
          <p:nvPr/>
        </p:nvSpPr>
        <p:spPr bwMode="auto">
          <a:xfrm>
            <a:off x="7000875" y="4005263"/>
            <a:ext cx="1978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lang="zh-CN" altLang="en-US" sz="2400">
                <a:solidFill>
                  <a:srgbClr val="FF0000"/>
                </a:solidFill>
                <a:latin typeface="隶书" panose="02010509060101010101" pitchFamily="49" charset="-122"/>
              </a:rPr>
              <a:t>实施方案</a:t>
            </a:r>
            <a:endParaRPr lang="zh-CN" altLang="en-US" sz="2400">
              <a:solidFill>
                <a:srgbClr val="FF0000"/>
              </a:solidFill>
              <a:latin typeface="隶书" panose="02010509060101010101" pitchFamily="49" charset="-122"/>
            </a:endParaRPr>
          </a:p>
        </p:txBody>
      </p:sp>
    </p:spTree>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1"/>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AC6A9A84-D59B-4CBB-BC89-04F91AED2563}"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pic>
        <p:nvPicPr>
          <p:cNvPr id="66563" name="Picture 4" descr="大坝雄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13" y="1052513"/>
            <a:ext cx="9144001" cy="565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1"/>
          <p:cNvSpPr txBox="1"/>
          <p:nvPr/>
        </p:nvSpPr>
        <p:spPr bwMode="white">
          <a:xfrm>
            <a:off x="179388" y="188913"/>
            <a:ext cx="84582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pPr>
              <a:defRPr/>
            </a:pPr>
            <a:r>
              <a:rPr lang="zh-CN" altLang="en-US" sz="4000" kern="0" dirty="0" smtClean="0">
                <a:solidFill>
                  <a:schemeClr val="tx1"/>
                </a:solidFill>
                <a:latin typeface="宋体" panose="02010600030101010101" pitchFamily="2" charset="-122"/>
              </a:rPr>
              <a:t>伊朗塔里干项目</a:t>
            </a:r>
            <a:endParaRPr lang="zh-CN" altLang="en-US" sz="4000" kern="0" dirty="0" smtClean="0">
              <a:solidFill>
                <a:schemeClr val="tx1"/>
              </a:solidFill>
              <a:latin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pPr>
              <a:defRPr/>
            </a:pPr>
            <a:r>
              <a:rPr lang="zh-CN" altLang="en-US" sz="4000" smtClean="0">
                <a:latin typeface="宋体" panose="02010600030101010101" pitchFamily="2" charset="-122"/>
              </a:rPr>
              <a:t>伊朗塔里干项目设计优化</a:t>
            </a:r>
            <a:endParaRPr lang="zh-CN" altLang="en-US" sz="4000" smtClean="0">
              <a:latin typeface="宋体" panose="02010600030101010101" pitchFamily="2" charset="-122"/>
            </a:endParaRPr>
          </a:p>
        </p:txBody>
      </p:sp>
      <p:sp>
        <p:nvSpPr>
          <p:cNvPr id="89091" name="内容占位符 2"/>
          <p:cNvSpPr>
            <a:spLocks noGrp="1"/>
          </p:cNvSpPr>
          <p:nvPr>
            <p:ph idx="1"/>
          </p:nvPr>
        </p:nvSpPr>
        <p:spPr>
          <a:xfrm>
            <a:off x="104775" y="1100138"/>
            <a:ext cx="8858250" cy="5353050"/>
          </a:xfrm>
        </p:spPr>
        <p:txBody>
          <a:bodyPr/>
          <a:lstStyle/>
          <a:p>
            <a:pPr marL="0" indent="0">
              <a:buFont typeface="Wingdings" panose="05000000000000000000" pitchFamily="2" charset="2"/>
              <a:buNone/>
              <a:defRPr/>
            </a:pPr>
            <a:r>
              <a:rPr lang="zh-CN" altLang="en-US" sz="2400" b="1" dirty="0" smtClean="0">
                <a:solidFill>
                  <a:srgbClr val="FF0000"/>
                </a:solidFill>
                <a:latin typeface="宋体" panose="02010600030101010101" pitchFamily="2" charset="-122"/>
              </a:rPr>
              <a:t>合同规定：</a:t>
            </a:r>
            <a:r>
              <a:rPr lang="zh-CN" altLang="en-US" sz="2000" dirty="0" smtClean="0">
                <a:latin typeface="宋体" panose="02010600030101010101" pitchFamily="2" charset="-122"/>
              </a:rPr>
              <a:t>设计优化在施工过程中节省的费用，按合同规定的分成比例，由承包商和业主共享。</a:t>
            </a:r>
            <a:endParaRPr lang="en-US" altLang="zh-CN" sz="2000" dirty="0" smtClean="0">
              <a:latin typeface="宋体" panose="02010600030101010101" pitchFamily="2" charset="-122"/>
            </a:endParaRPr>
          </a:p>
          <a:p>
            <a:pPr marL="0" indent="0">
              <a:buFont typeface="Wingdings" panose="05000000000000000000" pitchFamily="2" charset="2"/>
              <a:buNone/>
              <a:defRPr/>
            </a:pPr>
            <a:r>
              <a:rPr lang="zh-CN" altLang="en-US" sz="2400" b="1" dirty="0" smtClean="0">
                <a:solidFill>
                  <a:srgbClr val="FF0000"/>
                </a:solidFill>
                <a:latin typeface="宋体" panose="02010600030101010101" pitchFamily="2" charset="-122"/>
              </a:rPr>
              <a:t>设计优化：</a:t>
            </a:r>
            <a:endParaRPr lang="en-US" altLang="zh-CN" sz="2400" b="1" dirty="0" smtClean="0">
              <a:solidFill>
                <a:srgbClr val="FF0000"/>
              </a:solidFill>
              <a:latin typeface="宋体" panose="02010600030101010101" pitchFamily="2" charset="-122"/>
            </a:endParaRPr>
          </a:p>
          <a:p>
            <a:pPr marL="0" indent="0">
              <a:buFont typeface="Wingdings" panose="05000000000000000000" pitchFamily="2" charset="2"/>
              <a:buNone/>
              <a:defRPr/>
            </a:pPr>
            <a:r>
              <a:rPr lang="en-US" altLang="zh-CN" sz="2400" dirty="0" smtClean="0">
                <a:solidFill>
                  <a:srgbClr val="FF0000"/>
                </a:solidFill>
                <a:latin typeface="宋体" panose="02010600030101010101" pitchFamily="2" charset="-122"/>
              </a:rPr>
              <a:t>(1)</a:t>
            </a:r>
            <a:r>
              <a:rPr lang="zh-CN" altLang="en-US" sz="2400" dirty="0" smtClean="0">
                <a:solidFill>
                  <a:srgbClr val="FF0000"/>
                </a:solidFill>
                <a:latin typeface="宋体" panose="02010600030101010101" pitchFamily="2" charset="-122"/>
              </a:rPr>
              <a:t>导流标准</a:t>
            </a:r>
            <a:r>
              <a:rPr lang="zh-CN" altLang="en-US" sz="2000" dirty="0" smtClean="0">
                <a:solidFill>
                  <a:srgbClr val="FF0000"/>
                </a:solidFill>
                <a:latin typeface="宋体" panose="02010600030101010101" pitchFamily="2" charset="-122"/>
              </a:rPr>
              <a:t>　</a:t>
            </a:r>
            <a:r>
              <a:rPr lang="zh-CN" altLang="en-US" sz="2000" dirty="0" smtClean="0">
                <a:latin typeface="宋体" panose="02010600030101010101" pitchFamily="2" charset="-122"/>
              </a:rPr>
              <a:t>导流标准的洪水重现期由</a:t>
            </a:r>
            <a:r>
              <a:rPr lang="en-US" altLang="zh-CN" sz="2000" dirty="0" smtClean="0">
                <a:latin typeface="宋体" panose="02010600030101010101" pitchFamily="2" charset="-122"/>
              </a:rPr>
              <a:t>50</a:t>
            </a:r>
            <a:r>
              <a:rPr lang="zh-CN" altLang="en-US" sz="2000" dirty="0" smtClean="0">
                <a:latin typeface="宋体" panose="02010600030101010101" pitchFamily="2" charset="-122"/>
              </a:rPr>
              <a:t>年一遇降到</a:t>
            </a:r>
            <a:r>
              <a:rPr lang="en-US" altLang="zh-CN" sz="2000" dirty="0" smtClean="0">
                <a:latin typeface="宋体" panose="02010600030101010101" pitchFamily="2" charset="-122"/>
              </a:rPr>
              <a:t>20</a:t>
            </a:r>
            <a:r>
              <a:rPr lang="zh-CN" altLang="en-US" sz="2000" dirty="0" smtClean="0">
                <a:latin typeface="宋体" panose="02010600030101010101" pitchFamily="2" charset="-122"/>
              </a:rPr>
              <a:t>年一遇，减小了导流洞断面尺寸，降低了工程施工难度和风险，节省了投资，加快了施工进度。</a:t>
            </a:r>
            <a:endParaRPr lang="zh-CN" altLang="en-US" sz="2000" dirty="0" smtClean="0">
              <a:latin typeface="宋体" panose="02010600030101010101" pitchFamily="2" charset="-122"/>
            </a:endParaRPr>
          </a:p>
          <a:p>
            <a:pPr marL="0" indent="0">
              <a:buFont typeface="Wingdings" panose="05000000000000000000" pitchFamily="2" charset="2"/>
              <a:buNone/>
              <a:defRPr/>
            </a:pPr>
            <a:r>
              <a:rPr lang="en-US" altLang="zh-CN" sz="2400" dirty="0" smtClean="0">
                <a:solidFill>
                  <a:srgbClr val="FF0000"/>
                </a:solidFill>
                <a:latin typeface="宋体" panose="02010600030101010101" pitchFamily="2" charset="-122"/>
              </a:rPr>
              <a:t>(2)</a:t>
            </a:r>
            <a:r>
              <a:rPr lang="zh-CN" altLang="en-US" sz="2400" dirty="0" smtClean="0">
                <a:solidFill>
                  <a:srgbClr val="FF0000"/>
                </a:solidFill>
                <a:latin typeface="宋体" panose="02010600030101010101" pitchFamily="2" charset="-122"/>
              </a:rPr>
              <a:t>底孔及溢洪道轴线右移</a:t>
            </a:r>
            <a:r>
              <a:rPr lang="zh-CN" altLang="en-US" sz="2000" dirty="0" smtClean="0">
                <a:solidFill>
                  <a:srgbClr val="FF0000"/>
                </a:solidFill>
                <a:latin typeface="宋体" panose="02010600030101010101" pitchFamily="2" charset="-122"/>
              </a:rPr>
              <a:t>　</a:t>
            </a:r>
            <a:r>
              <a:rPr lang="zh-CN" altLang="en-US" sz="2000" dirty="0" smtClean="0">
                <a:latin typeface="宋体" panose="02010600030101010101" pitchFamily="2" charset="-122"/>
              </a:rPr>
              <a:t>底孔、溢洪道等泄水建筑物的轴线向河床侧偏移了</a:t>
            </a:r>
            <a:r>
              <a:rPr lang="en-US" altLang="zh-CN" sz="2000" dirty="0" smtClean="0">
                <a:latin typeface="宋体" panose="02010600030101010101" pitchFamily="2" charset="-122"/>
              </a:rPr>
              <a:t>20m~25 m</a:t>
            </a:r>
            <a:r>
              <a:rPr lang="zh-CN" altLang="en-US" sz="2000" dirty="0" smtClean="0">
                <a:latin typeface="宋体" panose="02010600030101010101" pitchFamily="2" charset="-122"/>
              </a:rPr>
              <a:t>，避开了进、出口不利的地形和地质条件，使得水流易于归入原河槽。轴线偏移后泄水建筑物明挖量明显减少，洞线进出口地质条件明显改善，溢洪道边坡开挖高度降低，降低了人工高边坡的风险，减少了开挖量，节省了投资，加快了进度。</a:t>
            </a:r>
            <a:endParaRPr lang="zh-CN" altLang="en-US" sz="2000" dirty="0" smtClean="0">
              <a:latin typeface="宋体" panose="02010600030101010101" pitchFamily="2" charset="-122"/>
            </a:endParaRPr>
          </a:p>
          <a:p>
            <a:pPr marL="0" indent="0">
              <a:lnSpc>
                <a:spcPct val="120000"/>
              </a:lnSpc>
              <a:spcBef>
                <a:spcPct val="0"/>
              </a:spcBef>
              <a:buFont typeface="Wingdings" panose="05000000000000000000" pitchFamily="2" charset="2"/>
              <a:buNone/>
              <a:defRPr/>
            </a:pPr>
            <a:r>
              <a:rPr lang="zh-CN" altLang="zh-CN" sz="2400" dirty="0" smtClean="0">
                <a:solidFill>
                  <a:srgbClr val="FF0000"/>
                </a:solidFill>
                <a:latin typeface="宋体" panose="02010600030101010101" pitchFamily="2" charset="-122"/>
              </a:rPr>
              <a:t>(</a:t>
            </a:r>
            <a:r>
              <a:rPr lang="en-US" altLang="zh-CN" sz="2400" dirty="0" smtClean="0">
                <a:solidFill>
                  <a:srgbClr val="FF0000"/>
                </a:solidFill>
                <a:latin typeface="宋体" panose="02010600030101010101" pitchFamily="2" charset="-122"/>
              </a:rPr>
              <a:t>3</a:t>
            </a:r>
            <a:r>
              <a:rPr lang="zh-CN" altLang="zh-CN" sz="2400" dirty="0" smtClean="0">
                <a:solidFill>
                  <a:srgbClr val="FF0000"/>
                </a:solidFill>
                <a:latin typeface="宋体" panose="02010600030101010101" pitchFamily="2" charset="-122"/>
              </a:rPr>
              <a:t>)取消了地下灌浆廊</a:t>
            </a:r>
            <a:r>
              <a:rPr lang="zh-CN" altLang="en-US" sz="2000" dirty="0" smtClean="0">
                <a:solidFill>
                  <a:srgbClr val="FF0000"/>
                </a:solidFill>
                <a:latin typeface="宋体" panose="02010600030101010101" pitchFamily="2" charset="-122"/>
              </a:rPr>
              <a:t>　</a:t>
            </a:r>
            <a:r>
              <a:rPr lang="zh-CN" altLang="zh-CN" sz="2000" dirty="0" smtClean="0">
                <a:latin typeface="宋体" panose="02010600030101010101" pitchFamily="2" charset="-122"/>
              </a:rPr>
              <a:t>原设计在地基中设有地下灌浆廊道，</a:t>
            </a:r>
            <a:r>
              <a:rPr lang="zh-CN" altLang="en-US" sz="2000" dirty="0" smtClean="0">
                <a:latin typeface="宋体" panose="02010600030101010101" pitchFamily="2" charset="-122"/>
              </a:rPr>
              <a:t>优化</a:t>
            </a:r>
            <a:r>
              <a:rPr lang="zh-CN" altLang="zh-CN" sz="2000" dirty="0" smtClean="0">
                <a:latin typeface="宋体" panose="02010600030101010101" pitchFamily="2" charset="-122"/>
              </a:rPr>
              <a:t>设计在河床部位的基岩帷幕灌浆采取在混凝土防渗墙中布孔</a:t>
            </a:r>
            <a:r>
              <a:rPr lang="zh-CN" altLang="en-US" sz="2000" dirty="0" smtClean="0">
                <a:latin typeface="宋体" panose="02010600030101010101" pitchFamily="2" charset="-122"/>
              </a:rPr>
              <a:t>。优化设计缩短</a:t>
            </a:r>
            <a:r>
              <a:rPr lang="zh-CN" altLang="zh-CN" sz="2000" dirty="0" smtClean="0">
                <a:latin typeface="宋体" panose="02010600030101010101" pitchFamily="2" charset="-122"/>
              </a:rPr>
              <a:t>施工工期，避免了由于地下灌浆廊道的存在而产生渗透破坏的可能，加强了工程安全性，同时节省了投资</a:t>
            </a:r>
            <a:r>
              <a:rPr lang="zh-CN" altLang="en-US" sz="2000" dirty="0" smtClean="0">
                <a:latin typeface="宋体" panose="02010600030101010101" pitchFamily="2" charset="-122"/>
              </a:rPr>
              <a:t>。</a:t>
            </a:r>
            <a:endParaRPr lang="zh-CN" altLang="en-US" sz="2000" dirty="0" smtClean="0">
              <a:latin typeface="宋体" panose="02010600030101010101" pitchFamily="2" charset="-122"/>
            </a:endParaRPr>
          </a:p>
        </p:txBody>
      </p:sp>
      <p:sp>
        <p:nvSpPr>
          <p:cNvPr id="6758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C93FE357-4C49-40F2-96B8-D94E4CB4E20C}"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pPr>
              <a:defRPr/>
            </a:pPr>
            <a:r>
              <a:rPr lang="zh-CN" altLang="en-US" sz="4000" smtClean="0">
                <a:latin typeface="宋体" panose="02010600030101010101" pitchFamily="2" charset="-122"/>
                <a:cs typeface="Times New Roman" panose="02020603050405020304" pitchFamily="18" charset="0"/>
              </a:rPr>
              <a:t>伊朗塔里干项目设计优化</a:t>
            </a:r>
            <a:endParaRPr lang="zh-CN" altLang="en-US" sz="4000" smtClean="0">
              <a:latin typeface="宋体" panose="02010600030101010101" pitchFamily="2" charset="-122"/>
              <a:cs typeface="Times New Roman" panose="02020603050405020304" pitchFamily="18" charset="0"/>
            </a:endParaRPr>
          </a:p>
        </p:txBody>
      </p:sp>
      <p:sp>
        <p:nvSpPr>
          <p:cNvPr id="90115" name="内容占位符 2"/>
          <p:cNvSpPr>
            <a:spLocks noGrp="1"/>
          </p:cNvSpPr>
          <p:nvPr>
            <p:ph idx="1"/>
          </p:nvPr>
        </p:nvSpPr>
        <p:spPr>
          <a:xfrm>
            <a:off x="104775" y="1100138"/>
            <a:ext cx="8858250" cy="5353050"/>
          </a:xfrm>
        </p:spPr>
        <p:txBody>
          <a:bodyPr/>
          <a:lstStyle/>
          <a:p>
            <a:pPr marL="0" indent="0">
              <a:buFont typeface="Wingdings" panose="05000000000000000000" pitchFamily="2" charset="2"/>
              <a:buNone/>
              <a:defRPr/>
            </a:pPr>
            <a:r>
              <a:rPr lang="en-US" altLang="zh-CN" sz="2400" dirty="0" smtClean="0">
                <a:solidFill>
                  <a:srgbClr val="FF0000"/>
                </a:solidFill>
                <a:latin typeface="宋体" panose="02010600030101010101" pitchFamily="2" charset="-122"/>
              </a:rPr>
              <a:t>(4)</a:t>
            </a:r>
            <a:r>
              <a:rPr lang="zh-CN" altLang="en-US" sz="2400" dirty="0" smtClean="0">
                <a:solidFill>
                  <a:srgbClr val="FF0000"/>
                </a:solidFill>
                <a:latin typeface="宋体" panose="02010600030101010101" pitchFamily="2" charset="-122"/>
              </a:rPr>
              <a:t>防渗粘土料分散性处理</a:t>
            </a:r>
            <a:r>
              <a:rPr lang="zh-CN" altLang="en-US" sz="2000" dirty="0" smtClean="0">
                <a:solidFill>
                  <a:srgbClr val="FF0000"/>
                </a:solidFill>
                <a:latin typeface="宋体" panose="02010600030101010101" pitchFamily="2" charset="-122"/>
              </a:rPr>
              <a:t>　</a:t>
            </a:r>
            <a:r>
              <a:rPr lang="zh-CN" altLang="en-US" sz="2000" dirty="0" smtClean="0">
                <a:latin typeface="宋体" panose="02010600030101010101" pitchFamily="2" charset="-122"/>
              </a:rPr>
              <a:t>针对防渗土料的分散性，除周边设砂反滤保护外，反滤沙设计准则按分散性图设计外，心墙与两岸混凝土板、河床砂反滤层等接触部位掺</a:t>
            </a:r>
            <a:r>
              <a:rPr lang="en-US" altLang="zh-CN" sz="2000" dirty="0" smtClean="0">
                <a:latin typeface="宋体" panose="02010600030101010101" pitchFamily="2" charset="-122"/>
              </a:rPr>
              <a:t>1~1.5%</a:t>
            </a:r>
            <a:r>
              <a:rPr lang="zh-CN" altLang="en-US" sz="2000" dirty="0" smtClean="0">
                <a:latin typeface="宋体" panose="02010600030101010101" pitchFamily="2" charset="-122"/>
              </a:rPr>
              <a:t>的生石灰。</a:t>
            </a:r>
            <a:endParaRPr lang="zh-CN" altLang="en-US" sz="2000" dirty="0" smtClean="0">
              <a:latin typeface="宋体" panose="02010600030101010101" pitchFamily="2" charset="-122"/>
            </a:endParaRPr>
          </a:p>
          <a:p>
            <a:pPr marL="0" indent="0">
              <a:buFont typeface="Wingdings" panose="05000000000000000000" pitchFamily="2" charset="2"/>
              <a:buNone/>
              <a:defRPr/>
            </a:pPr>
            <a:r>
              <a:rPr lang="en-US" altLang="zh-CN" sz="2400" dirty="0" smtClean="0">
                <a:solidFill>
                  <a:srgbClr val="FF0000"/>
                </a:solidFill>
                <a:latin typeface="宋体" panose="02010600030101010101" pitchFamily="2" charset="-122"/>
              </a:rPr>
              <a:t>(5)</a:t>
            </a:r>
            <a:r>
              <a:rPr lang="zh-CN" altLang="en-US" sz="2400" dirty="0" smtClean="0">
                <a:solidFill>
                  <a:srgbClr val="FF0000"/>
                </a:solidFill>
                <a:latin typeface="宋体" panose="02010600030101010101" pitchFamily="2" charset="-122"/>
              </a:rPr>
              <a:t>溢洪道消能工型式的改变 </a:t>
            </a:r>
            <a:r>
              <a:rPr lang="zh-CN" altLang="en-US" sz="2000" dirty="0" smtClean="0">
                <a:latin typeface="宋体" panose="02010600030101010101" pitchFamily="2" charset="-122"/>
              </a:rPr>
              <a:t>溢洪道出口消能工由美国垦务局</a:t>
            </a:r>
            <a:r>
              <a:rPr lang="en-US" altLang="zh-CN" sz="2000" dirty="0" smtClean="0">
                <a:latin typeface="宋体" panose="02010600030101010101" pitchFamily="2" charset="-122"/>
              </a:rPr>
              <a:t>—Ⅱ</a:t>
            </a:r>
            <a:r>
              <a:rPr lang="zh-CN" altLang="en-US" sz="2000" dirty="0" smtClean="0">
                <a:latin typeface="宋体" panose="02010600030101010101" pitchFamily="2" charset="-122"/>
              </a:rPr>
              <a:t>型消力池改为设尾坎的平底消力池。取消了消能中敦，变差动尾坎为连续尾坎，大大降低了高速水流发生气蚀的风险，增强了工程安全性，降低了施工难度，加快了进度，节省了投资。 </a:t>
            </a:r>
            <a:endParaRPr lang="en-US" altLang="zh-CN" sz="2000" dirty="0" smtClean="0">
              <a:latin typeface="宋体" panose="02010600030101010101" pitchFamily="2" charset="-122"/>
            </a:endParaRPr>
          </a:p>
          <a:p>
            <a:pPr marL="0" indent="0">
              <a:buFont typeface="Wingdings" panose="05000000000000000000" pitchFamily="2" charset="2"/>
              <a:buNone/>
              <a:defRPr/>
            </a:pPr>
            <a:r>
              <a:rPr lang="zh-CN" altLang="zh-CN" sz="2400" dirty="0" smtClean="0">
                <a:solidFill>
                  <a:srgbClr val="FF0000"/>
                </a:solidFill>
                <a:latin typeface="宋体" panose="02010600030101010101" pitchFamily="2" charset="-122"/>
              </a:rPr>
              <a:t>(</a:t>
            </a:r>
            <a:r>
              <a:rPr lang="en-US" altLang="zh-CN" sz="2400" dirty="0" smtClean="0">
                <a:solidFill>
                  <a:srgbClr val="FF0000"/>
                </a:solidFill>
                <a:latin typeface="宋体" panose="02010600030101010101" pitchFamily="2" charset="-122"/>
              </a:rPr>
              <a:t>6</a:t>
            </a:r>
            <a:r>
              <a:rPr lang="zh-CN" altLang="zh-CN" sz="2400" dirty="0" smtClean="0">
                <a:solidFill>
                  <a:srgbClr val="FF0000"/>
                </a:solidFill>
                <a:latin typeface="宋体" panose="02010600030101010101" pitchFamily="2" charset="-122"/>
              </a:rPr>
              <a:t>)</a:t>
            </a:r>
            <a:r>
              <a:rPr lang="zh-CN" altLang="en-US" sz="2400" dirty="0" smtClean="0">
                <a:solidFill>
                  <a:srgbClr val="FF0000"/>
                </a:solidFill>
                <a:latin typeface="宋体" panose="02010600030101010101" pitchFamily="2" charset="-122"/>
              </a:rPr>
              <a:t>两岸心墙基础增设混凝土垫座</a:t>
            </a:r>
            <a:r>
              <a:rPr lang="zh-CN" altLang="en-US" sz="2000" dirty="0" smtClean="0">
                <a:solidFill>
                  <a:srgbClr val="FF0000"/>
                </a:solidFill>
                <a:latin typeface="宋体" panose="02010600030101010101" pitchFamily="2" charset="-122"/>
              </a:rPr>
              <a:t>　</a:t>
            </a:r>
            <a:r>
              <a:rPr lang="zh-CN" altLang="en-US" sz="2000" dirty="0" smtClean="0">
                <a:latin typeface="宋体" panose="02010600030101010101" pitchFamily="2" charset="-122"/>
              </a:rPr>
              <a:t>两岸心墙基础增加了混凝土垫座</a:t>
            </a:r>
            <a:r>
              <a:rPr lang="en-US" altLang="zh-CN" sz="2000" dirty="0" smtClean="0">
                <a:latin typeface="宋体" panose="02010600030101010101" pitchFamily="2" charset="-122"/>
              </a:rPr>
              <a:t>,</a:t>
            </a:r>
            <a:r>
              <a:rPr lang="zh-CN" altLang="en-US" sz="2000" dirty="0" smtClean="0">
                <a:latin typeface="宋体" panose="02010600030101010101" pitchFamily="2" charset="-122"/>
              </a:rPr>
              <a:t>提高心墙与岩石坝基连接部位抗接触冲刷能力</a:t>
            </a:r>
            <a:r>
              <a:rPr lang="en-US" altLang="zh-CN" sz="2000" dirty="0" smtClean="0">
                <a:latin typeface="宋体" panose="02010600030101010101" pitchFamily="2" charset="-122"/>
              </a:rPr>
              <a:t>,</a:t>
            </a:r>
            <a:r>
              <a:rPr lang="zh-CN" altLang="en-US" sz="2000" dirty="0" smtClean="0">
                <a:latin typeface="宋体" panose="02010600030101010101" pitchFamily="2" charset="-122"/>
              </a:rPr>
              <a:t>同时用以布置两岸帷幕灌浆孔。既提高了帷幕灌浆和固结灌浆的效果，加快了工期，保证了心墙与基础接触面的安全性，由于混凝土厚度只有</a:t>
            </a:r>
            <a:r>
              <a:rPr lang="en-US" altLang="zh-CN" sz="2000" dirty="0" smtClean="0">
                <a:latin typeface="宋体" panose="02010600030101010101" pitchFamily="2" charset="-122"/>
              </a:rPr>
              <a:t>0.5m</a:t>
            </a:r>
            <a:r>
              <a:rPr lang="zh-CN" altLang="en-US" sz="2000" dirty="0" smtClean="0">
                <a:latin typeface="宋体" panose="02010600030101010101" pitchFamily="2" charset="-122"/>
              </a:rPr>
              <a:t>，增加投资不大。</a:t>
            </a:r>
            <a:endParaRPr lang="en-US" altLang="zh-CN" sz="2000" dirty="0" smtClean="0">
              <a:latin typeface="宋体" panose="02010600030101010101" pitchFamily="2" charset="-122"/>
            </a:endParaRPr>
          </a:p>
          <a:p>
            <a:pPr marL="0" indent="0">
              <a:buFont typeface="Wingdings" panose="05000000000000000000" pitchFamily="2" charset="2"/>
              <a:buNone/>
              <a:defRPr/>
            </a:pPr>
            <a:r>
              <a:rPr lang="en-US" altLang="zh-CN" sz="2400" dirty="0" smtClean="0">
                <a:solidFill>
                  <a:srgbClr val="FF0000"/>
                </a:solidFill>
                <a:latin typeface="宋体" panose="02010600030101010101" pitchFamily="2" charset="-122"/>
              </a:rPr>
              <a:t>(7)</a:t>
            </a:r>
            <a:r>
              <a:rPr lang="zh-CN" altLang="zh-CN" sz="2400" dirty="0" smtClean="0">
                <a:solidFill>
                  <a:srgbClr val="FF0000"/>
                </a:solidFill>
                <a:latin typeface="宋体" panose="02010600030101010101" pitchFamily="2" charset="-122"/>
              </a:rPr>
              <a:t>供水旁通管与1#、2#机组同一安装高程</a:t>
            </a:r>
            <a:r>
              <a:rPr lang="en-US" altLang="zh-CN" sz="2400" dirty="0" smtClean="0">
                <a:solidFill>
                  <a:srgbClr val="FF0000"/>
                </a:solidFill>
                <a:latin typeface="宋体" panose="02010600030101010101" pitchFamily="2" charset="-122"/>
              </a:rPr>
              <a:t>,</a:t>
            </a:r>
            <a:r>
              <a:rPr lang="zh-CN" altLang="en-US" sz="2400" dirty="0" smtClean="0">
                <a:solidFill>
                  <a:srgbClr val="FF0000"/>
                </a:solidFill>
                <a:latin typeface="宋体" panose="02010600030101010101" pitchFamily="2" charset="-122"/>
              </a:rPr>
              <a:t>出口设有消能措施 </a:t>
            </a:r>
            <a:endParaRPr lang="en-US" altLang="zh-CN" sz="2400" dirty="0" smtClean="0">
              <a:solidFill>
                <a:srgbClr val="FF0000"/>
              </a:solidFill>
              <a:latin typeface="宋体" panose="02010600030101010101" pitchFamily="2" charset="-122"/>
            </a:endParaRPr>
          </a:p>
          <a:p>
            <a:pPr marL="0" indent="0">
              <a:buFont typeface="Wingdings" panose="05000000000000000000" pitchFamily="2" charset="2"/>
              <a:buNone/>
              <a:defRPr/>
            </a:pPr>
            <a:r>
              <a:rPr lang="zh-CN" altLang="en-US" sz="2000" dirty="0" smtClean="0">
                <a:latin typeface="宋体" panose="02010600030101010101" pitchFamily="2" charset="-122"/>
              </a:rPr>
              <a:t>此项设计优化，大大降低了旁通管供水时，对发电尾水的波动，消能设施增加后，流速的降低，对下游调压井的运行安全提供了保证，降低了水下厂房的震动，避免共振的可能，提高了运行安全性。</a:t>
            </a:r>
            <a:endParaRPr lang="zh-CN" altLang="en-US" sz="2000" dirty="0" smtClean="0">
              <a:latin typeface="宋体" panose="02010600030101010101" pitchFamily="2" charset="-122"/>
            </a:endParaRPr>
          </a:p>
          <a:p>
            <a:pPr marL="0" indent="0">
              <a:buFont typeface="Wingdings" panose="05000000000000000000" pitchFamily="2" charset="2"/>
              <a:buNone/>
              <a:defRPr/>
            </a:pPr>
            <a:endParaRPr lang="zh-CN" altLang="en-US" sz="2400" dirty="0" smtClean="0">
              <a:solidFill>
                <a:srgbClr val="C00000"/>
              </a:solidFill>
              <a:latin typeface="宋体" panose="02010600030101010101" pitchFamily="2" charset="-122"/>
            </a:endParaRPr>
          </a:p>
        </p:txBody>
      </p:sp>
      <p:sp>
        <p:nvSpPr>
          <p:cNvPr id="6861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ABCE60BA-8474-42B5-8E94-CE1D37FFD7F8}"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endParaRPr lang="zh-CN" altLang="en-US" sz="4800">
              <a:solidFill>
                <a:schemeClr val="accent2"/>
              </a:solidFill>
              <a:latin typeface="隶书" panose="02010509060101010101" pitchFamily="49" charset="-122"/>
            </a:endParaRPr>
          </a:p>
        </p:txBody>
      </p:sp>
      <p:sp>
        <p:nvSpPr>
          <p:cNvPr id="6963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endParaRPr lang="zh-CN" altLang="en-US" sz="4800">
              <a:solidFill>
                <a:schemeClr val="accent2"/>
              </a:solidFill>
              <a:latin typeface="隶书" panose="02010509060101010101" pitchFamily="49" charset="-122"/>
            </a:endParaRPr>
          </a:p>
        </p:txBody>
      </p:sp>
      <p:sp>
        <p:nvSpPr>
          <p:cNvPr id="41" name="矩形 40"/>
          <p:cNvSpPr/>
          <p:nvPr/>
        </p:nvSpPr>
        <p:spPr>
          <a:xfrm>
            <a:off x="5367338" y="1052513"/>
            <a:ext cx="3635375" cy="5970587"/>
          </a:xfrm>
          <a:prstGeom prst="rect">
            <a:avLst/>
          </a:prstGeom>
        </p:spPr>
        <p:txBody>
          <a:bodyPr>
            <a:spAutoFit/>
          </a:bodyPr>
          <a:lstStyle/>
          <a:p>
            <a:pPr marL="342900" indent="-342900" algn="just">
              <a:spcBef>
                <a:spcPts val="1200"/>
              </a:spcBef>
              <a:buFont typeface="Wingdings" panose="05000000000000000000" pitchFamily="2" charset="2"/>
              <a:buChar char="Ø"/>
              <a:defRPr/>
            </a:pPr>
            <a:r>
              <a:rPr lang="zh-CN" altLang="en-US" sz="2400" dirty="0">
                <a:latin typeface="宋体" panose="02010600030101010101" pitchFamily="2" charset="-122"/>
              </a:rPr>
              <a:t>业主：印尼国家电力公司</a:t>
            </a:r>
            <a:endParaRPr lang="en-US" altLang="zh-CN" sz="2400" dirty="0">
              <a:latin typeface="宋体" panose="02010600030101010101" pitchFamily="2" charset="-122"/>
            </a:endParaRPr>
          </a:p>
          <a:p>
            <a:pPr marL="342900" indent="-342900" algn="just">
              <a:spcBef>
                <a:spcPts val="1200"/>
              </a:spcBef>
              <a:buFont typeface="Wingdings" panose="05000000000000000000" pitchFamily="2" charset="2"/>
              <a:buChar char="Ø"/>
              <a:defRPr/>
            </a:pPr>
            <a:r>
              <a:rPr lang="zh-CN" altLang="en-US" sz="2400" dirty="0">
                <a:latin typeface="宋体" panose="02010600030101010101" pitchFamily="2" charset="-122"/>
              </a:rPr>
              <a:t>承包商：水电８局</a:t>
            </a:r>
            <a:endParaRPr lang="en-US" altLang="zh-CN" sz="2400" dirty="0">
              <a:latin typeface="宋体" panose="02010600030101010101" pitchFamily="2" charset="-122"/>
            </a:endParaRPr>
          </a:p>
          <a:p>
            <a:pPr marL="342900" indent="-342900" algn="just">
              <a:spcBef>
                <a:spcPts val="1200"/>
              </a:spcBef>
              <a:buFont typeface="Wingdings" panose="05000000000000000000" pitchFamily="2" charset="2"/>
              <a:buChar char="Ø"/>
              <a:defRPr/>
            </a:pPr>
            <a:r>
              <a:rPr lang="zh-CN" altLang="en-US" sz="2400" dirty="0">
                <a:latin typeface="宋体" panose="02010600030101010101" pitchFamily="2" charset="-122"/>
              </a:rPr>
              <a:t>电厂的设计：浙江省电力设计院</a:t>
            </a:r>
            <a:endParaRPr lang="en-US" altLang="zh-CN" sz="2400" dirty="0">
              <a:latin typeface="宋体" panose="02010600030101010101" pitchFamily="2" charset="-122"/>
            </a:endParaRPr>
          </a:p>
          <a:p>
            <a:pPr marL="342900" indent="-342900" algn="just">
              <a:spcBef>
                <a:spcPts val="1200"/>
              </a:spcBef>
              <a:buFont typeface="Wingdings" panose="05000000000000000000" pitchFamily="2" charset="2"/>
              <a:buChar char="Ø"/>
              <a:defRPr/>
            </a:pPr>
            <a:r>
              <a:rPr lang="zh-CN" altLang="en-US" sz="2400" dirty="0">
                <a:latin typeface="宋体" panose="02010600030101010101" pitchFamily="2" charset="-122"/>
              </a:rPr>
              <a:t>码头的设计：中交第二航务工程勘察设计有限公司</a:t>
            </a:r>
            <a:endParaRPr lang="en-US" altLang="zh-CN" sz="2400" dirty="0">
              <a:latin typeface="宋体" panose="02010600030101010101" pitchFamily="2" charset="-122"/>
            </a:endParaRPr>
          </a:p>
          <a:p>
            <a:pPr marL="342900" indent="-342900" algn="just">
              <a:spcBef>
                <a:spcPts val="1200"/>
              </a:spcBef>
              <a:buFont typeface="Wingdings" panose="05000000000000000000" pitchFamily="2" charset="2"/>
              <a:buChar char="Ø"/>
              <a:defRPr/>
            </a:pPr>
            <a:r>
              <a:rPr lang="zh-CN" altLang="en-US" sz="2400" dirty="0">
                <a:latin typeface="宋体" panose="02010600030101010101" pitchFamily="2" charset="-122"/>
              </a:rPr>
              <a:t>防波堤设计：</a:t>
            </a:r>
            <a:r>
              <a:rPr lang="en-US" altLang="zh-CN" sz="2400" dirty="0" err="1">
                <a:latin typeface="Times New Roman" panose="02020603050405020304" pitchFamily="18" charset="0"/>
                <a:cs typeface="Times New Roman" panose="02020603050405020304" pitchFamily="18" charset="0"/>
              </a:rPr>
              <a:t>PT.Atrya</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Swascipta</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Rekayasa</a:t>
            </a:r>
            <a:r>
              <a:rPr lang="zh-CN" altLang="en-US" sz="2400" dirty="0">
                <a:latin typeface="宋体" panose="02010600030101010101" pitchFamily="2" charset="-122"/>
              </a:rPr>
              <a:t>（当地的设计院对海洋条件熟悉，擅长防波堤的设计）</a:t>
            </a:r>
            <a:endParaRPr lang="en-US" altLang="zh-CN" sz="2400" dirty="0">
              <a:latin typeface="宋体" panose="02010600030101010101" pitchFamily="2" charset="-122"/>
            </a:endParaRPr>
          </a:p>
          <a:p>
            <a:pPr algn="just">
              <a:spcBef>
                <a:spcPts val="1200"/>
              </a:spcBef>
              <a:buFont typeface="Wingdings" panose="05000000000000000000" pitchFamily="2" charset="2"/>
              <a:buChar char="p"/>
              <a:defRPr/>
            </a:pPr>
            <a:endParaRPr lang="en-US" altLang="zh-CN" sz="2000" dirty="0"/>
          </a:p>
        </p:txBody>
      </p:sp>
      <p:pic>
        <p:nvPicPr>
          <p:cNvPr id="69637" name="图片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063" y="1143000"/>
            <a:ext cx="4867275"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p:cNvSpPr txBox="1"/>
          <p:nvPr/>
        </p:nvSpPr>
        <p:spPr>
          <a:xfrm>
            <a:off x="611188" y="38100"/>
            <a:ext cx="7772400" cy="1143000"/>
          </a:xfrm>
          <a:prstGeom prst="rect">
            <a:avLst/>
          </a:prstGeom>
        </p:spPr>
        <p:txBody>
          <a:bodyPr>
            <a:normAutofit/>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pPr>
              <a:defRPr/>
            </a:pPr>
            <a:r>
              <a:rPr lang="zh-CN" altLang="en-US" sz="4000" kern="0" dirty="0" smtClean="0">
                <a:solidFill>
                  <a:schemeClr val="tx1"/>
                </a:solidFill>
                <a:latin typeface="宋体" panose="02010600030101010101" pitchFamily="2" charset="-122"/>
              </a:rPr>
              <a:t>印尼亚齐项目</a:t>
            </a:r>
            <a:endParaRPr lang="zh-CN" altLang="en-US" sz="4000" kern="0" dirty="0">
              <a:solidFill>
                <a:schemeClr val="tx1"/>
              </a:solidFill>
              <a:latin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1"/>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0DFFF829-8628-4064-A67D-AB61C0BC1679}"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
        <p:nvSpPr>
          <p:cNvPr id="70659" name="灯片编号占位符 1"/>
          <p:cNvSpPr txBox="1"/>
          <p:nvPr/>
        </p:nvSpPr>
        <p:spPr bwMode="auto">
          <a:xfrm>
            <a:off x="8101013" y="6453188"/>
            <a:ext cx="5619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spcBef>
                <a:spcPct val="0"/>
              </a:spcBef>
              <a:buClrTx/>
              <a:buSzTx/>
              <a:buFontTx/>
              <a:buNone/>
            </a:pPr>
            <a:fld id="{33608C95-1999-4532-9072-0EB0AA32F1FA}" type="slidenum">
              <a:rPr lang="en-US" altLang="zh-CN" sz="1400">
                <a:latin typeface="Verdana" panose="020B0604030504040204" pitchFamily="34" charset="0"/>
              </a:rPr>
            </a:fld>
            <a:endParaRPr lang="en-US" altLang="zh-CN" sz="1400">
              <a:latin typeface="Verdana" panose="020B0604030504040204" pitchFamily="34" charset="0"/>
            </a:endParaRPr>
          </a:p>
        </p:txBody>
      </p:sp>
      <p:pic>
        <p:nvPicPr>
          <p:cNvPr id="5" name="Picture 4" descr="码头沙袋试验"/>
          <p:cNvPicPr>
            <a:picLocks noChangeAspect="1" noChangeArrowheads="1"/>
          </p:cNvPicPr>
          <p:nvPr/>
        </p:nvPicPr>
        <p:blipFill>
          <a:blip r:embed="rId1" cstate="print"/>
          <a:srcRect/>
          <a:stretch>
            <a:fillRect/>
          </a:stretch>
        </p:blipFill>
        <p:spPr bwMode="auto">
          <a:xfrm>
            <a:off x="4427984" y="836712"/>
            <a:ext cx="4425545" cy="2880320"/>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pic>
        <p:nvPicPr>
          <p:cNvPr id="6" name="Picture 4" descr="码头试桩"/>
          <p:cNvPicPr>
            <a:picLocks noChangeAspect="1" noChangeArrowheads="1"/>
          </p:cNvPicPr>
          <p:nvPr/>
        </p:nvPicPr>
        <p:blipFill>
          <a:blip r:embed="rId2" cstate="print"/>
          <a:srcRect/>
          <a:stretch>
            <a:fillRect/>
          </a:stretch>
        </p:blipFill>
        <p:spPr bwMode="auto">
          <a:xfrm>
            <a:off x="323528" y="3573016"/>
            <a:ext cx="4094065" cy="3016744"/>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grpSp>
        <p:nvGrpSpPr>
          <p:cNvPr id="7" name="组合 21"/>
          <p:cNvGrpSpPr/>
          <p:nvPr/>
        </p:nvGrpSpPr>
        <p:grpSpPr bwMode="auto">
          <a:xfrm>
            <a:off x="755650" y="1125538"/>
            <a:ext cx="7993063" cy="5303837"/>
            <a:chOff x="467544" y="908720"/>
            <a:chExt cx="8064896" cy="5304784"/>
          </a:xfrm>
        </p:grpSpPr>
        <p:sp>
          <p:nvSpPr>
            <p:cNvPr id="8" name="矩形 7"/>
            <p:cNvSpPr/>
            <p:nvPr/>
          </p:nvSpPr>
          <p:spPr>
            <a:xfrm>
              <a:off x="3203362" y="908720"/>
              <a:ext cx="2449102" cy="936792"/>
            </a:xfrm>
            <a:prstGeom prst="rect">
              <a:avLst/>
            </a:prstGeom>
            <a:solidFill>
              <a:srgbClr val="FF0000"/>
            </a:solidFill>
          </p:spPr>
          <p:style>
            <a:lnRef idx="3">
              <a:schemeClr val="lt1"/>
            </a:lnRef>
            <a:fillRef idx="1">
              <a:schemeClr val="accent2"/>
            </a:fillRef>
            <a:effectRef idx="1">
              <a:schemeClr val="accent2"/>
            </a:effectRef>
            <a:fontRef idx="minor">
              <a:schemeClr val="lt1"/>
            </a:fontRef>
          </p:style>
          <p:txBody>
            <a:bodyPr anchor="ctr"/>
            <a:lstStyle/>
            <a:p>
              <a:pPr algn="ctr" eaLnBrk="1" hangingPunct="1">
                <a:defRPr/>
              </a:pPr>
              <a:endParaRPr lang="zh-CN" altLang="en-US"/>
            </a:p>
          </p:txBody>
        </p:sp>
        <p:sp>
          <p:nvSpPr>
            <p:cNvPr id="9" name="矩形 8"/>
            <p:cNvSpPr/>
            <p:nvPr/>
          </p:nvSpPr>
          <p:spPr>
            <a:xfrm>
              <a:off x="467544" y="2852167"/>
              <a:ext cx="2591659" cy="1152731"/>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eaLnBrk="1" hangingPunct="1">
                <a:defRPr/>
              </a:pPr>
              <a:endParaRPr lang="zh-CN" altLang="en-US"/>
            </a:p>
          </p:txBody>
        </p:sp>
        <p:sp>
          <p:nvSpPr>
            <p:cNvPr id="10" name="矩形 9"/>
            <p:cNvSpPr/>
            <p:nvPr/>
          </p:nvSpPr>
          <p:spPr>
            <a:xfrm>
              <a:off x="3275442" y="5013140"/>
              <a:ext cx="2449101" cy="1079693"/>
            </a:xfrm>
            <a:prstGeom prst="rect">
              <a:avLst/>
            </a:prstGeom>
          </p:spPr>
          <p:style>
            <a:lnRef idx="3">
              <a:schemeClr val="lt1"/>
            </a:lnRef>
            <a:fillRef idx="1">
              <a:schemeClr val="accent2"/>
            </a:fillRef>
            <a:effectRef idx="1">
              <a:schemeClr val="accent2"/>
            </a:effectRef>
            <a:fontRef idx="minor">
              <a:schemeClr val="lt1"/>
            </a:fontRef>
          </p:style>
          <p:txBody>
            <a:bodyPr anchor="ctr"/>
            <a:lstStyle/>
            <a:p>
              <a:pPr algn="ctr" eaLnBrk="1" hangingPunct="1">
                <a:defRPr/>
              </a:pPr>
              <a:endParaRPr lang="zh-CN" altLang="en-US"/>
            </a:p>
          </p:txBody>
        </p:sp>
        <p:sp>
          <p:nvSpPr>
            <p:cNvPr id="11" name="圆角矩形 10"/>
            <p:cNvSpPr/>
            <p:nvPr/>
          </p:nvSpPr>
          <p:spPr>
            <a:xfrm>
              <a:off x="6227497" y="2780716"/>
              <a:ext cx="2304943" cy="1295631"/>
            </a:xfrm>
            <a:prstGeom prst="roundRect">
              <a:avLst/>
            </a:prstGeom>
          </p:spPr>
          <p:style>
            <a:lnRef idx="3">
              <a:schemeClr val="lt1"/>
            </a:lnRef>
            <a:fillRef idx="1">
              <a:schemeClr val="accent4"/>
            </a:fillRef>
            <a:effectRef idx="1">
              <a:schemeClr val="accent4"/>
            </a:effectRef>
            <a:fontRef idx="minor">
              <a:schemeClr val="lt1"/>
            </a:fontRef>
          </p:style>
          <p:txBody>
            <a:bodyPr anchor="ctr"/>
            <a:lstStyle/>
            <a:p>
              <a:pPr algn="ctr" eaLnBrk="1" hangingPunct="1">
                <a:defRPr/>
              </a:pPr>
              <a:endParaRPr lang="zh-CN" altLang="en-US"/>
            </a:p>
          </p:txBody>
        </p:sp>
        <p:sp>
          <p:nvSpPr>
            <p:cNvPr id="12" name="TextBox 10"/>
            <p:cNvSpPr txBox="1"/>
            <p:nvPr/>
          </p:nvSpPr>
          <p:spPr>
            <a:xfrm>
              <a:off x="467544" y="2852167"/>
              <a:ext cx="2519580" cy="1200364"/>
            </a:xfrm>
            <a:prstGeom prst="rect">
              <a:avLst/>
            </a:prstGeom>
            <a:solidFill>
              <a:srgbClr val="00B050"/>
            </a:solidFill>
          </p:spPr>
          <p:txBody>
            <a:bodyPr>
              <a:spAutoFit/>
            </a:bodyPr>
            <a:lstStyle/>
            <a:p>
              <a:pPr algn="ctr" eaLnBrk="1" hangingPunct="1">
                <a:defRPr/>
              </a:pPr>
              <a:r>
                <a:rPr lang="zh-CN" altLang="en-US" sz="2400" dirty="0">
                  <a:latin typeface="+mj-ea"/>
                  <a:ea typeface="+mj-ea"/>
                </a:rPr>
                <a:t>施工单位与国内外设计院伙伴关系</a:t>
              </a:r>
              <a:endParaRPr lang="zh-CN" altLang="en-US" sz="2400" dirty="0">
                <a:latin typeface="+mj-ea"/>
                <a:ea typeface="+mj-ea"/>
              </a:endParaRPr>
            </a:p>
          </p:txBody>
        </p:sp>
        <p:sp>
          <p:nvSpPr>
            <p:cNvPr id="13" name="TextBox 11"/>
            <p:cNvSpPr txBox="1"/>
            <p:nvPr/>
          </p:nvSpPr>
          <p:spPr>
            <a:xfrm>
              <a:off x="3275442" y="1053208"/>
              <a:ext cx="2361004" cy="460457"/>
            </a:xfrm>
            <a:prstGeom prst="rect">
              <a:avLst/>
            </a:prstGeom>
            <a:noFill/>
          </p:spPr>
          <p:txBody>
            <a:bodyPr wrap="none">
              <a:spAutoFit/>
            </a:bodyPr>
            <a:lstStyle/>
            <a:p>
              <a:pPr algn="ctr" eaLnBrk="1" hangingPunct="1">
                <a:defRPr/>
              </a:pPr>
              <a:r>
                <a:rPr lang="zh-CN" altLang="en-US" sz="2400" dirty="0">
                  <a:latin typeface="+mj-ea"/>
                  <a:ea typeface="+mj-ea"/>
                </a:rPr>
                <a:t>降低了项目风险</a:t>
              </a:r>
              <a:endParaRPr lang="zh-CN" altLang="en-US" sz="2400" dirty="0">
                <a:latin typeface="+mj-ea"/>
                <a:ea typeface="+mj-ea"/>
              </a:endParaRPr>
            </a:p>
          </p:txBody>
        </p:sp>
        <p:sp>
          <p:nvSpPr>
            <p:cNvPr id="14" name="TextBox 12"/>
            <p:cNvSpPr txBox="1"/>
            <p:nvPr/>
          </p:nvSpPr>
          <p:spPr>
            <a:xfrm>
              <a:off x="3228990" y="5013140"/>
              <a:ext cx="2469924" cy="1200364"/>
            </a:xfrm>
            <a:prstGeom prst="rect">
              <a:avLst/>
            </a:prstGeom>
            <a:solidFill>
              <a:srgbClr val="0070C0"/>
            </a:solidFill>
          </p:spPr>
          <p:txBody>
            <a:bodyPr>
              <a:spAutoFit/>
            </a:bodyPr>
            <a:lstStyle/>
            <a:p>
              <a:pPr algn="ctr" eaLnBrk="1" hangingPunct="1">
                <a:defRPr/>
              </a:pPr>
              <a:r>
                <a:rPr lang="zh-CN" altLang="en-US" sz="2400" dirty="0">
                  <a:latin typeface="+mj-ea"/>
                  <a:ea typeface="+mj-ea"/>
                </a:rPr>
                <a:t>促进技术改进，增加了设计产品价值</a:t>
              </a:r>
              <a:endParaRPr lang="zh-CN" altLang="en-US" sz="2400" dirty="0">
                <a:latin typeface="+mj-ea"/>
                <a:ea typeface="+mj-ea"/>
              </a:endParaRPr>
            </a:p>
          </p:txBody>
        </p:sp>
        <p:sp>
          <p:nvSpPr>
            <p:cNvPr id="70671" name="TextBox 13"/>
            <p:cNvSpPr txBox="1">
              <a:spLocks noChangeArrowheads="1"/>
            </p:cNvSpPr>
            <p:nvPr/>
          </p:nvSpPr>
          <p:spPr bwMode="auto">
            <a:xfrm>
              <a:off x="6660232" y="3030051"/>
              <a:ext cx="16561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spcBef>
                  <a:spcPct val="0"/>
                </a:spcBef>
                <a:buClrTx/>
                <a:buSzTx/>
                <a:buFontTx/>
                <a:buNone/>
              </a:pPr>
              <a:r>
                <a:rPr lang="zh-CN" altLang="en-US" sz="2400">
                  <a:solidFill>
                    <a:schemeClr val="accent2"/>
                  </a:solidFill>
                  <a:latin typeface="黑体" panose="02010609060101010101" pitchFamily="49" charset="-122"/>
                  <a:ea typeface="黑体" panose="02010609060101010101" pitchFamily="49" charset="-122"/>
                </a:rPr>
                <a:t>降低成本</a:t>
              </a:r>
              <a:endParaRPr lang="en-US" altLang="zh-CN" sz="2400">
                <a:solidFill>
                  <a:schemeClr val="accent2"/>
                </a:solidFill>
                <a:latin typeface="黑体" panose="02010609060101010101" pitchFamily="49" charset="-122"/>
                <a:ea typeface="黑体" panose="02010609060101010101" pitchFamily="49" charset="-122"/>
              </a:endParaRPr>
            </a:p>
            <a:p>
              <a:pPr algn="ctr" eaLnBrk="1" hangingPunct="1">
                <a:spcBef>
                  <a:spcPct val="0"/>
                </a:spcBef>
                <a:buClrTx/>
                <a:buSzTx/>
                <a:buFontTx/>
                <a:buNone/>
              </a:pPr>
              <a:r>
                <a:rPr lang="zh-CN" altLang="en-US" sz="2400">
                  <a:solidFill>
                    <a:schemeClr val="accent2"/>
                  </a:solidFill>
                  <a:latin typeface="黑体" panose="02010609060101010101" pitchFamily="49" charset="-122"/>
                  <a:ea typeface="黑体" panose="02010609060101010101" pitchFamily="49" charset="-122"/>
                </a:rPr>
                <a:t>缩短工期</a:t>
              </a:r>
              <a:endParaRPr lang="zh-CN" altLang="en-US" sz="2400">
                <a:solidFill>
                  <a:schemeClr val="accent2"/>
                </a:solidFill>
                <a:latin typeface="黑体" panose="02010609060101010101" pitchFamily="49" charset="-122"/>
                <a:ea typeface="黑体" panose="02010609060101010101" pitchFamily="49" charset="-122"/>
              </a:endParaRPr>
            </a:p>
          </p:txBody>
        </p:sp>
        <p:cxnSp>
          <p:nvCxnSpPr>
            <p:cNvPr id="16" name="直接箭头连接符 15"/>
            <p:cNvCxnSpPr/>
            <p:nvPr/>
          </p:nvCxnSpPr>
          <p:spPr>
            <a:xfrm rot="5400000" flipH="1" flipV="1">
              <a:off x="1907947" y="1628830"/>
              <a:ext cx="1367082" cy="107959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endCxn id="10" idx="1"/>
            </p:cNvCxnSpPr>
            <p:nvPr/>
          </p:nvCxnSpPr>
          <p:spPr>
            <a:xfrm rot="16200000" flipH="1">
              <a:off x="1889207" y="4166752"/>
              <a:ext cx="1476639" cy="129583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9" idx="3"/>
              <a:endCxn id="11" idx="1"/>
            </p:cNvCxnSpPr>
            <p:nvPr/>
          </p:nvCxnSpPr>
          <p:spPr>
            <a:xfrm>
              <a:off x="3059203" y="3428532"/>
              <a:ext cx="3168295"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3" idx="3"/>
              <a:endCxn id="11" idx="0"/>
            </p:cNvCxnSpPr>
            <p:nvPr/>
          </p:nvCxnSpPr>
          <p:spPr>
            <a:xfrm>
              <a:off x="5636446" y="1283437"/>
              <a:ext cx="1744323" cy="14972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11" idx="2"/>
            </p:cNvCxnSpPr>
            <p:nvPr/>
          </p:nvCxnSpPr>
          <p:spPr>
            <a:xfrm flipV="1">
              <a:off x="5724542" y="4076347"/>
              <a:ext cx="1656227" cy="158460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sp>
        <p:nvSpPr>
          <p:cNvPr id="21" name="标题 1"/>
          <p:cNvSpPr txBox="1"/>
          <p:nvPr/>
        </p:nvSpPr>
        <p:spPr>
          <a:xfrm>
            <a:off x="539750" y="-17463"/>
            <a:ext cx="7772400" cy="1143001"/>
          </a:xfrm>
          <a:prstGeom prst="rect">
            <a:avLst/>
          </a:prstGeom>
        </p:spPr>
        <p:txBody>
          <a:bodyPr>
            <a:normAutofit/>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pPr>
              <a:defRPr/>
            </a:pPr>
            <a:r>
              <a:rPr lang="zh-CN" altLang="en-US" sz="4000" kern="0" dirty="0" smtClean="0">
                <a:solidFill>
                  <a:schemeClr val="tx1"/>
                </a:solidFill>
                <a:latin typeface="宋体" panose="02010600030101010101" pitchFamily="2" charset="-122"/>
              </a:rPr>
              <a:t>印尼亚齐项目设计优化</a:t>
            </a:r>
            <a:endParaRPr lang="zh-CN" altLang="en-US" sz="4000" kern="0" dirty="0">
              <a:solidFill>
                <a:schemeClr val="tx1"/>
              </a:solidFill>
              <a:latin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5"/>
                                        </p:tgtEl>
                                        <p:attrNameLst>
                                          <p:attrName>ppt_x</p:attrName>
                                        </p:attrNameLst>
                                      </p:cBhvr>
                                      <p:tavLst>
                                        <p:tav tm="0">
                                          <p:val>
                                            <p:strVal val="ppt_x"/>
                                          </p:val>
                                        </p:tav>
                                        <p:tav tm="100000">
                                          <p:val>
                                            <p:strVal val="ppt_x"/>
                                          </p:val>
                                        </p:tav>
                                      </p:tavLst>
                                    </p:anim>
                                    <p:anim calcmode="lin" valueType="num">
                                      <p:cBhvr additive="base">
                                        <p:cTn id="12" dur="500"/>
                                        <p:tgtEl>
                                          <p:spTgt spid="5"/>
                                        </p:tgtEl>
                                        <p:attrNameLst>
                                          <p:attrName>ppt_y</p:attrName>
                                        </p:attrNameLst>
                                      </p:cBhvr>
                                      <p:tavLst>
                                        <p:tav tm="0">
                                          <p:val>
                                            <p:strVal val="ppt_y"/>
                                          </p:val>
                                        </p:tav>
                                        <p:tav tm="100000">
                                          <p:val>
                                            <p:strVal val="1+ppt_h/2"/>
                                          </p:val>
                                        </p:tav>
                                      </p:tavLst>
                                    </p:anim>
                                    <p:set>
                                      <p:cBhvr>
                                        <p:cTn id="13" dur="1" fill="hold">
                                          <p:stCondLst>
                                            <p:cond delay="499"/>
                                          </p:stCondLst>
                                        </p:cTn>
                                        <p:tgtEl>
                                          <p:spTgt spid="5"/>
                                        </p:tgtEl>
                                        <p:attrNameLst>
                                          <p:attrName>style.visibility</p:attrName>
                                        </p:attrNameLst>
                                      </p:cBhvr>
                                      <p:to>
                                        <p:strVal val="hidden"/>
                                      </p:to>
                                    </p:set>
                                  </p:childTnLst>
                                </p:cTn>
                              </p:par>
                              <p:par>
                                <p:cTn id="14" presetID="2" presetClass="exit" presetSubtype="4" fill="hold" nodeType="withEffect">
                                  <p:stCondLst>
                                    <p:cond delay="0"/>
                                  </p:stCondLst>
                                  <p:childTnLst>
                                    <p:anim calcmode="lin" valueType="num">
                                      <p:cBhvr additive="base">
                                        <p:cTn id="15" dur="500"/>
                                        <p:tgtEl>
                                          <p:spTgt spid="6"/>
                                        </p:tgtEl>
                                        <p:attrNameLst>
                                          <p:attrName>ppt_x</p:attrName>
                                        </p:attrNameLst>
                                      </p:cBhvr>
                                      <p:tavLst>
                                        <p:tav tm="0">
                                          <p:val>
                                            <p:strVal val="ppt_x"/>
                                          </p:val>
                                        </p:tav>
                                        <p:tav tm="100000">
                                          <p:val>
                                            <p:strVal val="ppt_x"/>
                                          </p:val>
                                        </p:tav>
                                      </p:tavLst>
                                    </p:anim>
                                    <p:anim calcmode="lin" valueType="num">
                                      <p:cBhvr additive="base">
                                        <p:cTn id="16" dur="500"/>
                                        <p:tgtEl>
                                          <p:spTgt spid="6"/>
                                        </p:tgtEl>
                                        <p:attrNameLst>
                                          <p:attrName>ppt_y</p:attrName>
                                        </p:attrNameLst>
                                      </p:cBhvr>
                                      <p:tavLst>
                                        <p:tav tm="0">
                                          <p:val>
                                            <p:strVal val="ppt_y"/>
                                          </p:val>
                                        </p:tav>
                                        <p:tav tm="100000">
                                          <p:val>
                                            <p:strVal val="1+ppt_h/2"/>
                                          </p:val>
                                        </p:tav>
                                      </p:tavLst>
                                    </p:anim>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0C866D36-55B6-4668-B469-ACF564345B8C}"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
        <p:nvSpPr>
          <p:cNvPr id="3" name="内容占位符 2"/>
          <p:cNvSpPr txBox="1"/>
          <p:nvPr/>
        </p:nvSpPr>
        <p:spPr>
          <a:xfrm>
            <a:off x="323850" y="1196975"/>
            <a:ext cx="8712200" cy="4679950"/>
          </a:xfrm>
          <a:prstGeom prst="rect">
            <a:avLst/>
          </a:prstGeom>
        </p:spPr>
        <p:txBody>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2"/>
                </a:solidFill>
                <a:latin typeface="+mn-lt"/>
              </a:defRPr>
            </a:lvl2pPr>
            <a:lvl3pPr marL="1143000" indent="-228600" algn="l" rtl="0" eaLnBrk="0" fontAlgn="base" hangingPunct="0">
              <a:spcBef>
                <a:spcPct val="20000"/>
              </a:spcBef>
              <a:spcAft>
                <a:spcPct val="0"/>
              </a:spcAft>
              <a:buClr>
                <a:schemeClr val="tx2"/>
              </a:buClr>
              <a:buChar char="•"/>
              <a:defRPr sz="2400">
                <a:solidFill>
                  <a:schemeClr val="tx2"/>
                </a:solidFill>
                <a:latin typeface="+mn-lt"/>
              </a:defRPr>
            </a:lvl3pPr>
            <a:lvl4pPr marL="1600200" indent="-228600" algn="l" rtl="0" eaLnBrk="0" fontAlgn="base" hangingPunct="0">
              <a:spcBef>
                <a:spcPct val="20000"/>
              </a:spcBef>
              <a:spcAft>
                <a:spcPct val="0"/>
              </a:spcAft>
              <a:buClr>
                <a:schemeClr val="tx2"/>
              </a:buClr>
              <a:buChar char="–"/>
              <a:defRPr sz="2000">
                <a:solidFill>
                  <a:schemeClr val="tx2"/>
                </a:solidFill>
                <a:latin typeface="+mn-lt"/>
              </a:defRPr>
            </a:lvl4pPr>
            <a:lvl5pPr marL="2057400" indent="-228600" algn="l" rtl="0" eaLnBrk="0" fontAlgn="base" hangingPunct="0">
              <a:spcBef>
                <a:spcPct val="20000"/>
              </a:spcBef>
              <a:spcAft>
                <a:spcPct val="0"/>
              </a:spcAft>
              <a:buClr>
                <a:schemeClr val="tx2"/>
              </a:buClr>
              <a:buChar char="»"/>
              <a:defRPr sz="2000">
                <a:solidFill>
                  <a:schemeClr val="tx2"/>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 typeface="Wingdings" panose="05000000000000000000" pitchFamily="2" charset="2"/>
              <a:buChar char="Ø"/>
              <a:defRPr/>
            </a:pPr>
            <a:r>
              <a:rPr lang="en-US" altLang="zh-CN" kern="0" dirty="0" smtClean="0">
                <a:solidFill>
                  <a:schemeClr val="tx1"/>
                </a:solidFill>
                <a:latin typeface="仿宋_GB2312" pitchFamily="49" charset="-122"/>
                <a:ea typeface="仿宋_GB2312" pitchFamily="49" charset="-122"/>
              </a:rPr>
              <a:t> </a:t>
            </a:r>
            <a:r>
              <a:rPr lang="zh-CN" altLang="en-US" kern="0" dirty="0" smtClean="0">
                <a:solidFill>
                  <a:schemeClr val="tx1"/>
                </a:solidFill>
                <a:latin typeface="宋体" panose="02010600030101010101" pitchFamily="2" charset="-122"/>
              </a:rPr>
              <a:t>印尼亚齐</a:t>
            </a:r>
            <a:r>
              <a:rPr lang="en-US" altLang="zh-CN" kern="0" dirty="0" smtClean="0">
                <a:solidFill>
                  <a:schemeClr val="tx1"/>
                </a:solidFill>
                <a:latin typeface="宋体" panose="02010600030101010101" pitchFamily="2" charset="-122"/>
              </a:rPr>
              <a:t>EPC</a:t>
            </a:r>
            <a:r>
              <a:rPr lang="zh-CN" altLang="en-US" kern="0" dirty="0" smtClean="0">
                <a:solidFill>
                  <a:schemeClr val="tx1"/>
                </a:solidFill>
                <a:latin typeface="宋体" panose="02010600030101010101" pitchFamily="2" charset="-122"/>
              </a:rPr>
              <a:t>项目的设计管理贯穿从项目策划、实施、评审到改进的全过程。设计是项目的技术核心，是影响项目成功与否的关键。</a:t>
            </a:r>
            <a:endParaRPr lang="en-US" altLang="zh-CN" kern="0" dirty="0" smtClean="0">
              <a:solidFill>
                <a:schemeClr val="tx1"/>
              </a:solidFill>
              <a:latin typeface="宋体" panose="02010600030101010101" pitchFamily="2" charset="-122"/>
            </a:endParaRPr>
          </a:p>
          <a:p>
            <a:pPr>
              <a:buFont typeface="Wingdings" panose="05000000000000000000" pitchFamily="2" charset="2"/>
              <a:buChar char="Ø"/>
              <a:defRPr/>
            </a:pPr>
            <a:r>
              <a:rPr lang="zh-CN" altLang="en-US" kern="0" dirty="0" smtClean="0">
                <a:solidFill>
                  <a:schemeClr val="tx1"/>
                </a:solidFill>
                <a:latin typeface="宋体" panose="02010600030101010101" pitchFamily="2" charset="-122"/>
              </a:rPr>
              <a:t>本项目码头和防波堤的设计任务由中交二航院和当地设计院</a:t>
            </a:r>
            <a:r>
              <a:rPr lang="en-US" altLang="zh-CN" kern="0" dirty="0" err="1" smtClean="0">
                <a:solidFill>
                  <a:schemeClr val="tx1"/>
                </a:solidFill>
                <a:latin typeface="Times New Roman" panose="02020603050405020304" pitchFamily="18" charset="0"/>
                <a:cs typeface="Times New Roman" panose="02020603050405020304" pitchFamily="18" charset="0"/>
              </a:rPr>
              <a:t>PT.Atrya</a:t>
            </a:r>
            <a:r>
              <a:rPr lang="en-US" altLang="zh-CN" kern="0" dirty="0" smtClean="0">
                <a:solidFill>
                  <a:schemeClr val="tx1"/>
                </a:solidFill>
                <a:latin typeface="Times New Roman" panose="02020603050405020304" pitchFamily="18" charset="0"/>
                <a:cs typeface="Times New Roman" panose="02020603050405020304" pitchFamily="18" charset="0"/>
              </a:rPr>
              <a:t> </a:t>
            </a:r>
            <a:r>
              <a:rPr lang="en-US" altLang="zh-CN" kern="0" dirty="0" err="1" smtClean="0">
                <a:solidFill>
                  <a:schemeClr val="tx1"/>
                </a:solidFill>
                <a:latin typeface="Times New Roman" panose="02020603050405020304" pitchFamily="18" charset="0"/>
                <a:cs typeface="Times New Roman" panose="02020603050405020304" pitchFamily="18" charset="0"/>
              </a:rPr>
              <a:t>Swascipta</a:t>
            </a:r>
            <a:r>
              <a:rPr lang="en-US" altLang="zh-CN" kern="0" dirty="0" smtClean="0">
                <a:solidFill>
                  <a:schemeClr val="tx1"/>
                </a:solidFill>
                <a:latin typeface="Times New Roman" panose="02020603050405020304" pitchFamily="18" charset="0"/>
                <a:cs typeface="Times New Roman" panose="02020603050405020304" pitchFamily="18" charset="0"/>
              </a:rPr>
              <a:t> </a:t>
            </a:r>
            <a:r>
              <a:rPr lang="en-US" altLang="zh-CN" kern="0" dirty="0" err="1" smtClean="0">
                <a:solidFill>
                  <a:schemeClr val="tx1"/>
                </a:solidFill>
                <a:latin typeface="Times New Roman" panose="02020603050405020304" pitchFamily="18" charset="0"/>
                <a:cs typeface="Times New Roman" panose="02020603050405020304" pitchFamily="18" charset="0"/>
              </a:rPr>
              <a:t>Rekayasa</a:t>
            </a:r>
            <a:r>
              <a:rPr lang="zh-CN" altLang="en-US" kern="0" dirty="0" smtClean="0">
                <a:solidFill>
                  <a:schemeClr val="tx1"/>
                </a:solidFill>
                <a:latin typeface="宋体" panose="02010600030101010101" pitchFamily="2" charset="-122"/>
              </a:rPr>
              <a:t>联合设计。有效</a:t>
            </a:r>
            <a:r>
              <a:rPr lang="zh-CN" altLang="en-US" kern="0" dirty="0">
                <a:solidFill>
                  <a:schemeClr val="tx1"/>
                </a:solidFill>
                <a:latin typeface="宋体" panose="02010600030101010101" pitchFamily="2" charset="-122"/>
              </a:rPr>
              <a:t>利用</a:t>
            </a:r>
            <a:r>
              <a:rPr lang="zh-CN" altLang="en-US" kern="0" dirty="0" smtClean="0">
                <a:solidFill>
                  <a:schemeClr val="tx1"/>
                </a:solidFill>
                <a:latin typeface="宋体" panose="02010600030101010101" pitchFamily="2" charset="-122"/>
              </a:rPr>
              <a:t>了当地设计资源，大大的节省了造价。</a:t>
            </a:r>
            <a:endParaRPr lang="zh-CN" altLang="en-US" kern="0" dirty="0">
              <a:latin typeface="宋体" panose="02010600030101010101" pitchFamily="2" charset="-122"/>
            </a:endParaRPr>
          </a:p>
        </p:txBody>
      </p:sp>
      <p:sp>
        <p:nvSpPr>
          <p:cNvPr id="20" name="标题 1"/>
          <p:cNvSpPr txBox="1"/>
          <p:nvPr/>
        </p:nvSpPr>
        <p:spPr>
          <a:xfrm>
            <a:off x="539750" y="76200"/>
            <a:ext cx="7772400" cy="1143000"/>
          </a:xfrm>
          <a:prstGeom prst="rect">
            <a:avLst/>
          </a:prstGeom>
        </p:spPr>
        <p:txBody>
          <a:bodyPr>
            <a:normAutofit/>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a:lstStyle>
          <a:p>
            <a:pPr>
              <a:defRPr/>
            </a:pPr>
            <a:r>
              <a:rPr lang="zh-CN" altLang="en-US" sz="4000" kern="0" dirty="0" smtClean="0">
                <a:solidFill>
                  <a:schemeClr val="tx1"/>
                </a:solidFill>
                <a:latin typeface="宋体" panose="02010600030101010101" pitchFamily="2" charset="-122"/>
              </a:rPr>
              <a:t>印尼亚齐项目设计管理</a:t>
            </a:r>
            <a:endParaRPr lang="zh-CN" altLang="en-US" sz="4000" kern="0" dirty="0">
              <a:solidFill>
                <a:schemeClr val="tx1"/>
              </a:solidFill>
              <a:latin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468313" y="2349500"/>
            <a:ext cx="8458200" cy="563563"/>
          </a:xfrm>
        </p:spPr>
        <p:txBody>
          <a:bodyPr/>
          <a:lstStyle/>
          <a:p>
            <a:pPr>
              <a:defRPr/>
            </a:pPr>
            <a:r>
              <a:rPr lang="zh-CN" altLang="en-US" smtClean="0">
                <a:latin typeface="Times New Roman" panose="02020603050405020304" pitchFamily="18" charset="0"/>
                <a:cs typeface="Times New Roman" panose="02020603050405020304" pitchFamily="18" charset="0"/>
              </a:rPr>
              <a:t>ＳＲ９９　Ｂｏｒｅｄ　Ｔｕｎｎｅｌ</a:t>
            </a:r>
            <a:endParaRPr lang="zh-CN" altLang="en-US" smtClean="0">
              <a:latin typeface="Times New Roman" panose="02020603050405020304" pitchFamily="18" charset="0"/>
              <a:cs typeface="Times New Roman" panose="02020603050405020304" pitchFamily="18" charset="0"/>
            </a:endParaRPr>
          </a:p>
        </p:txBody>
      </p:sp>
      <p:pic>
        <p:nvPicPr>
          <p:cNvPr id="72707" name="内容占位符 4"/>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5149850" y="1268413"/>
            <a:ext cx="4005263" cy="5040312"/>
          </a:xfrm>
        </p:spPr>
      </p:pic>
      <p:sp>
        <p:nvSpPr>
          <p:cNvPr id="7270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8EABCF93-42B8-4B25-A347-CE3200FFA77A}"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
        <p:nvSpPr>
          <p:cNvPr id="72709" name="矩形 5"/>
          <p:cNvSpPr>
            <a:spLocks noChangeArrowheads="1"/>
          </p:cNvSpPr>
          <p:nvPr/>
        </p:nvSpPr>
        <p:spPr bwMode="auto">
          <a:xfrm>
            <a:off x="611188" y="-74613"/>
            <a:ext cx="7634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lgn="ctr" eaLnBrk="1" hangingPunct="1">
              <a:spcBef>
                <a:spcPct val="0"/>
              </a:spcBef>
              <a:buClrTx/>
              <a:buSzTx/>
              <a:buFontTx/>
              <a:buNone/>
            </a:pPr>
            <a:r>
              <a:rPr lang="zh-CN" altLang="zh-CN" sz="4800">
                <a:latin typeface="隶书" panose="02010509060101010101" pitchFamily="49" charset="-122"/>
              </a:rPr>
              <a:t> </a:t>
            </a:r>
            <a:r>
              <a:rPr lang="en-AU" altLang="zh-CN">
                <a:latin typeface="Times New Roman" panose="02020603050405020304" pitchFamily="18" charset="0"/>
                <a:cs typeface="Times New Roman" panose="02020603050405020304" pitchFamily="18" charset="0"/>
              </a:rPr>
              <a:t>SR99 Bored Tunnel Project</a:t>
            </a:r>
            <a:endParaRPr lang="zh-CN" altLang="zh-CN">
              <a:latin typeface="Times New Roman" panose="02020603050405020304" pitchFamily="18" charset="0"/>
              <a:cs typeface="Times New Roman" panose="02020603050405020304" pitchFamily="18" charset="0"/>
            </a:endParaRPr>
          </a:p>
        </p:txBody>
      </p:sp>
      <p:pic>
        <p:nvPicPr>
          <p:cNvPr id="72710"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412875"/>
            <a:ext cx="3643312"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文本框 9"/>
          <p:cNvSpPr txBox="1">
            <a:spLocks noChangeArrowheads="1"/>
          </p:cNvSpPr>
          <p:nvPr/>
        </p:nvSpPr>
        <p:spPr bwMode="auto">
          <a:xfrm>
            <a:off x="0" y="5170488"/>
            <a:ext cx="5219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 typeface="Wingdings" panose="05000000000000000000" pitchFamily="2" charset="2"/>
              <a:buChar char="Ø"/>
            </a:pPr>
            <a:r>
              <a:rPr lang="en-US" altLang="zh-CN" sz="2400">
                <a:latin typeface="宋体" panose="02010600030101010101" pitchFamily="2" charset="-122"/>
              </a:rPr>
              <a:t>DB</a:t>
            </a:r>
            <a:r>
              <a:rPr lang="zh-CN" altLang="en-US" sz="2400">
                <a:latin typeface="宋体" panose="02010600030101010101" pitchFamily="2" charset="-122"/>
              </a:rPr>
              <a:t>交通项目交付模式在美国</a:t>
            </a:r>
            <a:r>
              <a:rPr lang="en-US" altLang="zh-CN" sz="2400">
                <a:latin typeface="宋体" panose="02010600030101010101" pitchFamily="2" charset="-122"/>
              </a:rPr>
              <a:t>48</a:t>
            </a:r>
            <a:r>
              <a:rPr lang="zh-CN" altLang="en-US" sz="2400">
                <a:latin typeface="宋体" panose="02010600030101010101" pitchFamily="2" charset="-122"/>
              </a:rPr>
              <a:t>个州推广</a:t>
            </a:r>
            <a:endParaRPr lang="en-US" altLang="zh-CN" sz="2400">
              <a:latin typeface="宋体" panose="02010600030101010101" pitchFamily="2" charset="-122"/>
            </a:endParaRPr>
          </a:p>
          <a:p>
            <a:pPr>
              <a:spcBef>
                <a:spcPct val="0"/>
              </a:spcBef>
              <a:buClrTx/>
              <a:buSzTx/>
              <a:buFont typeface="Wingdings" panose="05000000000000000000" pitchFamily="2" charset="2"/>
              <a:buChar char="Ø"/>
            </a:pPr>
            <a:r>
              <a:rPr lang="zh-CN" altLang="en-US" sz="2400">
                <a:latin typeface="宋体" panose="02010600030101010101" pitchFamily="2" charset="-122"/>
              </a:rPr>
              <a:t>项目参与方建立了良好的伙伴关系</a:t>
            </a:r>
            <a:endParaRPr lang="zh-CN" altLang="en-US" sz="2400">
              <a:latin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内容占位符 2"/>
          <p:cNvSpPr>
            <a:spLocks noGrp="1"/>
          </p:cNvSpPr>
          <p:nvPr>
            <p:ph idx="1"/>
          </p:nvPr>
        </p:nvSpPr>
        <p:spPr>
          <a:xfrm>
            <a:off x="179388" y="1196975"/>
            <a:ext cx="8507412" cy="5040313"/>
          </a:xfrm>
        </p:spPr>
        <p:txBody>
          <a:bodyPr/>
          <a:lstStyle/>
          <a:p>
            <a:pPr marL="0" indent="0">
              <a:buFont typeface="Wingdings" panose="05000000000000000000" pitchFamily="2" charset="2"/>
              <a:buNone/>
              <a:defRPr/>
            </a:pPr>
            <a:r>
              <a:rPr lang="en-US" altLang="zh-CN" sz="3000" b="1" dirty="0" err="1" smtClean="0">
                <a:solidFill>
                  <a:srgbClr val="FF0000"/>
                </a:solidFill>
                <a:latin typeface="Times New Roman" panose="02020603050405020304" pitchFamily="18" charset="0"/>
                <a:cs typeface="Times New Roman" panose="02020603050405020304" pitchFamily="18" charset="0"/>
              </a:rPr>
              <a:t>Preaward</a:t>
            </a:r>
            <a:r>
              <a:rPr lang="en-US" altLang="zh-CN" sz="3000" b="1" dirty="0" smtClean="0">
                <a:solidFill>
                  <a:srgbClr val="FF0000"/>
                </a:solidFill>
                <a:latin typeface="Times New Roman" panose="02020603050405020304" pitchFamily="18" charset="0"/>
                <a:cs typeface="Times New Roman" panose="02020603050405020304" pitchFamily="18" charset="0"/>
              </a:rPr>
              <a:t> value Engineering: </a:t>
            </a:r>
            <a:endParaRPr lang="en-US" altLang="zh-CN" sz="3000" b="1" dirty="0" smtClean="0">
              <a:solidFill>
                <a:srgbClr val="FF0000"/>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AutoNum type="arabicParenR"/>
              <a:defRPr/>
            </a:pPr>
            <a:r>
              <a:rPr lang="en-US" altLang="zh-CN" sz="2800" dirty="0" smtClean="0">
                <a:latin typeface="Times New Roman" panose="02020603050405020304" pitchFamily="18" charset="0"/>
                <a:cs typeface="Times New Roman" panose="02020603050405020304" pitchFamily="18" charset="0"/>
              </a:rPr>
              <a:t>The Alternative Technical Concepts (ATC) is approved.</a:t>
            </a:r>
            <a:endParaRPr lang="en-US" altLang="zh-CN" sz="2800" dirty="0" smtClean="0">
              <a:latin typeface="Times New Roman" panose="02020603050405020304" pitchFamily="18" charset="0"/>
              <a:cs typeface="Times New Roman" panose="02020603050405020304" pitchFamily="18" charset="0"/>
            </a:endParaRPr>
          </a:p>
          <a:p>
            <a:pPr marL="0" indent="0">
              <a:buFont typeface="Wingdings" panose="05000000000000000000" pitchFamily="2" charset="2"/>
              <a:buAutoNum type="arabicParenR"/>
              <a:defRPr/>
            </a:pPr>
            <a:r>
              <a:rPr lang="en-US" altLang="zh-CN" sz="2800" dirty="0" smtClean="0">
                <a:latin typeface="Times New Roman" panose="02020603050405020304" pitchFamily="18" charset="0"/>
                <a:cs typeface="Times New Roman" panose="02020603050405020304" pitchFamily="18" charset="0"/>
              </a:rPr>
              <a:t>The ATC is not approved.</a:t>
            </a:r>
            <a:endParaRPr lang="en-US" altLang="zh-CN" sz="2800" dirty="0" smtClean="0">
              <a:latin typeface="Times New Roman" panose="02020603050405020304" pitchFamily="18" charset="0"/>
              <a:cs typeface="Times New Roman" panose="02020603050405020304" pitchFamily="18" charset="0"/>
            </a:endParaRPr>
          </a:p>
          <a:p>
            <a:pPr marL="0" indent="0">
              <a:buFont typeface="Wingdings" panose="05000000000000000000" pitchFamily="2" charset="2"/>
              <a:buAutoNum type="arabicParenR"/>
              <a:defRPr/>
            </a:pPr>
            <a:r>
              <a:rPr lang="en-US" altLang="zh-CN" sz="2800" dirty="0" smtClean="0">
                <a:latin typeface="Times New Roman" panose="02020603050405020304" pitchFamily="18" charset="0"/>
                <a:cs typeface="Times New Roman" panose="02020603050405020304" pitchFamily="18" charset="0"/>
              </a:rPr>
              <a:t>The ATC is not approved in its original form but may be reconsidered for approval upon achievement</a:t>
            </a:r>
            <a:r>
              <a:rPr lang="en-US" altLang="zh-CN"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en-US" altLang="zh-CN" sz="3000" b="1" dirty="0" err="1" smtClean="0">
                <a:solidFill>
                  <a:srgbClr val="FF0000"/>
                </a:solidFill>
                <a:latin typeface="Times New Roman" panose="02020603050405020304" pitchFamily="18" charset="0"/>
                <a:cs typeface="Times New Roman" panose="02020603050405020304" pitchFamily="18" charset="0"/>
              </a:rPr>
              <a:t>Postaward</a:t>
            </a:r>
            <a:r>
              <a:rPr lang="en-US" altLang="zh-CN" sz="3000" b="1" dirty="0" smtClean="0">
                <a:solidFill>
                  <a:srgbClr val="FF0000"/>
                </a:solidFill>
                <a:latin typeface="Times New Roman" panose="02020603050405020304" pitchFamily="18" charset="0"/>
                <a:cs typeface="Times New Roman" panose="02020603050405020304" pitchFamily="18" charset="0"/>
              </a:rPr>
              <a:t> Value Engineering:</a:t>
            </a:r>
            <a:endParaRPr lang="en-US" altLang="zh-CN" sz="3000" b="1" dirty="0" smtClean="0">
              <a:solidFill>
                <a:srgbClr val="FF0000"/>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en-US" altLang="zh-CN" sz="2800" dirty="0" smtClean="0">
                <a:latin typeface="Times New Roman" panose="02020603050405020304" pitchFamily="18" charset="0"/>
                <a:cs typeface="Times New Roman" panose="02020603050405020304" pitchFamily="18" charset="0"/>
              </a:rPr>
              <a:t>The Client also encouraged the design-builder to submit value engineering(VE) change proposals by awarding all or part of the associated cost savings.</a:t>
            </a:r>
            <a:endParaRPr lang="zh-CN" altLang="en-US" sz="2800" dirty="0" smtClean="0">
              <a:latin typeface="Times New Roman" panose="02020603050405020304" pitchFamily="18" charset="0"/>
              <a:cs typeface="Times New Roman" panose="02020603050405020304" pitchFamily="18" charset="0"/>
            </a:endParaRPr>
          </a:p>
        </p:txBody>
      </p:sp>
      <p:sp>
        <p:nvSpPr>
          <p:cNvPr id="73731"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a:spcBef>
                <a:spcPct val="0"/>
              </a:spcBef>
              <a:buClrTx/>
              <a:buSzTx/>
              <a:buFontTx/>
              <a:buNone/>
            </a:pPr>
            <a:fld id="{A6175E73-A05F-44F3-90B2-EFE233BA11E6}" type="slidenum">
              <a:rPr lang="en-US" altLang="zh-CN" sz="1400" smtClean="0">
                <a:latin typeface="Verdana" panose="020B0604030504040204" pitchFamily="34" charset="0"/>
              </a:rPr>
            </a:fld>
            <a:endParaRPr lang="en-US" altLang="zh-CN" sz="1400" smtClean="0">
              <a:latin typeface="Verdana" panose="020B0604030504040204" pitchFamily="34" charset="0"/>
            </a:endParaRPr>
          </a:p>
        </p:txBody>
      </p:sp>
      <p:sp>
        <p:nvSpPr>
          <p:cNvPr id="95236" name="矩形 5"/>
          <p:cNvSpPr>
            <a:spLocks noGrp="1" noChangeArrowheads="1"/>
          </p:cNvSpPr>
          <p:nvPr>
            <p:ph type="title"/>
          </p:nvPr>
        </p:nvSpPr>
        <p:spPr>
          <a:xfrm>
            <a:off x="228600" y="31750"/>
            <a:ext cx="8458200" cy="563563"/>
          </a:xfrm>
        </p:spPr>
        <p:txBody>
          <a:bodyPr>
            <a:spAutoFit/>
          </a:bodyPr>
          <a:lstStyle/>
          <a:p>
            <a:pPr eaLnBrk="1" hangingPunct="1">
              <a:defRPr/>
            </a:pPr>
            <a:r>
              <a:rPr lang="zh-CN" altLang="zh-CN" sz="4800" smtClean="0">
                <a:solidFill>
                  <a:schemeClr val="accent2"/>
                </a:solidFill>
                <a:latin typeface="隶书" panose="02010509060101010101" pitchFamily="49" charset="-122"/>
                <a:ea typeface="隶书" panose="02010509060101010101" pitchFamily="49" charset="-122"/>
              </a:rPr>
              <a:t> </a:t>
            </a:r>
            <a:r>
              <a:rPr lang="en-AU" altLang="zh-CN" smtClean="0">
                <a:latin typeface="Times New Roman" panose="02020603050405020304" pitchFamily="18" charset="0"/>
                <a:cs typeface="Times New Roman" panose="02020603050405020304" pitchFamily="18" charset="0"/>
              </a:rPr>
              <a:t>SR99 Bored Tunnel Project</a:t>
            </a:r>
            <a:endParaRPr lang="zh-CN" altLang="zh-CN" smtClean="0">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2" name="Rectangle 4"/>
          <p:cNvSpPr>
            <a:spLocks noGrp="1" noRot="1" noChangeArrowheads="1"/>
          </p:cNvSpPr>
          <p:nvPr>
            <p:ph type="title"/>
          </p:nvPr>
        </p:nvSpPr>
        <p:spPr>
          <a:xfrm>
            <a:off x="301625" y="685800"/>
            <a:ext cx="8540750" cy="1143000"/>
          </a:xfrm>
        </p:spPr>
        <p:txBody>
          <a:bodyPr/>
          <a:lstStyle/>
          <a:p>
            <a:pPr eaLnBrk="1" hangingPunct="1">
              <a:defRPr/>
            </a:pPr>
            <a:r>
              <a:rPr lang="zh-CN" altLang="en-US" smtClean="0">
                <a:solidFill>
                  <a:srgbClr val="FF0000"/>
                </a:solidFill>
              </a:rPr>
              <a:t>方案评价</a:t>
            </a:r>
            <a:endParaRPr lang="zh-CN" altLang="en-US" smtClean="0">
              <a:solidFill>
                <a:srgbClr val="FF0000"/>
              </a:solidFill>
            </a:endParaRPr>
          </a:p>
        </p:txBody>
      </p:sp>
      <p:sp>
        <p:nvSpPr>
          <p:cNvPr id="1010693" name="Rectangle 5"/>
          <p:cNvSpPr>
            <a:spLocks noGrp="1" noRot="1" noChangeArrowheads="1"/>
          </p:cNvSpPr>
          <p:nvPr>
            <p:ph type="body" idx="1"/>
          </p:nvPr>
        </p:nvSpPr>
        <p:spPr>
          <a:xfrm>
            <a:off x="3132138" y="2205038"/>
            <a:ext cx="8540750" cy="3886200"/>
          </a:xfrm>
        </p:spPr>
        <p:txBody>
          <a:bodyPr/>
          <a:lstStyle/>
          <a:p>
            <a:pPr eaLnBrk="1" hangingPunct="1">
              <a:defRPr/>
            </a:pPr>
            <a:r>
              <a:rPr lang="zh-CN" altLang="en-US" sz="3600" smtClean="0"/>
              <a:t>经济效益</a:t>
            </a:r>
            <a:endParaRPr lang="zh-CN" altLang="en-US" sz="3600" smtClean="0"/>
          </a:p>
          <a:p>
            <a:pPr eaLnBrk="1" hangingPunct="1">
              <a:defRPr/>
            </a:pPr>
            <a:r>
              <a:rPr lang="zh-CN" altLang="en-US" sz="3600" smtClean="0"/>
              <a:t>技术效益</a:t>
            </a:r>
            <a:endParaRPr lang="zh-CN" altLang="en-US" sz="3600" smtClean="0"/>
          </a:p>
          <a:p>
            <a:pPr eaLnBrk="1" hangingPunct="1">
              <a:defRPr/>
            </a:pPr>
            <a:r>
              <a:rPr lang="zh-CN" altLang="en-US" sz="3600" smtClean="0"/>
              <a:t>社会效益</a:t>
            </a:r>
            <a:endParaRPr lang="zh-CN" altLang="en-US" sz="3600" smtClean="0"/>
          </a:p>
          <a:p>
            <a:pPr eaLnBrk="1" hangingPunct="1">
              <a:defRPr/>
            </a:pPr>
            <a:endParaRPr lang="zh-CN" altLang="en-US" sz="3600" smtClean="0"/>
          </a:p>
          <a:p>
            <a:pPr eaLnBrk="1" hangingPunct="1">
              <a:buFont typeface="Wingdings" panose="05000000000000000000" pitchFamily="2" charset="2"/>
              <a:buNone/>
              <a:defRPr/>
            </a:pPr>
            <a:endParaRPr lang="zh-CN" altLang="en-US" smtClean="0"/>
          </a:p>
        </p:txBody>
      </p:sp>
      <p:sp>
        <p:nvSpPr>
          <p:cNvPr id="74756" name="Text Box 6"/>
          <p:cNvSpPr txBox="1">
            <a:spLocks noChangeArrowheads="1"/>
          </p:cNvSpPr>
          <p:nvPr/>
        </p:nvSpPr>
        <p:spPr bwMode="auto">
          <a:xfrm>
            <a:off x="2771775" y="5373688"/>
            <a:ext cx="4248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ea typeface="宋体" panose="02010600030101010101" pitchFamily="2" charset="-122"/>
              </a:defRPr>
            </a:lvl9pPr>
          </a:lstStyle>
          <a:p>
            <a:pPr eaLnBrk="1" hangingPunct="1">
              <a:spcBef>
                <a:spcPct val="0"/>
              </a:spcBef>
              <a:buClrTx/>
              <a:buSzTx/>
              <a:buFontTx/>
              <a:buNone/>
            </a:pPr>
            <a:r>
              <a:rPr lang="zh-CN" altLang="en-US">
                <a:solidFill>
                  <a:srgbClr val="FFFF00"/>
                </a:solidFill>
              </a:rPr>
              <a:t>绝对值法、相对值法？</a:t>
            </a:r>
            <a:endParaRPr lang="zh-CN" altLang="en-US">
              <a:solidFill>
                <a:srgbClr val="FFFF00"/>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5"/>
          <p:cNvSpPr>
            <a:spLocks noGrp="1" noRot="1" noChangeArrowheads="1"/>
          </p:cNvSpPr>
          <p:nvPr>
            <p:ph type="title"/>
          </p:nvPr>
        </p:nvSpPr>
        <p:spPr/>
        <p:txBody>
          <a:bodyPr/>
          <a:lstStyle/>
          <a:p>
            <a:pPr eaLnBrk="1" hangingPunct="1"/>
            <a:r>
              <a:rPr lang="zh-CN" altLang="en-US" b="0" smtClean="0">
                <a:solidFill>
                  <a:srgbClr val="FFFF00"/>
                </a:solidFill>
                <a:effectLst/>
              </a:rPr>
              <a:t>绝对值法、相对值法讨论</a:t>
            </a:r>
            <a:endParaRPr lang="zh-CN" altLang="en-US" b="0" smtClean="0">
              <a:solidFill>
                <a:srgbClr val="FFFF00"/>
              </a:solidFill>
              <a:effectLst/>
            </a:endParaRPr>
          </a:p>
        </p:txBody>
      </p:sp>
      <p:graphicFrame>
        <p:nvGraphicFramePr>
          <p:cNvPr id="75779" name="Object 4"/>
          <p:cNvGraphicFramePr>
            <a:graphicFrameLocks noGrp="1" noChangeAspect="1"/>
          </p:cNvGraphicFramePr>
          <p:nvPr>
            <p:ph idx="1"/>
          </p:nvPr>
        </p:nvGraphicFramePr>
        <p:xfrm>
          <a:off x="323850" y="2349500"/>
          <a:ext cx="8820150" cy="1893888"/>
        </p:xfrm>
        <a:graphic>
          <a:graphicData uri="http://schemas.openxmlformats.org/presentationml/2006/ole">
            <mc:AlternateContent xmlns:mc="http://schemas.openxmlformats.org/markup-compatibility/2006">
              <mc:Choice xmlns:v="urn:schemas-microsoft-com:vml" Requires="v">
                <p:oleObj spid="_x0000_s75784" name="公式" r:id="rId1" imgW="2247900" imgH="482600" progId="Equation.3">
                  <p:embed/>
                </p:oleObj>
              </mc:Choice>
              <mc:Fallback>
                <p:oleObj name="公式" r:id="rId1" imgW="2247900"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349500"/>
                        <a:ext cx="8820150" cy="1893888"/>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2875" y="3789363"/>
            <a:ext cx="8715375" cy="2324100"/>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en-US" altLang="zh-CN" sz="2600" kern="0" dirty="0">
                <a:latin typeface="华文新魏" panose="02010800040101010101" pitchFamily="2" charset="-122"/>
                <a:ea typeface="华文新魏" panose="02010800040101010101" pitchFamily="2" charset="-122"/>
              </a:rPr>
              <a:t>11</a:t>
            </a:r>
            <a:r>
              <a:rPr lang="zh-CN" altLang="en-US" sz="2600" kern="0" dirty="0">
                <a:latin typeface="华文新魏" panose="02010800040101010101" pitchFamily="2" charset="-122"/>
                <a:ea typeface="华文新魏" panose="02010800040101010101" pitchFamily="2" charset="-122"/>
              </a:rPr>
              <a:t>月</a:t>
            </a:r>
            <a:r>
              <a:rPr lang="en-US" altLang="zh-CN" sz="2600" kern="0" dirty="0">
                <a:latin typeface="华文新魏" panose="02010800040101010101" pitchFamily="2" charset="-122"/>
                <a:ea typeface="华文新魏" panose="02010800040101010101" pitchFamily="2" charset="-122"/>
              </a:rPr>
              <a:t>16</a:t>
            </a:r>
            <a:r>
              <a:rPr lang="zh-CN" altLang="en-US" sz="2600" kern="0" dirty="0">
                <a:latin typeface="华文新魏" panose="02010800040101010101" pitchFamily="2" charset="-122"/>
                <a:ea typeface="华文新魏" panose="02010800040101010101" pitchFamily="2" charset="-122"/>
              </a:rPr>
              <a:t>日正式恢复上线载客运营</a:t>
            </a:r>
            <a:endParaRPr lang="en-US" altLang="zh-CN" sz="2600" kern="0" dirty="0">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latin typeface="华文新魏" panose="02010800040101010101" pitchFamily="2" charset="-122"/>
                <a:ea typeface="华文新魏" panose="02010800040101010101" pitchFamily="2" charset="-122"/>
              </a:rPr>
              <a:t>经试验验证、第三方评估和专家评审，已确认整改合格</a:t>
            </a:r>
            <a:endParaRPr lang="en-US" altLang="zh-CN" sz="2400" kern="0" dirty="0">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latin typeface="华文新魏" panose="02010800040101010101" pitchFamily="2" charset="-122"/>
                <a:ea typeface="华文新魏" panose="02010800040101010101" pitchFamily="2" charset="-122"/>
              </a:rPr>
              <a:t>铁路部：要加强质量跟踪和售后技术服务，加强养护维修和运用管理，以确保</a:t>
            </a:r>
            <a:r>
              <a:rPr lang="en-US" altLang="zh-CN" sz="2400" kern="0" dirty="0">
                <a:latin typeface="华文新魏" panose="02010800040101010101" pitchFamily="2" charset="-122"/>
                <a:ea typeface="华文新魏" panose="02010800040101010101" pitchFamily="2" charset="-122"/>
              </a:rPr>
              <a:t>CRH380BL</a:t>
            </a:r>
            <a:r>
              <a:rPr lang="zh-CN" altLang="en-US" sz="2400" kern="0" dirty="0">
                <a:latin typeface="华文新魏" panose="02010800040101010101" pitchFamily="2" charset="-122"/>
                <a:ea typeface="华文新魏" panose="02010800040101010101" pitchFamily="2" charset="-122"/>
              </a:rPr>
              <a:t>动车组运营安全稳定</a:t>
            </a:r>
            <a:endParaRPr lang="en-US" altLang="zh-CN" sz="2400" kern="0" dirty="0">
              <a:latin typeface="华文新魏" panose="02010800040101010101" pitchFamily="2" charset="-122"/>
              <a:ea typeface="华文新魏" panose="02010800040101010101" pitchFamily="2" charset="-122"/>
            </a:endParaRPr>
          </a:p>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latin typeface="华文新魏" panose="02010800040101010101" pitchFamily="2" charset="-122"/>
                <a:ea typeface="华文新魏" panose="02010800040101010101" pitchFamily="2" charset="-122"/>
              </a:rPr>
              <a:t> 影响</a:t>
            </a:r>
            <a:endParaRPr lang="en-US" altLang="zh-CN" sz="2600" kern="0" dirty="0">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latin typeface="华文新魏" panose="02010800040101010101" pitchFamily="2" charset="-122"/>
                <a:ea typeface="华文新魏" panose="02010800040101010101" pitchFamily="2" charset="-122"/>
              </a:rPr>
              <a:t>动车回归或将调图</a:t>
            </a:r>
            <a:endParaRPr lang="zh-CN" altLang="en-US" sz="2400" kern="0" dirty="0">
              <a:latin typeface="华文新魏" panose="02010800040101010101" pitchFamily="2" charset="-122"/>
              <a:ea typeface="华文新魏" panose="02010800040101010101" pitchFamily="2" charset="-122"/>
            </a:endParaRPr>
          </a:p>
        </p:txBody>
      </p:sp>
      <p:sp>
        <p:nvSpPr>
          <p:cNvPr id="7" name="矩形 6"/>
          <p:cNvSpPr/>
          <p:nvPr/>
        </p:nvSpPr>
        <p:spPr>
          <a:xfrm>
            <a:off x="323850" y="1412875"/>
            <a:ext cx="5072063" cy="1450975"/>
          </a:xfrm>
          <a:prstGeom prst="rect">
            <a:avLst/>
          </a:prstGeom>
        </p:spPr>
        <p:txBody>
          <a:bodyPr>
            <a:spAutoFit/>
          </a:bodyPr>
          <a:lstStyle/>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latin typeface="华文新魏" panose="02010800040101010101" pitchFamily="2" charset="-122"/>
                <a:ea typeface="华文新魏" panose="02010800040101010101" pitchFamily="2" charset="-122"/>
              </a:rPr>
              <a:t>召回</a:t>
            </a:r>
            <a:r>
              <a:rPr lang="en-US" altLang="zh-CN" sz="2400" kern="0" dirty="0">
                <a:latin typeface="华文新魏" panose="02010800040101010101" pitchFamily="2" charset="-122"/>
                <a:ea typeface="华文新魏" panose="02010800040101010101" pitchFamily="2" charset="-122"/>
              </a:rPr>
              <a:t>CRH380BL</a:t>
            </a:r>
            <a:r>
              <a:rPr lang="zh-CN" altLang="en-US" sz="2400" kern="0" dirty="0">
                <a:latin typeface="华文新魏" panose="02010800040101010101" pitchFamily="2" charset="-122"/>
                <a:ea typeface="华文新魏" panose="02010800040101010101" pitchFamily="2" charset="-122"/>
              </a:rPr>
              <a:t>型动车组</a:t>
            </a:r>
            <a:r>
              <a:rPr lang="en-US" altLang="zh-CN" sz="2400" kern="0" dirty="0">
                <a:latin typeface="华文新魏" panose="02010800040101010101" pitchFamily="2" charset="-122"/>
                <a:ea typeface="华文新魏" panose="02010800040101010101" pitchFamily="2" charset="-122"/>
              </a:rPr>
              <a:t>54</a:t>
            </a:r>
            <a:r>
              <a:rPr lang="zh-CN" altLang="en-US" sz="2400" kern="0" dirty="0">
                <a:latin typeface="华文新魏" panose="02010800040101010101" pitchFamily="2" charset="-122"/>
                <a:ea typeface="华文新魏" panose="02010800040101010101" pitchFamily="2" charset="-122"/>
              </a:rPr>
              <a:t>大列，整改合格后再交回使用。</a:t>
            </a:r>
            <a:endParaRPr lang="en-US" altLang="zh-CN" sz="2400" kern="0" dirty="0">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latin typeface="华文新魏" panose="02010800040101010101" pitchFamily="2" charset="-122"/>
                <a:ea typeface="华文新魏" panose="02010800040101010101" pitchFamily="2" charset="-122"/>
              </a:rPr>
              <a:t>原因：连续发生热轴报警误报、自动降弓、牵引丢失等故障</a:t>
            </a:r>
            <a:endParaRPr lang="en-US" altLang="zh-CN" sz="2400" kern="0" dirty="0">
              <a:latin typeface="华文新魏" panose="02010800040101010101" pitchFamily="2" charset="-122"/>
              <a:ea typeface="华文新魏" panose="02010800040101010101" pitchFamily="2" charset="-122"/>
            </a:endParaRPr>
          </a:p>
        </p:txBody>
      </p:sp>
      <p:sp>
        <p:nvSpPr>
          <p:cNvPr id="8" name="矩形 7"/>
          <p:cNvSpPr/>
          <p:nvPr/>
        </p:nvSpPr>
        <p:spPr>
          <a:xfrm>
            <a:off x="142875" y="620713"/>
            <a:ext cx="9001125" cy="425450"/>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en-US" altLang="zh-CN" sz="2600" kern="0" dirty="0">
                <a:latin typeface="华文新魏" panose="02010800040101010101" pitchFamily="2" charset="-122"/>
                <a:ea typeface="华文新魏" panose="02010800040101010101" pitchFamily="2" charset="-122"/>
              </a:rPr>
              <a:t>8</a:t>
            </a:r>
            <a:r>
              <a:rPr lang="zh-CN" altLang="en-US" sz="2600" kern="0" dirty="0">
                <a:latin typeface="华文新魏" panose="02010800040101010101" pitchFamily="2" charset="-122"/>
                <a:ea typeface="华文新魏" panose="02010800040101010101" pitchFamily="2" charset="-122"/>
              </a:rPr>
              <a:t>月，中国北车：</a:t>
            </a:r>
            <a:r>
              <a:rPr lang="en-US" altLang="zh-CN" sz="2600" kern="0" dirty="0">
                <a:latin typeface="华文新魏" panose="02010800040101010101" pitchFamily="2" charset="-122"/>
                <a:ea typeface="华文新魏" panose="02010800040101010101" pitchFamily="2" charset="-122"/>
              </a:rPr>
              <a:t>《</a:t>
            </a:r>
            <a:r>
              <a:rPr lang="zh-CN" altLang="en-US" sz="2600" kern="0" dirty="0">
                <a:latin typeface="华文新魏" panose="02010800040101010101" pitchFamily="2" charset="-122"/>
                <a:ea typeface="华文新魏" panose="02010800040101010101" pitchFamily="2" charset="-122"/>
              </a:rPr>
              <a:t>关于召回</a:t>
            </a:r>
            <a:r>
              <a:rPr lang="en-US" altLang="zh-CN" sz="2600" kern="0" dirty="0">
                <a:latin typeface="华文新魏" panose="02010800040101010101" pitchFamily="2" charset="-122"/>
                <a:ea typeface="华文新魏" panose="02010800040101010101" pitchFamily="2" charset="-122"/>
              </a:rPr>
              <a:t>CRH380BL</a:t>
            </a:r>
            <a:r>
              <a:rPr lang="zh-CN" altLang="en-US" sz="2600" kern="0" dirty="0">
                <a:latin typeface="华文新魏" panose="02010800040101010101" pitchFamily="2" charset="-122"/>
                <a:ea typeface="华文新魏" panose="02010800040101010101" pitchFamily="2" charset="-122"/>
              </a:rPr>
              <a:t>型动车组的报告</a:t>
            </a:r>
            <a:r>
              <a:rPr lang="en-US" altLang="zh-CN" sz="2600" kern="0" dirty="0">
                <a:latin typeface="华文新魏" panose="02010800040101010101" pitchFamily="2" charset="-122"/>
                <a:ea typeface="华文新魏" panose="02010800040101010101" pitchFamily="2" charset="-122"/>
              </a:rPr>
              <a:t>》</a:t>
            </a:r>
            <a:endParaRPr lang="en-US" altLang="zh-CN" sz="2600" kern="0" dirty="0">
              <a:latin typeface="华文新魏" panose="02010800040101010101" pitchFamily="2" charset="-122"/>
              <a:ea typeface="华文新魏" panose="02010800040101010101" pitchFamily="2" charset="-122"/>
            </a:endParaRPr>
          </a:p>
        </p:txBody>
      </p:sp>
      <p:pic>
        <p:nvPicPr>
          <p:cNvPr id="9" name="Picture 2" descr="D:\学习\工程经济学助教\2011秋工程经济学\点击时事\动车召回.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35600" y="1412875"/>
            <a:ext cx="37084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12" name="Rectangle 4"/>
          <p:cNvSpPr>
            <a:spLocks noGrp="1" noRot="1" noChangeArrowheads="1"/>
          </p:cNvSpPr>
          <p:nvPr>
            <p:ph type="title"/>
          </p:nvPr>
        </p:nvSpPr>
        <p:spPr/>
        <p:txBody>
          <a:bodyPr/>
          <a:lstStyle/>
          <a:p>
            <a:pPr eaLnBrk="1" hangingPunct="1">
              <a:defRPr/>
            </a:pPr>
            <a:r>
              <a:rPr lang="zh-CN" altLang="en-US" smtClean="0"/>
              <a:t>小结：价值工程的实施步骤</a:t>
            </a:r>
            <a:endParaRPr lang="zh-CN" altLang="en-US" smtClean="0"/>
          </a:p>
        </p:txBody>
      </p:sp>
      <p:sp>
        <p:nvSpPr>
          <p:cNvPr id="1015813" name="Rectangle 5"/>
          <p:cNvSpPr>
            <a:spLocks noGrp="1" noChangeArrowheads="1"/>
          </p:cNvSpPr>
          <p:nvPr>
            <p:ph type="body" idx="1"/>
          </p:nvPr>
        </p:nvSpPr>
        <p:spPr/>
        <p:txBody>
          <a:bodyPr/>
          <a:lstStyle/>
          <a:p>
            <a:pPr eaLnBrk="1" hangingPunct="1">
              <a:defRPr/>
            </a:pPr>
            <a:r>
              <a:rPr lang="en-US" altLang="zh-CN" smtClean="0"/>
              <a:t>1. </a:t>
            </a:r>
            <a:r>
              <a:rPr lang="zh-CN" altLang="en-US" smtClean="0"/>
              <a:t>选择分析对象</a:t>
            </a:r>
            <a:endParaRPr lang="zh-CN" altLang="en-US" smtClean="0"/>
          </a:p>
          <a:p>
            <a:pPr eaLnBrk="1" hangingPunct="1">
              <a:defRPr/>
            </a:pPr>
            <a:r>
              <a:rPr lang="en-US" altLang="zh-CN" smtClean="0"/>
              <a:t>2. </a:t>
            </a:r>
            <a:r>
              <a:rPr lang="zh-CN" altLang="en-US" smtClean="0"/>
              <a:t>收集资料、信息</a:t>
            </a:r>
            <a:endParaRPr lang="zh-CN" altLang="en-US" smtClean="0"/>
          </a:p>
          <a:p>
            <a:pPr eaLnBrk="1" hangingPunct="1">
              <a:defRPr/>
            </a:pPr>
            <a:r>
              <a:rPr lang="en-US" altLang="zh-CN" smtClean="0"/>
              <a:t>3. </a:t>
            </a:r>
            <a:r>
              <a:rPr lang="zh-CN" altLang="en-US" smtClean="0"/>
              <a:t>功能分析</a:t>
            </a:r>
            <a:endParaRPr lang="zh-CN" altLang="en-US" smtClean="0"/>
          </a:p>
          <a:p>
            <a:pPr eaLnBrk="1" hangingPunct="1">
              <a:defRPr/>
            </a:pPr>
            <a:r>
              <a:rPr lang="en-US" altLang="zh-CN" smtClean="0"/>
              <a:t>4. </a:t>
            </a:r>
            <a:r>
              <a:rPr lang="zh-CN" altLang="en-US" smtClean="0"/>
              <a:t>功能评价</a:t>
            </a:r>
            <a:endParaRPr lang="zh-CN" altLang="en-US" smtClean="0"/>
          </a:p>
          <a:p>
            <a:pPr eaLnBrk="1" hangingPunct="1">
              <a:defRPr/>
            </a:pPr>
            <a:r>
              <a:rPr lang="en-US" altLang="zh-CN" smtClean="0"/>
              <a:t>5. </a:t>
            </a:r>
            <a:r>
              <a:rPr lang="zh-CN" altLang="en-US" smtClean="0"/>
              <a:t>方案创新</a:t>
            </a:r>
            <a:endParaRPr lang="zh-CN" altLang="en-US" smtClean="0"/>
          </a:p>
          <a:p>
            <a:pPr eaLnBrk="1" hangingPunct="1">
              <a:defRPr/>
            </a:pPr>
            <a:r>
              <a:rPr lang="en-US" altLang="zh-CN" smtClean="0"/>
              <a:t>6. </a:t>
            </a:r>
            <a:r>
              <a:rPr lang="zh-CN" altLang="en-US" smtClean="0"/>
              <a:t>方案评价</a:t>
            </a:r>
            <a:endParaRPr lang="zh-CN" altLang="en-US" smtClean="0"/>
          </a:p>
          <a:p>
            <a:pPr eaLnBrk="1" hangingPunct="1">
              <a:defRPr/>
            </a:pPr>
            <a:endParaRPr lang="zh-CN" altLang="en-US" smtClean="0"/>
          </a:p>
          <a:p>
            <a:pPr lvl="1" eaLnBrk="1" hangingPunct="1">
              <a:defRPr/>
            </a:pPr>
            <a:endParaRPr lang="zh-CN" altLang="en-US"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Rot="1" noChangeArrowheads="1"/>
          </p:cNvSpPr>
          <p:nvPr>
            <p:ph type="title"/>
          </p:nvPr>
        </p:nvSpPr>
        <p:spPr/>
        <p:txBody>
          <a:bodyPr/>
          <a:lstStyle/>
          <a:p>
            <a:pPr eaLnBrk="1" hangingPunct="1">
              <a:defRPr/>
            </a:pPr>
            <a:endParaRPr lang="zh-CN" altLang="en-US" smtClean="0"/>
          </a:p>
        </p:txBody>
      </p:sp>
      <p:sp>
        <p:nvSpPr>
          <p:cNvPr id="1011715" name="Rectangle 3"/>
          <p:cNvSpPr>
            <a:spLocks noGrp="1" noChangeArrowheads="1"/>
          </p:cNvSpPr>
          <p:nvPr>
            <p:ph type="body" idx="1"/>
          </p:nvPr>
        </p:nvSpPr>
        <p:spPr/>
        <p:txBody>
          <a:bodyPr/>
          <a:lstStyle/>
          <a:p>
            <a:pPr algn="ctr" eaLnBrk="1" hangingPunct="1">
              <a:buFont typeface="Wingdings" panose="05000000000000000000" pitchFamily="2" charset="2"/>
              <a:buNone/>
              <a:defRPr/>
            </a:pPr>
            <a:r>
              <a:rPr lang="en-US" altLang="zh-CN" sz="6600" smtClean="0"/>
              <a:t>Questions?</a:t>
            </a:r>
            <a:endParaRPr lang="en-US" altLang="zh-CN" sz="6600"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OTI0OWQxZGJjNDE2MzIxNDlmMGQ4ZDUyYzcyZTE1MzkifQ=="/>
  <p:tag name="commondata" val="eyJoZGlkIjoiMDUyNTk2M2IyMzU4MzVkNTcwMTc5ZTNjMDhlZjc2NjkifQ=="/>
</p:tagLst>
</file>

<file path=ppt/theme/theme1.xml><?xml version="1.0" encoding="utf-8"?>
<a:theme xmlns:a="http://schemas.openxmlformats.org/drawingml/2006/main"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宋体"/>
        <a:cs typeface=""/>
      </a:majorFont>
      <a:minorFont>
        <a:latin typeface="Garamond"/>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Garamond" panose="02020404030301010803" pitchFamily="18" charset="0"/>
            <a:ea typeface="宋体" panose="02010600030101010101" pitchFamily="2" charset="-122"/>
          </a:defRPr>
        </a:defPPr>
      </a:lstStyle>
    </a:lnDef>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10169</Words>
  <Application>WPS 演示</Application>
  <PresentationFormat>全屏显示(4:3)</PresentationFormat>
  <Paragraphs>2116</Paragraphs>
  <Slides>73</Slides>
  <Notes>0</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2</vt:i4>
      </vt:variant>
      <vt:variant>
        <vt:lpstr>幻灯片标题</vt:lpstr>
      </vt:variant>
      <vt:variant>
        <vt:i4>73</vt:i4>
      </vt:variant>
    </vt:vector>
  </HeadingPairs>
  <TitlesOfParts>
    <vt:vector size="97" baseType="lpstr">
      <vt:lpstr>Arial</vt:lpstr>
      <vt:lpstr>宋体</vt:lpstr>
      <vt:lpstr>Wingdings</vt:lpstr>
      <vt:lpstr>Garamond</vt:lpstr>
      <vt:lpstr>Times New Roman</vt:lpstr>
      <vt:lpstr>华文新魏</vt:lpstr>
      <vt:lpstr>楷体_GB2312</vt:lpstr>
      <vt:lpstr>新宋体</vt:lpstr>
      <vt:lpstr>Arial</vt:lpstr>
      <vt:lpstr>Symbol</vt:lpstr>
      <vt:lpstr>Gungsuh</vt:lpstr>
      <vt:lpstr>Malgun Gothic</vt:lpstr>
      <vt:lpstr>BatangChe</vt:lpstr>
      <vt:lpstr>微软雅黑</vt:lpstr>
      <vt:lpstr>Arial Unicode MS</vt:lpstr>
      <vt:lpstr>黑体</vt:lpstr>
      <vt:lpstr>仿宋_GB2312</vt:lpstr>
      <vt:lpstr>仿宋</vt:lpstr>
      <vt:lpstr>Verdana</vt:lpstr>
      <vt:lpstr>隶书</vt:lpstr>
      <vt:lpstr>Yu Gothic</vt:lpstr>
      <vt:lpstr>Stream</vt:lpstr>
      <vt:lpstr>Equation.3</vt:lpstr>
      <vt:lpstr>Equation.3</vt:lpstr>
      <vt:lpstr>PowerPoint 演示文稿</vt:lpstr>
      <vt:lpstr>PowerPoint 演示文稿</vt:lpstr>
      <vt:lpstr>价值工程（VE/VA）原理</vt:lpstr>
      <vt:lpstr>价值工程（VE/VA） </vt:lpstr>
      <vt:lpstr>基本概念 </vt:lpstr>
      <vt:lpstr>PowerPoint 演示文稿</vt:lpstr>
      <vt:lpstr>VE基本概念</vt:lpstr>
      <vt:lpstr>PowerPoint 演示文稿</vt:lpstr>
      <vt:lpstr>VE的特点</vt:lpstr>
      <vt:lpstr>PowerPoint 演示文稿</vt:lpstr>
      <vt:lpstr>VE实施步骤</vt:lpstr>
      <vt:lpstr>1.VE对象的选择</vt:lpstr>
      <vt:lpstr>PowerPoint 演示文稿</vt:lpstr>
      <vt:lpstr>PowerPoint 演示文稿</vt:lpstr>
      <vt:lpstr>PowerPoint 演示文稿</vt:lpstr>
      <vt:lpstr>PowerPoint 演示文稿</vt:lpstr>
      <vt:lpstr>3.功能分析</vt:lpstr>
      <vt:lpstr>功能定义：</vt:lpstr>
      <vt:lpstr>功能分类——功能分析的基础</vt:lpstr>
      <vt:lpstr>功能分类</vt:lpstr>
      <vt:lpstr>功能整理</vt:lpstr>
      <vt:lpstr>功能系统图基本模式(Bytheway 1965)</vt:lpstr>
      <vt:lpstr>PowerPoint 演示文稿</vt:lpstr>
      <vt:lpstr>4.功能评价   </vt:lpstr>
      <vt:lpstr>功能系数法－－相对值法</vt:lpstr>
      <vt:lpstr>各种打分方法</vt:lpstr>
      <vt:lpstr>强制确定法－－01评分法</vt:lpstr>
      <vt:lpstr>PowerPoint 演示文稿</vt:lpstr>
      <vt:lpstr>PowerPoint 演示文稿</vt:lpstr>
      <vt:lpstr>强制确定法－－04评分法</vt:lpstr>
      <vt:lpstr>PowerPoint 演示文稿</vt:lpstr>
      <vt:lpstr>PowerPoint 演示文稿</vt:lpstr>
      <vt:lpstr>打分方法</vt:lpstr>
      <vt:lpstr>PowerPoint 演示文稿</vt:lpstr>
      <vt:lpstr>PowerPoint 演示文稿</vt:lpstr>
      <vt:lpstr>6.方案评价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0-4评分法</vt:lpstr>
      <vt:lpstr>0~4评分法</vt:lpstr>
      <vt:lpstr>方案创新</vt:lpstr>
      <vt:lpstr>PowerPoint 演示文稿</vt:lpstr>
      <vt:lpstr>方案评价</vt:lpstr>
      <vt:lpstr>各方案价值系数计算表</vt:lpstr>
      <vt:lpstr>PowerPoint 演示文稿</vt:lpstr>
      <vt:lpstr>案例:平班水电站消能工优化设计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伊朗塔里干项目设计优化</vt:lpstr>
      <vt:lpstr>伊朗塔里干项目设计优化</vt:lpstr>
      <vt:lpstr>PowerPoint 演示文稿</vt:lpstr>
      <vt:lpstr>PowerPoint 演示文稿</vt:lpstr>
      <vt:lpstr>PowerPoint 演示文稿</vt:lpstr>
      <vt:lpstr>ＳＲ９９　Ｂｏｒｅｄ　Ｔｕｎｎｅｌ</vt:lpstr>
      <vt:lpstr> SR99 Bored Tunnel Project</vt:lpstr>
      <vt:lpstr>方案评价</vt:lpstr>
      <vt:lpstr>绝对值法、相对值法讨论</vt:lpstr>
      <vt:lpstr>PowerPoint 演示文稿</vt:lpstr>
      <vt:lpstr>小结：价值工程的实施步骤</vt:lpstr>
      <vt:lpstr>PowerPoint 演示文稿</vt:lpstr>
    </vt:vector>
  </TitlesOfParts>
  <Company>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工程经济学</dc:title>
  <dc:creator>a</dc:creator>
  <cp:lastModifiedBy>飞光</cp:lastModifiedBy>
  <cp:revision>1016</cp:revision>
  <cp:lastPrinted>2113-01-01T00:00:00Z</cp:lastPrinted>
  <dcterms:created xsi:type="dcterms:W3CDTF">2002-11-04T08:20:00Z</dcterms:created>
  <dcterms:modified xsi:type="dcterms:W3CDTF">2023-11-15T14:26:50Z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D372A251A81B4498877CCC8663732ECD</vt:lpwstr>
  </property>
  <property fmtid="{D5CDD505-2E9C-101B-9397-08002B2CF9AE}" pid="3" name="KSOProductBuildVer">
    <vt:lpwstr>2052-12.1.0.15712</vt:lpwstr>
  </property>
</Properties>
</file>