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7"/>
  </p:notesMasterIdLst>
  <p:handoutMasterIdLst>
    <p:handoutMasterId r:id="rId58"/>
  </p:handoutMasterIdLst>
  <p:sldIdLst>
    <p:sldId id="256" r:id="rId2"/>
    <p:sldId id="335" r:id="rId3"/>
    <p:sldId id="315" r:id="rId4"/>
    <p:sldId id="338" r:id="rId5"/>
    <p:sldId id="339" r:id="rId6"/>
    <p:sldId id="340" r:id="rId7"/>
    <p:sldId id="365" r:id="rId8"/>
    <p:sldId id="316" r:id="rId9"/>
    <p:sldId id="277" r:id="rId10"/>
    <p:sldId id="330" r:id="rId11"/>
    <p:sldId id="341" r:id="rId12"/>
    <p:sldId id="348" r:id="rId13"/>
    <p:sldId id="331" r:id="rId14"/>
    <p:sldId id="259" r:id="rId15"/>
    <p:sldId id="318" r:id="rId16"/>
    <p:sldId id="261" r:id="rId17"/>
    <p:sldId id="284" r:id="rId18"/>
    <p:sldId id="346" r:id="rId19"/>
    <p:sldId id="327" r:id="rId20"/>
    <p:sldId id="321" r:id="rId21"/>
    <p:sldId id="328" r:id="rId22"/>
    <p:sldId id="322" r:id="rId23"/>
    <p:sldId id="344" r:id="rId24"/>
    <p:sldId id="288" r:id="rId25"/>
    <p:sldId id="314" r:id="rId26"/>
    <p:sldId id="323" r:id="rId27"/>
    <p:sldId id="324" r:id="rId28"/>
    <p:sldId id="279" r:id="rId29"/>
    <p:sldId id="366" r:id="rId30"/>
    <p:sldId id="325" r:id="rId31"/>
    <p:sldId id="311" r:id="rId32"/>
    <p:sldId id="295" r:id="rId33"/>
    <p:sldId id="296" r:id="rId34"/>
    <p:sldId id="297" r:id="rId35"/>
    <p:sldId id="272" r:id="rId36"/>
    <p:sldId id="329" r:id="rId37"/>
    <p:sldId id="274" r:id="rId38"/>
    <p:sldId id="349" r:id="rId39"/>
    <p:sldId id="350" r:id="rId40"/>
    <p:sldId id="351" r:id="rId41"/>
    <p:sldId id="352" r:id="rId42"/>
    <p:sldId id="353" r:id="rId43"/>
    <p:sldId id="354" r:id="rId44"/>
    <p:sldId id="355" r:id="rId45"/>
    <p:sldId id="356" r:id="rId46"/>
    <p:sldId id="357" r:id="rId47"/>
    <p:sldId id="359" r:id="rId48"/>
    <p:sldId id="360" r:id="rId49"/>
    <p:sldId id="361" r:id="rId50"/>
    <p:sldId id="362" r:id="rId51"/>
    <p:sldId id="363" r:id="rId52"/>
    <p:sldId id="364" r:id="rId53"/>
    <p:sldId id="358" r:id="rId54"/>
    <p:sldId id="332" r:id="rId55"/>
    <p:sldId id="309" r:id="rId5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99"/>
    <a:srgbClr val="FF9900"/>
    <a:srgbClr val="00FFCC"/>
    <a:srgbClr val="FFFFFF"/>
    <a:srgbClr val="0033CC"/>
    <a:srgbClr val="3333CC"/>
    <a:srgbClr val="FF3300"/>
    <a:srgbClr val="D2A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41" autoAdjust="0"/>
    <p:restoredTop sz="94590" autoAdjust="0"/>
  </p:normalViewPr>
  <p:slideViewPr>
    <p:cSldViewPr snapToGrid="0">
      <p:cViewPr varScale="1">
        <p:scale>
          <a:sx n="87" d="100"/>
          <a:sy n="87" d="100"/>
        </p:scale>
        <p:origin x="-1282" y="-91"/>
      </p:cViewPr>
      <p:guideLst>
        <p:guide orient="horz" pos="2167"/>
        <p:guide orient="horz" pos="550"/>
        <p:guide orient="horz" pos="1111"/>
        <p:guide orient="horz" pos="1608"/>
        <p:guide pos="3787"/>
        <p:guide pos="1422"/>
        <p:guide pos="3137"/>
        <p:guide pos="4659"/>
        <p:guide pos="215"/>
        <p:guide pos="21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wmf"/><Relationship Id="rId4" Type="http://schemas.openxmlformats.org/officeDocument/2006/relationships/image" Target="../media/image30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77D1E3E8-B2D7-4672-AC6C-A1487F0354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7542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BE008A19-A0A2-44B8-AAC4-88A4CAB0C8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99628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4AD7A5E-9274-47C2-8093-D7C67E77DDD5}" type="slidenum">
              <a:rPr lang="en-US" altLang="zh-CN" smtClean="0"/>
              <a:pPr eaLnBrk="1" hangingPunct="1">
                <a:spcBef>
                  <a:spcPct val="0"/>
                </a:spcBef>
              </a:pPr>
              <a:t>25</a:t>
            </a:fld>
            <a:endParaRPr lang="en-US" altLang="zh-CN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3D04022-FD7B-4DC9-BFEE-D6F040C29D29}" type="slidenum">
              <a:rPr lang="en-US" altLang="zh-CN" smtClean="0"/>
              <a:pPr eaLnBrk="1" hangingPunct="1">
                <a:spcBef>
                  <a:spcPct val="0"/>
                </a:spcBef>
              </a:pPr>
              <a:t>26</a:t>
            </a:fld>
            <a:endParaRPr lang="en-US" altLang="zh-CN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A5676A6-417C-4745-AE86-B2FCAF6BD110}" type="slidenum">
              <a:rPr lang="en-US" altLang="zh-CN" smtClean="0"/>
              <a:pPr eaLnBrk="1" hangingPunct="1">
                <a:spcBef>
                  <a:spcPct val="0"/>
                </a:spcBef>
              </a:pPr>
              <a:t>27</a:t>
            </a:fld>
            <a:endParaRPr lang="en-US" altLang="zh-CN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302203 w 4128"/>
              <a:gd name="T1" fmla="*/ 202829 h 479"/>
              <a:gd name="T2" fmla="*/ 7653337 w 4128"/>
              <a:gd name="T3" fmla="*/ 202829 h 479"/>
              <a:gd name="T4" fmla="*/ 7653337 w 4128"/>
              <a:gd name="T5" fmla="*/ 435068 h 479"/>
              <a:gd name="T6" fmla="*/ 0 w 4128"/>
              <a:gd name="T7" fmla="*/ 447238 h 479"/>
              <a:gd name="T8" fmla="*/ 302203 w 4128"/>
              <a:gd name="T9" fmla="*/ 202829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6926F339-ACA9-40B7-BAD9-5141A0D42B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4478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C51C0-589B-4D9C-BAB6-D360FCC29F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116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02DA4-DCF4-40C7-84F5-81C26EC8E2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848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EF08B-0264-4686-AA87-C2DF799ACB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7526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46FB59-C060-4CD3-9941-BCCDE23AC3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9494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6E30C-C4A6-4096-A512-45AE7D62FD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112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731C78-D7AB-4919-8539-F3AA4F1C0D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9590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9DA61-931E-42BB-B8EB-272B1AB47A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4451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4E333D-8C74-4E89-A23E-3C6EC6FC07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374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6A30E5-B505-46F9-9BEA-348382AC19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025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EE57A-0F24-4A6A-8C1F-AC93D7F1B4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6136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A7EF7D-032B-46B3-B349-5399F4AFAE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4792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A4D3B0-3E4B-479C-B05D-863B7D7AFA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1352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4C4C9D-F8BD-4CE4-BD48-8898C8123D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3071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DA49D-EF53-4D63-8D10-D0E5751780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5946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FC0E64-BE78-405D-8FF6-3B202937B7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138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chemeClr val="bg2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chemeClr val="bg2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chemeClr val="bg2"/>
                </a:solidFill>
                <a:ea typeface="+mn-ea"/>
              </a:defRPr>
            </a:lvl1pPr>
          </a:lstStyle>
          <a:p>
            <a:pPr>
              <a:defRPr/>
            </a:pPr>
            <a:fld id="{A25CE3E0-0E91-4AED-97D7-C1A41115D6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file:///G:\&#31185;&#25216;&#23398;&#20064;&#36164;&#26009;\&#20248;&#31168;&#35838;&#20214;\&#26426;&#26800;&#21407;&#29702;&#65288;&#21016;&#21521;&#23792;&#65289;\3-01.avi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" Target="slide17.xml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8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30.png"/><Relationship Id="rId4" Type="http://schemas.openxmlformats.org/officeDocument/2006/relationships/image" Target="../media/image27.wmf"/><Relationship Id="rId9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9.png"/><Relationship Id="rId5" Type="http://schemas.openxmlformats.org/officeDocument/2006/relationships/oleObject" Target="../embeddings/oleObject8.bin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BF71B6-B5CB-4E04-B1D5-E4B09C68106D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890171" y="210799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zh-CN" sz="48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   </a:t>
            </a:r>
            <a:r>
              <a:rPr lang="zh-CN" altLang="en-US" sz="5400" b="1" dirty="0" smtClean="0">
                <a:solidFill>
                  <a:srgbClr val="FF0000"/>
                </a:solidFill>
                <a:latin typeface="+mn-lt"/>
                <a:ea typeface="隶书" pitchFamily="49" charset="-122"/>
              </a:rPr>
              <a:t>机械设计基础</a:t>
            </a:r>
            <a:r>
              <a:rPr lang="zh-CN" altLang="en-US" sz="4000" b="1" dirty="0" smtClean="0">
                <a:solidFill>
                  <a:srgbClr val="FF0000"/>
                </a:solidFill>
                <a:latin typeface="+mn-lt"/>
                <a:ea typeface="隶书" pitchFamily="49" charset="-122"/>
              </a:rPr>
              <a:t> </a:t>
            </a:r>
            <a:r>
              <a:rPr lang="en-US" altLang="zh-CN" sz="4000" b="1" dirty="0" smtClean="0">
                <a:solidFill>
                  <a:srgbClr val="FF0000"/>
                </a:solidFill>
                <a:latin typeface="+mn-lt"/>
                <a:ea typeface="隶书" pitchFamily="49" charset="-122"/>
              </a:rPr>
              <a:t>(1)</a:t>
            </a:r>
            <a:endParaRPr lang="en-US" altLang="zh-CN" sz="4000" dirty="0" smtClean="0">
              <a:latin typeface="+mn-lt"/>
              <a:ea typeface="隶书" pitchFamily="49" charset="-122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48456" y="1410625"/>
            <a:ext cx="7508875" cy="769938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Tx/>
              <a:buNone/>
            </a:pPr>
            <a:r>
              <a:rPr lang="en-US" altLang="zh-CN" sz="2800" b="1" dirty="0" smtClean="0">
                <a:ea typeface="黑体" pitchFamily="2" charset="-122"/>
              </a:rPr>
              <a:t>Fundamentals of Mechanical  Design  (1)</a:t>
            </a:r>
          </a:p>
        </p:txBody>
      </p:sp>
      <p:pic>
        <p:nvPicPr>
          <p:cNvPr id="3079" name="Picture 7" descr="http://img.315che.com/smallimg/___userfiles___2007-02___2007-02-05-15-24-30-593____jpg--0--0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10" y="1947134"/>
            <a:ext cx="6425898" cy="48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BE9B2-6C3C-402B-BC48-75FBB9723313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-10758" y="146812"/>
            <a:ext cx="9144000" cy="839787"/>
          </a:xfrm>
          <a:noFill/>
        </p:spPr>
        <p:txBody>
          <a:bodyPr/>
          <a:lstStyle/>
          <a:p>
            <a:pPr eaLnBrk="1" hangingPunct="1"/>
            <a:r>
              <a:rPr lang="en-US" altLang="zh-CN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“</a:t>
            </a:r>
            <a:r>
              <a:rPr lang="zh-CN" altLang="en-US" sz="4000" b="1" dirty="0" smtClean="0">
                <a:solidFill>
                  <a:srgbClr val="FF0000"/>
                </a:solidFill>
                <a:ea typeface="隶书" pitchFamily="49" charset="-122"/>
              </a:rPr>
              <a:t>机械设计基础”系列课程  介绍</a:t>
            </a:r>
            <a:endParaRPr lang="en-US" altLang="zh-CN" sz="4000" b="1" dirty="0" smtClean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344502" y="1387736"/>
            <a:ext cx="5303259" cy="960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机械设计基础（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）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（画法几何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及机械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制图）</a:t>
            </a:r>
            <a:endParaRPr lang="zh-CN" altLang="en-US" sz="2800" b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101" name="Rectangle 8"/>
          <p:cNvSpPr>
            <a:spLocks noChangeArrowheads="1"/>
          </p:cNvSpPr>
          <p:nvPr/>
        </p:nvSpPr>
        <p:spPr bwMode="auto">
          <a:xfrm>
            <a:off x="386826" y="3258166"/>
            <a:ext cx="4065588" cy="82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机械设计基础（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）</a:t>
            </a:r>
            <a:endParaRPr lang="en-US" altLang="zh-CN" sz="28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机械原理）</a:t>
            </a:r>
            <a:endParaRPr lang="zh-CN" altLang="en-US" sz="2800" b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372539" y="4694776"/>
            <a:ext cx="4065587" cy="122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机械设计基础（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）</a:t>
            </a:r>
            <a:endParaRPr lang="en-US" altLang="zh-CN" sz="28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（机械设计）</a:t>
            </a:r>
            <a:endParaRPr lang="zh-CN" altLang="en-US" sz="2800" b="0" dirty="0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4107" name="Picture 11" descr="http://m.qqzhi.com/upload/img_1_949530365D3284892830_2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356" y="1009712"/>
            <a:ext cx="2809762" cy="201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3-01.avi">
            <a:hlinkClick r:id="" action="ppaction://media"/>
          </p:cNvPr>
          <p:cNvPicPr>
            <a:picLocks noGrp="1" noRot="1" noChangeAspect="1" noChangeArrowheads="1"/>
          </p:cNvPicPr>
          <p:nvPr>
            <p:ph sz="half" idx="4294967295"/>
            <a:videoFile r:link="rId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593" y="2510331"/>
            <a:ext cx="2670238" cy="200267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13" descr="http://img3.imgtn.bdimg.com/it/u=382832173,894157772&amp;fm=21&amp;gp=0.jpg"/>
          <p:cNvSpPr>
            <a:spLocks noChangeAspect="1" noChangeArrowheads="1"/>
          </p:cNvSpPr>
          <p:nvPr/>
        </p:nvSpPr>
        <p:spPr bwMode="auto">
          <a:xfrm>
            <a:off x="76200" y="-182563"/>
            <a:ext cx="2781300" cy="190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15" descr="http://img3.imgtn.bdimg.com/it/u=382832173,894157772&amp;fm=21&amp;gp=0.jpg"/>
          <p:cNvSpPr>
            <a:spLocks noChangeAspect="1" noChangeArrowheads="1"/>
          </p:cNvSpPr>
          <p:nvPr/>
        </p:nvSpPr>
        <p:spPr bwMode="auto">
          <a:xfrm>
            <a:off x="228600" y="-30163"/>
            <a:ext cx="2781300" cy="190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17" descr="http://img3.imgtn.bdimg.com/it/u=382832173,894157772&amp;fm=21&amp;gp=0.jpg"/>
          <p:cNvSpPr>
            <a:spLocks noChangeAspect="1" noChangeArrowheads="1"/>
          </p:cNvSpPr>
          <p:nvPr/>
        </p:nvSpPr>
        <p:spPr bwMode="auto">
          <a:xfrm>
            <a:off x="381000" y="122237"/>
            <a:ext cx="2781300" cy="190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116" name="Picture 20" descr="http://g.hiphotos.baidu.com/baike/c0%3Dbaike80%2C5%2C5%2C80%2C26/sign=b02f978ac81349546a13e0363727f93d/3812b31bb051f81968e82c41d9b44aed2f73e7e8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908" y="4184718"/>
            <a:ext cx="2939681" cy="231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3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4100" grpId="0"/>
      <p:bldP spid="4101" grpId="0"/>
      <p:bldP spid="410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95F131-B4B2-46BA-90AD-1B6F96D9DA65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6179" y="451826"/>
            <a:ext cx="8423275" cy="6097106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4000" b="1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授课教师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altLang="zh-CN" sz="2800" b="1" dirty="0" smtClean="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800" b="1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主讲教师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姓    名： </a:t>
            </a:r>
            <a:r>
              <a:rPr lang="zh-CN" altLang="en-US" sz="2800" b="1" dirty="0" smtClean="0">
                <a:latin typeface="华文行楷" pitchFamily="2" charset="-122"/>
                <a:ea typeface="华文行楷" pitchFamily="2" charset="-122"/>
              </a:rPr>
              <a:t>李铁民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博士 副教授 博士生导师</a:t>
            </a:r>
            <a:endParaRPr lang="en-US" altLang="zh-CN" sz="24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工作单位： 机械工程系 制造工程研究所</a:t>
            </a:r>
            <a:endParaRPr lang="en-US" altLang="zh-CN" sz="24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办公地址： 李兆基科技大楼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A907</a:t>
            </a:r>
            <a:endParaRPr lang="zh-CN" altLang="en-US" sz="24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电    话： 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62792792(O)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18601176830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altLang="zh-CN" sz="2400" dirty="0" smtClean="0">
                <a:ea typeface="黑体" pitchFamily="2" charset="-122"/>
              </a:rPr>
              <a:t>Email      </a:t>
            </a:r>
            <a:r>
              <a:rPr lang="zh-CN" altLang="en-US" sz="2400" dirty="0" smtClean="0">
                <a:ea typeface="黑体" pitchFamily="2" charset="-122"/>
              </a:rPr>
              <a:t>：   </a:t>
            </a:r>
            <a:r>
              <a:rPr lang="en-US" altLang="zh-CN" sz="2400" dirty="0" smtClean="0">
                <a:ea typeface="黑体" pitchFamily="2" charset="-122"/>
              </a:rPr>
              <a:t>litm@tsinghua.edu.cn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altLang="zh-CN" sz="2400" dirty="0" smtClean="0"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800" b="1" dirty="0" smtClean="0">
                <a:solidFill>
                  <a:srgbClr val="FF3300"/>
                </a:solidFill>
                <a:ea typeface="黑体" pitchFamily="2" charset="-122"/>
              </a:rPr>
              <a:t>助       教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 smtClean="0">
                <a:ea typeface="黑体" pitchFamily="2" charset="-122"/>
              </a:rPr>
              <a:t>姓         名：  </a:t>
            </a:r>
            <a:r>
              <a:rPr lang="zh-CN" altLang="en-US" sz="2800" b="1" dirty="0" smtClean="0">
                <a:latin typeface="华文行楷" pitchFamily="2" charset="-122"/>
                <a:ea typeface="华文行楷" pitchFamily="2" charset="-122"/>
              </a:rPr>
              <a:t>张伦玮</a:t>
            </a:r>
            <a:r>
              <a:rPr lang="zh-CN" altLang="en-US" sz="2400" b="1" dirty="0" smtClean="0">
                <a:ea typeface="黑体" pitchFamily="2" charset="-122"/>
              </a:rPr>
              <a:t>  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博士研究生</a:t>
            </a:r>
            <a:endParaRPr lang="en-US" altLang="zh-CN" sz="24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办公地址： </a:t>
            </a:r>
            <a:r>
              <a:rPr lang="zh-CN" altLang="en-US" sz="2400" dirty="0" smtClean="0">
                <a:ea typeface="黑体" pitchFamily="2" charset="-122"/>
              </a:rPr>
              <a:t>  李</a:t>
            </a:r>
            <a:r>
              <a:rPr lang="zh-CN" altLang="en-US" sz="2400" dirty="0">
                <a:ea typeface="黑体" pitchFamily="2" charset="-122"/>
              </a:rPr>
              <a:t>兆基科技大楼</a:t>
            </a:r>
            <a:r>
              <a:rPr lang="en-US" altLang="zh-CN" sz="2400" dirty="0" smtClean="0">
                <a:ea typeface="黑体" pitchFamily="2" charset="-122"/>
              </a:rPr>
              <a:t>A903-3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电    </a:t>
            </a:r>
            <a:r>
              <a:rPr lang="zh-CN" altLang="en-US" sz="2400" dirty="0" smtClean="0">
                <a:ea typeface="黑体" pitchFamily="2" charset="-122"/>
              </a:rPr>
              <a:t>    话</a:t>
            </a:r>
            <a:r>
              <a:rPr lang="zh-CN" altLang="en-US" sz="2400" dirty="0">
                <a:ea typeface="黑体" pitchFamily="2" charset="-122"/>
              </a:rPr>
              <a:t>： </a:t>
            </a:r>
            <a:r>
              <a:rPr lang="zh-CN" altLang="en-US" sz="2400" dirty="0" smtClean="0">
                <a:ea typeface="黑体" pitchFamily="2" charset="-122"/>
              </a:rPr>
              <a:t>  </a:t>
            </a:r>
            <a:r>
              <a:rPr lang="en-US" altLang="zh-CN" sz="2400" dirty="0" smtClean="0">
                <a:ea typeface="黑体" pitchFamily="2" charset="-122"/>
              </a:rPr>
              <a:t>18810824382</a:t>
            </a:r>
            <a:r>
              <a:rPr lang="zh-CN" altLang="en-US" sz="2400" dirty="0" smtClean="0">
                <a:ea typeface="黑体" pitchFamily="2" charset="-122"/>
              </a:rPr>
              <a:t>（</a:t>
            </a:r>
            <a:r>
              <a:rPr lang="en-US" altLang="zh-CN" sz="2400" dirty="0">
                <a:ea typeface="黑体" pitchFamily="2" charset="-122"/>
              </a:rPr>
              <a:t>C</a:t>
            </a:r>
            <a:r>
              <a:rPr lang="zh-CN" altLang="en-US" sz="2400" dirty="0">
                <a:ea typeface="黑体" pitchFamily="2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Email      </a:t>
            </a:r>
            <a:r>
              <a:rPr lang="zh-CN" altLang="en-US" sz="2400" dirty="0">
                <a:ea typeface="黑体" pitchFamily="2" charset="-122"/>
              </a:rPr>
              <a:t>：   </a:t>
            </a:r>
            <a:r>
              <a:rPr lang="zh-CN" altLang="en-US" sz="2400" dirty="0" smtClean="0">
                <a:ea typeface="黑体" pitchFamily="2" charset="-122"/>
              </a:rPr>
              <a:t> </a:t>
            </a:r>
            <a:r>
              <a:rPr lang="en-US" altLang="zh-CN" sz="2400" dirty="0" smtClean="0">
                <a:ea typeface="黑体" pitchFamily="2" charset="-122"/>
              </a:rPr>
              <a:t>zlw21@mails.tsinghua.edu.cn</a:t>
            </a:r>
            <a:endParaRPr lang="zh-CN" altLang="en-US" sz="2400" dirty="0" smtClean="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8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8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8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8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8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85B7B-BDCC-412B-9D41-F4A479B4B766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192514" name="Rectangle 2"/>
          <p:cNvSpPr>
            <a:spLocks noChangeArrowheads="1"/>
          </p:cNvSpPr>
          <p:nvPr/>
        </p:nvSpPr>
        <p:spPr bwMode="auto">
          <a:xfrm>
            <a:off x="284209" y="210876"/>
            <a:ext cx="8461753" cy="307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None/>
            </a:pPr>
            <a:r>
              <a:rPr lang="en-US" altLang="zh-CN" sz="28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教材</a:t>
            </a: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 《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机械制图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》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田凌 主编，清华大学出版社</a:t>
            </a: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 《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机械制图习题集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》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田凌 主编，清华大学出版社</a:t>
            </a: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zh-CN" altLang="en-US" sz="2800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参考</a:t>
            </a:r>
            <a:r>
              <a:rPr lang="zh-CN" altLang="en-US" sz="2800" dirty="0">
                <a:solidFill>
                  <a:srgbClr val="FF3300"/>
                </a:solidFill>
                <a:ea typeface="黑体" pitchFamily="2" charset="-122"/>
              </a:rPr>
              <a:t>教材</a:t>
            </a:r>
            <a:endParaRPr lang="zh-CN" altLang="en-US" sz="2800" dirty="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en-US" altLang="zh-CN" sz="2400" dirty="0" smtClean="0">
                <a:ea typeface="黑体" pitchFamily="2" charset="-122"/>
              </a:rPr>
              <a:t>    《</a:t>
            </a:r>
            <a:r>
              <a:rPr lang="en-US" altLang="zh-CN" sz="2400" dirty="0">
                <a:ea typeface="黑体" pitchFamily="2" charset="-122"/>
              </a:rPr>
              <a:t>Engineering Graphics》(8th edition). 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 Frederick E. </a:t>
            </a:r>
            <a:r>
              <a:rPr lang="en-US" altLang="zh-CN" sz="2400" dirty="0" err="1">
                <a:ea typeface="黑体" pitchFamily="2" charset="-122"/>
              </a:rPr>
              <a:t>Giesecke</a:t>
            </a:r>
            <a:r>
              <a:rPr lang="en-US" altLang="zh-CN" sz="2400" dirty="0">
                <a:ea typeface="黑体" pitchFamily="2" charset="-122"/>
              </a:rPr>
              <a:t>.    </a:t>
            </a:r>
            <a:r>
              <a:rPr lang="zh-CN" altLang="en-US" sz="2400" dirty="0">
                <a:ea typeface="黑体" pitchFamily="2" charset="-122"/>
              </a:rPr>
              <a:t>高等教育出版社</a:t>
            </a:r>
            <a:r>
              <a:rPr lang="en-US" altLang="zh-CN" sz="2400" dirty="0">
                <a:ea typeface="黑体" pitchFamily="2" charset="-122"/>
              </a:rPr>
              <a:t>, 2005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26520" y="3379558"/>
            <a:ext cx="8477646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 smtClean="0">
                <a:solidFill>
                  <a:srgbClr val="FF3300"/>
                </a:solidFill>
                <a:ea typeface="黑体" pitchFamily="2" charset="-122"/>
              </a:rPr>
              <a:t>答疑</a:t>
            </a:r>
            <a:endParaRPr lang="zh-CN" altLang="en-US" sz="2800" dirty="0">
              <a:solidFill>
                <a:srgbClr val="FF3300"/>
              </a:solidFill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ea typeface="黑体" pitchFamily="2" charset="-122"/>
              </a:rPr>
              <a:t>1. </a:t>
            </a:r>
            <a:r>
              <a:rPr lang="zh-CN" altLang="en-US" sz="2400" dirty="0" smtClean="0">
                <a:ea typeface="黑体" pitchFamily="2" charset="-122"/>
              </a:rPr>
              <a:t>线</a:t>
            </a:r>
            <a:r>
              <a:rPr lang="zh-CN" altLang="en-US" sz="2400" dirty="0">
                <a:ea typeface="黑体" pitchFamily="2" charset="-122"/>
              </a:rPr>
              <a:t>上答疑（扫码进群）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ea typeface="黑体" pitchFamily="2" charset="-122"/>
              </a:rPr>
              <a:t>2. </a:t>
            </a:r>
            <a:r>
              <a:rPr lang="zh-CN" altLang="en-US" sz="2400" dirty="0" smtClean="0">
                <a:ea typeface="黑体" pitchFamily="2" charset="-122"/>
              </a:rPr>
              <a:t>线下答疑（单独约时间）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黑体" pitchFamily="2" charset="-122"/>
              </a:rPr>
              <a:t>     </a:t>
            </a:r>
            <a:r>
              <a:rPr lang="zh-CN" altLang="en-US" sz="2400" dirty="0">
                <a:ea typeface="黑体" pitchFamily="2" charset="-122"/>
              </a:rPr>
              <a:t>地点：李兆基科技大楼</a:t>
            </a:r>
            <a:r>
              <a:rPr lang="en-US" altLang="zh-CN" sz="2400" dirty="0">
                <a:ea typeface="黑体" pitchFamily="2" charset="-122"/>
              </a:rPr>
              <a:t>A907</a:t>
            </a:r>
            <a:endParaRPr lang="en-US" altLang="zh-CN" sz="2400" dirty="0">
              <a:solidFill>
                <a:srgbClr val="FF3300"/>
              </a:solidFill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 smtClean="0">
                <a:ea typeface="黑体" pitchFamily="2" charset="-122"/>
              </a:rPr>
              <a:t>3. </a:t>
            </a:r>
            <a:r>
              <a:rPr lang="zh-CN" altLang="en-US" sz="2400" dirty="0" smtClean="0">
                <a:ea typeface="黑体" pitchFamily="2" charset="-122"/>
              </a:rPr>
              <a:t>全校集中线下答疑</a:t>
            </a:r>
            <a:endParaRPr lang="en-US" altLang="zh-CN" sz="2400" dirty="0" smtClean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 </a:t>
            </a:r>
            <a:r>
              <a:rPr lang="en-US" altLang="zh-CN" sz="2400" dirty="0" smtClean="0">
                <a:ea typeface="黑体" pitchFamily="2" charset="-122"/>
              </a:rPr>
              <a:t>   </a:t>
            </a:r>
            <a:r>
              <a:rPr lang="zh-CN" altLang="en-US" sz="2400" dirty="0" smtClean="0">
                <a:ea typeface="黑体" pitchFamily="2" charset="-122"/>
              </a:rPr>
              <a:t>周一 至 周五，下午 </a:t>
            </a:r>
            <a:r>
              <a:rPr lang="en-US" altLang="zh-CN" sz="2400" dirty="0" smtClean="0">
                <a:ea typeface="黑体" pitchFamily="2" charset="-122"/>
              </a:rPr>
              <a:t>13:30</a:t>
            </a:r>
            <a:r>
              <a:rPr lang="zh-CN" altLang="en-US" sz="2400" dirty="0">
                <a:ea typeface="黑体" pitchFamily="2" charset="-122"/>
              </a:rPr>
              <a:t>－</a:t>
            </a:r>
            <a:r>
              <a:rPr lang="en-US" altLang="zh-CN" sz="2400" dirty="0" smtClean="0">
                <a:ea typeface="黑体" pitchFamily="2" charset="-122"/>
              </a:rPr>
              <a:t>16:30 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ea typeface="黑体" pitchFamily="2" charset="-122"/>
              </a:rPr>
              <a:t>    地点：新水</a:t>
            </a:r>
            <a:r>
              <a:rPr lang="en-US" altLang="zh-CN" sz="2400" dirty="0" smtClean="0">
                <a:ea typeface="黑体" pitchFamily="2" charset="-122"/>
              </a:rPr>
              <a:t>313</a:t>
            </a:r>
            <a:r>
              <a:rPr lang="zh-CN" altLang="en-US" sz="2400" dirty="0" smtClean="0">
                <a:ea typeface="黑体" pitchFamily="2" charset="-122"/>
              </a:rPr>
              <a:t>（机械制图模型室）</a:t>
            </a:r>
            <a:endParaRPr lang="en-US" altLang="zh-CN" sz="2400" dirty="0" smtClean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黑体" pitchFamily="2" charset="-122"/>
              </a:rPr>
              <a:t> </a:t>
            </a:r>
            <a:r>
              <a:rPr lang="en-US" altLang="zh-CN" sz="2400" dirty="0" smtClean="0">
                <a:ea typeface="黑体" pitchFamily="2" charset="-122"/>
              </a:rPr>
              <a:t>   </a:t>
            </a:r>
            <a:r>
              <a:rPr lang="zh-CN" altLang="en-US" sz="2400" dirty="0" smtClean="0">
                <a:ea typeface="黑体" pitchFamily="2" charset="-122"/>
              </a:rPr>
              <a:t>答疑教师：李峥</a:t>
            </a:r>
            <a:endParaRPr lang="en-US" altLang="zh-CN" sz="2400" dirty="0" smtClean="0">
              <a:solidFill>
                <a:srgbClr val="FF3300"/>
              </a:solidFill>
              <a:ea typeface="黑体" pitchFamily="2" charset="-122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087" y="3378553"/>
            <a:ext cx="2638425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2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2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Rectangle 3"/>
          <p:cNvSpPr>
            <a:spLocks noChangeArrowheads="1"/>
          </p:cNvSpPr>
          <p:nvPr/>
        </p:nvSpPr>
        <p:spPr bwMode="auto">
          <a:xfrm>
            <a:off x="386658" y="213635"/>
            <a:ext cx="8477646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800" dirty="0" smtClean="0">
                <a:solidFill>
                  <a:srgbClr val="FF3300"/>
                </a:solidFill>
                <a:ea typeface="黑体" pitchFamily="2" charset="-122"/>
              </a:rPr>
              <a:t>作业</a:t>
            </a:r>
            <a:endParaRPr lang="zh-CN" altLang="en-US" sz="2800" dirty="0">
              <a:solidFill>
                <a:srgbClr val="FF3300"/>
              </a:solidFill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 smtClean="0">
                <a:ea typeface="黑体" pitchFamily="2" charset="-122"/>
              </a:rPr>
              <a:t>周四中午</a:t>
            </a:r>
            <a:r>
              <a:rPr lang="en-US" altLang="zh-CN" sz="2400" dirty="0" smtClean="0">
                <a:ea typeface="黑体" pitchFamily="2" charset="-122"/>
              </a:rPr>
              <a:t>13:00</a:t>
            </a:r>
            <a:r>
              <a:rPr lang="zh-CN" altLang="en-US" sz="2400" dirty="0">
                <a:ea typeface="黑体" pitchFamily="2" charset="-122"/>
              </a:rPr>
              <a:t>之前交</a:t>
            </a:r>
            <a:r>
              <a:rPr lang="zh-CN" altLang="en-US" sz="2400" dirty="0" smtClean="0">
                <a:ea typeface="黑体" pitchFamily="2" charset="-122"/>
              </a:rPr>
              <a:t>至：李兆基科技大楼</a:t>
            </a:r>
            <a:r>
              <a:rPr lang="en-US" altLang="zh-CN" sz="2400" dirty="0" smtClean="0">
                <a:ea typeface="黑体" pitchFamily="2" charset="-122"/>
              </a:rPr>
              <a:t>A</a:t>
            </a:r>
            <a:r>
              <a:rPr lang="zh-CN" altLang="en-US" sz="2400" dirty="0" smtClean="0">
                <a:ea typeface="黑体" pitchFamily="2" charset="-122"/>
              </a:rPr>
              <a:t>区</a:t>
            </a:r>
            <a:r>
              <a:rPr lang="en-US" altLang="zh-CN" sz="2400" dirty="0" smtClean="0">
                <a:ea typeface="黑体" pitchFamily="2" charset="-122"/>
              </a:rPr>
              <a:t>9</a:t>
            </a:r>
            <a:r>
              <a:rPr lang="zh-CN" altLang="en-US" sz="2400" dirty="0" smtClean="0">
                <a:ea typeface="黑体" pitchFamily="2" charset="-122"/>
              </a:rPr>
              <a:t>楼报箱</a:t>
            </a:r>
            <a:endParaRPr lang="en-US" altLang="zh-CN" sz="2400" dirty="0" smtClean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 smtClean="0">
                <a:ea typeface="黑体" pitchFamily="2" charset="-122"/>
              </a:rPr>
              <a:t>                                                     （姓名：李铁民）</a:t>
            </a:r>
            <a:endParaRPr lang="en-US" altLang="zh-CN" sz="2400" dirty="0" smtClean="0">
              <a:ea typeface="黑体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2" t="5134" r="6639" b="6350"/>
          <a:stretch/>
        </p:blipFill>
        <p:spPr>
          <a:xfrm rot="5400000">
            <a:off x="290489" y="3698299"/>
            <a:ext cx="1947137" cy="1559857"/>
          </a:xfrm>
          <a:prstGeom prst="rect">
            <a:avLst/>
          </a:prstGeom>
        </p:spPr>
      </p:pic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264" y="4239826"/>
            <a:ext cx="1070401" cy="103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986" y="1505120"/>
            <a:ext cx="2093610" cy="10797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09102" y="1896113"/>
            <a:ext cx="3206500" cy="2404876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 bwMode="auto">
          <a:xfrm flipH="1">
            <a:off x="2070271" y="4739552"/>
            <a:ext cx="640697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stealth" w="lg" len="lg"/>
            <a:tailEnd type="none"/>
          </a:ln>
          <a:effectLst/>
        </p:spPr>
      </p:cxnSp>
      <p:cxnSp>
        <p:nvCxnSpPr>
          <p:cNvPr id="15" name="直接箭头连接符 14"/>
          <p:cNvCxnSpPr/>
          <p:nvPr/>
        </p:nvCxnSpPr>
        <p:spPr bwMode="auto">
          <a:xfrm>
            <a:off x="3244947" y="2601033"/>
            <a:ext cx="1" cy="1623953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stealth" w="lg" len="lg"/>
            <a:tailEnd type="none"/>
          </a:ln>
          <a:effectLst/>
        </p:spPr>
      </p:cxnSp>
      <p:cxnSp>
        <p:nvCxnSpPr>
          <p:cNvPr id="18" name="直接箭头连接符 17"/>
          <p:cNvCxnSpPr/>
          <p:nvPr/>
        </p:nvCxnSpPr>
        <p:spPr bwMode="auto">
          <a:xfrm flipH="1">
            <a:off x="4137596" y="2073356"/>
            <a:ext cx="320347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stealth" w="lg" len="lg"/>
            <a:tailEnd type="none"/>
          </a:ln>
          <a:effectLst/>
        </p:spPr>
      </p:cxnSp>
      <p:cxnSp>
        <p:nvCxnSpPr>
          <p:cNvPr id="20" name="直接箭头连接符 19"/>
          <p:cNvCxnSpPr/>
          <p:nvPr/>
        </p:nvCxnSpPr>
        <p:spPr bwMode="auto">
          <a:xfrm flipV="1">
            <a:off x="4797950" y="3098551"/>
            <a:ext cx="2531635" cy="61051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/>
          </a:ln>
          <a:effectLst/>
        </p:spPr>
      </p:cxnSp>
      <p:pic>
        <p:nvPicPr>
          <p:cNvPr id="27652" name="Picture 4" descr="https://ss1.bdstatic.com/70cFvXSh_Q1YnxGkpoWK1HF6hhy/it/u=5480139,3297452632&amp;fm=26&amp;gp=0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585" y="2848232"/>
            <a:ext cx="1534719" cy="112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386658" y="5807622"/>
            <a:ext cx="847764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ea typeface="黑体" pitchFamily="2" charset="-122"/>
              </a:rPr>
              <a:t>周一上课</a:t>
            </a:r>
            <a:r>
              <a:rPr lang="zh-CN" altLang="en-US" sz="2400" dirty="0">
                <a:ea typeface="黑体" pitchFamily="2" charset="-122"/>
              </a:rPr>
              <a:t>前发还，课上</a:t>
            </a:r>
            <a:r>
              <a:rPr lang="zh-CN" altLang="en-US" sz="2400" dirty="0" smtClean="0">
                <a:ea typeface="黑体" pitchFamily="2" charset="-122"/>
              </a:rPr>
              <a:t>讲解。</a:t>
            </a:r>
            <a:endParaRPr lang="en-US" altLang="zh-CN" sz="2400" dirty="0" smtClean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000" dirty="0" smtClean="0">
                <a:solidFill>
                  <a:srgbClr val="FF0000"/>
                </a:solidFill>
                <a:ea typeface="黑体" pitchFamily="2" charset="-122"/>
              </a:rPr>
              <a:t>    * 所有作业必须有教师签字。</a:t>
            </a:r>
            <a:endParaRPr lang="zh-CN" altLang="en-US" sz="2000" dirty="0">
              <a:solidFill>
                <a:srgbClr val="FF0000"/>
              </a:solidFill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uiExpand="1" build="p"/>
      <p:bldP spid="2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81CC26-BE98-4873-990E-6579B3B9BCE6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195586" name="Rectangle 2"/>
          <p:cNvSpPr>
            <a:spLocks noChangeArrowheads="1"/>
          </p:cNvSpPr>
          <p:nvPr/>
        </p:nvSpPr>
        <p:spPr bwMode="auto">
          <a:xfrm>
            <a:off x="233990" y="3274355"/>
            <a:ext cx="8760541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评分</a:t>
            </a:r>
            <a:r>
              <a:rPr lang="zh-CN" altLang="en-US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办法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期中考试，第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周周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晚上，开卷</a:t>
            </a:r>
            <a:r>
              <a:rPr lang="zh-CN" altLang="en-US" sz="1600" dirty="0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sz="1600" dirty="0" smtClean="0">
                <a:solidFill>
                  <a:srgbClr val="7030A0"/>
                </a:solidFill>
                <a:latin typeface="黑体" pitchFamily="2" charset="-122"/>
                <a:ea typeface="黑体" pitchFamily="2" charset="-122"/>
              </a:rPr>
              <a:t>教科书</a:t>
            </a:r>
            <a:r>
              <a:rPr lang="zh-CN" altLang="en-US" sz="1600" dirty="0" smtClean="0"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，卷面成绩占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20%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4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期末考试，第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17-18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周，开卷</a:t>
            </a:r>
            <a:r>
              <a:rPr lang="zh-CN" altLang="en-US" sz="16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sz="1600" dirty="0">
                <a:solidFill>
                  <a:srgbClr val="7030A0"/>
                </a:solidFill>
                <a:latin typeface="黑体" pitchFamily="2" charset="-122"/>
                <a:ea typeface="黑体" pitchFamily="2" charset="-122"/>
              </a:rPr>
              <a:t>教科书</a:t>
            </a:r>
            <a:r>
              <a:rPr lang="zh-CN" altLang="en-US" sz="16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，卷面成绩占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50%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平时成绩占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30%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4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000" dirty="0" smtClean="0">
                <a:latin typeface="黑体" pitchFamily="2" charset="-122"/>
                <a:ea typeface="黑体" pitchFamily="2" charset="-122"/>
              </a:rPr>
              <a:t>习题集作业 </a:t>
            </a:r>
            <a:r>
              <a:rPr lang="en-US" altLang="zh-CN" sz="2000" dirty="0" smtClean="0">
                <a:latin typeface="黑体" pitchFamily="2" charset="-122"/>
                <a:ea typeface="黑体" pitchFamily="2" charset="-122"/>
              </a:rPr>
              <a:t>10%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000" dirty="0" smtClean="0">
                <a:latin typeface="黑体" pitchFamily="2" charset="-122"/>
                <a:ea typeface="黑体" pitchFamily="2" charset="-122"/>
              </a:rPr>
              <a:t>     AutoCAD </a:t>
            </a:r>
            <a:r>
              <a:rPr lang="zh-CN" altLang="en-US" sz="2000" dirty="0" smtClean="0">
                <a:latin typeface="黑体" pitchFamily="2" charset="-122"/>
                <a:ea typeface="黑体" pitchFamily="2" charset="-122"/>
              </a:rPr>
              <a:t>二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维</a:t>
            </a:r>
            <a:r>
              <a:rPr lang="zh-CN" altLang="en-US" sz="2000" dirty="0" smtClean="0">
                <a:latin typeface="黑体" pitchFamily="2" charset="-122"/>
                <a:ea typeface="黑体" pitchFamily="2" charset="-122"/>
              </a:rPr>
              <a:t>绘图 </a:t>
            </a:r>
            <a:r>
              <a:rPr lang="en-US" altLang="zh-CN" sz="2000" dirty="0" smtClean="0">
                <a:latin typeface="黑体" pitchFamily="2" charset="-122"/>
                <a:ea typeface="黑体" pitchFamily="2" charset="-122"/>
              </a:rPr>
              <a:t>10%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000" dirty="0" smtClean="0">
                <a:latin typeface="黑体" pitchFamily="2" charset="-122"/>
                <a:ea typeface="黑体" pitchFamily="2" charset="-122"/>
              </a:rPr>
              <a:t>     </a:t>
            </a:r>
            <a:r>
              <a:rPr lang="en-US" altLang="zh-CN" sz="2000" dirty="0" err="1" smtClean="0">
                <a:latin typeface="黑体" pitchFamily="2" charset="-122"/>
                <a:ea typeface="黑体" pitchFamily="2" charset="-122"/>
              </a:rPr>
              <a:t>Solidworks</a:t>
            </a:r>
            <a:r>
              <a:rPr lang="en-US" altLang="zh-CN" sz="2000" dirty="0" smtClean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dirty="0" smtClean="0">
                <a:latin typeface="黑体" pitchFamily="2" charset="-122"/>
                <a:ea typeface="黑体" pitchFamily="2" charset="-122"/>
              </a:rPr>
              <a:t>立体建模 </a:t>
            </a:r>
            <a:r>
              <a:rPr lang="en-US" altLang="zh-CN" sz="2000" dirty="0" smtClean="0">
                <a:latin typeface="黑体" pitchFamily="2" charset="-122"/>
                <a:ea typeface="黑体" pitchFamily="2" charset="-122"/>
              </a:rPr>
              <a:t>10%</a:t>
            </a:r>
          </a:p>
        </p:txBody>
      </p:sp>
      <p:sp>
        <p:nvSpPr>
          <p:cNvPr id="195588" name="Rectangle 4"/>
          <p:cNvSpPr>
            <a:spLocks noChangeArrowheads="1"/>
          </p:cNvSpPr>
          <p:nvPr/>
        </p:nvSpPr>
        <p:spPr bwMode="auto">
          <a:xfrm>
            <a:off x="243384" y="262428"/>
            <a:ext cx="8900616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教学资源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</a:t>
            </a:r>
            <a:endParaRPr lang="en-US" altLang="zh-CN" sz="28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课件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、习题答案、辅助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材料、教学建议和意见：</a:t>
            </a:r>
            <a:endParaRPr lang="en-US" altLang="zh-CN" sz="24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     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清华大学信息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门户</a:t>
            </a:r>
            <a:r>
              <a:rPr lang="zh-CN" altLang="en-US" sz="2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→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网络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学堂 </a:t>
            </a:r>
            <a:r>
              <a:rPr lang="zh-CN" altLang="en-US" sz="2400" dirty="0" smtClean="0">
                <a:ea typeface="黑体" pitchFamily="2" charset="-122"/>
              </a:rPr>
              <a:t>（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itchFamily="2" charset="-122"/>
              </a:rPr>
              <a:t>http</a:t>
            </a:r>
            <a:r>
              <a:rPr lang="en-US" altLang="zh-CN" sz="2400" u="sng" dirty="0">
                <a:solidFill>
                  <a:srgbClr val="FF0000"/>
                </a:solidFill>
                <a:ea typeface="黑体" pitchFamily="2" charset="-122"/>
              </a:rPr>
              <a:t>://info.tsinghua.edu.cn</a:t>
            </a:r>
            <a:r>
              <a:rPr lang="zh-CN" altLang="en-US" sz="2400" dirty="0" smtClean="0">
                <a:ea typeface="黑体" pitchFamily="2" charset="-122"/>
              </a:rPr>
              <a:t>）</a:t>
            </a:r>
            <a:endParaRPr lang="en-US" altLang="zh-CN" sz="2400" dirty="0" smtClean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ea typeface="黑体" pitchFamily="2" charset="-122"/>
              </a:rPr>
              <a:t>2. </a:t>
            </a:r>
            <a:r>
              <a:rPr lang="zh-CN" altLang="en-US" sz="2400" dirty="0" smtClean="0">
                <a:ea typeface="黑体" pitchFamily="2" charset="-122"/>
              </a:rPr>
              <a:t>“工程制图” </a:t>
            </a:r>
            <a:r>
              <a:rPr lang="en-US" altLang="zh-CN" sz="2400" dirty="0" smtClean="0">
                <a:ea typeface="黑体" pitchFamily="2" charset="-122"/>
              </a:rPr>
              <a:t>MOOC</a:t>
            </a:r>
            <a:r>
              <a:rPr lang="zh-CN" altLang="en-US" sz="2400" dirty="0" smtClean="0">
                <a:ea typeface="黑体" pitchFamily="2" charset="-122"/>
              </a:rPr>
              <a:t>平台（提供全部内容的视频授课）：    </a:t>
            </a:r>
            <a:endParaRPr lang="en-US" altLang="zh-CN" sz="2400" dirty="0" smtClean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ea typeface="黑体" pitchFamily="2" charset="-122"/>
              </a:rPr>
              <a:t>        </a:t>
            </a:r>
            <a:r>
              <a:rPr lang="zh-CN" altLang="en-US" sz="2400" dirty="0" smtClean="0">
                <a:ea typeface="黑体" pitchFamily="2" charset="-122"/>
              </a:rPr>
              <a:t>进入“学堂在线”（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itchFamily="2" charset="-122"/>
              </a:rPr>
              <a:t>https://next.xuetangx.com</a:t>
            </a:r>
            <a:r>
              <a:rPr lang="zh-CN" altLang="en-US" sz="2400" dirty="0" smtClean="0">
                <a:ea typeface="黑体" pitchFamily="2" charset="-122"/>
              </a:rPr>
              <a:t>），</a:t>
            </a:r>
            <a:endParaRPr lang="en-US" altLang="zh-CN" sz="2400" dirty="0" smtClean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黑体" pitchFamily="2" charset="-122"/>
              </a:rPr>
              <a:t> </a:t>
            </a:r>
            <a:r>
              <a:rPr lang="en-US" altLang="zh-CN" sz="2400" dirty="0" smtClean="0">
                <a:ea typeface="黑体" pitchFamily="2" charset="-122"/>
              </a:rPr>
              <a:t>       </a:t>
            </a:r>
            <a:r>
              <a:rPr lang="zh-CN" altLang="en-US" sz="2400" dirty="0" smtClean="0">
                <a:ea typeface="黑体" pitchFamily="2" charset="-122"/>
              </a:rPr>
              <a:t>搜索“工程制图”。</a:t>
            </a:r>
            <a:endParaRPr lang="zh-CN" altLang="en-US" sz="2400" dirty="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5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5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5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55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5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5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5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55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/>
      <p:bldP spid="19558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2EBCA0-F25D-4106-A661-5ED67C26C102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18435" name="Rectangle 5"/>
          <p:cNvSpPr>
            <a:spLocks noChangeArrowheads="1"/>
          </p:cNvSpPr>
          <p:nvPr/>
        </p:nvSpPr>
        <p:spPr bwMode="auto">
          <a:xfrm>
            <a:off x="683568" y="120372"/>
            <a:ext cx="82809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2023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秋季“机械设计基础（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）”教学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日历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(3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学时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周）</a:t>
            </a:r>
          </a:p>
        </p:txBody>
      </p:sp>
      <p:graphicFrame>
        <p:nvGraphicFramePr>
          <p:cNvPr id="21573" name="Group 6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053839"/>
              </p:ext>
            </p:extLst>
          </p:nvPr>
        </p:nvGraphicFramePr>
        <p:xfrm>
          <a:off x="1998442" y="1031808"/>
          <a:ext cx="5669903" cy="5028964"/>
        </p:xfrm>
        <a:graphic>
          <a:graphicData uri="http://schemas.openxmlformats.org/drawingml/2006/table">
            <a:tbl>
              <a:tblPr/>
              <a:tblGrid>
                <a:gridCol w="602235"/>
                <a:gridCol w="2289176"/>
                <a:gridCol w="629609"/>
                <a:gridCol w="2148883"/>
              </a:tblGrid>
              <a:tr h="3063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序号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讲课内容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序号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讲课内容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079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绪论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点的投影，直线的投影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9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组合体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52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2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平面的投影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几何元素相对位置关系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10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轴测图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6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3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换面法、综合问题求解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2023</a:t>
                      </a: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年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月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日）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11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视图，剖视图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24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计算机辅助绘图</a:t>
                      </a: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内容：</a:t>
                      </a: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AutoCAD </a:t>
                      </a: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绘图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12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其他剖视图，断面图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规定画法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90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5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基本体的投影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13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计算机辅助绘图</a:t>
                      </a: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内容：</a:t>
                      </a: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Solidworks</a:t>
                      </a: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建模</a:t>
                      </a:r>
                      <a:endParaRPr lang="zh-CN" altLang="en-US" dirty="0"/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6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平面及直线与立体相交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14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尺寸标注基础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7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平面体相交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15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表达方法综合应用，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考前复习、总结</a:t>
                      </a:r>
                      <a:endParaRPr lang="zh-CN" altLang="en-US" dirty="0"/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9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8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回转体相交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周六晚上</a:t>
                      </a: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19:00-21:00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期中考试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16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237419" y="6093296"/>
            <a:ext cx="503477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 dirty="0" smtClean="0">
                <a:latin typeface="黑体" pitchFamily="2" charset="-122"/>
                <a:ea typeface="黑体" pitchFamily="2" charset="-122"/>
              </a:rPr>
              <a:t>注</a:t>
            </a: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1600" dirty="0" smtClean="0">
                <a:latin typeface="黑体" pitchFamily="2" charset="-122"/>
                <a:ea typeface="黑体" pitchFamily="2" charset="-122"/>
              </a:rPr>
              <a:t>“计算机辅助绘图”上课地点在“</a:t>
            </a:r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CAD</a:t>
            </a: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教学中心</a:t>
            </a:r>
            <a:r>
              <a:rPr lang="zh-CN" altLang="en-US" sz="1600" dirty="0" smtClean="0">
                <a:latin typeface="黑体" pitchFamily="2" charset="-122"/>
                <a:ea typeface="黑体" pitchFamily="2" charset="-122"/>
              </a:rPr>
              <a:t>”（</a:t>
            </a: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李兆基科技大楼</a:t>
            </a:r>
            <a:r>
              <a:rPr lang="en-US" altLang="zh-CN" sz="1600" dirty="0" smtClean="0">
                <a:latin typeface="黑体" pitchFamily="2" charset="-122"/>
                <a:ea typeface="黑体" pitchFamily="2" charset="-122"/>
              </a:rPr>
              <a:t>A302-2</a:t>
            </a:r>
            <a:r>
              <a:rPr lang="zh-CN" altLang="en-US" sz="1600" dirty="0" smtClean="0">
                <a:latin typeface="黑体" pitchFamily="2" charset="-122"/>
                <a:ea typeface="黑体" pitchFamily="2" charset="-122"/>
              </a:rPr>
              <a:t>，容量：</a:t>
            </a:r>
            <a:r>
              <a:rPr lang="en-US" altLang="zh-CN" sz="1600" dirty="0" smtClean="0">
                <a:latin typeface="黑体" pitchFamily="2" charset="-122"/>
                <a:ea typeface="黑体" pitchFamily="2" charset="-122"/>
              </a:rPr>
              <a:t>72</a:t>
            </a:r>
            <a:r>
              <a:rPr lang="zh-CN" altLang="en-US" sz="1600" dirty="0" smtClean="0">
                <a:latin typeface="黑体" pitchFamily="2" charset="-122"/>
                <a:ea typeface="黑体" pitchFamily="2" charset="-122"/>
              </a:rPr>
              <a:t>人）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27654" name="Picture 6" descr="https://img1.baidu.com/it/u=478073392,3397889674&amp;fm=253&amp;fmt=auto&amp;app=138&amp;f=JPEG?w=674&amp;h=50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924" y="5143775"/>
            <a:ext cx="1184834" cy="87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087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10090"/>
            <a:ext cx="8637588" cy="7715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8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第一讲</a:t>
            </a:r>
            <a:endParaRPr lang="zh-CN" altLang="en-US" sz="5400" dirty="0" smtClean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121330"/>
            <a:ext cx="8802687" cy="2095201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zh-CN" altLang="en-US" sz="3600" b="1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内容：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绪论     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点的投影</a:t>
            </a:r>
            <a:endParaRPr lang="en-US" altLang="zh-CN" sz="28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直线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的投影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endParaRPr lang="zh-CN" altLang="en-US" sz="2800" b="1" dirty="0" smtClean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4979988" y="1087993"/>
            <a:ext cx="4164012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复习：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 P.3-6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 P.11-30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 P.81-93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8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（* 建议：课件</a:t>
            </a:r>
            <a:r>
              <a:rPr lang="en-US" altLang="zh-CN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—</a:t>
            </a: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看书</a:t>
            </a:r>
            <a:r>
              <a:rPr lang="en-US" altLang="zh-CN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—</a:t>
            </a: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作业）</a:t>
            </a:r>
            <a:endParaRPr lang="zh-CN" altLang="en-US" sz="20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22" name="Text Box 5"/>
          <p:cNvSpPr txBox="1">
            <a:spLocks noChangeArrowheads="1"/>
          </p:cNvSpPr>
          <p:nvPr/>
        </p:nvSpPr>
        <p:spPr bwMode="auto">
          <a:xfrm>
            <a:off x="4979988" y="3525499"/>
            <a:ext cx="4164012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作业：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 练字 </a:t>
            </a: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（自选，不上交）</a:t>
            </a:r>
            <a:endParaRPr lang="en-US" altLang="zh-CN" sz="2000" dirty="0" smtClean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P.4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4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 P.5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4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 P.6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9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10</a:t>
            </a:r>
            <a:endParaRPr lang="en-US" altLang="zh-CN" sz="28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23" name="Text Box 6"/>
          <p:cNvSpPr txBox="1">
            <a:spLocks noChangeArrowheads="1"/>
          </p:cNvSpPr>
          <p:nvPr/>
        </p:nvSpPr>
        <p:spPr bwMode="auto">
          <a:xfrm>
            <a:off x="341313" y="3527086"/>
            <a:ext cx="4638675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下讲</a:t>
            </a:r>
            <a:r>
              <a:rPr lang="zh-CN" altLang="en-US" sz="3600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内容：</a:t>
            </a:r>
            <a:r>
              <a:rPr lang="en-US" altLang="zh-CN" sz="2400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(P.94-115)</a:t>
            </a:r>
            <a:endParaRPr lang="zh-CN" altLang="en-US" sz="2400" dirty="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 平面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的投影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几何元素相对位置关系</a:t>
            </a:r>
            <a:endParaRPr lang="en-US" altLang="zh-CN" sz="28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平面上的最大斜度线</a:t>
            </a:r>
            <a:endParaRPr lang="en-US" altLang="zh-CN" sz="28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（* 建议：本讲预习）</a:t>
            </a:r>
            <a:endParaRPr lang="zh-CN" altLang="en-US" sz="24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14136" y="5920042"/>
            <a:ext cx="41873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</a:rPr>
              <a:t> </a:t>
            </a: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</a:rPr>
              <a:t>* 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</a:rPr>
              <a:t>存在多解必须标出有几个</a:t>
            </a: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</a:rPr>
              <a:t>解）</a:t>
            </a:r>
            <a:endParaRPr lang="zh-CN" altLang="en-US" sz="2000" dirty="0">
              <a:solidFill>
                <a:srgbClr val="FF0000"/>
              </a:solidFill>
              <a:latin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C83D8B-8ECC-4037-A398-D09F3067E9BA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47688" y="153988"/>
            <a:ext cx="5867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b="1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第一章  绪论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7988" y="1106488"/>
            <a:ext cx="8234362" cy="1784350"/>
          </a:xfrm>
          <a:noFill/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zh-CN" b="1" dirty="0" smtClean="0">
                <a:ea typeface="黑体" pitchFamily="2" charset="-122"/>
              </a:rPr>
              <a:t>§1.1  </a:t>
            </a:r>
            <a:r>
              <a:rPr lang="zh-CN" altLang="en-US" b="1" dirty="0" smtClean="0">
                <a:ea typeface="黑体" pitchFamily="2" charset="-122"/>
              </a:rPr>
              <a:t>课程的性质、任务、内容和要求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b="1" dirty="0" smtClean="0">
                <a:latin typeface="黑体" pitchFamily="2" charset="-122"/>
                <a:ea typeface="黑体" pitchFamily="2" charset="-122"/>
              </a:rPr>
              <a:t>   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b="1" dirty="0" smtClean="0">
                <a:latin typeface="黑体" pitchFamily="2" charset="-122"/>
                <a:ea typeface="黑体" pitchFamily="2" charset="-122"/>
              </a:rPr>
              <a:t>一．性质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1114425" y="3055938"/>
            <a:ext cx="7110413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设计：按照任务的目的和要求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预先定出工作方案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  和计划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绘出图样。</a:t>
            </a: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1122363" y="4102100"/>
            <a:ext cx="7388225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设计是为了满足某种需求而进行的一种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人类特有的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活动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，即由构思到实现的一种</a:t>
            </a:r>
            <a:r>
              <a:rPr lang="zh-CN" altLang="en-US" sz="24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创造性的活动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1100138" y="5268913"/>
            <a:ext cx="7388225" cy="93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学习设计类课程的核心是：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体会前人的创造性思维和培养自己的创造性能力。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utoUpdateAnimBg="0"/>
      <p:bldP spid="27652" grpId="0" autoUpdateAnimBg="0"/>
      <p:bldP spid="27654" grpId="0" autoUpdateAnimBg="0"/>
      <p:bldP spid="2765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6BF1C7-414C-408F-92E0-7A66B841E735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168965" name="Rectangle 5"/>
          <p:cNvSpPr>
            <a:spLocks noChangeArrowheads="1"/>
          </p:cNvSpPr>
          <p:nvPr/>
        </p:nvSpPr>
        <p:spPr bwMode="auto">
          <a:xfrm>
            <a:off x="195263" y="5930900"/>
            <a:ext cx="8248650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非机械设计：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无动作的设计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     机械设计：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有动作的设计</a:t>
            </a:r>
          </a:p>
        </p:txBody>
      </p:sp>
      <p:pic>
        <p:nvPicPr>
          <p:cNvPr id="168977" name="Picture 17" descr="1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79700" y="3992563"/>
            <a:ext cx="1162050" cy="1744662"/>
          </a:xfrm>
          <a:noFill/>
        </p:spPr>
      </p:pic>
      <p:pic>
        <p:nvPicPr>
          <p:cNvPr id="168972" name="Picture 12" descr="The Great Wall - Beijing, China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63" y="4048125"/>
            <a:ext cx="2365375" cy="1514475"/>
          </a:xfrm>
          <a:noFill/>
        </p:spPr>
      </p:pic>
      <p:pic>
        <p:nvPicPr>
          <p:cNvPr id="168981" name="Picture 21" descr="200571513345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1488" y="2103438"/>
            <a:ext cx="3152775" cy="1692275"/>
          </a:xfrm>
          <a:noFill/>
        </p:spPr>
      </p:pic>
      <p:pic>
        <p:nvPicPr>
          <p:cNvPr id="168985" name="Picture 25" descr="589BCD8E9F48DB140AC78F8DB3390172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88913"/>
            <a:ext cx="2841625" cy="1682750"/>
          </a:xfrm>
          <a:noFill/>
        </p:spPr>
      </p:pic>
      <p:pic>
        <p:nvPicPr>
          <p:cNvPr id="168989" name="Picture 29" descr="凯越前45度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025" y="0"/>
            <a:ext cx="3209925" cy="240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8991" name="Picture 31" descr="DSCF002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196850"/>
            <a:ext cx="1568450" cy="209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8995" name="Picture 35" descr="nasa_00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213" y="2670175"/>
            <a:ext cx="2236787" cy="279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8997" name="Picture 37" descr="990622en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5" y="2316163"/>
            <a:ext cx="2284413" cy="332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8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8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6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8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8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8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8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8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8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D1455E-9762-4561-88F2-3510A99EB649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198659" name="AutoShape 3"/>
          <p:cNvSpPr>
            <a:spLocks noChangeArrowheads="1"/>
          </p:cNvSpPr>
          <p:nvPr/>
        </p:nvSpPr>
        <p:spPr bwMode="auto">
          <a:xfrm>
            <a:off x="809625" y="1782763"/>
            <a:ext cx="466725" cy="109537"/>
          </a:xfrm>
          <a:prstGeom prst="rightArrow">
            <a:avLst>
              <a:gd name="adj1" fmla="val 50000"/>
              <a:gd name="adj2" fmla="val 106522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98664" name="Rectangle 8"/>
          <p:cNvSpPr>
            <a:spLocks noChangeArrowheads="1"/>
          </p:cNvSpPr>
          <p:nvPr/>
        </p:nvSpPr>
        <p:spPr bwMode="auto">
          <a:xfrm>
            <a:off x="8218488" y="1206500"/>
            <a:ext cx="649287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制</a:t>
            </a:r>
          </a:p>
          <a:p>
            <a:pPr algn="ctr" eaLnBrk="1" hangingPunct="1">
              <a:buClrTx/>
              <a:buFontTx/>
              <a:buNone/>
            </a:pPr>
            <a:endParaRPr lang="zh-CN" altLang="en-US" sz="2400">
              <a:latin typeface="Arial Narrow" pitchFamily="34" charset="0"/>
              <a:ea typeface="楷体_GB2312" pitchFamily="49" charset="-122"/>
            </a:endParaRP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造</a:t>
            </a:r>
          </a:p>
        </p:txBody>
      </p:sp>
      <p:sp>
        <p:nvSpPr>
          <p:cNvPr id="12293" name="Rectangle 9"/>
          <p:cNvSpPr>
            <a:spLocks noChangeArrowheads="1"/>
          </p:cNvSpPr>
          <p:nvPr/>
        </p:nvSpPr>
        <p:spPr bwMode="auto">
          <a:xfrm>
            <a:off x="442913" y="120650"/>
            <a:ext cx="43497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3600">
                <a:solidFill>
                  <a:srgbClr val="FF3300"/>
                </a:solidFill>
                <a:latin typeface="华文隶书" pitchFamily="2" charset="-122"/>
                <a:ea typeface="华文隶书" pitchFamily="2" charset="-122"/>
              </a:rPr>
              <a:t>机械设计的过程</a:t>
            </a:r>
          </a:p>
        </p:txBody>
      </p:sp>
      <p:sp>
        <p:nvSpPr>
          <p:cNvPr id="198672" name="Rectangle 16"/>
          <p:cNvSpPr>
            <a:spLocks noChangeArrowheads="1"/>
          </p:cNvSpPr>
          <p:nvPr/>
        </p:nvSpPr>
        <p:spPr bwMode="auto">
          <a:xfrm>
            <a:off x="185738" y="1152525"/>
            <a:ext cx="649287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zh-CN" sz="2400">
                <a:latin typeface="Arial Narrow" pitchFamily="34" charset="0"/>
                <a:ea typeface="楷体_GB2312" pitchFamily="49" charset="-122"/>
              </a:rPr>
              <a:t>F1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赛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车</a:t>
            </a:r>
          </a:p>
        </p:txBody>
      </p:sp>
      <p:sp>
        <p:nvSpPr>
          <p:cNvPr id="198673" name="Rectangle 17"/>
          <p:cNvSpPr>
            <a:spLocks noChangeArrowheads="1"/>
          </p:cNvSpPr>
          <p:nvPr/>
        </p:nvSpPr>
        <p:spPr bwMode="auto">
          <a:xfrm>
            <a:off x="1279525" y="930275"/>
            <a:ext cx="1751013" cy="19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动力性能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燃料经济性能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制动性能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操纵稳定性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行驶平顺性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198674" name="Rectangle 18"/>
          <p:cNvSpPr>
            <a:spLocks noChangeArrowheads="1"/>
          </p:cNvSpPr>
          <p:nvPr/>
        </p:nvSpPr>
        <p:spPr bwMode="auto">
          <a:xfrm>
            <a:off x="3233738" y="933450"/>
            <a:ext cx="1870075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发动机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底盘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轮胎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车身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电器设备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198676" name="Rectangle 20"/>
          <p:cNvSpPr>
            <a:spLocks noChangeArrowheads="1"/>
          </p:cNvSpPr>
          <p:nvPr/>
        </p:nvSpPr>
        <p:spPr bwMode="auto">
          <a:xfrm>
            <a:off x="5267325" y="941388"/>
            <a:ext cx="2784475" cy="196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结构参数优化和设计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零部件的强度校核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零部件的寿命预测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车身的美工造型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模拟计算和仿真分析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pic>
        <p:nvPicPr>
          <p:cNvPr id="198690" name="Picture 34" descr="F2007-3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35113" y="3116263"/>
            <a:ext cx="5764212" cy="3602037"/>
          </a:xfrm>
          <a:noFill/>
        </p:spPr>
      </p:pic>
      <p:sp>
        <p:nvSpPr>
          <p:cNvPr id="198692" name="Rectangle 36"/>
          <p:cNvSpPr>
            <a:spLocks noChangeArrowheads="1"/>
          </p:cNvSpPr>
          <p:nvPr/>
        </p:nvSpPr>
        <p:spPr bwMode="auto">
          <a:xfrm>
            <a:off x="3141663" y="731838"/>
            <a:ext cx="5002212" cy="22050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98695" name="Line 39"/>
          <p:cNvSpPr>
            <a:spLocks noChangeShapeType="1"/>
          </p:cNvSpPr>
          <p:nvPr/>
        </p:nvSpPr>
        <p:spPr bwMode="auto">
          <a:xfrm>
            <a:off x="2959100" y="1838325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8696" name="Line 40"/>
          <p:cNvSpPr>
            <a:spLocks noChangeShapeType="1"/>
          </p:cNvSpPr>
          <p:nvPr/>
        </p:nvSpPr>
        <p:spPr bwMode="auto">
          <a:xfrm>
            <a:off x="7799388" y="1863725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8697" name="Line 41"/>
          <p:cNvSpPr>
            <a:spLocks noChangeShapeType="1"/>
          </p:cNvSpPr>
          <p:nvPr/>
        </p:nvSpPr>
        <p:spPr bwMode="auto">
          <a:xfrm>
            <a:off x="4797425" y="1855788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9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8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8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8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8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9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8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8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86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9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9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animBg="1"/>
      <p:bldP spid="198664" grpId="0"/>
      <p:bldP spid="198672" grpId="0"/>
      <p:bldP spid="198673" grpId="0"/>
      <p:bldP spid="198674" grpId="0"/>
      <p:bldP spid="198676" grpId="0"/>
      <p:bldP spid="198692" grpId="0" animBg="1"/>
      <p:bldP spid="198695" grpId="0" animBg="1"/>
      <p:bldP spid="198696" grpId="0" animBg="1"/>
      <p:bldP spid="19869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391D2-370A-4A85-9788-69ED42E8010D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13315" name="AutoShape 2"/>
          <p:cNvSpPr>
            <a:spLocks noChangeArrowheads="1"/>
          </p:cNvSpPr>
          <p:nvPr/>
        </p:nvSpPr>
        <p:spPr bwMode="auto">
          <a:xfrm>
            <a:off x="809625" y="1782763"/>
            <a:ext cx="466725" cy="109537"/>
          </a:xfrm>
          <a:prstGeom prst="rightArrow">
            <a:avLst>
              <a:gd name="adj1" fmla="val 50000"/>
              <a:gd name="adj2" fmla="val 106522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8218488" y="1206500"/>
            <a:ext cx="649287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制</a:t>
            </a:r>
          </a:p>
          <a:p>
            <a:pPr algn="ctr" eaLnBrk="1" hangingPunct="1">
              <a:buClrTx/>
              <a:buFontTx/>
              <a:buNone/>
            </a:pPr>
            <a:endParaRPr lang="zh-CN" altLang="en-US" sz="2400">
              <a:latin typeface="Arial Narrow" pitchFamily="34" charset="0"/>
              <a:ea typeface="楷体_GB2312" pitchFamily="49" charset="-122"/>
            </a:endParaRP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造</a:t>
            </a: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442913" y="120650"/>
            <a:ext cx="43497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3600">
                <a:solidFill>
                  <a:srgbClr val="FF3300"/>
                </a:solidFill>
                <a:latin typeface="华文隶书" pitchFamily="2" charset="-122"/>
                <a:ea typeface="华文隶书" pitchFamily="2" charset="-122"/>
              </a:rPr>
              <a:t>机械设计的过程</a:t>
            </a:r>
          </a:p>
        </p:txBody>
      </p:sp>
      <p:sp>
        <p:nvSpPr>
          <p:cNvPr id="13318" name="Rectangle 5"/>
          <p:cNvSpPr>
            <a:spLocks noChangeArrowheads="1"/>
          </p:cNvSpPr>
          <p:nvPr/>
        </p:nvSpPr>
        <p:spPr bwMode="auto">
          <a:xfrm>
            <a:off x="185738" y="1152525"/>
            <a:ext cx="649287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zh-CN" sz="2400">
                <a:latin typeface="Arial Narrow" pitchFamily="34" charset="0"/>
                <a:ea typeface="楷体_GB2312" pitchFamily="49" charset="-122"/>
              </a:rPr>
              <a:t>F1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赛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车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1279525" y="930275"/>
            <a:ext cx="1751013" cy="19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动力性能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燃料经济性能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制动性能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操纵稳定性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行驶平顺性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3233738" y="933450"/>
            <a:ext cx="1870075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发动机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底盘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轮胎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车身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电器设备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5267325" y="941388"/>
            <a:ext cx="2784475" cy="196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结构参数优化和设计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零部件的强度校核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零部件的寿命预测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车身的美工造型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模拟计算和仿真分析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3141663" y="731838"/>
            <a:ext cx="5002212" cy="22050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2959100" y="1838325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>
            <a:off x="7799388" y="1863725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4797425" y="1855788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9935" name="AutoShape 15"/>
          <p:cNvSpPr>
            <a:spLocks noChangeArrowheads="1"/>
          </p:cNvSpPr>
          <p:nvPr/>
        </p:nvSpPr>
        <p:spPr bwMode="auto">
          <a:xfrm>
            <a:off x="806450" y="4606925"/>
            <a:ext cx="466725" cy="109538"/>
          </a:xfrm>
          <a:prstGeom prst="rightArrow">
            <a:avLst>
              <a:gd name="adj1" fmla="val 50000"/>
              <a:gd name="adj2" fmla="val 106521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09936" name="Rectangle 16"/>
          <p:cNvSpPr>
            <a:spLocks noChangeArrowheads="1"/>
          </p:cNvSpPr>
          <p:nvPr/>
        </p:nvSpPr>
        <p:spPr bwMode="auto">
          <a:xfrm>
            <a:off x="7258050" y="4010025"/>
            <a:ext cx="48736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加</a:t>
            </a:r>
            <a:endParaRPr lang="en-US" altLang="zh-CN" sz="2000">
              <a:latin typeface="Arial Narrow" pitchFamily="34" charset="0"/>
              <a:ea typeface="楷体_GB2312" pitchFamily="49" charset="-122"/>
            </a:endParaRPr>
          </a:p>
          <a:p>
            <a:pPr algn="ctr" eaLnBrk="1" hangingPunct="1">
              <a:buClrTx/>
              <a:buFontTx/>
              <a:buNone/>
            </a:pPr>
            <a:endParaRPr lang="en-US" altLang="zh-CN" sz="2000">
              <a:latin typeface="Arial Narrow" pitchFamily="34" charset="0"/>
              <a:ea typeface="楷体_GB2312" pitchFamily="49" charset="-122"/>
            </a:endParaRP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工</a:t>
            </a:r>
            <a:endParaRPr lang="en-US" altLang="zh-CN" sz="2000">
              <a:latin typeface="Arial Narrow" pitchFamily="34" charset="0"/>
              <a:ea typeface="楷体_GB2312" pitchFamily="49" charset="-122"/>
            </a:endParaRPr>
          </a:p>
          <a:p>
            <a:pPr algn="ctr" eaLnBrk="1" hangingPunct="1">
              <a:buClrTx/>
              <a:buFontTx/>
              <a:buNone/>
            </a:pPr>
            <a:endParaRPr lang="zh-CN" altLang="en-US" sz="20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209937" name="Rectangle 17"/>
          <p:cNvSpPr>
            <a:spLocks noChangeArrowheads="1"/>
          </p:cNvSpPr>
          <p:nvPr/>
        </p:nvSpPr>
        <p:spPr bwMode="auto">
          <a:xfrm>
            <a:off x="182563" y="3976688"/>
            <a:ext cx="649287" cy="142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需</a:t>
            </a:r>
          </a:p>
          <a:p>
            <a:pPr algn="ctr" eaLnBrk="1" hangingPunct="1">
              <a:buClrTx/>
              <a:buFontTx/>
              <a:buNone/>
            </a:pPr>
            <a:endParaRPr lang="zh-CN" altLang="en-US" sz="2400">
              <a:latin typeface="Arial Narrow" pitchFamily="34" charset="0"/>
              <a:ea typeface="楷体_GB2312" pitchFamily="49" charset="-122"/>
            </a:endParaRP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求</a:t>
            </a:r>
          </a:p>
        </p:txBody>
      </p:sp>
      <p:sp>
        <p:nvSpPr>
          <p:cNvPr id="209938" name="Rectangle 18"/>
          <p:cNvSpPr>
            <a:spLocks noChangeArrowheads="1"/>
          </p:cNvSpPr>
          <p:nvPr/>
        </p:nvSpPr>
        <p:spPr bwMode="auto">
          <a:xfrm>
            <a:off x="1244600" y="4216400"/>
            <a:ext cx="12319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需求分析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目标界定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209939" name="Rectangle 19"/>
          <p:cNvSpPr>
            <a:spLocks noChangeArrowheads="1"/>
          </p:cNvSpPr>
          <p:nvPr/>
        </p:nvSpPr>
        <p:spPr bwMode="auto">
          <a:xfrm>
            <a:off x="2886075" y="4103688"/>
            <a:ext cx="1311275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概念设计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总体设计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原理设计</a:t>
            </a:r>
          </a:p>
        </p:txBody>
      </p:sp>
      <p:sp>
        <p:nvSpPr>
          <p:cNvPr id="209940" name="Rectangle 20"/>
          <p:cNvSpPr>
            <a:spLocks noChangeArrowheads="1"/>
          </p:cNvSpPr>
          <p:nvPr/>
        </p:nvSpPr>
        <p:spPr bwMode="auto">
          <a:xfrm>
            <a:off x="4630738" y="4240213"/>
            <a:ext cx="1311275" cy="82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结构设计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详细设计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209941" name="Rectangle 21"/>
          <p:cNvSpPr>
            <a:spLocks noChangeArrowheads="1"/>
          </p:cNvSpPr>
          <p:nvPr/>
        </p:nvSpPr>
        <p:spPr bwMode="auto">
          <a:xfrm>
            <a:off x="2697163" y="3556000"/>
            <a:ext cx="3324225" cy="22050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09942" name="Rectangle 22"/>
          <p:cNvSpPr>
            <a:spLocks noChangeArrowheads="1"/>
          </p:cNvSpPr>
          <p:nvPr/>
        </p:nvSpPr>
        <p:spPr bwMode="auto">
          <a:xfrm>
            <a:off x="6337300" y="3890963"/>
            <a:ext cx="534988" cy="152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工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艺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设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计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209943" name="Rectangle 23"/>
          <p:cNvSpPr>
            <a:spLocks noChangeArrowheads="1"/>
          </p:cNvSpPr>
          <p:nvPr/>
        </p:nvSpPr>
        <p:spPr bwMode="auto">
          <a:xfrm>
            <a:off x="8264525" y="4005263"/>
            <a:ext cx="48736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产</a:t>
            </a:r>
          </a:p>
          <a:p>
            <a:pPr algn="ctr" eaLnBrk="1" hangingPunct="1">
              <a:buClrTx/>
              <a:buFontTx/>
              <a:buNone/>
            </a:pPr>
            <a:endParaRPr lang="zh-CN" altLang="en-US" sz="2400">
              <a:latin typeface="Arial Narrow" pitchFamily="34" charset="0"/>
              <a:ea typeface="楷体_GB2312" pitchFamily="49" charset="-122"/>
            </a:endParaRP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品</a:t>
            </a:r>
          </a:p>
        </p:txBody>
      </p:sp>
      <p:sp>
        <p:nvSpPr>
          <p:cNvPr id="209944" name="Line 24"/>
          <p:cNvSpPr>
            <a:spLocks noChangeShapeType="1"/>
          </p:cNvSpPr>
          <p:nvPr/>
        </p:nvSpPr>
        <p:spPr bwMode="auto">
          <a:xfrm>
            <a:off x="2435225" y="4678363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9945" name="Line 25"/>
          <p:cNvSpPr>
            <a:spLocks noChangeShapeType="1"/>
          </p:cNvSpPr>
          <p:nvPr/>
        </p:nvSpPr>
        <p:spPr bwMode="auto">
          <a:xfrm>
            <a:off x="4160838" y="4662488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9946" name="Line 26"/>
          <p:cNvSpPr>
            <a:spLocks noChangeShapeType="1"/>
          </p:cNvSpPr>
          <p:nvPr/>
        </p:nvSpPr>
        <p:spPr bwMode="auto">
          <a:xfrm>
            <a:off x="7791450" y="4667250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9947" name="Line 27"/>
          <p:cNvSpPr>
            <a:spLocks noChangeShapeType="1"/>
          </p:cNvSpPr>
          <p:nvPr/>
        </p:nvSpPr>
        <p:spPr bwMode="auto">
          <a:xfrm>
            <a:off x="5848350" y="4651375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9948" name="Line 28"/>
          <p:cNvSpPr>
            <a:spLocks noChangeShapeType="1"/>
          </p:cNvSpPr>
          <p:nvPr/>
        </p:nvSpPr>
        <p:spPr bwMode="auto">
          <a:xfrm>
            <a:off x="6805613" y="4662488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9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9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0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0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0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09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9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9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0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0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35" grpId="0" animBg="1"/>
      <p:bldP spid="209936" grpId="0"/>
      <p:bldP spid="209937" grpId="0"/>
      <p:bldP spid="209938" grpId="0"/>
      <p:bldP spid="209939" grpId="0"/>
      <p:bldP spid="209940" grpId="0"/>
      <p:bldP spid="209941" grpId="0" animBg="1"/>
      <p:bldP spid="209942" grpId="0"/>
      <p:bldP spid="209943" grpId="0"/>
      <p:bldP spid="209944" grpId="0" animBg="1"/>
      <p:bldP spid="209945" grpId="0" animBg="1"/>
      <p:bldP spid="209946" grpId="0" animBg="1"/>
      <p:bldP spid="209947" grpId="0" animBg="1"/>
      <p:bldP spid="20994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7E766F-368A-4EDA-B9ED-05E2D74F4BF9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174096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3929063" y="576263"/>
            <a:ext cx="4972050" cy="1687512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b="1" smtClean="0"/>
              <a:t>可视化（</a:t>
            </a:r>
            <a:r>
              <a:rPr lang="en-US" altLang="zh-CN" sz="2400" b="1" smtClean="0"/>
              <a:t>Visualize</a:t>
            </a:r>
            <a:r>
              <a:rPr lang="zh-CN" altLang="en-US" sz="2400" b="1" smtClean="0"/>
              <a:t>）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b="1" smtClean="0"/>
              <a:t>交流    （</a:t>
            </a:r>
            <a:r>
              <a:rPr lang="en-US" altLang="zh-CN" sz="2400" b="1" smtClean="0"/>
              <a:t>Communicate</a:t>
            </a:r>
            <a:r>
              <a:rPr lang="zh-CN" altLang="en-US" sz="2400" b="1" smtClean="0"/>
              <a:t>）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b="1" smtClean="0"/>
              <a:t>文件    （</a:t>
            </a:r>
            <a:r>
              <a:rPr lang="en-US" altLang="zh-CN" sz="2400" b="1" smtClean="0"/>
              <a:t>Document</a:t>
            </a:r>
            <a:r>
              <a:rPr lang="zh-CN" altLang="en-US" sz="2400" b="1" smtClean="0"/>
              <a:t>）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b="1" smtClean="0"/>
              <a:t>制造    （</a:t>
            </a:r>
            <a:r>
              <a:rPr lang="en-US" altLang="zh-CN" sz="2400" b="1" smtClean="0"/>
              <a:t>Manufacture</a:t>
            </a:r>
            <a:r>
              <a:rPr lang="zh-CN" altLang="en-US" sz="2400" b="1" smtClean="0"/>
              <a:t>）</a:t>
            </a:r>
          </a:p>
        </p:txBody>
      </p:sp>
      <p:sp>
        <p:nvSpPr>
          <p:cNvPr id="14340" name="Rectangle 17"/>
          <p:cNvSpPr>
            <a:spLocks noChangeArrowheads="1"/>
          </p:cNvSpPr>
          <p:nvPr/>
        </p:nvSpPr>
        <p:spPr bwMode="auto">
          <a:xfrm>
            <a:off x="193675" y="895350"/>
            <a:ext cx="34448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3600">
                <a:solidFill>
                  <a:srgbClr val="FF3300"/>
                </a:solidFill>
                <a:latin typeface="华文隶书" pitchFamily="2" charset="-122"/>
                <a:ea typeface="华文隶书" pitchFamily="2" charset="-122"/>
              </a:rPr>
              <a:t>工程图的作用</a:t>
            </a:r>
          </a:p>
        </p:txBody>
      </p:sp>
      <p:sp>
        <p:nvSpPr>
          <p:cNvPr id="174098" name="Rectangle 18"/>
          <p:cNvSpPr>
            <a:spLocks noChangeArrowheads="1"/>
          </p:cNvSpPr>
          <p:nvPr/>
        </p:nvSpPr>
        <p:spPr bwMode="auto">
          <a:xfrm>
            <a:off x="227013" y="2901950"/>
            <a:ext cx="31019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3600">
                <a:solidFill>
                  <a:srgbClr val="FF3300"/>
                </a:solidFill>
                <a:latin typeface="华文隶书" pitchFamily="2" charset="-122"/>
                <a:ea typeface="华文隶书" pitchFamily="2" charset="-122"/>
              </a:rPr>
              <a:t>工程图的种类</a:t>
            </a:r>
            <a:endParaRPr lang="zh-CN" altLang="en-US" sz="24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4101" name="Rectangle 21"/>
          <p:cNvSpPr>
            <a:spLocks noChangeArrowheads="1"/>
          </p:cNvSpPr>
          <p:nvPr/>
        </p:nvSpPr>
        <p:spPr bwMode="auto">
          <a:xfrm>
            <a:off x="3771900" y="2824163"/>
            <a:ext cx="3240088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>
                <a:latin typeface="宋体" pitchFamily="2" charset="-122"/>
              </a:rPr>
              <a:t>二维工程图*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400">
                <a:latin typeface="宋体" pitchFamily="2" charset="-122"/>
              </a:rPr>
              <a:t>三维工程图</a:t>
            </a:r>
          </a:p>
        </p:txBody>
      </p:sp>
      <p:pic>
        <p:nvPicPr>
          <p:cNvPr id="174102" name="Picture 22" descr="电脑辅助设计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225" y="4100513"/>
            <a:ext cx="2644775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3" name="Picture 23" descr="设计师手绘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4111625"/>
            <a:ext cx="2828925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4104" name="Object 24">
            <a:hlinkClick r:id="rId5" action="ppaction://hlinksldjump"/>
          </p:cNvPr>
          <p:cNvGraphicFramePr>
            <a:graphicFrameLocks noChangeAspect="1"/>
          </p:cNvGraphicFramePr>
          <p:nvPr/>
        </p:nvGraphicFramePr>
        <p:xfrm>
          <a:off x="3216275" y="4016375"/>
          <a:ext cx="3259138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0" name="Image" r:id="rId6" imgW="11098413" imgH="7009524" progId="Photoshop.Image.6">
                  <p:embed/>
                </p:oleObj>
              </mc:Choice>
              <mc:Fallback>
                <p:oleObj name="Image" r:id="rId6" imgW="11098413" imgH="7009524" progId="Photoshop.Image.6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016375"/>
                        <a:ext cx="3259138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40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40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40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98" grpId="0"/>
      <p:bldP spid="17410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90E998-D9EB-4F2B-B479-D7B342802BE4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609600" y="681038"/>
            <a:ext cx="7921214" cy="430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b="0" dirty="0">
                <a:latin typeface="黑体" pitchFamily="2" charset="-122"/>
                <a:ea typeface="黑体" pitchFamily="2" charset="-122"/>
              </a:rPr>
              <a:t>二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．任务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</a:t>
            </a:r>
            <a:endParaRPr lang="en-US" altLang="zh-CN" sz="28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800" b="0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传授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机械工程设计表达的基本理论和方法。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培养空间的形象思维能力。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塑造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严谨求实的科研作风。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E5992-8C07-4BF9-9CC6-B9216508195D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341313" y="425589"/>
            <a:ext cx="8802687" cy="684212"/>
          </a:xfrm>
        </p:spPr>
        <p:txBody>
          <a:bodyPr/>
          <a:lstStyle/>
          <a:p>
            <a:pPr eaLnBrk="1" hangingPunct="1"/>
            <a:r>
              <a:rPr lang="en-US" altLang="zh-CN" sz="3200" b="1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三．内容</a:t>
            </a:r>
            <a:endParaRPr lang="zh-CN" altLang="en-US" sz="3200" b="1" dirty="0" smtClean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4650" y="1787664"/>
            <a:ext cx="8437563" cy="3856037"/>
          </a:xfrm>
        </p:spPr>
        <p:txBody>
          <a:bodyPr/>
          <a:lstStyle/>
          <a:p>
            <a:pPr lvl="1" eaLnBrk="1" hangingPunct="1">
              <a:buFont typeface="Monotype Sorts" pitchFamily="2" charset="2"/>
              <a:buNone/>
            </a:pP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几何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元素的投影 </a:t>
            </a:r>
            <a:r>
              <a:rPr lang="en-US" altLang="zh-CN" sz="2400" b="1" dirty="0" smtClean="0">
                <a:ea typeface="黑体" pitchFamily="2" charset="-122"/>
              </a:rPr>
              <a:t>— </a:t>
            </a:r>
            <a:r>
              <a:rPr lang="zh-CN" altLang="en-US" sz="2400" b="1" dirty="0" smtClean="0">
                <a:ea typeface="黑体" pitchFamily="2" charset="-122"/>
              </a:rPr>
              <a:t>点、线、面的投影规律及其相对位置关系。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 </a:t>
            </a:r>
          </a:p>
          <a:p>
            <a:pPr lvl="1" eaLnBrk="1" hangingPunct="1">
              <a:buFont typeface="Monotype Sorts" pitchFamily="2" charset="2"/>
              <a:buNone/>
            </a:pPr>
            <a:endParaRPr lang="zh-CN" altLang="en-US" sz="2400" b="1" dirty="0" smtClean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立体的投影 </a:t>
            </a:r>
            <a:r>
              <a:rPr lang="en-US" altLang="zh-CN" sz="2400" b="1" dirty="0" smtClean="0">
                <a:ea typeface="黑体" pitchFamily="2" charset="-122"/>
              </a:rPr>
              <a:t>— </a:t>
            </a:r>
            <a:r>
              <a:rPr lang="zh-CN" altLang="en-US" sz="2400" b="1" dirty="0" smtClean="0">
                <a:ea typeface="黑体" pitchFamily="2" charset="-122"/>
              </a:rPr>
              <a:t>立体的构成和投影规律。</a:t>
            </a:r>
            <a:endParaRPr lang="zh-CN" altLang="en-US" sz="2400" b="1" dirty="0" smtClean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endParaRPr lang="zh-CN" altLang="en-US" sz="2400" b="1" dirty="0" smtClean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形体表达 </a:t>
            </a:r>
            <a:r>
              <a:rPr lang="en-US" altLang="zh-CN" sz="2400" b="1" dirty="0" smtClean="0">
                <a:ea typeface="黑体" pitchFamily="2" charset="-122"/>
              </a:rPr>
              <a:t>— </a:t>
            </a:r>
            <a:r>
              <a:rPr lang="zh-CN" altLang="en-US" sz="2400" b="1" dirty="0" smtClean="0">
                <a:ea typeface="黑体" pitchFamily="2" charset="-122"/>
              </a:rPr>
              <a:t>在国家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标准指引下，如何表达复杂形体。</a:t>
            </a:r>
          </a:p>
          <a:p>
            <a:pPr lvl="1" eaLnBrk="1" hangingPunct="1">
              <a:buFont typeface="Monotype Sorts" pitchFamily="2" charset="2"/>
              <a:buNone/>
            </a:pPr>
            <a:endParaRPr lang="zh-CN" altLang="en-US" sz="2400" b="1" dirty="0" smtClean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4.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机械制图 </a:t>
            </a:r>
            <a:r>
              <a:rPr lang="en-US" altLang="zh-CN" sz="2400" b="1" dirty="0" smtClean="0">
                <a:ea typeface="黑体" pitchFamily="2" charset="-122"/>
              </a:rPr>
              <a:t>— 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零件图、装配图的绘制和读图方法。</a:t>
            </a:r>
          </a:p>
          <a:p>
            <a:pPr lvl="1" eaLnBrk="1" hangingPunct="1">
              <a:buFont typeface="Monotype Sorts" pitchFamily="2" charset="2"/>
              <a:buNone/>
            </a:pPr>
            <a:endParaRPr lang="en-US" altLang="zh-CN" b="1" dirty="0" smtClean="0">
              <a:latin typeface="黑体" pitchFamily="2" charset="-122"/>
              <a:ea typeface="黑体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43032" y="4571990"/>
            <a:ext cx="9057939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03F1E9-26C7-4310-B367-B380A1619FBC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25413" y="144463"/>
            <a:ext cx="8899525" cy="6971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en-US" altLang="zh-CN" sz="36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四．学习方法</a:t>
            </a: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      When I hear, I forget. When I see, I remember. When I do, I understand.                                   </a:t>
            </a:r>
            <a:r>
              <a:rPr lang="zh-CN" altLang="en-US" sz="2400" dirty="0">
                <a:ea typeface="黑体" pitchFamily="2" charset="-122"/>
              </a:rPr>
              <a:t>－ </a:t>
            </a:r>
            <a:r>
              <a:rPr lang="en-US" altLang="zh-CN" sz="2400" dirty="0">
                <a:ea typeface="黑体" pitchFamily="2" charset="-122"/>
              </a:rPr>
              <a:t>Ancient Chinese proverb</a:t>
            </a:r>
            <a:endParaRPr lang="zh-CN" altLang="en-US" sz="36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问题：</a:t>
            </a:r>
            <a:r>
              <a:rPr lang="zh-CN" altLang="en-US" sz="28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如何快速提高形象思维能力？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      形象思维的过程：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              形象感受－形象储存－形象判断－形象改造－形象描述。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原则一：增加形象感受的机会。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     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看典型立体模型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。</a:t>
            </a: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 模型室：新水</a:t>
            </a:r>
            <a:r>
              <a:rPr lang="en-US" altLang="zh-CN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313</a:t>
            </a: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、李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兆基</a:t>
            </a:r>
            <a:r>
              <a:rPr lang="en-US" altLang="zh-CN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A305 </a:t>
            </a: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zh-CN" altLang="en-US" sz="20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     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作业认真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。      </a:t>
            </a: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 绘图 </a:t>
            </a:r>
            <a:r>
              <a:rPr lang="en-US" altLang="zh-CN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– </a:t>
            </a: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默想</a:t>
            </a:r>
            <a:r>
              <a:rPr lang="en-US" altLang="zh-CN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分钟）</a:t>
            </a:r>
            <a:endParaRPr lang="zh-CN" altLang="en-US" sz="20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      原则二：注重解题方法。</a:t>
            </a:r>
          </a:p>
          <a:p>
            <a:pPr lvl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黑体" pitchFamily="2" charset="-122"/>
              </a:rPr>
              <a:t>                  </a:t>
            </a:r>
            <a:r>
              <a:rPr lang="en-US" altLang="zh-CN" sz="2400" dirty="0">
                <a:ea typeface="黑体" pitchFamily="2" charset="-122"/>
              </a:rPr>
              <a:t>3.  </a:t>
            </a:r>
            <a:r>
              <a:rPr lang="zh-CN" altLang="en-US" sz="2400" dirty="0">
                <a:ea typeface="黑体" pitchFamily="2" charset="-122"/>
              </a:rPr>
              <a:t>答疑</a:t>
            </a:r>
            <a:r>
              <a:rPr lang="zh-CN" altLang="en-US" sz="2400" dirty="0" smtClean="0">
                <a:ea typeface="黑体" pitchFamily="2" charset="-122"/>
              </a:rPr>
              <a:t>。               </a:t>
            </a: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 欢迎答疑，我们一起解决问题）</a:t>
            </a:r>
            <a:endParaRPr lang="zh-CN" altLang="en-US" sz="20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000" dirty="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2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2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2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136911" y="69990"/>
            <a:ext cx="8802687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五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．要求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 1.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作业拆成单页，写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明学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号、班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号和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姓名，全部保留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 2.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上课携带：书、习题集、绘图用具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023" y="1578095"/>
            <a:ext cx="8918575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绘图用具包括：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buClrTx/>
              <a:buSzTx/>
              <a:buFontTx/>
              <a:buChar char="•"/>
            </a:pP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dirty="0" smtClean="0">
                <a:latin typeface="黑体" pitchFamily="2" charset="-122"/>
                <a:ea typeface="黑体" pitchFamily="2" charset="-122"/>
              </a:rPr>
              <a:t> 两支铅笔，一支画粗线（</a:t>
            </a:r>
            <a:r>
              <a:rPr lang="en-US" altLang="zh-CN" sz="2000" dirty="0" smtClean="0">
                <a:latin typeface="黑体" pitchFamily="2" charset="-122"/>
                <a:ea typeface="黑体" pitchFamily="2" charset="-122"/>
              </a:rPr>
              <a:t>HB</a:t>
            </a:r>
            <a:r>
              <a:rPr lang="zh-CN" altLang="en-US" sz="2000" dirty="0" smtClean="0">
                <a:latin typeface="黑体" pitchFamily="2" charset="-122"/>
                <a:ea typeface="黑体" pitchFamily="2" charset="-122"/>
              </a:rPr>
              <a:t>），一支画细线（</a:t>
            </a:r>
            <a:r>
              <a:rPr lang="en-US" altLang="zh-CN" sz="2000" dirty="0" smtClean="0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000" dirty="0" smtClean="0">
                <a:latin typeface="黑体" pitchFamily="2" charset="-122"/>
                <a:ea typeface="黑体" pitchFamily="2" charset="-122"/>
              </a:rPr>
              <a:t>）；</a:t>
            </a:r>
            <a:endParaRPr lang="en-US" altLang="zh-CN" sz="2000" dirty="0" smtClean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buClrTx/>
              <a:buSzTx/>
              <a:buFontTx/>
              <a:buChar char="•"/>
            </a:pP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000" dirty="0" smtClean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zh-CN" sz="2000" dirty="0" smtClean="0">
                <a:latin typeface="黑体" pitchFamily="2" charset="-122"/>
                <a:ea typeface="黑体" pitchFamily="2" charset="-122"/>
              </a:rPr>
              <a:t>削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笔</a:t>
            </a:r>
            <a:r>
              <a:rPr lang="zh-CN" altLang="zh-CN" sz="2000" dirty="0">
                <a:latin typeface="黑体" pitchFamily="2" charset="-122"/>
                <a:ea typeface="黑体" pitchFamily="2" charset="-122"/>
              </a:rPr>
              <a:t>刀，橡皮</a:t>
            </a:r>
            <a:r>
              <a:rPr lang="zh-CN" altLang="zh-CN" sz="2000" dirty="0" smtClean="0">
                <a:latin typeface="黑体" pitchFamily="2" charset="-122"/>
                <a:ea typeface="黑体" pitchFamily="2" charset="-122"/>
              </a:rPr>
              <a:t>，三角尺</a:t>
            </a:r>
            <a:r>
              <a:rPr lang="zh-CN" altLang="zh-CN" sz="2000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&gt;1</a:t>
            </a:r>
            <a:r>
              <a:rPr lang="zh-CN" altLang="zh-CN" sz="2000" i="1" dirty="0">
                <a:latin typeface="ISOCPEUR" pitchFamily="34" charset="0"/>
                <a:ea typeface="黑体" pitchFamily="2" charset="-122"/>
              </a:rPr>
              <a:t>50 </a:t>
            </a:r>
            <a:r>
              <a:rPr lang="en-US" altLang="zh-CN" sz="2000" dirty="0">
                <a:latin typeface="ISOCPEUR" pitchFamily="34" charset="0"/>
                <a:ea typeface="黑体" pitchFamily="2" charset="-122"/>
              </a:rPr>
              <a:t>mm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）、</a:t>
            </a:r>
            <a:r>
              <a:rPr lang="zh-CN" altLang="zh-CN" sz="2000" dirty="0" smtClean="0">
                <a:latin typeface="黑体" pitchFamily="2" charset="-122"/>
                <a:ea typeface="黑体" pitchFamily="2" charset="-122"/>
              </a:rPr>
              <a:t>圆规</a:t>
            </a:r>
            <a:r>
              <a:rPr lang="zh-CN" altLang="en-US" sz="2000" dirty="0" smtClean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0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" name="灯片编号占位符 3"/>
          <p:cNvSpPr txBox="1">
            <a:spLocks/>
          </p:cNvSpPr>
          <p:nvPr/>
        </p:nvSpPr>
        <p:spPr bwMode="auto">
          <a:xfrm>
            <a:off x="7019344" y="6519404"/>
            <a:ext cx="1438855" cy="186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kumimoji="1" sz="1400" b="0" kern="1200">
                <a:solidFill>
                  <a:schemeClr val="bg2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cs typeface="+mn-cs"/>
              </a:defRPr>
            </a:lvl9pPr>
          </a:lstStyle>
          <a:p>
            <a:pPr>
              <a:defRPr/>
            </a:pPr>
            <a:fld id="{DB994594-5BA8-4A3D-BD5A-74521CD032F5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9" t="14403" r="7027" b="37505"/>
          <a:stretch>
            <a:fillRect/>
          </a:stretch>
        </p:blipFill>
        <p:spPr bwMode="auto">
          <a:xfrm>
            <a:off x="537860" y="3033623"/>
            <a:ext cx="4884438" cy="2168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0" t="28714" r="16953" b="34866"/>
          <a:stretch>
            <a:fillRect/>
          </a:stretch>
        </p:blipFill>
        <p:spPr bwMode="auto">
          <a:xfrm>
            <a:off x="4699444" y="4227387"/>
            <a:ext cx="4402896" cy="170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00CFF-6BFC-4C50-B725-2A9673913186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77087"/>
              </p:ext>
            </p:extLst>
          </p:nvPr>
        </p:nvGraphicFramePr>
        <p:xfrm>
          <a:off x="330923" y="301195"/>
          <a:ext cx="6876673" cy="5155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8" name="Image" r:id="rId3" imgW="14196825" imgH="10641270" progId="Photoshop.Image.6">
                  <p:embed/>
                </p:oleObj>
              </mc:Choice>
              <mc:Fallback>
                <p:oleObj name="Image" r:id="rId3" imgW="14196825" imgH="10641270" progId="Photoshop.Image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23" y="301195"/>
                        <a:ext cx="6876673" cy="5155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箭头连接符 3"/>
          <p:cNvCxnSpPr/>
          <p:nvPr/>
        </p:nvCxnSpPr>
        <p:spPr bwMode="auto">
          <a:xfrm flipH="1" flipV="1">
            <a:off x="5030678" y="1763697"/>
            <a:ext cx="2747101" cy="97939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/>
          </a:ln>
          <a:effectLst/>
        </p:spPr>
      </p:cxnSp>
      <p:sp>
        <p:nvSpPr>
          <p:cNvPr id="5" name="矩形 4"/>
          <p:cNvSpPr/>
          <p:nvPr/>
        </p:nvSpPr>
        <p:spPr>
          <a:xfrm>
            <a:off x="6907162" y="2724717"/>
            <a:ext cx="22260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 smtClean="0">
                <a:latin typeface="黑体" pitchFamily="2" charset="-122"/>
              </a:rPr>
              <a:t>铅笔</a:t>
            </a:r>
            <a:r>
              <a:rPr lang="en-US" altLang="zh-CN" sz="2000" dirty="0" smtClean="0">
                <a:latin typeface="黑体" pitchFamily="2" charset="-122"/>
              </a:rPr>
              <a:t>2</a:t>
            </a:r>
            <a:r>
              <a:rPr lang="zh-CN" altLang="en-US" sz="2000" dirty="0" smtClean="0">
                <a:latin typeface="黑体" pitchFamily="2" charset="-122"/>
              </a:rPr>
              <a:t>支</a:t>
            </a:r>
            <a:endParaRPr lang="zh-CN" altLang="en-US" sz="2000" dirty="0">
              <a:latin typeface="黑体" pitchFamily="2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V="1">
            <a:off x="796066" y="4336568"/>
            <a:ext cx="1487512" cy="1537107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/>
          </a:ln>
          <a:effectLst/>
        </p:spPr>
      </p:cxnSp>
      <p:sp>
        <p:nvSpPr>
          <p:cNvPr id="9" name="矩形 8"/>
          <p:cNvSpPr/>
          <p:nvPr/>
        </p:nvSpPr>
        <p:spPr>
          <a:xfrm>
            <a:off x="57498" y="5986077"/>
            <a:ext cx="22260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 smtClean="0">
                <a:latin typeface="黑体" pitchFamily="2" charset="-122"/>
              </a:rPr>
              <a:t>圆规</a:t>
            </a:r>
            <a:r>
              <a:rPr lang="en-US" altLang="zh-CN" sz="2000" dirty="0" smtClean="0">
                <a:latin typeface="黑体" pitchFamily="2" charset="-122"/>
              </a:rPr>
              <a:t>1</a:t>
            </a:r>
            <a:r>
              <a:rPr lang="zh-CN" altLang="en-US" sz="2000" dirty="0" smtClean="0">
                <a:latin typeface="黑体" pitchFamily="2" charset="-122"/>
              </a:rPr>
              <a:t>支</a:t>
            </a:r>
            <a:endParaRPr lang="zh-CN" altLang="en-US" sz="2000" dirty="0">
              <a:latin typeface="黑体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 flipV="1">
            <a:off x="2657139" y="4649026"/>
            <a:ext cx="1370971" cy="1337051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/>
          </a:ln>
          <a:effectLst/>
        </p:spPr>
      </p:cxnSp>
      <p:sp>
        <p:nvSpPr>
          <p:cNvPr id="12" name="矩形 11"/>
          <p:cNvSpPr/>
          <p:nvPr/>
        </p:nvSpPr>
        <p:spPr>
          <a:xfrm>
            <a:off x="1802030" y="6001660"/>
            <a:ext cx="22260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 smtClean="0">
                <a:latin typeface="黑体" pitchFamily="2" charset="-122"/>
              </a:rPr>
              <a:t>橡皮</a:t>
            </a:r>
            <a:r>
              <a:rPr lang="en-US" altLang="zh-CN" sz="2000" dirty="0" smtClean="0">
                <a:latin typeface="黑体" pitchFamily="2" charset="-122"/>
              </a:rPr>
              <a:t>1</a:t>
            </a:r>
            <a:r>
              <a:rPr lang="zh-CN" altLang="en-US" sz="2000" dirty="0" smtClean="0">
                <a:latin typeface="黑体" pitchFamily="2" charset="-122"/>
              </a:rPr>
              <a:t>个</a:t>
            </a:r>
            <a:endParaRPr lang="zh-CN" altLang="en-US" sz="2000" dirty="0">
              <a:latin typeface="黑体" pitchFamily="2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 bwMode="auto">
          <a:xfrm flipH="1" flipV="1">
            <a:off x="4881865" y="3357178"/>
            <a:ext cx="690596" cy="2516497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/>
          </a:ln>
          <a:effectLst/>
        </p:spPr>
      </p:cxnSp>
      <p:sp>
        <p:nvSpPr>
          <p:cNvPr id="15" name="矩形 14"/>
          <p:cNvSpPr/>
          <p:nvPr/>
        </p:nvSpPr>
        <p:spPr>
          <a:xfrm>
            <a:off x="4509916" y="5878599"/>
            <a:ext cx="22260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 smtClean="0">
                <a:latin typeface="黑体" pitchFamily="2" charset="-122"/>
              </a:rPr>
              <a:t>三角板</a:t>
            </a:r>
            <a:r>
              <a:rPr lang="en-US" altLang="zh-CN" sz="2000" dirty="0" smtClean="0">
                <a:latin typeface="黑体" pitchFamily="2" charset="-122"/>
              </a:rPr>
              <a:t>1</a:t>
            </a:r>
            <a:r>
              <a:rPr lang="zh-CN" altLang="en-US" sz="2000" dirty="0" smtClean="0">
                <a:latin typeface="黑体" pitchFamily="2" charset="-122"/>
              </a:rPr>
              <a:t>套</a:t>
            </a:r>
            <a:endParaRPr lang="zh-CN" altLang="en-US" sz="2000" dirty="0">
              <a:latin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3DFC8D-4673-4F18-B5C2-9B4D8000C69A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graphicFrame>
        <p:nvGraphicFramePr>
          <p:cNvPr id="165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137632"/>
              </p:ext>
            </p:extLst>
          </p:nvPr>
        </p:nvGraphicFramePr>
        <p:xfrm>
          <a:off x="1300163" y="1233965"/>
          <a:ext cx="60960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4" name="BMP 图像" r:id="rId3" imgW="11134800" imgH="1876320" progId="Paint.Picture">
                  <p:embed/>
                </p:oleObj>
              </mc:Choice>
              <mc:Fallback>
                <p:oleObj name="BMP 图像" r:id="rId3" imgW="11134800" imgH="187632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1233965"/>
                        <a:ext cx="6096000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346289"/>
              </p:ext>
            </p:extLst>
          </p:nvPr>
        </p:nvGraphicFramePr>
        <p:xfrm>
          <a:off x="1436688" y="2408715"/>
          <a:ext cx="4408487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5" name="位图图像" r:id="rId5" imgW="7666667" imgH="1628571" progId="Paint.Picture">
                  <p:embed/>
                </p:oleObj>
              </mc:Choice>
              <mc:Fallback>
                <p:oleObj name="位图图像" r:id="rId5" imgW="7666667" imgH="1628571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2408715"/>
                        <a:ext cx="4408487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735731"/>
              </p:ext>
            </p:extLst>
          </p:nvPr>
        </p:nvGraphicFramePr>
        <p:xfrm>
          <a:off x="1406525" y="3562828"/>
          <a:ext cx="443547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6" name="位图图像" r:id="rId7" imgW="7714286" imgH="1647619" progId="Paint.Picture">
                  <p:embed/>
                </p:oleObj>
              </mc:Choice>
              <mc:Fallback>
                <p:oleObj name="位图图像" r:id="rId7" imgW="7714286" imgH="1647619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525" y="3562828"/>
                        <a:ext cx="4435475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183962"/>
              </p:ext>
            </p:extLst>
          </p:nvPr>
        </p:nvGraphicFramePr>
        <p:xfrm>
          <a:off x="1398588" y="4742340"/>
          <a:ext cx="4443412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7" name="位图图像" r:id="rId9" imgW="7725853" imgH="1924319" progId="Paint.Picture">
                  <p:embed/>
                </p:oleObj>
              </mc:Choice>
              <mc:Fallback>
                <p:oleObj name="位图图像" r:id="rId9" imgW="7725853" imgH="1924319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588" y="4742340"/>
                        <a:ext cx="4443412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153025" y="4737578"/>
            <a:ext cx="1230313" cy="517525"/>
            <a:chOff x="3246" y="2781"/>
            <a:chExt cx="775" cy="326"/>
          </a:xfrm>
        </p:grpSpPr>
        <p:sp>
          <p:nvSpPr>
            <p:cNvPr id="23570" name="Line 10"/>
            <p:cNvSpPr>
              <a:spLocks noChangeShapeType="1"/>
            </p:cNvSpPr>
            <p:nvPr/>
          </p:nvSpPr>
          <p:spPr bwMode="auto">
            <a:xfrm flipV="1">
              <a:off x="3246" y="2872"/>
              <a:ext cx="62" cy="23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1" name="Line 11"/>
            <p:cNvSpPr>
              <a:spLocks noChangeShapeType="1"/>
            </p:cNvSpPr>
            <p:nvPr/>
          </p:nvSpPr>
          <p:spPr bwMode="auto">
            <a:xfrm>
              <a:off x="3246" y="3106"/>
              <a:ext cx="480" cy="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Line 12"/>
            <p:cNvSpPr>
              <a:spLocks noChangeShapeType="1"/>
            </p:cNvSpPr>
            <p:nvPr/>
          </p:nvSpPr>
          <p:spPr bwMode="auto">
            <a:xfrm flipV="1">
              <a:off x="3397" y="2788"/>
              <a:ext cx="84" cy="3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3" name="Line 13"/>
            <p:cNvSpPr>
              <a:spLocks noChangeShapeType="1"/>
            </p:cNvSpPr>
            <p:nvPr/>
          </p:nvSpPr>
          <p:spPr bwMode="auto">
            <a:xfrm>
              <a:off x="3313" y="2870"/>
              <a:ext cx="141" cy="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4" name="Arc 14"/>
            <p:cNvSpPr>
              <a:spLocks/>
            </p:cNvSpPr>
            <p:nvPr/>
          </p:nvSpPr>
          <p:spPr bwMode="auto">
            <a:xfrm>
              <a:off x="3399" y="2825"/>
              <a:ext cx="287" cy="278"/>
            </a:xfrm>
            <a:custGeom>
              <a:avLst/>
              <a:gdLst>
                <a:gd name="T0" fmla="*/ 0 w 21600"/>
                <a:gd name="T1" fmla="*/ 0 h 20921"/>
                <a:gd name="T2" fmla="*/ 0 w 21600"/>
                <a:gd name="T3" fmla="*/ 0 h 20921"/>
                <a:gd name="T4" fmla="*/ 0 w 21600"/>
                <a:gd name="T5" fmla="*/ 0 h 2092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921"/>
                <a:gd name="T11" fmla="*/ 21600 w 21600"/>
                <a:gd name="T12" fmla="*/ 20921 h 209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921" fill="none" extrusionOk="0">
                  <a:moveTo>
                    <a:pt x="5373" y="-1"/>
                  </a:moveTo>
                  <a:cubicBezTo>
                    <a:pt x="14923" y="2452"/>
                    <a:pt x="21600" y="11061"/>
                    <a:pt x="21600" y="20921"/>
                  </a:cubicBezTo>
                </a:path>
                <a:path w="21600" h="20921" stroke="0" extrusionOk="0">
                  <a:moveTo>
                    <a:pt x="5373" y="-1"/>
                  </a:moveTo>
                  <a:cubicBezTo>
                    <a:pt x="14923" y="2452"/>
                    <a:pt x="21600" y="11061"/>
                    <a:pt x="21600" y="20921"/>
                  </a:cubicBezTo>
                  <a:lnTo>
                    <a:pt x="0" y="20921"/>
                  </a:lnTo>
                  <a:lnTo>
                    <a:pt x="5373" y="-1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5" name="Text Box 15"/>
            <p:cNvSpPr txBox="1">
              <a:spLocks noChangeArrowheads="1"/>
            </p:cNvSpPr>
            <p:nvPr/>
          </p:nvSpPr>
          <p:spPr bwMode="auto">
            <a:xfrm>
              <a:off x="3569" y="2781"/>
              <a:ext cx="4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FF0000"/>
                  </a:solidFill>
                  <a:latin typeface="仿宋_GB2312" pitchFamily="49" charset="-122"/>
                  <a:ea typeface="仿宋_GB2312" pitchFamily="49" charset="-122"/>
                </a:rPr>
                <a:t>75</a:t>
              </a:r>
              <a:r>
                <a:rPr lang="en-US" altLang="zh-CN" sz="2000" i="1">
                  <a:solidFill>
                    <a:srgbClr val="FF0000"/>
                  </a:solidFill>
                  <a:latin typeface="仿宋_GB2312" pitchFamily="49" charset="-122"/>
                  <a:ea typeface="仿宋_GB2312" pitchFamily="49" charset="-122"/>
                  <a:cs typeface="ISOCP" pitchFamily="2" charset="0"/>
                </a:rPr>
                <a:t>°</a:t>
              </a:r>
            </a:p>
          </p:txBody>
        </p:sp>
      </p:grpSp>
      <p:grpSp>
        <p:nvGrpSpPr>
          <p:cNvPr id="23563" name="Group 16"/>
          <p:cNvGrpSpPr>
            <a:grpSpLocks/>
          </p:cNvGrpSpPr>
          <p:nvPr/>
        </p:nvGrpSpPr>
        <p:grpSpPr bwMode="auto">
          <a:xfrm>
            <a:off x="341313" y="369888"/>
            <a:ext cx="8805862" cy="519112"/>
            <a:chOff x="215" y="233"/>
            <a:chExt cx="5547" cy="327"/>
          </a:xfrm>
        </p:grpSpPr>
        <p:sp>
          <p:nvSpPr>
            <p:cNvPr id="23568" name="Rectangle 17"/>
            <p:cNvSpPr>
              <a:spLocks noChangeArrowheads="1"/>
            </p:cNvSpPr>
            <p:nvPr/>
          </p:nvSpPr>
          <p:spPr bwMode="auto">
            <a:xfrm>
              <a:off x="215" y="233"/>
              <a:ext cx="554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800" dirty="0" smtClean="0">
                  <a:latin typeface="黑体" pitchFamily="2" charset="-122"/>
                  <a:ea typeface="黑体" pitchFamily="2" charset="-122"/>
                </a:rPr>
                <a:t>3.</a:t>
              </a:r>
              <a:r>
                <a:rPr lang="zh-CN" altLang="en-US" sz="2800" dirty="0">
                  <a:latin typeface="黑体" pitchFamily="2" charset="-122"/>
                  <a:ea typeface="黑体" pitchFamily="2" charset="-122"/>
                </a:rPr>
                <a:t>字迹工整：</a:t>
              </a:r>
              <a:r>
                <a:rPr lang="zh-CN" altLang="en-US" sz="2400" dirty="0">
                  <a:latin typeface="黑体" pitchFamily="2" charset="-122"/>
                  <a:ea typeface="黑体" pitchFamily="2" charset="-122"/>
                </a:rPr>
                <a:t>字高 </a:t>
              </a:r>
              <a:r>
                <a:rPr lang="en-US" altLang="zh-CN" sz="2400" i="1" dirty="0">
                  <a:latin typeface="ISOCPEUR" pitchFamily="34" charset="0"/>
                  <a:ea typeface="仿宋_GB2312" pitchFamily="49" charset="-122"/>
                </a:rPr>
                <a:t>h</a:t>
              </a:r>
              <a:r>
                <a:rPr lang="en-US" altLang="zh-CN" sz="2400" i="1" dirty="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400" dirty="0">
                  <a:latin typeface="黑体" pitchFamily="2" charset="-122"/>
                  <a:ea typeface="黑体" pitchFamily="2" charset="-122"/>
                </a:rPr>
                <a:t>= </a:t>
              </a:r>
              <a:r>
                <a:rPr lang="en-US" altLang="zh-CN" sz="2400" i="1" dirty="0">
                  <a:latin typeface="ISOCPEUR" pitchFamily="34" charset="0"/>
                  <a:ea typeface="黑体" pitchFamily="2" charset="-122"/>
                </a:rPr>
                <a:t>3.5 </a:t>
              </a:r>
              <a:r>
                <a:rPr lang="en-US" altLang="zh-CN" sz="2400" dirty="0">
                  <a:latin typeface="ISOCPEUR" pitchFamily="34" charset="0"/>
                  <a:ea typeface="黑体" pitchFamily="2" charset="-122"/>
                </a:rPr>
                <a:t>mm</a:t>
              </a:r>
              <a:r>
                <a:rPr lang="zh-CN" altLang="en-US" sz="2400" dirty="0">
                  <a:latin typeface="ISOCPEUR" pitchFamily="34" charset="0"/>
                  <a:ea typeface="黑体" pitchFamily="2" charset="-122"/>
                </a:rPr>
                <a:t>（字宽 </a:t>
              </a:r>
              <a:r>
                <a:rPr lang="en-US" altLang="zh-CN" sz="2400" dirty="0">
                  <a:latin typeface="黑体" pitchFamily="2" charset="-122"/>
                  <a:ea typeface="黑体" pitchFamily="2" charset="-122"/>
                </a:rPr>
                <a:t>= </a:t>
              </a:r>
              <a:r>
                <a:rPr lang="en-US" altLang="zh-CN" sz="2400" i="1" dirty="0">
                  <a:latin typeface="ISOCPEUR" pitchFamily="34" charset="0"/>
                  <a:ea typeface="仿宋_GB2312" pitchFamily="49" charset="-122"/>
                </a:rPr>
                <a:t>h</a:t>
              </a:r>
              <a:r>
                <a:rPr lang="en-US" altLang="zh-CN" sz="2400" dirty="0">
                  <a:latin typeface="黑体" pitchFamily="2" charset="-122"/>
                  <a:ea typeface="黑体" pitchFamily="2" charset="-122"/>
                </a:rPr>
                <a:t> /  </a:t>
              </a:r>
              <a:r>
                <a:rPr lang="en-US" altLang="zh-CN" sz="2400" i="1" dirty="0">
                  <a:latin typeface="ISOCPEUR" pitchFamily="34" charset="0"/>
                  <a:ea typeface="黑体" pitchFamily="2" charset="-122"/>
                </a:rPr>
                <a:t>2 </a:t>
              </a:r>
              <a:r>
                <a:rPr lang="zh-CN" altLang="en-US" sz="2400" dirty="0">
                  <a:latin typeface="ISOCPEUR" pitchFamily="34" charset="0"/>
                  <a:ea typeface="黑体" pitchFamily="2" charset="-122"/>
                </a:rPr>
                <a:t>）</a:t>
              </a:r>
            </a:p>
          </p:txBody>
        </p:sp>
        <p:sp>
          <p:nvSpPr>
            <p:cNvPr id="23569" name="Freeform 18"/>
            <p:cNvSpPr>
              <a:spLocks/>
            </p:cNvSpPr>
            <p:nvPr/>
          </p:nvSpPr>
          <p:spPr bwMode="auto">
            <a:xfrm>
              <a:off x="4305" y="332"/>
              <a:ext cx="303" cy="163"/>
            </a:xfrm>
            <a:custGeom>
              <a:avLst/>
              <a:gdLst>
                <a:gd name="T0" fmla="*/ 0 w 303"/>
                <a:gd name="T1" fmla="*/ 94 h 178"/>
                <a:gd name="T2" fmla="*/ 44 w 303"/>
                <a:gd name="T3" fmla="*/ 58 h 178"/>
                <a:gd name="T4" fmla="*/ 67 w 303"/>
                <a:gd name="T5" fmla="*/ 125 h 178"/>
                <a:gd name="T6" fmla="*/ 133 w 303"/>
                <a:gd name="T7" fmla="*/ 0 h 178"/>
                <a:gd name="T8" fmla="*/ 303 w 303"/>
                <a:gd name="T9" fmla="*/ 0 h 1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3"/>
                <a:gd name="T16" fmla="*/ 0 h 178"/>
                <a:gd name="T17" fmla="*/ 303 w 303"/>
                <a:gd name="T18" fmla="*/ 178 h 1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3" h="178">
                  <a:moveTo>
                    <a:pt x="0" y="133"/>
                  </a:moveTo>
                  <a:lnTo>
                    <a:pt x="44" y="82"/>
                  </a:lnTo>
                  <a:lnTo>
                    <a:pt x="67" y="178"/>
                  </a:lnTo>
                  <a:lnTo>
                    <a:pt x="133" y="0"/>
                  </a:lnTo>
                  <a:lnTo>
                    <a:pt x="303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CCD518-878B-4689-BDB6-90CE828A3320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24579" name="Rectangle 20"/>
          <p:cNvSpPr>
            <a:spLocks noChangeArrowheads="1"/>
          </p:cNvSpPr>
          <p:nvPr/>
        </p:nvSpPr>
        <p:spPr bwMode="auto">
          <a:xfrm>
            <a:off x="566738" y="2037579"/>
            <a:ext cx="8077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</a:pPr>
            <a:endParaRPr lang="en-US" altLang="zh-CN" dirty="0">
              <a:solidFill>
                <a:srgbClr val="FF0000"/>
              </a:solidFill>
              <a:latin typeface="宋体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粗实线</a:t>
            </a:r>
            <a:r>
              <a:rPr lang="zh-CN" altLang="en-US" sz="2400" dirty="0">
                <a:latin typeface="宋体" pitchFamily="2" charset="-122"/>
              </a:rPr>
              <a:t>：线宽</a:t>
            </a:r>
            <a:r>
              <a:rPr lang="en-US" altLang="zh-CN" sz="2400" dirty="0"/>
              <a:t>d=0.7mm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dirty="0">
              <a:solidFill>
                <a:srgbClr val="FF0000"/>
              </a:solidFill>
              <a:latin typeface="宋体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细线</a:t>
            </a:r>
            <a:r>
              <a:rPr lang="zh-CN" altLang="en-US" sz="2400" dirty="0">
                <a:latin typeface="宋体" pitchFamily="2" charset="-122"/>
              </a:rPr>
              <a:t>：线宽</a:t>
            </a:r>
            <a:r>
              <a:rPr lang="en-US" altLang="zh-CN" sz="2400" dirty="0"/>
              <a:t>d=0.35mm</a:t>
            </a:r>
            <a:endParaRPr lang="en-US" altLang="zh-CN" b="0" dirty="0"/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zh-CN" altLang="en-US" dirty="0" smtClean="0">
                <a:latin typeface="宋体" pitchFamily="2" charset="-122"/>
              </a:rPr>
              <a:t>  细</a:t>
            </a:r>
            <a:r>
              <a:rPr lang="zh-CN" altLang="en-US" dirty="0">
                <a:latin typeface="宋体" pitchFamily="2" charset="-122"/>
              </a:rPr>
              <a:t>实线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zh-CN" altLang="en-US" dirty="0" smtClean="0">
                <a:latin typeface="宋体" pitchFamily="2" charset="-122"/>
              </a:rPr>
              <a:t>  虚线  </a:t>
            </a:r>
            <a:r>
              <a:rPr lang="zh-CN" altLang="en-US" dirty="0">
                <a:latin typeface="宋体" pitchFamily="2" charset="-122"/>
              </a:rPr>
              <a:t>	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zh-CN" altLang="en-US" dirty="0" smtClean="0">
                <a:latin typeface="宋体" pitchFamily="2" charset="-122"/>
              </a:rPr>
              <a:t>  细点</a:t>
            </a:r>
            <a:r>
              <a:rPr lang="zh-CN" altLang="en-US" dirty="0">
                <a:latin typeface="宋体" pitchFamily="2" charset="-122"/>
              </a:rPr>
              <a:t>划线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zh-CN" altLang="en-US" dirty="0" smtClean="0">
                <a:latin typeface="宋体" pitchFamily="2" charset="-122"/>
              </a:rPr>
              <a:t>  波浪</a:t>
            </a:r>
            <a:r>
              <a:rPr lang="zh-CN" altLang="en-US" dirty="0">
                <a:latin typeface="宋体" pitchFamily="2" charset="-122"/>
              </a:rPr>
              <a:t>线</a:t>
            </a:r>
          </a:p>
        </p:txBody>
      </p:sp>
      <p:sp>
        <p:nvSpPr>
          <p:cNvPr id="24580" name="Line 21"/>
          <p:cNvSpPr>
            <a:spLocks noChangeShapeType="1"/>
          </p:cNvSpPr>
          <p:nvPr/>
        </p:nvSpPr>
        <p:spPr bwMode="auto">
          <a:xfrm>
            <a:off x="4799013" y="2748779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1" name="Line 22"/>
          <p:cNvSpPr>
            <a:spLocks noChangeShapeType="1"/>
          </p:cNvSpPr>
          <p:nvPr/>
        </p:nvSpPr>
        <p:spPr bwMode="auto">
          <a:xfrm>
            <a:off x="3498850" y="4101329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2" name="Line 23"/>
          <p:cNvSpPr>
            <a:spLocks noChangeShapeType="1"/>
          </p:cNvSpPr>
          <p:nvPr/>
        </p:nvSpPr>
        <p:spPr bwMode="auto">
          <a:xfrm>
            <a:off x="3481388" y="4461692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3" name="Line 24"/>
          <p:cNvSpPr>
            <a:spLocks noChangeShapeType="1"/>
          </p:cNvSpPr>
          <p:nvPr/>
        </p:nvSpPr>
        <p:spPr bwMode="auto">
          <a:xfrm>
            <a:off x="3471863" y="4928417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4" name="Rectangle 25"/>
          <p:cNvSpPr>
            <a:spLocks noChangeArrowheads="1"/>
          </p:cNvSpPr>
          <p:nvPr/>
        </p:nvSpPr>
        <p:spPr bwMode="auto">
          <a:xfrm>
            <a:off x="631825" y="544513"/>
            <a:ext cx="202088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黑体" pitchFamily="2" charset="-122"/>
              </a:rPr>
              <a:t>4</a:t>
            </a:r>
            <a:r>
              <a:rPr lang="en-US" altLang="zh-CN" dirty="0" smtClean="0">
                <a:ea typeface="黑体" pitchFamily="2" charset="-122"/>
              </a:rPr>
              <a:t>. </a:t>
            </a:r>
            <a:r>
              <a:rPr lang="zh-CN" altLang="zh-CN" dirty="0">
                <a:ea typeface="黑体" pitchFamily="2" charset="-122"/>
              </a:rPr>
              <a:t>线型</a:t>
            </a:r>
            <a:endParaRPr lang="zh-CN" altLang="en-US" dirty="0">
              <a:ea typeface="黑体" pitchFamily="2" charset="-122"/>
            </a:endParaRPr>
          </a:p>
        </p:txBody>
      </p:sp>
      <p:sp>
        <p:nvSpPr>
          <p:cNvPr id="24585" name="Freeform 26"/>
          <p:cNvSpPr>
            <a:spLocks/>
          </p:cNvSpPr>
          <p:nvPr/>
        </p:nvSpPr>
        <p:spPr bwMode="auto">
          <a:xfrm>
            <a:off x="3416300" y="5322117"/>
            <a:ext cx="1981200" cy="165100"/>
          </a:xfrm>
          <a:custGeom>
            <a:avLst/>
            <a:gdLst>
              <a:gd name="T0" fmla="*/ 0 w 1248"/>
              <a:gd name="T1" fmla="*/ 2147483647 h 104"/>
              <a:gd name="T2" fmla="*/ 2147483647 w 1248"/>
              <a:gd name="T3" fmla="*/ 2147483647 h 104"/>
              <a:gd name="T4" fmla="*/ 2147483647 w 1248"/>
              <a:gd name="T5" fmla="*/ 2147483647 h 104"/>
              <a:gd name="T6" fmla="*/ 2147483647 w 1248"/>
              <a:gd name="T7" fmla="*/ 2147483647 h 104"/>
              <a:gd name="T8" fmla="*/ 2147483647 w 1248"/>
              <a:gd name="T9" fmla="*/ 2147483647 h 104"/>
              <a:gd name="T10" fmla="*/ 2147483647 w 1248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48"/>
              <a:gd name="T19" fmla="*/ 0 h 104"/>
              <a:gd name="T20" fmla="*/ 1248 w 1248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48" h="104">
                <a:moveTo>
                  <a:pt x="0" y="56"/>
                </a:moveTo>
                <a:cubicBezTo>
                  <a:pt x="40" y="32"/>
                  <a:pt x="80" y="8"/>
                  <a:pt x="144" y="8"/>
                </a:cubicBezTo>
                <a:cubicBezTo>
                  <a:pt x="208" y="8"/>
                  <a:pt x="296" y="56"/>
                  <a:pt x="384" y="56"/>
                </a:cubicBezTo>
                <a:cubicBezTo>
                  <a:pt x="472" y="56"/>
                  <a:pt x="576" y="0"/>
                  <a:pt x="672" y="8"/>
                </a:cubicBezTo>
                <a:cubicBezTo>
                  <a:pt x="768" y="16"/>
                  <a:pt x="864" y="104"/>
                  <a:pt x="960" y="104"/>
                </a:cubicBezTo>
                <a:cubicBezTo>
                  <a:pt x="1056" y="104"/>
                  <a:pt x="1152" y="56"/>
                  <a:pt x="1248" y="8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028206" y="1495323"/>
            <a:ext cx="53387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各种线型具有明确的物理含义。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C6386B-B43E-46D3-84EE-7DB2944F3E78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graphicFrame>
        <p:nvGraphicFramePr>
          <p:cNvPr id="166976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595690"/>
              </p:ext>
            </p:extLst>
          </p:nvPr>
        </p:nvGraphicFramePr>
        <p:xfrm>
          <a:off x="223838" y="827088"/>
          <a:ext cx="8478837" cy="4441851"/>
        </p:xfrm>
        <a:graphic>
          <a:graphicData uri="http://schemas.openxmlformats.org/drawingml/2006/table">
            <a:tbl>
              <a:tblPr/>
              <a:tblGrid>
                <a:gridCol w="1060450"/>
                <a:gridCol w="1652587"/>
                <a:gridCol w="1031875"/>
                <a:gridCol w="4733925"/>
              </a:tblGrid>
              <a:tr h="50001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图线名称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图线型式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图线宽度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一般应用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9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粗实线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可见轮廓线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93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细实线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0.5d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尺寸线及尺寸界线、剖面线、重合断面的轮廓线、螺纹的牙底线及齿轮的齿根线、引出线、分界线及范围线、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辅助线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、不连续的同一表面的连线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9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波浪线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0.5d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断裂处的边界线、视图和剖视的分界线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9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双折线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0.5d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断裂处的边界线、视图和剖视的分界线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9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虚线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0.5d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不可见轮廓线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、不可见过渡线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9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点画线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0.5d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轴线、对称中心线、轨迹线、节圆及节线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1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双点画线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0.5d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相邻辅助零件的轮廓线、极限位置的轮廓线、坯料的轮廓线、假想投影轮廓线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5650" name="Picture 57" descr="B1-1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213" y="1520825"/>
            <a:ext cx="1038225" cy="13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51" name="Picture 58" descr="B1-1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181225"/>
            <a:ext cx="10572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52" name="Picture 59" descr="B1-1-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2860675"/>
            <a:ext cx="10763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53" name="Picture 60" descr="B1-1-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3" y="3333750"/>
            <a:ext cx="1066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54" name="Picture 61" descr="B1-1-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3886200"/>
            <a:ext cx="10191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55" name="Picture 62" descr="B1-1-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4422775"/>
            <a:ext cx="1057275" cy="13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56" name="Picture 63" descr="B1-1-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4930775"/>
            <a:ext cx="1076325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4CBE23-A617-4B21-9661-4B24820303C8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26627" name="Rectangle 31"/>
          <p:cNvSpPr>
            <a:spLocks noChangeArrowheads="1"/>
          </p:cNvSpPr>
          <p:nvPr/>
        </p:nvSpPr>
        <p:spPr bwMode="auto">
          <a:xfrm>
            <a:off x="203200" y="203200"/>
            <a:ext cx="42338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>
                <a:ea typeface="黑体" pitchFamily="2" charset="-122"/>
              </a:rPr>
              <a:t>§1.2</a:t>
            </a:r>
            <a:r>
              <a:rPr lang="en-US" altLang="zh-CN" sz="40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4000">
                <a:latin typeface="黑体" pitchFamily="2" charset="-122"/>
                <a:ea typeface="黑体" pitchFamily="2" charset="-122"/>
              </a:rPr>
              <a:t>投影基础</a:t>
            </a:r>
            <a:endParaRPr lang="zh-CN" altLang="en-US" sz="4000" b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7728" name="Text Box 32"/>
          <p:cNvSpPr txBox="1">
            <a:spLocks noChangeArrowheads="1"/>
          </p:cNvSpPr>
          <p:nvPr/>
        </p:nvSpPr>
        <p:spPr bwMode="auto">
          <a:xfrm>
            <a:off x="436563" y="4719638"/>
            <a:ext cx="33369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黑体" pitchFamily="2" charset="-122"/>
              </a:rPr>
              <a:t>Gaspard Monge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黑体" pitchFamily="2" charset="-122"/>
              </a:rPr>
              <a:t> (1746 – 1818)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法国数学家</a:t>
            </a:r>
            <a:endParaRPr lang="zh-CN" altLang="en-US" sz="2400">
              <a:ea typeface="黑体" pitchFamily="2" charset="-122"/>
            </a:endParaRPr>
          </a:p>
        </p:txBody>
      </p:sp>
      <p:graphicFrame>
        <p:nvGraphicFramePr>
          <p:cNvPr id="157729" name="Object 33"/>
          <p:cNvGraphicFramePr>
            <a:graphicFrameLocks noChangeAspect="1"/>
          </p:cNvGraphicFramePr>
          <p:nvPr/>
        </p:nvGraphicFramePr>
        <p:xfrm>
          <a:off x="669925" y="1295400"/>
          <a:ext cx="2552700" cy="310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9" name="Photo Editor 照片" r:id="rId3" imgW="2553056" imgH="3104762" progId="MSPhotoEd.3">
                  <p:embed/>
                </p:oleObj>
              </mc:Choice>
              <mc:Fallback>
                <p:oleObj name="Photo Editor 照片" r:id="rId3" imgW="2553056" imgH="3104762" progId="MSPhotoEd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1295400"/>
                        <a:ext cx="2552700" cy="310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30" name="Object 34"/>
          <p:cNvGraphicFramePr>
            <a:graphicFrameLocks noChangeAspect="1"/>
          </p:cNvGraphicFramePr>
          <p:nvPr/>
        </p:nvGraphicFramePr>
        <p:xfrm>
          <a:off x="3922713" y="779463"/>
          <a:ext cx="4667250" cy="569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0" name="Image" r:id="rId5" imgW="6209524" imgH="7580952" progId="Photoshop.Image.6">
                  <p:embed/>
                </p:oleObj>
              </mc:Choice>
              <mc:Fallback>
                <p:oleObj name="Image" r:id="rId5" imgW="6209524" imgH="7580952" progId="Photoshop.Image.6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779463"/>
                        <a:ext cx="4667250" cy="569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7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7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7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453C9F-8F9F-49AF-B8A0-0E90343BAFAE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680200" y="161925"/>
            <a:ext cx="2133600" cy="4427538"/>
            <a:chOff x="3702" y="432"/>
            <a:chExt cx="1344" cy="2789"/>
          </a:xfrm>
        </p:grpSpPr>
        <p:sp>
          <p:nvSpPr>
            <p:cNvPr id="27678" name="Line 3"/>
            <p:cNvSpPr>
              <a:spLocks noChangeShapeType="1"/>
            </p:cNvSpPr>
            <p:nvPr/>
          </p:nvSpPr>
          <p:spPr bwMode="auto">
            <a:xfrm>
              <a:off x="3702" y="432"/>
              <a:ext cx="1344" cy="7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9" name="Line 4"/>
            <p:cNvSpPr>
              <a:spLocks noChangeShapeType="1"/>
            </p:cNvSpPr>
            <p:nvPr/>
          </p:nvSpPr>
          <p:spPr bwMode="auto">
            <a:xfrm>
              <a:off x="5046" y="1205"/>
              <a:ext cx="0" cy="2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0" name="Freeform 5"/>
            <p:cNvSpPr>
              <a:spLocks/>
            </p:cNvSpPr>
            <p:nvPr/>
          </p:nvSpPr>
          <p:spPr bwMode="auto">
            <a:xfrm>
              <a:off x="3702" y="437"/>
              <a:ext cx="1344" cy="2784"/>
            </a:xfrm>
            <a:custGeom>
              <a:avLst/>
              <a:gdLst>
                <a:gd name="T0" fmla="*/ 0 w 1344"/>
                <a:gd name="T1" fmla="*/ 0 h 2784"/>
                <a:gd name="T2" fmla="*/ 1344 w 1344"/>
                <a:gd name="T3" fmla="*/ 768 h 2784"/>
                <a:gd name="T4" fmla="*/ 1344 w 1344"/>
                <a:gd name="T5" fmla="*/ 2784 h 2784"/>
                <a:gd name="T6" fmla="*/ 0 w 1344"/>
                <a:gd name="T7" fmla="*/ 2008 h 2784"/>
                <a:gd name="T8" fmla="*/ 0 w 1344"/>
                <a:gd name="T9" fmla="*/ 0 h 27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4"/>
                <a:gd name="T16" fmla="*/ 0 h 2784"/>
                <a:gd name="T17" fmla="*/ 1344 w 1344"/>
                <a:gd name="T18" fmla="*/ 2784 h 27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4" h="2784">
                  <a:moveTo>
                    <a:pt x="0" y="0"/>
                  </a:moveTo>
                  <a:lnTo>
                    <a:pt x="1344" y="768"/>
                  </a:lnTo>
                  <a:lnTo>
                    <a:pt x="1344" y="2784"/>
                  </a:lnTo>
                  <a:lnTo>
                    <a:pt x="0" y="200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5830" name="Text Box 6"/>
          <p:cNvSpPr txBox="1">
            <a:spLocks noChangeArrowheads="1"/>
          </p:cNvSpPr>
          <p:nvPr/>
        </p:nvSpPr>
        <p:spPr bwMode="auto">
          <a:xfrm>
            <a:off x="8274050" y="3895725"/>
            <a:ext cx="347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endParaRPr lang="en-US" altLang="zh-CN" sz="2400">
              <a:latin typeface="ISOCPEUR" pitchFamily="34" charset="0"/>
            </a:endParaRP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537075" y="1609725"/>
            <a:ext cx="914400" cy="1219200"/>
            <a:chOff x="2352" y="1344"/>
            <a:chExt cx="576" cy="768"/>
          </a:xfrm>
        </p:grpSpPr>
        <p:sp>
          <p:nvSpPr>
            <p:cNvPr id="27675" name="Freeform 8"/>
            <p:cNvSpPr>
              <a:spLocks/>
            </p:cNvSpPr>
            <p:nvPr/>
          </p:nvSpPr>
          <p:spPr bwMode="auto">
            <a:xfrm>
              <a:off x="2352" y="1344"/>
              <a:ext cx="576" cy="768"/>
            </a:xfrm>
            <a:custGeom>
              <a:avLst/>
              <a:gdLst>
                <a:gd name="T0" fmla="*/ 0 w 576"/>
                <a:gd name="T1" fmla="*/ 336 h 768"/>
                <a:gd name="T2" fmla="*/ 240 w 576"/>
                <a:gd name="T3" fmla="*/ 0 h 768"/>
                <a:gd name="T4" fmla="*/ 576 w 576"/>
                <a:gd name="T5" fmla="*/ 768 h 768"/>
                <a:gd name="T6" fmla="*/ 0 w 576"/>
                <a:gd name="T7" fmla="*/ 336 h 7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768"/>
                <a:gd name="T14" fmla="*/ 576 w 576"/>
                <a:gd name="T15" fmla="*/ 768 h 7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768">
                  <a:moveTo>
                    <a:pt x="0" y="336"/>
                  </a:moveTo>
                  <a:lnTo>
                    <a:pt x="240" y="0"/>
                  </a:lnTo>
                  <a:lnTo>
                    <a:pt x="576" y="768"/>
                  </a:lnTo>
                  <a:lnTo>
                    <a:pt x="0" y="33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6" name="Line 9"/>
            <p:cNvSpPr>
              <a:spLocks noChangeShapeType="1"/>
            </p:cNvSpPr>
            <p:nvPr/>
          </p:nvSpPr>
          <p:spPr bwMode="auto">
            <a:xfrm flipH="1">
              <a:off x="2355" y="1344"/>
              <a:ext cx="237" cy="3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7" name="Line 10"/>
            <p:cNvSpPr>
              <a:spLocks noChangeShapeType="1"/>
            </p:cNvSpPr>
            <p:nvPr/>
          </p:nvSpPr>
          <p:spPr bwMode="auto">
            <a:xfrm>
              <a:off x="2355" y="1686"/>
              <a:ext cx="561" cy="4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5835" name="Line 11"/>
          <p:cNvSpPr>
            <a:spLocks noChangeShapeType="1"/>
          </p:cNvSpPr>
          <p:nvPr/>
        </p:nvSpPr>
        <p:spPr bwMode="auto">
          <a:xfrm>
            <a:off x="3060700" y="2033588"/>
            <a:ext cx="4370388" cy="1438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836" name="Freeform 12"/>
          <p:cNvSpPr>
            <a:spLocks/>
          </p:cNvSpPr>
          <p:nvPr/>
        </p:nvSpPr>
        <p:spPr bwMode="auto">
          <a:xfrm>
            <a:off x="6996113" y="1116013"/>
            <a:ext cx="1198562" cy="2346325"/>
          </a:xfrm>
          <a:custGeom>
            <a:avLst/>
            <a:gdLst>
              <a:gd name="T0" fmla="*/ 0 w 755"/>
              <a:gd name="T1" fmla="*/ 0 h 1478"/>
              <a:gd name="T2" fmla="*/ 2147483647 w 755"/>
              <a:gd name="T3" fmla="*/ 2147483647 h 1478"/>
              <a:gd name="T4" fmla="*/ 2147483647 w 755"/>
              <a:gd name="T5" fmla="*/ 2147483647 h 1478"/>
              <a:gd name="T6" fmla="*/ 0 w 755"/>
              <a:gd name="T7" fmla="*/ 0 h 1478"/>
              <a:gd name="T8" fmla="*/ 0 60000 65536"/>
              <a:gd name="T9" fmla="*/ 0 60000 65536"/>
              <a:gd name="T10" fmla="*/ 0 60000 65536"/>
              <a:gd name="T11" fmla="*/ 0 60000 65536"/>
              <a:gd name="T12" fmla="*/ 0 w 755"/>
              <a:gd name="T13" fmla="*/ 0 h 1478"/>
              <a:gd name="T14" fmla="*/ 755 w 755"/>
              <a:gd name="T15" fmla="*/ 1478 h 14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5" h="1478">
                <a:moveTo>
                  <a:pt x="0" y="0"/>
                </a:moveTo>
                <a:lnTo>
                  <a:pt x="755" y="845"/>
                </a:lnTo>
                <a:lnTo>
                  <a:pt x="277" y="1478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837" name="Text Box 13"/>
          <p:cNvSpPr txBox="1">
            <a:spLocks noChangeArrowheads="1"/>
          </p:cNvSpPr>
          <p:nvPr/>
        </p:nvSpPr>
        <p:spPr bwMode="auto">
          <a:xfrm>
            <a:off x="2811463" y="1487488"/>
            <a:ext cx="430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S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205838" name="Text Box 14"/>
          <p:cNvSpPr txBox="1">
            <a:spLocks noChangeArrowheads="1"/>
          </p:cNvSpPr>
          <p:nvPr/>
        </p:nvSpPr>
        <p:spPr bwMode="auto">
          <a:xfrm>
            <a:off x="4643438" y="1189038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A</a:t>
            </a:r>
          </a:p>
        </p:txBody>
      </p:sp>
      <p:sp>
        <p:nvSpPr>
          <p:cNvPr id="205839" name="Text Box 15"/>
          <p:cNvSpPr txBox="1">
            <a:spLocks noChangeArrowheads="1"/>
          </p:cNvSpPr>
          <p:nvPr/>
        </p:nvSpPr>
        <p:spPr bwMode="auto">
          <a:xfrm>
            <a:off x="4225925" y="1733550"/>
            <a:ext cx="347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B</a:t>
            </a:r>
          </a:p>
        </p:txBody>
      </p:sp>
      <p:sp>
        <p:nvSpPr>
          <p:cNvPr id="205840" name="Text Box 16"/>
          <p:cNvSpPr txBox="1">
            <a:spLocks noChangeArrowheads="1"/>
          </p:cNvSpPr>
          <p:nvPr/>
        </p:nvSpPr>
        <p:spPr bwMode="auto">
          <a:xfrm>
            <a:off x="5368925" y="2444750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C</a:t>
            </a:r>
          </a:p>
        </p:txBody>
      </p:sp>
      <p:sp>
        <p:nvSpPr>
          <p:cNvPr id="205841" name="Text Box 17"/>
          <p:cNvSpPr txBox="1">
            <a:spLocks noChangeArrowheads="1"/>
          </p:cNvSpPr>
          <p:nvPr/>
        </p:nvSpPr>
        <p:spPr bwMode="auto">
          <a:xfrm>
            <a:off x="6788150" y="776288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205842" name="Text Box 18"/>
          <p:cNvSpPr txBox="1">
            <a:spLocks noChangeArrowheads="1"/>
          </p:cNvSpPr>
          <p:nvPr/>
        </p:nvSpPr>
        <p:spPr bwMode="auto">
          <a:xfrm>
            <a:off x="7327900" y="3402013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c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205843" name="AutoShape 19"/>
          <p:cNvSpPr>
            <a:spLocks noChangeArrowheads="1"/>
          </p:cNvSpPr>
          <p:nvPr/>
        </p:nvSpPr>
        <p:spPr bwMode="auto">
          <a:xfrm>
            <a:off x="7397750" y="3435350"/>
            <a:ext cx="74613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05844" name="Text Box 20"/>
          <p:cNvSpPr txBox="1">
            <a:spLocks noChangeArrowheads="1"/>
          </p:cNvSpPr>
          <p:nvPr/>
        </p:nvSpPr>
        <p:spPr bwMode="auto">
          <a:xfrm>
            <a:off x="371475" y="4281488"/>
            <a:ext cx="6434138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投影条件及标注：</a:t>
            </a:r>
          </a:p>
          <a:p>
            <a:pPr eaLnBrk="1" hangingPunct="1">
              <a:buClrTx/>
              <a:buFontTx/>
              <a:buChar char="•"/>
            </a:pPr>
            <a:r>
              <a:rPr lang="zh-CN" altLang="en-US" sz="2400" b="0"/>
              <a:t>　</a:t>
            </a:r>
            <a:r>
              <a:rPr lang="zh-CN" altLang="en-US" sz="2400">
                <a:ea typeface="黑体" pitchFamily="2" charset="-122"/>
              </a:rPr>
              <a:t>投射线</a:t>
            </a:r>
            <a:r>
              <a:rPr lang="zh-CN" altLang="en-US" sz="2400"/>
              <a:t>（</a:t>
            </a:r>
            <a:r>
              <a:rPr lang="en-US" altLang="zh-CN" sz="2400" i="1">
                <a:latin typeface="ISOCPEUR" pitchFamily="34" charset="0"/>
              </a:rPr>
              <a:t>s</a:t>
            </a:r>
            <a:r>
              <a:rPr lang="zh-CN" altLang="en-US" sz="2400"/>
              <a:t>）、</a:t>
            </a:r>
            <a:r>
              <a:rPr lang="zh-CN" altLang="en-US" sz="2400">
                <a:ea typeface="黑体" pitchFamily="2" charset="-122"/>
              </a:rPr>
              <a:t>投射中心（</a:t>
            </a:r>
            <a:r>
              <a:rPr lang="en-US" altLang="zh-CN" sz="2400">
                <a:ea typeface="黑体" pitchFamily="2" charset="-122"/>
              </a:rPr>
              <a:t>S</a:t>
            </a:r>
            <a:r>
              <a:rPr lang="zh-CN" altLang="en-US" sz="2400">
                <a:ea typeface="黑体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/>
              <a:t>　</a:t>
            </a:r>
            <a:r>
              <a:rPr lang="zh-CN" altLang="en-US" sz="2400">
                <a:ea typeface="黑体" pitchFamily="2" charset="-122"/>
              </a:rPr>
              <a:t>空间几何元素</a:t>
            </a:r>
            <a:r>
              <a:rPr lang="zh-CN" altLang="en-US" sz="2400"/>
              <a:t>（</a:t>
            </a:r>
            <a:r>
              <a:rPr lang="zh-CN" altLang="en-US" sz="2400">
                <a:ea typeface="黑体" pitchFamily="2" charset="-122"/>
              </a:rPr>
              <a:t>大写</a:t>
            </a:r>
            <a:r>
              <a:rPr lang="zh-CN" altLang="en-US" sz="2400"/>
              <a:t> </a:t>
            </a:r>
            <a:r>
              <a:rPr lang="en-US" altLang="zh-CN" sz="2400" i="1">
                <a:latin typeface="ISOCPEUR" pitchFamily="34" charset="0"/>
              </a:rPr>
              <a:t>A</a:t>
            </a:r>
            <a:r>
              <a:rPr lang="zh-CN" altLang="en-US" sz="2400" i="1">
                <a:latin typeface="ISOCPEUR" pitchFamily="34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B</a:t>
            </a:r>
            <a:r>
              <a:rPr lang="zh-CN" altLang="en-US" sz="2400" i="1">
                <a:latin typeface="ISOCPEUR" pitchFamily="34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C</a:t>
            </a:r>
            <a:r>
              <a:rPr lang="en-US" altLang="zh-CN" sz="2400"/>
              <a:t>…</a:t>
            </a:r>
            <a:r>
              <a:rPr lang="zh-CN" altLang="en-US" sz="2400"/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/>
              <a:t>　</a:t>
            </a:r>
            <a:r>
              <a:rPr lang="zh-CN" altLang="en-US" sz="2400">
                <a:ea typeface="黑体" pitchFamily="2" charset="-122"/>
              </a:rPr>
              <a:t>投影面</a:t>
            </a:r>
            <a:r>
              <a:rPr lang="zh-CN" altLang="en-US" sz="2400"/>
              <a:t>（</a:t>
            </a:r>
            <a:r>
              <a:rPr lang="zh-CN" altLang="en-US" sz="2400">
                <a:ea typeface="黑体" pitchFamily="2" charset="-122"/>
              </a:rPr>
              <a:t>大写</a:t>
            </a:r>
            <a:r>
              <a:rPr lang="zh-CN" altLang="en-US" sz="2400"/>
              <a:t> </a:t>
            </a:r>
            <a:r>
              <a:rPr lang="en-US" altLang="zh-CN" sz="2400" i="1">
                <a:latin typeface="ISOCPEUR" pitchFamily="34" charset="0"/>
              </a:rPr>
              <a:t>P</a:t>
            </a:r>
            <a:r>
              <a:rPr lang="zh-CN" altLang="en-US" sz="2400" i="1">
                <a:latin typeface="ISOCP" pitchFamily="2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V</a:t>
            </a:r>
            <a:r>
              <a:rPr lang="zh-CN" altLang="en-US" sz="2400" i="1">
                <a:latin typeface="ISOCPEUR" pitchFamily="34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H</a:t>
            </a:r>
            <a:r>
              <a:rPr lang="zh-CN" altLang="en-US" sz="2400" i="1">
                <a:latin typeface="ISOCPEUR" pitchFamily="34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W</a:t>
            </a:r>
            <a:r>
              <a:rPr lang="en-US" altLang="zh-CN" sz="2400"/>
              <a:t>…</a:t>
            </a:r>
            <a:r>
              <a:rPr lang="zh-CN" altLang="en-US" sz="2400"/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/>
              <a:t>　</a:t>
            </a:r>
            <a:r>
              <a:rPr lang="zh-CN" altLang="en-US" sz="2400">
                <a:ea typeface="黑体" pitchFamily="2" charset="-122"/>
              </a:rPr>
              <a:t>投影</a:t>
            </a:r>
            <a:r>
              <a:rPr lang="zh-CN" altLang="en-US" sz="2400"/>
              <a:t>（</a:t>
            </a:r>
            <a:r>
              <a:rPr lang="zh-CN" altLang="en-US" sz="2400">
                <a:ea typeface="黑体" pitchFamily="2" charset="-122"/>
              </a:rPr>
              <a:t>小写</a:t>
            </a:r>
            <a:r>
              <a:rPr lang="en-US" altLang="zh-CN" sz="2400" i="1">
                <a:latin typeface="ISOCPEUR" pitchFamily="34" charset="0"/>
              </a:rPr>
              <a:t>a</a:t>
            </a:r>
            <a:r>
              <a:rPr lang="zh-CN" altLang="en-US" sz="2400" i="1">
                <a:latin typeface="ISOCPEUR" pitchFamily="34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b </a:t>
            </a:r>
            <a:r>
              <a:rPr lang="zh-CN" altLang="en-US" sz="2400" i="1">
                <a:latin typeface="ISOCPEUR" pitchFamily="34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c</a:t>
            </a:r>
            <a:r>
              <a:rPr lang="en-US" altLang="zh-CN" sz="2400" i="1">
                <a:latin typeface="ISOCP" pitchFamily="2" charset="0"/>
              </a:rPr>
              <a:t>  </a:t>
            </a:r>
            <a:r>
              <a:rPr lang="en-US" altLang="zh-CN" sz="2400"/>
              <a:t>…</a:t>
            </a:r>
            <a:r>
              <a:rPr lang="zh-CN" altLang="en-US" sz="2400"/>
              <a:t>）</a:t>
            </a:r>
            <a:endParaRPr lang="zh-CN" altLang="en-US" sz="2400" b="0"/>
          </a:p>
        </p:txBody>
      </p:sp>
      <p:sp>
        <p:nvSpPr>
          <p:cNvPr id="205845" name="Line 21"/>
          <p:cNvSpPr>
            <a:spLocks noChangeShapeType="1"/>
          </p:cNvSpPr>
          <p:nvPr/>
        </p:nvSpPr>
        <p:spPr bwMode="auto">
          <a:xfrm>
            <a:off x="3074988" y="2028825"/>
            <a:ext cx="5121275" cy="428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3060700" y="896938"/>
            <a:ext cx="3943350" cy="1136650"/>
            <a:chOff x="1422" y="895"/>
            <a:chExt cx="2484" cy="716"/>
          </a:xfrm>
        </p:grpSpPr>
        <p:sp>
          <p:nvSpPr>
            <p:cNvPr id="27672" name="Line 23"/>
            <p:cNvSpPr>
              <a:spLocks noChangeShapeType="1"/>
            </p:cNvSpPr>
            <p:nvPr/>
          </p:nvSpPr>
          <p:spPr bwMode="auto">
            <a:xfrm flipV="1">
              <a:off x="1422" y="1039"/>
              <a:ext cx="2484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3" name="Text Box 24"/>
            <p:cNvSpPr txBox="1">
              <a:spLocks noChangeArrowheads="1"/>
            </p:cNvSpPr>
            <p:nvPr/>
          </p:nvSpPr>
          <p:spPr bwMode="auto">
            <a:xfrm>
              <a:off x="2935" y="89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s</a:t>
              </a:r>
              <a:endParaRPr lang="en-US" altLang="zh-CN" sz="2400">
                <a:latin typeface="ISOCPEUR" pitchFamily="34" charset="0"/>
              </a:endParaRPr>
            </a:p>
          </p:txBody>
        </p:sp>
        <p:sp>
          <p:nvSpPr>
            <p:cNvPr id="27674" name="Line 25"/>
            <p:cNvSpPr>
              <a:spLocks noChangeShapeType="1"/>
            </p:cNvSpPr>
            <p:nvPr/>
          </p:nvSpPr>
          <p:spPr bwMode="auto">
            <a:xfrm flipV="1">
              <a:off x="2924" y="1076"/>
              <a:ext cx="348" cy="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5850" name="AutoShape 26"/>
          <p:cNvSpPr>
            <a:spLocks noChangeArrowheads="1"/>
          </p:cNvSpPr>
          <p:nvPr/>
        </p:nvSpPr>
        <p:spPr bwMode="auto">
          <a:xfrm>
            <a:off x="3022600" y="1981200"/>
            <a:ext cx="95250" cy="1000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05851" name="Text Box 27"/>
          <p:cNvSpPr txBox="1">
            <a:spLocks noChangeArrowheads="1"/>
          </p:cNvSpPr>
          <p:nvPr/>
        </p:nvSpPr>
        <p:spPr bwMode="auto">
          <a:xfrm>
            <a:off x="8147050" y="212566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b</a:t>
            </a:r>
            <a:endParaRPr lang="en-US" altLang="zh-CN" sz="2000">
              <a:latin typeface="ISOCPEUR" pitchFamily="34" charset="0"/>
            </a:endParaRPr>
          </a:p>
        </p:txBody>
      </p:sp>
      <p:sp>
        <p:nvSpPr>
          <p:cNvPr id="205852" name="AutoShape 28"/>
          <p:cNvSpPr>
            <a:spLocks noChangeArrowheads="1"/>
          </p:cNvSpPr>
          <p:nvPr/>
        </p:nvSpPr>
        <p:spPr bwMode="auto">
          <a:xfrm>
            <a:off x="8147050" y="2419350"/>
            <a:ext cx="74613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05853" name="AutoShape 29"/>
          <p:cNvSpPr>
            <a:spLocks noChangeArrowheads="1"/>
          </p:cNvSpPr>
          <p:nvPr/>
        </p:nvSpPr>
        <p:spPr bwMode="auto">
          <a:xfrm>
            <a:off x="6961188" y="1081088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7670" name="Rectangle 30"/>
          <p:cNvSpPr>
            <a:spLocks noChangeArrowheads="1"/>
          </p:cNvSpPr>
          <p:nvPr/>
        </p:nvSpPr>
        <p:spPr bwMode="auto">
          <a:xfrm>
            <a:off x="203200" y="203200"/>
            <a:ext cx="42338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>
                <a:ea typeface="黑体" pitchFamily="2" charset="-122"/>
              </a:rPr>
              <a:t>§1.2</a:t>
            </a:r>
            <a:r>
              <a:rPr lang="en-US" altLang="zh-CN" sz="40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4000">
                <a:latin typeface="黑体" pitchFamily="2" charset="-122"/>
                <a:ea typeface="黑体" pitchFamily="2" charset="-122"/>
              </a:rPr>
              <a:t>投影基础</a:t>
            </a:r>
            <a:endParaRPr lang="zh-CN" altLang="en-US" sz="4000" b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5855" name="Text Box 31"/>
          <p:cNvSpPr txBox="1">
            <a:spLocks noChangeArrowheads="1"/>
          </p:cNvSpPr>
          <p:nvPr/>
        </p:nvSpPr>
        <p:spPr bwMode="auto">
          <a:xfrm>
            <a:off x="347663" y="3141663"/>
            <a:ext cx="6627812" cy="88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投影法：</a:t>
            </a:r>
            <a:r>
              <a:rPr lang="zh-CN" altLang="en-US" sz="2400">
                <a:ea typeface="黑体" pitchFamily="2" charset="-122"/>
              </a:rPr>
              <a:t>利用投射线通过物体向选定的面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                   投射，并在该面上得到图形的方法。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5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5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0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30" grpId="0" autoUpdateAnimBg="0"/>
      <p:bldP spid="205835" grpId="0" animBg="1"/>
      <p:bldP spid="205836" grpId="0" animBg="1"/>
      <p:bldP spid="205837" grpId="0" autoUpdateAnimBg="0"/>
      <p:bldP spid="205838" grpId="0" autoUpdateAnimBg="0"/>
      <p:bldP spid="205839" grpId="0" autoUpdateAnimBg="0"/>
      <p:bldP spid="205840" grpId="0" autoUpdateAnimBg="0"/>
      <p:bldP spid="205841" grpId="0" autoUpdateAnimBg="0"/>
      <p:bldP spid="205842" grpId="0" autoUpdateAnimBg="0"/>
      <p:bldP spid="205843" grpId="0" animBg="1"/>
      <p:bldP spid="205844" grpId="0" build="p" autoUpdateAnimBg="0"/>
      <p:bldP spid="205845" grpId="0" animBg="1"/>
      <p:bldP spid="205850" grpId="0" animBg="1"/>
      <p:bldP spid="205851" grpId="0" autoUpdateAnimBg="0"/>
      <p:bldP spid="205852" grpId="0" animBg="1"/>
      <p:bldP spid="205853" grpId="0" animBg="1"/>
      <p:bldP spid="20585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33DF87-237D-488F-90BA-1FC692829013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66621" name="Rectangle 61"/>
          <p:cNvSpPr>
            <a:spLocks noChangeArrowheads="1"/>
          </p:cNvSpPr>
          <p:nvPr/>
        </p:nvSpPr>
        <p:spPr bwMode="auto">
          <a:xfrm>
            <a:off x="201613" y="169863"/>
            <a:ext cx="8802687" cy="234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ea typeface="黑体" pitchFamily="2" charset="-122"/>
              </a:rPr>
              <a:t>一．中心投影</a:t>
            </a:r>
            <a:endParaRPr lang="zh-CN" altLang="en-US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/>
              <a:t>　　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投射线交于一点的投影方法，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称为</a:t>
            </a:r>
            <a:r>
              <a:rPr lang="zh-CN" altLang="en-US" sz="2800">
                <a:solidFill>
                  <a:srgbClr val="FF3300"/>
                </a:solidFill>
                <a:ea typeface="黑体" pitchFamily="2" charset="-122"/>
              </a:rPr>
              <a:t>中心投影</a:t>
            </a:r>
            <a:r>
              <a:rPr lang="zh-CN" altLang="en-US" sz="2800">
                <a:ea typeface="黑体" pitchFamily="2" charset="-122"/>
              </a:rPr>
              <a:t>。</a:t>
            </a:r>
            <a:endParaRPr lang="zh-CN" altLang="en-US" sz="28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800"/>
          </a:p>
        </p:txBody>
      </p:sp>
      <p:sp>
        <p:nvSpPr>
          <p:cNvPr id="66622" name="Text Box 62"/>
          <p:cNvSpPr txBox="1">
            <a:spLocks noChangeArrowheads="1"/>
          </p:cNvSpPr>
          <p:nvPr/>
        </p:nvSpPr>
        <p:spPr bwMode="auto">
          <a:xfrm>
            <a:off x="341313" y="4922838"/>
            <a:ext cx="88026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 2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．缺点：一般情况下，投影不反映物体的真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实大小，度量性不好，无等比性，无平行性。</a:t>
            </a:r>
          </a:p>
        </p:txBody>
      </p:sp>
      <p:sp>
        <p:nvSpPr>
          <p:cNvPr id="66623" name="Text Box 63"/>
          <p:cNvSpPr txBox="1">
            <a:spLocks noChangeArrowheads="1"/>
          </p:cNvSpPr>
          <p:nvPr/>
        </p:nvSpPr>
        <p:spPr bwMode="auto">
          <a:xfrm>
            <a:off x="4803775" y="1920875"/>
            <a:ext cx="42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D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66624" name="Text Box 64"/>
          <p:cNvSpPr txBox="1">
            <a:spLocks noChangeArrowheads="1"/>
          </p:cNvSpPr>
          <p:nvPr/>
        </p:nvSpPr>
        <p:spPr bwMode="auto">
          <a:xfrm>
            <a:off x="4316413" y="2660650"/>
            <a:ext cx="452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E</a:t>
            </a:r>
          </a:p>
        </p:txBody>
      </p:sp>
      <p:sp>
        <p:nvSpPr>
          <p:cNvPr id="66626" name="Text Box 66"/>
          <p:cNvSpPr txBox="1">
            <a:spLocks noChangeArrowheads="1"/>
          </p:cNvSpPr>
          <p:nvPr/>
        </p:nvSpPr>
        <p:spPr bwMode="auto">
          <a:xfrm>
            <a:off x="6581775" y="1963738"/>
            <a:ext cx="404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d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66627" name="Text Box 67"/>
          <p:cNvSpPr txBox="1">
            <a:spLocks noChangeArrowheads="1"/>
          </p:cNvSpPr>
          <p:nvPr/>
        </p:nvSpPr>
        <p:spPr bwMode="auto">
          <a:xfrm>
            <a:off x="7554913" y="3259138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e</a:t>
            </a:r>
            <a:endParaRPr lang="en-US" altLang="zh-CN" sz="2400">
              <a:latin typeface="ISOCPEUR" pitchFamily="34" charset="0"/>
            </a:endParaRPr>
          </a:p>
        </p:txBody>
      </p:sp>
      <p:grpSp>
        <p:nvGrpSpPr>
          <p:cNvPr id="28681" name="Group 60"/>
          <p:cNvGrpSpPr>
            <a:grpSpLocks/>
          </p:cNvGrpSpPr>
          <p:nvPr/>
        </p:nvGrpSpPr>
        <p:grpSpPr bwMode="auto">
          <a:xfrm>
            <a:off x="2632075" y="492125"/>
            <a:ext cx="6002338" cy="4427538"/>
            <a:chOff x="1265" y="432"/>
            <a:chExt cx="3781" cy="2789"/>
          </a:xfrm>
        </p:grpSpPr>
        <p:grpSp>
          <p:nvGrpSpPr>
            <p:cNvPr id="28689" name="Group 3"/>
            <p:cNvGrpSpPr>
              <a:grpSpLocks/>
            </p:cNvGrpSpPr>
            <p:nvPr/>
          </p:nvGrpSpPr>
          <p:grpSpPr bwMode="auto">
            <a:xfrm>
              <a:off x="3702" y="432"/>
              <a:ext cx="1344" cy="2789"/>
              <a:chOff x="3702" y="432"/>
              <a:chExt cx="1344" cy="2789"/>
            </a:xfrm>
          </p:grpSpPr>
          <p:sp>
            <p:nvSpPr>
              <p:cNvPr id="28712" name="Line 4"/>
              <p:cNvSpPr>
                <a:spLocks noChangeShapeType="1"/>
              </p:cNvSpPr>
              <p:nvPr/>
            </p:nvSpPr>
            <p:spPr bwMode="auto">
              <a:xfrm>
                <a:off x="3702" y="432"/>
                <a:ext cx="1344" cy="7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3" name="Line 5"/>
              <p:cNvSpPr>
                <a:spLocks noChangeShapeType="1"/>
              </p:cNvSpPr>
              <p:nvPr/>
            </p:nvSpPr>
            <p:spPr bwMode="auto">
              <a:xfrm>
                <a:off x="5046" y="1205"/>
                <a:ext cx="0" cy="20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4" name="Freeform 6"/>
              <p:cNvSpPr>
                <a:spLocks/>
              </p:cNvSpPr>
              <p:nvPr/>
            </p:nvSpPr>
            <p:spPr bwMode="auto">
              <a:xfrm>
                <a:off x="3702" y="437"/>
                <a:ext cx="1344" cy="2784"/>
              </a:xfrm>
              <a:custGeom>
                <a:avLst/>
                <a:gdLst>
                  <a:gd name="T0" fmla="*/ 0 w 1344"/>
                  <a:gd name="T1" fmla="*/ 0 h 2784"/>
                  <a:gd name="T2" fmla="*/ 1344 w 1344"/>
                  <a:gd name="T3" fmla="*/ 768 h 2784"/>
                  <a:gd name="T4" fmla="*/ 1344 w 1344"/>
                  <a:gd name="T5" fmla="*/ 2784 h 2784"/>
                  <a:gd name="T6" fmla="*/ 0 w 1344"/>
                  <a:gd name="T7" fmla="*/ 2008 h 2784"/>
                  <a:gd name="T8" fmla="*/ 0 w 1344"/>
                  <a:gd name="T9" fmla="*/ 0 h 27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4"/>
                  <a:gd name="T16" fmla="*/ 0 h 2784"/>
                  <a:gd name="T17" fmla="*/ 1344 w 1344"/>
                  <a:gd name="T18" fmla="*/ 2784 h 27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4" h="2784">
                    <a:moveTo>
                      <a:pt x="0" y="0"/>
                    </a:moveTo>
                    <a:lnTo>
                      <a:pt x="1344" y="768"/>
                    </a:lnTo>
                    <a:lnTo>
                      <a:pt x="1344" y="2784"/>
                    </a:lnTo>
                    <a:lnTo>
                      <a:pt x="0" y="200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690" name="Text Box 7"/>
            <p:cNvSpPr txBox="1">
              <a:spLocks noChangeArrowheads="1"/>
            </p:cNvSpPr>
            <p:nvPr/>
          </p:nvSpPr>
          <p:spPr bwMode="auto">
            <a:xfrm>
              <a:off x="4706" y="2784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P</a:t>
              </a:r>
              <a:endParaRPr lang="en-US" altLang="zh-CN" sz="2400" b="0">
                <a:latin typeface="ISOCPEUR" pitchFamily="34" charset="0"/>
              </a:endParaRPr>
            </a:p>
          </p:txBody>
        </p:sp>
        <p:grpSp>
          <p:nvGrpSpPr>
            <p:cNvPr id="28691" name="Group 8"/>
            <p:cNvGrpSpPr>
              <a:grpSpLocks/>
            </p:cNvGrpSpPr>
            <p:nvPr/>
          </p:nvGrpSpPr>
          <p:grpSpPr bwMode="auto">
            <a:xfrm>
              <a:off x="2352" y="1344"/>
              <a:ext cx="576" cy="768"/>
              <a:chOff x="2352" y="1344"/>
              <a:chExt cx="576" cy="768"/>
            </a:xfrm>
          </p:grpSpPr>
          <p:sp>
            <p:nvSpPr>
              <p:cNvPr id="28709" name="Freeform 9"/>
              <p:cNvSpPr>
                <a:spLocks/>
              </p:cNvSpPr>
              <p:nvPr/>
            </p:nvSpPr>
            <p:spPr bwMode="auto">
              <a:xfrm>
                <a:off x="2352" y="1344"/>
                <a:ext cx="576" cy="768"/>
              </a:xfrm>
              <a:custGeom>
                <a:avLst/>
                <a:gdLst>
                  <a:gd name="T0" fmla="*/ 0 w 576"/>
                  <a:gd name="T1" fmla="*/ 336 h 768"/>
                  <a:gd name="T2" fmla="*/ 240 w 576"/>
                  <a:gd name="T3" fmla="*/ 0 h 768"/>
                  <a:gd name="T4" fmla="*/ 576 w 576"/>
                  <a:gd name="T5" fmla="*/ 768 h 768"/>
                  <a:gd name="T6" fmla="*/ 0 w 576"/>
                  <a:gd name="T7" fmla="*/ 336 h 76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6"/>
                  <a:gd name="T13" fmla="*/ 0 h 768"/>
                  <a:gd name="T14" fmla="*/ 576 w 576"/>
                  <a:gd name="T15" fmla="*/ 768 h 76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6" h="768">
                    <a:moveTo>
                      <a:pt x="0" y="336"/>
                    </a:moveTo>
                    <a:lnTo>
                      <a:pt x="240" y="0"/>
                    </a:lnTo>
                    <a:lnTo>
                      <a:pt x="576" y="768"/>
                    </a:ln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0" name="Line 10"/>
              <p:cNvSpPr>
                <a:spLocks noChangeShapeType="1"/>
              </p:cNvSpPr>
              <p:nvPr/>
            </p:nvSpPr>
            <p:spPr bwMode="auto">
              <a:xfrm flipH="1">
                <a:off x="2355" y="1344"/>
                <a:ext cx="237" cy="3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1" name="Line 11"/>
              <p:cNvSpPr>
                <a:spLocks noChangeShapeType="1"/>
              </p:cNvSpPr>
              <p:nvPr/>
            </p:nvSpPr>
            <p:spPr bwMode="auto">
              <a:xfrm>
                <a:off x="2355" y="1686"/>
                <a:ext cx="561" cy="41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692" name="Line 12"/>
            <p:cNvSpPr>
              <a:spLocks noChangeShapeType="1"/>
            </p:cNvSpPr>
            <p:nvPr/>
          </p:nvSpPr>
          <p:spPr bwMode="auto">
            <a:xfrm flipV="1">
              <a:off x="1422" y="1039"/>
              <a:ext cx="2484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3" name="Line 13"/>
            <p:cNvSpPr>
              <a:spLocks noChangeShapeType="1"/>
            </p:cNvSpPr>
            <p:nvPr/>
          </p:nvSpPr>
          <p:spPr bwMode="auto">
            <a:xfrm>
              <a:off x="1422" y="1611"/>
              <a:ext cx="2753" cy="9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4" name="Freeform 14"/>
            <p:cNvSpPr>
              <a:spLocks/>
            </p:cNvSpPr>
            <p:nvPr/>
          </p:nvSpPr>
          <p:spPr bwMode="auto">
            <a:xfrm>
              <a:off x="3901" y="1033"/>
              <a:ext cx="755" cy="1478"/>
            </a:xfrm>
            <a:custGeom>
              <a:avLst/>
              <a:gdLst>
                <a:gd name="T0" fmla="*/ 0 w 755"/>
                <a:gd name="T1" fmla="*/ 0 h 1478"/>
                <a:gd name="T2" fmla="*/ 755 w 755"/>
                <a:gd name="T3" fmla="*/ 845 h 1478"/>
                <a:gd name="T4" fmla="*/ 277 w 755"/>
                <a:gd name="T5" fmla="*/ 1478 h 1478"/>
                <a:gd name="T6" fmla="*/ 0 w 755"/>
                <a:gd name="T7" fmla="*/ 0 h 147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5"/>
                <a:gd name="T13" fmla="*/ 0 h 1478"/>
                <a:gd name="T14" fmla="*/ 755 w 755"/>
                <a:gd name="T15" fmla="*/ 1478 h 147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5" h="1478">
                  <a:moveTo>
                    <a:pt x="0" y="0"/>
                  </a:moveTo>
                  <a:lnTo>
                    <a:pt x="755" y="845"/>
                  </a:lnTo>
                  <a:lnTo>
                    <a:pt x="277" y="14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5" name="Text Box 15"/>
            <p:cNvSpPr txBox="1">
              <a:spLocks noChangeArrowheads="1"/>
            </p:cNvSpPr>
            <p:nvPr/>
          </p:nvSpPr>
          <p:spPr bwMode="auto">
            <a:xfrm>
              <a:off x="1265" y="1267"/>
              <a:ext cx="2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S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28696" name="Text Box 16"/>
            <p:cNvSpPr txBox="1">
              <a:spLocks noChangeArrowheads="1"/>
            </p:cNvSpPr>
            <p:nvPr/>
          </p:nvSpPr>
          <p:spPr bwMode="auto">
            <a:xfrm>
              <a:off x="2419" y="1079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A</a:t>
              </a:r>
            </a:p>
          </p:txBody>
        </p:sp>
        <p:sp>
          <p:nvSpPr>
            <p:cNvPr id="28697" name="Text Box 17"/>
            <p:cNvSpPr txBox="1">
              <a:spLocks noChangeArrowheads="1"/>
            </p:cNvSpPr>
            <p:nvPr/>
          </p:nvSpPr>
          <p:spPr bwMode="auto">
            <a:xfrm>
              <a:off x="2156" y="1422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B</a:t>
              </a:r>
            </a:p>
          </p:txBody>
        </p:sp>
        <p:sp>
          <p:nvSpPr>
            <p:cNvPr id="28698" name="Text Box 18"/>
            <p:cNvSpPr txBox="1">
              <a:spLocks noChangeArrowheads="1"/>
            </p:cNvSpPr>
            <p:nvPr/>
          </p:nvSpPr>
          <p:spPr bwMode="auto">
            <a:xfrm>
              <a:off x="2687" y="2067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C</a:t>
              </a:r>
            </a:p>
          </p:txBody>
        </p:sp>
        <p:sp>
          <p:nvSpPr>
            <p:cNvPr id="28699" name="Text Box 19"/>
            <p:cNvSpPr txBox="1">
              <a:spLocks noChangeArrowheads="1"/>
            </p:cNvSpPr>
            <p:nvPr/>
          </p:nvSpPr>
          <p:spPr bwMode="auto">
            <a:xfrm>
              <a:off x="3770" y="81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28700" name="Text Box 20"/>
            <p:cNvSpPr txBox="1">
              <a:spLocks noChangeArrowheads="1"/>
            </p:cNvSpPr>
            <p:nvPr/>
          </p:nvSpPr>
          <p:spPr bwMode="auto">
            <a:xfrm>
              <a:off x="4110" y="2473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c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28701" name="AutoShape 21"/>
            <p:cNvSpPr>
              <a:spLocks noChangeArrowheads="1"/>
            </p:cNvSpPr>
            <p:nvPr/>
          </p:nvSpPr>
          <p:spPr bwMode="auto">
            <a:xfrm>
              <a:off x="3879" y="1011"/>
              <a:ext cx="47" cy="48"/>
            </a:xfrm>
            <a:prstGeom prst="flowChartConnector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  <p:sp>
          <p:nvSpPr>
            <p:cNvPr id="28702" name="AutoShape 22"/>
            <p:cNvSpPr>
              <a:spLocks noChangeArrowheads="1"/>
            </p:cNvSpPr>
            <p:nvPr/>
          </p:nvSpPr>
          <p:spPr bwMode="auto">
            <a:xfrm>
              <a:off x="4154" y="2494"/>
              <a:ext cx="47" cy="48"/>
            </a:xfrm>
            <a:prstGeom prst="flowChartConnector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  <p:sp>
          <p:nvSpPr>
            <p:cNvPr id="28703" name="Text Box 23"/>
            <p:cNvSpPr txBox="1">
              <a:spLocks noChangeArrowheads="1"/>
            </p:cNvSpPr>
            <p:nvPr/>
          </p:nvSpPr>
          <p:spPr bwMode="auto">
            <a:xfrm>
              <a:off x="2935" y="89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s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28704" name="Line 25"/>
            <p:cNvSpPr>
              <a:spLocks noChangeShapeType="1"/>
            </p:cNvSpPr>
            <p:nvPr/>
          </p:nvSpPr>
          <p:spPr bwMode="auto">
            <a:xfrm>
              <a:off x="1431" y="1608"/>
              <a:ext cx="3226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5" name="Line 26"/>
            <p:cNvSpPr>
              <a:spLocks noChangeShapeType="1"/>
            </p:cNvSpPr>
            <p:nvPr/>
          </p:nvSpPr>
          <p:spPr bwMode="auto">
            <a:xfrm flipV="1">
              <a:off x="2924" y="1076"/>
              <a:ext cx="348" cy="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6" name="AutoShape 27"/>
            <p:cNvSpPr>
              <a:spLocks noChangeArrowheads="1"/>
            </p:cNvSpPr>
            <p:nvPr/>
          </p:nvSpPr>
          <p:spPr bwMode="auto">
            <a:xfrm>
              <a:off x="1398" y="1578"/>
              <a:ext cx="60" cy="63"/>
            </a:xfrm>
            <a:prstGeom prst="flowChartConnector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  <p:sp>
          <p:nvSpPr>
            <p:cNvPr id="28707" name="Text Box 28"/>
            <p:cNvSpPr txBox="1">
              <a:spLocks noChangeArrowheads="1"/>
            </p:cNvSpPr>
            <p:nvPr/>
          </p:nvSpPr>
          <p:spPr bwMode="auto">
            <a:xfrm>
              <a:off x="4626" y="166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b</a:t>
              </a:r>
              <a:endParaRPr lang="en-US" altLang="zh-CN" sz="2000" b="0">
                <a:latin typeface="ISOCPEUR" pitchFamily="34" charset="0"/>
              </a:endParaRPr>
            </a:p>
          </p:txBody>
        </p:sp>
        <p:sp>
          <p:nvSpPr>
            <p:cNvPr id="28708" name="AutoShape 29"/>
            <p:cNvSpPr>
              <a:spLocks noChangeArrowheads="1"/>
            </p:cNvSpPr>
            <p:nvPr/>
          </p:nvSpPr>
          <p:spPr bwMode="auto">
            <a:xfrm>
              <a:off x="4626" y="1854"/>
              <a:ext cx="47" cy="48"/>
            </a:xfrm>
            <a:prstGeom prst="flowChartConnector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</p:grpSp>
      <p:sp>
        <p:nvSpPr>
          <p:cNvPr id="66625" name="Line 65"/>
          <p:cNvSpPr>
            <a:spLocks noChangeShapeType="1"/>
          </p:cNvSpPr>
          <p:nvPr/>
        </p:nvSpPr>
        <p:spPr bwMode="auto">
          <a:xfrm flipH="1">
            <a:off x="4652963" y="2319338"/>
            <a:ext cx="250825" cy="384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29" name="Line 69"/>
          <p:cNvSpPr>
            <a:spLocks noChangeShapeType="1"/>
          </p:cNvSpPr>
          <p:nvPr/>
        </p:nvSpPr>
        <p:spPr bwMode="auto">
          <a:xfrm flipV="1">
            <a:off x="2940050" y="2265363"/>
            <a:ext cx="4032250" cy="93662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30" name="Line 70"/>
          <p:cNvSpPr>
            <a:spLocks noChangeShapeType="1"/>
          </p:cNvSpPr>
          <p:nvPr/>
        </p:nvSpPr>
        <p:spPr bwMode="auto">
          <a:xfrm>
            <a:off x="2935288" y="2370138"/>
            <a:ext cx="4667250" cy="889000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28" name="Line 68"/>
          <p:cNvSpPr>
            <a:spLocks noChangeShapeType="1"/>
          </p:cNvSpPr>
          <p:nvPr/>
        </p:nvSpPr>
        <p:spPr bwMode="auto">
          <a:xfrm>
            <a:off x="6980238" y="2263775"/>
            <a:ext cx="663575" cy="1022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31" name="AutoShape 71"/>
          <p:cNvSpPr>
            <a:spLocks noChangeArrowheads="1"/>
          </p:cNvSpPr>
          <p:nvPr/>
        </p:nvSpPr>
        <p:spPr bwMode="auto">
          <a:xfrm>
            <a:off x="6926263" y="2222500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66632" name="AutoShape 72"/>
          <p:cNvSpPr>
            <a:spLocks noChangeArrowheads="1"/>
          </p:cNvSpPr>
          <p:nvPr/>
        </p:nvSpPr>
        <p:spPr bwMode="auto">
          <a:xfrm>
            <a:off x="7602538" y="3230563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66633" name="Rectangle 73"/>
          <p:cNvSpPr>
            <a:spLocks noChangeArrowheads="1"/>
          </p:cNvSpPr>
          <p:nvPr/>
        </p:nvSpPr>
        <p:spPr bwMode="auto">
          <a:xfrm>
            <a:off x="341313" y="4302125"/>
            <a:ext cx="8802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 1</a:t>
            </a:r>
            <a:r>
              <a:rPr lang="zh-CN" altLang="en-US" sz="2800">
                <a:ea typeface="黑体" pitchFamily="2" charset="-122"/>
              </a:rPr>
              <a:t>．优点：实体感强、逼真；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6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21" grpId="0" build="p" autoUpdateAnimBg="0"/>
      <p:bldP spid="66622" grpId="0" autoUpdateAnimBg="0"/>
      <p:bldP spid="66623" grpId="0" autoUpdateAnimBg="0"/>
      <p:bldP spid="66624" grpId="0" autoUpdateAnimBg="0"/>
      <p:bldP spid="66626" grpId="0" autoUpdateAnimBg="0"/>
      <p:bldP spid="66627" grpId="0" autoUpdateAnimBg="0"/>
      <p:bldP spid="66625" grpId="0" animBg="1"/>
      <p:bldP spid="66629" grpId="0" animBg="1"/>
      <p:bldP spid="66630" grpId="0" animBg="1"/>
      <p:bldP spid="66628" grpId="0" animBg="1"/>
      <p:bldP spid="66631" grpId="0" animBg="1"/>
      <p:bldP spid="66632" grpId="0" animBg="1"/>
      <p:bldP spid="66633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113533-FAD2-475C-91DE-D266A29D28BE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39725" y="2992438"/>
            <a:ext cx="3030538" cy="1695450"/>
            <a:chOff x="0" y="1357"/>
            <a:chExt cx="2131" cy="1179"/>
          </a:xfrm>
        </p:grpSpPr>
        <p:sp>
          <p:nvSpPr>
            <p:cNvPr id="29784" name="AutoShape 3"/>
            <p:cNvSpPr>
              <a:spLocks noChangeArrowheads="1"/>
            </p:cNvSpPr>
            <p:nvPr/>
          </p:nvSpPr>
          <p:spPr bwMode="auto">
            <a:xfrm>
              <a:off x="0" y="1784"/>
              <a:ext cx="2131" cy="752"/>
            </a:xfrm>
            <a:prstGeom prst="wedgeRoundRectCallout">
              <a:avLst>
                <a:gd name="adj1" fmla="val 27815"/>
                <a:gd name="adj2" fmla="val -39972"/>
                <a:gd name="adj3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黑体" pitchFamily="2" charset="-122"/>
                </a:rPr>
                <a:t>若将投影中心“</a:t>
              </a:r>
              <a:r>
                <a:rPr lang="en-US" altLang="zh-CN" sz="2400">
                  <a:latin typeface="ISOCPEUR" pitchFamily="34" charset="0"/>
                  <a:ea typeface="黑体" pitchFamily="2" charset="-122"/>
                </a:rPr>
                <a:t>S</a:t>
              </a:r>
              <a:r>
                <a:rPr lang="en-US" altLang="zh-CN" sz="2400">
                  <a:ea typeface="黑体" pitchFamily="2" charset="-122"/>
                </a:rPr>
                <a:t>”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黑体" pitchFamily="2" charset="-122"/>
                </a:rPr>
                <a:t>向左移至无穷远处</a:t>
              </a:r>
            </a:p>
          </p:txBody>
        </p:sp>
        <p:sp>
          <p:nvSpPr>
            <p:cNvPr id="29785" name="Line 4"/>
            <p:cNvSpPr>
              <a:spLocks noChangeShapeType="1"/>
            </p:cNvSpPr>
            <p:nvPr/>
          </p:nvSpPr>
          <p:spPr bwMode="auto">
            <a:xfrm flipV="1">
              <a:off x="1429" y="1357"/>
              <a:ext cx="499" cy="4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8005" name="Oval 5"/>
          <p:cNvSpPr>
            <a:spLocks noChangeArrowheads="1"/>
          </p:cNvSpPr>
          <p:nvPr/>
        </p:nvSpPr>
        <p:spPr bwMode="auto">
          <a:xfrm>
            <a:off x="-165100" y="2919413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3132138" y="2917825"/>
            <a:ext cx="6011862" cy="5508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847975" y="1096963"/>
            <a:ext cx="6002338" cy="4427537"/>
            <a:chOff x="1265" y="432"/>
            <a:chExt cx="3781" cy="2789"/>
          </a:xfrm>
        </p:grpSpPr>
        <p:sp>
          <p:nvSpPr>
            <p:cNvPr id="29747" name="Text Box 8"/>
            <p:cNvSpPr txBox="1">
              <a:spLocks noChangeArrowheads="1"/>
            </p:cNvSpPr>
            <p:nvPr/>
          </p:nvSpPr>
          <p:spPr bwMode="auto">
            <a:xfrm>
              <a:off x="2633" y="1332"/>
              <a:ext cx="2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D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29748" name="Text Box 9"/>
            <p:cNvSpPr txBox="1">
              <a:spLocks noChangeArrowheads="1"/>
            </p:cNvSpPr>
            <p:nvPr/>
          </p:nvSpPr>
          <p:spPr bwMode="auto">
            <a:xfrm>
              <a:off x="2326" y="1798"/>
              <a:ext cx="2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E</a:t>
              </a:r>
            </a:p>
          </p:txBody>
        </p:sp>
        <p:sp>
          <p:nvSpPr>
            <p:cNvPr id="29749" name="Text Box 10"/>
            <p:cNvSpPr txBox="1">
              <a:spLocks noChangeArrowheads="1"/>
            </p:cNvSpPr>
            <p:nvPr/>
          </p:nvSpPr>
          <p:spPr bwMode="auto">
            <a:xfrm>
              <a:off x="3753" y="1359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d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29750" name="Text Box 11"/>
            <p:cNvSpPr txBox="1">
              <a:spLocks noChangeArrowheads="1"/>
            </p:cNvSpPr>
            <p:nvPr/>
          </p:nvSpPr>
          <p:spPr bwMode="auto">
            <a:xfrm>
              <a:off x="4366" y="217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e</a:t>
              </a:r>
              <a:endParaRPr lang="en-US" altLang="zh-CN" sz="2400" b="0">
                <a:latin typeface="ISOCPEUR" pitchFamily="34" charset="0"/>
              </a:endParaRPr>
            </a:p>
          </p:txBody>
        </p:sp>
        <p:grpSp>
          <p:nvGrpSpPr>
            <p:cNvPr id="29751" name="Group 12"/>
            <p:cNvGrpSpPr>
              <a:grpSpLocks/>
            </p:cNvGrpSpPr>
            <p:nvPr/>
          </p:nvGrpSpPr>
          <p:grpSpPr bwMode="auto">
            <a:xfrm>
              <a:off x="1265" y="432"/>
              <a:ext cx="3781" cy="2789"/>
              <a:chOff x="1265" y="432"/>
              <a:chExt cx="3781" cy="2789"/>
            </a:xfrm>
          </p:grpSpPr>
          <p:grpSp>
            <p:nvGrpSpPr>
              <p:cNvPr id="29758" name="Group 13"/>
              <p:cNvGrpSpPr>
                <a:grpSpLocks/>
              </p:cNvGrpSpPr>
              <p:nvPr/>
            </p:nvGrpSpPr>
            <p:grpSpPr bwMode="auto">
              <a:xfrm>
                <a:off x="3702" y="432"/>
                <a:ext cx="1344" cy="2789"/>
                <a:chOff x="3702" y="432"/>
                <a:chExt cx="1344" cy="2789"/>
              </a:xfrm>
            </p:grpSpPr>
            <p:sp>
              <p:nvSpPr>
                <p:cNvPr id="29781" name="Line 14"/>
                <p:cNvSpPr>
                  <a:spLocks noChangeShapeType="1"/>
                </p:cNvSpPr>
                <p:nvPr/>
              </p:nvSpPr>
              <p:spPr bwMode="auto">
                <a:xfrm>
                  <a:off x="3702" y="432"/>
                  <a:ext cx="1344" cy="7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82" name="Line 15"/>
                <p:cNvSpPr>
                  <a:spLocks noChangeShapeType="1"/>
                </p:cNvSpPr>
                <p:nvPr/>
              </p:nvSpPr>
              <p:spPr bwMode="auto">
                <a:xfrm>
                  <a:off x="5046" y="1205"/>
                  <a:ext cx="0" cy="201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83" name="Freeform 16"/>
                <p:cNvSpPr>
                  <a:spLocks/>
                </p:cNvSpPr>
                <p:nvPr/>
              </p:nvSpPr>
              <p:spPr bwMode="auto">
                <a:xfrm>
                  <a:off x="3702" y="437"/>
                  <a:ext cx="1344" cy="2784"/>
                </a:xfrm>
                <a:custGeom>
                  <a:avLst/>
                  <a:gdLst>
                    <a:gd name="T0" fmla="*/ 0 w 1344"/>
                    <a:gd name="T1" fmla="*/ 0 h 2784"/>
                    <a:gd name="T2" fmla="*/ 1344 w 1344"/>
                    <a:gd name="T3" fmla="*/ 768 h 2784"/>
                    <a:gd name="T4" fmla="*/ 1344 w 1344"/>
                    <a:gd name="T5" fmla="*/ 2784 h 2784"/>
                    <a:gd name="T6" fmla="*/ 0 w 1344"/>
                    <a:gd name="T7" fmla="*/ 2008 h 2784"/>
                    <a:gd name="T8" fmla="*/ 0 w 1344"/>
                    <a:gd name="T9" fmla="*/ 0 h 27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44"/>
                    <a:gd name="T16" fmla="*/ 0 h 2784"/>
                    <a:gd name="T17" fmla="*/ 1344 w 1344"/>
                    <a:gd name="T18" fmla="*/ 2784 h 27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44" h="2784">
                      <a:moveTo>
                        <a:pt x="0" y="0"/>
                      </a:moveTo>
                      <a:lnTo>
                        <a:pt x="1344" y="768"/>
                      </a:lnTo>
                      <a:lnTo>
                        <a:pt x="1344" y="2784"/>
                      </a:lnTo>
                      <a:lnTo>
                        <a:pt x="0" y="20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9759" name="Text Box 17"/>
              <p:cNvSpPr txBox="1">
                <a:spLocks noChangeArrowheads="1"/>
              </p:cNvSpPr>
              <p:nvPr/>
            </p:nvSpPr>
            <p:spPr bwMode="auto">
              <a:xfrm>
                <a:off x="4706" y="278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P</a:t>
                </a:r>
                <a:endParaRPr lang="en-US" altLang="zh-CN" sz="2400" b="0">
                  <a:latin typeface="ISOCPEUR" pitchFamily="34" charset="0"/>
                </a:endParaRPr>
              </a:p>
            </p:txBody>
          </p:sp>
          <p:grpSp>
            <p:nvGrpSpPr>
              <p:cNvPr id="29760" name="Group 18"/>
              <p:cNvGrpSpPr>
                <a:grpSpLocks/>
              </p:cNvGrpSpPr>
              <p:nvPr/>
            </p:nvGrpSpPr>
            <p:grpSpPr bwMode="auto">
              <a:xfrm>
                <a:off x="2352" y="1344"/>
                <a:ext cx="576" cy="768"/>
                <a:chOff x="2352" y="1344"/>
                <a:chExt cx="576" cy="768"/>
              </a:xfrm>
            </p:grpSpPr>
            <p:sp>
              <p:nvSpPr>
                <p:cNvPr id="29778" name="Freeform 19"/>
                <p:cNvSpPr>
                  <a:spLocks/>
                </p:cNvSpPr>
                <p:nvPr/>
              </p:nvSpPr>
              <p:spPr bwMode="auto">
                <a:xfrm>
                  <a:off x="2352" y="1344"/>
                  <a:ext cx="576" cy="768"/>
                </a:xfrm>
                <a:custGeom>
                  <a:avLst/>
                  <a:gdLst>
                    <a:gd name="T0" fmla="*/ 0 w 576"/>
                    <a:gd name="T1" fmla="*/ 336 h 768"/>
                    <a:gd name="T2" fmla="*/ 240 w 576"/>
                    <a:gd name="T3" fmla="*/ 0 h 768"/>
                    <a:gd name="T4" fmla="*/ 576 w 576"/>
                    <a:gd name="T5" fmla="*/ 768 h 768"/>
                    <a:gd name="T6" fmla="*/ 0 w 576"/>
                    <a:gd name="T7" fmla="*/ 336 h 76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76"/>
                    <a:gd name="T13" fmla="*/ 0 h 768"/>
                    <a:gd name="T14" fmla="*/ 576 w 576"/>
                    <a:gd name="T15" fmla="*/ 768 h 76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76" h="768">
                      <a:moveTo>
                        <a:pt x="0" y="336"/>
                      </a:moveTo>
                      <a:lnTo>
                        <a:pt x="240" y="0"/>
                      </a:lnTo>
                      <a:lnTo>
                        <a:pt x="576" y="768"/>
                      </a:lnTo>
                      <a:lnTo>
                        <a:pt x="0" y="33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79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2355" y="1344"/>
                  <a:ext cx="237" cy="34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80" name="Line 21"/>
                <p:cNvSpPr>
                  <a:spLocks noChangeShapeType="1"/>
                </p:cNvSpPr>
                <p:nvPr/>
              </p:nvSpPr>
              <p:spPr bwMode="auto">
                <a:xfrm>
                  <a:off x="2355" y="1686"/>
                  <a:ext cx="561" cy="41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9761" name="Line 22"/>
              <p:cNvSpPr>
                <a:spLocks noChangeShapeType="1"/>
              </p:cNvSpPr>
              <p:nvPr/>
            </p:nvSpPr>
            <p:spPr bwMode="auto">
              <a:xfrm flipV="1">
                <a:off x="1422" y="1039"/>
                <a:ext cx="2484" cy="5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62" name="Line 23"/>
              <p:cNvSpPr>
                <a:spLocks noChangeShapeType="1"/>
              </p:cNvSpPr>
              <p:nvPr/>
            </p:nvSpPr>
            <p:spPr bwMode="auto">
              <a:xfrm>
                <a:off x="1422" y="1611"/>
                <a:ext cx="2753" cy="9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63" name="Freeform 24"/>
              <p:cNvSpPr>
                <a:spLocks/>
              </p:cNvSpPr>
              <p:nvPr/>
            </p:nvSpPr>
            <p:spPr bwMode="auto">
              <a:xfrm>
                <a:off x="3901" y="1033"/>
                <a:ext cx="755" cy="1478"/>
              </a:xfrm>
              <a:custGeom>
                <a:avLst/>
                <a:gdLst>
                  <a:gd name="T0" fmla="*/ 0 w 755"/>
                  <a:gd name="T1" fmla="*/ 0 h 1478"/>
                  <a:gd name="T2" fmla="*/ 755 w 755"/>
                  <a:gd name="T3" fmla="*/ 845 h 1478"/>
                  <a:gd name="T4" fmla="*/ 277 w 755"/>
                  <a:gd name="T5" fmla="*/ 1478 h 1478"/>
                  <a:gd name="T6" fmla="*/ 0 w 755"/>
                  <a:gd name="T7" fmla="*/ 0 h 14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5"/>
                  <a:gd name="T13" fmla="*/ 0 h 1478"/>
                  <a:gd name="T14" fmla="*/ 755 w 755"/>
                  <a:gd name="T15" fmla="*/ 1478 h 14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5" h="1478">
                    <a:moveTo>
                      <a:pt x="0" y="0"/>
                    </a:moveTo>
                    <a:lnTo>
                      <a:pt x="755" y="845"/>
                    </a:lnTo>
                    <a:lnTo>
                      <a:pt x="277" y="14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64" name="Text Box 25"/>
              <p:cNvSpPr txBox="1">
                <a:spLocks noChangeArrowheads="1"/>
              </p:cNvSpPr>
              <p:nvPr/>
            </p:nvSpPr>
            <p:spPr bwMode="auto">
              <a:xfrm>
                <a:off x="1265" y="1267"/>
                <a:ext cx="27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  <a:ea typeface="黑体" pitchFamily="2" charset="-122"/>
                  </a:rPr>
                  <a:t>S</a:t>
                </a:r>
                <a:endParaRPr lang="en-US" altLang="zh-CN" sz="2400" b="0">
                  <a:latin typeface="ISOCPEUR" pitchFamily="34" charset="0"/>
                  <a:ea typeface="黑体" pitchFamily="2" charset="-122"/>
                </a:endParaRPr>
              </a:p>
            </p:txBody>
          </p:sp>
          <p:sp>
            <p:nvSpPr>
              <p:cNvPr id="29765" name="Text Box 26"/>
              <p:cNvSpPr txBox="1">
                <a:spLocks noChangeArrowheads="1"/>
              </p:cNvSpPr>
              <p:nvPr/>
            </p:nvSpPr>
            <p:spPr bwMode="auto">
              <a:xfrm>
                <a:off x="2414" y="1079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A</a:t>
                </a:r>
              </a:p>
            </p:txBody>
          </p:sp>
          <p:sp>
            <p:nvSpPr>
              <p:cNvPr id="29766" name="Text Box 27"/>
              <p:cNvSpPr txBox="1">
                <a:spLocks noChangeArrowheads="1"/>
              </p:cNvSpPr>
              <p:nvPr/>
            </p:nvSpPr>
            <p:spPr bwMode="auto">
              <a:xfrm>
                <a:off x="2156" y="1422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B</a:t>
                </a:r>
              </a:p>
            </p:txBody>
          </p:sp>
          <p:sp>
            <p:nvSpPr>
              <p:cNvPr id="29767" name="Text Box 28"/>
              <p:cNvSpPr txBox="1">
                <a:spLocks noChangeArrowheads="1"/>
              </p:cNvSpPr>
              <p:nvPr/>
            </p:nvSpPr>
            <p:spPr bwMode="auto">
              <a:xfrm>
                <a:off x="2687" y="2067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C</a:t>
                </a:r>
              </a:p>
            </p:txBody>
          </p:sp>
          <p:sp>
            <p:nvSpPr>
              <p:cNvPr id="29768" name="Text Box 29"/>
              <p:cNvSpPr txBox="1">
                <a:spLocks noChangeArrowheads="1"/>
              </p:cNvSpPr>
              <p:nvPr/>
            </p:nvSpPr>
            <p:spPr bwMode="auto">
              <a:xfrm>
                <a:off x="3770" y="819"/>
                <a:ext cx="19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a</a:t>
                </a:r>
                <a:endParaRPr lang="en-US" altLang="zh-CN" sz="2400" b="0">
                  <a:latin typeface="ISOCPEUR" pitchFamily="34" charset="0"/>
                </a:endParaRPr>
              </a:p>
            </p:txBody>
          </p:sp>
          <p:sp>
            <p:nvSpPr>
              <p:cNvPr id="29769" name="Text Box 30"/>
              <p:cNvSpPr txBox="1">
                <a:spLocks noChangeArrowheads="1"/>
              </p:cNvSpPr>
              <p:nvPr/>
            </p:nvSpPr>
            <p:spPr bwMode="auto">
              <a:xfrm>
                <a:off x="4110" y="2473"/>
                <a:ext cx="18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c</a:t>
                </a:r>
                <a:endParaRPr lang="en-US" altLang="zh-CN" sz="2400" b="0">
                  <a:latin typeface="ISOCPEUR" pitchFamily="34" charset="0"/>
                </a:endParaRPr>
              </a:p>
            </p:txBody>
          </p:sp>
          <p:sp>
            <p:nvSpPr>
              <p:cNvPr id="29770" name="AutoShape 31"/>
              <p:cNvSpPr>
                <a:spLocks noChangeArrowheads="1"/>
              </p:cNvSpPr>
              <p:nvPr/>
            </p:nvSpPr>
            <p:spPr bwMode="auto">
              <a:xfrm>
                <a:off x="3879" y="1011"/>
                <a:ext cx="47" cy="48"/>
              </a:xfrm>
              <a:prstGeom prst="flowChartConnector">
                <a:avLst/>
              </a:prstGeom>
              <a:solidFill>
                <a:srgbClr val="CCFF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2400">
                  <a:ea typeface="黑体" pitchFamily="2" charset="-122"/>
                </a:endParaRPr>
              </a:p>
            </p:txBody>
          </p:sp>
          <p:sp>
            <p:nvSpPr>
              <p:cNvPr id="29771" name="AutoShape 32"/>
              <p:cNvSpPr>
                <a:spLocks noChangeArrowheads="1"/>
              </p:cNvSpPr>
              <p:nvPr/>
            </p:nvSpPr>
            <p:spPr bwMode="auto">
              <a:xfrm>
                <a:off x="4154" y="2494"/>
                <a:ext cx="47" cy="48"/>
              </a:xfrm>
              <a:prstGeom prst="flowChartConnector">
                <a:avLst/>
              </a:prstGeom>
              <a:solidFill>
                <a:srgbClr val="CCFF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2400">
                  <a:ea typeface="黑体" pitchFamily="2" charset="-122"/>
                </a:endParaRPr>
              </a:p>
            </p:txBody>
          </p:sp>
          <p:sp>
            <p:nvSpPr>
              <p:cNvPr id="29772" name="Text Box 33"/>
              <p:cNvSpPr txBox="1">
                <a:spLocks noChangeArrowheads="1"/>
              </p:cNvSpPr>
              <p:nvPr/>
            </p:nvSpPr>
            <p:spPr bwMode="auto">
              <a:xfrm>
                <a:off x="2935" y="895"/>
                <a:ext cx="19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s</a:t>
                </a:r>
                <a:endParaRPr lang="en-US" altLang="zh-CN" sz="2400" b="0">
                  <a:latin typeface="ISOCPEUR" pitchFamily="34" charset="0"/>
                </a:endParaRPr>
              </a:p>
            </p:txBody>
          </p:sp>
          <p:sp>
            <p:nvSpPr>
              <p:cNvPr id="29773" name="Line 34"/>
              <p:cNvSpPr>
                <a:spLocks noChangeShapeType="1"/>
              </p:cNvSpPr>
              <p:nvPr/>
            </p:nvSpPr>
            <p:spPr bwMode="auto">
              <a:xfrm>
                <a:off x="1431" y="1608"/>
                <a:ext cx="3226" cy="2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74" name="Line 35"/>
              <p:cNvSpPr>
                <a:spLocks noChangeShapeType="1"/>
              </p:cNvSpPr>
              <p:nvPr/>
            </p:nvSpPr>
            <p:spPr bwMode="auto">
              <a:xfrm flipV="1">
                <a:off x="2924" y="1076"/>
                <a:ext cx="348" cy="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75" name="AutoShape 36"/>
              <p:cNvSpPr>
                <a:spLocks noChangeArrowheads="1"/>
              </p:cNvSpPr>
              <p:nvPr/>
            </p:nvSpPr>
            <p:spPr bwMode="auto">
              <a:xfrm>
                <a:off x="1398" y="1578"/>
                <a:ext cx="60" cy="63"/>
              </a:xfrm>
              <a:prstGeom prst="flowChartConnector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2400">
                  <a:ea typeface="黑体" pitchFamily="2" charset="-122"/>
                </a:endParaRPr>
              </a:p>
            </p:txBody>
          </p:sp>
          <p:sp>
            <p:nvSpPr>
              <p:cNvPr id="29776" name="Text Box 37"/>
              <p:cNvSpPr txBox="1">
                <a:spLocks noChangeArrowheads="1"/>
              </p:cNvSpPr>
              <p:nvPr/>
            </p:nvSpPr>
            <p:spPr bwMode="auto">
              <a:xfrm>
                <a:off x="4626" y="1669"/>
                <a:ext cx="19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b</a:t>
                </a:r>
                <a:endParaRPr lang="en-US" altLang="zh-CN" sz="2000" b="0">
                  <a:latin typeface="ISOCPEUR" pitchFamily="34" charset="0"/>
                </a:endParaRPr>
              </a:p>
            </p:txBody>
          </p:sp>
          <p:sp>
            <p:nvSpPr>
              <p:cNvPr id="29777" name="AutoShape 38"/>
              <p:cNvSpPr>
                <a:spLocks noChangeArrowheads="1"/>
              </p:cNvSpPr>
              <p:nvPr/>
            </p:nvSpPr>
            <p:spPr bwMode="auto">
              <a:xfrm>
                <a:off x="4626" y="1854"/>
                <a:ext cx="47" cy="48"/>
              </a:xfrm>
              <a:prstGeom prst="flowChartConnector">
                <a:avLst/>
              </a:prstGeom>
              <a:solidFill>
                <a:srgbClr val="CCFF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2400">
                  <a:ea typeface="黑体" pitchFamily="2" charset="-122"/>
                </a:endParaRPr>
              </a:p>
            </p:txBody>
          </p:sp>
        </p:grpSp>
        <p:sp>
          <p:nvSpPr>
            <p:cNvPr id="29752" name="Line 39"/>
            <p:cNvSpPr>
              <a:spLocks noChangeShapeType="1"/>
            </p:cNvSpPr>
            <p:nvPr/>
          </p:nvSpPr>
          <p:spPr bwMode="auto">
            <a:xfrm flipH="1">
              <a:off x="2538" y="1583"/>
              <a:ext cx="158" cy="2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3" name="Line 40"/>
            <p:cNvSpPr>
              <a:spLocks noChangeShapeType="1"/>
            </p:cNvSpPr>
            <p:nvPr/>
          </p:nvSpPr>
          <p:spPr bwMode="auto">
            <a:xfrm flipV="1">
              <a:off x="1459" y="1549"/>
              <a:ext cx="2540" cy="59"/>
            </a:xfrm>
            <a:prstGeom prst="line">
              <a:avLst/>
            </a:prstGeom>
            <a:noFill/>
            <a:ln w="952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4" name="Line 41"/>
            <p:cNvSpPr>
              <a:spLocks noChangeShapeType="1"/>
            </p:cNvSpPr>
            <p:nvPr/>
          </p:nvSpPr>
          <p:spPr bwMode="auto">
            <a:xfrm>
              <a:off x="1456" y="1615"/>
              <a:ext cx="2940" cy="560"/>
            </a:xfrm>
            <a:prstGeom prst="line">
              <a:avLst/>
            </a:prstGeom>
            <a:noFill/>
            <a:ln w="952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5" name="Line 42"/>
            <p:cNvSpPr>
              <a:spLocks noChangeShapeType="1"/>
            </p:cNvSpPr>
            <p:nvPr/>
          </p:nvSpPr>
          <p:spPr bwMode="auto">
            <a:xfrm>
              <a:off x="4004" y="1548"/>
              <a:ext cx="418" cy="6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6" name="AutoShape 43"/>
            <p:cNvSpPr>
              <a:spLocks noChangeArrowheads="1"/>
            </p:cNvSpPr>
            <p:nvPr/>
          </p:nvSpPr>
          <p:spPr bwMode="auto">
            <a:xfrm>
              <a:off x="3970" y="1522"/>
              <a:ext cx="47" cy="48"/>
            </a:xfrm>
            <a:prstGeom prst="flowChartConnector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  <p:sp>
          <p:nvSpPr>
            <p:cNvPr id="29757" name="AutoShape 44"/>
            <p:cNvSpPr>
              <a:spLocks noChangeArrowheads="1"/>
            </p:cNvSpPr>
            <p:nvPr/>
          </p:nvSpPr>
          <p:spPr bwMode="auto">
            <a:xfrm>
              <a:off x="4396" y="2157"/>
              <a:ext cx="47" cy="48"/>
            </a:xfrm>
            <a:prstGeom prst="flowChartConnector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</p:grpSp>
      <p:sp>
        <p:nvSpPr>
          <p:cNvPr id="128045" name="Rectangle 45"/>
          <p:cNvSpPr>
            <a:spLocks noChangeArrowheads="1"/>
          </p:cNvSpPr>
          <p:nvPr/>
        </p:nvSpPr>
        <p:spPr bwMode="auto">
          <a:xfrm>
            <a:off x="63500" y="981075"/>
            <a:ext cx="9028113" cy="48133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/>
          </a:p>
        </p:txBody>
      </p:sp>
      <p:sp>
        <p:nvSpPr>
          <p:cNvPr id="128046" name="Line 46"/>
          <p:cNvSpPr>
            <a:spLocks noChangeShapeType="1"/>
          </p:cNvSpPr>
          <p:nvPr/>
        </p:nvSpPr>
        <p:spPr bwMode="auto">
          <a:xfrm>
            <a:off x="3240088" y="2535238"/>
            <a:ext cx="3868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47" name="Line 47"/>
          <p:cNvSpPr>
            <a:spLocks noChangeShapeType="1"/>
          </p:cNvSpPr>
          <p:nvPr/>
        </p:nvSpPr>
        <p:spPr bwMode="auto">
          <a:xfrm>
            <a:off x="3257550" y="3746500"/>
            <a:ext cx="41544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48" name="Rectangle 48"/>
          <p:cNvSpPr>
            <a:spLocks noChangeArrowheads="1"/>
          </p:cNvSpPr>
          <p:nvPr/>
        </p:nvSpPr>
        <p:spPr bwMode="auto">
          <a:xfrm>
            <a:off x="5637213" y="198596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s</a:t>
            </a:r>
          </a:p>
        </p:txBody>
      </p:sp>
      <p:sp>
        <p:nvSpPr>
          <p:cNvPr id="29707" name="Text Box 49"/>
          <p:cNvSpPr txBox="1">
            <a:spLocks noChangeArrowheads="1"/>
          </p:cNvSpPr>
          <p:nvPr/>
        </p:nvSpPr>
        <p:spPr bwMode="auto">
          <a:xfrm>
            <a:off x="292100" y="282575"/>
            <a:ext cx="8851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0">
                <a:ea typeface="黑体" pitchFamily="2" charset="-122"/>
              </a:rPr>
              <a:t>二．</a:t>
            </a:r>
            <a:r>
              <a:rPr lang="zh-CN" altLang="en-US">
                <a:ea typeface="黑体" pitchFamily="2" charset="-122"/>
              </a:rPr>
              <a:t>平行投影法</a:t>
            </a:r>
            <a:endParaRPr lang="zh-CN" altLang="en-US" b="0">
              <a:ea typeface="黑体" pitchFamily="2" charset="-122"/>
            </a:endParaRPr>
          </a:p>
        </p:txBody>
      </p:sp>
      <p:sp>
        <p:nvSpPr>
          <p:cNvPr id="128050" name="Text Box 50"/>
          <p:cNvSpPr txBox="1">
            <a:spLocks noChangeArrowheads="1"/>
          </p:cNvSpPr>
          <p:nvPr/>
        </p:nvSpPr>
        <p:spPr bwMode="auto">
          <a:xfrm>
            <a:off x="323850" y="1531938"/>
            <a:ext cx="88201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ea typeface="黑体" pitchFamily="2" charset="-122"/>
              </a:rPr>
              <a:t>平行投影</a:t>
            </a:r>
            <a:r>
              <a:rPr lang="en-US" altLang="zh-CN" sz="2400">
                <a:solidFill>
                  <a:srgbClr val="FF3300"/>
                </a:solidFill>
                <a:ea typeface="黑体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ISOCP" pitchFamily="2" charset="0"/>
                <a:ea typeface="黑体" pitchFamily="2" charset="-122"/>
              </a:rPr>
              <a:t>投射线相互平行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ISOCP" pitchFamily="2" charset="0"/>
                <a:ea typeface="黑体" pitchFamily="2" charset="-122"/>
              </a:rPr>
              <a:t>的投影方法</a:t>
            </a:r>
          </a:p>
        </p:txBody>
      </p:sp>
      <p:sp>
        <p:nvSpPr>
          <p:cNvPr id="128051" name="Text Box 51"/>
          <p:cNvSpPr txBox="1">
            <a:spLocks noChangeArrowheads="1"/>
          </p:cNvSpPr>
          <p:nvPr/>
        </p:nvSpPr>
        <p:spPr bwMode="auto">
          <a:xfrm>
            <a:off x="198438" y="4084638"/>
            <a:ext cx="86772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优点：具有平行性、等比性、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实形性（当空间的面、线与投影面平行时）。</a:t>
            </a:r>
          </a:p>
        </p:txBody>
      </p:sp>
      <p:sp>
        <p:nvSpPr>
          <p:cNvPr id="128053" name="Text Box 53"/>
          <p:cNvSpPr txBox="1">
            <a:spLocks noChangeArrowheads="1"/>
          </p:cNvSpPr>
          <p:nvPr/>
        </p:nvSpPr>
        <p:spPr bwMode="auto">
          <a:xfrm>
            <a:off x="6927850" y="2133600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8054" name="Text Box 54"/>
          <p:cNvSpPr txBox="1">
            <a:spLocks noChangeArrowheads="1"/>
          </p:cNvSpPr>
          <p:nvPr/>
        </p:nvSpPr>
        <p:spPr bwMode="auto">
          <a:xfrm>
            <a:off x="8274050" y="2746375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b</a:t>
            </a:r>
            <a:endParaRPr lang="en-US" altLang="zh-CN" sz="2000" b="0">
              <a:latin typeface="ISOCPEUR" pitchFamily="34" charset="0"/>
            </a:endParaRPr>
          </a:p>
        </p:txBody>
      </p:sp>
      <p:sp>
        <p:nvSpPr>
          <p:cNvPr id="128055" name="Text Box 55"/>
          <p:cNvSpPr txBox="1">
            <a:spLocks noChangeArrowheads="1"/>
          </p:cNvSpPr>
          <p:nvPr/>
        </p:nvSpPr>
        <p:spPr bwMode="auto">
          <a:xfrm>
            <a:off x="7200900" y="3663950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c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8056" name="Text Box 56"/>
          <p:cNvSpPr txBox="1">
            <a:spLocks noChangeArrowheads="1"/>
          </p:cNvSpPr>
          <p:nvPr/>
        </p:nvSpPr>
        <p:spPr bwMode="auto">
          <a:xfrm>
            <a:off x="6773863" y="2597150"/>
            <a:ext cx="404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d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8057" name="Text Box 57"/>
          <p:cNvSpPr txBox="1">
            <a:spLocks noChangeArrowheads="1"/>
          </p:cNvSpPr>
          <p:nvPr/>
        </p:nvSpPr>
        <p:spPr bwMode="auto">
          <a:xfrm>
            <a:off x="7931150" y="3187700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e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8058" name="Line 58"/>
          <p:cNvSpPr>
            <a:spLocks noChangeShapeType="1"/>
          </p:cNvSpPr>
          <p:nvPr/>
        </p:nvSpPr>
        <p:spPr bwMode="auto">
          <a:xfrm>
            <a:off x="7197725" y="2901950"/>
            <a:ext cx="842963" cy="376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59" name="Freeform 59"/>
          <p:cNvSpPr>
            <a:spLocks/>
          </p:cNvSpPr>
          <p:nvPr/>
        </p:nvSpPr>
        <p:spPr bwMode="auto">
          <a:xfrm>
            <a:off x="7110413" y="2528888"/>
            <a:ext cx="1219200" cy="1219200"/>
          </a:xfrm>
          <a:custGeom>
            <a:avLst/>
            <a:gdLst>
              <a:gd name="T0" fmla="*/ 0 w 768"/>
              <a:gd name="T1" fmla="*/ 0 h 768"/>
              <a:gd name="T2" fmla="*/ 2147483647 w 768"/>
              <a:gd name="T3" fmla="*/ 2147483647 h 768"/>
              <a:gd name="T4" fmla="*/ 2147483647 w 768"/>
              <a:gd name="T5" fmla="*/ 2147483647 h 768"/>
              <a:gd name="T6" fmla="*/ 0 w 768"/>
              <a:gd name="T7" fmla="*/ 0 h 768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768"/>
              <a:gd name="T14" fmla="*/ 768 w 768"/>
              <a:gd name="T15" fmla="*/ 768 h 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768">
                <a:moveTo>
                  <a:pt x="0" y="0"/>
                </a:moveTo>
                <a:lnTo>
                  <a:pt x="189" y="768"/>
                </a:lnTo>
                <a:lnTo>
                  <a:pt x="768" y="333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60"/>
          <p:cNvGrpSpPr>
            <a:grpSpLocks/>
          </p:cNvGrpSpPr>
          <p:nvPr/>
        </p:nvGrpSpPr>
        <p:grpSpPr bwMode="auto">
          <a:xfrm>
            <a:off x="4252913" y="1082675"/>
            <a:ext cx="4587875" cy="4427538"/>
            <a:chOff x="2679" y="154"/>
            <a:chExt cx="2890" cy="2789"/>
          </a:xfrm>
        </p:grpSpPr>
        <p:grpSp>
          <p:nvGrpSpPr>
            <p:cNvPr id="29732" name="Group 61"/>
            <p:cNvGrpSpPr>
              <a:grpSpLocks/>
            </p:cNvGrpSpPr>
            <p:nvPr/>
          </p:nvGrpSpPr>
          <p:grpSpPr bwMode="auto">
            <a:xfrm>
              <a:off x="4225" y="154"/>
              <a:ext cx="1344" cy="2789"/>
              <a:chOff x="3600" y="619"/>
              <a:chExt cx="1344" cy="2789"/>
            </a:xfrm>
          </p:grpSpPr>
          <p:sp>
            <p:nvSpPr>
              <p:cNvPr id="29744" name="Line 62"/>
              <p:cNvSpPr>
                <a:spLocks noChangeShapeType="1"/>
              </p:cNvSpPr>
              <p:nvPr/>
            </p:nvSpPr>
            <p:spPr bwMode="auto">
              <a:xfrm>
                <a:off x="3600" y="619"/>
                <a:ext cx="1344" cy="7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5" name="Line 63"/>
              <p:cNvSpPr>
                <a:spLocks noChangeShapeType="1"/>
              </p:cNvSpPr>
              <p:nvPr/>
            </p:nvSpPr>
            <p:spPr bwMode="auto">
              <a:xfrm>
                <a:off x="4944" y="1392"/>
                <a:ext cx="0" cy="20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6" name="Freeform 64"/>
              <p:cNvSpPr>
                <a:spLocks/>
              </p:cNvSpPr>
              <p:nvPr/>
            </p:nvSpPr>
            <p:spPr bwMode="auto">
              <a:xfrm>
                <a:off x="3600" y="624"/>
                <a:ext cx="1344" cy="2784"/>
              </a:xfrm>
              <a:custGeom>
                <a:avLst/>
                <a:gdLst>
                  <a:gd name="T0" fmla="*/ 0 w 1344"/>
                  <a:gd name="T1" fmla="*/ 0 h 2784"/>
                  <a:gd name="T2" fmla="*/ 1344 w 1344"/>
                  <a:gd name="T3" fmla="*/ 768 h 2784"/>
                  <a:gd name="T4" fmla="*/ 1344 w 1344"/>
                  <a:gd name="T5" fmla="*/ 2784 h 2784"/>
                  <a:gd name="T6" fmla="*/ 0 w 1344"/>
                  <a:gd name="T7" fmla="*/ 2008 h 2784"/>
                  <a:gd name="T8" fmla="*/ 0 w 1344"/>
                  <a:gd name="T9" fmla="*/ 0 h 27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4"/>
                  <a:gd name="T16" fmla="*/ 0 h 2784"/>
                  <a:gd name="T17" fmla="*/ 1344 w 1344"/>
                  <a:gd name="T18" fmla="*/ 2784 h 27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4" h="2784">
                    <a:moveTo>
                      <a:pt x="0" y="0"/>
                    </a:moveTo>
                    <a:lnTo>
                      <a:pt x="1344" y="768"/>
                    </a:lnTo>
                    <a:lnTo>
                      <a:pt x="1344" y="2784"/>
                    </a:lnTo>
                    <a:lnTo>
                      <a:pt x="0" y="200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733" name="Text Box 65"/>
            <p:cNvSpPr txBox="1">
              <a:spLocks noChangeArrowheads="1"/>
            </p:cNvSpPr>
            <p:nvPr/>
          </p:nvSpPr>
          <p:spPr bwMode="auto">
            <a:xfrm>
              <a:off x="5225" y="2506"/>
              <a:ext cx="2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P</a:t>
              </a:r>
            </a:p>
          </p:txBody>
        </p:sp>
        <p:grpSp>
          <p:nvGrpSpPr>
            <p:cNvPr id="29734" name="Group 66"/>
            <p:cNvGrpSpPr>
              <a:grpSpLocks/>
            </p:cNvGrpSpPr>
            <p:nvPr/>
          </p:nvGrpSpPr>
          <p:grpSpPr bwMode="auto">
            <a:xfrm>
              <a:off x="2875" y="1066"/>
              <a:ext cx="576" cy="768"/>
              <a:chOff x="2352" y="1344"/>
              <a:chExt cx="576" cy="768"/>
            </a:xfrm>
          </p:grpSpPr>
          <p:sp>
            <p:nvSpPr>
              <p:cNvPr id="29741" name="Freeform 67"/>
              <p:cNvSpPr>
                <a:spLocks/>
              </p:cNvSpPr>
              <p:nvPr/>
            </p:nvSpPr>
            <p:spPr bwMode="auto">
              <a:xfrm>
                <a:off x="2352" y="1344"/>
                <a:ext cx="576" cy="768"/>
              </a:xfrm>
              <a:custGeom>
                <a:avLst/>
                <a:gdLst>
                  <a:gd name="T0" fmla="*/ 0 w 576"/>
                  <a:gd name="T1" fmla="*/ 336 h 768"/>
                  <a:gd name="T2" fmla="*/ 240 w 576"/>
                  <a:gd name="T3" fmla="*/ 0 h 768"/>
                  <a:gd name="T4" fmla="*/ 576 w 576"/>
                  <a:gd name="T5" fmla="*/ 768 h 768"/>
                  <a:gd name="T6" fmla="*/ 0 w 576"/>
                  <a:gd name="T7" fmla="*/ 336 h 76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6"/>
                  <a:gd name="T13" fmla="*/ 0 h 768"/>
                  <a:gd name="T14" fmla="*/ 576 w 576"/>
                  <a:gd name="T15" fmla="*/ 768 h 76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6" h="768">
                    <a:moveTo>
                      <a:pt x="0" y="336"/>
                    </a:moveTo>
                    <a:lnTo>
                      <a:pt x="240" y="0"/>
                    </a:lnTo>
                    <a:lnTo>
                      <a:pt x="576" y="768"/>
                    </a:ln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2" name="Line 68"/>
              <p:cNvSpPr>
                <a:spLocks noChangeShapeType="1"/>
              </p:cNvSpPr>
              <p:nvPr/>
            </p:nvSpPr>
            <p:spPr bwMode="auto">
              <a:xfrm flipH="1">
                <a:off x="2352" y="1344"/>
                <a:ext cx="24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3" name="Line 69"/>
              <p:cNvSpPr>
                <a:spLocks noChangeShapeType="1"/>
              </p:cNvSpPr>
              <p:nvPr/>
            </p:nvSpPr>
            <p:spPr bwMode="auto">
              <a:xfrm>
                <a:off x="2352" y="1680"/>
                <a:ext cx="576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735" name="Text Box 70"/>
            <p:cNvSpPr txBox="1">
              <a:spLocks noChangeArrowheads="1"/>
            </p:cNvSpPr>
            <p:nvPr/>
          </p:nvSpPr>
          <p:spPr bwMode="auto">
            <a:xfrm>
              <a:off x="2941" y="801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A</a:t>
              </a:r>
            </a:p>
          </p:txBody>
        </p:sp>
        <p:sp>
          <p:nvSpPr>
            <p:cNvPr id="29736" name="Text Box 71"/>
            <p:cNvSpPr txBox="1">
              <a:spLocks noChangeArrowheads="1"/>
            </p:cNvSpPr>
            <p:nvPr/>
          </p:nvSpPr>
          <p:spPr bwMode="auto">
            <a:xfrm>
              <a:off x="2679" y="1144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B</a:t>
              </a:r>
            </a:p>
          </p:txBody>
        </p:sp>
        <p:sp>
          <p:nvSpPr>
            <p:cNvPr id="29737" name="Text Box 72"/>
            <p:cNvSpPr txBox="1">
              <a:spLocks noChangeArrowheads="1"/>
            </p:cNvSpPr>
            <p:nvPr/>
          </p:nvSpPr>
          <p:spPr bwMode="auto">
            <a:xfrm>
              <a:off x="3209" y="1789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C</a:t>
              </a:r>
            </a:p>
          </p:txBody>
        </p:sp>
        <p:sp>
          <p:nvSpPr>
            <p:cNvPr id="29738" name="Line 73"/>
            <p:cNvSpPr>
              <a:spLocks noChangeShapeType="1"/>
            </p:cNvSpPr>
            <p:nvPr/>
          </p:nvSpPr>
          <p:spPr bwMode="auto">
            <a:xfrm flipH="1">
              <a:off x="3053" y="1304"/>
              <a:ext cx="164" cy="2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9" name="Text Box 74"/>
            <p:cNvSpPr txBox="1">
              <a:spLocks noChangeArrowheads="1"/>
            </p:cNvSpPr>
            <p:nvPr/>
          </p:nvSpPr>
          <p:spPr bwMode="auto">
            <a:xfrm>
              <a:off x="3174" y="1054"/>
              <a:ext cx="2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D</a:t>
              </a:r>
            </a:p>
          </p:txBody>
        </p:sp>
        <p:sp>
          <p:nvSpPr>
            <p:cNvPr id="29740" name="Text Box 75"/>
            <p:cNvSpPr txBox="1">
              <a:spLocks noChangeArrowheads="1"/>
            </p:cNvSpPr>
            <p:nvPr/>
          </p:nvSpPr>
          <p:spPr bwMode="auto">
            <a:xfrm>
              <a:off x="2861" y="1569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E</a:t>
              </a:r>
            </a:p>
          </p:txBody>
        </p:sp>
      </p:grpSp>
      <p:sp>
        <p:nvSpPr>
          <p:cNvPr id="128076" name="Line 76"/>
          <p:cNvSpPr>
            <a:spLocks noChangeShapeType="1"/>
          </p:cNvSpPr>
          <p:nvPr/>
        </p:nvSpPr>
        <p:spPr bwMode="auto">
          <a:xfrm>
            <a:off x="3227388" y="3273425"/>
            <a:ext cx="4802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77" name="Line 77"/>
          <p:cNvSpPr>
            <a:spLocks noChangeShapeType="1"/>
          </p:cNvSpPr>
          <p:nvPr/>
        </p:nvSpPr>
        <p:spPr bwMode="auto">
          <a:xfrm>
            <a:off x="3240088" y="2906713"/>
            <a:ext cx="3944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78" name="Line 78"/>
          <p:cNvSpPr>
            <a:spLocks noChangeShapeType="1"/>
          </p:cNvSpPr>
          <p:nvPr/>
        </p:nvSpPr>
        <p:spPr bwMode="auto">
          <a:xfrm>
            <a:off x="3241675" y="3062288"/>
            <a:ext cx="5087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79" name="AutoShape 79"/>
          <p:cNvSpPr>
            <a:spLocks noChangeArrowheads="1"/>
          </p:cNvSpPr>
          <p:nvPr/>
        </p:nvSpPr>
        <p:spPr bwMode="auto">
          <a:xfrm>
            <a:off x="8278813" y="3022600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28081" name="Line 81"/>
          <p:cNvSpPr>
            <a:spLocks noChangeShapeType="1"/>
          </p:cNvSpPr>
          <p:nvPr/>
        </p:nvSpPr>
        <p:spPr bwMode="auto">
          <a:xfrm>
            <a:off x="7200900" y="2905125"/>
            <a:ext cx="842963" cy="365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2" name="AutoShape 82"/>
          <p:cNvSpPr>
            <a:spLocks noChangeArrowheads="1"/>
          </p:cNvSpPr>
          <p:nvPr/>
        </p:nvSpPr>
        <p:spPr bwMode="auto">
          <a:xfrm>
            <a:off x="7377113" y="3708400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28083" name="AutoShape 83"/>
          <p:cNvSpPr>
            <a:spLocks noChangeArrowheads="1"/>
          </p:cNvSpPr>
          <p:nvPr/>
        </p:nvSpPr>
        <p:spPr bwMode="auto">
          <a:xfrm>
            <a:off x="7078663" y="2497138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28084" name="AutoShape 84"/>
          <p:cNvSpPr>
            <a:spLocks noChangeArrowheads="1"/>
          </p:cNvSpPr>
          <p:nvPr/>
        </p:nvSpPr>
        <p:spPr bwMode="auto">
          <a:xfrm>
            <a:off x="7164388" y="2865438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28085" name="AutoShape 85"/>
          <p:cNvSpPr>
            <a:spLocks noChangeArrowheads="1"/>
          </p:cNvSpPr>
          <p:nvPr/>
        </p:nvSpPr>
        <p:spPr bwMode="auto">
          <a:xfrm>
            <a:off x="7991475" y="3233738"/>
            <a:ext cx="74613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28086" name="Line 86"/>
          <p:cNvSpPr>
            <a:spLocks noChangeShapeType="1"/>
          </p:cNvSpPr>
          <p:nvPr/>
        </p:nvSpPr>
        <p:spPr bwMode="auto">
          <a:xfrm>
            <a:off x="5322888" y="2390775"/>
            <a:ext cx="890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7" name="Text Box 87"/>
          <p:cNvSpPr txBox="1">
            <a:spLocks noChangeArrowheads="1"/>
          </p:cNvSpPr>
          <p:nvPr/>
        </p:nvSpPr>
        <p:spPr bwMode="auto">
          <a:xfrm>
            <a:off x="3551238" y="1347788"/>
            <a:ext cx="55927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空间</a:t>
            </a:r>
            <a:r>
              <a:rPr lang="en-US" altLang="zh-CN" sz="2000">
                <a:latin typeface="黑体" pitchFamily="2" charset="-122"/>
                <a:ea typeface="黑体" pitchFamily="2" charset="-122"/>
              </a:rPr>
              <a:t>AB∥DE,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投</a:t>
            </a:r>
            <a:r>
              <a:rPr lang="zh-CN" altLang="zh-CN" sz="2000">
                <a:latin typeface="黑体" pitchFamily="2" charset="-122"/>
                <a:ea typeface="黑体" pitchFamily="2" charset="-122"/>
              </a:rPr>
              <a:t>影</a:t>
            </a:r>
            <a:r>
              <a:rPr lang="en-US" altLang="zh-CN" sz="2000">
                <a:latin typeface="黑体" pitchFamily="2" charset="-122"/>
                <a:ea typeface="黑体" pitchFamily="2" charset="-122"/>
              </a:rPr>
              <a:t>ab∥de</a:t>
            </a:r>
          </a:p>
        </p:txBody>
      </p:sp>
      <p:sp>
        <p:nvSpPr>
          <p:cNvPr id="128088" name="Text Box 88"/>
          <p:cNvSpPr txBox="1">
            <a:spLocks noChangeArrowheads="1"/>
          </p:cNvSpPr>
          <p:nvPr/>
        </p:nvSpPr>
        <p:spPr bwMode="auto">
          <a:xfrm>
            <a:off x="3536950" y="1735138"/>
            <a:ext cx="560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>
                <a:latin typeface="黑体" pitchFamily="2" charset="-122"/>
                <a:ea typeface="黑体" pitchFamily="2" charset="-122"/>
              </a:rPr>
              <a:t> AD/DC = ad/dc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28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8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5" grpId="0" animBg="1"/>
      <p:bldP spid="128045" grpId="0" animBg="1" autoUpdateAnimBg="0"/>
      <p:bldP spid="128046" grpId="0" animBg="1"/>
      <p:bldP spid="128047" grpId="0" animBg="1"/>
      <p:bldP spid="128048" grpId="0" autoUpdateAnimBg="0"/>
      <p:bldP spid="128050" grpId="0" autoUpdateAnimBg="0"/>
      <p:bldP spid="128051" grpId="0" autoUpdateAnimBg="0"/>
      <p:bldP spid="128054" grpId="0" autoUpdateAnimBg="0"/>
      <p:bldP spid="128055" grpId="0" autoUpdateAnimBg="0"/>
      <p:bldP spid="128056" grpId="0" autoUpdateAnimBg="0"/>
      <p:bldP spid="128057" grpId="0" autoUpdateAnimBg="0"/>
      <p:bldP spid="128058" grpId="0" animBg="1"/>
      <p:bldP spid="128059" grpId="0" animBg="1"/>
      <p:bldP spid="128076" grpId="0" animBg="1"/>
      <p:bldP spid="128077" grpId="0" animBg="1"/>
      <p:bldP spid="128078" grpId="0" animBg="1"/>
      <p:bldP spid="128079" grpId="0" animBg="1"/>
      <p:bldP spid="128081" grpId="0" animBg="1"/>
      <p:bldP spid="128082" grpId="0" animBg="1"/>
      <p:bldP spid="128083" grpId="0" animBg="1"/>
      <p:bldP spid="128084" grpId="0" animBg="1"/>
      <p:bldP spid="128085" grpId="0" animBg="1"/>
      <p:bldP spid="128086" grpId="0" animBg="1"/>
      <p:bldP spid="128087" grpId="0" autoUpdateAnimBg="0"/>
      <p:bldP spid="12808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334832-F43C-4B13-9BC2-C003F66A15D4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158896" name="Text Box 176"/>
          <p:cNvSpPr txBox="1">
            <a:spLocks noChangeArrowheads="1"/>
          </p:cNvSpPr>
          <p:nvPr/>
        </p:nvSpPr>
        <p:spPr bwMode="auto">
          <a:xfrm>
            <a:off x="1038225" y="4410075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斜投影法</a:t>
            </a:r>
          </a:p>
        </p:txBody>
      </p:sp>
      <p:sp>
        <p:nvSpPr>
          <p:cNvPr id="30724" name="AutoShape 179"/>
          <p:cNvSpPr>
            <a:spLocks noChangeArrowheads="1"/>
          </p:cNvSpPr>
          <p:nvPr/>
        </p:nvSpPr>
        <p:spPr bwMode="auto">
          <a:xfrm rot="-1332053">
            <a:off x="6042025" y="1471613"/>
            <a:ext cx="1676400" cy="685800"/>
          </a:xfrm>
          <a:prstGeom prst="rtTriangle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0725" name="Line 181"/>
          <p:cNvSpPr>
            <a:spLocks noChangeShapeType="1"/>
          </p:cNvSpPr>
          <p:nvPr/>
        </p:nvSpPr>
        <p:spPr bwMode="auto">
          <a:xfrm>
            <a:off x="6727825" y="3367088"/>
            <a:ext cx="15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6" name="AutoShape 182"/>
          <p:cNvSpPr>
            <a:spLocks noChangeArrowheads="1"/>
          </p:cNvSpPr>
          <p:nvPr/>
        </p:nvSpPr>
        <p:spPr bwMode="auto">
          <a:xfrm>
            <a:off x="4822825" y="2767013"/>
            <a:ext cx="3657600" cy="1066800"/>
          </a:xfrm>
          <a:prstGeom prst="parallelogram">
            <a:avLst>
              <a:gd name="adj" fmla="val 99349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0727" name="AutoShape 183"/>
          <p:cNvSpPr>
            <a:spLocks noChangeArrowheads="1"/>
          </p:cNvSpPr>
          <p:nvPr/>
        </p:nvSpPr>
        <p:spPr bwMode="auto">
          <a:xfrm rot="-1332053">
            <a:off x="6042025" y="2614613"/>
            <a:ext cx="1676400" cy="685800"/>
          </a:xfrm>
          <a:prstGeom prst="rtTriangle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0728" name="Line 184"/>
          <p:cNvSpPr>
            <a:spLocks noChangeShapeType="1"/>
          </p:cNvSpPr>
          <p:nvPr/>
        </p:nvSpPr>
        <p:spPr bwMode="auto">
          <a:xfrm>
            <a:off x="5972175" y="1833563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9" name="Line 185"/>
          <p:cNvSpPr>
            <a:spLocks noChangeShapeType="1"/>
          </p:cNvSpPr>
          <p:nvPr/>
        </p:nvSpPr>
        <p:spPr bwMode="auto">
          <a:xfrm>
            <a:off x="6246813" y="2462213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0" name="Line 186"/>
          <p:cNvSpPr>
            <a:spLocks noChangeShapeType="1"/>
          </p:cNvSpPr>
          <p:nvPr/>
        </p:nvSpPr>
        <p:spPr bwMode="auto">
          <a:xfrm>
            <a:off x="7800975" y="1814513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907" name="Line 187"/>
          <p:cNvSpPr>
            <a:spLocks noChangeShapeType="1"/>
          </p:cNvSpPr>
          <p:nvPr/>
        </p:nvSpPr>
        <p:spPr bwMode="auto">
          <a:xfrm flipH="1">
            <a:off x="1355725" y="1824038"/>
            <a:ext cx="30480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908" name="Line 188"/>
          <p:cNvSpPr>
            <a:spLocks noChangeShapeType="1"/>
          </p:cNvSpPr>
          <p:nvPr/>
        </p:nvSpPr>
        <p:spPr bwMode="auto">
          <a:xfrm>
            <a:off x="5521325" y="1814513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3" name="AutoShape 192"/>
          <p:cNvSpPr>
            <a:spLocks noChangeArrowheads="1"/>
          </p:cNvSpPr>
          <p:nvPr/>
        </p:nvSpPr>
        <p:spPr bwMode="auto">
          <a:xfrm>
            <a:off x="622300" y="2690813"/>
            <a:ext cx="3657600" cy="1066800"/>
          </a:xfrm>
          <a:prstGeom prst="parallelogram">
            <a:avLst>
              <a:gd name="adj" fmla="val 99349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0734" name="AutoShape 193"/>
          <p:cNvSpPr>
            <a:spLocks noChangeArrowheads="1"/>
          </p:cNvSpPr>
          <p:nvPr/>
        </p:nvSpPr>
        <p:spPr bwMode="auto">
          <a:xfrm rot="-1961588">
            <a:off x="2374900" y="1319213"/>
            <a:ext cx="1524000" cy="838200"/>
          </a:xfrm>
          <a:prstGeom prst="rtTriangle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0735" name="Line 195"/>
          <p:cNvSpPr>
            <a:spLocks noChangeShapeType="1"/>
          </p:cNvSpPr>
          <p:nvPr/>
        </p:nvSpPr>
        <p:spPr bwMode="auto">
          <a:xfrm flipV="1">
            <a:off x="1824038" y="1787525"/>
            <a:ext cx="446087" cy="1149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6" name="Line 196"/>
          <p:cNvSpPr>
            <a:spLocks noChangeShapeType="1"/>
          </p:cNvSpPr>
          <p:nvPr/>
        </p:nvSpPr>
        <p:spPr bwMode="auto">
          <a:xfrm flipV="1">
            <a:off x="3608388" y="1679575"/>
            <a:ext cx="406400" cy="1154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7" name="Line 197"/>
          <p:cNvSpPr>
            <a:spLocks noChangeShapeType="1"/>
          </p:cNvSpPr>
          <p:nvPr/>
        </p:nvSpPr>
        <p:spPr bwMode="auto">
          <a:xfrm>
            <a:off x="2219325" y="1852613"/>
            <a:ext cx="15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8" name="AutoShape 198"/>
          <p:cNvSpPr>
            <a:spLocks noChangeArrowheads="1"/>
          </p:cNvSpPr>
          <p:nvPr/>
        </p:nvSpPr>
        <p:spPr bwMode="auto">
          <a:xfrm rot="-1961588">
            <a:off x="1949450" y="2462213"/>
            <a:ext cx="1539875" cy="838200"/>
          </a:xfrm>
          <a:prstGeom prst="rtTriangle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0739" name="Line 199"/>
          <p:cNvSpPr>
            <a:spLocks noChangeShapeType="1"/>
          </p:cNvSpPr>
          <p:nvPr/>
        </p:nvSpPr>
        <p:spPr bwMode="auto">
          <a:xfrm>
            <a:off x="2373313" y="2005013"/>
            <a:ext cx="158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0" name="Line 200"/>
          <p:cNvSpPr>
            <a:spLocks noChangeShapeType="1"/>
          </p:cNvSpPr>
          <p:nvPr/>
        </p:nvSpPr>
        <p:spPr bwMode="auto">
          <a:xfrm flipV="1">
            <a:off x="2303463" y="2471738"/>
            <a:ext cx="417512" cy="1154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1" name="Text Box 201"/>
          <p:cNvSpPr txBox="1">
            <a:spLocks noChangeArrowheads="1"/>
          </p:cNvSpPr>
          <p:nvPr/>
        </p:nvSpPr>
        <p:spPr bwMode="auto">
          <a:xfrm>
            <a:off x="935038" y="3287713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</a:p>
        </p:txBody>
      </p:sp>
      <p:sp>
        <p:nvSpPr>
          <p:cNvPr id="158925" name="Rectangle 205"/>
          <p:cNvSpPr>
            <a:spLocks noChangeArrowheads="1"/>
          </p:cNvSpPr>
          <p:nvPr/>
        </p:nvSpPr>
        <p:spPr bwMode="auto">
          <a:xfrm>
            <a:off x="1216025" y="1963738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s</a:t>
            </a:r>
          </a:p>
        </p:txBody>
      </p:sp>
      <p:sp>
        <p:nvSpPr>
          <p:cNvPr id="30743" name="Text Box 206"/>
          <p:cNvSpPr txBox="1">
            <a:spLocks noChangeArrowheads="1"/>
          </p:cNvSpPr>
          <p:nvPr/>
        </p:nvSpPr>
        <p:spPr bwMode="auto">
          <a:xfrm>
            <a:off x="5297488" y="3325813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</a:p>
        </p:txBody>
      </p:sp>
      <p:sp>
        <p:nvSpPr>
          <p:cNvPr id="158927" name="Rectangle 207"/>
          <p:cNvSpPr>
            <a:spLocks noChangeArrowheads="1"/>
          </p:cNvSpPr>
          <p:nvPr/>
        </p:nvSpPr>
        <p:spPr bwMode="auto">
          <a:xfrm>
            <a:off x="5172075" y="2012950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s</a:t>
            </a:r>
          </a:p>
        </p:txBody>
      </p:sp>
      <p:sp>
        <p:nvSpPr>
          <p:cNvPr id="158928" name="Text Box 208"/>
          <p:cNvSpPr txBox="1">
            <a:spLocks noChangeArrowheads="1"/>
          </p:cNvSpPr>
          <p:nvPr/>
        </p:nvSpPr>
        <p:spPr bwMode="auto">
          <a:xfrm>
            <a:off x="5240338" y="437356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正投影法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8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8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8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8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8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896" grpId="0" autoUpdateAnimBg="0"/>
      <p:bldP spid="158907" grpId="0" animBg="1"/>
      <p:bldP spid="158908" grpId="0" animBg="1"/>
      <p:bldP spid="158925" grpId="0" autoUpdateAnimBg="0"/>
      <p:bldP spid="158927" grpId="0" autoUpdateAnimBg="0"/>
      <p:bldP spid="15892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D79BB8-8B03-4574-B8F8-55805D8FEA80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31747" name="Oval 25"/>
          <p:cNvSpPr>
            <a:spLocks noChangeArrowheads="1"/>
          </p:cNvSpPr>
          <p:nvPr/>
        </p:nvSpPr>
        <p:spPr bwMode="auto">
          <a:xfrm>
            <a:off x="1046163" y="442913"/>
            <a:ext cx="1622425" cy="758825"/>
          </a:xfrm>
          <a:prstGeom prst="ellipse">
            <a:avLst/>
          </a:prstGeom>
          <a:gradFill rotWithShape="0">
            <a:gsLst>
              <a:gs pos="0">
                <a:srgbClr val="FF9999"/>
              </a:gs>
              <a:gs pos="100000">
                <a:srgbClr val="764747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60794" name="Text Box 26"/>
          <p:cNvSpPr txBox="1">
            <a:spLocks noChangeArrowheads="1"/>
          </p:cNvSpPr>
          <p:nvPr/>
        </p:nvSpPr>
        <p:spPr bwMode="auto">
          <a:xfrm>
            <a:off x="2682875" y="4313238"/>
            <a:ext cx="28495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平行投影法</a:t>
            </a:r>
          </a:p>
        </p:txBody>
      </p:sp>
      <p:sp>
        <p:nvSpPr>
          <p:cNvPr id="160795" name="Text Box 27"/>
          <p:cNvSpPr txBox="1">
            <a:spLocks noChangeArrowheads="1"/>
          </p:cNvSpPr>
          <p:nvPr/>
        </p:nvSpPr>
        <p:spPr bwMode="auto">
          <a:xfrm>
            <a:off x="2724150" y="4830763"/>
            <a:ext cx="2351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</a:rPr>
              <a:t>投射线相互平行</a:t>
            </a:r>
          </a:p>
        </p:txBody>
      </p:sp>
      <p:sp>
        <p:nvSpPr>
          <p:cNvPr id="160797" name="Text Box 29"/>
          <p:cNvSpPr txBox="1">
            <a:spLocks noChangeArrowheads="1"/>
          </p:cNvSpPr>
          <p:nvPr/>
        </p:nvSpPr>
        <p:spPr bwMode="auto">
          <a:xfrm>
            <a:off x="2687638" y="3268663"/>
            <a:ext cx="24526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投射线汇交于投影中心</a:t>
            </a:r>
          </a:p>
        </p:txBody>
      </p:sp>
      <p:sp>
        <p:nvSpPr>
          <p:cNvPr id="160798" name="Text Box 30"/>
          <p:cNvSpPr txBox="1">
            <a:spLocks noChangeArrowheads="1"/>
          </p:cNvSpPr>
          <p:nvPr/>
        </p:nvSpPr>
        <p:spPr bwMode="auto">
          <a:xfrm>
            <a:off x="1265238" y="479425"/>
            <a:ext cx="1101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3600">
                <a:solidFill>
                  <a:srgbClr val="FFFF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归纳</a:t>
            </a:r>
          </a:p>
        </p:txBody>
      </p:sp>
      <p:sp>
        <p:nvSpPr>
          <p:cNvPr id="160799" name="Rectangle 31"/>
          <p:cNvSpPr>
            <a:spLocks noChangeArrowheads="1"/>
          </p:cNvSpPr>
          <p:nvPr/>
        </p:nvSpPr>
        <p:spPr bwMode="auto">
          <a:xfrm>
            <a:off x="511175" y="1417638"/>
            <a:ext cx="22240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</a:rPr>
              <a:t>投影法分类</a:t>
            </a:r>
          </a:p>
        </p:txBody>
      </p:sp>
      <p:sp>
        <p:nvSpPr>
          <p:cNvPr id="160800" name="Rectangle 32"/>
          <p:cNvSpPr>
            <a:spLocks noChangeArrowheads="1"/>
          </p:cNvSpPr>
          <p:nvPr/>
        </p:nvSpPr>
        <p:spPr bwMode="auto">
          <a:xfrm>
            <a:off x="3524250" y="1196975"/>
            <a:ext cx="5303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投射线类型（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汇交或平行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）</a:t>
            </a:r>
          </a:p>
        </p:txBody>
      </p:sp>
      <p:sp>
        <p:nvSpPr>
          <p:cNvPr id="160801" name="Rectangle 33"/>
          <p:cNvSpPr>
            <a:spLocks noChangeArrowheads="1"/>
          </p:cNvSpPr>
          <p:nvPr/>
        </p:nvSpPr>
        <p:spPr bwMode="auto">
          <a:xfrm>
            <a:off x="3525838" y="1728788"/>
            <a:ext cx="5181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投影面与投射线的相对位置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倾斜或垂直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）</a:t>
            </a:r>
          </a:p>
        </p:txBody>
      </p:sp>
      <p:sp>
        <p:nvSpPr>
          <p:cNvPr id="160802" name="Oval 34"/>
          <p:cNvSpPr>
            <a:spLocks noChangeArrowheads="1"/>
          </p:cNvSpPr>
          <p:nvPr/>
        </p:nvSpPr>
        <p:spPr bwMode="auto">
          <a:xfrm>
            <a:off x="3192463" y="1389063"/>
            <a:ext cx="215900" cy="2079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5E765E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60803" name="Oval 35"/>
          <p:cNvSpPr>
            <a:spLocks noChangeArrowheads="1"/>
          </p:cNvSpPr>
          <p:nvPr/>
        </p:nvSpPr>
        <p:spPr bwMode="auto">
          <a:xfrm>
            <a:off x="3211513" y="1927225"/>
            <a:ext cx="207962" cy="207963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5E765E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60804" name="Rectangle 36"/>
          <p:cNvSpPr>
            <a:spLocks noChangeArrowheads="1"/>
          </p:cNvSpPr>
          <p:nvPr/>
        </p:nvSpPr>
        <p:spPr bwMode="auto">
          <a:xfrm>
            <a:off x="2647950" y="2862263"/>
            <a:ext cx="197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中心投影法</a:t>
            </a:r>
          </a:p>
        </p:txBody>
      </p:sp>
      <p:sp>
        <p:nvSpPr>
          <p:cNvPr id="160805" name="Rectangle 37"/>
          <p:cNvSpPr>
            <a:spLocks noChangeArrowheads="1"/>
          </p:cNvSpPr>
          <p:nvPr/>
        </p:nvSpPr>
        <p:spPr bwMode="auto">
          <a:xfrm>
            <a:off x="5862638" y="3719513"/>
            <a:ext cx="161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斜投影法</a:t>
            </a:r>
          </a:p>
        </p:txBody>
      </p:sp>
      <p:sp>
        <p:nvSpPr>
          <p:cNvPr id="160806" name="Text Box 38"/>
          <p:cNvSpPr txBox="1">
            <a:spLocks noChangeArrowheads="1"/>
          </p:cNvSpPr>
          <p:nvPr/>
        </p:nvSpPr>
        <p:spPr bwMode="auto">
          <a:xfrm>
            <a:off x="401638" y="3582988"/>
            <a:ext cx="14081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投影法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2092325" y="3146425"/>
            <a:ext cx="585788" cy="1539875"/>
            <a:chOff x="1318" y="1760"/>
            <a:chExt cx="369" cy="1192"/>
          </a:xfrm>
        </p:grpSpPr>
        <p:sp>
          <p:nvSpPr>
            <p:cNvPr id="31770" name="Line 40"/>
            <p:cNvSpPr>
              <a:spLocks noChangeShapeType="1"/>
            </p:cNvSpPr>
            <p:nvPr/>
          </p:nvSpPr>
          <p:spPr bwMode="auto">
            <a:xfrm>
              <a:off x="1474" y="1760"/>
              <a:ext cx="0" cy="1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771" name="Group 41"/>
            <p:cNvGrpSpPr>
              <a:grpSpLocks/>
            </p:cNvGrpSpPr>
            <p:nvPr/>
          </p:nvGrpSpPr>
          <p:grpSpPr bwMode="auto">
            <a:xfrm>
              <a:off x="1318" y="1760"/>
              <a:ext cx="369" cy="1185"/>
              <a:chOff x="1318" y="1760"/>
              <a:chExt cx="369" cy="1185"/>
            </a:xfrm>
          </p:grpSpPr>
          <p:sp>
            <p:nvSpPr>
              <p:cNvPr id="31772" name="Line 42"/>
              <p:cNvSpPr>
                <a:spLocks noChangeShapeType="1"/>
              </p:cNvSpPr>
              <p:nvPr/>
            </p:nvSpPr>
            <p:spPr bwMode="auto">
              <a:xfrm flipH="1">
                <a:off x="1469" y="1760"/>
                <a:ext cx="21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3" name="Line 43"/>
              <p:cNvSpPr>
                <a:spLocks noChangeShapeType="1"/>
              </p:cNvSpPr>
              <p:nvPr/>
            </p:nvSpPr>
            <p:spPr bwMode="auto">
              <a:xfrm>
                <a:off x="1318" y="2315"/>
                <a:ext cx="1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4" name="Line 44"/>
              <p:cNvSpPr>
                <a:spLocks noChangeShapeType="1"/>
              </p:cNvSpPr>
              <p:nvPr/>
            </p:nvSpPr>
            <p:spPr bwMode="auto">
              <a:xfrm flipH="1">
                <a:off x="1469" y="2945"/>
                <a:ext cx="21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60813" name="Text Box 45"/>
          <p:cNvSpPr txBox="1">
            <a:spLocks noChangeArrowheads="1"/>
          </p:cNvSpPr>
          <p:nvPr/>
        </p:nvSpPr>
        <p:spPr bwMode="auto">
          <a:xfrm>
            <a:off x="5867400" y="4203700"/>
            <a:ext cx="22034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</a:rPr>
              <a:t>投射线倾斜</a:t>
            </a:r>
          </a:p>
          <a:p>
            <a:pPr>
              <a:spcBef>
                <a:spcPct val="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</a:rPr>
              <a:t>于投影面</a:t>
            </a:r>
          </a:p>
        </p:txBody>
      </p:sp>
      <p:sp>
        <p:nvSpPr>
          <p:cNvPr id="160814" name="Text Box 46"/>
          <p:cNvSpPr txBox="1">
            <a:spLocks noChangeArrowheads="1"/>
          </p:cNvSpPr>
          <p:nvPr/>
        </p:nvSpPr>
        <p:spPr bwMode="auto">
          <a:xfrm>
            <a:off x="5897563" y="5668963"/>
            <a:ext cx="17176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投射线垂直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于投影面</a:t>
            </a:r>
          </a:p>
        </p:txBody>
      </p: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5121275" y="3976688"/>
            <a:ext cx="727075" cy="1520825"/>
            <a:chOff x="3226" y="2505"/>
            <a:chExt cx="458" cy="958"/>
          </a:xfrm>
        </p:grpSpPr>
        <p:sp>
          <p:nvSpPr>
            <p:cNvPr id="31766" name="Line 48"/>
            <p:cNvSpPr>
              <a:spLocks noChangeShapeType="1"/>
            </p:cNvSpPr>
            <p:nvPr/>
          </p:nvSpPr>
          <p:spPr bwMode="auto">
            <a:xfrm flipH="1">
              <a:off x="3393" y="2510"/>
              <a:ext cx="2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7" name="Line 49"/>
            <p:cNvSpPr>
              <a:spLocks noChangeShapeType="1"/>
            </p:cNvSpPr>
            <p:nvPr/>
          </p:nvSpPr>
          <p:spPr bwMode="auto">
            <a:xfrm>
              <a:off x="3398" y="2505"/>
              <a:ext cx="0" cy="9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8" name="Line 50"/>
            <p:cNvSpPr>
              <a:spLocks noChangeShapeType="1"/>
            </p:cNvSpPr>
            <p:nvPr/>
          </p:nvSpPr>
          <p:spPr bwMode="auto">
            <a:xfrm flipH="1">
              <a:off x="3393" y="3463"/>
              <a:ext cx="2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9" name="Line 51"/>
            <p:cNvSpPr>
              <a:spLocks noChangeShapeType="1"/>
            </p:cNvSpPr>
            <p:nvPr/>
          </p:nvSpPr>
          <p:spPr bwMode="auto">
            <a:xfrm>
              <a:off x="3226" y="2966"/>
              <a:ext cx="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0820" name="Text Box 52"/>
          <p:cNvSpPr txBox="1">
            <a:spLocks noChangeArrowheads="1"/>
          </p:cNvSpPr>
          <p:nvPr/>
        </p:nvSpPr>
        <p:spPr bwMode="auto">
          <a:xfrm>
            <a:off x="5846763" y="5114925"/>
            <a:ext cx="2109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ea typeface="黑体" pitchFamily="2" charset="-122"/>
              </a:rPr>
              <a:t>正投影法</a:t>
            </a:r>
          </a:p>
        </p:txBody>
      </p:sp>
      <p:sp>
        <p:nvSpPr>
          <p:cNvPr id="160821" name="Rectangle 53"/>
          <p:cNvSpPr>
            <a:spLocks noChangeArrowheads="1"/>
          </p:cNvSpPr>
          <p:nvPr/>
        </p:nvSpPr>
        <p:spPr bwMode="auto">
          <a:xfrm>
            <a:off x="5942013" y="5164138"/>
            <a:ext cx="1524000" cy="4333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0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60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0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0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0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0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0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0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300"/>
                                        <p:tgtEl>
                                          <p:spTgt spid="160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0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0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6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0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0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60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00"/>
                                        <p:tgtEl>
                                          <p:spTgt spid="16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300"/>
                                        <p:tgtEl>
                                          <p:spTgt spid="160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6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94" grpId="0" autoUpdateAnimBg="0"/>
      <p:bldP spid="160795" grpId="0"/>
      <p:bldP spid="160797" grpId="0"/>
      <p:bldP spid="160798" grpId="0" autoUpdateAnimBg="0"/>
      <p:bldP spid="160799" grpId="0" autoUpdateAnimBg="0"/>
      <p:bldP spid="160800" grpId="0"/>
      <p:bldP spid="160801" grpId="0" autoUpdateAnimBg="0"/>
      <p:bldP spid="160802" grpId="0" animBg="1"/>
      <p:bldP spid="160803" grpId="0" animBg="1"/>
      <p:bldP spid="160804" grpId="0" autoUpdateAnimBg="0"/>
      <p:bldP spid="160805" grpId="0" autoUpdateAnimBg="0"/>
      <p:bldP spid="160806" grpId="0" autoUpdateAnimBg="0"/>
      <p:bldP spid="160813" grpId="0" autoUpdateAnimBg="0"/>
      <p:bldP spid="160814" grpId="0" autoUpdateAnimBg="0"/>
      <p:bldP spid="160820" grpId="0" autoUpdateAnimBg="0"/>
      <p:bldP spid="1608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012C8F-D03D-4556-9959-1B25BDA62A60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341313" y="247650"/>
            <a:ext cx="6973887" cy="842963"/>
          </a:xfrm>
        </p:spPr>
        <p:txBody>
          <a:bodyPr/>
          <a:lstStyle/>
          <a:p>
            <a:pPr eaLnBrk="1" hangingPunct="1"/>
            <a:r>
              <a:rPr lang="zh-CN" altLang="en-US" sz="3600" b="1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第二章  点、直线和平面的投影</a:t>
            </a:r>
            <a:endParaRPr lang="zh-CN" altLang="en-US" sz="3600" b="1" smtClean="0">
              <a:solidFill>
                <a:srgbClr val="FF3300"/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5150" y="1876425"/>
            <a:ext cx="7932738" cy="649288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zh-CN" sz="2800" b="1" dirty="0" smtClean="0"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正投影法基本理论中最基础的部分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800" b="1" dirty="0" smtClean="0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29735" name="Rectangle 39"/>
          <p:cNvSpPr>
            <a:spLocks noChangeArrowheads="1"/>
          </p:cNvSpPr>
          <p:nvPr/>
        </p:nvSpPr>
        <p:spPr bwMode="auto">
          <a:xfrm>
            <a:off x="715963" y="3044825"/>
            <a:ext cx="7210425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要求：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掌握投影规律及作图方法。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根据多面正投影，想象空间位置。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3.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进行相互关系的空间分析。</a:t>
            </a:r>
            <a:endParaRPr lang="zh-CN" altLang="en-US" sz="2800">
              <a:latin typeface="ISOCPEUR" pitchFamily="34" charset="0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39E504-1CDF-4B7E-9034-5170F34044B1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9263" y="292100"/>
            <a:ext cx="7059612" cy="4114800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§</a:t>
            </a:r>
            <a:r>
              <a:rPr lang="en-US" altLang="zh-CN" b="1" dirty="0" smtClean="0">
                <a:latin typeface="黑体" pitchFamily="2" charset="-122"/>
                <a:ea typeface="黑体" pitchFamily="2" charset="-122"/>
              </a:rPr>
              <a:t>2.1  </a:t>
            </a:r>
            <a:r>
              <a:rPr lang="zh-CN" altLang="en-US" b="1" dirty="0" smtClean="0">
                <a:latin typeface="黑体" pitchFamily="2" charset="-122"/>
                <a:ea typeface="黑体" pitchFamily="2" charset="-122"/>
              </a:rPr>
              <a:t>点的投影</a:t>
            </a:r>
          </a:p>
          <a:p>
            <a:pPr eaLnBrk="1" hangingPunct="1">
              <a:buFont typeface="Monotype Sorts" pitchFamily="2" charset="2"/>
              <a:buNone/>
            </a:pPr>
            <a:endParaRPr lang="zh-CN" altLang="en-US" b="1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一．点的投影图</a:t>
            </a:r>
          </a:p>
          <a:p>
            <a:pPr eaLnBrk="1" hangingPunct="1">
              <a:buFont typeface="Monotype Sorts" pitchFamily="2" charset="2"/>
              <a:buNone/>
            </a:pPr>
            <a:endParaRPr lang="zh-CN" altLang="en-US" sz="2800" b="1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zh-CN" sz="2800" b="1" dirty="0" smtClean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点在一个投影面的投影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		</a:t>
            </a:r>
            <a:r>
              <a:rPr lang="en-US" altLang="zh-CN" sz="2400" b="1" i="1" dirty="0" smtClean="0">
                <a:latin typeface="黑体" pitchFamily="2" charset="-122"/>
                <a:ea typeface="黑体" pitchFamily="2" charset="-122"/>
              </a:rPr>
              <a:t>A 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→</a:t>
            </a:r>
            <a:r>
              <a:rPr lang="en-US" altLang="zh-CN" sz="2400" b="1" i="1" dirty="0" smtClean="0">
                <a:latin typeface="ISOCPEUR" pitchFamily="34" charset="0"/>
                <a:ea typeface="黑体" pitchFamily="2" charset="-122"/>
              </a:rPr>
              <a:t>a</a:t>
            </a:r>
            <a:endParaRPr lang="en-US" altLang="zh-CN" sz="2400" b="1" dirty="0" smtClean="0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162820" name="Line 4"/>
          <p:cNvSpPr>
            <a:spLocks noChangeShapeType="1"/>
          </p:cNvSpPr>
          <p:nvPr/>
        </p:nvSpPr>
        <p:spPr bwMode="auto">
          <a:xfrm flipH="1" flipV="1">
            <a:off x="6253163" y="2505075"/>
            <a:ext cx="757237" cy="757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1" name="Text Box 5"/>
          <p:cNvSpPr txBox="1">
            <a:spLocks noChangeArrowheads="1"/>
          </p:cNvSpPr>
          <p:nvPr/>
        </p:nvSpPr>
        <p:spPr bwMode="auto">
          <a:xfrm>
            <a:off x="6924675" y="283845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A</a:t>
            </a:r>
          </a:p>
        </p:txBody>
      </p:sp>
      <p:sp>
        <p:nvSpPr>
          <p:cNvPr id="162822" name="Text Box 6"/>
          <p:cNvSpPr txBox="1">
            <a:spLocks noChangeArrowheads="1"/>
          </p:cNvSpPr>
          <p:nvPr/>
        </p:nvSpPr>
        <p:spPr bwMode="auto">
          <a:xfrm>
            <a:off x="6122988" y="2136775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62823" name="Line 7"/>
          <p:cNvSpPr>
            <a:spLocks noChangeShapeType="1"/>
          </p:cNvSpPr>
          <p:nvPr/>
        </p:nvSpPr>
        <p:spPr bwMode="auto">
          <a:xfrm>
            <a:off x="6269038" y="2522538"/>
            <a:ext cx="1552575" cy="155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4" name="Text Box 8"/>
          <p:cNvSpPr txBox="1">
            <a:spLocks noChangeArrowheads="1"/>
          </p:cNvSpPr>
          <p:nvPr/>
        </p:nvSpPr>
        <p:spPr bwMode="auto">
          <a:xfrm>
            <a:off x="7207250" y="3130550"/>
            <a:ext cx="450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A</a:t>
            </a:r>
            <a:r>
              <a:rPr lang="en-US" altLang="zh-CN" sz="2000" i="1">
                <a:latin typeface="ISOCPEUR" pitchFamily="34" charset="0"/>
              </a:rPr>
              <a:t>1</a:t>
            </a:r>
          </a:p>
        </p:txBody>
      </p:sp>
      <p:sp>
        <p:nvSpPr>
          <p:cNvPr id="162825" name="Text Box 9"/>
          <p:cNvSpPr txBox="1">
            <a:spLocks noChangeArrowheads="1"/>
          </p:cNvSpPr>
          <p:nvPr/>
        </p:nvSpPr>
        <p:spPr bwMode="auto">
          <a:xfrm>
            <a:off x="7443788" y="3448050"/>
            <a:ext cx="48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A</a:t>
            </a:r>
            <a:r>
              <a:rPr lang="en-US" altLang="zh-CN" sz="2000" i="1">
                <a:latin typeface="ISOCPEUR" pitchFamily="34" charset="0"/>
              </a:rPr>
              <a:t>2</a:t>
            </a:r>
          </a:p>
        </p:txBody>
      </p:sp>
      <p:sp>
        <p:nvSpPr>
          <p:cNvPr id="162826" name="AutoShape 10"/>
          <p:cNvSpPr>
            <a:spLocks noChangeArrowheads="1"/>
          </p:cNvSpPr>
          <p:nvPr/>
        </p:nvSpPr>
        <p:spPr bwMode="auto">
          <a:xfrm>
            <a:off x="7232650" y="3490913"/>
            <a:ext cx="74613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162827" name="AutoShape 11"/>
          <p:cNvSpPr>
            <a:spLocks noChangeArrowheads="1"/>
          </p:cNvSpPr>
          <p:nvPr/>
        </p:nvSpPr>
        <p:spPr bwMode="auto">
          <a:xfrm>
            <a:off x="7451725" y="3709988"/>
            <a:ext cx="74613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162828" name="AutoShape 12"/>
          <p:cNvSpPr>
            <a:spLocks noChangeArrowheads="1"/>
          </p:cNvSpPr>
          <p:nvPr/>
        </p:nvSpPr>
        <p:spPr bwMode="auto">
          <a:xfrm>
            <a:off x="6975475" y="3224213"/>
            <a:ext cx="74613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162829" name="AutoShape 13"/>
          <p:cNvSpPr>
            <a:spLocks noChangeArrowheads="1"/>
          </p:cNvSpPr>
          <p:nvPr/>
        </p:nvSpPr>
        <p:spPr bwMode="auto">
          <a:xfrm>
            <a:off x="6237288" y="2486025"/>
            <a:ext cx="74612" cy="74613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162830" name="Text Box 14"/>
          <p:cNvSpPr txBox="1">
            <a:spLocks noChangeArrowheads="1"/>
          </p:cNvSpPr>
          <p:nvPr/>
        </p:nvSpPr>
        <p:spPr bwMode="auto">
          <a:xfrm>
            <a:off x="811213" y="3762375"/>
            <a:ext cx="8332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反过来，就无法实现  </a:t>
            </a:r>
            <a:r>
              <a:rPr lang="en-US" altLang="zh-CN" sz="2800" i="1" dirty="0">
                <a:latin typeface="ISOCPEUR" pitchFamily="34" charset="0"/>
                <a:ea typeface="黑体" pitchFamily="2" charset="-122"/>
              </a:rPr>
              <a:t>a 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→</a:t>
            </a:r>
            <a:r>
              <a:rPr lang="en-US" altLang="zh-CN" sz="2800" i="1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！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5113338" y="1460500"/>
            <a:ext cx="2525712" cy="2076450"/>
            <a:chOff x="3228" y="905"/>
            <a:chExt cx="1591" cy="1308"/>
          </a:xfrm>
        </p:grpSpPr>
        <p:sp>
          <p:nvSpPr>
            <p:cNvPr id="33809" name="Text Box 16"/>
            <p:cNvSpPr txBox="1">
              <a:spLocks noChangeArrowheads="1"/>
            </p:cNvSpPr>
            <p:nvPr/>
          </p:nvSpPr>
          <p:spPr bwMode="auto">
            <a:xfrm>
              <a:off x="3261" y="1098"/>
              <a:ext cx="2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P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3810" name="Freeform 17"/>
            <p:cNvSpPr>
              <a:spLocks/>
            </p:cNvSpPr>
            <p:nvPr/>
          </p:nvSpPr>
          <p:spPr bwMode="auto">
            <a:xfrm>
              <a:off x="3228" y="914"/>
              <a:ext cx="1582" cy="1299"/>
            </a:xfrm>
            <a:custGeom>
              <a:avLst/>
              <a:gdLst>
                <a:gd name="T0" fmla="*/ 0 w 1582"/>
                <a:gd name="T1" fmla="*/ 1299 h 1299"/>
                <a:gd name="T2" fmla="*/ 0 w 1582"/>
                <a:gd name="T3" fmla="*/ 183 h 1299"/>
                <a:gd name="T4" fmla="*/ 1582 w 1582"/>
                <a:gd name="T5" fmla="*/ 0 h 1299"/>
                <a:gd name="T6" fmla="*/ 0 60000 65536"/>
                <a:gd name="T7" fmla="*/ 0 60000 65536"/>
                <a:gd name="T8" fmla="*/ 0 60000 65536"/>
                <a:gd name="T9" fmla="*/ 0 w 1582"/>
                <a:gd name="T10" fmla="*/ 0 h 1299"/>
                <a:gd name="T11" fmla="*/ 1582 w 1582"/>
                <a:gd name="T12" fmla="*/ 1299 h 1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2" h="1299">
                  <a:moveTo>
                    <a:pt x="0" y="1299"/>
                  </a:moveTo>
                  <a:lnTo>
                    <a:pt x="0" y="183"/>
                  </a:lnTo>
                  <a:lnTo>
                    <a:pt x="1582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1" name="Freeform 18"/>
            <p:cNvSpPr>
              <a:spLocks/>
            </p:cNvSpPr>
            <p:nvPr/>
          </p:nvSpPr>
          <p:spPr bwMode="auto">
            <a:xfrm>
              <a:off x="3228" y="905"/>
              <a:ext cx="1591" cy="1308"/>
            </a:xfrm>
            <a:custGeom>
              <a:avLst/>
              <a:gdLst>
                <a:gd name="T0" fmla="*/ 0 w 1591"/>
                <a:gd name="T1" fmla="*/ 1308 h 1308"/>
                <a:gd name="T2" fmla="*/ 1591 w 1591"/>
                <a:gd name="T3" fmla="*/ 1143 h 1308"/>
                <a:gd name="T4" fmla="*/ 1591 w 1591"/>
                <a:gd name="T5" fmla="*/ 0 h 1308"/>
                <a:gd name="T6" fmla="*/ 0 60000 65536"/>
                <a:gd name="T7" fmla="*/ 0 60000 65536"/>
                <a:gd name="T8" fmla="*/ 0 60000 65536"/>
                <a:gd name="T9" fmla="*/ 0 w 1591"/>
                <a:gd name="T10" fmla="*/ 0 h 1308"/>
                <a:gd name="T11" fmla="*/ 1591 w 1591"/>
                <a:gd name="T12" fmla="*/ 1308 h 13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91" h="1308">
                  <a:moveTo>
                    <a:pt x="0" y="1308"/>
                  </a:moveTo>
                  <a:lnTo>
                    <a:pt x="1591" y="1143"/>
                  </a:lnTo>
                  <a:lnTo>
                    <a:pt x="159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2836" name="Text Box 20"/>
          <p:cNvSpPr txBox="1">
            <a:spLocks noChangeArrowheads="1"/>
          </p:cNvSpPr>
          <p:nvPr/>
        </p:nvSpPr>
        <p:spPr bwMode="auto">
          <a:xfrm>
            <a:off x="811213" y="4873625"/>
            <a:ext cx="8332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不符合可逆性要求，怎么办？</a:t>
            </a:r>
          </a:p>
        </p:txBody>
      </p:sp>
    </p:spTree>
    <p:extLst>
      <p:ext uri="{BB962C8B-B14F-4D97-AF65-F5344CB8AC3E}">
        <p14:creationId xmlns:p14="http://schemas.microsoft.com/office/powerpoint/2010/main" val="361311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6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 autoUpdateAnimBg="0"/>
      <p:bldP spid="162820" grpId="0" animBg="1"/>
      <p:bldP spid="162821" grpId="0" autoUpdateAnimBg="0"/>
      <p:bldP spid="162822" grpId="0" autoUpdateAnimBg="0"/>
      <p:bldP spid="162823" grpId="0" animBg="1"/>
      <p:bldP spid="162824" grpId="0" autoUpdateAnimBg="0"/>
      <p:bldP spid="162825" grpId="0" autoUpdateAnimBg="0"/>
      <p:bldP spid="162826" grpId="0" animBg="1" autoUpdateAnimBg="0"/>
      <p:bldP spid="162827" grpId="0" animBg="1" autoUpdateAnimBg="0"/>
      <p:bldP spid="162828" grpId="0" animBg="1" autoUpdateAnimBg="0"/>
      <p:bldP spid="162829" grpId="0" animBg="1" autoUpdateAnimBg="0"/>
      <p:bldP spid="162830" grpId="0" autoUpdateAnimBg="0"/>
      <p:bldP spid="162836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39E504-1CDF-4B7E-9034-5170F34044B1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9263" y="353644"/>
            <a:ext cx="7059612" cy="648677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zh-CN" sz="2800" b="1" dirty="0" smtClean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两投影面体系</a:t>
            </a:r>
            <a:endParaRPr lang="en-US" altLang="zh-CN" sz="2400" b="1" dirty="0" smtClean="0">
              <a:latin typeface="ISOCPEUR" pitchFamily="34" charset="0"/>
              <a:ea typeface="黑体" pitchFamily="2" charset="-122"/>
            </a:endParaRPr>
          </a:p>
        </p:txBody>
      </p:sp>
      <p:grpSp>
        <p:nvGrpSpPr>
          <p:cNvPr id="56" name="Group 88"/>
          <p:cNvGrpSpPr>
            <a:grpSpLocks/>
          </p:cNvGrpSpPr>
          <p:nvPr/>
        </p:nvGrpSpPr>
        <p:grpSpPr bwMode="auto">
          <a:xfrm>
            <a:off x="5292080" y="2059984"/>
            <a:ext cx="884237" cy="457200"/>
            <a:chOff x="3871" y="2748"/>
            <a:chExt cx="557" cy="288"/>
          </a:xfrm>
        </p:grpSpPr>
        <p:sp>
          <p:nvSpPr>
            <p:cNvPr id="57" name="Text Box 80"/>
            <p:cNvSpPr txBox="1">
              <a:spLocks noChangeArrowheads="1"/>
            </p:cNvSpPr>
            <p:nvPr/>
          </p:nvSpPr>
          <p:spPr bwMode="auto">
            <a:xfrm>
              <a:off x="3871" y="2748"/>
              <a:ext cx="5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dirty="0">
                  <a:solidFill>
                    <a:srgbClr val="000066"/>
                  </a:solidFill>
                  <a:latin typeface="ISOCPEUR" pitchFamily="34" charset="0"/>
                  <a:ea typeface="宋体" charset="-122"/>
                </a:rPr>
                <a:t>V</a:t>
              </a:r>
              <a:r>
                <a:rPr lang="en-US" altLang="zh-CN" b="0" i="1" dirty="0">
                  <a:solidFill>
                    <a:srgbClr val="000066"/>
                  </a:solidFill>
                  <a:latin typeface="ISOCPEUR" pitchFamily="34" charset="0"/>
                  <a:ea typeface="宋体" charset="-122"/>
                  <a:cs typeface="Times New Roman" pitchFamily="18" charset="0"/>
                </a:rPr>
                <a:t> </a:t>
              </a:r>
              <a:r>
                <a:rPr lang="en-US" altLang="zh-CN" b="0" i="1" dirty="0">
                  <a:solidFill>
                    <a:srgbClr val="000000"/>
                  </a:solidFill>
                  <a:latin typeface="ISOCPEUR" pitchFamily="34" charset="0"/>
                  <a:ea typeface="宋体" charset="-122"/>
                  <a:cs typeface="Times New Roman" pitchFamily="18" charset="0"/>
                </a:rPr>
                <a:t>  </a:t>
              </a:r>
              <a:r>
                <a:rPr lang="en-US" altLang="zh-CN" dirty="0">
                  <a:solidFill>
                    <a:srgbClr val="000066"/>
                  </a:solidFill>
                  <a:latin typeface="ISOCPEUR" pitchFamily="34" charset="0"/>
                  <a:ea typeface="宋体" charset="-122"/>
                  <a:cs typeface="Times New Roman" pitchFamily="18" charset="0"/>
                </a:rPr>
                <a:t>H</a:t>
              </a:r>
            </a:p>
          </p:txBody>
        </p:sp>
        <p:grpSp>
          <p:nvGrpSpPr>
            <p:cNvPr id="58" name="Group 83"/>
            <p:cNvGrpSpPr>
              <a:grpSpLocks/>
            </p:cNvGrpSpPr>
            <p:nvPr/>
          </p:nvGrpSpPr>
          <p:grpSpPr bwMode="auto">
            <a:xfrm>
              <a:off x="4118" y="2838"/>
              <a:ext cx="114" cy="108"/>
              <a:chOff x="4872" y="1593"/>
              <a:chExt cx="114" cy="108"/>
            </a:xfrm>
          </p:grpSpPr>
          <p:sp>
            <p:nvSpPr>
              <p:cNvPr id="59" name="Line 81"/>
              <p:cNvSpPr>
                <a:spLocks noChangeShapeType="1"/>
              </p:cNvSpPr>
              <p:nvPr/>
            </p:nvSpPr>
            <p:spPr bwMode="auto">
              <a:xfrm>
                <a:off x="4929" y="1593"/>
                <a:ext cx="0" cy="105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>
                  <a:spcBef>
                    <a:spcPct val="0"/>
                  </a:spcBef>
                </a:pPr>
                <a:endParaRPr lang="zh-CN" altLang="en-US" b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60" name="Line 82"/>
              <p:cNvSpPr>
                <a:spLocks noChangeShapeType="1"/>
              </p:cNvSpPr>
              <p:nvPr/>
            </p:nvSpPr>
            <p:spPr bwMode="auto">
              <a:xfrm>
                <a:off x="4872" y="1701"/>
                <a:ext cx="114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>
                  <a:spcBef>
                    <a:spcPct val="0"/>
                  </a:spcBef>
                </a:pPr>
                <a:endParaRPr lang="zh-CN" altLang="en-US" b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</p:grpSp>
      <p:grpSp>
        <p:nvGrpSpPr>
          <p:cNvPr id="61" name="Group 114"/>
          <p:cNvGrpSpPr>
            <a:grpSpLocks/>
          </p:cNvGrpSpPr>
          <p:nvPr/>
        </p:nvGrpSpPr>
        <p:grpSpPr bwMode="auto">
          <a:xfrm>
            <a:off x="1547664" y="1699944"/>
            <a:ext cx="2749550" cy="2233613"/>
            <a:chOff x="3349" y="1151"/>
            <a:chExt cx="1732" cy="1407"/>
          </a:xfrm>
        </p:grpSpPr>
        <p:grpSp>
          <p:nvGrpSpPr>
            <p:cNvPr id="62" name="Group 113"/>
            <p:cNvGrpSpPr>
              <a:grpSpLocks/>
            </p:cNvGrpSpPr>
            <p:nvPr/>
          </p:nvGrpSpPr>
          <p:grpSpPr bwMode="auto">
            <a:xfrm>
              <a:off x="3349" y="1151"/>
              <a:ext cx="1732" cy="1407"/>
              <a:chOff x="3349" y="1151"/>
              <a:chExt cx="1732" cy="1407"/>
            </a:xfrm>
          </p:grpSpPr>
          <p:grpSp>
            <p:nvGrpSpPr>
              <p:cNvPr id="65" name="Group 112"/>
              <p:cNvGrpSpPr>
                <a:grpSpLocks/>
              </p:cNvGrpSpPr>
              <p:nvPr/>
            </p:nvGrpSpPr>
            <p:grpSpPr bwMode="auto">
              <a:xfrm>
                <a:off x="3349" y="1151"/>
                <a:ext cx="1732" cy="1407"/>
                <a:chOff x="3349" y="1151"/>
                <a:chExt cx="1732" cy="1407"/>
              </a:xfrm>
            </p:grpSpPr>
            <p:sp>
              <p:nvSpPr>
                <p:cNvPr id="73" name="Line 51"/>
                <p:cNvSpPr>
                  <a:spLocks noChangeShapeType="1"/>
                </p:cNvSpPr>
                <p:nvPr/>
              </p:nvSpPr>
              <p:spPr bwMode="auto">
                <a:xfrm>
                  <a:off x="3876" y="1341"/>
                  <a:ext cx="0" cy="121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4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3870" y="2363"/>
                  <a:ext cx="638" cy="19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5" name="Line 53"/>
                <p:cNvSpPr>
                  <a:spLocks noChangeShapeType="1"/>
                </p:cNvSpPr>
                <p:nvPr/>
              </p:nvSpPr>
              <p:spPr bwMode="auto">
                <a:xfrm flipV="1">
                  <a:off x="3867" y="1749"/>
                  <a:ext cx="641" cy="1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6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3869" y="1151"/>
                  <a:ext cx="636" cy="19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7" name="Line 55"/>
                <p:cNvSpPr>
                  <a:spLocks noChangeShapeType="1"/>
                </p:cNvSpPr>
                <p:nvPr/>
              </p:nvSpPr>
              <p:spPr bwMode="auto">
                <a:xfrm>
                  <a:off x="3349" y="1693"/>
                  <a:ext cx="1107" cy="52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8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3364" y="1531"/>
                  <a:ext cx="510" cy="15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9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4441" y="2026"/>
                  <a:ext cx="640" cy="19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80" name="Line 58"/>
                <p:cNvSpPr>
                  <a:spLocks noChangeShapeType="1"/>
                </p:cNvSpPr>
                <p:nvPr/>
              </p:nvSpPr>
              <p:spPr bwMode="auto">
                <a:xfrm>
                  <a:off x="4506" y="1151"/>
                  <a:ext cx="0" cy="59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81" name="Line 59"/>
                <p:cNvSpPr>
                  <a:spLocks noChangeShapeType="1"/>
                </p:cNvSpPr>
                <p:nvPr/>
              </p:nvSpPr>
              <p:spPr bwMode="auto">
                <a:xfrm>
                  <a:off x="4504" y="1748"/>
                  <a:ext cx="567" cy="27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82" name="Line 60"/>
                <p:cNvSpPr>
                  <a:spLocks noChangeShapeType="1"/>
                </p:cNvSpPr>
                <p:nvPr/>
              </p:nvSpPr>
              <p:spPr bwMode="auto">
                <a:xfrm>
                  <a:off x="4507" y="2194"/>
                  <a:ext cx="0" cy="16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</p:grpSp>
          <p:grpSp>
            <p:nvGrpSpPr>
              <p:cNvPr id="66" name="Group 75"/>
              <p:cNvGrpSpPr>
                <a:grpSpLocks/>
              </p:cNvGrpSpPr>
              <p:nvPr/>
            </p:nvGrpSpPr>
            <p:grpSpPr bwMode="auto">
              <a:xfrm>
                <a:off x="4415" y="1203"/>
                <a:ext cx="66" cy="127"/>
                <a:chOff x="4456" y="1523"/>
                <a:chExt cx="66" cy="127"/>
              </a:xfrm>
            </p:grpSpPr>
            <p:sp>
              <p:nvSpPr>
                <p:cNvPr id="71" name="Line 66"/>
                <p:cNvSpPr>
                  <a:spLocks noChangeShapeType="1"/>
                </p:cNvSpPr>
                <p:nvPr/>
              </p:nvSpPr>
              <p:spPr bwMode="auto">
                <a:xfrm>
                  <a:off x="4456" y="1546"/>
                  <a:ext cx="21" cy="10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2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4477" y="1523"/>
                  <a:ext cx="45" cy="127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</p:grpSp>
          <p:grpSp>
            <p:nvGrpSpPr>
              <p:cNvPr id="67" name="Group 77"/>
              <p:cNvGrpSpPr>
                <a:grpSpLocks/>
              </p:cNvGrpSpPr>
              <p:nvPr/>
            </p:nvGrpSpPr>
            <p:grpSpPr bwMode="auto">
              <a:xfrm>
                <a:off x="4826" y="1974"/>
                <a:ext cx="152" cy="65"/>
                <a:chOff x="4865" y="2282"/>
                <a:chExt cx="152" cy="65"/>
              </a:xfrm>
            </p:grpSpPr>
            <p:sp>
              <p:nvSpPr>
                <p:cNvPr id="68" name="Line 68"/>
                <p:cNvSpPr>
                  <a:spLocks noChangeShapeType="1"/>
                </p:cNvSpPr>
                <p:nvPr/>
              </p:nvSpPr>
              <p:spPr bwMode="auto">
                <a:xfrm>
                  <a:off x="4865" y="2302"/>
                  <a:ext cx="90" cy="4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69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4911" y="2307"/>
                  <a:ext cx="64" cy="1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0" name="Line 76"/>
                <p:cNvSpPr>
                  <a:spLocks noChangeShapeType="1"/>
                </p:cNvSpPr>
                <p:nvPr/>
              </p:nvSpPr>
              <p:spPr bwMode="auto">
                <a:xfrm>
                  <a:off x="4927" y="2282"/>
                  <a:ext cx="90" cy="4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</p:grpSp>
        </p:grpSp>
        <p:sp>
          <p:nvSpPr>
            <p:cNvPr id="63" name="Text Box 94"/>
            <p:cNvSpPr txBox="1">
              <a:spLocks noChangeArrowheads="1"/>
            </p:cNvSpPr>
            <p:nvPr/>
          </p:nvSpPr>
          <p:spPr bwMode="auto">
            <a:xfrm>
              <a:off x="4480" y="1553"/>
              <a:ext cx="20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charset="-122"/>
                </a:rPr>
                <a:t>O</a:t>
              </a:r>
            </a:p>
          </p:txBody>
        </p:sp>
        <p:sp>
          <p:nvSpPr>
            <p:cNvPr id="64" name="Text Box 95"/>
            <p:cNvSpPr txBox="1">
              <a:spLocks noChangeArrowheads="1"/>
            </p:cNvSpPr>
            <p:nvPr/>
          </p:nvSpPr>
          <p:spPr bwMode="auto">
            <a:xfrm>
              <a:off x="3645" y="1898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charset="-122"/>
                </a:rPr>
                <a:t>X</a:t>
              </a:r>
            </a:p>
          </p:txBody>
        </p:sp>
      </p:grpSp>
      <p:grpSp>
        <p:nvGrpSpPr>
          <p:cNvPr id="83" name="Group 97"/>
          <p:cNvGrpSpPr>
            <a:grpSpLocks/>
          </p:cNvGrpSpPr>
          <p:nvPr/>
        </p:nvGrpSpPr>
        <p:grpSpPr bwMode="auto">
          <a:xfrm>
            <a:off x="1346051" y="1869807"/>
            <a:ext cx="2928938" cy="1903412"/>
            <a:chOff x="3194" y="1265"/>
            <a:chExt cx="1790" cy="1199"/>
          </a:xfrm>
        </p:grpSpPr>
        <p:sp>
          <p:nvSpPr>
            <p:cNvPr id="84" name="Text Box 90"/>
            <p:cNvSpPr txBox="1">
              <a:spLocks noChangeArrowheads="1"/>
            </p:cNvSpPr>
            <p:nvPr/>
          </p:nvSpPr>
          <p:spPr bwMode="auto">
            <a:xfrm>
              <a:off x="3194" y="1265"/>
              <a:ext cx="616" cy="2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charset="-122"/>
                </a:rPr>
                <a:t>第二分角</a:t>
              </a:r>
            </a:p>
          </p:txBody>
        </p:sp>
        <p:sp>
          <p:nvSpPr>
            <p:cNvPr id="85" name="Text Box 91"/>
            <p:cNvSpPr txBox="1">
              <a:spLocks noChangeArrowheads="1"/>
            </p:cNvSpPr>
            <p:nvPr/>
          </p:nvSpPr>
          <p:spPr bwMode="auto">
            <a:xfrm>
              <a:off x="3204" y="2130"/>
              <a:ext cx="613" cy="2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charset="-122"/>
                </a:rPr>
                <a:t>第三分角</a:t>
              </a:r>
            </a:p>
          </p:txBody>
        </p:sp>
        <p:sp>
          <p:nvSpPr>
            <p:cNvPr id="86" name="Text Box 92"/>
            <p:cNvSpPr txBox="1">
              <a:spLocks noChangeArrowheads="1"/>
            </p:cNvSpPr>
            <p:nvPr/>
          </p:nvSpPr>
          <p:spPr bwMode="auto">
            <a:xfrm>
              <a:off x="4277" y="2252"/>
              <a:ext cx="613" cy="2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charset="-122"/>
                </a:rPr>
                <a:t>第四分角</a:t>
              </a:r>
            </a:p>
          </p:txBody>
        </p:sp>
        <p:sp>
          <p:nvSpPr>
            <p:cNvPr id="87" name="Text Box 89"/>
            <p:cNvSpPr txBox="1">
              <a:spLocks noChangeArrowheads="1"/>
            </p:cNvSpPr>
            <p:nvPr/>
          </p:nvSpPr>
          <p:spPr bwMode="auto">
            <a:xfrm>
              <a:off x="4356" y="1379"/>
              <a:ext cx="628" cy="2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charset="-122"/>
                </a:rPr>
                <a:t>第一分角</a:t>
              </a:r>
            </a:p>
          </p:txBody>
        </p:sp>
      </p:grpSp>
      <p:sp>
        <p:nvSpPr>
          <p:cNvPr id="88" name="Rectangle 104"/>
          <p:cNvSpPr>
            <a:spLocks noChangeArrowheads="1"/>
          </p:cNvSpPr>
          <p:nvPr/>
        </p:nvSpPr>
        <p:spPr bwMode="auto">
          <a:xfrm>
            <a:off x="3262164" y="2076182"/>
            <a:ext cx="990600" cy="29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0"/>
              </a:spcBef>
            </a:pPr>
            <a:endParaRPr lang="zh-CN" altLang="en-US" b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89" name="Text Box 116"/>
          <p:cNvSpPr txBox="1">
            <a:spLocks noChangeArrowheads="1"/>
          </p:cNvSpPr>
          <p:nvPr/>
        </p:nvSpPr>
        <p:spPr bwMode="auto">
          <a:xfrm>
            <a:off x="5220072" y="3284120"/>
            <a:ext cx="2946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zh-CN" altLang="en-US" dirty="0" smtClean="0">
                <a:solidFill>
                  <a:srgbClr val="000000"/>
                </a:solidFill>
                <a:latin typeface="黑体" pitchFamily="2" charset="-122"/>
              </a:rPr>
              <a:t>将空间分为四个分角</a:t>
            </a:r>
            <a:endParaRPr lang="en-US" altLang="zh-CN" dirty="0" smtClean="0">
              <a:solidFill>
                <a:srgbClr val="000000"/>
              </a:solidFill>
              <a:latin typeface="黑体" pitchFamily="2" charset="-122"/>
            </a:endParaRPr>
          </a:p>
        </p:txBody>
      </p:sp>
      <p:sp>
        <p:nvSpPr>
          <p:cNvPr id="90" name="Text Box 20"/>
          <p:cNvSpPr txBox="1">
            <a:spLocks noChangeArrowheads="1"/>
          </p:cNvSpPr>
          <p:nvPr/>
        </p:nvSpPr>
        <p:spPr bwMode="auto">
          <a:xfrm>
            <a:off x="811213" y="4902349"/>
            <a:ext cx="78843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在两投影面体系中，两个投影可以确定一点的空间位置。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 autoUpdateAnimBg="0"/>
      <p:bldP spid="88" grpId="0"/>
      <p:bldP spid="89" grpId="0"/>
      <p:bldP spid="9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2C8BD3-834C-4375-9CAA-6A1F11DEDC29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34819" name="Freeform 2"/>
          <p:cNvSpPr>
            <a:spLocks/>
          </p:cNvSpPr>
          <p:nvPr/>
        </p:nvSpPr>
        <p:spPr bwMode="auto">
          <a:xfrm>
            <a:off x="3689350" y="2168525"/>
            <a:ext cx="3822700" cy="1285875"/>
          </a:xfrm>
          <a:custGeom>
            <a:avLst/>
            <a:gdLst>
              <a:gd name="T0" fmla="*/ 0 w 2400"/>
              <a:gd name="T1" fmla="*/ 0 h 810"/>
              <a:gd name="T2" fmla="*/ 2147483647 w 2400"/>
              <a:gd name="T3" fmla="*/ 0 h 810"/>
              <a:gd name="T4" fmla="*/ 2147483647 w 2400"/>
              <a:gd name="T5" fmla="*/ 2147483647 h 810"/>
              <a:gd name="T6" fmla="*/ 2147483647 w 2400"/>
              <a:gd name="T7" fmla="*/ 2147483647 h 810"/>
              <a:gd name="T8" fmla="*/ 0 w 2400"/>
              <a:gd name="T9" fmla="*/ 0 h 8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0"/>
              <a:gd name="T16" fmla="*/ 0 h 810"/>
              <a:gd name="T17" fmla="*/ 2400 w 2400"/>
              <a:gd name="T18" fmla="*/ 810 h 8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0" h="810">
                <a:moveTo>
                  <a:pt x="0" y="0"/>
                </a:moveTo>
                <a:lnTo>
                  <a:pt x="1590" y="0"/>
                </a:lnTo>
                <a:lnTo>
                  <a:pt x="2400" y="810"/>
                </a:lnTo>
                <a:lnTo>
                  <a:pt x="816" y="81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0" name="AutoShape 3"/>
          <p:cNvSpPr>
            <a:spLocks noChangeArrowheads="1"/>
          </p:cNvSpPr>
          <p:nvPr/>
        </p:nvSpPr>
        <p:spPr bwMode="auto">
          <a:xfrm rot="5400000">
            <a:off x="2667001" y="3198812"/>
            <a:ext cx="3333750" cy="1298575"/>
          </a:xfrm>
          <a:prstGeom prst="parallelogram">
            <a:avLst>
              <a:gd name="adj" fmla="val 99623"/>
            </a:avLst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4821" name="AutoShape 4"/>
          <p:cNvSpPr>
            <a:spLocks noChangeArrowheads="1"/>
          </p:cNvSpPr>
          <p:nvPr/>
        </p:nvSpPr>
        <p:spPr bwMode="auto">
          <a:xfrm rot="5400000">
            <a:off x="2684463" y="1165225"/>
            <a:ext cx="3333750" cy="1298575"/>
          </a:xfrm>
          <a:prstGeom prst="parallelogram">
            <a:avLst>
              <a:gd name="adj" fmla="val 99623"/>
            </a:avLst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4822" name="Freeform 5"/>
          <p:cNvSpPr>
            <a:spLocks/>
          </p:cNvSpPr>
          <p:nvPr/>
        </p:nvSpPr>
        <p:spPr bwMode="auto">
          <a:xfrm>
            <a:off x="1173163" y="2168525"/>
            <a:ext cx="3810000" cy="1290638"/>
          </a:xfrm>
          <a:custGeom>
            <a:avLst/>
            <a:gdLst>
              <a:gd name="T0" fmla="*/ 0 w 2400"/>
              <a:gd name="T1" fmla="*/ 0 h 810"/>
              <a:gd name="T2" fmla="*/ 2147483647 w 2400"/>
              <a:gd name="T3" fmla="*/ 0 h 810"/>
              <a:gd name="T4" fmla="*/ 2147483647 w 2400"/>
              <a:gd name="T5" fmla="*/ 2147483647 h 810"/>
              <a:gd name="T6" fmla="*/ 2147483647 w 2400"/>
              <a:gd name="T7" fmla="*/ 2147483647 h 810"/>
              <a:gd name="T8" fmla="*/ 0 w 2400"/>
              <a:gd name="T9" fmla="*/ 0 h 8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0"/>
              <a:gd name="T16" fmla="*/ 0 h 810"/>
              <a:gd name="T17" fmla="*/ 2400 w 2400"/>
              <a:gd name="T18" fmla="*/ 810 h 8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0" h="810">
                <a:moveTo>
                  <a:pt x="0" y="0"/>
                </a:moveTo>
                <a:lnTo>
                  <a:pt x="1590" y="0"/>
                </a:lnTo>
                <a:lnTo>
                  <a:pt x="2400" y="810"/>
                </a:lnTo>
                <a:lnTo>
                  <a:pt x="816" y="81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3" name="Rectangle 6"/>
          <p:cNvSpPr>
            <a:spLocks noChangeArrowheads="1"/>
          </p:cNvSpPr>
          <p:nvPr/>
        </p:nvSpPr>
        <p:spPr bwMode="auto">
          <a:xfrm>
            <a:off x="2462213" y="1430338"/>
            <a:ext cx="5048250" cy="4065587"/>
          </a:xfrm>
          <a:prstGeom prst="rect">
            <a:avLst/>
          </a:prstGeom>
          <a:solidFill>
            <a:schemeClr val="fol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/>
          </a:p>
        </p:txBody>
      </p:sp>
      <p:sp>
        <p:nvSpPr>
          <p:cNvPr id="108551" name="Text Box 7"/>
          <p:cNvSpPr txBox="1">
            <a:spLocks noChangeArrowheads="1"/>
          </p:cNvSpPr>
          <p:nvPr/>
        </p:nvSpPr>
        <p:spPr bwMode="auto">
          <a:xfrm>
            <a:off x="2498725" y="14208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V </a:t>
            </a:r>
          </a:p>
        </p:txBody>
      </p:sp>
      <p:sp>
        <p:nvSpPr>
          <p:cNvPr id="34825" name="Freeform 8"/>
          <p:cNvSpPr>
            <a:spLocks/>
          </p:cNvSpPr>
          <p:nvPr/>
        </p:nvSpPr>
        <p:spPr bwMode="auto">
          <a:xfrm>
            <a:off x="2457450" y="3459163"/>
            <a:ext cx="3836988" cy="1289050"/>
          </a:xfrm>
          <a:custGeom>
            <a:avLst/>
            <a:gdLst>
              <a:gd name="T0" fmla="*/ 0 w 2400"/>
              <a:gd name="T1" fmla="*/ 0 h 810"/>
              <a:gd name="T2" fmla="*/ 2147483647 w 2400"/>
              <a:gd name="T3" fmla="*/ 0 h 810"/>
              <a:gd name="T4" fmla="*/ 2147483647 w 2400"/>
              <a:gd name="T5" fmla="*/ 2147483647 h 810"/>
              <a:gd name="T6" fmla="*/ 2147483647 w 2400"/>
              <a:gd name="T7" fmla="*/ 2147483647 h 810"/>
              <a:gd name="T8" fmla="*/ 0 w 2400"/>
              <a:gd name="T9" fmla="*/ 0 h 8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0"/>
              <a:gd name="T16" fmla="*/ 0 h 810"/>
              <a:gd name="T17" fmla="*/ 2400 w 2400"/>
              <a:gd name="T18" fmla="*/ 810 h 8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0" h="810">
                <a:moveTo>
                  <a:pt x="0" y="0"/>
                </a:moveTo>
                <a:lnTo>
                  <a:pt x="1590" y="0"/>
                </a:lnTo>
                <a:lnTo>
                  <a:pt x="2400" y="810"/>
                </a:lnTo>
                <a:lnTo>
                  <a:pt x="816" y="81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6" name="AutoShape 9"/>
          <p:cNvSpPr>
            <a:spLocks noChangeArrowheads="1"/>
          </p:cNvSpPr>
          <p:nvPr/>
        </p:nvSpPr>
        <p:spPr bwMode="auto">
          <a:xfrm rot="5400000">
            <a:off x="3965576" y="4464050"/>
            <a:ext cx="3333750" cy="1298575"/>
          </a:xfrm>
          <a:prstGeom prst="parallelogram">
            <a:avLst>
              <a:gd name="adj" fmla="val 99623"/>
            </a:avLst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4827" name="Freeform 10"/>
          <p:cNvSpPr>
            <a:spLocks/>
          </p:cNvSpPr>
          <p:nvPr/>
        </p:nvSpPr>
        <p:spPr bwMode="auto">
          <a:xfrm>
            <a:off x="4975225" y="3454400"/>
            <a:ext cx="3810000" cy="1285875"/>
          </a:xfrm>
          <a:custGeom>
            <a:avLst/>
            <a:gdLst>
              <a:gd name="T0" fmla="*/ 0 w 2400"/>
              <a:gd name="T1" fmla="*/ 0 h 810"/>
              <a:gd name="T2" fmla="*/ 2147483647 w 2400"/>
              <a:gd name="T3" fmla="*/ 0 h 810"/>
              <a:gd name="T4" fmla="*/ 2147483647 w 2400"/>
              <a:gd name="T5" fmla="*/ 2147483647 h 810"/>
              <a:gd name="T6" fmla="*/ 2147483647 w 2400"/>
              <a:gd name="T7" fmla="*/ 2147483647 h 810"/>
              <a:gd name="T8" fmla="*/ 0 w 2400"/>
              <a:gd name="T9" fmla="*/ 0 h 8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0"/>
              <a:gd name="T16" fmla="*/ 0 h 810"/>
              <a:gd name="T17" fmla="*/ 2400 w 2400"/>
              <a:gd name="T18" fmla="*/ 810 h 8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0" h="810">
                <a:moveTo>
                  <a:pt x="0" y="0"/>
                </a:moveTo>
                <a:lnTo>
                  <a:pt x="1590" y="0"/>
                </a:lnTo>
                <a:lnTo>
                  <a:pt x="2400" y="810"/>
                </a:lnTo>
                <a:lnTo>
                  <a:pt x="816" y="81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8" name="Freeform 11"/>
          <p:cNvSpPr>
            <a:spLocks/>
          </p:cNvSpPr>
          <p:nvPr/>
        </p:nvSpPr>
        <p:spPr bwMode="auto">
          <a:xfrm>
            <a:off x="2481263" y="1414463"/>
            <a:ext cx="5049837" cy="4070350"/>
          </a:xfrm>
          <a:custGeom>
            <a:avLst/>
            <a:gdLst>
              <a:gd name="T0" fmla="*/ 2147483647 w 3180"/>
              <a:gd name="T1" fmla="*/ 0 h 2564"/>
              <a:gd name="T2" fmla="*/ 0 w 3180"/>
              <a:gd name="T3" fmla="*/ 0 h 2564"/>
              <a:gd name="T4" fmla="*/ 0 w 3180"/>
              <a:gd name="T5" fmla="*/ 2147483647 h 2564"/>
              <a:gd name="T6" fmla="*/ 0 60000 65536"/>
              <a:gd name="T7" fmla="*/ 0 60000 65536"/>
              <a:gd name="T8" fmla="*/ 0 60000 65536"/>
              <a:gd name="T9" fmla="*/ 0 w 3180"/>
              <a:gd name="T10" fmla="*/ 0 h 2564"/>
              <a:gd name="T11" fmla="*/ 3180 w 3180"/>
              <a:gd name="T12" fmla="*/ 2564 h 25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0" h="2564">
                <a:moveTo>
                  <a:pt x="3180" y="0"/>
                </a:moveTo>
                <a:lnTo>
                  <a:pt x="0" y="0"/>
                </a:lnTo>
                <a:lnTo>
                  <a:pt x="0" y="25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9" name="Freeform 12"/>
          <p:cNvSpPr>
            <a:spLocks/>
          </p:cNvSpPr>
          <p:nvPr/>
        </p:nvSpPr>
        <p:spPr bwMode="auto">
          <a:xfrm>
            <a:off x="3695700" y="100013"/>
            <a:ext cx="2592388" cy="6664325"/>
          </a:xfrm>
          <a:custGeom>
            <a:avLst/>
            <a:gdLst>
              <a:gd name="T0" fmla="*/ 0 w 1633"/>
              <a:gd name="T1" fmla="*/ 0 h 4198"/>
              <a:gd name="T2" fmla="*/ 2147483647 w 1633"/>
              <a:gd name="T3" fmla="*/ 2147483647 h 4198"/>
              <a:gd name="T4" fmla="*/ 2147483647 w 1633"/>
              <a:gd name="T5" fmla="*/ 2147483647 h 4198"/>
              <a:gd name="T6" fmla="*/ 0 60000 65536"/>
              <a:gd name="T7" fmla="*/ 0 60000 65536"/>
              <a:gd name="T8" fmla="*/ 0 60000 65536"/>
              <a:gd name="T9" fmla="*/ 0 w 1633"/>
              <a:gd name="T10" fmla="*/ 0 h 4198"/>
              <a:gd name="T11" fmla="*/ 1633 w 1633"/>
              <a:gd name="T12" fmla="*/ 4198 h 41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33" h="4198">
                <a:moveTo>
                  <a:pt x="0" y="0"/>
                </a:moveTo>
                <a:lnTo>
                  <a:pt x="1633" y="1633"/>
                </a:lnTo>
                <a:lnTo>
                  <a:pt x="1633" y="419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0" name="Freeform 13"/>
          <p:cNvSpPr>
            <a:spLocks/>
          </p:cNvSpPr>
          <p:nvPr/>
        </p:nvSpPr>
        <p:spPr bwMode="auto">
          <a:xfrm>
            <a:off x="1201738" y="2141538"/>
            <a:ext cx="7578725" cy="2568575"/>
          </a:xfrm>
          <a:custGeom>
            <a:avLst/>
            <a:gdLst>
              <a:gd name="T0" fmla="*/ 0 w 4774"/>
              <a:gd name="T1" fmla="*/ 0 h 1618"/>
              <a:gd name="T2" fmla="*/ 2147483647 w 4774"/>
              <a:gd name="T3" fmla="*/ 2147483647 h 1618"/>
              <a:gd name="T4" fmla="*/ 2147483647 w 4774"/>
              <a:gd name="T5" fmla="*/ 2147483647 h 1618"/>
              <a:gd name="T6" fmla="*/ 0 60000 65536"/>
              <a:gd name="T7" fmla="*/ 0 60000 65536"/>
              <a:gd name="T8" fmla="*/ 0 60000 65536"/>
              <a:gd name="T9" fmla="*/ 0 w 4774"/>
              <a:gd name="T10" fmla="*/ 0 h 1618"/>
              <a:gd name="T11" fmla="*/ 4774 w 4774"/>
              <a:gd name="T12" fmla="*/ 1618 h 16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74" h="1618">
                <a:moveTo>
                  <a:pt x="0" y="0"/>
                </a:moveTo>
                <a:lnTo>
                  <a:pt x="1618" y="1618"/>
                </a:lnTo>
                <a:lnTo>
                  <a:pt x="4774" y="16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1" name="Freeform 14"/>
          <p:cNvSpPr>
            <a:spLocks/>
          </p:cNvSpPr>
          <p:nvPr/>
        </p:nvSpPr>
        <p:spPr bwMode="auto">
          <a:xfrm>
            <a:off x="2505075" y="2246313"/>
            <a:ext cx="5035550" cy="1290637"/>
          </a:xfrm>
          <a:custGeom>
            <a:avLst/>
            <a:gdLst>
              <a:gd name="T0" fmla="*/ 0 w 3172"/>
              <a:gd name="T1" fmla="*/ 0 h 813"/>
              <a:gd name="T2" fmla="*/ 2147483647 w 3172"/>
              <a:gd name="T3" fmla="*/ 0 h 813"/>
              <a:gd name="T4" fmla="*/ 2147483647 w 3172"/>
              <a:gd name="T5" fmla="*/ 2147483647 h 813"/>
              <a:gd name="T6" fmla="*/ 0 60000 65536"/>
              <a:gd name="T7" fmla="*/ 0 60000 65536"/>
              <a:gd name="T8" fmla="*/ 0 60000 65536"/>
              <a:gd name="T9" fmla="*/ 0 w 3172"/>
              <a:gd name="T10" fmla="*/ 0 h 813"/>
              <a:gd name="T11" fmla="*/ 3172 w 3172"/>
              <a:gd name="T12" fmla="*/ 813 h 8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72" h="813">
                <a:moveTo>
                  <a:pt x="0" y="0"/>
                </a:moveTo>
                <a:lnTo>
                  <a:pt x="2359" y="0"/>
                </a:lnTo>
                <a:lnTo>
                  <a:pt x="3172" y="81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lgDash"/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2" name="Freeform 16"/>
          <p:cNvSpPr>
            <a:spLocks/>
          </p:cNvSpPr>
          <p:nvPr/>
        </p:nvSpPr>
        <p:spPr bwMode="auto">
          <a:xfrm>
            <a:off x="2466975" y="1431925"/>
            <a:ext cx="5022850" cy="4057650"/>
          </a:xfrm>
          <a:custGeom>
            <a:avLst/>
            <a:gdLst>
              <a:gd name="T0" fmla="*/ 2147483647 w 3164"/>
              <a:gd name="T1" fmla="*/ 0 h 2556"/>
              <a:gd name="T2" fmla="*/ 0 w 3164"/>
              <a:gd name="T3" fmla="*/ 0 h 2556"/>
              <a:gd name="T4" fmla="*/ 0 w 3164"/>
              <a:gd name="T5" fmla="*/ 2147483647 h 2556"/>
              <a:gd name="T6" fmla="*/ 0 60000 65536"/>
              <a:gd name="T7" fmla="*/ 0 60000 65536"/>
              <a:gd name="T8" fmla="*/ 0 60000 65536"/>
              <a:gd name="T9" fmla="*/ 0 w 3164"/>
              <a:gd name="T10" fmla="*/ 0 h 2556"/>
              <a:gd name="T11" fmla="*/ 3164 w 3164"/>
              <a:gd name="T12" fmla="*/ 2556 h 25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64" h="2556">
                <a:moveTo>
                  <a:pt x="3164" y="0"/>
                </a:moveTo>
                <a:lnTo>
                  <a:pt x="0" y="0"/>
                </a:lnTo>
                <a:lnTo>
                  <a:pt x="0" y="2556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>
            <a:off x="7493000" y="1422400"/>
            <a:ext cx="0" cy="2041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4" name="Freeform 18"/>
          <p:cNvSpPr>
            <a:spLocks/>
          </p:cNvSpPr>
          <p:nvPr/>
        </p:nvSpPr>
        <p:spPr bwMode="auto">
          <a:xfrm>
            <a:off x="6224588" y="4737100"/>
            <a:ext cx="1277937" cy="738188"/>
          </a:xfrm>
          <a:custGeom>
            <a:avLst/>
            <a:gdLst>
              <a:gd name="T0" fmla="*/ 2147483647 w 805"/>
              <a:gd name="T1" fmla="*/ 0 h 465"/>
              <a:gd name="T2" fmla="*/ 2147483647 w 805"/>
              <a:gd name="T3" fmla="*/ 2147483647 h 465"/>
              <a:gd name="T4" fmla="*/ 0 w 805"/>
              <a:gd name="T5" fmla="*/ 2147483647 h 465"/>
              <a:gd name="T6" fmla="*/ 0 60000 65536"/>
              <a:gd name="T7" fmla="*/ 0 60000 65536"/>
              <a:gd name="T8" fmla="*/ 0 60000 65536"/>
              <a:gd name="T9" fmla="*/ 0 w 805"/>
              <a:gd name="T10" fmla="*/ 0 h 465"/>
              <a:gd name="T11" fmla="*/ 805 w 805"/>
              <a:gd name="T12" fmla="*/ 465 h 4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5" h="465">
                <a:moveTo>
                  <a:pt x="805" y="0"/>
                </a:moveTo>
                <a:lnTo>
                  <a:pt x="805" y="465"/>
                </a:lnTo>
                <a:lnTo>
                  <a:pt x="0" y="465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5" name="Line 19"/>
          <p:cNvSpPr>
            <a:spLocks noChangeShapeType="1"/>
          </p:cNvSpPr>
          <p:nvPr/>
        </p:nvSpPr>
        <p:spPr bwMode="auto">
          <a:xfrm>
            <a:off x="2460625" y="5481638"/>
            <a:ext cx="25130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6" name="Line 20"/>
          <p:cNvSpPr>
            <a:spLocks noChangeShapeType="1"/>
          </p:cNvSpPr>
          <p:nvPr/>
        </p:nvSpPr>
        <p:spPr bwMode="auto">
          <a:xfrm>
            <a:off x="4970463" y="5472113"/>
            <a:ext cx="12954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7" name="Freeform 21"/>
          <p:cNvSpPr>
            <a:spLocks/>
          </p:cNvSpPr>
          <p:nvPr/>
        </p:nvSpPr>
        <p:spPr bwMode="auto">
          <a:xfrm>
            <a:off x="2457450" y="3460750"/>
            <a:ext cx="6313488" cy="1277938"/>
          </a:xfrm>
          <a:custGeom>
            <a:avLst/>
            <a:gdLst>
              <a:gd name="T0" fmla="*/ 0 w 3977"/>
              <a:gd name="T1" fmla="*/ 2147483647 h 805"/>
              <a:gd name="T2" fmla="*/ 2147483647 w 3977"/>
              <a:gd name="T3" fmla="*/ 2147483647 h 805"/>
              <a:gd name="T4" fmla="*/ 2147483647 w 3977"/>
              <a:gd name="T5" fmla="*/ 2147483647 h 805"/>
              <a:gd name="T6" fmla="*/ 2147483647 w 3977"/>
              <a:gd name="T7" fmla="*/ 0 h 805"/>
              <a:gd name="T8" fmla="*/ 0 60000 65536"/>
              <a:gd name="T9" fmla="*/ 0 60000 65536"/>
              <a:gd name="T10" fmla="*/ 0 60000 65536"/>
              <a:gd name="T11" fmla="*/ 0 60000 65536"/>
              <a:gd name="T12" fmla="*/ 0 w 3977"/>
              <a:gd name="T13" fmla="*/ 0 h 805"/>
              <a:gd name="T14" fmla="*/ 3977 w 3977"/>
              <a:gd name="T15" fmla="*/ 805 h 8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77" h="805">
                <a:moveTo>
                  <a:pt x="0" y="8"/>
                </a:moveTo>
                <a:lnTo>
                  <a:pt x="797" y="805"/>
                </a:lnTo>
                <a:lnTo>
                  <a:pt x="3977" y="805"/>
                </a:lnTo>
                <a:lnTo>
                  <a:pt x="3172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>
            <a:off x="3694113" y="131763"/>
            <a:ext cx="0" cy="12906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9" name="Line 23"/>
          <p:cNvSpPr>
            <a:spLocks noChangeShapeType="1"/>
          </p:cNvSpPr>
          <p:nvPr/>
        </p:nvSpPr>
        <p:spPr bwMode="auto">
          <a:xfrm flipH="1" flipV="1">
            <a:off x="4978400" y="5475288"/>
            <a:ext cx="129540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0" name="Freeform 24"/>
          <p:cNvSpPr>
            <a:spLocks/>
          </p:cNvSpPr>
          <p:nvPr/>
        </p:nvSpPr>
        <p:spPr bwMode="auto">
          <a:xfrm>
            <a:off x="3694113" y="1409700"/>
            <a:ext cx="1289050" cy="4070350"/>
          </a:xfrm>
          <a:custGeom>
            <a:avLst/>
            <a:gdLst>
              <a:gd name="T0" fmla="*/ 0 w 812"/>
              <a:gd name="T1" fmla="*/ 0 h 2564"/>
              <a:gd name="T2" fmla="*/ 0 w 812"/>
              <a:gd name="T3" fmla="*/ 2147483647 h 2564"/>
              <a:gd name="T4" fmla="*/ 2147483647 w 812"/>
              <a:gd name="T5" fmla="*/ 2147483647 h 2564"/>
              <a:gd name="T6" fmla="*/ 0 60000 65536"/>
              <a:gd name="T7" fmla="*/ 0 60000 65536"/>
              <a:gd name="T8" fmla="*/ 0 60000 65536"/>
              <a:gd name="T9" fmla="*/ 0 w 812"/>
              <a:gd name="T10" fmla="*/ 0 h 2564"/>
              <a:gd name="T11" fmla="*/ 812 w 812"/>
              <a:gd name="T12" fmla="*/ 2564 h 25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2" h="2564">
                <a:moveTo>
                  <a:pt x="0" y="0"/>
                </a:moveTo>
                <a:lnTo>
                  <a:pt x="0" y="1752"/>
                </a:lnTo>
                <a:lnTo>
                  <a:pt x="812" y="2564"/>
                </a:lnTo>
              </a:path>
            </a:pathLst>
          </a:cu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1" name="Freeform 25"/>
          <p:cNvSpPr>
            <a:spLocks/>
          </p:cNvSpPr>
          <p:nvPr/>
        </p:nvSpPr>
        <p:spPr bwMode="auto">
          <a:xfrm>
            <a:off x="2452688" y="2166938"/>
            <a:ext cx="5048250" cy="1290637"/>
          </a:xfrm>
          <a:custGeom>
            <a:avLst/>
            <a:gdLst>
              <a:gd name="T0" fmla="*/ 0 w 3180"/>
              <a:gd name="T1" fmla="*/ 0 h 813"/>
              <a:gd name="T2" fmla="*/ 2147483647 w 3180"/>
              <a:gd name="T3" fmla="*/ 0 h 813"/>
              <a:gd name="T4" fmla="*/ 2147483647 w 3180"/>
              <a:gd name="T5" fmla="*/ 2147483647 h 813"/>
              <a:gd name="T6" fmla="*/ 0 60000 65536"/>
              <a:gd name="T7" fmla="*/ 0 60000 65536"/>
              <a:gd name="T8" fmla="*/ 0 60000 65536"/>
              <a:gd name="T9" fmla="*/ 0 w 3180"/>
              <a:gd name="T10" fmla="*/ 0 h 813"/>
              <a:gd name="T11" fmla="*/ 3180 w 3180"/>
              <a:gd name="T12" fmla="*/ 813 h 8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0" h="813">
                <a:moveTo>
                  <a:pt x="0" y="0"/>
                </a:moveTo>
                <a:lnTo>
                  <a:pt x="2367" y="0"/>
                </a:lnTo>
                <a:lnTo>
                  <a:pt x="3180" y="813"/>
                </a:lnTo>
              </a:path>
            </a:pathLst>
          </a:cu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0" name="Text Box 26"/>
          <p:cNvSpPr txBox="1">
            <a:spLocks noChangeArrowheads="1"/>
          </p:cNvSpPr>
          <p:nvPr/>
        </p:nvSpPr>
        <p:spPr bwMode="auto">
          <a:xfrm>
            <a:off x="3665538" y="4303713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H </a:t>
            </a:r>
          </a:p>
        </p:txBody>
      </p:sp>
      <p:sp>
        <p:nvSpPr>
          <p:cNvPr id="108571" name="Text Box 27"/>
          <p:cNvSpPr txBox="1">
            <a:spLocks noChangeArrowheads="1"/>
          </p:cNvSpPr>
          <p:nvPr/>
        </p:nvSpPr>
        <p:spPr bwMode="auto">
          <a:xfrm>
            <a:off x="2049463" y="32956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X </a:t>
            </a:r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 flipV="1">
            <a:off x="7493000" y="3448050"/>
            <a:ext cx="0" cy="1277938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>
            <a:off x="2455863" y="3462338"/>
            <a:ext cx="25161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 flipV="1">
            <a:off x="4970463" y="1431925"/>
            <a:ext cx="0" cy="2028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7" name="Line 31"/>
          <p:cNvSpPr>
            <a:spLocks noChangeShapeType="1"/>
          </p:cNvSpPr>
          <p:nvPr/>
        </p:nvSpPr>
        <p:spPr bwMode="auto">
          <a:xfrm>
            <a:off x="6232525" y="3462338"/>
            <a:ext cx="12652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8" name="Line 32"/>
          <p:cNvSpPr>
            <a:spLocks noChangeShapeType="1"/>
          </p:cNvSpPr>
          <p:nvPr/>
        </p:nvSpPr>
        <p:spPr bwMode="auto">
          <a:xfrm flipV="1">
            <a:off x="4972050" y="4738688"/>
            <a:ext cx="0" cy="7508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9" name="Line 33"/>
          <p:cNvSpPr>
            <a:spLocks noChangeShapeType="1"/>
          </p:cNvSpPr>
          <p:nvPr/>
        </p:nvSpPr>
        <p:spPr bwMode="auto">
          <a:xfrm>
            <a:off x="4973638" y="3462338"/>
            <a:ext cx="1277937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0" name="Line 34"/>
          <p:cNvSpPr>
            <a:spLocks noChangeShapeType="1"/>
          </p:cNvSpPr>
          <p:nvPr/>
        </p:nvSpPr>
        <p:spPr bwMode="auto">
          <a:xfrm>
            <a:off x="4972050" y="3455988"/>
            <a:ext cx="0" cy="1277937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1" name="Line 35"/>
          <p:cNvSpPr>
            <a:spLocks noChangeShapeType="1"/>
          </p:cNvSpPr>
          <p:nvPr/>
        </p:nvSpPr>
        <p:spPr bwMode="auto">
          <a:xfrm flipH="1" flipV="1">
            <a:off x="3689350" y="2168525"/>
            <a:ext cx="1282700" cy="128270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80" name="Text Box 36"/>
          <p:cNvSpPr txBox="1">
            <a:spLocks noChangeArrowheads="1"/>
          </p:cNvSpPr>
          <p:nvPr/>
        </p:nvSpPr>
        <p:spPr bwMode="auto">
          <a:xfrm>
            <a:off x="4765675" y="939800"/>
            <a:ext cx="579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Z  </a:t>
            </a:r>
          </a:p>
        </p:txBody>
      </p:sp>
      <p:sp>
        <p:nvSpPr>
          <p:cNvPr id="108581" name="Text Box 37"/>
          <p:cNvSpPr txBox="1">
            <a:spLocks noChangeArrowheads="1"/>
          </p:cNvSpPr>
          <p:nvPr/>
        </p:nvSpPr>
        <p:spPr bwMode="auto">
          <a:xfrm>
            <a:off x="6269038" y="47101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 </a:t>
            </a:r>
          </a:p>
        </p:txBody>
      </p:sp>
      <p:sp>
        <p:nvSpPr>
          <p:cNvPr id="34854" name="AutoShape 38"/>
          <p:cNvSpPr>
            <a:spLocks noChangeArrowheads="1"/>
          </p:cNvSpPr>
          <p:nvPr/>
        </p:nvSpPr>
        <p:spPr bwMode="auto">
          <a:xfrm rot="5400000">
            <a:off x="3963988" y="2436812"/>
            <a:ext cx="3333750" cy="1298575"/>
          </a:xfrm>
          <a:prstGeom prst="parallelogram">
            <a:avLst>
              <a:gd name="adj" fmla="val 99623"/>
            </a:avLst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08583" name="Text Box 39"/>
          <p:cNvSpPr txBox="1">
            <a:spLocks noChangeArrowheads="1"/>
          </p:cNvSpPr>
          <p:nvPr/>
        </p:nvSpPr>
        <p:spPr bwMode="auto">
          <a:xfrm>
            <a:off x="5826125" y="2552700"/>
            <a:ext cx="53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W </a:t>
            </a:r>
          </a:p>
        </p:txBody>
      </p:sp>
      <p:sp>
        <p:nvSpPr>
          <p:cNvPr id="34856" name="Freeform 40"/>
          <p:cNvSpPr>
            <a:spLocks/>
          </p:cNvSpPr>
          <p:nvPr/>
        </p:nvSpPr>
        <p:spPr bwMode="auto">
          <a:xfrm>
            <a:off x="3689350" y="139700"/>
            <a:ext cx="2579688" cy="6638925"/>
          </a:xfrm>
          <a:custGeom>
            <a:avLst/>
            <a:gdLst>
              <a:gd name="T0" fmla="*/ 0 w 1625"/>
              <a:gd name="T1" fmla="*/ 0 h 4182"/>
              <a:gd name="T2" fmla="*/ 2147483647 w 1625"/>
              <a:gd name="T3" fmla="*/ 2147483647 h 4182"/>
              <a:gd name="T4" fmla="*/ 2147483647 w 1625"/>
              <a:gd name="T5" fmla="*/ 2147483647 h 4182"/>
              <a:gd name="T6" fmla="*/ 0 60000 65536"/>
              <a:gd name="T7" fmla="*/ 0 60000 65536"/>
              <a:gd name="T8" fmla="*/ 0 60000 65536"/>
              <a:gd name="T9" fmla="*/ 0 w 1625"/>
              <a:gd name="T10" fmla="*/ 0 h 4182"/>
              <a:gd name="T11" fmla="*/ 1625 w 1625"/>
              <a:gd name="T12" fmla="*/ 4182 h 4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25" h="4182">
                <a:moveTo>
                  <a:pt x="0" y="0"/>
                </a:moveTo>
                <a:lnTo>
                  <a:pt x="1625" y="1625"/>
                </a:lnTo>
                <a:lnTo>
                  <a:pt x="1625" y="4182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7" name="Line 41"/>
          <p:cNvSpPr>
            <a:spLocks noChangeShapeType="1"/>
          </p:cNvSpPr>
          <p:nvPr/>
        </p:nvSpPr>
        <p:spPr bwMode="auto">
          <a:xfrm>
            <a:off x="4975225" y="3455988"/>
            <a:ext cx="1277938" cy="12779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86" name="Text Box 42"/>
          <p:cNvSpPr txBox="1">
            <a:spLocks noChangeArrowheads="1"/>
          </p:cNvSpPr>
          <p:nvPr/>
        </p:nvSpPr>
        <p:spPr bwMode="auto">
          <a:xfrm>
            <a:off x="4978400" y="3014663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O </a:t>
            </a:r>
          </a:p>
        </p:txBody>
      </p:sp>
      <p:sp>
        <p:nvSpPr>
          <p:cNvPr id="108587" name="Text Box 43"/>
          <p:cNvSpPr txBox="1">
            <a:spLocks noChangeArrowheads="1"/>
          </p:cNvSpPr>
          <p:nvPr/>
        </p:nvSpPr>
        <p:spPr bwMode="auto">
          <a:xfrm>
            <a:off x="4135438" y="27559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A </a:t>
            </a:r>
          </a:p>
        </p:txBody>
      </p:sp>
      <p:sp>
        <p:nvSpPr>
          <p:cNvPr id="108588" name="Line 44"/>
          <p:cNvSpPr>
            <a:spLocks noChangeShapeType="1"/>
          </p:cNvSpPr>
          <p:nvPr/>
        </p:nvSpPr>
        <p:spPr bwMode="auto">
          <a:xfrm>
            <a:off x="3535363" y="2411413"/>
            <a:ext cx="0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89" name="Line 45"/>
          <p:cNvSpPr>
            <a:spLocks noChangeShapeType="1"/>
          </p:cNvSpPr>
          <p:nvPr/>
        </p:nvSpPr>
        <p:spPr bwMode="auto">
          <a:xfrm flipH="1" flipV="1">
            <a:off x="3525838" y="2422525"/>
            <a:ext cx="762000" cy="757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0" name="Line 46"/>
          <p:cNvSpPr>
            <a:spLocks noChangeShapeType="1"/>
          </p:cNvSpPr>
          <p:nvPr/>
        </p:nvSpPr>
        <p:spPr bwMode="auto">
          <a:xfrm>
            <a:off x="4287838" y="3181350"/>
            <a:ext cx="0" cy="1036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1" name="Line 47"/>
          <p:cNvSpPr>
            <a:spLocks noChangeShapeType="1"/>
          </p:cNvSpPr>
          <p:nvPr/>
        </p:nvSpPr>
        <p:spPr bwMode="auto">
          <a:xfrm>
            <a:off x="3527425" y="3463925"/>
            <a:ext cx="765175" cy="760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2" name="Line 48"/>
          <p:cNvSpPr>
            <a:spLocks noChangeShapeType="1"/>
          </p:cNvSpPr>
          <p:nvPr/>
        </p:nvSpPr>
        <p:spPr bwMode="auto">
          <a:xfrm>
            <a:off x="4292600" y="3194050"/>
            <a:ext cx="1435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3" name="Line 49"/>
          <p:cNvSpPr>
            <a:spLocks noChangeShapeType="1"/>
          </p:cNvSpPr>
          <p:nvPr/>
        </p:nvSpPr>
        <p:spPr bwMode="auto">
          <a:xfrm>
            <a:off x="3525838" y="2422525"/>
            <a:ext cx="1444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4" name="Line 50"/>
          <p:cNvSpPr>
            <a:spLocks noChangeShapeType="1"/>
          </p:cNvSpPr>
          <p:nvPr/>
        </p:nvSpPr>
        <p:spPr bwMode="auto">
          <a:xfrm>
            <a:off x="4972050" y="2428875"/>
            <a:ext cx="755650" cy="757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5" name="Line 51"/>
          <p:cNvSpPr>
            <a:spLocks noChangeShapeType="1"/>
          </p:cNvSpPr>
          <p:nvPr/>
        </p:nvSpPr>
        <p:spPr bwMode="auto">
          <a:xfrm>
            <a:off x="4292600" y="4222750"/>
            <a:ext cx="1454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6" name="Line 52"/>
          <p:cNvSpPr>
            <a:spLocks noChangeShapeType="1"/>
          </p:cNvSpPr>
          <p:nvPr/>
        </p:nvSpPr>
        <p:spPr bwMode="auto">
          <a:xfrm flipV="1">
            <a:off x="5746750" y="3200400"/>
            <a:ext cx="0" cy="1022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7" name="AutoShape 53"/>
          <p:cNvSpPr>
            <a:spLocks noChangeArrowheads="1"/>
          </p:cNvSpPr>
          <p:nvPr/>
        </p:nvSpPr>
        <p:spPr bwMode="auto">
          <a:xfrm>
            <a:off x="4248150" y="3154363"/>
            <a:ext cx="74613" cy="74612"/>
          </a:xfrm>
          <a:prstGeom prst="flowChartConnector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08598" name="AutoShape 54"/>
          <p:cNvSpPr>
            <a:spLocks noChangeArrowheads="1"/>
          </p:cNvSpPr>
          <p:nvPr/>
        </p:nvSpPr>
        <p:spPr bwMode="auto">
          <a:xfrm>
            <a:off x="3492500" y="2386013"/>
            <a:ext cx="74613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08599" name="AutoShape 55"/>
          <p:cNvSpPr>
            <a:spLocks noChangeArrowheads="1"/>
          </p:cNvSpPr>
          <p:nvPr/>
        </p:nvSpPr>
        <p:spPr bwMode="auto">
          <a:xfrm>
            <a:off x="4249738" y="4178300"/>
            <a:ext cx="74612" cy="74613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08600" name="AutoShape 56"/>
          <p:cNvSpPr>
            <a:spLocks noChangeArrowheads="1"/>
          </p:cNvSpPr>
          <p:nvPr/>
        </p:nvSpPr>
        <p:spPr bwMode="auto">
          <a:xfrm>
            <a:off x="5703888" y="3160713"/>
            <a:ext cx="74612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08601" name="Text Box 57"/>
          <p:cNvSpPr txBox="1">
            <a:spLocks noChangeArrowheads="1"/>
          </p:cNvSpPr>
          <p:nvPr/>
        </p:nvSpPr>
        <p:spPr bwMode="auto">
          <a:xfrm>
            <a:off x="5705475" y="3014663"/>
            <a:ext cx="546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  <p:sp>
        <p:nvSpPr>
          <p:cNvPr id="108602" name="Text Box 58"/>
          <p:cNvSpPr txBox="1">
            <a:spLocks noChangeArrowheads="1"/>
          </p:cNvSpPr>
          <p:nvPr/>
        </p:nvSpPr>
        <p:spPr bwMode="auto">
          <a:xfrm>
            <a:off x="4221163" y="417195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endParaRPr lang="en-US" altLang="zh-CN" sz="2000" i="1">
              <a:solidFill>
                <a:srgbClr val="CCFF33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108603" name="Text Box 59"/>
          <p:cNvSpPr txBox="1">
            <a:spLocks noChangeArrowheads="1"/>
          </p:cNvSpPr>
          <p:nvPr/>
        </p:nvSpPr>
        <p:spPr bwMode="auto">
          <a:xfrm>
            <a:off x="3038475" y="2170113"/>
            <a:ext cx="58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a'</a:t>
            </a:r>
          </a:p>
        </p:txBody>
      </p:sp>
      <p:sp>
        <p:nvSpPr>
          <p:cNvPr id="108604" name="Text Box 60"/>
          <p:cNvSpPr txBox="1">
            <a:spLocks noChangeArrowheads="1"/>
          </p:cNvSpPr>
          <p:nvPr/>
        </p:nvSpPr>
        <p:spPr bwMode="auto">
          <a:xfrm>
            <a:off x="3097213" y="3014663"/>
            <a:ext cx="447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x </a:t>
            </a:r>
          </a:p>
        </p:txBody>
      </p:sp>
      <p:sp>
        <p:nvSpPr>
          <p:cNvPr id="108605" name="Text Box 61"/>
          <p:cNvSpPr txBox="1">
            <a:spLocks noChangeArrowheads="1"/>
          </p:cNvSpPr>
          <p:nvPr/>
        </p:nvSpPr>
        <p:spPr bwMode="auto">
          <a:xfrm>
            <a:off x="5757863" y="3913188"/>
            <a:ext cx="469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Y </a:t>
            </a:r>
          </a:p>
        </p:txBody>
      </p:sp>
      <p:sp>
        <p:nvSpPr>
          <p:cNvPr id="108606" name="Text Box 62"/>
          <p:cNvSpPr txBox="1">
            <a:spLocks noChangeArrowheads="1"/>
          </p:cNvSpPr>
          <p:nvPr/>
        </p:nvSpPr>
        <p:spPr bwMode="auto">
          <a:xfrm>
            <a:off x="4965700" y="2089150"/>
            <a:ext cx="447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z </a:t>
            </a:r>
          </a:p>
        </p:txBody>
      </p:sp>
      <p:sp>
        <p:nvSpPr>
          <p:cNvPr id="108607" name="Arc 63"/>
          <p:cNvSpPr>
            <a:spLocks/>
          </p:cNvSpPr>
          <p:nvPr/>
        </p:nvSpPr>
        <p:spPr bwMode="auto">
          <a:xfrm rot="5400000">
            <a:off x="2954338" y="4560888"/>
            <a:ext cx="596900" cy="952500"/>
          </a:xfrm>
          <a:custGeom>
            <a:avLst/>
            <a:gdLst>
              <a:gd name="T0" fmla="*/ 0 w 19757"/>
              <a:gd name="T1" fmla="*/ 0 h 21600"/>
              <a:gd name="T2" fmla="*/ 2147483647 w 19757"/>
              <a:gd name="T3" fmla="*/ 2147483647 h 21600"/>
              <a:gd name="T4" fmla="*/ 0 w 19757"/>
              <a:gd name="T5" fmla="*/ 2147483647 h 21600"/>
              <a:gd name="T6" fmla="*/ 0 60000 65536"/>
              <a:gd name="T7" fmla="*/ 0 60000 65536"/>
              <a:gd name="T8" fmla="*/ 0 60000 65536"/>
              <a:gd name="T9" fmla="*/ 0 w 19757"/>
              <a:gd name="T10" fmla="*/ 0 h 21600"/>
              <a:gd name="T11" fmla="*/ 19757 w 1975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757" h="21600" fill="none" extrusionOk="0">
                <a:moveTo>
                  <a:pt x="-1" y="0"/>
                </a:moveTo>
                <a:cubicBezTo>
                  <a:pt x="8552" y="0"/>
                  <a:pt x="16299" y="5046"/>
                  <a:pt x="19756" y="12869"/>
                </a:cubicBezTo>
              </a:path>
              <a:path w="19757" h="21600" stroke="0" extrusionOk="0">
                <a:moveTo>
                  <a:pt x="-1" y="0"/>
                </a:moveTo>
                <a:cubicBezTo>
                  <a:pt x="8552" y="0"/>
                  <a:pt x="16299" y="5046"/>
                  <a:pt x="19756" y="12869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08" name="Arc 64"/>
          <p:cNvSpPr>
            <a:spLocks/>
          </p:cNvSpPr>
          <p:nvPr/>
        </p:nvSpPr>
        <p:spPr bwMode="auto">
          <a:xfrm flipV="1">
            <a:off x="6257925" y="2025650"/>
            <a:ext cx="820738" cy="688975"/>
          </a:xfrm>
          <a:custGeom>
            <a:avLst/>
            <a:gdLst>
              <a:gd name="T0" fmla="*/ 0 w 20783"/>
              <a:gd name="T1" fmla="*/ 0 h 21600"/>
              <a:gd name="T2" fmla="*/ 2147483647 w 20783"/>
              <a:gd name="T3" fmla="*/ 2147483647 h 21600"/>
              <a:gd name="T4" fmla="*/ 0 w 20783"/>
              <a:gd name="T5" fmla="*/ 2147483647 h 21600"/>
              <a:gd name="T6" fmla="*/ 0 60000 65536"/>
              <a:gd name="T7" fmla="*/ 0 60000 65536"/>
              <a:gd name="T8" fmla="*/ 0 60000 65536"/>
              <a:gd name="T9" fmla="*/ 0 w 20783"/>
              <a:gd name="T10" fmla="*/ 0 h 21600"/>
              <a:gd name="T11" fmla="*/ 20783 w 2078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783" h="21600" fill="none" extrusionOk="0">
                <a:moveTo>
                  <a:pt x="-1" y="0"/>
                </a:moveTo>
                <a:cubicBezTo>
                  <a:pt x="9662" y="0"/>
                  <a:pt x="18150" y="6417"/>
                  <a:pt x="20782" y="15715"/>
                </a:cubicBezTo>
              </a:path>
              <a:path w="20783" h="21600" stroke="0" extrusionOk="0">
                <a:moveTo>
                  <a:pt x="-1" y="0"/>
                </a:moveTo>
                <a:cubicBezTo>
                  <a:pt x="9662" y="0"/>
                  <a:pt x="18150" y="6417"/>
                  <a:pt x="20782" y="1571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81" name="Rectangle 65"/>
          <p:cNvSpPr>
            <a:spLocks noChangeArrowheads="1"/>
          </p:cNvSpPr>
          <p:nvPr/>
        </p:nvSpPr>
        <p:spPr bwMode="auto">
          <a:xfrm>
            <a:off x="147638" y="292100"/>
            <a:ext cx="8996362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点的三面投影</a:t>
            </a:r>
          </a:p>
          <a:p>
            <a:pPr eaLnBrk="1" hangingPunct="1"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①直观图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8626" name="Line 82"/>
          <p:cNvSpPr>
            <a:spLocks noChangeShapeType="1"/>
          </p:cNvSpPr>
          <p:nvPr/>
        </p:nvSpPr>
        <p:spPr bwMode="auto">
          <a:xfrm flipV="1">
            <a:off x="6813550" y="6024563"/>
            <a:ext cx="801688" cy="2762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none" w="sm" len="lg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2422525" y="3152775"/>
            <a:ext cx="222250" cy="490538"/>
            <a:chOff x="1526" y="1986"/>
            <a:chExt cx="140" cy="309"/>
          </a:xfrm>
        </p:grpSpPr>
        <p:sp>
          <p:nvSpPr>
            <p:cNvPr id="34909" name="Arc 84"/>
            <p:cNvSpPr>
              <a:spLocks/>
            </p:cNvSpPr>
            <p:nvPr/>
          </p:nvSpPr>
          <p:spPr bwMode="auto">
            <a:xfrm>
              <a:off x="1554" y="1986"/>
              <a:ext cx="99" cy="30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10" name="Text Box 85"/>
            <p:cNvSpPr txBox="1">
              <a:spLocks noChangeArrowheads="1"/>
            </p:cNvSpPr>
            <p:nvPr/>
          </p:nvSpPr>
          <p:spPr bwMode="auto">
            <a:xfrm>
              <a:off x="1526" y="2042"/>
              <a:ext cx="1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/>
                <a:t>.</a:t>
              </a:r>
            </a:p>
          </p:txBody>
        </p:sp>
      </p:grpSp>
      <p:grpSp>
        <p:nvGrpSpPr>
          <p:cNvPr id="3" name="Group 86"/>
          <p:cNvGrpSpPr>
            <a:grpSpLocks/>
          </p:cNvGrpSpPr>
          <p:nvPr/>
        </p:nvGrpSpPr>
        <p:grpSpPr bwMode="auto">
          <a:xfrm rot="5400000" flipV="1">
            <a:off x="4785519" y="1261269"/>
            <a:ext cx="222250" cy="490538"/>
            <a:chOff x="1526" y="1986"/>
            <a:chExt cx="140" cy="309"/>
          </a:xfrm>
        </p:grpSpPr>
        <p:sp>
          <p:nvSpPr>
            <p:cNvPr id="34907" name="Arc 87"/>
            <p:cNvSpPr>
              <a:spLocks/>
            </p:cNvSpPr>
            <p:nvPr/>
          </p:nvSpPr>
          <p:spPr bwMode="auto">
            <a:xfrm>
              <a:off x="1554" y="1986"/>
              <a:ext cx="99" cy="30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08" name="Text Box 88"/>
            <p:cNvSpPr txBox="1">
              <a:spLocks noChangeArrowheads="1"/>
            </p:cNvSpPr>
            <p:nvPr/>
          </p:nvSpPr>
          <p:spPr bwMode="auto">
            <a:xfrm>
              <a:off x="1526" y="2042"/>
              <a:ext cx="1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/>
                <a:t>.</a:t>
              </a:r>
            </a:p>
          </p:txBody>
        </p:sp>
      </p:grpSp>
      <p:grpSp>
        <p:nvGrpSpPr>
          <p:cNvPr id="4" name="Group 89"/>
          <p:cNvGrpSpPr>
            <a:grpSpLocks/>
          </p:cNvGrpSpPr>
          <p:nvPr/>
        </p:nvGrpSpPr>
        <p:grpSpPr bwMode="auto">
          <a:xfrm>
            <a:off x="6269038" y="4359275"/>
            <a:ext cx="409575" cy="381000"/>
            <a:chOff x="3941" y="2746"/>
            <a:chExt cx="258" cy="240"/>
          </a:xfrm>
        </p:grpSpPr>
        <p:sp>
          <p:nvSpPr>
            <p:cNvPr id="34905" name="Arc 90"/>
            <p:cNvSpPr>
              <a:spLocks/>
            </p:cNvSpPr>
            <p:nvPr/>
          </p:nvSpPr>
          <p:spPr bwMode="auto">
            <a:xfrm rot="5400000" flipH="1">
              <a:off x="3950" y="2737"/>
              <a:ext cx="240" cy="25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06" name="Text Box 91"/>
            <p:cNvSpPr txBox="1">
              <a:spLocks noChangeArrowheads="1"/>
            </p:cNvSpPr>
            <p:nvPr/>
          </p:nvSpPr>
          <p:spPr bwMode="auto">
            <a:xfrm>
              <a:off x="3984" y="2779"/>
              <a:ext cx="1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/>
                <a:t>.</a:t>
              </a:r>
            </a:p>
          </p:txBody>
        </p:sp>
      </p:grpSp>
      <p:sp>
        <p:nvSpPr>
          <p:cNvPr id="34886" name="Line 93"/>
          <p:cNvSpPr>
            <a:spLocks noChangeShapeType="1"/>
          </p:cNvSpPr>
          <p:nvPr/>
        </p:nvSpPr>
        <p:spPr bwMode="auto">
          <a:xfrm flipH="1" flipV="1">
            <a:off x="1155700" y="2171700"/>
            <a:ext cx="1301750" cy="1301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87" name="Line 94"/>
          <p:cNvSpPr>
            <a:spLocks noChangeShapeType="1"/>
          </p:cNvSpPr>
          <p:nvPr/>
        </p:nvSpPr>
        <p:spPr bwMode="auto">
          <a:xfrm>
            <a:off x="1149350" y="2165350"/>
            <a:ext cx="13271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39" name="AutoShape 95"/>
          <p:cNvSpPr>
            <a:spLocks noChangeArrowheads="1"/>
          </p:cNvSpPr>
          <p:nvPr/>
        </p:nvSpPr>
        <p:spPr bwMode="auto">
          <a:xfrm>
            <a:off x="309563" y="4710113"/>
            <a:ext cx="1814512" cy="609600"/>
          </a:xfrm>
          <a:prstGeom prst="wedgeRectCallout">
            <a:avLst>
              <a:gd name="adj1" fmla="val 138537"/>
              <a:gd name="adj2" fmla="val -10625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水平投影面</a:t>
            </a:r>
          </a:p>
        </p:txBody>
      </p:sp>
      <p:sp>
        <p:nvSpPr>
          <p:cNvPr id="108640" name="AutoShape 96"/>
          <p:cNvSpPr>
            <a:spLocks noChangeArrowheads="1"/>
          </p:cNvSpPr>
          <p:nvPr/>
        </p:nvSpPr>
        <p:spPr bwMode="auto">
          <a:xfrm>
            <a:off x="341313" y="1473200"/>
            <a:ext cx="1958975" cy="581025"/>
          </a:xfrm>
          <a:prstGeom prst="wedgeRectCallout">
            <a:avLst>
              <a:gd name="adj1" fmla="val 83713"/>
              <a:gd name="adj2" fmla="val 21583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正立投影</a:t>
            </a:r>
            <a:r>
              <a:rPr lang="zh-CN" altLang="en-US" sz="2400">
                <a:ea typeface="黑体" pitchFamily="2" charset="-122"/>
              </a:rPr>
              <a:t>面</a:t>
            </a:r>
          </a:p>
        </p:txBody>
      </p:sp>
      <p:sp>
        <p:nvSpPr>
          <p:cNvPr id="108641" name="AutoShape 97"/>
          <p:cNvSpPr>
            <a:spLocks noChangeArrowheads="1"/>
          </p:cNvSpPr>
          <p:nvPr/>
        </p:nvSpPr>
        <p:spPr bwMode="auto">
          <a:xfrm>
            <a:off x="5735638" y="1458913"/>
            <a:ext cx="1946275" cy="609600"/>
          </a:xfrm>
          <a:prstGeom prst="wedgeRectCallout">
            <a:avLst>
              <a:gd name="adj1" fmla="val -53181"/>
              <a:gd name="adj2" fmla="val 140106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侧立投影面</a:t>
            </a:r>
          </a:p>
        </p:txBody>
      </p:sp>
      <p:sp>
        <p:nvSpPr>
          <p:cNvPr id="108642" name="AutoShape 98"/>
          <p:cNvSpPr>
            <a:spLocks noChangeArrowheads="1"/>
          </p:cNvSpPr>
          <p:nvPr/>
        </p:nvSpPr>
        <p:spPr bwMode="auto">
          <a:xfrm>
            <a:off x="3382963" y="568325"/>
            <a:ext cx="914400" cy="609600"/>
          </a:xfrm>
          <a:prstGeom prst="wedgeRectCallout">
            <a:avLst>
              <a:gd name="adj1" fmla="val 119968"/>
              <a:gd name="adj2" fmla="val 132551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OZ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轴</a:t>
            </a:r>
          </a:p>
        </p:txBody>
      </p:sp>
      <p:sp>
        <p:nvSpPr>
          <p:cNvPr id="108643" name="AutoShape 99"/>
          <p:cNvSpPr>
            <a:spLocks noChangeArrowheads="1"/>
          </p:cNvSpPr>
          <p:nvPr/>
        </p:nvSpPr>
        <p:spPr bwMode="auto">
          <a:xfrm>
            <a:off x="5097463" y="5045075"/>
            <a:ext cx="914400" cy="609600"/>
          </a:xfrm>
          <a:prstGeom prst="wedgeRectCallout">
            <a:avLst>
              <a:gd name="adj1" fmla="val 37329"/>
              <a:gd name="adj2" fmla="val -161458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OY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轴</a:t>
            </a:r>
          </a:p>
        </p:txBody>
      </p:sp>
      <p:sp>
        <p:nvSpPr>
          <p:cNvPr id="108644" name="AutoShape 100"/>
          <p:cNvSpPr>
            <a:spLocks noChangeArrowheads="1"/>
          </p:cNvSpPr>
          <p:nvPr/>
        </p:nvSpPr>
        <p:spPr bwMode="auto">
          <a:xfrm>
            <a:off x="1504950" y="3603625"/>
            <a:ext cx="1574800" cy="609600"/>
          </a:xfrm>
          <a:prstGeom prst="wedgeRoundRectCallout">
            <a:avLst>
              <a:gd name="adj1" fmla="val 118245"/>
              <a:gd name="adj2" fmla="val -110417"/>
              <a:gd name="adj3" fmla="val 1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空间“点”</a:t>
            </a:r>
            <a:endParaRPr lang="zh-CN" altLang="en-US" sz="2400" b="0">
              <a:ea typeface="黑体" pitchFamily="2" charset="-122"/>
            </a:endParaRPr>
          </a:p>
        </p:txBody>
      </p:sp>
      <p:sp>
        <p:nvSpPr>
          <p:cNvPr id="108645" name="AutoShape 101"/>
          <p:cNvSpPr>
            <a:spLocks noChangeArrowheads="1"/>
          </p:cNvSpPr>
          <p:nvPr/>
        </p:nvSpPr>
        <p:spPr bwMode="auto">
          <a:xfrm>
            <a:off x="6848475" y="3390900"/>
            <a:ext cx="1674813" cy="581025"/>
          </a:xfrm>
          <a:prstGeom prst="wedgeRectCallout">
            <a:avLst>
              <a:gd name="adj1" fmla="val -111991"/>
              <a:gd name="adj2" fmla="val -72676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侧面投影</a:t>
            </a:r>
            <a:endParaRPr lang="zh-CN" altLang="en-US" sz="2400"/>
          </a:p>
        </p:txBody>
      </p:sp>
      <p:sp>
        <p:nvSpPr>
          <p:cNvPr id="108646" name="AutoShape 102"/>
          <p:cNvSpPr>
            <a:spLocks noChangeArrowheads="1"/>
          </p:cNvSpPr>
          <p:nvPr/>
        </p:nvSpPr>
        <p:spPr bwMode="auto">
          <a:xfrm>
            <a:off x="519113" y="1939925"/>
            <a:ext cx="1749425" cy="581025"/>
          </a:xfrm>
          <a:prstGeom prst="wedgeRectCallout">
            <a:avLst>
              <a:gd name="adj1" fmla="val 113157"/>
              <a:gd name="adj2" fmla="val 36611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正面投影</a:t>
            </a:r>
            <a:endParaRPr lang="zh-CN" altLang="en-US" sz="2400"/>
          </a:p>
        </p:txBody>
      </p:sp>
      <p:sp>
        <p:nvSpPr>
          <p:cNvPr id="108647" name="Text Box 103"/>
          <p:cNvSpPr txBox="1">
            <a:spLocks noChangeArrowheads="1"/>
          </p:cNvSpPr>
          <p:nvPr/>
        </p:nvSpPr>
        <p:spPr bwMode="auto">
          <a:xfrm>
            <a:off x="2030413" y="6084888"/>
            <a:ext cx="1317625" cy="466725"/>
          </a:xfrm>
          <a:prstGeom prst="rect">
            <a:avLst/>
          </a:prstGeom>
          <a:solidFill>
            <a:srgbClr val="FFCCFF"/>
          </a:solidFill>
          <a:ln w="9525">
            <a:solidFill>
              <a:srgbClr val="3399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ea typeface="黑体" pitchFamily="2" charset="-122"/>
              </a:rPr>
              <a:t>细实线</a:t>
            </a:r>
            <a:endParaRPr lang="zh-CN" altLang="en-US" sz="2400" b="0">
              <a:ea typeface="黑体" pitchFamily="2" charset="-122"/>
            </a:endParaRPr>
          </a:p>
        </p:txBody>
      </p:sp>
      <p:sp>
        <p:nvSpPr>
          <p:cNvPr id="108648" name="Text Box 104"/>
          <p:cNvSpPr txBox="1">
            <a:spLocks noChangeArrowheads="1"/>
          </p:cNvSpPr>
          <p:nvPr/>
        </p:nvSpPr>
        <p:spPr bwMode="auto">
          <a:xfrm>
            <a:off x="3529013" y="5702300"/>
            <a:ext cx="1389062" cy="831850"/>
          </a:xfrm>
          <a:prstGeom prst="rect">
            <a:avLst/>
          </a:prstGeom>
          <a:solidFill>
            <a:srgbClr val="FFCCFF"/>
          </a:solidFill>
          <a:ln w="9525">
            <a:solidFill>
              <a:srgbClr val="3399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ea typeface="黑体" pitchFamily="2" charset="-122"/>
              </a:rPr>
              <a:t>字号：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1">
                <a:latin typeface="ISOCPEUR" pitchFamily="34" charset="0"/>
              </a:rPr>
              <a:t> </a:t>
            </a:r>
            <a:r>
              <a:rPr lang="en-US" altLang="zh-CN" sz="2400" i="1">
                <a:latin typeface="ISOCPEUR" pitchFamily="34" charset="0"/>
              </a:rPr>
              <a:t>3.5 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108649" name="Text Box 105"/>
          <p:cNvSpPr txBox="1">
            <a:spLocks noChangeArrowheads="1"/>
          </p:cNvSpPr>
          <p:nvPr/>
        </p:nvSpPr>
        <p:spPr bwMode="auto">
          <a:xfrm>
            <a:off x="341313" y="5726113"/>
            <a:ext cx="1638300" cy="831850"/>
          </a:xfrm>
          <a:prstGeom prst="rect">
            <a:avLst/>
          </a:prstGeom>
          <a:solidFill>
            <a:srgbClr val="FFCCFF"/>
          </a:solidFill>
          <a:ln w="9525">
            <a:solidFill>
              <a:srgbClr val="3399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ea typeface="黑体" pitchFamily="2" charset="-122"/>
              </a:rPr>
              <a:t>圆点：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直径</a:t>
            </a:r>
            <a:r>
              <a:rPr lang="en-US" altLang="zh-CN" sz="2400"/>
              <a:t>~</a:t>
            </a:r>
            <a:r>
              <a:rPr lang="en-US" altLang="zh-CN" sz="2400" i="1">
                <a:latin typeface="ISOCPEUR" pitchFamily="34" charset="0"/>
              </a:rPr>
              <a:t>1 </a:t>
            </a:r>
            <a:r>
              <a:rPr lang="en-US" altLang="zh-CN" sz="2400">
                <a:latin typeface="ISOCPEUR" pitchFamily="34" charset="0"/>
              </a:rPr>
              <a:t>mm</a:t>
            </a:r>
          </a:p>
        </p:txBody>
      </p:sp>
      <p:sp>
        <p:nvSpPr>
          <p:cNvPr id="108650" name="Text Box 106"/>
          <p:cNvSpPr txBox="1">
            <a:spLocks noChangeArrowheads="1"/>
          </p:cNvSpPr>
          <p:nvPr/>
        </p:nvSpPr>
        <p:spPr bwMode="auto">
          <a:xfrm>
            <a:off x="341313" y="3914775"/>
            <a:ext cx="1844675" cy="1562100"/>
          </a:xfrm>
          <a:prstGeom prst="rect">
            <a:avLst/>
          </a:prstGeom>
          <a:solidFill>
            <a:srgbClr val="FFCCFF"/>
          </a:solidFill>
          <a:ln w="9525">
            <a:solidFill>
              <a:srgbClr val="3399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注意：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∥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V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或⊥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V </a:t>
            </a:r>
          </a:p>
          <a:p>
            <a:pPr eaLnBrk="1" hangingPunct="1"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的长度均按</a:t>
            </a:r>
          </a:p>
          <a:p>
            <a:pPr eaLnBrk="1" hangingPunct="1"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1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度量</a:t>
            </a:r>
            <a:endParaRPr lang="zh-CN" altLang="en-US" sz="2400">
              <a:latin typeface="ISOCPEUR" pitchFamily="34" charset="0"/>
            </a:endParaRPr>
          </a:p>
        </p:txBody>
      </p:sp>
      <p:sp>
        <p:nvSpPr>
          <p:cNvPr id="108651" name="Line 107"/>
          <p:cNvSpPr>
            <a:spLocks noChangeShapeType="1"/>
          </p:cNvSpPr>
          <p:nvPr/>
        </p:nvSpPr>
        <p:spPr bwMode="auto">
          <a:xfrm flipV="1">
            <a:off x="1866900" y="2454275"/>
            <a:ext cx="1655763" cy="327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2" name="Line 108"/>
          <p:cNvSpPr>
            <a:spLocks noChangeShapeType="1"/>
          </p:cNvSpPr>
          <p:nvPr/>
        </p:nvSpPr>
        <p:spPr bwMode="auto">
          <a:xfrm flipV="1">
            <a:off x="3006725" y="3065463"/>
            <a:ext cx="1076325" cy="302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3" name="Line 109"/>
          <p:cNvSpPr>
            <a:spLocks noChangeShapeType="1"/>
          </p:cNvSpPr>
          <p:nvPr/>
        </p:nvSpPr>
        <p:spPr bwMode="auto">
          <a:xfrm flipH="1" flipV="1">
            <a:off x="4421188" y="4484688"/>
            <a:ext cx="188912" cy="1214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4" name="AutoShape 110"/>
          <p:cNvSpPr>
            <a:spLocks noChangeArrowheads="1"/>
          </p:cNvSpPr>
          <p:nvPr/>
        </p:nvSpPr>
        <p:spPr bwMode="auto">
          <a:xfrm>
            <a:off x="868363" y="2735263"/>
            <a:ext cx="914400" cy="609600"/>
          </a:xfrm>
          <a:prstGeom prst="wedgeRectCallout">
            <a:avLst>
              <a:gd name="adj1" fmla="val 154167"/>
              <a:gd name="adj2" fmla="val 6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OX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轴</a:t>
            </a:r>
          </a:p>
        </p:txBody>
      </p:sp>
      <p:sp>
        <p:nvSpPr>
          <p:cNvPr id="108655" name="AutoShape 111"/>
          <p:cNvSpPr>
            <a:spLocks noChangeArrowheads="1"/>
          </p:cNvSpPr>
          <p:nvPr/>
        </p:nvSpPr>
        <p:spPr bwMode="auto">
          <a:xfrm>
            <a:off x="341313" y="4932363"/>
            <a:ext cx="1912937" cy="581025"/>
          </a:xfrm>
          <a:prstGeom prst="wedgeRectCallout">
            <a:avLst>
              <a:gd name="adj1" fmla="val 150500"/>
              <a:gd name="adj2" fmla="val -168032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水平投影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6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86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86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086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086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86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086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0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86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0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0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0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086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08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0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0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0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0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5" dur="500"/>
                                        <p:tgtEl>
                                          <p:spTgt spid="1086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086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086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086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5" dur="500"/>
                                        <p:tgtEl>
                                          <p:spTgt spid="10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10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1" grpId="0" autoUpdateAnimBg="0"/>
      <p:bldP spid="108570" grpId="0" autoUpdateAnimBg="0"/>
      <p:bldP spid="108571" grpId="0" autoUpdateAnimBg="0"/>
      <p:bldP spid="108580" grpId="0" autoUpdateAnimBg="0"/>
      <p:bldP spid="108581" grpId="0" autoUpdateAnimBg="0"/>
      <p:bldP spid="108583" grpId="0" autoUpdateAnimBg="0"/>
      <p:bldP spid="108586" grpId="0" autoUpdateAnimBg="0"/>
      <p:bldP spid="108587" grpId="0" autoUpdateAnimBg="0"/>
      <p:bldP spid="108588" grpId="0" animBg="1"/>
      <p:bldP spid="108589" grpId="0" animBg="1"/>
      <p:bldP spid="108590" grpId="0" animBg="1"/>
      <p:bldP spid="108591" grpId="0" animBg="1"/>
      <p:bldP spid="108592" grpId="0" animBg="1"/>
      <p:bldP spid="108593" grpId="0" animBg="1"/>
      <p:bldP spid="108594" grpId="0" animBg="1"/>
      <p:bldP spid="108595" grpId="0" animBg="1"/>
      <p:bldP spid="108596" grpId="0" animBg="1"/>
      <p:bldP spid="108597" grpId="0" animBg="1" autoUpdateAnimBg="0"/>
      <p:bldP spid="108598" grpId="0" animBg="1" autoUpdateAnimBg="0"/>
      <p:bldP spid="108599" grpId="0" animBg="1" autoUpdateAnimBg="0"/>
      <p:bldP spid="108600" grpId="0" animBg="1" autoUpdateAnimBg="0"/>
      <p:bldP spid="108601" grpId="0" autoUpdateAnimBg="0"/>
      <p:bldP spid="108602" grpId="0" autoUpdateAnimBg="0"/>
      <p:bldP spid="108603" grpId="0" autoUpdateAnimBg="0"/>
      <p:bldP spid="108604" grpId="0" autoUpdateAnimBg="0"/>
      <p:bldP spid="108605" grpId="0" autoUpdateAnimBg="0"/>
      <p:bldP spid="108606" grpId="0" autoUpdateAnimBg="0"/>
      <p:bldP spid="108607" grpId="0" animBg="1"/>
      <p:bldP spid="108608" grpId="0" animBg="1"/>
      <p:bldP spid="108626" grpId="0" animBg="1"/>
      <p:bldP spid="108639" grpId="0" animBg="1" autoUpdateAnimBg="0"/>
      <p:bldP spid="108640" grpId="0" animBg="1" autoUpdateAnimBg="0"/>
      <p:bldP spid="108641" grpId="0" animBg="1" autoUpdateAnimBg="0"/>
      <p:bldP spid="108642" grpId="0" animBg="1" autoUpdateAnimBg="0"/>
      <p:bldP spid="108643" grpId="0" animBg="1" autoUpdateAnimBg="0"/>
      <p:bldP spid="108644" grpId="0" animBg="1" autoUpdateAnimBg="0"/>
      <p:bldP spid="108645" grpId="0" animBg="1" autoUpdateAnimBg="0"/>
      <p:bldP spid="108646" grpId="0" animBg="1" autoUpdateAnimBg="0"/>
      <p:bldP spid="108647" grpId="0" animBg="1" autoUpdateAnimBg="0"/>
      <p:bldP spid="108648" grpId="0" animBg="1" autoUpdateAnimBg="0"/>
      <p:bldP spid="108649" grpId="0" animBg="1" autoUpdateAnimBg="0"/>
      <p:bldP spid="108650" grpId="0" animBg="1" autoUpdateAnimBg="0"/>
      <p:bldP spid="108651" grpId="0" animBg="1"/>
      <p:bldP spid="108652" grpId="0" animBg="1"/>
      <p:bldP spid="108653" grpId="0" animBg="1"/>
      <p:bldP spid="108654" grpId="0" animBg="1" autoUpdateAnimBg="0"/>
      <p:bldP spid="108655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C4490B-0A73-4F95-A611-95B9466EE9ED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35843" name="Freeform 12"/>
          <p:cNvSpPr>
            <a:spLocks/>
          </p:cNvSpPr>
          <p:nvPr/>
        </p:nvSpPr>
        <p:spPr bwMode="auto">
          <a:xfrm>
            <a:off x="3695700" y="100013"/>
            <a:ext cx="2592388" cy="6664325"/>
          </a:xfrm>
          <a:custGeom>
            <a:avLst/>
            <a:gdLst>
              <a:gd name="T0" fmla="*/ 0 w 1633"/>
              <a:gd name="T1" fmla="*/ 0 h 4198"/>
              <a:gd name="T2" fmla="*/ 2147483647 w 1633"/>
              <a:gd name="T3" fmla="*/ 2147483647 h 4198"/>
              <a:gd name="T4" fmla="*/ 2147483647 w 1633"/>
              <a:gd name="T5" fmla="*/ 2147483647 h 4198"/>
              <a:gd name="T6" fmla="*/ 0 60000 65536"/>
              <a:gd name="T7" fmla="*/ 0 60000 65536"/>
              <a:gd name="T8" fmla="*/ 0 60000 65536"/>
              <a:gd name="T9" fmla="*/ 0 w 1633"/>
              <a:gd name="T10" fmla="*/ 0 h 4198"/>
              <a:gd name="T11" fmla="*/ 1633 w 1633"/>
              <a:gd name="T12" fmla="*/ 4198 h 41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33" h="4198">
                <a:moveTo>
                  <a:pt x="0" y="0"/>
                </a:moveTo>
                <a:lnTo>
                  <a:pt x="1633" y="1633"/>
                </a:lnTo>
                <a:lnTo>
                  <a:pt x="1633" y="419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4" name="Freeform 13"/>
          <p:cNvSpPr>
            <a:spLocks/>
          </p:cNvSpPr>
          <p:nvPr/>
        </p:nvSpPr>
        <p:spPr bwMode="auto">
          <a:xfrm>
            <a:off x="1201738" y="2141538"/>
            <a:ext cx="7578725" cy="2568575"/>
          </a:xfrm>
          <a:custGeom>
            <a:avLst/>
            <a:gdLst>
              <a:gd name="T0" fmla="*/ 0 w 4774"/>
              <a:gd name="T1" fmla="*/ 0 h 1618"/>
              <a:gd name="T2" fmla="*/ 2147483647 w 4774"/>
              <a:gd name="T3" fmla="*/ 2147483647 h 1618"/>
              <a:gd name="T4" fmla="*/ 2147483647 w 4774"/>
              <a:gd name="T5" fmla="*/ 2147483647 h 1618"/>
              <a:gd name="T6" fmla="*/ 0 60000 65536"/>
              <a:gd name="T7" fmla="*/ 0 60000 65536"/>
              <a:gd name="T8" fmla="*/ 0 60000 65536"/>
              <a:gd name="T9" fmla="*/ 0 w 4774"/>
              <a:gd name="T10" fmla="*/ 0 h 1618"/>
              <a:gd name="T11" fmla="*/ 4774 w 4774"/>
              <a:gd name="T12" fmla="*/ 1618 h 16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74" h="1618">
                <a:moveTo>
                  <a:pt x="0" y="0"/>
                </a:moveTo>
                <a:lnTo>
                  <a:pt x="1618" y="1618"/>
                </a:lnTo>
                <a:lnTo>
                  <a:pt x="4774" y="16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5" name="Text Box 7"/>
          <p:cNvSpPr txBox="1">
            <a:spLocks noChangeArrowheads="1"/>
          </p:cNvSpPr>
          <p:nvPr/>
        </p:nvSpPr>
        <p:spPr bwMode="auto">
          <a:xfrm>
            <a:off x="3121025" y="10779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V </a:t>
            </a:r>
          </a:p>
        </p:txBody>
      </p:sp>
      <p:sp>
        <p:nvSpPr>
          <p:cNvPr id="35846" name="Text Box 26"/>
          <p:cNvSpPr txBox="1">
            <a:spLocks noChangeArrowheads="1"/>
          </p:cNvSpPr>
          <p:nvPr/>
        </p:nvSpPr>
        <p:spPr bwMode="auto">
          <a:xfrm>
            <a:off x="3186113" y="4575175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H </a:t>
            </a:r>
          </a:p>
        </p:txBody>
      </p:sp>
      <p:sp>
        <p:nvSpPr>
          <p:cNvPr id="35847" name="Text Box 39"/>
          <p:cNvSpPr txBox="1">
            <a:spLocks noChangeArrowheads="1"/>
          </p:cNvSpPr>
          <p:nvPr/>
        </p:nvSpPr>
        <p:spPr bwMode="auto">
          <a:xfrm>
            <a:off x="7589838" y="1044575"/>
            <a:ext cx="53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W </a:t>
            </a:r>
          </a:p>
        </p:txBody>
      </p:sp>
      <p:sp>
        <p:nvSpPr>
          <p:cNvPr id="35848" name="Freeform 16"/>
          <p:cNvSpPr>
            <a:spLocks/>
          </p:cNvSpPr>
          <p:nvPr/>
        </p:nvSpPr>
        <p:spPr bwMode="auto">
          <a:xfrm>
            <a:off x="3076575" y="1082675"/>
            <a:ext cx="5022850" cy="4057650"/>
          </a:xfrm>
          <a:custGeom>
            <a:avLst/>
            <a:gdLst>
              <a:gd name="T0" fmla="*/ 2147483647 w 3164"/>
              <a:gd name="T1" fmla="*/ 0 h 2556"/>
              <a:gd name="T2" fmla="*/ 0 w 3164"/>
              <a:gd name="T3" fmla="*/ 0 h 2556"/>
              <a:gd name="T4" fmla="*/ 0 w 3164"/>
              <a:gd name="T5" fmla="*/ 2147483647 h 2556"/>
              <a:gd name="T6" fmla="*/ 0 60000 65536"/>
              <a:gd name="T7" fmla="*/ 0 60000 65536"/>
              <a:gd name="T8" fmla="*/ 0 60000 65536"/>
              <a:gd name="T9" fmla="*/ 0 w 3164"/>
              <a:gd name="T10" fmla="*/ 0 h 2556"/>
              <a:gd name="T11" fmla="*/ 3164 w 3164"/>
              <a:gd name="T12" fmla="*/ 2556 h 25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64" h="2556">
                <a:moveTo>
                  <a:pt x="3164" y="0"/>
                </a:moveTo>
                <a:lnTo>
                  <a:pt x="0" y="0"/>
                </a:lnTo>
                <a:lnTo>
                  <a:pt x="0" y="2556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9" name="Line 17"/>
          <p:cNvSpPr>
            <a:spLocks noChangeShapeType="1"/>
          </p:cNvSpPr>
          <p:nvPr/>
        </p:nvSpPr>
        <p:spPr bwMode="auto">
          <a:xfrm>
            <a:off x="8096250" y="1079500"/>
            <a:ext cx="0" cy="4057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0" name="Line 19"/>
          <p:cNvSpPr>
            <a:spLocks noChangeShapeType="1"/>
          </p:cNvSpPr>
          <p:nvPr/>
        </p:nvSpPr>
        <p:spPr bwMode="auto">
          <a:xfrm>
            <a:off x="3070225" y="5132388"/>
            <a:ext cx="5043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1" name="Freeform 11"/>
          <p:cNvSpPr>
            <a:spLocks/>
          </p:cNvSpPr>
          <p:nvPr/>
        </p:nvSpPr>
        <p:spPr bwMode="auto">
          <a:xfrm>
            <a:off x="3103563" y="1071563"/>
            <a:ext cx="5049837" cy="4070350"/>
          </a:xfrm>
          <a:custGeom>
            <a:avLst/>
            <a:gdLst>
              <a:gd name="T0" fmla="*/ 2147483647 w 3180"/>
              <a:gd name="T1" fmla="*/ 0 h 2564"/>
              <a:gd name="T2" fmla="*/ 0 w 3180"/>
              <a:gd name="T3" fmla="*/ 0 h 2564"/>
              <a:gd name="T4" fmla="*/ 0 w 3180"/>
              <a:gd name="T5" fmla="*/ 2147483647 h 2564"/>
              <a:gd name="T6" fmla="*/ 0 60000 65536"/>
              <a:gd name="T7" fmla="*/ 0 60000 65536"/>
              <a:gd name="T8" fmla="*/ 0 60000 65536"/>
              <a:gd name="T9" fmla="*/ 0 w 3180"/>
              <a:gd name="T10" fmla="*/ 0 h 2564"/>
              <a:gd name="T11" fmla="*/ 3180 w 3180"/>
              <a:gd name="T12" fmla="*/ 2564 h 25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0" h="2564">
                <a:moveTo>
                  <a:pt x="3180" y="0"/>
                </a:moveTo>
                <a:lnTo>
                  <a:pt x="0" y="0"/>
                </a:lnTo>
                <a:lnTo>
                  <a:pt x="0" y="25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2" name="Freeform 14"/>
          <p:cNvSpPr>
            <a:spLocks/>
          </p:cNvSpPr>
          <p:nvPr/>
        </p:nvSpPr>
        <p:spPr bwMode="auto">
          <a:xfrm>
            <a:off x="3127375" y="1798638"/>
            <a:ext cx="5035550" cy="1290637"/>
          </a:xfrm>
          <a:custGeom>
            <a:avLst/>
            <a:gdLst>
              <a:gd name="T0" fmla="*/ 0 w 3172"/>
              <a:gd name="T1" fmla="*/ 0 h 813"/>
              <a:gd name="T2" fmla="*/ 2147483647 w 3172"/>
              <a:gd name="T3" fmla="*/ 0 h 813"/>
              <a:gd name="T4" fmla="*/ 2147483647 w 3172"/>
              <a:gd name="T5" fmla="*/ 2147483647 h 813"/>
              <a:gd name="T6" fmla="*/ 0 60000 65536"/>
              <a:gd name="T7" fmla="*/ 0 60000 65536"/>
              <a:gd name="T8" fmla="*/ 0 60000 65536"/>
              <a:gd name="T9" fmla="*/ 0 w 3172"/>
              <a:gd name="T10" fmla="*/ 0 h 813"/>
              <a:gd name="T11" fmla="*/ 3172 w 3172"/>
              <a:gd name="T12" fmla="*/ 813 h 8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72" h="813">
                <a:moveTo>
                  <a:pt x="0" y="0"/>
                </a:moveTo>
                <a:lnTo>
                  <a:pt x="2359" y="0"/>
                </a:lnTo>
                <a:lnTo>
                  <a:pt x="3172" y="81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lgDash"/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107" name="Rectangle 67"/>
          <p:cNvSpPr>
            <a:spLocks noChangeArrowheads="1"/>
          </p:cNvSpPr>
          <p:nvPr/>
        </p:nvSpPr>
        <p:spPr bwMode="auto">
          <a:xfrm>
            <a:off x="2727325" y="471488"/>
            <a:ext cx="6062663" cy="53101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grpSp>
        <p:nvGrpSpPr>
          <p:cNvPr id="35854" name="Group 71"/>
          <p:cNvGrpSpPr>
            <a:grpSpLocks/>
          </p:cNvGrpSpPr>
          <p:nvPr/>
        </p:nvGrpSpPr>
        <p:grpSpPr bwMode="auto">
          <a:xfrm>
            <a:off x="2671763" y="596900"/>
            <a:ext cx="5416550" cy="4524375"/>
            <a:chOff x="1683" y="376"/>
            <a:chExt cx="3412" cy="2850"/>
          </a:xfrm>
        </p:grpSpPr>
        <p:sp>
          <p:nvSpPr>
            <p:cNvPr id="35862" name="Text Box 27"/>
            <p:cNvSpPr txBox="1">
              <a:spLocks noChangeArrowheads="1"/>
            </p:cNvSpPr>
            <p:nvPr/>
          </p:nvSpPr>
          <p:spPr bwMode="auto">
            <a:xfrm>
              <a:off x="1683" y="186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35863" name="Line 29"/>
            <p:cNvSpPr>
              <a:spLocks noChangeShapeType="1"/>
            </p:cNvSpPr>
            <p:nvPr/>
          </p:nvSpPr>
          <p:spPr bwMode="auto">
            <a:xfrm>
              <a:off x="1939" y="1965"/>
              <a:ext cx="31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4" name="Line 30"/>
            <p:cNvSpPr>
              <a:spLocks noChangeShapeType="1"/>
            </p:cNvSpPr>
            <p:nvPr/>
          </p:nvSpPr>
          <p:spPr bwMode="auto">
            <a:xfrm flipV="1">
              <a:off x="3523" y="686"/>
              <a:ext cx="0" cy="25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5" name="Text Box 36"/>
            <p:cNvSpPr txBox="1">
              <a:spLocks noChangeArrowheads="1"/>
            </p:cNvSpPr>
            <p:nvPr/>
          </p:nvSpPr>
          <p:spPr bwMode="auto">
            <a:xfrm>
              <a:off x="3394" y="376"/>
              <a:ext cx="3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  </a:t>
              </a:r>
            </a:p>
          </p:txBody>
        </p:sp>
        <p:sp>
          <p:nvSpPr>
            <p:cNvPr id="35866" name="Text Box 42"/>
            <p:cNvSpPr txBox="1">
              <a:spLocks noChangeArrowheads="1"/>
            </p:cNvSpPr>
            <p:nvPr/>
          </p:nvSpPr>
          <p:spPr bwMode="auto">
            <a:xfrm>
              <a:off x="3528" y="1683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35867" name="Line 44"/>
            <p:cNvSpPr>
              <a:spLocks noChangeShapeType="1"/>
            </p:cNvSpPr>
            <p:nvPr/>
          </p:nvSpPr>
          <p:spPr bwMode="auto">
            <a:xfrm>
              <a:off x="2619" y="1303"/>
              <a:ext cx="0" cy="1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8" name="Line 49"/>
            <p:cNvSpPr>
              <a:spLocks noChangeShapeType="1"/>
            </p:cNvSpPr>
            <p:nvPr/>
          </p:nvSpPr>
          <p:spPr bwMode="auto">
            <a:xfrm>
              <a:off x="2613" y="1310"/>
              <a:ext cx="16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9" name="Line 51"/>
            <p:cNvSpPr>
              <a:spLocks noChangeShapeType="1"/>
            </p:cNvSpPr>
            <p:nvPr/>
          </p:nvSpPr>
          <p:spPr bwMode="auto">
            <a:xfrm>
              <a:off x="2606" y="2728"/>
              <a:ext cx="9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0" name="Line 52"/>
            <p:cNvSpPr>
              <a:spLocks noChangeShapeType="1"/>
            </p:cNvSpPr>
            <p:nvPr/>
          </p:nvSpPr>
          <p:spPr bwMode="auto">
            <a:xfrm flipV="1">
              <a:off x="4288" y="1324"/>
              <a:ext cx="0" cy="6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1" name="AutoShape 54"/>
            <p:cNvSpPr>
              <a:spLocks noChangeArrowheads="1"/>
            </p:cNvSpPr>
            <p:nvPr/>
          </p:nvSpPr>
          <p:spPr bwMode="auto">
            <a:xfrm>
              <a:off x="2592" y="1287"/>
              <a:ext cx="47" cy="47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5872" name="AutoShape 55"/>
            <p:cNvSpPr>
              <a:spLocks noChangeArrowheads="1"/>
            </p:cNvSpPr>
            <p:nvPr/>
          </p:nvSpPr>
          <p:spPr bwMode="auto">
            <a:xfrm>
              <a:off x="2595" y="2704"/>
              <a:ext cx="47" cy="47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5873" name="AutoShape 56"/>
            <p:cNvSpPr>
              <a:spLocks noChangeArrowheads="1"/>
            </p:cNvSpPr>
            <p:nvPr/>
          </p:nvSpPr>
          <p:spPr bwMode="auto">
            <a:xfrm>
              <a:off x="4255" y="1283"/>
              <a:ext cx="47" cy="47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5874" name="Text Box 57"/>
            <p:cNvSpPr txBox="1">
              <a:spLocks noChangeArrowheads="1"/>
            </p:cNvSpPr>
            <p:nvPr/>
          </p:nvSpPr>
          <p:spPr bwMode="auto">
            <a:xfrm>
              <a:off x="4256" y="1137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a”</a:t>
              </a:r>
            </a:p>
          </p:txBody>
        </p:sp>
        <p:sp>
          <p:nvSpPr>
            <p:cNvPr id="35875" name="Text Box 58"/>
            <p:cNvSpPr txBox="1">
              <a:spLocks noChangeArrowheads="1"/>
            </p:cNvSpPr>
            <p:nvPr/>
          </p:nvSpPr>
          <p:spPr bwMode="auto">
            <a:xfrm>
              <a:off x="2397" y="2640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endParaRPr lang="en-US" altLang="zh-CN" sz="2000" i="1">
                <a:solidFill>
                  <a:srgbClr val="CCFF33"/>
                </a:solidFill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35876" name="Text Box 59"/>
            <p:cNvSpPr txBox="1">
              <a:spLocks noChangeArrowheads="1"/>
            </p:cNvSpPr>
            <p:nvPr/>
          </p:nvSpPr>
          <p:spPr bwMode="auto">
            <a:xfrm>
              <a:off x="2306" y="1151"/>
              <a:ext cx="3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</a:p>
          </p:txBody>
        </p:sp>
        <p:sp>
          <p:nvSpPr>
            <p:cNvPr id="35877" name="Text Box 60"/>
            <p:cNvSpPr txBox="1">
              <a:spLocks noChangeArrowheads="1"/>
            </p:cNvSpPr>
            <p:nvPr/>
          </p:nvSpPr>
          <p:spPr bwMode="auto">
            <a:xfrm>
              <a:off x="2343" y="1683"/>
              <a:ext cx="2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x </a:t>
              </a:r>
            </a:p>
          </p:txBody>
        </p:sp>
        <p:sp>
          <p:nvSpPr>
            <p:cNvPr id="35878" name="Text Box 61"/>
            <p:cNvSpPr txBox="1">
              <a:spLocks noChangeArrowheads="1"/>
            </p:cNvSpPr>
            <p:nvPr/>
          </p:nvSpPr>
          <p:spPr bwMode="auto">
            <a:xfrm>
              <a:off x="4313" y="1703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Y </a:t>
              </a:r>
            </a:p>
          </p:txBody>
        </p:sp>
        <p:sp>
          <p:nvSpPr>
            <p:cNvPr id="35879" name="Text Box 62"/>
            <p:cNvSpPr txBox="1">
              <a:spLocks noChangeArrowheads="1"/>
            </p:cNvSpPr>
            <p:nvPr/>
          </p:nvSpPr>
          <p:spPr bwMode="auto">
            <a:xfrm>
              <a:off x="3520" y="1064"/>
              <a:ext cx="2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z </a:t>
              </a:r>
            </a:p>
          </p:txBody>
        </p:sp>
      </p:grpSp>
      <p:sp>
        <p:nvSpPr>
          <p:cNvPr id="35855" name="Text Box 37"/>
          <p:cNvSpPr txBox="1">
            <a:spLocks noChangeArrowheads="1"/>
          </p:cNvSpPr>
          <p:nvPr/>
        </p:nvSpPr>
        <p:spPr bwMode="auto">
          <a:xfrm>
            <a:off x="5373688" y="5053013"/>
            <a:ext cx="59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</a:t>
            </a:r>
            <a:r>
              <a:rPr lang="en-US" altLang="zh-CN" sz="1600" i="1">
                <a:latin typeface="ISOCPEUR" pitchFamily="34" charset="0"/>
              </a:rPr>
              <a:t>H</a:t>
            </a:r>
            <a:r>
              <a:rPr lang="en-US" altLang="zh-CN" sz="2400" i="1">
                <a:latin typeface="ISOCPEUR" pitchFamily="34" charset="0"/>
              </a:rPr>
              <a:t> </a:t>
            </a:r>
          </a:p>
        </p:txBody>
      </p:sp>
      <p:sp>
        <p:nvSpPr>
          <p:cNvPr id="35856" name="Text Box 65"/>
          <p:cNvSpPr txBox="1">
            <a:spLocks noChangeArrowheads="1"/>
          </p:cNvSpPr>
          <p:nvPr/>
        </p:nvSpPr>
        <p:spPr bwMode="auto">
          <a:xfrm>
            <a:off x="7977188" y="2940050"/>
            <a:ext cx="59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</a:t>
            </a:r>
            <a:r>
              <a:rPr lang="en-US" altLang="zh-CN" sz="1600" i="1">
                <a:latin typeface="ISOCPEUR" pitchFamily="34" charset="0"/>
              </a:rPr>
              <a:t>W </a:t>
            </a:r>
          </a:p>
        </p:txBody>
      </p:sp>
      <p:sp>
        <p:nvSpPr>
          <p:cNvPr id="87109" name="Text Box 69"/>
          <p:cNvSpPr txBox="1">
            <a:spLocks noChangeArrowheads="1"/>
          </p:cNvSpPr>
          <p:nvPr/>
        </p:nvSpPr>
        <p:spPr bwMode="auto">
          <a:xfrm>
            <a:off x="341313" y="3416300"/>
            <a:ext cx="88026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③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最后擦去边框，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这样的图就是投影图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35858" name="Text Box 68"/>
          <p:cNvSpPr txBox="1">
            <a:spLocks noChangeArrowheads="1"/>
          </p:cNvSpPr>
          <p:nvPr/>
        </p:nvSpPr>
        <p:spPr bwMode="auto">
          <a:xfrm>
            <a:off x="341313" y="612775"/>
            <a:ext cx="8802687" cy="284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②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直观图展平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  </a:t>
            </a:r>
          </a:p>
          <a:p>
            <a:pPr eaLnBrk="1" hangingPunct="1"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面与画面重合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面绕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OX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轴向下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旋转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90°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 W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面绕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OZ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轴向右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旋转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90°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7113" name="Text Box 73"/>
          <p:cNvSpPr txBox="1">
            <a:spLocks noChangeArrowheads="1"/>
          </p:cNvSpPr>
          <p:nvPr/>
        </p:nvSpPr>
        <p:spPr bwMode="auto">
          <a:xfrm>
            <a:off x="5151438" y="3905250"/>
            <a:ext cx="403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Y</a:t>
            </a:r>
          </a:p>
        </p:txBody>
      </p:sp>
      <p:sp>
        <p:nvSpPr>
          <p:cNvPr id="87114" name="Text Box 74"/>
          <p:cNvSpPr txBox="1">
            <a:spLocks noChangeArrowheads="1"/>
          </p:cNvSpPr>
          <p:nvPr/>
        </p:nvSpPr>
        <p:spPr bwMode="auto">
          <a:xfrm>
            <a:off x="7080250" y="2808288"/>
            <a:ext cx="2873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i="1" baseline="-40000">
                <a:latin typeface="ISOCPEUR" pitchFamily="34" charset="0"/>
                <a:ea typeface="仿宋_GB2312" pitchFamily="49" charset="-122"/>
              </a:rPr>
              <a:t>W</a:t>
            </a:r>
          </a:p>
        </p:txBody>
      </p:sp>
      <p:sp>
        <p:nvSpPr>
          <p:cNvPr id="87115" name="Text Box 75"/>
          <p:cNvSpPr txBox="1">
            <a:spLocks noChangeArrowheads="1"/>
          </p:cNvSpPr>
          <p:nvPr/>
        </p:nvSpPr>
        <p:spPr bwMode="auto">
          <a:xfrm>
            <a:off x="5380038" y="4022725"/>
            <a:ext cx="25876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i="1" baseline="-40000">
                <a:latin typeface="ISOCPEUR" pitchFamily="34" charset="0"/>
                <a:ea typeface="仿宋_GB2312" pitchFamily="49" charset="-122"/>
              </a:rPr>
              <a:t>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07" grpId="0" animBg="1"/>
      <p:bldP spid="87109" grpId="0" autoUpdateAnimBg="0"/>
      <p:bldP spid="87113" grpId="0"/>
      <p:bldP spid="87114" grpId="0"/>
      <p:bldP spid="871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AE978E-5D7A-4238-A847-9A03447383D8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341313" y="293688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．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投影特性：</a:t>
            </a: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341313" y="2224088"/>
            <a:ext cx="880268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② </a:t>
            </a:r>
            <a:r>
              <a:rPr lang="en-US" altLang="zh-CN" sz="2400" i="1" dirty="0" err="1">
                <a:latin typeface="ISOCPEUR" pitchFamily="34" charset="0"/>
                <a:ea typeface="黑体" pitchFamily="2" charset="-122"/>
              </a:rPr>
              <a:t>a’a</a:t>
            </a:r>
            <a:r>
              <a:rPr lang="en-US" altLang="zh-CN" sz="2400" i="1" baseline="-25000" dirty="0" err="1">
                <a:latin typeface="ISOCPEUR" pitchFamily="34" charset="0"/>
                <a:ea typeface="黑体" pitchFamily="2" charset="-122"/>
              </a:rPr>
              <a:t>x</a:t>
            </a:r>
            <a:r>
              <a:rPr lang="en-US" altLang="zh-CN" sz="2400" baseline="-25000" dirty="0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= 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  (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点与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H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的距离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sz="2400" i="1" dirty="0" err="1">
                <a:latin typeface="ISOCPEUR" pitchFamily="34" charset="0"/>
                <a:ea typeface="黑体" pitchFamily="2" charset="-122"/>
              </a:rPr>
              <a:t>aa</a:t>
            </a:r>
            <a:r>
              <a:rPr lang="en-US" altLang="zh-CN" sz="2400" i="1" baseline="-25000" dirty="0" err="1">
                <a:latin typeface="ISOCPEUR" pitchFamily="34" charset="0"/>
                <a:ea typeface="黑体" pitchFamily="2" charset="-122"/>
              </a:rPr>
              <a:t>x</a:t>
            </a:r>
            <a:r>
              <a:rPr lang="en-US" altLang="zh-CN" sz="2400" i="1" baseline="-25000" dirty="0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=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</a:rPr>
              <a:t> Aa’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  (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点与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V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的距离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latin typeface="Txt" pitchFamily="2" charset="0"/>
                <a:ea typeface="黑体" pitchFamily="2" charset="-122"/>
              </a:rPr>
              <a:t>  </a:t>
            </a:r>
            <a:r>
              <a:rPr lang="en-US" altLang="zh-CN" sz="2400" i="1" dirty="0" err="1">
                <a:latin typeface="ISOCPEUR" pitchFamily="34" charset="0"/>
                <a:ea typeface="黑体" pitchFamily="2" charset="-122"/>
              </a:rPr>
              <a:t>a’a</a:t>
            </a:r>
            <a:r>
              <a:rPr lang="en-US" altLang="zh-CN" sz="2400" i="1" baseline="-25000" dirty="0" err="1">
                <a:latin typeface="ISOCPEUR" pitchFamily="34" charset="0"/>
                <a:ea typeface="黑体" pitchFamily="2" charset="-122"/>
              </a:rPr>
              <a:t>z</a:t>
            </a:r>
            <a:r>
              <a:rPr lang="en-US" altLang="zh-CN" sz="2400" i="1" baseline="-25000" dirty="0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=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</a:rPr>
              <a:t> Aa”</a:t>
            </a:r>
            <a:endParaRPr lang="en-US" altLang="zh-CN" sz="2400" dirty="0">
              <a:latin typeface="ISOCPEUR" pitchFamily="34" charset="0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  (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点与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W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的距离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)</a:t>
            </a:r>
          </a:p>
        </p:txBody>
      </p:sp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341313" y="4805363"/>
            <a:ext cx="880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③ </a:t>
            </a:r>
            <a:r>
              <a:rPr lang="en-US" altLang="zh-CN" sz="2400" i="1" dirty="0" err="1">
                <a:latin typeface="ISOCPEUR" pitchFamily="34" charset="0"/>
                <a:ea typeface="黑体" pitchFamily="2" charset="-122"/>
              </a:rPr>
              <a:t>aa</a:t>
            </a:r>
            <a:r>
              <a:rPr lang="en-US" altLang="zh-CN" sz="2400" i="1" baseline="-25000" dirty="0" err="1">
                <a:latin typeface="ISOCPEUR" pitchFamily="34" charset="0"/>
                <a:ea typeface="黑体" pitchFamily="2" charset="-122"/>
              </a:rPr>
              <a:t>x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=</a:t>
            </a:r>
            <a:r>
              <a:rPr lang="en-US" altLang="zh-CN" sz="2400" i="1" dirty="0" err="1">
                <a:latin typeface="ISOCPEUR" pitchFamily="34" charset="0"/>
                <a:ea typeface="黑体" pitchFamily="2" charset="-122"/>
              </a:rPr>
              <a:t>a”a</a:t>
            </a:r>
            <a:r>
              <a:rPr lang="en-US" altLang="zh-CN" sz="2400" i="1" baseline="-25000" dirty="0" err="1">
                <a:latin typeface="ISOCPEUR" pitchFamily="34" charset="0"/>
                <a:ea typeface="黑体" pitchFamily="2" charset="-122"/>
              </a:rPr>
              <a:t>z</a:t>
            </a:r>
            <a:endParaRPr lang="en-US" altLang="zh-CN" sz="2400" i="1" dirty="0">
              <a:latin typeface="ISOCPEUR" pitchFamily="34" charset="0"/>
              <a:ea typeface="黑体" pitchFamily="2" charset="-122"/>
            </a:endParaRPr>
          </a:p>
        </p:txBody>
      </p:sp>
      <p:grpSp>
        <p:nvGrpSpPr>
          <p:cNvPr id="36870" name="Group 6"/>
          <p:cNvGrpSpPr>
            <a:grpSpLocks/>
          </p:cNvGrpSpPr>
          <p:nvPr/>
        </p:nvGrpSpPr>
        <p:grpSpPr bwMode="auto">
          <a:xfrm>
            <a:off x="2671763" y="596900"/>
            <a:ext cx="5416550" cy="4524375"/>
            <a:chOff x="1683" y="376"/>
            <a:chExt cx="3412" cy="2850"/>
          </a:xfrm>
        </p:grpSpPr>
        <p:sp>
          <p:nvSpPr>
            <p:cNvPr id="36875" name="Text Box 7"/>
            <p:cNvSpPr txBox="1">
              <a:spLocks noChangeArrowheads="1"/>
            </p:cNvSpPr>
            <p:nvPr/>
          </p:nvSpPr>
          <p:spPr bwMode="auto">
            <a:xfrm>
              <a:off x="1683" y="186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36876" name="Line 8"/>
            <p:cNvSpPr>
              <a:spLocks noChangeShapeType="1"/>
            </p:cNvSpPr>
            <p:nvPr/>
          </p:nvSpPr>
          <p:spPr bwMode="auto">
            <a:xfrm>
              <a:off x="1939" y="1965"/>
              <a:ext cx="31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7" name="Line 9"/>
            <p:cNvSpPr>
              <a:spLocks noChangeShapeType="1"/>
            </p:cNvSpPr>
            <p:nvPr/>
          </p:nvSpPr>
          <p:spPr bwMode="auto">
            <a:xfrm flipV="1">
              <a:off x="3523" y="686"/>
              <a:ext cx="0" cy="25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8" name="Text Box 10"/>
            <p:cNvSpPr txBox="1">
              <a:spLocks noChangeArrowheads="1"/>
            </p:cNvSpPr>
            <p:nvPr/>
          </p:nvSpPr>
          <p:spPr bwMode="auto">
            <a:xfrm>
              <a:off x="3394" y="376"/>
              <a:ext cx="3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  </a:t>
              </a:r>
            </a:p>
          </p:txBody>
        </p:sp>
        <p:sp>
          <p:nvSpPr>
            <p:cNvPr id="36879" name="Text Box 11"/>
            <p:cNvSpPr txBox="1">
              <a:spLocks noChangeArrowheads="1"/>
            </p:cNvSpPr>
            <p:nvPr/>
          </p:nvSpPr>
          <p:spPr bwMode="auto">
            <a:xfrm>
              <a:off x="3528" y="1683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36880" name="Line 12"/>
            <p:cNvSpPr>
              <a:spLocks noChangeShapeType="1"/>
            </p:cNvSpPr>
            <p:nvPr/>
          </p:nvSpPr>
          <p:spPr bwMode="auto">
            <a:xfrm>
              <a:off x="2619" y="1303"/>
              <a:ext cx="0" cy="1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1" name="Line 13"/>
            <p:cNvSpPr>
              <a:spLocks noChangeShapeType="1"/>
            </p:cNvSpPr>
            <p:nvPr/>
          </p:nvSpPr>
          <p:spPr bwMode="auto">
            <a:xfrm>
              <a:off x="2613" y="1310"/>
              <a:ext cx="16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2" name="Line 14"/>
            <p:cNvSpPr>
              <a:spLocks noChangeShapeType="1"/>
            </p:cNvSpPr>
            <p:nvPr/>
          </p:nvSpPr>
          <p:spPr bwMode="auto">
            <a:xfrm>
              <a:off x="2606" y="2728"/>
              <a:ext cx="9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3" name="Line 15"/>
            <p:cNvSpPr>
              <a:spLocks noChangeShapeType="1"/>
            </p:cNvSpPr>
            <p:nvPr/>
          </p:nvSpPr>
          <p:spPr bwMode="auto">
            <a:xfrm flipV="1">
              <a:off x="4288" y="1324"/>
              <a:ext cx="0" cy="6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4" name="AutoShape 16"/>
            <p:cNvSpPr>
              <a:spLocks noChangeArrowheads="1"/>
            </p:cNvSpPr>
            <p:nvPr/>
          </p:nvSpPr>
          <p:spPr bwMode="auto">
            <a:xfrm>
              <a:off x="2592" y="1287"/>
              <a:ext cx="47" cy="47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6885" name="AutoShape 17"/>
            <p:cNvSpPr>
              <a:spLocks noChangeArrowheads="1"/>
            </p:cNvSpPr>
            <p:nvPr/>
          </p:nvSpPr>
          <p:spPr bwMode="auto">
            <a:xfrm>
              <a:off x="2595" y="2704"/>
              <a:ext cx="47" cy="47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6886" name="AutoShape 18"/>
            <p:cNvSpPr>
              <a:spLocks noChangeArrowheads="1"/>
            </p:cNvSpPr>
            <p:nvPr/>
          </p:nvSpPr>
          <p:spPr bwMode="auto">
            <a:xfrm>
              <a:off x="4255" y="1283"/>
              <a:ext cx="47" cy="47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6887" name="Text Box 19"/>
            <p:cNvSpPr txBox="1">
              <a:spLocks noChangeArrowheads="1"/>
            </p:cNvSpPr>
            <p:nvPr/>
          </p:nvSpPr>
          <p:spPr bwMode="auto">
            <a:xfrm>
              <a:off x="4256" y="1137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a”</a:t>
              </a:r>
            </a:p>
          </p:txBody>
        </p:sp>
        <p:sp>
          <p:nvSpPr>
            <p:cNvPr id="36888" name="Text Box 20"/>
            <p:cNvSpPr txBox="1">
              <a:spLocks noChangeArrowheads="1"/>
            </p:cNvSpPr>
            <p:nvPr/>
          </p:nvSpPr>
          <p:spPr bwMode="auto">
            <a:xfrm>
              <a:off x="2397" y="2640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endParaRPr lang="en-US" altLang="zh-CN" sz="2000" i="1">
                <a:solidFill>
                  <a:srgbClr val="CCFF33"/>
                </a:solidFill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36889" name="Text Box 21"/>
            <p:cNvSpPr txBox="1">
              <a:spLocks noChangeArrowheads="1"/>
            </p:cNvSpPr>
            <p:nvPr/>
          </p:nvSpPr>
          <p:spPr bwMode="auto">
            <a:xfrm>
              <a:off x="2306" y="1151"/>
              <a:ext cx="3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</a:p>
          </p:txBody>
        </p:sp>
        <p:sp>
          <p:nvSpPr>
            <p:cNvPr id="36890" name="Text Box 22"/>
            <p:cNvSpPr txBox="1">
              <a:spLocks noChangeArrowheads="1"/>
            </p:cNvSpPr>
            <p:nvPr/>
          </p:nvSpPr>
          <p:spPr bwMode="auto">
            <a:xfrm>
              <a:off x="2343" y="1683"/>
              <a:ext cx="2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x </a:t>
              </a:r>
            </a:p>
          </p:txBody>
        </p:sp>
        <p:sp>
          <p:nvSpPr>
            <p:cNvPr id="36891" name="Text Box 23"/>
            <p:cNvSpPr txBox="1">
              <a:spLocks noChangeArrowheads="1"/>
            </p:cNvSpPr>
            <p:nvPr/>
          </p:nvSpPr>
          <p:spPr bwMode="auto">
            <a:xfrm>
              <a:off x="4275" y="1703"/>
              <a:ext cx="3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Y</a:t>
              </a:r>
              <a:r>
                <a:rPr lang="en-US" altLang="zh-CN" sz="2000" i="1" baseline="-40000">
                  <a:latin typeface="ISOCPEUR" pitchFamily="34" charset="0"/>
                  <a:ea typeface="仿宋_GB2312" pitchFamily="49" charset="-122"/>
                </a:rPr>
                <a:t>W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 </a:t>
              </a:r>
            </a:p>
          </p:txBody>
        </p:sp>
        <p:sp>
          <p:nvSpPr>
            <p:cNvPr id="36892" name="Text Box 24"/>
            <p:cNvSpPr txBox="1">
              <a:spLocks noChangeArrowheads="1"/>
            </p:cNvSpPr>
            <p:nvPr/>
          </p:nvSpPr>
          <p:spPr bwMode="auto">
            <a:xfrm>
              <a:off x="3520" y="1064"/>
              <a:ext cx="2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z </a:t>
              </a:r>
            </a:p>
          </p:txBody>
        </p:sp>
      </p:grpSp>
      <p:sp>
        <p:nvSpPr>
          <p:cNvPr id="36871" name="Text Box 25"/>
          <p:cNvSpPr txBox="1">
            <a:spLocks noChangeArrowheads="1"/>
          </p:cNvSpPr>
          <p:nvPr/>
        </p:nvSpPr>
        <p:spPr bwMode="auto">
          <a:xfrm>
            <a:off x="5373688" y="5053013"/>
            <a:ext cx="59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</a:t>
            </a:r>
            <a:r>
              <a:rPr lang="en-US" altLang="zh-CN" sz="1600" i="1">
                <a:latin typeface="ISOCPEUR" pitchFamily="34" charset="0"/>
              </a:rPr>
              <a:t>H</a:t>
            </a:r>
            <a:r>
              <a:rPr lang="en-US" altLang="zh-CN" sz="2400" i="1">
                <a:latin typeface="ISOCPEUR" pitchFamily="34" charset="0"/>
              </a:rPr>
              <a:t> </a:t>
            </a:r>
          </a:p>
        </p:txBody>
      </p:sp>
      <p:sp>
        <p:nvSpPr>
          <p:cNvPr id="36872" name="Text Box 26"/>
          <p:cNvSpPr txBox="1">
            <a:spLocks noChangeArrowheads="1"/>
          </p:cNvSpPr>
          <p:nvPr/>
        </p:nvSpPr>
        <p:spPr bwMode="auto">
          <a:xfrm>
            <a:off x="7977188" y="2940050"/>
            <a:ext cx="59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</a:t>
            </a:r>
            <a:r>
              <a:rPr lang="en-US" altLang="zh-CN" sz="1600" i="1">
                <a:latin typeface="ISOCPEUR" pitchFamily="34" charset="0"/>
              </a:rPr>
              <a:t>W </a:t>
            </a:r>
          </a:p>
        </p:txBody>
      </p:sp>
      <p:sp>
        <p:nvSpPr>
          <p:cNvPr id="88091" name="Text Box 27"/>
          <p:cNvSpPr txBox="1">
            <a:spLocks noChangeArrowheads="1"/>
          </p:cNvSpPr>
          <p:nvPr/>
        </p:nvSpPr>
        <p:spPr bwMode="auto">
          <a:xfrm>
            <a:off x="341313" y="1371600"/>
            <a:ext cx="880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①</a:t>
            </a:r>
            <a:r>
              <a:rPr lang="en-US" altLang="zh-CN" sz="2400" i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</a:rPr>
              <a:t>a’a</a:t>
            </a:r>
            <a:r>
              <a:rPr lang="en-US" altLang="zh-CN" sz="2400" i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</a:t>
            </a:r>
            <a:r>
              <a:rPr lang="en-US" altLang="zh-CN" sz="2400" i="1" dirty="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  <a:sym typeface="Symbol" pitchFamily="18" charset="2"/>
              </a:rPr>
              <a:t>OX</a:t>
            </a:r>
            <a:r>
              <a:rPr lang="zh-CN" altLang="en-US" sz="2400" i="1" dirty="0">
                <a:latin typeface="黑体" pitchFamily="2" charset="-122"/>
                <a:ea typeface="黑体" pitchFamily="2" charset="-122"/>
                <a:sym typeface="Symbol" pitchFamily="18" charset="2"/>
              </a:rPr>
              <a:t>， 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</a:rPr>
              <a:t>a’a”</a:t>
            </a:r>
            <a:r>
              <a:rPr lang="en-US" altLang="zh-CN" sz="2400" dirty="0">
                <a:latin typeface="ISOCPEUR" pitchFamily="34" charset="0"/>
                <a:ea typeface="黑体" pitchFamily="2" charset="-122"/>
                <a:sym typeface="Symbol" pitchFamily="18" charset="2"/>
              </a:rPr>
              <a:t>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  <a:sym typeface="Symbol" pitchFamily="18" charset="2"/>
              </a:rPr>
              <a:t> OZ </a:t>
            </a:r>
            <a:r>
              <a:rPr lang="en-US" altLang="zh-CN" sz="2400" i="1" dirty="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36874" name="Text Box 31"/>
          <p:cNvSpPr txBox="1">
            <a:spLocks noChangeArrowheads="1"/>
          </p:cNvSpPr>
          <p:nvPr/>
        </p:nvSpPr>
        <p:spPr bwMode="auto">
          <a:xfrm>
            <a:off x="5114925" y="3894138"/>
            <a:ext cx="55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Y</a:t>
            </a:r>
            <a:r>
              <a:rPr lang="en-US" altLang="zh-CN" sz="2000" i="1" baseline="-40000">
                <a:latin typeface="ISOCPEUR" pitchFamily="34" charset="0"/>
                <a:ea typeface="仿宋_GB2312" pitchFamily="49" charset="-122"/>
              </a:rPr>
              <a:t>H </a:t>
            </a:r>
          </a:p>
        </p:txBody>
      </p:sp>
      <p:sp>
        <p:nvSpPr>
          <p:cNvPr id="29" name="Text Box 14"/>
          <p:cNvSpPr txBox="1">
            <a:spLocks noChangeArrowheads="1"/>
          </p:cNvSpPr>
          <p:nvPr/>
        </p:nvSpPr>
        <p:spPr bwMode="auto">
          <a:xfrm>
            <a:off x="617569" y="5417053"/>
            <a:ext cx="481548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思考： （</a:t>
            </a:r>
            <a:r>
              <a:rPr lang="en-US" altLang="zh-CN" sz="2800" i="1" dirty="0" smtClean="0">
                <a:latin typeface="ISOCPEUR" pitchFamily="34" charset="0"/>
                <a:ea typeface="黑体" pitchFamily="2" charset="-122"/>
              </a:rPr>
              <a:t>a/a’ /a</a:t>
            </a:r>
            <a:r>
              <a:rPr lang="en-US" altLang="zh-CN" sz="2800" i="1" dirty="0">
                <a:latin typeface="ISOCPEUR" pitchFamily="34" charset="0"/>
                <a:ea typeface="黑体" pitchFamily="2" charset="-122"/>
              </a:rPr>
              <a:t>”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）</a:t>
            </a:r>
            <a:r>
              <a:rPr lang="en-US" altLang="zh-CN" sz="2800" i="1" dirty="0" smtClean="0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→</a:t>
            </a:r>
            <a:r>
              <a:rPr lang="en-US" altLang="zh-CN" sz="2800" i="1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？</a:t>
            </a:r>
            <a:endParaRPr lang="zh-CN" altLang="en-US" sz="28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" name="Text Box 14"/>
          <p:cNvSpPr txBox="1">
            <a:spLocks noChangeArrowheads="1"/>
          </p:cNvSpPr>
          <p:nvPr/>
        </p:nvSpPr>
        <p:spPr bwMode="auto">
          <a:xfrm>
            <a:off x="634606" y="5924467"/>
            <a:ext cx="70355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结论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000" dirty="0" smtClean="0">
                <a:latin typeface="黑体" pitchFamily="2" charset="-122"/>
                <a:ea typeface="黑体" pitchFamily="2" charset="-122"/>
              </a:rPr>
              <a:t>任意两个投影可唯一确定一点的空间位置</a:t>
            </a:r>
            <a:endParaRPr lang="zh-CN" altLang="en-US" sz="200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autoUpdateAnimBg="0"/>
      <p:bldP spid="88068" grpId="0" autoUpdateAnimBg="0"/>
      <p:bldP spid="88091" grpId="0" autoUpdateAnimBg="0"/>
      <p:bldP spid="29" grpId="0" autoUpdateAnimBg="0"/>
      <p:bldP spid="3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79DDC0-8610-406B-9A0A-81C84BDEA775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204788" y="120650"/>
            <a:ext cx="8939212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5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点的二求三</a:t>
            </a: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 已知点的两个投影，可利用点的三面投影特性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求其第三个投影。 </a:t>
            </a:r>
          </a:p>
        </p:txBody>
      </p:sp>
      <p:sp>
        <p:nvSpPr>
          <p:cNvPr id="89098" name="Line 10"/>
          <p:cNvSpPr>
            <a:spLocks noChangeShapeType="1"/>
          </p:cNvSpPr>
          <p:nvPr/>
        </p:nvSpPr>
        <p:spPr bwMode="auto">
          <a:xfrm>
            <a:off x="3830638" y="2384425"/>
            <a:ext cx="2655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099" name="Line 11"/>
          <p:cNvSpPr>
            <a:spLocks noChangeShapeType="1"/>
          </p:cNvSpPr>
          <p:nvPr/>
        </p:nvSpPr>
        <p:spPr bwMode="auto">
          <a:xfrm>
            <a:off x="3819525" y="4635500"/>
            <a:ext cx="1452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00" name="Line 12"/>
          <p:cNvSpPr>
            <a:spLocks noChangeShapeType="1"/>
          </p:cNvSpPr>
          <p:nvPr/>
        </p:nvSpPr>
        <p:spPr bwMode="auto">
          <a:xfrm flipV="1">
            <a:off x="6480175" y="2406650"/>
            <a:ext cx="0" cy="1009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03" name="AutoShape 15"/>
          <p:cNvSpPr>
            <a:spLocks noChangeArrowheads="1"/>
          </p:cNvSpPr>
          <p:nvPr/>
        </p:nvSpPr>
        <p:spPr bwMode="auto">
          <a:xfrm>
            <a:off x="6442075" y="2351088"/>
            <a:ext cx="74613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89104" name="Text Box 16"/>
          <p:cNvSpPr txBox="1">
            <a:spLocks noChangeArrowheads="1"/>
          </p:cNvSpPr>
          <p:nvPr/>
        </p:nvSpPr>
        <p:spPr bwMode="auto">
          <a:xfrm>
            <a:off x="6438900" y="2109788"/>
            <a:ext cx="546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  <p:sp>
        <p:nvSpPr>
          <p:cNvPr id="89115" name="Arc 27"/>
          <p:cNvSpPr>
            <a:spLocks/>
          </p:cNvSpPr>
          <p:nvPr/>
        </p:nvSpPr>
        <p:spPr bwMode="auto">
          <a:xfrm flipV="1">
            <a:off x="5273675" y="3429000"/>
            <a:ext cx="1204913" cy="1204913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16" name="Rectangle 28"/>
          <p:cNvSpPr>
            <a:spLocks noChangeArrowheads="1"/>
          </p:cNvSpPr>
          <p:nvPr/>
        </p:nvSpPr>
        <p:spPr bwMode="auto">
          <a:xfrm>
            <a:off x="3643313" y="1763713"/>
            <a:ext cx="3459162" cy="37068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grpSp>
        <p:nvGrpSpPr>
          <p:cNvPr id="37899" name="Group 29"/>
          <p:cNvGrpSpPr>
            <a:grpSpLocks/>
          </p:cNvGrpSpPr>
          <p:nvPr/>
        </p:nvGrpSpPr>
        <p:grpSpPr bwMode="auto">
          <a:xfrm>
            <a:off x="2354263" y="1181100"/>
            <a:ext cx="5902325" cy="4633913"/>
            <a:chOff x="1483" y="744"/>
            <a:chExt cx="3718" cy="2919"/>
          </a:xfrm>
        </p:grpSpPr>
        <p:sp>
          <p:nvSpPr>
            <p:cNvPr id="37908" name="Line 6"/>
            <p:cNvSpPr>
              <a:spLocks noChangeShapeType="1"/>
            </p:cNvSpPr>
            <p:nvPr/>
          </p:nvSpPr>
          <p:spPr bwMode="auto">
            <a:xfrm flipV="1">
              <a:off x="3323" y="890"/>
              <a:ext cx="0" cy="25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909" name="Group 26"/>
            <p:cNvGrpSpPr>
              <a:grpSpLocks/>
            </p:cNvGrpSpPr>
            <p:nvPr/>
          </p:nvGrpSpPr>
          <p:grpSpPr bwMode="auto">
            <a:xfrm>
              <a:off x="1483" y="744"/>
              <a:ext cx="3718" cy="2919"/>
              <a:chOff x="1483" y="744"/>
              <a:chExt cx="3718" cy="2919"/>
            </a:xfrm>
          </p:grpSpPr>
          <p:sp>
            <p:nvSpPr>
              <p:cNvPr id="37910" name="Line 5"/>
              <p:cNvSpPr>
                <a:spLocks noChangeShapeType="1"/>
              </p:cNvSpPr>
              <p:nvPr/>
            </p:nvSpPr>
            <p:spPr bwMode="auto">
              <a:xfrm>
                <a:off x="1739" y="2157"/>
                <a:ext cx="31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1" name="Text Box 8"/>
              <p:cNvSpPr txBox="1">
                <a:spLocks noChangeArrowheads="1"/>
              </p:cNvSpPr>
              <p:nvPr/>
            </p:nvSpPr>
            <p:spPr bwMode="auto">
              <a:xfrm>
                <a:off x="3328" y="1875"/>
                <a:ext cx="29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O </a:t>
                </a:r>
              </a:p>
            </p:txBody>
          </p:sp>
          <p:sp>
            <p:nvSpPr>
              <p:cNvPr id="37912" name="Text Box 4"/>
              <p:cNvSpPr txBox="1">
                <a:spLocks noChangeArrowheads="1"/>
              </p:cNvSpPr>
              <p:nvPr/>
            </p:nvSpPr>
            <p:spPr bwMode="auto">
              <a:xfrm>
                <a:off x="1483" y="2052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X </a:t>
                </a:r>
              </a:p>
            </p:txBody>
          </p:sp>
          <p:sp>
            <p:nvSpPr>
              <p:cNvPr id="37913" name="Text Box 7"/>
              <p:cNvSpPr txBox="1">
                <a:spLocks noChangeArrowheads="1"/>
              </p:cNvSpPr>
              <p:nvPr/>
            </p:nvSpPr>
            <p:spPr bwMode="auto">
              <a:xfrm>
                <a:off x="3234" y="744"/>
                <a:ext cx="3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Z  </a:t>
                </a:r>
              </a:p>
            </p:txBody>
          </p:sp>
          <p:sp>
            <p:nvSpPr>
              <p:cNvPr id="37914" name="Line 9"/>
              <p:cNvSpPr>
                <a:spLocks noChangeShapeType="1"/>
              </p:cNvSpPr>
              <p:nvPr/>
            </p:nvSpPr>
            <p:spPr bwMode="auto">
              <a:xfrm>
                <a:off x="2419" y="1495"/>
                <a:ext cx="0" cy="1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5" name="AutoShape 13"/>
              <p:cNvSpPr>
                <a:spLocks noChangeArrowheads="1"/>
              </p:cNvSpPr>
              <p:nvPr/>
            </p:nvSpPr>
            <p:spPr bwMode="auto">
              <a:xfrm>
                <a:off x="2392" y="1479"/>
                <a:ext cx="47" cy="47"/>
              </a:xfrm>
              <a:prstGeom prst="flowChartConnector">
                <a:avLst/>
              </a:prstGeom>
              <a:solidFill>
                <a:srgbClr val="FFFF00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>
                  <a:solidFill>
                    <a:srgbClr val="FFFF00"/>
                  </a:solidFill>
                  <a:latin typeface="ISOCPEUR" pitchFamily="34" charset="0"/>
                </a:endParaRPr>
              </a:p>
            </p:txBody>
          </p:sp>
          <p:sp>
            <p:nvSpPr>
              <p:cNvPr id="37916" name="AutoShape 14"/>
              <p:cNvSpPr>
                <a:spLocks noChangeArrowheads="1"/>
              </p:cNvSpPr>
              <p:nvPr/>
            </p:nvSpPr>
            <p:spPr bwMode="auto">
              <a:xfrm>
                <a:off x="2395" y="2896"/>
                <a:ext cx="47" cy="47"/>
              </a:xfrm>
              <a:prstGeom prst="flowChartConnector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>
                  <a:solidFill>
                    <a:srgbClr val="FFFF00"/>
                  </a:solidFill>
                  <a:latin typeface="ISOCPEUR" pitchFamily="34" charset="0"/>
                </a:endParaRPr>
              </a:p>
            </p:txBody>
          </p:sp>
          <p:sp>
            <p:nvSpPr>
              <p:cNvPr id="37917" name="Text Box 17"/>
              <p:cNvSpPr txBox="1">
                <a:spLocks noChangeArrowheads="1"/>
              </p:cNvSpPr>
              <p:nvPr/>
            </p:nvSpPr>
            <p:spPr bwMode="auto">
              <a:xfrm>
                <a:off x="2197" y="2832"/>
                <a:ext cx="19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a</a:t>
                </a:r>
                <a:endParaRPr lang="en-US" altLang="zh-CN" sz="2000" i="1">
                  <a:solidFill>
                    <a:srgbClr val="CCFF33"/>
                  </a:solidFill>
                  <a:latin typeface="ISOCPEUR" pitchFamily="34" charset="0"/>
                  <a:ea typeface="仿宋_GB2312" pitchFamily="49" charset="-122"/>
                </a:endParaRPr>
              </a:p>
            </p:txBody>
          </p:sp>
          <p:sp>
            <p:nvSpPr>
              <p:cNvPr id="37918" name="Text Box 18"/>
              <p:cNvSpPr txBox="1">
                <a:spLocks noChangeArrowheads="1"/>
              </p:cNvSpPr>
              <p:nvPr/>
            </p:nvSpPr>
            <p:spPr bwMode="auto">
              <a:xfrm>
                <a:off x="2106" y="1343"/>
                <a:ext cx="3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a'</a:t>
                </a:r>
              </a:p>
            </p:txBody>
          </p:sp>
          <p:sp>
            <p:nvSpPr>
              <p:cNvPr id="37919" name="Text Box 19"/>
              <p:cNvSpPr txBox="1">
                <a:spLocks noChangeArrowheads="1"/>
              </p:cNvSpPr>
              <p:nvPr/>
            </p:nvSpPr>
            <p:spPr bwMode="auto">
              <a:xfrm>
                <a:off x="2194" y="1875"/>
                <a:ext cx="18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 </a:t>
                </a:r>
                <a:endParaRPr lang="en-US" altLang="zh-CN" sz="2000" i="1" baseline="-25000">
                  <a:latin typeface="ISOCPEUR" pitchFamily="34" charset="0"/>
                  <a:ea typeface="仿宋_GB2312" pitchFamily="49" charset="-122"/>
                </a:endParaRPr>
              </a:p>
            </p:txBody>
          </p:sp>
          <p:sp>
            <p:nvSpPr>
              <p:cNvPr id="37920" name="Text Box 22"/>
              <p:cNvSpPr txBox="1">
                <a:spLocks noChangeArrowheads="1"/>
              </p:cNvSpPr>
              <p:nvPr/>
            </p:nvSpPr>
            <p:spPr bwMode="auto">
              <a:xfrm>
                <a:off x="3185" y="3375"/>
                <a:ext cx="3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Y</a:t>
                </a:r>
                <a:r>
                  <a:rPr lang="en-US" altLang="zh-CN" sz="1600" i="1">
                    <a:latin typeface="ISOCPEUR" pitchFamily="34" charset="0"/>
                  </a:rPr>
                  <a:t>H</a:t>
                </a:r>
                <a:r>
                  <a:rPr lang="en-US" altLang="zh-CN" sz="2400" i="1">
                    <a:latin typeface="ISOCPEUR" pitchFamily="34" charset="0"/>
                  </a:rPr>
                  <a:t> </a:t>
                </a:r>
              </a:p>
            </p:txBody>
          </p:sp>
          <p:sp>
            <p:nvSpPr>
              <p:cNvPr id="37921" name="Text Box 23"/>
              <p:cNvSpPr txBox="1">
                <a:spLocks noChangeArrowheads="1"/>
              </p:cNvSpPr>
              <p:nvPr/>
            </p:nvSpPr>
            <p:spPr bwMode="auto">
              <a:xfrm>
                <a:off x="4825" y="2044"/>
                <a:ext cx="3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Y</a:t>
                </a:r>
                <a:r>
                  <a:rPr lang="en-US" altLang="zh-CN" sz="1600" i="1">
                    <a:latin typeface="ISOCPEUR" pitchFamily="34" charset="0"/>
                  </a:rPr>
                  <a:t>W </a:t>
                </a:r>
              </a:p>
            </p:txBody>
          </p:sp>
        </p:grpSp>
      </p:grpSp>
      <p:sp>
        <p:nvSpPr>
          <p:cNvPr id="89118" name="Line 30"/>
          <p:cNvSpPr>
            <a:spLocks noChangeShapeType="1"/>
          </p:cNvSpPr>
          <p:nvPr/>
        </p:nvSpPr>
        <p:spPr bwMode="auto">
          <a:xfrm>
            <a:off x="3875088" y="2384425"/>
            <a:ext cx="2611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19" name="Line 31"/>
          <p:cNvSpPr>
            <a:spLocks noChangeShapeType="1"/>
          </p:cNvSpPr>
          <p:nvPr/>
        </p:nvSpPr>
        <p:spPr bwMode="auto">
          <a:xfrm>
            <a:off x="3870325" y="4635500"/>
            <a:ext cx="1406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20" name="Line 32"/>
          <p:cNvSpPr>
            <a:spLocks noChangeShapeType="1"/>
          </p:cNvSpPr>
          <p:nvPr/>
        </p:nvSpPr>
        <p:spPr bwMode="auto">
          <a:xfrm>
            <a:off x="5276850" y="3429000"/>
            <a:ext cx="16764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21" name="Line 33"/>
          <p:cNvSpPr>
            <a:spLocks noChangeShapeType="1"/>
          </p:cNvSpPr>
          <p:nvPr/>
        </p:nvSpPr>
        <p:spPr bwMode="auto">
          <a:xfrm>
            <a:off x="5264150" y="4635500"/>
            <a:ext cx="1203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22" name="Line 34"/>
          <p:cNvSpPr>
            <a:spLocks noChangeShapeType="1"/>
          </p:cNvSpPr>
          <p:nvPr/>
        </p:nvSpPr>
        <p:spPr bwMode="auto">
          <a:xfrm flipV="1">
            <a:off x="6483350" y="3429000"/>
            <a:ext cx="0" cy="1206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23" name="Line 35"/>
          <p:cNvSpPr>
            <a:spLocks noChangeShapeType="1"/>
          </p:cNvSpPr>
          <p:nvPr/>
        </p:nvSpPr>
        <p:spPr bwMode="auto">
          <a:xfrm flipV="1">
            <a:off x="6483350" y="2386013"/>
            <a:ext cx="0" cy="1231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24" name="AutoShape 36"/>
          <p:cNvSpPr>
            <a:spLocks noChangeArrowheads="1"/>
          </p:cNvSpPr>
          <p:nvPr/>
        </p:nvSpPr>
        <p:spPr bwMode="auto">
          <a:xfrm>
            <a:off x="6443663" y="2354263"/>
            <a:ext cx="74612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89125" name="Text Box 37"/>
          <p:cNvSpPr txBox="1">
            <a:spLocks noChangeArrowheads="1"/>
          </p:cNvSpPr>
          <p:nvPr/>
        </p:nvSpPr>
        <p:spPr bwMode="auto">
          <a:xfrm>
            <a:off x="6440488" y="2112963"/>
            <a:ext cx="546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9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9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8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8" grpId="0" animBg="1"/>
      <p:bldP spid="89099" grpId="0" animBg="1"/>
      <p:bldP spid="89100" grpId="0" animBg="1"/>
      <p:bldP spid="89103" grpId="0" animBg="1" autoUpdateAnimBg="0"/>
      <p:bldP spid="89104" grpId="0" autoUpdateAnimBg="0"/>
      <p:bldP spid="89115" grpId="0" animBg="1"/>
      <p:bldP spid="89116" grpId="0" animBg="1"/>
      <p:bldP spid="89118" grpId="0" animBg="1"/>
      <p:bldP spid="89119" grpId="0" animBg="1"/>
      <p:bldP spid="89120" grpId="0" animBg="1"/>
      <p:bldP spid="89121" grpId="0" animBg="1"/>
      <p:bldP spid="89122" grpId="0" animBg="1"/>
      <p:bldP spid="89123" grpId="0" animBg="1"/>
      <p:bldP spid="89124" grpId="0" animBg="1" autoUpdateAnimBg="0"/>
      <p:bldP spid="89125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0EE003-6969-4CAA-80AE-C148654E55B4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38915" name="Text Box 2"/>
          <p:cNvSpPr txBox="1">
            <a:spLocks noChangeArrowheads="1"/>
          </p:cNvSpPr>
          <p:nvPr/>
        </p:nvSpPr>
        <p:spPr bwMode="auto">
          <a:xfrm>
            <a:off x="341313" y="293688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二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点的坐标与投影的关系</a:t>
            </a:r>
          </a:p>
        </p:txBody>
      </p:sp>
      <p:sp>
        <p:nvSpPr>
          <p:cNvPr id="20524" name="Text Box 44"/>
          <p:cNvSpPr txBox="1">
            <a:spLocks noChangeArrowheads="1"/>
          </p:cNvSpPr>
          <p:nvPr/>
        </p:nvSpPr>
        <p:spPr bwMode="auto">
          <a:xfrm>
            <a:off x="0" y="1125538"/>
            <a:ext cx="51689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如果将投影轴当作坐标轴，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将投影面当作坐标面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即可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用坐标法确定点的位置。</a:t>
            </a:r>
          </a:p>
        </p:txBody>
      </p:sp>
      <p:sp>
        <p:nvSpPr>
          <p:cNvPr id="38917" name="AutoShape 5"/>
          <p:cNvSpPr>
            <a:spLocks noChangeArrowheads="1"/>
          </p:cNvSpPr>
          <p:nvPr/>
        </p:nvSpPr>
        <p:spPr bwMode="auto">
          <a:xfrm>
            <a:off x="5686425" y="4090988"/>
            <a:ext cx="68263" cy="68262"/>
          </a:xfrm>
          <a:prstGeom prst="flowChartConnector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5699125" y="3844925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endParaRPr lang="en-US" altLang="zh-CN" sz="2000" i="1">
              <a:solidFill>
                <a:srgbClr val="CCFF33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38919" name="AutoShape 7"/>
          <p:cNvSpPr>
            <a:spLocks noChangeArrowheads="1"/>
          </p:cNvSpPr>
          <p:nvPr/>
        </p:nvSpPr>
        <p:spPr bwMode="auto">
          <a:xfrm>
            <a:off x="5686425" y="3927475"/>
            <a:ext cx="68263" cy="69850"/>
          </a:xfrm>
          <a:prstGeom prst="flowChartConnector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38920" name="Text Box 9"/>
          <p:cNvSpPr txBox="1">
            <a:spLocks noChangeArrowheads="1"/>
          </p:cNvSpPr>
          <p:nvPr/>
        </p:nvSpPr>
        <p:spPr bwMode="auto">
          <a:xfrm>
            <a:off x="5653088" y="1677988"/>
            <a:ext cx="53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a'</a:t>
            </a:r>
            <a:endParaRPr lang="en-US" altLang="zh-CN" sz="2000" i="1">
              <a:solidFill>
                <a:srgbClr val="CCFF33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38921" name="Line 10"/>
          <p:cNvSpPr>
            <a:spLocks noChangeShapeType="1"/>
          </p:cNvSpPr>
          <p:nvPr/>
        </p:nvSpPr>
        <p:spPr bwMode="auto">
          <a:xfrm>
            <a:off x="4652963" y="3017838"/>
            <a:ext cx="2314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2" name="Text Box 11"/>
          <p:cNvSpPr txBox="1">
            <a:spLocks noChangeArrowheads="1"/>
          </p:cNvSpPr>
          <p:nvPr/>
        </p:nvSpPr>
        <p:spPr bwMode="auto">
          <a:xfrm>
            <a:off x="4270375" y="2640013"/>
            <a:ext cx="32448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ISOCPEUR" pitchFamily="34" charset="0"/>
              </a:rPr>
              <a:t> </a:t>
            </a:r>
            <a:r>
              <a:rPr lang="en-US" altLang="zh-CN" sz="2400" i="1">
                <a:latin typeface="ISOCPEUR" pitchFamily="34" charset="0"/>
              </a:rPr>
              <a:t>X                    O </a:t>
            </a:r>
          </a:p>
        </p:txBody>
      </p:sp>
      <p:sp>
        <p:nvSpPr>
          <p:cNvPr id="38923" name="Line 12"/>
          <p:cNvSpPr>
            <a:spLocks noChangeShapeType="1"/>
          </p:cNvSpPr>
          <p:nvPr/>
        </p:nvSpPr>
        <p:spPr bwMode="auto">
          <a:xfrm>
            <a:off x="5724525" y="2065338"/>
            <a:ext cx="0" cy="1862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4" name="Line 13"/>
          <p:cNvSpPr>
            <a:spLocks noChangeShapeType="1"/>
          </p:cNvSpPr>
          <p:nvPr/>
        </p:nvSpPr>
        <p:spPr bwMode="auto">
          <a:xfrm>
            <a:off x="6980238" y="1530350"/>
            <a:ext cx="0" cy="308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5" name="Text Box 14"/>
          <p:cNvSpPr txBox="1">
            <a:spLocks noChangeArrowheads="1"/>
          </p:cNvSpPr>
          <p:nvPr/>
        </p:nvSpPr>
        <p:spPr bwMode="auto">
          <a:xfrm>
            <a:off x="6626225" y="1206500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Z </a:t>
            </a:r>
          </a:p>
        </p:txBody>
      </p:sp>
      <p:sp>
        <p:nvSpPr>
          <p:cNvPr id="38926" name="Text Box 15"/>
          <p:cNvSpPr txBox="1">
            <a:spLocks noChangeArrowheads="1"/>
          </p:cNvSpPr>
          <p:nvPr/>
        </p:nvSpPr>
        <p:spPr bwMode="auto">
          <a:xfrm>
            <a:off x="6894513" y="4387850"/>
            <a:ext cx="55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</a:t>
            </a:r>
            <a:r>
              <a:rPr lang="en-US" altLang="zh-CN" sz="2400" i="1" baseline="-12000">
                <a:latin typeface="ISOCPEUR" pitchFamily="34" charset="0"/>
              </a:rPr>
              <a:t>H</a:t>
            </a:r>
            <a:r>
              <a:rPr lang="en-US" altLang="zh-CN" sz="2400" i="1" baseline="-25000">
                <a:latin typeface="ISOCPEUR" pitchFamily="34" charset="0"/>
              </a:rPr>
              <a:t> </a:t>
            </a:r>
          </a:p>
        </p:txBody>
      </p:sp>
      <p:sp>
        <p:nvSpPr>
          <p:cNvPr id="38927" name="Text Box 16"/>
          <p:cNvSpPr txBox="1">
            <a:spLocks noChangeArrowheads="1"/>
          </p:cNvSpPr>
          <p:nvPr/>
        </p:nvSpPr>
        <p:spPr bwMode="auto">
          <a:xfrm>
            <a:off x="8628063" y="2597150"/>
            <a:ext cx="515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</a:t>
            </a:r>
            <a:r>
              <a:rPr lang="en-US" altLang="zh-CN" sz="2400" i="1" baseline="-12000">
                <a:latin typeface="ISOCPEUR" pitchFamily="34" charset="0"/>
              </a:rPr>
              <a:t>W</a:t>
            </a:r>
          </a:p>
        </p:txBody>
      </p:sp>
      <p:sp>
        <p:nvSpPr>
          <p:cNvPr id="38928" name="Line 17"/>
          <p:cNvSpPr>
            <a:spLocks noChangeShapeType="1"/>
          </p:cNvSpPr>
          <p:nvPr/>
        </p:nvSpPr>
        <p:spPr bwMode="auto">
          <a:xfrm>
            <a:off x="5722938" y="2044700"/>
            <a:ext cx="2266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9" name="Line 18"/>
          <p:cNvSpPr>
            <a:spLocks noChangeShapeType="1"/>
          </p:cNvSpPr>
          <p:nvPr/>
        </p:nvSpPr>
        <p:spPr bwMode="auto">
          <a:xfrm>
            <a:off x="5722938" y="3968750"/>
            <a:ext cx="1257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0" name="Line 19"/>
          <p:cNvSpPr>
            <a:spLocks noChangeShapeType="1"/>
          </p:cNvSpPr>
          <p:nvPr/>
        </p:nvSpPr>
        <p:spPr bwMode="auto">
          <a:xfrm>
            <a:off x="7970838" y="2044700"/>
            <a:ext cx="0" cy="97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1" name="Text Box 21"/>
          <p:cNvSpPr txBox="1">
            <a:spLocks noChangeArrowheads="1"/>
          </p:cNvSpPr>
          <p:nvPr/>
        </p:nvSpPr>
        <p:spPr bwMode="auto">
          <a:xfrm>
            <a:off x="7691438" y="1674813"/>
            <a:ext cx="404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  <p:sp>
        <p:nvSpPr>
          <p:cNvPr id="38932" name="Text Box 22"/>
          <p:cNvSpPr txBox="1">
            <a:spLocks noChangeArrowheads="1"/>
          </p:cNvSpPr>
          <p:nvPr/>
        </p:nvSpPr>
        <p:spPr bwMode="auto">
          <a:xfrm>
            <a:off x="5272088" y="2598738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x</a:t>
            </a:r>
          </a:p>
        </p:txBody>
      </p:sp>
      <p:sp>
        <p:nvSpPr>
          <p:cNvPr id="38933" name="Text Box 35"/>
          <p:cNvSpPr txBox="1">
            <a:spLocks noChangeArrowheads="1"/>
          </p:cNvSpPr>
          <p:nvPr/>
        </p:nvSpPr>
        <p:spPr bwMode="auto">
          <a:xfrm>
            <a:off x="6980238" y="1655763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z</a:t>
            </a:r>
          </a:p>
        </p:txBody>
      </p:sp>
      <p:sp>
        <p:nvSpPr>
          <p:cNvPr id="38934" name="Text Box 36"/>
          <p:cNvSpPr txBox="1">
            <a:spLocks noChangeArrowheads="1"/>
          </p:cNvSpPr>
          <p:nvPr/>
        </p:nvSpPr>
        <p:spPr bwMode="auto">
          <a:xfrm>
            <a:off x="6904038" y="3756025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Y</a:t>
            </a:r>
            <a:r>
              <a:rPr lang="en-US" altLang="zh-CN" sz="1200" i="1" baseline="-40000">
                <a:latin typeface="ISOCPEUR" pitchFamily="34" charset="0"/>
                <a:ea typeface="仿宋_GB2312" pitchFamily="49" charset="-122"/>
              </a:rPr>
              <a:t>H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 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38935" name="Text Box 37"/>
          <p:cNvSpPr txBox="1">
            <a:spLocks noChangeArrowheads="1"/>
          </p:cNvSpPr>
          <p:nvPr/>
        </p:nvSpPr>
        <p:spPr bwMode="auto">
          <a:xfrm>
            <a:off x="7793038" y="2898775"/>
            <a:ext cx="747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Y</a:t>
            </a:r>
            <a:r>
              <a:rPr lang="en-US" altLang="zh-CN" sz="1200" i="1" baseline="-40000">
                <a:latin typeface="ISOCPEUR" pitchFamily="34" charset="0"/>
                <a:ea typeface="仿宋_GB2312" pitchFamily="49" charset="-122"/>
              </a:rPr>
              <a:t>W</a:t>
            </a:r>
          </a:p>
        </p:txBody>
      </p:sp>
      <p:sp>
        <p:nvSpPr>
          <p:cNvPr id="38936" name="Line 41"/>
          <p:cNvSpPr>
            <a:spLocks noChangeShapeType="1"/>
          </p:cNvSpPr>
          <p:nvPr/>
        </p:nvSpPr>
        <p:spPr bwMode="auto">
          <a:xfrm>
            <a:off x="6970713" y="3016250"/>
            <a:ext cx="1885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7" name="AutoShape 46"/>
          <p:cNvSpPr>
            <a:spLocks noChangeArrowheads="1"/>
          </p:cNvSpPr>
          <p:nvPr/>
        </p:nvSpPr>
        <p:spPr bwMode="auto">
          <a:xfrm>
            <a:off x="5688013" y="2005013"/>
            <a:ext cx="68262" cy="69850"/>
          </a:xfrm>
          <a:prstGeom prst="flowChartConnector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38938" name="AutoShape 47"/>
          <p:cNvSpPr>
            <a:spLocks noChangeArrowheads="1"/>
          </p:cNvSpPr>
          <p:nvPr/>
        </p:nvSpPr>
        <p:spPr bwMode="auto">
          <a:xfrm>
            <a:off x="7937500" y="2011363"/>
            <a:ext cx="68263" cy="69850"/>
          </a:xfrm>
          <a:prstGeom prst="flowChartConnector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21618" name="Text Box 1138"/>
          <p:cNvSpPr txBox="1">
            <a:spLocks noChangeArrowheads="1"/>
          </p:cNvSpPr>
          <p:nvPr/>
        </p:nvSpPr>
        <p:spPr bwMode="auto">
          <a:xfrm>
            <a:off x="182563" y="4484688"/>
            <a:ext cx="90995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点的</a:t>
            </a:r>
            <a:r>
              <a:rPr lang="en-US" altLang="zh-CN" sz="2800" b="0" i="1">
                <a:ea typeface="黑体" pitchFamily="2" charset="-122"/>
              </a:rPr>
              <a:t>x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坐标值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=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点与  面的距离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点的</a:t>
            </a:r>
            <a:r>
              <a:rPr lang="en-US" altLang="zh-CN" sz="2800" i="1">
                <a:ea typeface="黑体" pitchFamily="2" charset="-122"/>
              </a:rPr>
              <a:t>y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坐标值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=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点与  面的距离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点的</a:t>
            </a:r>
            <a:r>
              <a:rPr lang="en-US" altLang="zh-CN" sz="2800" i="1">
                <a:ea typeface="黑体" pitchFamily="2" charset="-122"/>
              </a:rPr>
              <a:t>z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坐标值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=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点与  面的距离</a:t>
            </a:r>
            <a:r>
              <a:rPr lang="zh-CN" altLang="en-US" sz="2800" u="sng">
                <a:latin typeface="黑体" pitchFamily="2" charset="-122"/>
                <a:ea typeface="黑体" pitchFamily="2" charset="-122"/>
              </a:rPr>
              <a:t>   </a:t>
            </a:r>
          </a:p>
        </p:txBody>
      </p:sp>
      <p:sp>
        <p:nvSpPr>
          <p:cNvPr id="21619" name="Text Box 1139"/>
          <p:cNvSpPr txBox="1">
            <a:spLocks noChangeArrowheads="1"/>
          </p:cNvSpPr>
          <p:nvPr/>
        </p:nvSpPr>
        <p:spPr bwMode="auto">
          <a:xfrm>
            <a:off x="3813175" y="4430713"/>
            <a:ext cx="604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W</a:t>
            </a:r>
          </a:p>
        </p:txBody>
      </p:sp>
      <p:sp>
        <p:nvSpPr>
          <p:cNvPr id="21620" name="Text Box 1140"/>
          <p:cNvSpPr txBox="1">
            <a:spLocks noChangeArrowheads="1"/>
          </p:cNvSpPr>
          <p:nvPr/>
        </p:nvSpPr>
        <p:spPr bwMode="auto">
          <a:xfrm>
            <a:off x="3822700" y="5307013"/>
            <a:ext cx="10795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H</a:t>
            </a:r>
          </a:p>
        </p:txBody>
      </p:sp>
      <p:sp>
        <p:nvSpPr>
          <p:cNvPr id="21621" name="Text Box 1141"/>
          <p:cNvSpPr txBox="1">
            <a:spLocks noChangeArrowheads="1"/>
          </p:cNvSpPr>
          <p:nvPr/>
        </p:nvSpPr>
        <p:spPr bwMode="auto">
          <a:xfrm>
            <a:off x="3810000" y="4881563"/>
            <a:ext cx="422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V</a:t>
            </a:r>
          </a:p>
        </p:txBody>
      </p:sp>
      <p:sp>
        <p:nvSpPr>
          <p:cNvPr id="21622" name="Text Box 1142"/>
          <p:cNvSpPr txBox="1">
            <a:spLocks noChangeArrowheads="1"/>
          </p:cNvSpPr>
          <p:nvPr/>
        </p:nvSpPr>
        <p:spPr bwMode="auto">
          <a:xfrm>
            <a:off x="6048375" y="2695575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FF0000"/>
                </a:solidFill>
                <a:ea typeface="黑体" pitchFamily="2" charset="-122"/>
              </a:rPr>
              <a:t>x</a:t>
            </a:r>
            <a:endParaRPr lang="en-US" altLang="zh-CN" sz="2000" u="sng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623" name="Text Box 1143"/>
          <p:cNvSpPr txBox="1">
            <a:spLocks noChangeArrowheads="1"/>
          </p:cNvSpPr>
          <p:nvPr/>
        </p:nvSpPr>
        <p:spPr bwMode="auto">
          <a:xfrm>
            <a:off x="6946900" y="2193925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FF0000"/>
                </a:solidFill>
                <a:ea typeface="黑体" pitchFamily="2" charset="-122"/>
              </a:rPr>
              <a:t>z</a:t>
            </a:r>
          </a:p>
        </p:txBody>
      </p:sp>
      <p:sp>
        <p:nvSpPr>
          <p:cNvPr id="21624" name="Text Box 1144"/>
          <p:cNvSpPr txBox="1">
            <a:spLocks noChangeArrowheads="1"/>
          </p:cNvSpPr>
          <p:nvPr/>
        </p:nvSpPr>
        <p:spPr bwMode="auto">
          <a:xfrm>
            <a:off x="6954838" y="3306763"/>
            <a:ext cx="412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 dirty="0">
                <a:solidFill>
                  <a:srgbClr val="FF0000"/>
                </a:solidFill>
                <a:ea typeface="黑体" pitchFamily="2" charset="-122"/>
              </a:rPr>
              <a:t>y</a:t>
            </a:r>
            <a:endParaRPr lang="en-US" altLang="zh-CN" sz="2000" u="sng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625" name="Text Box 1145"/>
          <p:cNvSpPr txBox="1">
            <a:spLocks noChangeArrowheads="1"/>
          </p:cNvSpPr>
          <p:nvPr/>
        </p:nvSpPr>
        <p:spPr bwMode="auto">
          <a:xfrm>
            <a:off x="7316788" y="2965450"/>
            <a:ext cx="412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 dirty="0">
                <a:solidFill>
                  <a:srgbClr val="FF0000"/>
                </a:solidFill>
                <a:ea typeface="黑体" pitchFamily="2" charset="-122"/>
              </a:rPr>
              <a:t>y</a:t>
            </a:r>
            <a:endParaRPr lang="en-US" altLang="zh-CN" sz="2000" u="sng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626" name="Text Box 1146"/>
          <p:cNvSpPr txBox="1">
            <a:spLocks noChangeArrowheads="1"/>
          </p:cNvSpPr>
          <p:nvPr/>
        </p:nvSpPr>
        <p:spPr bwMode="auto">
          <a:xfrm>
            <a:off x="365125" y="3889375"/>
            <a:ext cx="5011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点的坐标与投影的关系：</a:t>
            </a:r>
          </a:p>
        </p:txBody>
      </p:sp>
      <p:sp>
        <p:nvSpPr>
          <p:cNvPr id="21628" name="Text Box 1148"/>
          <p:cNvSpPr txBox="1">
            <a:spLocks noChangeArrowheads="1"/>
          </p:cNvSpPr>
          <p:nvPr/>
        </p:nvSpPr>
        <p:spPr bwMode="auto">
          <a:xfrm>
            <a:off x="5853113" y="3852863"/>
            <a:ext cx="647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黑体" pitchFamily="2" charset="-122"/>
              </a:rPr>
              <a:t>(</a:t>
            </a:r>
            <a:r>
              <a:rPr lang="en-US" altLang="zh-CN" sz="2000" i="1">
                <a:ea typeface="黑体" pitchFamily="2" charset="-122"/>
              </a:rPr>
              <a:t>x,y</a:t>
            </a:r>
            <a:r>
              <a:rPr lang="en-US" altLang="zh-CN" sz="2000">
                <a:ea typeface="黑体" pitchFamily="2" charset="-122"/>
              </a:rPr>
              <a:t>)</a:t>
            </a:r>
            <a:endParaRPr lang="en-US" altLang="zh-CN" sz="2000" u="sng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629" name="Text Box 1149"/>
          <p:cNvSpPr txBox="1">
            <a:spLocks noChangeArrowheads="1"/>
          </p:cNvSpPr>
          <p:nvPr/>
        </p:nvSpPr>
        <p:spPr bwMode="auto">
          <a:xfrm>
            <a:off x="5924550" y="1663700"/>
            <a:ext cx="647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黑体" pitchFamily="2" charset="-122"/>
              </a:rPr>
              <a:t>(</a:t>
            </a:r>
            <a:r>
              <a:rPr lang="en-US" altLang="zh-CN" sz="2000" i="1">
                <a:ea typeface="黑体" pitchFamily="2" charset="-122"/>
              </a:rPr>
              <a:t>x,z</a:t>
            </a:r>
            <a:r>
              <a:rPr lang="en-US" altLang="zh-CN" sz="2000">
                <a:ea typeface="黑体" pitchFamily="2" charset="-122"/>
              </a:rPr>
              <a:t>)</a:t>
            </a:r>
            <a:endParaRPr lang="en-US" altLang="zh-CN" sz="2000" u="sng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630" name="Text Box 1150"/>
          <p:cNvSpPr txBox="1">
            <a:spLocks noChangeArrowheads="1"/>
          </p:cNvSpPr>
          <p:nvPr/>
        </p:nvSpPr>
        <p:spPr bwMode="auto">
          <a:xfrm>
            <a:off x="7958138" y="1685925"/>
            <a:ext cx="647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黑体" pitchFamily="2" charset="-122"/>
              </a:rPr>
              <a:t>(</a:t>
            </a:r>
            <a:r>
              <a:rPr lang="en-US" altLang="zh-CN" sz="2000" i="1">
                <a:ea typeface="黑体" pitchFamily="2" charset="-122"/>
              </a:rPr>
              <a:t>y,z</a:t>
            </a:r>
            <a:r>
              <a:rPr lang="en-US" altLang="zh-CN" sz="2000">
                <a:ea typeface="黑体" pitchFamily="2" charset="-122"/>
              </a:rPr>
              <a:t>)</a:t>
            </a:r>
            <a:endParaRPr lang="en-US" altLang="zh-CN" sz="2000" u="sng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631" name="Text Box 1151"/>
          <p:cNvSpPr txBox="1">
            <a:spLocks noChangeArrowheads="1"/>
          </p:cNvSpPr>
          <p:nvPr/>
        </p:nvSpPr>
        <p:spPr bwMode="auto">
          <a:xfrm>
            <a:off x="6451600" y="4946650"/>
            <a:ext cx="1228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ea typeface="黑体" pitchFamily="2" charset="-122"/>
              </a:rPr>
              <a:t>A</a:t>
            </a:r>
            <a:r>
              <a:rPr lang="en-US" altLang="zh-CN" sz="2000">
                <a:ea typeface="黑体" pitchFamily="2" charset="-122"/>
              </a:rPr>
              <a:t>(</a:t>
            </a:r>
            <a:r>
              <a:rPr lang="en-US" altLang="zh-CN" sz="2000" i="1">
                <a:ea typeface="黑体" pitchFamily="2" charset="-122"/>
              </a:rPr>
              <a:t>x,y,z</a:t>
            </a:r>
            <a:r>
              <a:rPr lang="en-US" altLang="zh-CN" sz="2000">
                <a:ea typeface="黑体" pitchFamily="2" charset="-122"/>
              </a:rPr>
              <a:t>)</a:t>
            </a:r>
            <a:endParaRPr lang="en-US" altLang="zh-CN" sz="2000" u="sng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4" grpId="0" autoUpdateAnimBg="0"/>
      <p:bldP spid="21618" grpId="0" autoUpdateAnimBg="0"/>
      <p:bldP spid="21619" grpId="0" autoUpdateAnimBg="0"/>
      <p:bldP spid="21620" grpId="0" autoUpdateAnimBg="0"/>
      <p:bldP spid="21621" grpId="0" autoUpdateAnimBg="0"/>
      <p:bldP spid="21622" grpId="0" autoUpdateAnimBg="0"/>
      <p:bldP spid="21623" grpId="0" autoUpdateAnimBg="0"/>
      <p:bldP spid="21624" grpId="0" autoUpdateAnimBg="0"/>
      <p:bldP spid="21625" grpId="0" autoUpdateAnimBg="0"/>
      <p:bldP spid="21626" grpId="0" autoUpdateAnimBg="0"/>
      <p:bldP spid="21628" grpId="0" autoUpdateAnimBg="0"/>
      <p:bldP spid="21629" grpId="0" autoUpdateAnimBg="0"/>
      <p:bldP spid="21630" grpId="0" autoUpdateAnimBg="0"/>
      <p:bldP spid="2163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E65C6-CBBF-407B-8777-9F949361E858}" type="slidenum">
              <a:rPr lang="en-US" altLang="zh-CN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341313" y="293688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三．两点间的相对位置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632325" y="3702050"/>
            <a:ext cx="3967163" cy="2951163"/>
            <a:chOff x="2549" y="550"/>
            <a:chExt cx="3076" cy="2290"/>
          </a:xfrm>
        </p:grpSpPr>
        <p:sp>
          <p:nvSpPr>
            <p:cNvPr id="39977" name="AutoShape 4"/>
            <p:cNvSpPr>
              <a:spLocks noChangeArrowheads="1"/>
            </p:cNvSpPr>
            <p:nvPr/>
          </p:nvSpPr>
          <p:spPr bwMode="auto">
            <a:xfrm>
              <a:off x="3441" y="2367"/>
              <a:ext cx="43" cy="43"/>
            </a:xfrm>
            <a:prstGeom prst="flowChartConnector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9978" name="Text Box 5"/>
            <p:cNvSpPr txBox="1">
              <a:spLocks noChangeArrowheads="1"/>
            </p:cNvSpPr>
            <p:nvPr/>
          </p:nvSpPr>
          <p:spPr bwMode="auto">
            <a:xfrm>
              <a:off x="3428" y="2183"/>
              <a:ext cx="23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endParaRPr lang="en-US" altLang="zh-CN" sz="2000" i="1">
                <a:solidFill>
                  <a:srgbClr val="CCFF33"/>
                </a:solidFill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39979" name="AutoShape 6"/>
            <p:cNvSpPr>
              <a:spLocks noChangeArrowheads="1"/>
            </p:cNvSpPr>
            <p:nvPr/>
          </p:nvSpPr>
          <p:spPr bwMode="auto">
            <a:xfrm>
              <a:off x="3441" y="2264"/>
              <a:ext cx="43" cy="44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9980" name="Text Box 7"/>
            <p:cNvSpPr txBox="1">
              <a:spLocks noChangeArrowheads="1"/>
            </p:cNvSpPr>
            <p:nvPr/>
          </p:nvSpPr>
          <p:spPr bwMode="auto">
            <a:xfrm>
              <a:off x="3419" y="819"/>
              <a:ext cx="341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000" i="1">
                <a:solidFill>
                  <a:srgbClr val="CCFF33"/>
                </a:solidFill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39981" name="Line 8"/>
            <p:cNvSpPr>
              <a:spLocks noChangeShapeType="1"/>
            </p:cNvSpPr>
            <p:nvPr/>
          </p:nvSpPr>
          <p:spPr bwMode="auto">
            <a:xfrm>
              <a:off x="2790" y="1691"/>
              <a:ext cx="14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2" name="Text Box 9"/>
            <p:cNvSpPr txBox="1">
              <a:spLocks noChangeArrowheads="1"/>
            </p:cNvSpPr>
            <p:nvPr/>
          </p:nvSpPr>
          <p:spPr bwMode="auto">
            <a:xfrm>
              <a:off x="2549" y="1456"/>
              <a:ext cx="174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ISOCPEUR" pitchFamily="34" charset="0"/>
                </a:rPr>
                <a:t> </a:t>
              </a:r>
              <a:r>
                <a:rPr lang="en-US" altLang="zh-CN" sz="1800" i="1">
                  <a:latin typeface="ISOCPEUR" pitchFamily="34" charset="0"/>
                </a:rPr>
                <a:t>X                         O </a:t>
              </a:r>
            </a:p>
          </p:txBody>
        </p:sp>
        <p:sp>
          <p:nvSpPr>
            <p:cNvPr id="39983" name="Line 10"/>
            <p:cNvSpPr>
              <a:spLocks noChangeShapeType="1"/>
            </p:cNvSpPr>
            <p:nvPr/>
          </p:nvSpPr>
          <p:spPr bwMode="auto">
            <a:xfrm>
              <a:off x="3465" y="1091"/>
              <a:ext cx="0" cy="1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4" name="Line 11"/>
            <p:cNvSpPr>
              <a:spLocks noChangeShapeType="1"/>
            </p:cNvSpPr>
            <p:nvPr/>
          </p:nvSpPr>
          <p:spPr bwMode="auto">
            <a:xfrm>
              <a:off x="4256" y="754"/>
              <a:ext cx="0" cy="1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5" name="Text Box 12"/>
            <p:cNvSpPr txBox="1">
              <a:spLocks noChangeArrowheads="1"/>
            </p:cNvSpPr>
            <p:nvPr/>
          </p:nvSpPr>
          <p:spPr bwMode="auto">
            <a:xfrm>
              <a:off x="4027" y="550"/>
              <a:ext cx="309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Z </a:t>
              </a:r>
            </a:p>
          </p:txBody>
        </p:sp>
        <p:sp>
          <p:nvSpPr>
            <p:cNvPr id="39986" name="Text Box 13"/>
            <p:cNvSpPr txBox="1">
              <a:spLocks noChangeArrowheads="1"/>
            </p:cNvSpPr>
            <p:nvPr/>
          </p:nvSpPr>
          <p:spPr bwMode="auto">
            <a:xfrm>
              <a:off x="4198" y="2556"/>
              <a:ext cx="360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1800" i="1" baseline="-12000">
                  <a:latin typeface="ISOCPEUR" pitchFamily="34" charset="0"/>
                </a:rPr>
                <a:t>H</a:t>
              </a:r>
              <a:r>
                <a:rPr lang="en-US" altLang="zh-CN" sz="1800" i="1" baseline="-25000">
                  <a:latin typeface="ISOCPEUR" pitchFamily="34" charset="0"/>
                </a:rPr>
                <a:t> </a:t>
              </a:r>
            </a:p>
          </p:txBody>
        </p:sp>
        <p:sp>
          <p:nvSpPr>
            <p:cNvPr id="39987" name="Text Box 14"/>
            <p:cNvSpPr txBox="1">
              <a:spLocks noChangeArrowheads="1"/>
            </p:cNvSpPr>
            <p:nvPr/>
          </p:nvSpPr>
          <p:spPr bwMode="auto">
            <a:xfrm>
              <a:off x="5288" y="1426"/>
              <a:ext cx="33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1800" i="1" baseline="-12000">
                  <a:latin typeface="ISOCPEUR" pitchFamily="34" charset="0"/>
                </a:rPr>
                <a:t>W</a:t>
              </a:r>
            </a:p>
          </p:txBody>
        </p:sp>
        <p:sp>
          <p:nvSpPr>
            <p:cNvPr id="39988" name="Line 15"/>
            <p:cNvSpPr>
              <a:spLocks noChangeShapeType="1"/>
            </p:cNvSpPr>
            <p:nvPr/>
          </p:nvSpPr>
          <p:spPr bwMode="auto">
            <a:xfrm>
              <a:off x="3464" y="1078"/>
              <a:ext cx="1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9" name="Line 16"/>
            <p:cNvSpPr>
              <a:spLocks noChangeShapeType="1"/>
            </p:cNvSpPr>
            <p:nvPr/>
          </p:nvSpPr>
          <p:spPr bwMode="auto">
            <a:xfrm>
              <a:off x="3464" y="2290"/>
              <a:ext cx="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0" name="Line 17"/>
            <p:cNvSpPr>
              <a:spLocks noChangeShapeType="1"/>
            </p:cNvSpPr>
            <p:nvPr/>
          </p:nvSpPr>
          <p:spPr bwMode="auto">
            <a:xfrm>
              <a:off x="4880" y="1078"/>
              <a:ext cx="0" cy="6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1" name="Text Box 18"/>
            <p:cNvSpPr txBox="1">
              <a:spLocks noChangeArrowheads="1"/>
            </p:cNvSpPr>
            <p:nvPr/>
          </p:nvSpPr>
          <p:spPr bwMode="auto">
            <a:xfrm>
              <a:off x="4675" y="817"/>
              <a:ext cx="31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a”</a:t>
              </a:r>
            </a:p>
          </p:txBody>
        </p:sp>
        <p:sp>
          <p:nvSpPr>
            <p:cNvPr id="39992" name="Text Box 19"/>
            <p:cNvSpPr txBox="1">
              <a:spLocks noChangeArrowheads="1"/>
            </p:cNvSpPr>
            <p:nvPr/>
          </p:nvSpPr>
          <p:spPr bwMode="auto">
            <a:xfrm>
              <a:off x="3153" y="1399"/>
              <a:ext cx="29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x</a:t>
              </a:r>
            </a:p>
          </p:txBody>
        </p:sp>
        <p:sp>
          <p:nvSpPr>
            <p:cNvPr id="39993" name="Text Box 20"/>
            <p:cNvSpPr txBox="1">
              <a:spLocks noChangeArrowheads="1"/>
            </p:cNvSpPr>
            <p:nvPr/>
          </p:nvSpPr>
          <p:spPr bwMode="auto">
            <a:xfrm>
              <a:off x="4229" y="803"/>
              <a:ext cx="29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z</a:t>
              </a:r>
            </a:p>
          </p:txBody>
        </p:sp>
        <p:sp>
          <p:nvSpPr>
            <p:cNvPr id="39994" name="Text Box 21"/>
            <p:cNvSpPr txBox="1">
              <a:spLocks noChangeArrowheads="1"/>
            </p:cNvSpPr>
            <p:nvPr/>
          </p:nvSpPr>
          <p:spPr bwMode="auto">
            <a:xfrm>
              <a:off x="4208" y="2128"/>
              <a:ext cx="435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Y</a:t>
              </a:r>
              <a:r>
                <a:rPr lang="en-US" altLang="zh-CN" sz="1200" i="1" baseline="-40000">
                  <a:latin typeface="ISOCPEUR" pitchFamily="34" charset="0"/>
                  <a:ea typeface="仿宋_GB2312" pitchFamily="49" charset="-122"/>
                </a:rPr>
                <a:t>H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 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9995" name="Text Box 22"/>
            <p:cNvSpPr txBox="1">
              <a:spLocks noChangeArrowheads="1"/>
            </p:cNvSpPr>
            <p:nvPr/>
          </p:nvSpPr>
          <p:spPr bwMode="auto">
            <a:xfrm>
              <a:off x="4768" y="1588"/>
              <a:ext cx="47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Y</a:t>
              </a:r>
              <a:r>
                <a:rPr lang="en-US" altLang="zh-CN" sz="1200" i="1" baseline="-40000">
                  <a:latin typeface="ISOCPEUR" pitchFamily="34" charset="0"/>
                  <a:ea typeface="仿宋_GB2312" pitchFamily="49" charset="-122"/>
                </a:rPr>
                <a:t>W</a:t>
              </a:r>
            </a:p>
          </p:txBody>
        </p:sp>
        <p:sp>
          <p:nvSpPr>
            <p:cNvPr id="39996" name="Line 23"/>
            <p:cNvSpPr>
              <a:spLocks noChangeShapeType="1"/>
            </p:cNvSpPr>
            <p:nvPr/>
          </p:nvSpPr>
          <p:spPr bwMode="auto">
            <a:xfrm>
              <a:off x="4250" y="1690"/>
              <a:ext cx="1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7" name="AutoShape 24"/>
            <p:cNvSpPr>
              <a:spLocks noChangeArrowheads="1"/>
            </p:cNvSpPr>
            <p:nvPr/>
          </p:nvSpPr>
          <p:spPr bwMode="auto">
            <a:xfrm>
              <a:off x="3442" y="1053"/>
              <a:ext cx="43" cy="44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9998" name="AutoShape 25"/>
            <p:cNvSpPr>
              <a:spLocks noChangeArrowheads="1"/>
            </p:cNvSpPr>
            <p:nvPr/>
          </p:nvSpPr>
          <p:spPr bwMode="auto">
            <a:xfrm>
              <a:off x="4859" y="1057"/>
              <a:ext cx="43" cy="44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</p:grpSp>
      <p:sp>
        <p:nvSpPr>
          <p:cNvPr id="167962" name="Text Box 26"/>
          <p:cNvSpPr txBox="1">
            <a:spLocks noChangeArrowheads="1"/>
          </p:cNvSpPr>
          <p:nvPr/>
        </p:nvSpPr>
        <p:spPr bwMode="auto">
          <a:xfrm>
            <a:off x="427038" y="1238250"/>
            <a:ext cx="8716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方位关系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:</a:t>
            </a:r>
          </a:p>
        </p:txBody>
      </p:sp>
      <p:sp>
        <p:nvSpPr>
          <p:cNvPr id="167963" name="Text Box 27"/>
          <p:cNvSpPr txBox="1">
            <a:spLocks noChangeArrowheads="1"/>
          </p:cNvSpPr>
          <p:nvPr/>
        </p:nvSpPr>
        <p:spPr bwMode="auto">
          <a:xfrm>
            <a:off x="5775325" y="911225"/>
            <a:ext cx="414338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上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下</a:t>
            </a:r>
          </a:p>
        </p:txBody>
      </p:sp>
      <p:sp>
        <p:nvSpPr>
          <p:cNvPr id="167964" name="Text Box 28"/>
          <p:cNvSpPr txBox="1">
            <a:spLocks noChangeArrowheads="1"/>
          </p:cNvSpPr>
          <p:nvPr/>
        </p:nvSpPr>
        <p:spPr bwMode="auto">
          <a:xfrm>
            <a:off x="5422900" y="1350963"/>
            <a:ext cx="13414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左     右</a:t>
            </a:r>
          </a:p>
        </p:txBody>
      </p:sp>
      <p:sp>
        <p:nvSpPr>
          <p:cNvPr id="167965" name="Text Box 29"/>
          <p:cNvSpPr txBox="1">
            <a:spLocks noChangeArrowheads="1"/>
          </p:cNvSpPr>
          <p:nvPr/>
        </p:nvSpPr>
        <p:spPr bwMode="auto">
          <a:xfrm>
            <a:off x="5411788" y="2560638"/>
            <a:ext cx="1314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左     右  </a:t>
            </a:r>
          </a:p>
        </p:txBody>
      </p:sp>
      <p:sp>
        <p:nvSpPr>
          <p:cNvPr id="167966" name="Text Box 30"/>
          <p:cNvSpPr txBox="1">
            <a:spLocks noChangeArrowheads="1"/>
          </p:cNvSpPr>
          <p:nvPr/>
        </p:nvSpPr>
        <p:spPr bwMode="auto">
          <a:xfrm>
            <a:off x="5800725" y="2282825"/>
            <a:ext cx="4127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黑体" pitchFamily="2" charset="-122"/>
                <a:ea typeface="黑体" pitchFamily="2" charset="-122"/>
              </a:rPr>
              <a:t>后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黑体" pitchFamily="2" charset="-122"/>
                <a:ea typeface="黑体" pitchFamily="2" charset="-122"/>
              </a:rPr>
              <a:t>前</a:t>
            </a:r>
          </a:p>
        </p:txBody>
      </p:sp>
      <p:sp>
        <p:nvSpPr>
          <p:cNvPr id="167967" name="Text Box 31"/>
          <p:cNvSpPr txBox="1">
            <a:spLocks noChangeArrowheads="1"/>
          </p:cNvSpPr>
          <p:nvPr/>
        </p:nvSpPr>
        <p:spPr bwMode="auto">
          <a:xfrm>
            <a:off x="6943725" y="1376363"/>
            <a:ext cx="1130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黑体" pitchFamily="2" charset="-122"/>
                <a:ea typeface="黑体" pitchFamily="2" charset="-122"/>
              </a:rPr>
              <a:t>后    前</a:t>
            </a:r>
          </a:p>
        </p:txBody>
      </p:sp>
      <p:sp>
        <p:nvSpPr>
          <p:cNvPr id="167968" name="Text Box 32"/>
          <p:cNvSpPr txBox="1">
            <a:spLocks noChangeArrowheads="1"/>
          </p:cNvSpPr>
          <p:nvPr/>
        </p:nvSpPr>
        <p:spPr bwMode="auto">
          <a:xfrm>
            <a:off x="7270750" y="911225"/>
            <a:ext cx="414338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上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下</a:t>
            </a:r>
          </a:p>
        </p:txBody>
      </p:sp>
      <p:sp>
        <p:nvSpPr>
          <p:cNvPr id="167969" name="Text Box 33"/>
          <p:cNvSpPr txBox="1">
            <a:spLocks noChangeArrowheads="1"/>
          </p:cNvSpPr>
          <p:nvPr/>
        </p:nvSpPr>
        <p:spPr bwMode="auto">
          <a:xfrm>
            <a:off x="482600" y="3294063"/>
            <a:ext cx="8661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例：已知点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12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10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），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在点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A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的下方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5 mm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左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0 mm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、前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0 mm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，试完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成</a:t>
            </a:r>
            <a:r>
              <a:rPr lang="zh-CN" altLang="en-US" sz="2400">
                <a:ea typeface="黑体" pitchFamily="2" charset="-122"/>
              </a:rPr>
              <a:t>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B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的投影。</a:t>
            </a:r>
          </a:p>
        </p:txBody>
      </p:sp>
      <p:sp>
        <p:nvSpPr>
          <p:cNvPr id="167970" name="Text Box 34"/>
          <p:cNvSpPr txBox="1">
            <a:spLocks noChangeArrowheads="1"/>
          </p:cNvSpPr>
          <p:nvPr/>
        </p:nvSpPr>
        <p:spPr bwMode="auto">
          <a:xfrm>
            <a:off x="427038" y="2324100"/>
            <a:ext cx="8716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距观察者近的方位</a:t>
            </a:r>
            <a:r>
              <a:rPr lang="en-US" altLang="zh-CN" sz="2400">
                <a:ea typeface="黑体" pitchFamily="2" charset="-122"/>
              </a:rPr>
              <a:t>: </a:t>
            </a:r>
            <a:r>
              <a:rPr lang="zh-CN" altLang="en-US" sz="2800">
                <a:ea typeface="黑体" pitchFamily="2" charset="-122"/>
              </a:rPr>
              <a:t>前</a:t>
            </a:r>
            <a:r>
              <a:rPr lang="zh-CN" altLang="en-US" sz="2400">
                <a:ea typeface="黑体" pitchFamily="2" charset="-122"/>
              </a:rPr>
              <a:t>、</a:t>
            </a:r>
            <a:r>
              <a:rPr lang="zh-CN" altLang="en-US" sz="2800">
                <a:ea typeface="黑体" pitchFamily="2" charset="-122"/>
              </a:rPr>
              <a:t>左</a:t>
            </a:r>
            <a:r>
              <a:rPr lang="zh-CN" altLang="en-US" sz="2400">
                <a:ea typeface="黑体" pitchFamily="2" charset="-122"/>
              </a:rPr>
              <a:t>、</a:t>
            </a:r>
            <a:r>
              <a:rPr lang="zh-CN" altLang="en-US" sz="2800">
                <a:ea typeface="黑体" pitchFamily="2" charset="-122"/>
              </a:rPr>
              <a:t>上</a:t>
            </a:r>
          </a:p>
        </p:txBody>
      </p:sp>
      <p:sp>
        <p:nvSpPr>
          <p:cNvPr id="167971" name="Text Box 35"/>
          <p:cNvSpPr txBox="1">
            <a:spLocks noChangeArrowheads="1"/>
          </p:cNvSpPr>
          <p:nvPr/>
        </p:nvSpPr>
        <p:spPr bwMode="auto">
          <a:xfrm>
            <a:off x="5322888" y="4537075"/>
            <a:ext cx="5445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18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67972" name="Text Box 36"/>
          <p:cNvSpPr txBox="1">
            <a:spLocks noChangeArrowheads="1"/>
          </p:cNvSpPr>
          <p:nvPr/>
        </p:nvSpPr>
        <p:spPr bwMode="auto">
          <a:xfrm>
            <a:off x="5805488" y="5848350"/>
            <a:ext cx="763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1800" i="1">
                <a:latin typeface="ISOCPEUR" pitchFamily="34" charset="0"/>
              </a:rPr>
              <a:t>b  </a:t>
            </a:r>
            <a:endParaRPr lang="en-US" altLang="zh-CN" sz="1800" b="0">
              <a:latin typeface="ISOCPEUR" pitchFamily="34" charset="0"/>
            </a:endParaRPr>
          </a:p>
        </p:txBody>
      </p:sp>
      <p:sp>
        <p:nvSpPr>
          <p:cNvPr id="167973" name="Line 37"/>
          <p:cNvSpPr>
            <a:spLocks noChangeShapeType="1"/>
          </p:cNvSpPr>
          <p:nvPr/>
        </p:nvSpPr>
        <p:spPr bwMode="auto">
          <a:xfrm>
            <a:off x="5810250" y="4778375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74" name="AutoShape 38"/>
          <p:cNvSpPr>
            <a:spLocks noChangeArrowheads="1"/>
          </p:cNvSpPr>
          <p:nvPr/>
        </p:nvSpPr>
        <p:spPr bwMode="auto">
          <a:xfrm>
            <a:off x="5789613" y="4337050"/>
            <a:ext cx="53975" cy="53975"/>
          </a:xfrm>
          <a:prstGeom prst="flowChartConnector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67975" name="Text Box 39"/>
          <p:cNvSpPr txBox="1">
            <a:spLocks noChangeArrowheads="1"/>
          </p:cNvSpPr>
          <p:nvPr/>
        </p:nvSpPr>
        <p:spPr bwMode="auto">
          <a:xfrm>
            <a:off x="7480300" y="4441825"/>
            <a:ext cx="747713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800" i="1">
              <a:latin typeface="ISOCPEUR" pitchFamily="34" charset="0"/>
            </a:endParaRPr>
          </a:p>
        </p:txBody>
      </p:sp>
      <p:sp>
        <p:nvSpPr>
          <p:cNvPr id="167976" name="AutoShape 40"/>
          <p:cNvSpPr>
            <a:spLocks noChangeArrowheads="1"/>
          </p:cNvSpPr>
          <p:nvPr/>
        </p:nvSpPr>
        <p:spPr bwMode="auto">
          <a:xfrm>
            <a:off x="7615238" y="4754563"/>
            <a:ext cx="53975" cy="53975"/>
          </a:xfrm>
          <a:prstGeom prst="flowChartConnector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67977" name="Text Box 41"/>
          <p:cNvSpPr txBox="1">
            <a:spLocks noChangeArrowheads="1"/>
          </p:cNvSpPr>
          <p:nvPr/>
        </p:nvSpPr>
        <p:spPr bwMode="auto">
          <a:xfrm>
            <a:off x="5765800" y="4403725"/>
            <a:ext cx="738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  <a:ea typeface="黑体" pitchFamily="2" charset="-122"/>
              </a:rPr>
              <a:t>5</a:t>
            </a:r>
          </a:p>
        </p:txBody>
      </p:sp>
      <p:sp>
        <p:nvSpPr>
          <p:cNvPr id="167978" name="Text Box 42"/>
          <p:cNvSpPr txBox="1">
            <a:spLocks noChangeArrowheads="1"/>
          </p:cNvSpPr>
          <p:nvPr/>
        </p:nvSpPr>
        <p:spPr bwMode="auto">
          <a:xfrm>
            <a:off x="482600" y="4883150"/>
            <a:ext cx="4648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分析：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在点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A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的正下方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5 mm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即</a:t>
            </a:r>
            <a:r>
              <a:rPr lang="zh-CN" altLang="en-US" sz="2400">
                <a:ea typeface="黑体" pitchFamily="2" charset="-122"/>
              </a:rPr>
              <a:t>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12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）。</a:t>
            </a:r>
          </a:p>
        </p:txBody>
      </p:sp>
      <p:grpSp>
        <p:nvGrpSpPr>
          <p:cNvPr id="39961" name="Group 46"/>
          <p:cNvGrpSpPr>
            <a:grpSpLocks/>
          </p:cNvGrpSpPr>
          <p:nvPr/>
        </p:nvGrpSpPr>
        <p:grpSpPr bwMode="auto">
          <a:xfrm>
            <a:off x="4791075" y="622300"/>
            <a:ext cx="3698875" cy="2959100"/>
            <a:chOff x="3018" y="392"/>
            <a:chExt cx="2330" cy="1864"/>
          </a:xfrm>
        </p:grpSpPr>
        <p:sp>
          <p:nvSpPr>
            <p:cNvPr id="39963" name="Line 47"/>
            <p:cNvSpPr>
              <a:spLocks noChangeShapeType="1"/>
            </p:cNvSpPr>
            <p:nvPr/>
          </p:nvSpPr>
          <p:spPr bwMode="auto">
            <a:xfrm>
              <a:off x="3286" y="1320"/>
              <a:ext cx="1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4" name="Text Box 48"/>
            <p:cNvSpPr txBox="1">
              <a:spLocks noChangeArrowheads="1"/>
            </p:cNvSpPr>
            <p:nvPr/>
          </p:nvSpPr>
          <p:spPr bwMode="auto">
            <a:xfrm>
              <a:off x="3018" y="1079"/>
              <a:ext cx="13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 </a:t>
              </a:r>
              <a:r>
                <a:rPr lang="en-US" altLang="zh-CN" sz="1800" i="1">
                  <a:latin typeface="ISOCPEUR" pitchFamily="34" charset="0"/>
                </a:rPr>
                <a:t>X                      O </a:t>
              </a:r>
            </a:p>
          </p:txBody>
        </p:sp>
        <p:sp>
          <p:nvSpPr>
            <p:cNvPr id="39965" name="Line 49"/>
            <p:cNvSpPr>
              <a:spLocks noChangeShapeType="1"/>
            </p:cNvSpPr>
            <p:nvPr/>
          </p:nvSpPr>
          <p:spPr bwMode="auto">
            <a:xfrm>
              <a:off x="4305" y="608"/>
              <a:ext cx="0" cy="15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6" name="Text Box 50"/>
            <p:cNvSpPr txBox="1">
              <a:spLocks noChangeArrowheads="1"/>
            </p:cNvSpPr>
            <p:nvPr/>
          </p:nvSpPr>
          <p:spPr bwMode="auto">
            <a:xfrm>
              <a:off x="4173" y="392"/>
              <a:ext cx="2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Z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9967" name="Text Box 51"/>
            <p:cNvSpPr txBox="1">
              <a:spLocks noChangeArrowheads="1"/>
            </p:cNvSpPr>
            <p:nvPr/>
          </p:nvSpPr>
          <p:spPr bwMode="auto">
            <a:xfrm>
              <a:off x="4230" y="2025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 Y</a:t>
              </a:r>
              <a:r>
                <a:rPr lang="en-US" altLang="zh-CN" sz="1800" i="1" baseline="-25000">
                  <a:latin typeface="ISOCPEUR" pitchFamily="34" charset="0"/>
                </a:rPr>
                <a:t>H </a:t>
              </a:r>
              <a:r>
                <a:rPr lang="en-US" altLang="zh-CN" sz="1800" i="1">
                  <a:latin typeface="ISOCPEUR" pitchFamily="34" charset="0"/>
                </a:rPr>
                <a:t>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9968" name="Text Box 52"/>
            <p:cNvSpPr txBox="1">
              <a:spLocks noChangeArrowheads="1"/>
            </p:cNvSpPr>
            <p:nvPr/>
          </p:nvSpPr>
          <p:spPr bwMode="auto">
            <a:xfrm>
              <a:off x="5075" y="1130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1800" i="1" baseline="-25000">
                  <a:latin typeface="ISOCPEUR" pitchFamily="34" charset="0"/>
                </a:rPr>
                <a:t>W</a:t>
              </a:r>
            </a:p>
          </p:txBody>
        </p:sp>
        <p:sp>
          <p:nvSpPr>
            <p:cNvPr id="39969" name="Line 53"/>
            <p:cNvSpPr>
              <a:spLocks noChangeShapeType="1"/>
            </p:cNvSpPr>
            <p:nvPr/>
          </p:nvSpPr>
          <p:spPr bwMode="auto">
            <a:xfrm>
              <a:off x="4300" y="1319"/>
              <a:ext cx="8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0" name="Line 54"/>
            <p:cNvSpPr>
              <a:spLocks noChangeShapeType="1"/>
            </p:cNvSpPr>
            <p:nvPr/>
          </p:nvSpPr>
          <p:spPr bwMode="auto">
            <a:xfrm>
              <a:off x="3284" y="601"/>
              <a:ext cx="0" cy="1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1" name="Line 55"/>
            <p:cNvSpPr>
              <a:spLocks noChangeShapeType="1"/>
            </p:cNvSpPr>
            <p:nvPr/>
          </p:nvSpPr>
          <p:spPr bwMode="auto">
            <a:xfrm>
              <a:off x="3284" y="601"/>
              <a:ext cx="18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2" name="Line 56"/>
            <p:cNvSpPr>
              <a:spLocks noChangeShapeType="1"/>
            </p:cNvSpPr>
            <p:nvPr/>
          </p:nvSpPr>
          <p:spPr bwMode="auto">
            <a:xfrm flipV="1">
              <a:off x="5123" y="601"/>
              <a:ext cx="0" cy="7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3" name="Line 57"/>
            <p:cNvSpPr>
              <a:spLocks noChangeShapeType="1"/>
            </p:cNvSpPr>
            <p:nvPr/>
          </p:nvSpPr>
          <p:spPr bwMode="auto">
            <a:xfrm flipH="1">
              <a:off x="3276" y="2137"/>
              <a:ext cx="1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4" name="Text Box 58"/>
            <p:cNvSpPr txBox="1">
              <a:spLocks noChangeArrowheads="1"/>
            </p:cNvSpPr>
            <p:nvPr/>
          </p:nvSpPr>
          <p:spPr bwMode="auto">
            <a:xfrm>
              <a:off x="3221" y="557"/>
              <a:ext cx="2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V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9975" name="Text Box 59"/>
            <p:cNvSpPr txBox="1">
              <a:spLocks noChangeArrowheads="1"/>
            </p:cNvSpPr>
            <p:nvPr/>
          </p:nvSpPr>
          <p:spPr bwMode="auto">
            <a:xfrm>
              <a:off x="4927" y="557"/>
              <a:ext cx="2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W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9976" name="Text Box 60"/>
            <p:cNvSpPr txBox="1">
              <a:spLocks noChangeArrowheads="1"/>
            </p:cNvSpPr>
            <p:nvPr/>
          </p:nvSpPr>
          <p:spPr bwMode="auto">
            <a:xfrm>
              <a:off x="3232" y="1943"/>
              <a:ext cx="2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H </a:t>
              </a:r>
              <a:endParaRPr lang="en-US" altLang="zh-CN" sz="2400" i="1">
                <a:latin typeface="ISOCPEUR" pitchFamily="34" charset="0"/>
              </a:endParaRPr>
            </a:p>
          </p:txBody>
        </p:sp>
      </p:grp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427038" y="1738313"/>
            <a:ext cx="4516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判断</a:t>
            </a:r>
            <a:r>
              <a:rPr lang="en-US" altLang="zh-CN" sz="2400">
                <a:ea typeface="黑体" pitchFamily="2" charset="-122"/>
              </a:rPr>
              <a:t>V</a:t>
            </a:r>
            <a:r>
              <a:rPr lang="zh-CN" altLang="en-US" sz="2400">
                <a:ea typeface="黑体" pitchFamily="2" charset="-122"/>
              </a:rPr>
              <a:t>、</a:t>
            </a:r>
            <a:r>
              <a:rPr lang="en-US" altLang="zh-CN" sz="2400">
                <a:ea typeface="黑体" pitchFamily="2" charset="-122"/>
              </a:rPr>
              <a:t>W</a:t>
            </a:r>
            <a:r>
              <a:rPr lang="zh-CN" altLang="en-US" sz="2400">
                <a:ea typeface="黑体" pitchFamily="2" charset="-122"/>
              </a:rPr>
              <a:t>和</a:t>
            </a:r>
            <a:r>
              <a:rPr lang="en-US" altLang="zh-CN" sz="2400">
                <a:ea typeface="黑体" pitchFamily="2" charset="-122"/>
              </a:rPr>
              <a:t>H</a:t>
            </a:r>
            <a:r>
              <a:rPr lang="zh-CN" altLang="en-US" sz="2400">
                <a:ea typeface="黑体" pitchFamily="2" charset="-122"/>
              </a:rPr>
              <a:t>面表达的方位</a:t>
            </a:r>
            <a:endParaRPr lang="zh-CN" altLang="en-US" sz="280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7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67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7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7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67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0.00347 L -1.94444E-6 0.06226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679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7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7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7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7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62" grpId="0" autoUpdateAnimBg="0"/>
      <p:bldP spid="167963" grpId="0" autoUpdateAnimBg="0"/>
      <p:bldP spid="167964" grpId="0" autoUpdateAnimBg="0"/>
      <p:bldP spid="167965" grpId="0" autoUpdateAnimBg="0"/>
      <p:bldP spid="167966" grpId="0" autoUpdateAnimBg="0"/>
      <p:bldP spid="167967" grpId="0" autoUpdateAnimBg="0"/>
      <p:bldP spid="167968" grpId="0" autoUpdateAnimBg="0"/>
      <p:bldP spid="167969" grpId="0" autoUpdateAnimBg="0"/>
      <p:bldP spid="167971" grpId="0" autoUpdateAnimBg="0"/>
      <p:bldP spid="167972" grpId="0" autoUpdateAnimBg="0"/>
      <p:bldP spid="167973" grpId="0" animBg="1"/>
      <p:bldP spid="167974" grpId="0" animBg="1"/>
      <p:bldP spid="167974" grpId="1" animBg="1"/>
      <p:bldP spid="167975" grpId="0" autoUpdateAnimBg="0"/>
      <p:bldP spid="167976" grpId="0" animBg="1"/>
      <p:bldP spid="167977" grpId="0"/>
      <p:bldP spid="16797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5CA2DB-6CB3-4E3D-A345-54EDC171A200}" type="slidenum">
              <a:rPr lang="en-US" altLang="zh-CN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22564" name="Text Box 36"/>
          <p:cNvSpPr txBox="1">
            <a:spLocks noChangeArrowheads="1"/>
          </p:cNvSpPr>
          <p:nvPr/>
        </p:nvSpPr>
        <p:spPr bwMode="auto">
          <a:xfrm>
            <a:off x="6169025" y="2619375"/>
            <a:ext cx="977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ISOCPEUR" pitchFamily="34" charset="0"/>
              </a:rPr>
              <a:t> ≡</a:t>
            </a:r>
            <a:r>
              <a:rPr lang="en-US" altLang="zh-CN" sz="1800" i="1">
                <a:latin typeface="ISOCPEUR" pitchFamily="34" charset="0"/>
                <a:ea typeface="黑体" pitchFamily="2" charset="-122"/>
              </a:rPr>
              <a:t>b    </a:t>
            </a:r>
          </a:p>
        </p:txBody>
      </p:sp>
      <p:sp>
        <p:nvSpPr>
          <p:cNvPr id="22566" name="Rectangle 38"/>
          <p:cNvSpPr>
            <a:spLocks noChangeArrowheads="1"/>
          </p:cNvSpPr>
          <p:nvPr/>
        </p:nvSpPr>
        <p:spPr bwMode="auto">
          <a:xfrm>
            <a:off x="4859338" y="28575"/>
            <a:ext cx="4270375" cy="3795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2562" name="AutoShape 34"/>
          <p:cNvSpPr>
            <a:spLocks noChangeArrowheads="1"/>
          </p:cNvSpPr>
          <p:nvPr/>
        </p:nvSpPr>
        <p:spPr bwMode="auto">
          <a:xfrm>
            <a:off x="6122988" y="2681288"/>
            <a:ext cx="61912" cy="61912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873625" y="471488"/>
            <a:ext cx="4071938" cy="2959100"/>
            <a:chOff x="2853" y="2386"/>
            <a:chExt cx="2565" cy="1864"/>
          </a:xfrm>
        </p:grpSpPr>
        <p:sp>
          <p:nvSpPr>
            <p:cNvPr id="40975" name="AutoShape 5"/>
            <p:cNvSpPr>
              <a:spLocks noChangeArrowheads="1"/>
            </p:cNvSpPr>
            <p:nvPr/>
          </p:nvSpPr>
          <p:spPr bwMode="auto">
            <a:xfrm>
              <a:off x="3640" y="3865"/>
              <a:ext cx="35" cy="35"/>
            </a:xfrm>
            <a:prstGeom prst="flowChartConnector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40976" name="Text Box 6"/>
            <p:cNvSpPr txBox="1">
              <a:spLocks noChangeArrowheads="1"/>
            </p:cNvSpPr>
            <p:nvPr/>
          </p:nvSpPr>
          <p:spPr bwMode="auto">
            <a:xfrm>
              <a:off x="3629" y="371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endParaRPr lang="en-US" altLang="zh-CN" sz="2000" i="1">
                <a:solidFill>
                  <a:srgbClr val="CCFF33"/>
                </a:solidFill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40977" name="AutoShape 7"/>
            <p:cNvSpPr>
              <a:spLocks noChangeArrowheads="1"/>
            </p:cNvSpPr>
            <p:nvPr/>
          </p:nvSpPr>
          <p:spPr bwMode="auto">
            <a:xfrm>
              <a:off x="3640" y="3781"/>
              <a:ext cx="35" cy="36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40978" name="AutoShape 8"/>
            <p:cNvSpPr>
              <a:spLocks noChangeArrowheads="1"/>
            </p:cNvSpPr>
            <p:nvPr/>
          </p:nvSpPr>
          <p:spPr bwMode="auto">
            <a:xfrm>
              <a:off x="3642" y="2794"/>
              <a:ext cx="35" cy="36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40979" name="Text Box 9"/>
            <p:cNvSpPr txBox="1">
              <a:spLocks noChangeArrowheads="1"/>
            </p:cNvSpPr>
            <p:nvPr/>
          </p:nvSpPr>
          <p:spPr bwMode="auto">
            <a:xfrm>
              <a:off x="3520" y="2562"/>
              <a:ext cx="40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000" i="1">
                <a:solidFill>
                  <a:srgbClr val="CCFF33"/>
                </a:solidFill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40980" name="Line 10"/>
            <p:cNvSpPr>
              <a:spLocks noChangeShapeType="1"/>
            </p:cNvSpPr>
            <p:nvPr/>
          </p:nvSpPr>
          <p:spPr bwMode="auto">
            <a:xfrm>
              <a:off x="3141" y="3310"/>
              <a:ext cx="1157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1" name="Text Box 11"/>
            <p:cNvSpPr txBox="1">
              <a:spLocks noChangeArrowheads="1"/>
            </p:cNvSpPr>
            <p:nvPr/>
          </p:nvSpPr>
          <p:spPr bwMode="auto">
            <a:xfrm>
              <a:off x="2853" y="3093"/>
              <a:ext cx="151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ISOCPEUR" pitchFamily="34" charset="0"/>
                </a:rPr>
                <a:t> </a:t>
              </a:r>
              <a:r>
                <a:rPr lang="en-US" altLang="zh-CN" sz="1800" i="1">
                  <a:latin typeface="ISOCPEUR" pitchFamily="34" charset="0"/>
                </a:rPr>
                <a:t>X                           O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40982" name="Line 12"/>
            <p:cNvSpPr>
              <a:spLocks noChangeShapeType="1"/>
            </p:cNvSpPr>
            <p:nvPr/>
          </p:nvSpPr>
          <p:spPr bwMode="auto">
            <a:xfrm>
              <a:off x="3660" y="2825"/>
              <a:ext cx="0" cy="9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3" name="Line 13"/>
            <p:cNvSpPr>
              <a:spLocks noChangeShapeType="1"/>
            </p:cNvSpPr>
            <p:nvPr/>
          </p:nvSpPr>
          <p:spPr bwMode="auto">
            <a:xfrm>
              <a:off x="4304" y="2550"/>
              <a:ext cx="0" cy="15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Text Box 14"/>
            <p:cNvSpPr txBox="1">
              <a:spLocks noChangeArrowheads="1"/>
            </p:cNvSpPr>
            <p:nvPr/>
          </p:nvSpPr>
          <p:spPr bwMode="auto">
            <a:xfrm>
              <a:off x="4119" y="2386"/>
              <a:ext cx="2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Z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40985" name="Text Box 15"/>
            <p:cNvSpPr txBox="1">
              <a:spLocks noChangeArrowheads="1"/>
            </p:cNvSpPr>
            <p:nvPr/>
          </p:nvSpPr>
          <p:spPr bwMode="auto">
            <a:xfrm>
              <a:off x="4248" y="4019"/>
              <a:ext cx="3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1800" i="1" baseline="-25000">
                  <a:latin typeface="ISOCPEUR" pitchFamily="34" charset="0"/>
                </a:rPr>
                <a:t>H</a:t>
              </a:r>
              <a:r>
                <a:rPr lang="en-US" altLang="zh-CN" sz="1800" i="1">
                  <a:latin typeface="ISOCPEUR" pitchFamily="34" charset="0"/>
                </a:rPr>
                <a:t> </a:t>
              </a:r>
            </a:p>
          </p:txBody>
        </p:sp>
        <p:sp>
          <p:nvSpPr>
            <p:cNvPr id="40986" name="Text Box 16"/>
            <p:cNvSpPr txBox="1">
              <a:spLocks noChangeArrowheads="1"/>
            </p:cNvSpPr>
            <p:nvPr/>
          </p:nvSpPr>
          <p:spPr bwMode="auto">
            <a:xfrm>
              <a:off x="5145" y="3100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1800" i="1" baseline="-25000">
                  <a:latin typeface="ISOCPEUR" pitchFamily="34" charset="0"/>
                </a:rPr>
                <a:t>W</a:t>
              </a:r>
              <a:endParaRPr lang="en-US" altLang="zh-CN" sz="2400" i="1" baseline="-25000">
                <a:latin typeface="ISOCPEUR" pitchFamily="34" charset="0"/>
              </a:endParaRPr>
            </a:p>
          </p:txBody>
        </p:sp>
        <p:sp>
          <p:nvSpPr>
            <p:cNvPr id="40987" name="Line 17"/>
            <p:cNvSpPr>
              <a:spLocks noChangeShapeType="1"/>
            </p:cNvSpPr>
            <p:nvPr/>
          </p:nvSpPr>
          <p:spPr bwMode="auto">
            <a:xfrm flipV="1">
              <a:off x="3659" y="2812"/>
              <a:ext cx="1144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8" name="Line 18"/>
            <p:cNvSpPr>
              <a:spLocks noChangeShapeType="1"/>
            </p:cNvSpPr>
            <p:nvPr/>
          </p:nvSpPr>
          <p:spPr bwMode="auto">
            <a:xfrm>
              <a:off x="3659" y="3802"/>
              <a:ext cx="641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9" name="Line 19"/>
            <p:cNvSpPr>
              <a:spLocks noChangeShapeType="1"/>
            </p:cNvSpPr>
            <p:nvPr/>
          </p:nvSpPr>
          <p:spPr bwMode="auto">
            <a:xfrm>
              <a:off x="4813" y="2814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0" name="AutoShape 20"/>
            <p:cNvSpPr>
              <a:spLocks noChangeArrowheads="1"/>
            </p:cNvSpPr>
            <p:nvPr/>
          </p:nvSpPr>
          <p:spPr bwMode="auto">
            <a:xfrm>
              <a:off x="4793" y="2795"/>
              <a:ext cx="39" cy="39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  <p:sp>
          <p:nvSpPr>
            <p:cNvPr id="40991" name="Text Box 21"/>
            <p:cNvSpPr txBox="1">
              <a:spLocks noChangeArrowheads="1"/>
            </p:cNvSpPr>
            <p:nvPr/>
          </p:nvSpPr>
          <p:spPr bwMode="auto">
            <a:xfrm>
              <a:off x="4658" y="2581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a”</a:t>
              </a:r>
            </a:p>
          </p:txBody>
        </p:sp>
        <p:sp>
          <p:nvSpPr>
            <p:cNvPr id="40992" name="Text Box 22"/>
            <p:cNvSpPr txBox="1">
              <a:spLocks noChangeArrowheads="1"/>
            </p:cNvSpPr>
            <p:nvPr/>
          </p:nvSpPr>
          <p:spPr bwMode="auto">
            <a:xfrm>
              <a:off x="3404" y="307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x</a:t>
              </a:r>
            </a:p>
          </p:txBody>
        </p:sp>
        <p:sp>
          <p:nvSpPr>
            <p:cNvPr id="40993" name="Text Box 23"/>
            <p:cNvSpPr txBox="1">
              <a:spLocks noChangeArrowheads="1"/>
            </p:cNvSpPr>
            <p:nvPr/>
          </p:nvSpPr>
          <p:spPr bwMode="auto">
            <a:xfrm>
              <a:off x="4214" y="2570"/>
              <a:ext cx="388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z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000" i="1" baseline="-25000"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40994" name="Text Box 24"/>
            <p:cNvSpPr txBox="1">
              <a:spLocks noChangeArrowheads="1"/>
            </p:cNvSpPr>
            <p:nvPr/>
          </p:nvSpPr>
          <p:spPr bwMode="auto">
            <a:xfrm>
              <a:off x="4215" y="3670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YH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40995" name="Text Box 25"/>
            <p:cNvSpPr txBox="1">
              <a:spLocks noChangeArrowheads="1"/>
            </p:cNvSpPr>
            <p:nvPr/>
          </p:nvSpPr>
          <p:spPr bwMode="auto">
            <a:xfrm>
              <a:off x="4694" y="3236"/>
              <a:ext cx="3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YW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40996" name="Line 26"/>
            <p:cNvSpPr>
              <a:spLocks noChangeShapeType="1"/>
            </p:cNvSpPr>
            <p:nvPr/>
          </p:nvSpPr>
          <p:spPr bwMode="auto">
            <a:xfrm>
              <a:off x="4299" y="3313"/>
              <a:ext cx="9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56" name="Text Box 28"/>
          <p:cNvSpPr txBox="1">
            <a:spLocks noChangeArrowheads="1"/>
          </p:cNvSpPr>
          <p:nvPr/>
        </p:nvSpPr>
        <p:spPr bwMode="auto">
          <a:xfrm>
            <a:off x="5667375" y="1309688"/>
            <a:ext cx="544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18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22559" name="Text Box 31"/>
          <p:cNvSpPr txBox="1">
            <a:spLocks noChangeArrowheads="1"/>
          </p:cNvSpPr>
          <p:nvPr/>
        </p:nvSpPr>
        <p:spPr bwMode="auto">
          <a:xfrm>
            <a:off x="7824788" y="1350963"/>
            <a:ext cx="747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  <a:endParaRPr lang="en-US" altLang="zh-CN" sz="1800" i="1">
              <a:latin typeface="ISOCPEUR" pitchFamily="34" charset="0"/>
            </a:endParaRPr>
          </a:p>
        </p:txBody>
      </p:sp>
      <p:sp>
        <p:nvSpPr>
          <p:cNvPr id="22561" name="Line 33"/>
          <p:cNvSpPr>
            <a:spLocks noChangeShapeType="1"/>
          </p:cNvSpPr>
          <p:nvPr/>
        </p:nvSpPr>
        <p:spPr bwMode="auto">
          <a:xfrm>
            <a:off x="6154738" y="1550988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65" name="Text Box 37"/>
          <p:cNvSpPr txBox="1">
            <a:spLocks noChangeArrowheads="1"/>
          </p:cNvSpPr>
          <p:nvPr/>
        </p:nvSpPr>
        <p:spPr bwMode="auto">
          <a:xfrm>
            <a:off x="341313" y="2582863"/>
            <a:ext cx="8802687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可见性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利用重影点的投影可进行</a:t>
            </a:r>
            <a:r>
              <a:rPr lang="zh-CN" altLang="en-US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可见性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判断。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在投影中，距观察者近的点为可见点；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          远离观察者的点为不可见点。</a:t>
            </a:r>
          </a:p>
          <a:p>
            <a:pPr eaLnBrk="1" hangingPunct="1"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表示方法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不可见点的重合投影加圆括号表示。</a:t>
            </a:r>
          </a:p>
        </p:txBody>
      </p:sp>
      <p:sp>
        <p:nvSpPr>
          <p:cNvPr id="22555" name="AutoShape 27"/>
          <p:cNvSpPr>
            <a:spLocks noChangeArrowheads="1"/>
          </p:cNvSpPr>
          <p:nvPr/>
        </p:nvSpPr>
        <p:spPr bwMode="auto">
          <a:xfrm>
            <a:off x="6126163" y="1519238"/>
            <a:ext cx="61912" cy="61912"/>
          </a:xfrm>
          <a:prstGeom prst="flowChartConnector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2560" name="AutoShape 32"/>
          <p:cNvSpPr>
            <a:spLocks noChangeArrowheads="1"/>
          </p:cNvSpPr>
          <p:nvPr/>
        </p:nvSpPr>
        <p:spPr bwMode="auto">
          <a:xfrm>
            <a:off x="7953375" y="1520825"/>
            <a:ext cx="61913" cy="61913"/>
          </a:xfrm>
          <a:prstGeom prst="flowChartConnector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2558" name="Text Box 30"/>
          <p:cNvSpPr txBox="1">
            <a:spLocks noChangeArrowheads="1"/>
          </p:cNvSpPr>
          <p:nvPr/>
        </p:nvSpPr>
        <p:spPr bwMode="auto">
          <a:xfrm>
            <a:off x="6337300" y="2630488"/>
            <a:ext cx="4079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ISOCPEUR" pitchFamily="34" charset="0"/>
                <a:ea typeface="黑体" pitchFamily="2" charset="-122"/>
              </a:rPr>
              <a:t>(</a:t>
            </a: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1800" b="0">
                <a:latin typeface="ISOCPEUR" pitchFamily="34" charset="0"/>
                <a:ea typeface="黑体" pitchFamily="2" charset="-122"/>
              </a:rPr>
              <a:t>)</a:t>
            </a:r>
          </a:p>
        </p:txBody>
      </p:sp>
      <p:sp>
        <p:nvSpPr>
          <p:cNvPr id="40974" name="Text Box 39"/>
          <p:cNvSpPr txBox="1">
            <a:spLocks noChangeArrowheads="1"/>
          </p:cNvSpPr>
          <p:nvPr/>
        </p:nvSpPr>
        <p:spPr bwMode="auto">
          <a:xfrm>
            <a:off x="341313" y="330200"/>
            <a:ext cx="5407025" cy="210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四．重影点及可见性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重影点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若两个点的同名投影重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合，则称这两个点为重影点。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2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2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25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25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64" grpId="0" autoUpdateAnimBg="0"/>
      <p:bldP spid="22566" grpId="0" animBg="1"/>
      <p:bldP spid="22562" grpId="0" animBg="1"/>
      <p:bldP spid="22556" grpId="0" autoUpdateAnimBg="0"/>
      <p:bldP spid="22559" grpId="0" autoUpdateAnimBg="0"/>
      <p:bldP spid="22561" grpId="0" animBg="1"/>
      <p:bldP spid="22565" grpId="0" build="p" autoUpdateAnimBg="0"/>
      <p:bldP spid="22555" grpId="0" animBg="1"/>
      <p:bldP spid="22560" grpId="0" animBg="1"/>
      <p:bldP spid="22558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435A4D52-B74A-4CD6-B52B-C30C2C0F4586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38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30250" y="1822450"/>
            <a:ext cx="2571750" cy="2757488"/>
            <a:chOff x="504" y="891"/>
            <a:chExt cx="1620" cy="1737"/>
          </a:xfrm>
        </p:grpSpPr>
        <p:grpSp>
          <p:nvGrpSpPr>
            <p:cNvPr id="4140" name="Group 3"/>
            <p:cNvGrpSpPr>
              <a:grpSpLocks/>
            </p:cNvGrpSpPr>
            <p:nvPr/>
          </p:nvGrpSpPr>
          <p:grpSpPr bwMode="auto">
            <a:xfrm>
              <a:off x="504" y="2112"/>
              <a:ext cx="1620" cy="516"/>
              <a:chOff x="492" y="2304"/>
              <a:chExt cx="1620" cy="516"/>
            </a:xfrm>
          </p:grpSpPr>
          <p:sp>
            <p:nvSpPr>
              <p:cNvPr id="4144" name="Freeform 4"/>
              <p:cNvSpPr>
                <a:spLocks/>
              </p:cNvSpPr>
              <p:nvPr/>
            </p:nvSpPr>
            <p:spPr bwMode="auto">
              <a:xfrm flipV="1">
                <a:off x="492" y="2304"/>
                <a:ext cx="1620" cy="516"/>
              </a:xfrm>
              <a:custGeom>
                <a:avLst/>
                <a:gdLst>
                  <a:gd name="T0" fmla="*/ 516 w 1620"/>
                  <a:gd name="T1" fmla="*/ 0 h 516"/>
                  <a:gd name="T2" fmla="*/ 1620 w 1620"/>
                  <a:gd name="T3" fmla="*/ 0 h 516"/>
                  <a:gd name="T4" fmla="*/ 1104 w 1620"/>
                  <a:gd name="T5" fmla="*/ 516 h 516"/>
                  <a:gd name="T6" fmla="*/ 0 w 1620"/>
                  <a:gd name="T7" fmla="*/ 516 h 516"/>
                  <a:gd name="T8" fmla="*/ 516 w 1620"/>
                  <a:gd name="T9" fmla="*/ 0 h 5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20"/>
                  <a:gd name="T16" fmla="*/ 0 h 516"/>
                  <a:gd name="T17" fmla="*/ 1620 w 1620"/>
                  <a:gd name="T18" fmla="*/ 516 h 5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20" h="516">
                    <a:moveTo>
                      <a:pt x="516" y="0"/>
                    </a:moveTo>
                    <a:lnTo>
                      <a:pt x="1620" y="0"/>
                    </a:lnTo>
                    <a:lnTo>
                      <a:pt x="1104" y="516"/>
                    </a:lnTo>
                    <a:lnTo>
                      <a:pt x="0" y="516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45" name="Freeform 5"/>
              <p:cNvSpPr>
                <a:spLocks/>
              </p:cNvSpPr>
              <p:nvPr/>
            </p:nvSpPr>
            <p:spPr bwMode="auto">
              <a:xfrm>
                <a:off x="492" y="2304"/>
                <a:ext cx="1620" cy="516"/>
              </a:xfrm>
              <a:custGeom>
                <a:avLst/>
                <a:gdLst>
                  <a:gd name="T0" fmla="*/ 0 w 1620"/>
                  <a:gd name="T1" fmla="*/ 0 h 516"/>
                  <a:gd name="T2" fmla="*/ 516 w 1620"/>
                  <a:gd name="T3" fmla="*/ 516 h 516"/>
                  <a:gd name="T4" fmla="*/ 1620 w 1620"/>
                  <a:gd name="T5" fmla="*/ 516 h 516"/>
                  <a:gd name="T6" fmla="*/ 0 60000 65536"/>
                  <a:gd name="T7" fmla="*/ 0 60000 65536"/>
                  <a:gd name="T8" fmla="*/ 0 60000 65536"/>
                  <a:gd name="T9" fmla="*/ 0 w 1620"/>
                  <a:gd name="T10" fmla="*/ 0 h 516"/>
                  <a:gd name="T11" fmla="*/ 1620 w 1620"/>
                  <a:gd name="T12" fmla="*/ 516 h 5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20" h="516">
                    <a:moveTo>
                      <a:pt x="0" y="0"/>
                    </a:moveTo>
                    <a:lnTo>
                      <a:pt x="516" y="516"/>
                    </a:lnTo>
                    <a:lnTo>
                      <a:pt x="1620" y="51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141" name="Line 6"/>
            <p:cNvSpPr>
              <a:spLocks noChangeShapeType="1"/>
            </p:cNvSpPr>
            <p:nvPr/>
          </p:nvSpPr>
          <p:spPr bwMode="auto">
            <a:xfrm>
              <a:off x="1176" y="1092"/>
              <a:ext cx="0" cy="6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2" name="Text Box 7"/>
            <p:cNvSpPr txBox="1">
              <a:spLocks noChangeArrowheads="1"/>
            </p:cNvSpPr>
            <p:nvPr/>
          </p:nvSpPr>
          <p:spPr bwMode="auto">
            <a:xfrm>
              <a:off x="1204" y="891"/>
              <a:ext cx="231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i="1">
                  <a:latin typeface="ISOCPEUR" pitchFamily="34" charset="0"/>
                </a:rPr>
                <a:t>A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 b="0">
                <a:latin typeface="ISOCPEUR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 b="0">
                <a:latin typeface="ISOCPEUR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i="1">
                  <a:latin typeface="ISOCPEUR" pitchFamily="34" charset="0"/>
                </a:rPr>
                <a:t>B</a:t>
              </a:r>
            </a:p>
          </p:txBody>
        </p:sp>
        <p:sp>
          <p:nvSpPr>
            <p:cNvPr id="4143" name="Text Box 8"/>
            <p:cNvSpPr txBox="1">
              <a:spLocks noChangeArrowheads="1"/>
            </p:cNvSpPr>
            <p:nvPr/>
          </p:nvSpPr>
          <p:spPr bwMode="auto">
            <a:xfrm>
              <a:off x="623" y="2046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H 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3225800" y="1912938"/>
            <a:ext cx="2571750" cy="2686050"/>
            <a:chOff x="2076" y="948"/>
            <a:chExt cx="1620" cy="1692"/>
          </a:xfrm>
        </p:grpSpPr>
        <p:grpSp>
          <p:nvGrpSpPr>
            <p:cNvPr id="4133" name="Group 10"/>
            <p:cNvGrpSpPr>
              <a:grpSpLocks/>
            </p:cNvGrpSpPr>
            <p:nvPr/>
          </p:nvGrpSpPr>
          <p:grpSpPr bwMode="auto">
            <a:xfrm>
              <a:off x="2076" y="2124"/>
              <a:ext cx="1620" cy="516"/>
              <a:chOff x="492" y="2304"/>
              <a:chExt cx="1620" cy="516"/>
            </a:xfrm>
          </p:grpSpPr>
          <p:sp>
            <p:nvSpPr>
              <p:cNvPr id="4138" name="Freeform 11"/>
              <p:cNvSpPr>
                <a:spLocks/>
              </p:cNvSpPr>
              <p:nvPr/>
            </p:nvSpPr>
            <p:spPr bwMode="auto">
              <a:xfrm flipV="1">
                <a:off x="492" y="2304"/>
                <a:ext cx="1620" cy="516"/>
              </a:xfrm>
              <a:custGeom>
                <a:avLst/>
                <a:gdLst>
                  <a:gd name="T0" fmla="*/ 516 w 1620"/>
                  <a:gd name="T1" fmla="*/ 0 h 516"/>
                  <a:gd name="T2" fmla="*/ 1620 w 1620"/>
                  <a:gd name="T3" fmla="*/ 0 h 516"/>
                  <a:gd name="T4" fmla="*/ 1104 w 1620"/>
                  <a:gd name="T5" fmla="*/ 516 h 516"/>
                  <a:gd name="T6" fmla="*/ 0 w 1620"/>
                  <a:gd name="T7" fmla="*/ 516 h 516"/>
                  <a:gd name="T8" fmla="*/ 516 w 1620"/>
                  <a:gd name="T9" fmla="*/ 0 h 5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20"/>
                  <a:gd name="T16" fmla="*/ 0 h 516"/>
                  <a:gd name="T17" fmla="*/ 1620 w 1620"/>
                  <a:gd name="T18" fmla="*/ 516 h 5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20" h="516">
                    <a:moveTo>
                      <a:pt x="516" y="0"/>
                    </a:moveTo>
                    <a:lnTo>
                      <a:pt x="1620" y="0"/>
                    </a:lnTo>
                    <a:lnTo>
                      <a:pt x="1104" y="516"/>
                    </a:lnTo>
                    <a:lnTo>
                      <a:pt x="0" y="516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39" name="Freeform 12"/>
              <p:cNvSpPr>
                <a:spLocks/>
              </p:cNvSpPr>
              <p:nvPr/>
            </p:nvSpPr>
            <p:spPr bwMode="auto">
              <a:xfrm>
                <a:off x="492" y="2304"/>
                <a:ext cx="1620" cy="516"/>
              </a:xfrm>
              <a:custGeom>
                <a:avLst/>
                <a:gdLst>
                  <a:gd name="T0" fmla="*/ 0 w 1620"/>
                  <a:gd name="T1" fmla="*/ 0 h 516"/>
                  <a:gd name="T2" fmla="*/ 516 w 1620"/>
                  <a:gd name="T3" fmla="*/ 516 h 516"/>
                  <a:gd name="T4" fmla="*/ 1620 w 1620"/>
                  <a:gd name="T5" fmla="*/ 516 h 516"/>
                  <a:gd name="T6" fmla="*/ 0 60000 65536"/>
                  <a:gd name="T7" fmla="*/ 0 60000 65536"/>
                  <a:gd name="T8" fmla="*/ 0 60000 65536"/>
                  <a:gd name="T9" fmla="*/ 0 w 1620"/>
                  <a:gd name="T10" fmla="*/ 0 h 516"/>
                  <a:gd name="T11" fmla="*/ 1620 w 1620"/>
                  <a:gd name="T12" fmla="*/ 516 h 5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20" h="516">
                    <a:moveTo>
                      <a:pt x="0" y="0"/>
                    </a:moveTo>
                    <a:lnTo>
                      <a:pt x="516" y="516"/>
                    </a:lnTo>
                    <a:lnTo>
                      <a:pt x="1620" y="51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134" name="Line 13"/>
            <p:cNvSpPr>
              <a:spLocks noChangeShapeType="1"/>
            </p:cNvSpPr>
            <p:nvPr/>
          </p:nvSpPr>
          <p:spPr bwMode="auto">
            <a:xfrm>
              <a:off x="2580" y="1200"/>
              <a:ext cx="660" cy="3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5" name="Text Box 14"/>
            <p:cNvSpPr txBox="1">
              <a:spLocks noChangeArrowheads="1"/>
            </p:cNvSpPr>
            <p:nvPr/>
          </p:nvSpPr>
          <p:spPr bwMode="auto">
            <a:xfrm>
              <a:off x="2436" y="948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FF3300"/>
                  </a:solidFill>
                  <a:latin typeface="ISOCPEUR" pitchFamily="34" charset="0"/>
                </a:rPr>
                <a:t>C</a:t>
              </a:r>
              <a:endParaRPr lang="en-US" altLang="zh-CN" sz="2400" b="0" i="1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4136" name="Text Box 15"/>
            <p:cNvSpPr txBox="1">
              <a:spLocks noChangeArrowheads="1"/>
            </p:cNvSpPr>
            <p:nvPr/>
          </p:nvSpPr>
          <p:spPr bwMode="auto">
            <a:xfrm>
              <a:off x="3233" y="1308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FF3300"/>
                  </a:solidFill>
                  <a:latin typeface="ISOCPEUR" pitchFamily="34" charset="0"/>
                </a:rPr>
                <a:t>D</a:t>
              </a:r>
              <a:endParaRPr lang="en-US" altLang="zh-CN" sz="2400" b="0" i="1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4137" name="Text Box 16"/>
            <p:cNvSpPr txBox="1">
              <a:spLocks noChangeArrowheads="1"/>
            </p:cNvSpPr>
            <p:nvPr/>
          </p:nvSpPr>
          <p:spPr bwMode="auto">
            <a:xfrm>
              <a:off x="2195" y="2070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H 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5673725" y="1951038"/>
            <a:ext cx="2571750" cy="2647950"/>
            <a:chOff x="3615" y="969"/>
            <a:chExt cx="1620" cy="1668"/>
          </a:xfrm>
        </p:grpSpPr>
        <p:grpSp>
          <p:nvGrpSpPr>
            <p:cNvPr id="4126" name="Group 18"/>
            <p:cNvGrpSpPr>
              <a:grpSpLocks/>
            </p:cNvGrpSpPr>
            <p:nvPr/>
          </p:nvGrpSpPr>
          <p:grpSpPr bwMode="auto">
            <a:xfrm>
              <a:off x="3615" y="2121"/>
              <a:ext cx="1620" cy="516"/>
              <a:chOff x="492" y="2304"/>
              <a:chExt cx="1620" cy="516"/>
            </a:xfrm>
          </p:grpSpPr>
          <p:sp>
            <p:nvSpPr>
              <p:cNvPr id="4131" name="Freeform 19"/>
              <p:cNvSpPr>
                <a:spLocks/>
              </p:cNvSpPr>
              <p:nvPr/>
            </p:nvSpPr>
            <p:spPr bwMode="auto">
              <a:xfrm flipV="1">
                <a:off x="492" y="2304"/>
                <a:ext cx="1620" cy="516"/>
              </a:xfrm>
              <a:custGeom>
                <a:avLst/>
                <a:gdLst>
                  <a:gd name="T0" fmla="*/ 516 w 1620"/>
                  <a:gd name="T1" fmla="*/ 0 h 516"/>
                  <a:gd name="T2" fmla="*/ 1620 w 1620"/>
                  <a:gd name="T3" fmla="*/ 0 h 516"/>
                  <a:gd name="T4" fmla="*/ 1104 w 1620"/>
                  <a:gd name="T5" fmla="*/ 516 h 516"/>
                  <a:gd name="T6" fmla="*/ 0 w 1620"/>
                  <a:gd name="T7" fmla="*/ 516 h 516"/>
                  <a:gd name="T8" fmla="*/ 516 w 1620"/>
                  <a:gd name="T9" fmla="*/ 0 h 5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20"/>
                  <a:gd name="T16" fmla="*/ 0 h 516"/>
                  <a:gd name="T17" fmla="*/ 1620 w 1620"/>
                  <a:gd name="T18" fmla="*/ 516 h 5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20" h="516">
                    <a:moveTo>
                      <a:pt x="516" y="0"/>
                    </a:moveTo>
                    <a:lnTo>
                      <a:pt x="1620" y="0"/>
                    </a:lnTo>
                    <a:lnTo>
                      <a:pt x="1104" y="516"/>
                    </a:lnTo>
                    <a:lnTo>
                      <a:pt x="0" y="516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32" name="Freeform 20"/>
              <p:cNvSpPr>
                <a:spLocks/>
              </p:cNvSpPr>
              <p:nvPr/>
            </p:nvSpPr>
            <p:spPr bwMode="auto">
              <a:xfrm>
                <a:off x="492" y="2304"/>
                <a:ext cx="1620" cy="516"/>
              </a:xfrm>
              <a:custGeom>
                <a:avLst/>
                <a:gdLst>
                  <a:gd name="T0" fmla="*/ 0 w 1620"/>
                  <a:gd name="T1" fmla="*/ 0 h 516"/>
                  <a:gd name="T2" fmla="*/ 516 w 1620"/>
                  <a:gd name="T3" fmla="*/ 516 h 516"/>
                  <a:gd name="T4" fmla="*/ 1620 w 1620"/>
                  <a:gd name="T5" fmla="*/ 516 h 516"/>
                  <a:gd name="T6" fmla="*/ 0 60000 65536"/>
                  <a:gd name="T7" fmla="*/ 0 60000 65536"/>
                  <a:gd name="T8" fmla="*/ 0 60000 65536"/>
                  <a:gd name="T9" fmla="*/ 0 w 1620"/>
                  <a:gd name="T10" fmla="*/ 0 h 516"/>
                  <a:gd name="T11" fmla="*/ 1620 w 1620"/>
                  <a:gd name="T12" fmla="*/ 516 h 5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20" h="516">
                    <a:moveTo>
                      <a:pt x="0" y="0"/>
                    </a:moveTo>
                    <a:lnTo>
                      <a:pt x="516" y="516"/>
                    </a:lnTo>
                    <a:lnTo>
                      <a:pt x="1620" y="51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127" name="Line 21"/>
            <p:cNvSpPr>
              <a:spLocks noChangeShapeType="1"/>
            </p:cNvSpPr>
            <p:nvPr/>
          </p:nvSpPr>
          <p:spPr bwMode="auto">
            <a:xfrm>
              <a:off x="4080" y="1197"/>
              <a:ext cx="699" cy="534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8" name="Text Box 22"/>
            <p:cNvSpPr txBox="1">
              <a:spLocks noChangeArrowheads="1"/>
            </p:cNvSpPr>
            <p:nvPr/>
          </p:nvSpPr>
          <p:spPr bwMode="auto">
            <a:xfrm>
              <a:off x="3710" y="2049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H </a:t>
              </a:r>
            </a:p>
          </p:txBody>
        </p:sp>
        <p:sp>
          <p:nvSpPr>
            <p:cNvPr id="4129" name="Text Box 23"/>
            <p:cNvSpPr txBox="1">
              <a:spLocks noChangeArrowheads="1"/>
            </p:cNvSpPr>
            <p:nvPr/>
          </p:nvSpPr>
          <p:spPr bwMode="auto">
            <a:xfrm>
              <a:off x="4059" y="969"/>
              <a:ext cx="2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i="1">
                  <a:solidFill>
                    <a:srgbClr val="0000CC"/>
                  </a:solidFill>
                  <a:latin typeface="ISOCPEUR" pitchFamily="34" charset="0"/>
                </a:rPr>
                <a:t>E 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4130" name="Text Box 24"/>
            <p:cNvSpPr txBox="1">
              <a:spLocks noChangeArrowheads="1"/>
            </p:cNvSpPr>
            <p:nvPr/>
          </p:nvSpPr>
          <p:spPr bwMode="auto">
            <a:xfrm>
              <a:off x="4761" y="1569"/>
              <a:ext cx="2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i="1">
                  <a:solidFill>
                    <a:srgbClr val="0000CC"/>
                  </a:solidFill>
                  <a:latin typeface="ISOCPEUR" pitchFamily="34" charset="0"/>
                </a:rPr>
                <a:t>F </a:t>
              </a:r>
              <a:endParaRPr lang="en-US" altLang="zh-CN" sz="2400" b="0" i="1">
                <a:latin typeface="ISOCPEUR" pitchFamily="34" charset="0"/>
              </a:endParaRPr>
            </a:p>
          </p:txBody>
        </p:sp>
      </p:grpSp>
      <p:sp>
        <p:nvSpPr>
          <p:cNvPr id="4102" name="Rectangle 25"/>
          <p:cNvSpPr>
            <a:spLocks noChangeArrowheads="1"/>
          </p:cNvSpPr>
          <p:nvPr/>
        </p:nvSpPr>
        <p:spPr bwMode="auto">
          <a:xfrm>
            <a:off x="341313" y="238125"/>
            <a:ext cx="88026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§2.2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　直线的投影</a:t>
            </a:r>
          </a:p>
        </p:txBody>
      </p:sp>
      <p:sp>
        <p:nvSpPr>
          <p:cNvPr id="120858" name="Line 26"/>
          <p:cNvSpPr>
            <a:spLocks noChangeShapeType="1"/>
          </p:cNvSpPr>
          <p:nvPr/>
        </p:nvSpPr>
        <p:spPr bwMode="auto">
          <a:xfrm>
            <a:off x="1801813" y="315595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59" name="AutoShape 27"/>
          <p:cNvSpPr>
            <a:spLocks noChangeArrowheads="1"/>
          </p:cNvSpPr>
          <p:nvPr/>
        </p:nvSpPr>
        <p:spPr bwMode="auto">
          <a:xfrm>
            <a:off x="1763713" y="4089400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0860" name="Text Box 28"/>
          <p:cNvSpPr txBox="1">
            <a:spLocks noChangeArrowheads="1"/>
          </p:cNvSpPr>
          <p:nvPr/>
        </p:nvSpPr>
        <p:spPr bwMode="auto">
          <a:xfrm>
            <a:off x="1658938" y="4071938"/>
            <a:ext cx="731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1800" i="1">
                <a:latin typeface="ISOCPEUR" pitchFamily="34" charset="0"/>
              </a:rPr>
              <a:t>b </a:t>
            </a:r>
            <a:endParaRPr lang="en-US" altLang="zh-CN" sz="1800" i="1">
              <a:solidFill>
                <a:srgbClr val="D60093"/>
              </a:solidFill>
              <a:latin typeface="ISOCPEUR" pitchFamily="34" charset="0"/>
            </a:endParaRPr>
          </a:p>
        </p:txBody>
      </p:sp>
      <p:sp>
        <p:nvSpPr>
          <p:cNvPr id="120861" name="Text Box 29"/>
          <p:cNvSpPr txBox="1">
            <a:spLocks noChangeArrowheads="1"/>
          </p:cNvSpPr>
          <p:nvPr/>
        </p:nvSpPr>
        <p:spPr bwMode="auto">
          <a:xfrm>
            <a:off x="330200" y="4881563"/>
            <a:ext cx="881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>
                <a:ea typeface="黑体" pitchFamily="2" charset="-122"/>
              </a:rPr>
              <a:t> </a:t>
            </a:r>
            <a:r>
              <a:rPr lang="zh-CN" altLang="en-US" sz="2000">
                <a:ea typeface="黑体" pitchFamily="2" charset="-122"/>
              </a:rPr>
              <a:t>直线</a:t>
            </a:r>
            <a:r>
              <a:rPr lang="zh-CN" altLang="zh-CN" sz="2000">
                <a:ea typeface="黑体" pitchFamily="2" charset="-122"/>
              </a:rPr>
              <a:t>垂直于</a:t>
            </a:r>
            <a:r>
              <a:rPr lang="zh-CN" altLang="en-US" sz="2000">
                <a:ea typeface="黑体" pitchFamily="2" charset="-122"/>
              </a:rPr>
              <a:t>投影面：直线在该投影面上的投影积聚为点</a:t>
            </a:r>
          </a:p>
        </p:txBody>
      </p:sp>
      <p:sp>
        <p:nvSpPr>
          <p:cNvPr id="120862" name="Line 30"/>
          <p:cNvSpPr>
            <a:spLocks noChangeShapeType="1"/>
          </p:cNvSpPr>
          <p:nvPr/>
        </p:nvSpPr>
        <p:spPr bwMode="auto">
          <a:xfrm>
            <a:off x="4030663" y="3898900"/>
            <a:ext cx="1047750" cy="5143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63" name="Line 31"/>
          <p:cNvSpPr>
            <a:spLocks noChangeShapeType="1"/>
          </p:cNvSpPr>
          <p:nvPr/>
        </p:nvSpPr>
        <p:spPr bwMode="auto">
          <a:xfrm>
            <a:off x="4030663" y="2317750"/>
            <a:ext cx="0" cy="158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64" name="Line 32"/>
          <p:cNvSpPr>
            <a:spLocks noChangeShapeType="1"/>
          </p:cNvSpPr>
          <p:nvPr/>
        </p:nvSpPr>
        <p:spPr bwMode="auto">
          <a:xfrm>
            <a:off x="5078413" y="2832100"/>
            <a:ext cx="0" cy="158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65" name="Text Box 33"/>
          <p:cNvSpPr txBox="1">
            <a:spLocks noChangeArrowheads="1"/>
          </p:cNvSpPr>
          <p:nvPr/>
        </p:nvSpPr>
        <p:spPr bwMode="auto">
          <a:xfrm>
            <a:off x="3821113" y="3822700"/>
            <a:ext cx="306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FF3300"/>
                </a:solidFill>
                <a:latin typeface="ISOCPEUR" pitchFamily="34" charset="0"/>
              </a:rPr>
              <a:t>c</a:t>
            </a:r>
            <a:endParaRPr lang="en-US" altLang="zh-CN" sz="2400" b="0">
              <a:solidFill>
                <a:srgbClr val="FF3300"/>
              </a:solidFill>
              <a:latin typeface="ISOCPEUR" pitchFamily="34" charset="0"/>
            </a:endParaRPr>
          </a:p>
        </p:txBody>
      </p:sp>
      <p:sp>
        <p:nvSpPr>
          <p:cNvPr id="120866" name="Text Box 34"/>
          <p:cNvSpPr txBox="1">
            <a:spLocks noChangeArrowheads="1"/>
          </p:cNvSpPr>
          <p:nvPr/>
        </p:nvSpPr>
        <p:spPr bwMode="auto">
          <a:xfrm>
            <a:off x="4972050" y="4213225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FF3300"/>
                </a:solidFill>
                <a:latin typeface="ISOCPEUR" pitchFamily="34" charset="0"/>
              </a:rPr>
              <a:t>d</a:t>
            </a:r>
            <a:endParaRPr lang="en-US" altLang="zh-CN" sz="2400" b="0">
              <a:solidFill>
                <a:srgbClr val="FF3300"/>
              </a:solidFill>
              <a:latin typeface="ISOCPEUR" pitchFamily="34" charset="0"/>
            </a:endParaRPr>
          </a:p>
        </p:txBody>
      </p:sp>
      <p:sp>
        <p:nvSpPr>
          <p:cNvPr id="120867" name="Line 35"/>
          <p:cNvSpPr>
            <a:spLocks noChangeShapeType="1"/>
          </p:cNvSpPr>
          <p:nvPr/>
        </p:nvSpPr>
        <p:spPr bwMode="auto">
          <a:xfrm>
            <a:off x="6411913" y="4003675"/>
            <a:ext cx="1104900" cy="28575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68" name="Line 36"/>
          <p:cNvSpPr>
            <a:spLocks noChangeShapeType="1"/>
          </p:cNvSpPr>
          <p:nvPr/>
        </p:nvSpPr>
        <p:spPr bwMode="auto">
          <a:xfrm flipH="1" flipV="1">
            <a:off x="6411913" y="2879725"/>
            <a:ext cx="11049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69" name="Line 37"/>
          <p:cNvSpPr>
            <a:spLocks noChangeShapeType="1"/>
          </p:cNvSpPr>
          <p:nvPr/>
        </p:nvSpPr>
        <p:spPr bwMode="auto">
          <a:xfrm>
            <a:off x="6411913" y="2327275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70" name="Line 38"/>
          <p:cNvSpPr>
            <a:spLocks noChangeShapeType="1"/>
          </p:cNvSpPr>
          <p:nvPr/>
        </p:nvSpPr>
        <p:spPr bwMode="auto">
          <a:xfrm>
            <a:off x="7516813" y="3155950"/>
            <a:ext cx="0" cy="1123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71" name="Text Box 39"/>
          <p:cNvSpPr txBox="1">
            <a:spLocks noChangeArrowheads="1"/>
          </p:cNvSpPr>
          <p:nvPr/>
        </p:nvSpPr>
        <p:spPr bwMode="auto">
          <a:xfrm>
            <a:off x="6164263" y="3879850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CC"/>
                </a:solidFill>
                <a:latin typeface="ISOCPEUR" pitchFamily="34" charset="0"/>
              </a:rPr>
              <a:t>e</a:t>
            </a:r>
            <a:endParaRPr lang="en-US" altLang="zh-CN" sz="2400" b="0" i="1">
              <a:latin typeface="ISOCPEUR" pitchFamily="34" charset="0"/>
            </a:endParaRPr>
          </a:p>
        </p:txBody>
      </p:sp>
      <p:sp>
        <p:nvSpPr>
          <p:cNvPr id="120872" name="Text Box 40"/>
          <p:cNvSpPr txBox="1">
            <a:spLocks noChangeArrowheads="1"/>
          </p:cNvSpPr>
          <p:nvPr/>
        </p:nvSpPr>
        <p:spPr bwMode="auto">
          <a:xfrm>
            <a:off x="7258050" y="4241800"/>
            <a:ext cx="306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CC"/>
                </a:solidFill>
                <a:latin typeface="ISOCPEUR" pitchFamily="34" charset="0"/>
              </a:rPr>
              <a:t>f</a:t>
            </a:r>
            <a:endParaRPr lang="en-US" altLang="zh-CN" sz="2400" b="0" i="1">
              <a:solidFill>
                <a:srgbClr val="0000CC"/>
              </a:solidFill>
              <a:latin typeface="ISOCPEUR" pitchFamily="34" charset="0"/>
            </a:endParaRPr>
          </a:p>
        </p:txBody>
      </p:sp>
      <p:sp>
        <p:nvSpPr>
          <p:cNvPr id="120873" name="Arc 41"/>
          <p:cNvSpPr>
            <a:spLocks/>
          </p:cNvSpPr>
          <p:nvPr/>
        </p:nvSpPr>
        <p:spPr bwMode="auto">
          <a:xfrm>
            <a:off x="6972300" y="2794000"/>
            <a:ext cx="546100" cy="361950"/>
          </a:xfrm>
          <a:custGeom>
            <a:avLst/>
            <a:gdLst>
              <a:gd name="T0" fmla="*/ 0 w 21156"/>
              <a:gd name="T1" fmla="*/ 2147483647 h 11027"/>
              <a:gd name="T2" fmla="*/ 2147483647 w 21156"/>
              <a:gd name="T3" fmla="*/ 0 h 11027"/>
              <a:gd name="T4" fmla="*/ 2147483647 w 21156"/>
              <a:gd name="T5" fmla="*/ 2147483647 h 11027"/>
              <a:gd name="T6" fmla="*/ 0 60000 65536"/>
              <a:gd name="T7" fmla="*/ 0 60000 65536"/>
              <a:gd name="T8" fmla="*/ 0 60000 65536"/>
              <a:gd name="T9" fmla="*/ 0 w 21156"/>
              <a:gd name="T10" fmla="*/ 0 h 11027"/>
              <a:gd name="T11" fmla="*/ 21156 w 21156"/>
              <a:gd name="T12" fmla="*/ 11027 h 110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156" h="11027" fill="none" extrusionOk="0">
                <a:moveTo>
                  <a:pt x="-1" y="6669"/>
                </a:moveTo>
                <a:cubicBezTo>
                  <a:pt x="484" y="4318"/>
                  <a:pt x="1357" y="2064"/>
                  <a:pt x="2582" y="-1"/>
                </a:cubicBezTo>
              </a:path>
              <a:path w="21156" h="11027" stroke="0" extrusionOk="0">
                <a:moveTo>
                  <a:pt x="-1" y="6669"/>
                </a:moveTo>
                <a:cubicBezTo>
                  <a:pt x="484" y="4318"/>
                  <a:pt x="1357" y="2064"/>
                  <a:pt x="2582" y="-1"/>
                </a:cubicBezTo>
                <a:lnTo>
                  <a:pt x="21156" y="11027"/>
                </a:lnTo>
                <a:lnTo>
                  <a:pt x="-1" y="666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74" name="Text Box 42"/>
          <p:cNvSpPr txBox="1">
            <a:spLocks noChangeArrowheads="1"/>
          </p:cNvSpPr>
          <p:nvPr/>
        </p:nvSpPr>
        <p:spPr bwMode="auto">
          <a:xfrm>
            <a:off x="6702425" y="2616200"/>
            <a:ext cx="36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ym typeface="UniversalMath1 BT" pitchFamily="18" charset="2"/>
              </a:rPr>
              <a:t></a:t>
            </a:r>
            <a:endParaRPr lang="en-US" altLang="zh-CN" sz="2400" b="0"/>
          </a:p>
        </p:txBody>
      </p:sp>
      <p:sp>
        <p:nvSpPr>
          <p:cNvPr id="120875" name="Text Box 43"/>
          <p:cNvSpPr txBox="1">
            <a:spLocks noChangeArrowheads="1"/>
          </p:cNvSpPr>
          <p:nvPr/>
        </p:nvSpPr>
        <p:spPr bwMode="auto">
          <a:xfrm>
            <a:off x="341313" y="5273675"/>
            <a:ext cx="873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>
                <a:ea typeface="黑体" pitchFamily="2" charset="-122"/>
              </a:rPr>
              <a:t> </a:t>
            </a:r>
            <a:r>
              <a:rPr lang="zh-CN" altLang="en-US" sz="2000">
                <a:ea typeface="黑体" pitchFamily="2" charset="-122"/>
              </a:rPr>
              <a:t>直线</a:t>
            </a:r>
            <a:r>
              <a:rPr lang="zh-CN" altLang="zh-CN" sz="2000">
                <a:ea typeface="黑体" pitchFamily="2" charset="-122"/>
              </a:rPr>
              <a:t>平行于</a:t>
            </a:r>
            <a:r>
              <a:rPr lang="zh-CN" altLang="en-US" sz="2000">
                <a:ea typeface="黑体" pitchFamily="2" charset="-122"/>
              </a:rPr>
              <a:t>投影面：直线在该投影面上的投影反映实长</a:t>
            </a:r>
          </a:p>
        </p:txBody>
      </p:sp>
      <p:sp>
        <p:nvSpPr>
          <p:cNvPr id="120876" name="Text Box 44"/>
          <p:cNvSpPr txBox="1">
            <a:spLocks noChangeArrowheads="1"/>
          </p:cNvSpPr>
          <p:nvPr/>
        </p:nvSpPr>
        <p:spPr bwMode="auto">
          <a:xfrm>
            <a:off x="349250" y="5654675"/>
            <a:ext cx="8729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>
                <a:ea typeface="黑体" pitchFamily="2" charset="-122"/>
              </a:rPr>
              <a:t> </a:t>
            </a:r>
            <a:r>
              <a:rPr lang="zh-CN" altLang="en-US" sz="2000">
                <a:ea typeface="黑体" pitchFamily="2" charset="-122"/>
              </a:rPr>
              <a:t>直线</a:t>
            </a:r>
            <a:r>
              <a:rPr lang="zh-CN" altLang="zh-CN" sz="2000">
                <a:ea typeface="黑体" pitchFamily="2" charset="-122"/>
              </a:rPr>
              <a:t>倾斜于</a:t>
            </a:r>
            <a:r>
              <a:rPr lang="zh-CN" altLang="en-US" sz="2000">
                <a:ea typeface="黑体" pitchFamily="2" charset="-122"/>
              </a:rPr>
              <a:t>投影面：直线在该投影面上的投影缩短</a:t>
            </a:r>
          </a:p>
        </p:txBody>
      </p:sp>
      <p:sp>
        <p:nvSpPr>
          <p:cNvPr id="4122" name="Rectangle 45"/>
          <p:cNvSpPr>
            <a:spLocks noChangeArrowheads="1"/>
          </p:cNvSpPr>
          <p:nvPr/>
        </p:nvSpPr>
        <p:spPr bwMode="auto">
          <a:xfrm>
            <a:off x="696913" y="1117600"/>
            <a:ext cx="822642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一．直线在单一投影面上的投影</a:t>
            </a:r>
          </a:p>
        </p:txBody>
      </p:sp>
      <p:sp>
        <p:nvSpPr>
          <p:cNvPr id="120878" name="Text Box 46"/>
          <p:cNvSpPr txBox="1">
            <a:spLocks noChangeArrowheads="1"/>
          </p:cNvSpPr>
          <p:nvPr/>
        </p:nvSpPr>
        <p:spPr bwMode="auto">
          <a:xfrm>
            <a:off x="7137400" y="4843463"/>
            <a:ext cx="1479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ea typeface="黑体" pitchFamily="2" charset="-122"/>
              </a:rPr>
              <a:t>积聚性</a:t>
            </a:r>
          </a:p>
        </p:txBody>
      </p:sp>
      <p:sp>
        <p:nvSpPr>
          <p:cNvPr id="120879" name="Text Box 47"/>
          <p:cNvSpPr txBox="1">
            <a:spLocks noChangeArrowheads="1"/>
          </p:cNvSpPr>
          <p:nvPr/>
        </p:nvSpPr>
        <p:spPr bwMode="auto">
          <a:xfrm>
            <a:off x="7143750" y="5280025"/>
            <a:ext cx="1479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ea typeface="黑体" pitchFamily="2" charset="-122"/>
              </a:rPr>
              <a:t>实形性</a:t>
            </a:r>
          </a:p>
        </p:txBody>
      </p:sp>
      <p:sp>
        <p:nvSpPr>
          <p:cNvPr id="120880" name="Text Box 48"/>
          <p:cNvSpPr txBox="1">
            <a:spLocks noChangeArrowheads="1"/>
          </p:cNvSpPr>
          <p:nvPr/>
        </p:nvSpPr>
        <p:spPr bwMode="auto">
          <a:xfrm>
            <a:off x="7154863" y="5699125"/>
            <a:ext cx="1479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ea typeface="黑体" pitchFamily="2" charset="-122"/>
              </a:rPr>
              <a:t>类似性</a:t>
            </a:r>
          </a:p>
        </p:txBody>
      </p:sp>
    </p:spTree>
    <p:extLst>
      <p:ext uri="{BB962C8B-B14F-4D97-AF65-F5344CB8AC3E}">
        <p14:creationId xmlns:p14="http://schemas.microsoft.com/office/powerpoint/2010/main" val="177736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0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0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0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0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0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0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120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0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0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0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0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2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3" dur="500"/>
                                        <p:tgtEl>
                                          <p:spTgt spid="120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8" dur="500"/>
                                        <p:tgtEl>
                                          <p:spTgt spid="120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3" dur="500"/>
                                        <p:tgtEl>
                                          <p:spTgt spid="120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58" grpId="0" animBg="1"/>
      <p:bldP spid="120859" grpId="0" animBg="1"/>
      <p:bldP spid="120860" grpId="0" autoUpdateAnimBg="0"/>
      <p:bldP spid="120861" grpId="0" autoUpdateAnimBg="0"/>
      <p:bldP spid="120862" grpId="0" animBg="1"/>
      <p:bldP spid="120863" grpId="0" animBg="1"/>
      <p:bldP spid="120864" grpId="0" animBg="1"/>
      <p:bldP spid="120865" grpId="0" autoUpdateAnimBg="0"/>
      <p:bldP spid="120866" grpId="0" autoUpdateAnimBg="0"/>
      <p:bldP spid="120867" grpId="0" animBg="1"/>
      <p:bldP spid="120868" grpId="0" animBg="1"/>
      <p:bldP spid="120869" grpId="0" animBg="1"/>
      <p:bldP spid="120870" grpId="0" animBg="1"/>
      <p:bldP spid="120871" grpId="0" autoUpdateAnimBg="0"/>
      <p:bldP spid="120872" grpId="0" autoUpdateAnimBg="0"/>
      <p:bldP spid="120873" grpId="0" animBg="1"/>
      <p:bldP spid="120874" grpId="0" autoUpdateAnimBg="0"/>
      <p:bldP spid="120875" grpId="0" autoUpdateAnimBg="0"/>
      <p:bldP spid="120876" grpId="0" autoUpdateAnimBg="0"/>
      <p:bldP spid="120878" grpId="0" autoUpdateAnimBg="0"/>
      <p:bldP spid="120879" grpId="0" autoUpdateAnimBg="0"/>
      <p:bldP spid="120880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FBB0F62-82EF-4783-82F2-16E197B186D1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39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341313" y="293688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二．直线在三投影面体系中的投影</a:t>
            </a:r>
          </a:p>
        </p:txBody>
      </p:sp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341313" y="2430463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 1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．投影面垂直线的投影</a:t>
            </a:r>
          </a:p>
        </p:txBody>
      </p:sp>
      <p:sp>
        <p:nvSpPr>
          <p:cNvPr id="121861" name="Text Box 5"/>
          <p:cNvSpPr txBox="1">
            <a:spLocks noChangeArrowheads="1"/>
          </p:cNvSpPr>
          <p:nvPr/>
        </p:nvSpPr>
        <p:spPr bwMode="auto">
          <a:xfrm>
            <a:off x="377825" y="3143250"/>
            <a:ext cx="8650288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在三投影面体系中，当直线垂直于某一个投影面时，则必同时平行于另两个投影面，这样的直线称为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投影面垂直线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共有三种投影面垂直线：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　　直线⊥投影面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铅垂线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直线⊥投影面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zh-CN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正垂线</a:t>
            </a:r>
            <a:endParaRPr lang="zh-CN" altLang="en-US" sz="240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　　直线⊥投影面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W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侧垂线</a:t>
            </a:r>
          </a:p>
        </p:txBody>
      </p:sp>
      <p:graphicFrame>
        <p:nvGraphicFramePr>
          <p:cNvPr id="121892" name="Group 36"/>
          <p:cNvGraphicFramePr>
            <a:graphicFrameLocks noGrp="1"/>
          </p:cNvGraphicFramePr>
          <p:nvPr/>
        </p:nvGraphicFramePr>
        <p:xfrm>
          <a:off x="1371600" y="1311275"/>
          <a:ext cx="5876925" cy="877888"/>
        </p:xfrm>
        <a:graphic>
          <a:graphicData uri="http://schemas.openxmlformats.org/drawingml/2006/table">
            <a:tbl>
              <a:tblPr/>
              <a:tblGrid>
                <a:gridCol w="2943225"/>
                <a:gridCol w="900113"/>
                <a:gridCol w="985837"/>
                <a:gridCol w="1047750"/>
              </a:tblGrid>
              <a:tr h="4397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相对于投影面名称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规定夹角的名称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</a:t>
                      </a:r>
                      <a:endParaRPr kumimoji="1" lang="en-US" altLang="zh-CN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</a:t>
                      </a:r>
                      <a:endParaRPr kumimoji="1" lang="en-US" altLang="zh-CN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</a:t>
                      </a:r>
                      <a:endParaRPr kumimoji="1" lang="en-US" altLang="zh-CN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1880" name="Text Box 24"/>
          <p:cNvSpPr txBox="1">
            <a:spLocks noChangeArrowheads="1"/>
          </p:cNvSpPr>
          <p:nvPr/>
        </p:nvSpPr>
        <p:spPr bwMode="auto">
          <a:xfrm>
            <a:off x="338138" y="874713"/>
            <a:ext cx="8821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直线与投影面夹角的规定名称</a:t>
            </a:r>
          </a:p>
        </p:txBody>
      </p:sp>
    </p:spTree>
    <p:extLst>
      <p:ext uri="{BB962C8B-B14F-4D97-AF65-F5344CB8AC3E}">
        <p14:creationId xmlns:p14="http://schemas.microsoft.com/office/powerpoint/2010/main" val="192120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1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1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18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18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218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 autoUpdateAnimBg="0"/>
      <p:bldP spid="121861" grpId="0" build="p" autoUpdateAnimBg="0"/>
      <p:bldP spid="12188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A95D122-5439-4F31-833E-5D20435253B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40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6147" name="Group 2"/>
          <p:cNvGrpSpPr>
            <a:grpSpLocks/>
          </p:cNvGrpSpPr>
          <p:nvPr/>
        </p:nvGrpSpPr>
        <p:grpSpPr bwMode="auto">
          <a:xfrm>
            <a:off x="5160963" y="1427163"/>
            <a:ext cx="3556000" cy="3211512"/>
            <a:chOff x="3251" y="899"/>
            <a:chExt cx="2240" cy="2023"/>
          </a:xfrm>
        </p:grpSpPr>
        <p:sp>
          <p:nvSpPr>
            <p:cNvPr id="6195" name="Line 3"/>
            <p:cNvSpPr>
              <a:spLocks noChangeShapeType="1"/>
            </p:cNvSpPr>
            <p:nvPr/>
          </p:nvSpPr>
          <p:spPr bwMode="auto">
            <a:xfrm>
              <a:off x="5491" y="1656"/>
              <a:ext cx="0" cy="12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196" name="Group 4"/>
            <p:cNvGrpSpPr>
              <a:grpSpLocks/>
            </p:cNvGrpSpPr>
            <p:nvPr/>
          </p:nvGrpSpPr>
          <p:grpSpPr bwMode="auto">
            <a:xfrm>
              <a:off x="3251" y="899"/>
              <a:ext cx="2240" cy="2023"/>
              <a:chOff x="3251" y="899"/>
              <a:chExt cx="2240" cy="2023"/>
            </a:xfrm>
          </p:grpSpPr>
          <p:sp>
            <p:nvSpPr>
              <p:cNvPr id="6197" name="Rectangle 5"/>
              <p:cNvSpPr>
                <a:spLocks noChangeArrowheads="1"/>
              </p:cNvSpPr>
              <p:nvPr/>
            </p:nvSpPr>
            <p:spPr bwMode="auto">
              <a:xfrm>
                <a:off x="3255" y="902"/>
                <a:ext cx="1479" cy="1211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6198" name="Freeform 6"/>
              <p:cNvSpPr>
                <a:spLocks/>
              </p:cNvSpPr>
              <p:nvPr/>
            </p:nvSpPr>
            <p:spPr bwMode="auto">
              <a:xfrm>
                <a:off x="3255" y="901"/>
                <a:ext cx="1481" cy="1213"/>
              </a:xfrm>
              <a:custGeom>
                <a:avLst/>
                <a:gdLst>
                  <a:gd name="T0" fmla="*/ 1118 w 1589"/>
                  <a:gd name="T1" fmla="*/ 0 h 1300"/>
                  <a:gd name="T2" fmla="*/ 0 w 1589"/>
                  <a:gd name="T3" fmla="*/ 0 h 1300"/>
                  <a:gd name="T4" fmla="*/ 0 w 1589"/>
                  <a:gd name="T5" fmla="*/ 919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9" name="Freeform 7"/>
              <p:cNvSpPr>
                <a:spLocks/>
              </p:cNvSpPr>
              <p:nvPr/>
            </p:nvSpPr>
            <p:spPr bwMode="auto">
              <a:xfrm>
                <a:off x="4736" y="901"/>
                <a:ext cx="749" cy="1959"/>
              </a:xfrm>
              <a:custGeom>
                <a:avLst/>
                <a:gdLst>
                  <a:gd name="T0" fmla="*/ 0 w 804"/>
                  <a:gd name="T1" fmla="*/ 0 h 2100"/>
                  <a:gd name="T2" fmla="*/ 0 w 804"/>
                  <a:gd name="T3" fmla="*/ 915 h 2100"/>
                  <a:gd name="T4" fmla="*/ 565 w 804"/>
                  <a:gd name="T5" fmla="*/ 1483 h 2100"/>
                  <a:gd name="T6" fmla="*/ 565 w 804"/>
                  <a:gd name="T7" fmla="*/ 573 h 2100"/>
                  <a:gd name="T8" fmla="*/ 0 w 804"/>
                  <a:gd name="T9" fmla="*/ 0 h 2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4"/>
                  <a:gd name="T16" fmla="*/ 0 h 2100"/>
                  <a:gd name="T17" fmla="*/ 804 w 804"/>
                  <a:gd name="T18" fmla="*/ 2100 h 2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4" h="2100">
                    <a:moveTo>
                      <a:pt x="0" y="0"/>
                    </a:moveTo>
                    <a:lnTo>
                      <a:pt x="0" y="1296"/>
                    </a:lnTo>
                    <a:lnTo>
                      <a:pt x="804" y="2100"/>
                    </a:lnTo>
                    <a:lnTo>
                      <a:pt x="804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0" name="Freeform 8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1122 w 2400"/>
                  <a:gd name="T3" fmla="*/ 0 h 810"/>
                  <a:gd name="T4" fmla="*/ 1692 w 2400"/>
                  <a:gd name="T5" fmla="*/ 574 h 810"/>
                  <a:gd name="T6" fmla="*/ 575 w 2400"/>
                  <a:gd name="T7" fmla="*/ 574 h 810"/>
                  <a:gd name="T8" fmla="*/ 0 w 2400"/>
                  <a:gd name="T9" fmla="*/ 0 h 8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0"/>
                  <a:gd name="T16" fmla="*/ 0 h 810"/>
                  <a:gd name="T17" fmla="*/ 2400 w 2400"/>
                  <a:gd name="T18" fmla="*/ 810 h 8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0" h="810">
                    <a:moveTo>
                      <a:pt x="0" y="0"/>
                    </a:moveTo>
                    <a:lnTo>
                      <a:pt x="1590" y="0"/>
                    </a:lnTo>
                    <a:lnTo>
                      <a:pt x="2400" y="810"/>
                    </a:lnTo>
                    <a:lnTo>
                      <a:pt x="816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1" name="Line 9"/>
              <p:cNvSpPr>
                <a:spLocks noChangeShapeType="1"/>
              </p:cNvSpPr>
              <p:nvPr/>
            </p:nvSpPr>
            <p:spPr bwMode="auto">
              <a:xfrm>
                <a:off x="4736" y="901"/>
                <a:ext cx="755" cy="75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2" name="Freeform 10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571 w 2400"/>
                  <a:gd name="T3" fmla="*/ 574 h 810"/>
                  <a:gd name="T4" fmla="*/ 1692 w 2400"/>
                  <a:gd name="T5" fmla="*/ 574 h 810"/>
                  <a:gd name="T6" fmla="*/ 0 60000 65536"/>
                  <a:gd name="T7" fmla="*/ 0 60000 65536"/>
                  <a:gd name="T8" fmla="*/ 0 60000 65536"/>
                  <a:gd name="T9" fmla="*/ 0 w 2400"/>
                  <a:gd name="T10" fmla="*/ 0 h 810"/>
                  <a:gd name="T11" fmla="*/ 2400 w 2400"/>
                  <a:gd name="T12" fmla="*/ 810 h 8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0" h="810">
                    <a:moveTo>
                      <a:pt x="0" y="0"/>
                    </a:moveTo>
                    <a:lnTo>
                      <a:pt x="810" y="810"/>
                    </a:lnTo>
                    <a:lnTo>
                      <a:pt x="2400" y="81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3" name="Text Box 11"/>
              <p:cNvSpPr txBox="1">
                <a:spLocks noChangeArrowheads="1"/>
              </p:cNvSpPr>
              <p:nvPr/>
            </p:nvSpPr>
            <p:spPr bwMode="auto">
              <a:xfrm>
                <a:off x="5215" y="1570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W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6204" name="Text Box 12"/>
              <p:cNvSpPr txBox="1">
                <a:spLocks noChangeArrowheads="1"/>
              </p:cNvSpPr>
              <p:nvPr/>
            </p:nvSpPr>
            <p:spPr bwMode="auto">
              <a:xfrm>
                <a:off x="3277" y="89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V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6205" name="Text Box 13"/>
              <p:cNvSpPr txBox="1">
                <a:spLocks noChangeArrowheads="1"/>
              </p:cNvSpPr>
              <p:nvPr/>
            </p:nvSpPr>
            <p:spPr bwMode="auto">
              <a:xfrm>
                <a:off x="3972" y="263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H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</p:grpSp>
      </p:grpSp>
      <p:sp>
        <p:nvSpPr>
          <p:cNvPr id="6148" name="Text Box 14"/>
          <p:cNvSpPr txBox="1">
            <a:spLocks noChangeArrowheads="1"/>
          </p:cNvSpPr>
          <p:nvPr/>
        </p:nvSpPr>
        <p:spPr bwMode="auto">
          <a:xfrm>
            <a:off x="192088" y="152400"/>
            <a:ext cx="8951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以</a:t>
            </a:r>
            <a:r>
              <a:rPr lang="zh-CN" altLang="zh-CN" sz="2800">
                <a:latin typeface="黑体" pitchFamily="2" charset="-122"/>
                <a:ea typeface="黑体" pitchFamily="2" charset="-122"/>
              </a:rPr>
              <a:t>正垂线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AB </a:t>
            </a:r>
            <a:r>
              <a:rPr lang="zh-CN" altLang="zh-CN" sz="2800">
                <a:latin typeface="黑体" pitchFamily="2" charset="-122"/>
                <a:ea typeface="黑体" pitchFamily="2" charset="-122"/>
              </a:rPr>
              <a:t>为例，讨论其投影特性：</a:t>
            </a:r>
            <a:endParaRPr lang="zh-CN" altLang="en-US" sz="280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149" name="Group 15"/>
          <p:cNvGrpSpPr>
            <a:grpSpLocks/>
          </p:cNvGrpSpPr>
          <p:nvPr/>
        </p:nvGrpSpPr>
        <p:grpSpPr bwMode="auto">
          <a:xfrm>
            <a:off x="19050" y="590550"/>
            <a:ext cx="4494213" cy="4229100"/>
            <a:chOff x="12" y="372"/>
            <a:chExt cx="2831" cy="2664"/>
          </a:xfrm>
        </p:grpSpPr>
        <p:sp>
          <p:nvSpPr>
            <p:cNvPr id="6188" name="Line 16"/>
            <p:cNvSpPr>
              <a:spLocks noChangeShapeType="1"/>
            </p:cNvSpPr>
            <p:nvPr/>
          </p:nvSpPr>
          <p:spPr bwMode="auto">
            <a:xfrm>
              <a:off x="199" y="1704"/>
              <a:ext cx="24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9" name="Line 17"/>
            <p:cNvSpPr>
              <a:spLocks noChangeShapeType="1"/>
            </p:cNvSpPr>
            <p:nvPr/>
          </p:nvSpPr>
          <p:spPr bwMode="auto">
            <a:xfrm>
              <a:off x="1315" y="552"/>
              <a:ext cx="0" cy="2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90" name="Text Box 18"/>
            <p:cNvSpPr txBox="1">
              <a:spLocks noChangeArrowheads="1"/>
            </p:cNvSpPr>
            <p:nvPr/>
          </p:nvSpPr>
          <p:spPr bwMode="auto">
            <a:xfrm>
              <a:off x="12" y="145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6191" name="Text Box 19"/>
            <p:cNvSpPr txBox="1">
              <a:spLocks noChangeArrowheads="1"/>
            </p:cNvSpPr>
            <p:nvPr/>
          </p:nvSpPr>
          <p:spPr bwMode="auto">
            <a:xfrm>
              <a:off x="1302" y="1476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6192" name="Text Box 20"/>
            <p:cNvSpPr txBox="1">
              <a:spLocks noChangeArrowheads="1"/>
            </p:cNvSpPr>
            <p:nvPr/>
          </p:nvSpPr>
          <p:spPr bwMode="auto">
            <a:xfrm>
              <a:off x="2518" y="1416"/>
              <a:ext cx="3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W</a:t>
              </a:r>
            </a:p>
          </p:txBody>
        </p:sp>
        <p:sp>
          <p:nvSpPr>
            <p:cNvPr id="6193" name="Text Box 21"/>
            <p:cNvSpPr txBox="1">
              <a:spLocks noChangeArrowheads="1"/>
            </p:cNvSpPr>
            <p:nvPr/>
          </p:nvSpPr>
          <p:spPr bwMode="auto">
            <a:xfrm>
              <a:off x="1313" y="372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 </a:t>
              </a:r>
            </a:p>
          </p:txBody>
        </p:sp>
        <p:sp>
          <p:nvSpPr>
            <p:cNvPr id="6194" name="Text Box 22"/>
            <p:cNvSpPr txBox="1">
              <a:spLocks noChangeArrowheads="1"/>
            </p:cNvSpPr>
            <p:nvPr/>
          </p:nvSpPr>
          <p:spPr bwMode="auto">
            <a:xfrm>
              <a:off x="1344" y="2748"/>
              <a:ext cx="2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H</a:t>
              </a:r>
            </a:p>
          </p:txBody>
        </p:sp>
      </p:grpSp>
      <p:sp>
        <p:nvSpPr>
          <p:cNvPr id="122903" name="Line 23"/>
          <p:cNvSpPr>
            <a:spLocks noChangeShapeType="1"/>
          </p:cNvSpPr>
          <p:nvPr/>
        </p:nvSpPr>
        <p:spPr bwMode="auto">
          <a:xfrm>
            <a:off x="6921500" y="3387725"/>
            <a:ext cx="128905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04" name="Line 24"/>
          <p:cNvSpPr>
            <a:spLocks noChangeShapeType="1"/>
          </p:cNvSpPr>
          <p:nvPr/>
        </p:nvSpPr>
        <p:spPr bwMode="auto">
          <a:xfrm>
            <a:off x="6381750" y="2847975"/>
            <a:ext cx="130175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05" name="Line 25"/>
          <p:cNvSpPr>
            <a:spLocks noChangeShapeType="1"/>
          </p:cNvSpPr>
          <p:nvPr/>
        </p:nvSpPr>
        <p:spPr bwMode="auto">
          <a:xfrm>
            <a:off x="6908800" y="3387725"/>
            <a:ext cx="0" cy="984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06" name="Line 26"/>
          <p:cNvSpPr>
            <a:spLocks noChangeShapeType="1"/>
          </p:cNvSpPr>
          <p:nvPr/>
        </p:nvSpPr>
        <p:spPr bwMode="auto">
          <a:xfrm>
            <a:off x="6375400" y="2854325"/>
            <a:ext cx="0" cy="984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07" name="Line 27"/>
          <p:cNvSpPr>
            <a:spLocks noChangeShapeType="1"/>
          </p:cNvSpPr>
          <p:nvPr/>
        </p:nvSpPr>
        <p:spPr bwMode="auto">
          <a:xfrm flipH="1" flipV="1">
            <a:off x="6203950" y="2676525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08" name="AutoShape 28"/>
          <p:cNvSpPr>
            <a:spLocks noChangeArrowheads="1"/>
          </p:cNvSpPr>
          <p:nvPr/>
        </p:nvSpPr>
        <p:spPr bwMode="auto">
          <a:xfrm>
            <a:off x="6170613" y="2643188"/>
            <a:ext cx="69850" cy="6985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22909" name="Line 29"/>
          <p:cNvSpPr>
            <a:spLocks noChangeShapeType="1"/>
          </p:cNvSpPr>
          <p:nvPr/>
        </p:nvSpPr>
        <p:spPr bwMode="auto">
          <a:xfrm>
            <a:off x="6381750" y="2854325"/>
            <a:ext cx="533400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10" name="Line 30"/>
          <p:cNvSpPr>
            <a:spLocks noChangeShapeType="1"/>
          </p:cNvSpPr>
          <p:nvPr/>
        </p:nvSpPr>
        <p:spPr bwMode="auto">
          <a:xfrm>
            <a:off x="6370638" y="3832225"/>
            <a:ext cx="52705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11" name="Line 31"/>
          <p:cNvSpPr>
            <a:spLocks noChangeShapeType="1"/>
          </p:cNvSpPr>
          <p:nvPr/>
        </p:nvSpPr>
        <p:spPr bwMode="auto">
          <a:xfrm>
            <a:off x="7677150" y="2854325"/>
            <a:ext cx="52705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12" name="Text Box 32"/>
          <p:cNvSpPr txBox="1">
            <a:spLocks noChangeArrowheads="1"/>
          </p:cNvSpPr>
          <p:nvPr/>
        </p:nvSpPr>
        <p:spPr bwMode="auto">
          <a:xfrm>
            <a:off x="6840538" y="3028950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A</a:t>
            </a:r>
          </a:p>
        </p:txBody>
      </p:sp>
      <p:sp>
        <p:nvSpPr>
          <p:cNvPr id="122913" name="Text Box 33"/>
          <p:cNvSpPr txBox="1">
            <a:spLocks noChangeArrowheads="1"/>
          </p:cNvSpPr>
          <p:nvPr/>
        </p:nvSpPr>
        <p:spPr bwMode="auto">
          <a:xfrm>
            <a:off x="6081713" y="2705100"/>
            <a:ext cx="34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B</a:t>
            </a:r>
          </a:p>
        </p:txBody>
      </p:sp>
      <p:sp>
        <p:nvSpPr>
          <p:cNvPr id="122914" name="Text Box 34"/>
          <p:cNvSpPr txBox="1">
            <a:spLocks noChangeArrowheads="1"/>
          </p:cNvSpPr>
          <p:nvPr/>
        </p:nvSpPr>
        <p:spPr bwMode="auto">
          <a:xfrm>
            <a:off x="5780088" y="2335213"/>
            <a:ext cx="1127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a'</a:t>
            </a: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22915" name="Text Box 35"/>
          <p:cNvSpPr txBox="1">
            <a:spLocks noChangeArrowheads="1"/>
          </p:cNvSpPr>
          <p:nvPr/>
        </p:nvSpPr>
        <p:spPr bwMode="auto">
          <a:xfrm>
            <a:off x="6864350" y="422116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22916" name="Text Box 36"/>
          <p:cNvSpPr txBox="1">
            <a:spLocks noChangeArrowheads="1"/>
          </p:cNvSpPr>
          <p:nvPr/>
        </p:nvSpPr>
        <p:spPr bwMode="auto">
          <a:xfrm>
            <a:off x="6097588" y="3721100"/>
            <a:ext cx="2905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</a:p>
        </p:txBody>
      </p:sp>
      <p:sp>
        <p:nvSpPr>
          <p:cNvPr id="122917" name="Text Box 37"/>
          <p:cNvSpPr txBox="1">
            <a:spLocks noChangeArrowheads="1"/>
          </p:cNvSpPr>
          <p:nvPr/>
        </p:nvSpPr>
        <p:spPr bwMode="auto">
          <a:xfrm>
            <a:off x="7502525" y="2505075"/>
            <a:ext cx="493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 </a:t>
            </a:r>
          </a:p>
        </p:txBody>
      </p:sp>
      <p:sp>
        <p:nvSpPr>
          <p:cNvPr id="122918" name="Text Box 38"/>
          <p:cNvSpPr txBox="1">
            <a:spLocks noChangeArrowheads="1"/>
          </p:cNvSpPr>
          <p:nvPr/>
        </p:nvSpPr>
        <p:spPr bwMode="auto">
          <a:xfrm>
            <a:off x="8118475" y="3249613"/>
            <a:ext cx="506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 </a:t>
            </a:r>
          </a:p>
        </p:txBody>
      </p:sp>
      <p:sp>
        <p:nvSpPr>
          <p:cNvPr id="122919" name="Text Box 39"/>
          <p:cNvSpPr txBox="1">
            <a:spLocks noChangeArrowheads="1"/>
          </p:cNvSpPr>
          <p:nvPr/>
        </p:nvSpPr>
        <p:spPr bwMode="auto">
          <a:xfrm>
            <a:off x="436563" y="1516063"/>
            <a:ext cx="900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a’</a:t>
            </a:r>
            <a:r>
              <a:rPr lang="en-US" altLang="zh-CN" sz="800" i="1">
                <a:latin typeface="ISOCPEUR" pitchFamily="34" charset="0"/>
                <a:ea typeface="仿宋_GB2312" pitchFamily="49" charset="-122"/>
              </a:rPr>
              <a:t> </a:t>
            </a: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 </a:t>
            </a:r>
          </a:p>
        </p:txBody>
      </p:sp>
      <p:sp>
        <p:nvSpPr>
          <p:cNvPr id="122920" name="Line 40"/>
          <p:cNvSpPr>
            <a:spLocks noChangeShapeType="1"/>
          </p:cNvSpPr>
          <p:nvPr/>
        </p:nvSpPr>
        <p:spPr bwMode="auto">
          <a:xfrm>
            <a:off x="723900" y="192405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1" name="Text Box 41"/>
          <p:cNvSpPr txBox="1">
            <a:spLocks noChangeArrowheads="1"/>
          </p:cNvSpPr>
          <p:nvPr/>
        </p:nvSpPr>
        <p:spPr bwMode="auto">
          <a:xfrm>
            <a:off x="381000" y="401161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22922" name="Text Box 42"/>
          <p:cNvSpPr txBox="1">
            <a:spLocks noChangeArrowheads="1"/>
          </p:cNvSpPr>
          <p:nvPr/>
        </p:nvSpPr>
        <p:spPr bwMode="auto">
          <a:xfrm>
            <a:off x="363538" y="2997200"/>
            <a:ext cx="382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 </a:t>
            </a:r>
          </a:p>
        </p:txBody>
      </p:sp>
      <p:sp>
        <p:nvSpPr>
          <p:cNvPr id="122923" name="Line 43"/>
          <p:cNvSpPr>
            <a:spLocks noChangeShapeType="1"/>
          </p:cNvSpPr>
          <p:nvPr/>
        </p:nvSpPr>
        <p:spPr bwMode="auto">
          <a:xfrm>
            <a:off x="2085975" y="2705100"/>
            <a:ext cx="171450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4" name="Line 44"/>
          <p:cNvSpPr>
            <a:spLocks noChangeShapeType="1"/>
          </p:cNvSpPr>
          <p:nvPr/>
        </p:nvSpPr>
        <p:spPr bwMode="auto">
          <a:xfrm>
            <a:off x="723900" y="1924050"/>
            <a:ext cx="1365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5" name="Line 45"/>
          <p:cNvSpPr>
            <a:spLocks noChangeShapeType="1"/>
          </p:cNvSpPr>
          <p:nvPr/>
        </p:nvSpPr>
        <p:spPr bwMode="auto">
          <a:xfrm>
            <a:off x="720725" y="4260850"/>
            <a:ext cx="2927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6" name="Line 46"/>
          <p:cNvSpPr>
            <a:spLocks noChangeShapeType="1"/>
          </p:cNvSpPr>
          <p:nvPr/>
        </p:nvSpPr>
        <p:spPr bwMode="auto">
          <a:xfrm flipV="1">
            <a:off x="3640138" y="1949450"/>
            <a:ext cx="0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7" name="Text Box 47"/>
          <p:cNvSpPr txBox="1">
            <a:spLocks noChangeArrowheads="1"/>
          </p:cNvSpPr>
          <p:nvPr/>
        </p:nvSpPr>
        <p:spPr bwMode="auto">
          <a:xfrm>
            <a:off x="3492500" y="1554163"/>
            <a:ext cx="404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  <p:sp>
        <p:nvSpPr>
          <p:cNvPr id="122928" name="Line 48"/>
          <p:cNvSpPr>
            <a:spLocks noChangeShapeType="1"/>
          </p:cNvSpPr>
          <p:nvPr/>
        </p:nvSpPr>
        <p:spPr bwMode="auto">
          <a:xfrm>
            <a:off x="723900" y="3143250"/>
            <a:ext cx="0" cy="1123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9" name="Line 49"/>
          <p:cNvSpPr>
            <a:spLocks noChangeShapeType="1"/>
          </p:cNvSpPr>
          <p:nvPr/>
        </p:nvSpPr>
        <p:spPr bwMode="auto">
          <a:xfrm>
            <a:off x="723900" y="3143250"/>
            <a:ext cx="180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0" name="Line 50"/>
          <p:cNvSpPr>
            <a:spLocks noChangeShapeType="1"/>
          </p:cNvSpPr>
          <p:nvPr/>
        </p:nvSpPr>
        <p:spPr bwMode="auto">
          <a:xfrm flipV="1">
            <a:off x="2528888" y="192405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1" name="Line 51"/>
          <p:cNvSpPr>
            <a:spLocks noChangeShapeType="1"/>
          </p:cNvSpPr>
          <p:nvPr/>
        </p:nvSpPr>
        <p:spPr bwMode="auto">
          <a:xfrm>
            <a:off x="2089150" y="1930400"/>
            <a:ext cx="155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2" name="Line 52"/>
          <p:cNvSpPr>
            <a:spLocks noChangeShapeType="1"/>
          </p:cNvSpPr>
          <p:nvPr/>
        </p:nvSpPr>
        <p:spPr bwMode="auto">
          <a:xfrm>
            <a:off x="2533650" y="1930400"/>
            <a:ext cx="1111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3" name="Text Box 53"/>
          <p:cNvSpPr txBox="1">
            <a:spLocks noChangeArrowheads="1"/>
          </p:cNvSpPr>
          <p:nvPr/>
        </p:nvSpPr>
        <p:spPr bwMode="auto">
          <a:xfrm>
            <a:off x="2393950" y="1554163"/>
            <a:ext cx="3921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122934" name="Text Box 54"/>
          <p:cNvSpPr txBox="1">
            <a:spLocks noChangeArrowheads="1"/>
          </p:cNvSpPr>
          <p:nvPr/>
        </p:nvSpPr>
        <p:spPr bwMode="auto">
          <a:xfrm>
            <a:off x="2871788" y="693738"/>
            <a:ext cx="6272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  <a:sym typeface="Symbol" pitchFamily="18" charset="2"/>
              </a:rPr>
              <a:t>∵ 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AB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⊥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V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  <a:r>
              <a:rPr lang="zh-CN" altLang="en-US" sz="2400">
                <a:latin typeface="黑体" pitchFamily="2" charset="-122"/>
                <a:ea typeface="黑体" pitchFamily="2" charset="-122"/>
                <a:sym typeface="Symbol" pitchFamily="18" charset="2"/>
              </a:rPr>
              <a:t>∴ 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AB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∥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H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AB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∥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W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122935" name="Text Box 55"/>
          <p:cNvSpPr txBox="1">
            <a:spLocks noChangeArrowheads="1"/>
          </p:cNvSpPr>
          <p:nvPr/>
        </p:nvSpPr>
        <p:spPr bwMode="auto">
          <a:xfrm>
            <a:off x="255588" y="4751388"/>
            <a:ext cx="8888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①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a’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≡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b’ 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②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ab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=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a”b”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=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AB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=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L</a:t>
            </a:r>
            <a:r>
              <a:rPr lang="en-US" altLang="zh-CN" sz="2800" i="1" baseline="-25000">
                <a:latin typeface="ISOCPEUR" pitchFamily="34" charset="0"/>
                <a:ea typeface="黑体" pitchFamily="2" charset="-122"/>
              </a:rPr>
              <a:t>AB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　</a:t>
            </a:r>
          </a:p>
        </p:txBody>
      </p:sp>
      <p:sp>
        <p:nvSpPr>
          <p:cNvPr id="122936" name="Text Box 56"/>
          <p:cNvSpPr txBox="1">
            <a:spLocks noChangeArrowheads="1"/>
          </p:cNvSpPr>
          <p:nvPr/>
        </p:nvSpPr>
        <p:spPr bwMode="auto">
          <a:xfrm>
            <a:off x="282575" y="5272088"/>
            <a:ext cx="5702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③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ab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⊥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OX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,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a”b”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⊥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OZ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④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 </a:t>
            </a: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=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90°</a:t>
            </a:r>
            <a:r>
              <a:rPr lang="zh-CN" altLang="en-US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、</a:t>
            </a:r>
            <a:r>
              <a:rPr lang="zh-CN" altLang="en-US" sz="2800" i="1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=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 </a:t>
            </a: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=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0°</a:t>
            </a:r>
            <a:endParaRPr lang="en-US" altLang="zh-CN" sz="2800" i="1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122937" name="Text Box 57"/>
          <p:cNvSpPr txBox="1">
            <a:spLocks noChangeArrowheads="1"/>
          </p:cNvSpPr>
          <p:nvPr/>
        </p:nvSpPr>
        <p:spPr bwMode="auto">
          <a:xfrm>
            <a:off x="239713" y="4795838"/>
            <a:ext cx="8682037" cy="16144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ea typeface="黑体" pitchFamily="2" charset="-122"/>
              </a:rPr>
              <a:t>投影特性：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        投影面垂直线在所垂直的投影面上的投影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积聚为一点；另外两个投影反映实长，且垂直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于相应的轴。</a:t>
            </a:r>
          </a:p>
        </p:txBody>
      </p:sp>
      <p:sp>
        <p:nvSpPr>
          <p:cNvPr id="122938" name="AutoShape 58"/>
          <p:cNvSpPr>
            <a:spLocks noChangeArrowheads="1"/>
          </p:cNvSpPr>
          <p:nvPr/>
        </p:nvSpPr>
        <p:spPr bwMode="auto">
          <a:xfrm>
            <a:off x="3605213" y="1893888"/>
            <a:ext cx="69850" cy="6985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22939" name="AutoShape 59"/>
          <p:cNvSpPr>
            <a:spLocks noChangeArrowheads="1"/>
          </p:cNvSpPr>
          <p:nvPr/>
        </p:nvSpPr>
        <p:spPr bwMode="auto">
          <a:xfrm>
            <a:off x="2493963" y="1893888"/>
            <a:ext cx="69850" cy="6985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22940" name="AutoShape 60"/>
          <p:cNvSpPr>
            <a:spLocks noChangeArrowheads="1"/>
          </p:cNvSpPr>
          <p:nvPr/>
        </p:nvSpPr>
        <p:spPr bwMode="auto">
          <a:xfrm>
            <a:off x="684213" y="1881188"/>
            <a:ext cx="69850" cy="6985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75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2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2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2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2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2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2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22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2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22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2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2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2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2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2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2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2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2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2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29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22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22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3" grpId="0" animBg="1"/>
      <p:bldP spid="122904" grpId="0" animBg="1"/>
      <p:bldP spid="122905" grpId="0" animBg="1"/>
      <p:bldP spid="122906" grpId="0" animBg="1"/>
      <p:bldP spid="122907" grpId="0" animBg="1"/>
      <p:bldP spid="122908" grpId="0" animBg="1" autoUpdateAnimBg="0"/>
      <p:bldP spid="122909" grpId="0" animBg="1"/>
      <p:bldP spid="122910" grpId="0" animBg="1"/>
      <p:bldP spid="122911" grpId="0" animBg="1"/>
      <p:bldP spid="122912" grpId="0" autoUpdateAnimBg="0"/>
      <p:bldP spid="122913" grpId="0" autoUpdateAnimBg="0"/>
      <p:bldP spid="122914" grpId="0" autoUpdateAnimBg="0"/>
      <p:bldP spid="122915" grpId="0" autoUpdateAnimBg="0"/>
      <p:bldP spid="122916" grpId="0" autoUpdateAnimBg="0"/>
      <p:bldP spid="122917" grpId="0" autoUpdateAnimBg="0"/>
      <p:bldP spid="122918" grpId="0" autoUpdateAnimBg="0"/>
      <p:bldP spid="122919" grpId="0" autoUpdateAnimBg="0"/>
      <p:bldP spid="122920" grpId="0" animBg="1"/>
      <p:bldP spid="122921" grpId="0" autoUpdateAnimBg="0"/>
      <p:bldP spid="122922" grpId="0" autoUpdateAnimBg="0"/>
      <p:bldP spid="122923" grpId="0" animBg="1"/>
      <p:bldP spid="122924" grpId="0" animBg="1"/>
      <p:bldP spid="122925" grpId="0" animBg="1"/>
      <p:bldP spid="122926" grpId="0" animBg="1"/>
      <p:bldP spid="122927" grpId="0" autoUpdateAnimBg="0"/>
      <p:bldP spid="122928" grpId="0" animBg="1"/>
      <p:bldP spid="122929" grpId="0" animBg="1"/>
      <p:bldP spid="122930" grpId="0" animBg="1"/>
      <p:bldP spid="122931" grpId="0" animBg="1"/>
      <p:bldP spid="122932" grpId="0" animBg="1"/>
      <p:bldP spid="122933" grpId="0" autoUpdateAnimBg="0"/>
      <p:bldP spid="122934" grpId="0"/>
      <p:bldP spid="122935" grpId="0" autoUpdateAnimBg="0"/>
      <p:bldP spid="122936" grpId="0" build="p" autoUpdateAnimBg="0"/>
      <p:bldP spid="122937" grpId="0" animBg="1" autoUpdateAnimBg="0"/>
      <p:bldP spid="122938" grpId="0" animBg="1" autoUpdateAnimBg="0"/>
      <p:bldP spid="122939" grpId="0" animBg="1" autoUpdateAnimBg="0"/>
      <p:bldP spid="122940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1291414F-4A97-468A-BEFB-518B389C686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41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341313" y="414338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．投影面平行线的投影</a:t>
            </a:r>
          </a:p>
        </p:txBody>
      </p:sp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804863" y="1633538"/>
            <a:ext cx="7110412" cy="146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en-US" altLang="zh-CN" sz="2400"/>
              <a:t>    </a:t>
            </a:r>
            <a:r>
              <a:rPr lang="zh-CN" altLang="en-US" sz="2400">
                <a:ea typeface="黑体" pitchFamily="2" charset="-122"/>
              </a:rPr>
              <a:t>在三投影面体系中，当直线平行于某一个投影面，同时与另两个投影面倾斜，这样的直线称为</a:t>
            </a:r>
            <a:r>
              <a:rPr lang="zh-CN" altLang="en-US" sz="2800">
                <a:solidFill>
                  <a:srgbClr val="FF0000"/>
                </a:solidFill>
                <a:ea typeface="黑体" pitchFamily="2" charset="-122"/>
              </a:rPr>
              <a:t>投影面平行线</a:t>
            </a:r>
            <a:r>
              <a:rPr lang="zh-CN" altLang="en-US" sz="2800">
                <a:ea typeface="黑体" pitchFamily="2" charset="-122"/>
              </a:rPr>
              <a:t>。</a:t>
            </a:r>
            <a:endParaRPr lang="zh-CN" altLang="en-US" sz="28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1082675" y="3744913"/>
            <a:ext cx="6931025" cy="161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三种投影面平行线：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　　直线∥投影面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水平线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直线∥投影面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zh-CN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平</a:t>
            </a:r>
            <a:r>
              <a:rPr lang="zh-CN" altLang="zh-CN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线</a:t>
            </a:r>
            <a:endParaRPr lang="zh-CN" altLang="en-US" sz="240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　　直线∥投影面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W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侧平线</a:t>
            </a:r>
          </a:p>
        </p:txBody>
      </p:sp>
    </p:spTree>
    <p:extLst>
      <p:ext uri="{BB962C8B-B14F-4D97-AF65-F5344CB8AC3E}">
        <p14:creationId xmlns:p14="http://schemas.microsoft.com/office/powerpoint/2010/main" val="101916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3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3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239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239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1239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EB304669-F54E-4008-A1FB-AA2316E618F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42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160963" y="1427163"/>
            <a:ext cx="3556000" cy="3211512"/>
            <a:chOff x="3251" y="899"/>
            <a:chExt cx="2240" cy="2023"/>
          </a:xfrm>
        </p:grpSpPr>
        <p:sp>
          <p:nvSpPr>
            <p:cNvPr id="8250" name="Line 3"/>
            <p:cNvSpPr>
              <a:spLocks noChangeShapeType="1"/>
            </p:cNvSpPr>
            <p:nvPr/>
          </p:nvSpPr>
          <p:spPr bwMode="auto">
            <a:xfrm>
              <a:off x="5491" y="1656"/>
              <a:ext cx="0" cy="12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251" name="Group 4"/>
            <p:cNvGrpSpPr>
              <a:grpSpLocks/>
            </p:cNvGrpSpPr>
            <p:nvPr/>
          </p:nvGrpSpPr>
          <p:grpSpPr bwMode="auto">
            <a:xfrm>
              <a:off x="3251" y="899"/>
              <a:ext cx="2240" cy="2023"/>
              <a:chOff x="3251" y="899"/>
              <a:chExt cx="2240" cy="2023"/>
            </a:xfrm>
          </p:grpSpPr>
          <p:sp>
            <p:nvSpPr>
              <p:cNvPr id="8252" name="Rectangle 5"/>
              <p:cNvSpPr>
                <a:spLocks noChangeArrowheads="1"/>
              </p:cNvSpPr>
              <p:nvPr/>
            </p:nvSpPr>
            <p:spPr bwMode="auto">
              <a:xfrm>
                <a:off x="3255" y="902"/>
                <a:ext cx="1479" cy="1211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8253" name="Freeform 6"/>
              <p:cNvSpPr>
                <a:spLocks/>
              </p:cNvSpPr>
              <p:nvPr/>
            </p:nvSpPr>
            <p:spPr bwMode="auto">
              <a:xfrm>
                <a:off x="3255" y="901"/>
                <a:ext cx="1481" cy="1213"/>
              </a:xfrm>
              <a:custGeom>
                <a:avLst/>
                <a:gdLst>
                  <a:gd name="T0" fmla="*/ 1118 w 1589"/>
                  <a:gd name="T1" fmla="*/ 0 h 1300"/>
                  <a:gd name="T2" fmla="*/ 0 w 1589"/>
                  <a:gd name="T3" fmla="*/ 0 h 1300"/>
                  <a:gd name="T4" fmla="*/ 0 w 1589"/>
                  <a:gd name="T5" fmla="*/ 919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54" name="Freeform 7"/>
              <p:cNvSpPr>
                <a:spLocks/>
              </p:cNvSpPr>
              <p:nvPr/>
            </p:nvSpPr>
            <p:spPr bwMode="auto">
              <a:xfrm>
                <a:off x="4736" y="901"/>
                <a:ext cx="749" cy="1959"/>
              </a:xfrm>
              <a:custGeom>
                <a:avLst/>
                <a:gdLst>
                  <a:gd name="T0" fmla="*/ 0 w 804"/>
                  <a:gd name="T1" fmla="*/ 0 h 2100"/>
                  <a:gd name="T2" fmla="*/ 0 w 804"/>
                  <a:gd name="T3" fmla="*/ 915 h 2100"/>
                  <a:gd name="T4" fmla="*/ 565 w 804"/>
                  <a:gd name="T5" fmla="*/ 1483 h 2100"/>
                  <a:gd name="T6" fmla="*/ 565 w 804"/>
                  <a:gd name="T7" fmla="*/ 573 h 2100"/>
                  <a:gd name="T8" fmla="*/ 0 w 804"/>
                  <a:gd name="T9" fmla="*/ 0 h 2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4"/>
                  <a:gd name="T16" fmla="*/ 0 h 2100"/>
                  <a:gd name="T17" fmla="*/ 804 w 804"/>
                  <a:gd name="T18" fmla="*/ 2100 h 2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4" h="2100">
                    <a:moveTo>
                      <a:pt x="0" y="0"/>
                    </a:moveTo>
                    <a:lnTo>
                      <a:pt x="0" y="1296"/>
                    </a:lnTo>
                    <a:lnTo>
                      <a:pt x="804" y="2100"/>
                    </a:lnTo>
                    <a:lnTo>
                      <a:pt x="804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55" name="Freeform 8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1122 w 2400"/>
                  <a:gd name="T3" fmla="*/ 0 h 810"/>
                  <a:gd name="T4" fmla="*/ 1692 w 2400"/>
                  <a:gd name="T5" fmla="*/ 574 h 810"/>
                  <a:gd name="T6" fmla="*/ 575 w 2400"/>
                  <a:gd name="T7" fmla="*/ 574 h 810"/>
                  <a:gd name="T8" fmla="*/ 0 w 2400"/>
                  <a:gd name="T9" fmla="*/ 0 h 8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0"/>
                  <a:gd name="T16" fmla="*/ 0 h 810"/>
                  <a:gd name="T17" fmla="*/ 2400 w 2400"/>
                  <a:gd name="T18" fmla="*/ 810 h 8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0" h="810">
                    <a:moveTo>
                      <a:pt x="0" y="0"/>
                    </a:moveTo>
                    <a:lnTo>
                      <a:pt x="1590" y="0"/>
                    </a:lnTo>
                    <a:lnTo>
                      <a:pt x="2400" y="810"/>
                    </a:lnTo>
                    <a:lnTo>
                      <a:pt x="816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56" name="Line 9"/>
              <p:cNvSpPr>
                <a:spLocks noChangeShapeType="1"/>
              </p:cNvSpPr>
              <p:nvPr/>
            </p:nvSpPr>
            <p:spPr bwMode="auto">
              <a:xfrm>
                <a:off x="4736" y="901"/>
                <a:ext cx="755" cy="75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57" name="Freeform 10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571 w 2400"/>
                  <a:gd name="T3" fmla="*/ 574 h 810"/>
                  <a:gd name="T4" fmla="*/ 1692 w 2400"/>
                  <a:gd name="T5" fmla="*/ 574 h 810"/>
                  <a:gd name="T6" fmla="*/ 0 60000 65536"/>
                  <a:gd name="T7" fmla="*/ 0 60000 65536"/>
                  <a:gd name="T8" fmla="*/ 0 60000 65536"/>
                  <a:gd name="T9" fmla="*/ 0 w 2400"/>
                  <a:gd name="T10" fmla="*/ 0 h 810"/>
                  <a:gd name="T11" fmla="*/ 2400 w 2400"/>
                  <a:gd name="T12" fmla="*/ 810 h 8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0" h="810">
                    <a:moveTo>
                      <a:pt x="0" y="0"/>
                    </a:moveTo>
                    <a:lnTo>
                      <a:pt x="810" y="810"/>
                    </a:lnTo>
                    <a:lnTo>
                      <a:pt x="2400" y="81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58" name="Text Box 11"/>
              <p:cNvSpPr txBox="1">
                <a:spLocks noChangeArrowheads="1"/>
              </p:cNvSpPr>
              <p:nvPr/>
            </p:nvSpPr>
            <p:spPr bwMode="auto">
              <a:xfrm>
                <a:off x="5215" y="1570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W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8259" name="Text Box 12"/>
              <p:cNvSpPr txBox="1">
                <a:spLocks noChangeArrowheads="1"/>
              </p:cNvSpPr>
              <p:nvPr/>
            </p:nvSpPr>
            <p:spPr bwMode="auto">
              <a:xfrm>
                <a:off x="3277" y="89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V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8260" name="Text Box 13"/>
              <p:cNvSpPr txBox="1">
                <a:spLocks noChangeArrowheads="1"/>
              </p:cNvSpPr>
              <p:nvPr/>
            </p:nvSpPr>
            <p:spPr bwMode="auto">
              <a:xfrm>
                <a:off x="3972" y="263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H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</p:grpSp>
      </p:grpSp>
      <p:sp>
        <p:nvSpPr>
          <p:cNvPr id="8196" name="Text Box 14"/>
          <p:cNvSpPr txBox="1">
            <a:spLocks noChangeArrowheads="1"/>
          </p:cNvSpPr>
          <p:nvPr/>
        </p:nvSpPr>
        <p:spPr bwMode="auto">
          <a:xfrm>
            <a:off x="338138" y="207963"/>
            <a:ext cx="8805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以</a:t>
            </a:r>
            <a:r>
              <a:rPr lang="zh-CN" altLang="zh-CN" sz="2800">
                <a:latin typeface="黑体" pitchFamily="2" charset="-122"/>
                <a:ea typeface="黑体" pitchFamily="2" charset="-122"/>
              </a:rPr>
              <a:t>水平线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CD </a:t>
            </a:r>
            <a:r>
              <a:rPr lang="zh-CN" altLang="zh-CN" sz="2800">
                <a:latin typeface="黑体" pitchFamily="2" charset="-122"/>
                <a:ea typeface="黑体" pitchFamily="2" charset="-122"/>
              </a:rPr>
              <a:t>为例，讨论其投影特性：</a:t>
            </a:r>
            <a:endParaRPr lang="zh-CN" altLang="en-US" sz="280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590550"/>
            <a:ext cx="4478338" cy="4229100"/>
            <a:chOff x="0" y="372"/>
            <a:chExt cx="2821" cy="2664"/>
          </a:xfrm>
        </p:grpSpPr>
        <p:sp>
          <p:nvSpPr>
            <p:cNvPr id="8243" name="Line 16"/>
            <p:cNvSpPr>
              <a:spLocks noChangeShapeType="1"/>
            </p:cNvSpPr>
            <p:nvPr/>
          </p:nvSpPr>
          <p:spPr bwMode="auto">
            <a:xfrm>
              <a:off x="199" y="1704"/>
              <a:ext cx="24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4" name="Line 17"/>
            <p:cNvSpPr>
              <a:spLocks noChangeShapeType="1"/>
            </p:cNvSpPr>
            <p:nvPr/>
          </p:nvSpPr>
          <p:spPr bwMode="auto">
            <a:xfrm>
              <a:off x="1315" y="552"/>
              <a:ext cx="0" cy="2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5" name="Text Box 18"/>
            <p:cNvSpPr txBox="1">
              <a:spLocks noChangeArrowheads="1"/>
            </p:cNvSpPr>
            <p:nvPr/>
          </p:nvSpPr>
          <p:spPr bwMode="auto">
            <a:xfrm>
              <a:off x="0" y="1452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</a:t>
              </a:r>
            </a:p>
          </p:txBody>
        </p:sp>
        <p:sp>
          <p:nvSpPr>
            <p:cNvPr id="8246" name="Text Box 19"/>
            <p:cNvSpPr txBox="1">
              <a:spLocks noChangeArrowheads="1"/>
            </p:cNvSpPr>
            <p:nvPr/>
          </p:nvSpPr>
          <p:spPr bwMode="auto">
            <a:xfrm>
              <a:off x="1279" y="1476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</a:t>
              </a:r>
            </a:p>
          </p:txBody>
        </p:sp>
        <p:sp>
          <p:nvSpPr>
            <p:cNvPr id="8247" name="Text Box 20"/>
            <p:cNvSpPr txBox="1">
              <a:spLocks noChangeArrowheads="1"/>
            </p:cNvSpPr>
            <p:nvPr/>
          </p:nvSpPr>
          <p:spPr bwMode="auto">
            <a:xfrm>
              <a:off x="2496" y="1416"/>
              <a:ext cx="3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W</a:t>
              </a:r>
            </a:p>
          </p:txBody>
        </p:sp>
        <p:sp>
          <p:nvSpPr>
            <p:cNvPr id="8248" name="Text Box 21"/>
            <p:cNvSpPr txBox="1">
              <a:spLocks noChangeArrowheads="1"/>
            </p:cNvSpPr>
            <p:nvPr/>
          </p:nvSpPr>
          <p:spPr bwMode="auto">
            <a:xfrm>
              <a:off x="1301" y="372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</a:t>
              </a:r>
            </a:p>
          </p:txBody>
        </p:sp>
        <p:sp>
          <p:nvSpPr>
            <p:cNvPr id="8249" name="Text Box 22"/>
            <p:cNvSpPr txBox="1">
              <a:spLocks noChangeArrowheads="1"/>
            </p:cNvSpPr>
            <p:nvPr/>
          </p:nvSpPr>
          <p:spPr bwMode="auto">
            <a:xfrm>
              <a:off x="1332" y="2748"/>
              <a:ext cx="3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H </a:t>
              </a:r>
            </a:p>
          </p:txBody>
        </p:sp>
      </p:grpSp>
      <p:sp>
        <p:nvSpPr>
          <p:cNvPr id="124951" name="Line 23"/>
          <p:cNvSpPr>
            <a:spLocks noChangeShapeType="1"/>
          </p:cNvSpPr>
          <p:nvPr/>
        </p:nvSpPr>
        <p:spPr bwMode="auto">
          <a:xfrm flipV="1">
            <a:off x="7283450" y="3387725"/>
            <a:ext cx="9366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2" name="Line 24"/>
          <p:cNvSpPr>
            <a:spLocks noChangeShapeType="1"/>
          </p:cNvSpPr>
          <p:nvPr/>
        </p:nvSpPr>
        <p:spPr bwMode="auto">
          <a:xfrm>
            <a:off x="6381750" y="2847975"/>
            <a:ext cx="1301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3" name="Line 25"/>
          <p:cNvSpPr>
            <a:spLocks noChangeShapeType="1"/>
          </p:cNvSpPr>
          <p:nvPr/>
        </p:nvSpPr>
        <p:spPr bwMode="auto">
          <a:xfrm>
            <a:off x="7289800" y="3387725"/>
            <a:ext cx="0" cy="984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4" name="Line 26"/>
          <p:cNvSpPr>
            <a:spLocks noChangeShapeType="1"/>
          </p:cNvSpPr>
          <p:nvPr/>
        </p:nvSpPr>
        <p:spPr bwMode="auto">
          <a:xfrm>
            <a:off x="6375400" y="2854325"/>
            <a:ext cx="0" cy="984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5" name="Line 27"/>
          <p:cNvSpPr>
            <a:spLocks noChangeShapeType="1"/>
          </p:cNvSpPr>
          <p:nvPr/>
        </p:nvSpPr>
        <p:spPr bwMode="auto">
          <a:xfrm flipH="1" flipV="1">
            <a:off x="6203950" y="2676525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6" name="Line 28"/>
          <p:cNvSpPr>
            <a:spLocks noChangeShapeType="1"/>
          </p:cNvSpPr>
          <p:nvPr/>
        </p:nvSpPr>
        <p:spPr bwMode="auto">
          <a:xfrm>
            <a:off x="6375400" y="3825875"/>
            <a:ext cx="915988" cy="5445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7" name="Line 29"/>
          <p:cNvSpPr>
            <a:spLocks noChangeShapeType="1"/>
          </p:cNvSpPr>
          <p:nvPr/>
        </p:nvSpPr>
        <p:spPr bwMode="auto">
          <a:xfrm>
            <a:off x="7677150" y="2854325"/>
            <a:ext cx="533400" cy="530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8" name="Text Box 30"/>
          <p:cNvSpPr txBox="1">
            <a:spLocks noChangeArrowheads="1"/>
          </p:cNvSpPr>
          <p:nvPr/>
        </p:nvSpPr>
        <p:spPr bwMode="auto">
          <a:xfrm>
            <a:off x="6964363" y="3248025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C</a:t>
            </a:r>
          </a:p>
        </p:txBody>
      </p:sp>
      <p:sp>
        <p:nvSpPr>
          <p:cNvPr id="124959" name="Text Box 31"/>
          <p:cNvSpPr txBox="1">
            <a:spLocks noChangeArrowheads="1"/>
          </p:cNvSpPr>
          <p:nvPr/>
        </p:nvSpPr>
        <p:spPr bwMode="auto">
          <a:xfrm>
            <a:off x="6083300" y="2705100"/>
            <a:ext cx="34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D</a:t>
            </a:r>
          </a:p>
        </p:txBody>
      </p:sp>
      <p:sp>
        <p:nvSpPr>
          <p:cNvPr id="124960" name="Text Box 32"/>
          <p:cNvSpPr txBox="1">
            <a:spLocks noChangeArrowheads="1"/>
          </p:cNvSpPr>
          <p:nvPr/>
        </p:nvSpPr>
        <p:spPr bwMode="auto">
          <a:xfrm>
            <a:off x="5894388" y="2335213"/>
            <a:ext cx="555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d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4961" name="Text Box 33"/>
          <p:cNvSpPr txBox="1">
            <a:spLocks noChangeArrowheads="1"/>
          </p:cNvSpPr>
          <p:nvPr/>
        </p:nvSpPr>
        <p:spPr bwMode="auto">
          <a:xfrm>
            <a:off x="6951663" y="4221163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24962" name="Text Box 34"/>
          <p:cNvSpPr txBox="1">
            <a:spLocks noChangeArrowheads="1"/>
          </p:cNvSpPr>
          <p:nvPr/>
        </p:nvSpPr>
        <p:spPr bwMode="auto">
          <a:xfrm>
            <a:off x="6073775" y="3721100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d</a:t>
            </a:r>
          </a:p>
        </p:txBody>
      </p:sp>
      <p:sp>
        <p:nvSpPr>
          <p:cNvPr id="124963" name="Text Box 35"/>
          <p:cNvSpPr txBox="1">
            <a:spLocks noChangeArrowheads="1"/>
          </p:cNvSpPr>
          <p:nvPr/>
        </p:nvSpPr>
        <p:spPr bwMode="auto">
          <a:xfrm>
            <a:off x="7502525" y="2505075"/>
            <a:ext cx="493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d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 </a:t>
            </a:r>
          </a:p>
        </p:txBody>
      </p:sp>
      <p:sp>
        <p:nvSpPr>
          <p:cNvPr id="124964" name="Text Box 36"/>
          <p:cNvSpPr txBox="1">
            <a:spLocks noChangeArrowheads="1"/>
          </p:cNvSpPr>
          <p:nvPr/>
        </p:nvSpPr>
        <p:spPr bwMode="auto">
          <a:xfrm>
            <a:off x="8118475" y="3249613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c” </a:t>
            </a:r>
          </a:p>
        </p:txBody>
      </p:sp>
      <p:sp>
        <p:nvSpPr>
          <p:cNvPr id="124965" name="Text Box 37"/>
          <p:cNvSpPr txBox="1">
            <a:spLocks noChangeArrowheads="1"/>
          </p:cNvSpPr>
          <p:nvPr/>
        </p:nvSpPr>
        <p:spPr bwMode="auto">
          <a:xfrm>
            <a:off x="593725" y="1579563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d’ </a:t>
            </a:r>
          </a:p>
        </p:txBody>
      </p:sp>
      <p:sp>
        <p:nvSpPr>
          <p:cNvPr id="124966" name="Line 38"/>
          <p:cNvSpPr>
            <a:spLocks noChangeShapeType="1"/>
          </p:cNvSpPr>
          <p:nvPr/>
        </p:nvSpPr>
        <p:spPr bwMode="auto">
          <a:xfrm>
            <a:off x="723900" y="192405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67" name="Text Box 39"/>
          <p:cNvSpPr txBox="1">
            <a:spLocks noChangeArrowheads="1"/>
          </p:cNvSpPr>
          <p:nvPr/>
        </p:nvSpPr>
        <p:spPr bwMode="auto">
          <a:xfrm>
            <a:off x="903288" y="4011613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24968" name="Text Box 40"/>
          <p:cNvSpPr txBox="1">
            <a:spLocks noChangeArrowheads="1"/>
          </p:cNvSpPr>
          <p:nvPr/>
        </p:nvSpPr>
        <p:spPr bwMode="auto">
          <a:xfrm>
            <a:off x="387350" y="2997200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d</a:t>
            </a:r>
          </a:p>
        </p:txBody>
      </p:sp>
      <p:sp>
        <p:nvSpPr>
          <p:cNvPr id="124969" name="Line 41"/>
          <p:cNvSpPr>
            <a:spLocks noChangeShapeType="1"/>
          </p:cNvSpPr>
          <p:nvPr/>
        </p:nvSpPr>
        <p:spPr bwMode="auto">
          <a:xfrm>
            <a:off x="2095500" y="2705100"/>
            <a:ext cx="171450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0" name="Line 42"/>
          <p:cNvSpPr>
            <a:spLocks noChangeShapeType="1"/>
          </p:cNvSpPr>
          <p:nvPr/>
        </p:nvSpPr>
        <p:spPr bwMode="auto">
          <a:xfrm>
            <a:off x="1238250" y="1924050"/>
            <a:ext cx="85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1" name="Line 43"/>
          <p:cNvSpPr>
            <a:spLocks noChangeShapeType="1"/>
          </p:cNvSpPr>
          <p:nvPr/>
        </p:nvSpPr>
        <p:spPr bwMode="auto">
          <a:xfrm>
            <a:off x="1235075" y="4260850"/>
            <a:ext cx="241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2" name="Line 44"/>
          <p:cNvSpPr>
            <a:spLocks noChangeShapeType="1"/>
          </p:cNvSpPr>
          <p:nvPr/>
        </p:nvSpPr>
        <p:spPr bwMode="auto">
          <a:xfrm flipV="1">
            <a:off x="3644900" y="1949450"/>
            <a:ext cx="0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3" name="Text Box 45"/>
          <p:cNvSpPr txBox="1">
            <a:spLocks noChangeArrowheads="1"/>
          </p:cNvSpPr>
          <p:nvPr/>
        </p:nvSpPr>
        <p:spPr bwMode="auto">
          <a:xfrm>
            <a:off x="3502025" y="1554163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c”</a:t>
            </a:r>
          </a:p>
        </p:txBody>
      </p:sp>
      <p:sp>
        <p:nvSpPr>
          <p:cNvPr id="124974" name="Line 46"/>
          <p:cNvSpPr>
            <a:spLocks noChangeShapeType="1"/>
          </p:cNvSpPr>
          <p:nvPr/>
        </p:nvSpPr>
        <p:spPr bwMode="auto">
          <a:xfrm>
            <a:off x="723900" y="3143250"/>
            <a:ext cx="514350" cy="11144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5" name="Line 47"/>
          <p:cNvSpPr>
            <a:spLocks noChangeShapeType="1"/>
          </p:cNvSpPr>
          <p:nvPr/>
        </p:nvSpPr>
        <p:spPr bwMode="auto">
          <a:xfrm>
            <a:off x="723900" y="3143250"/>
            <a:ext cx="180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6" name="Line 48"/>
          <p:cNvSpPr>
            <a:spLocks noChangeShapeType="1"/>
          </p:cNvSpPr>
          <p:nvPr/>
        </p:nvSpPr>
        <p:spPr bwMode="auto">
          <a:xfrm flipV="1">
            <a:off x="2533650" y="192405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7" name="Line 49"/>
          <p:cNvSpPr>
            <a:spLocks noChangeShapeType="1"/>
          </p:cNvSpPr>
          <p:nvPr/>
        </p:nvSpPr>
        <p:spPr bwMode="auto">
          <a:xfrm>
            <a:off x="2089150" y="1930400"/>
            <a:ext cx="155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8" name="Line 50"/>
          <p:cNvSpPr>
            <a:spLocks noChangeShapeType="1"/>
          </p:cNvSpPr>
          <p:nvPr/>
        </p:nvSpPr>
        <p:spPr bwMode="auto">
          <a:xfrm>
            <a:off x="2533650" y="1930400"/>
            <a:ext cx="1111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9" name="Text Box 51"/>
          <p:cNvSpPr txBox="1">
            <a:spLocks noChangeArrowheads="1"/>
          </p:cNvSpPr>
          <p:nvPr/>
        </p:nvSpPr>
        <p:spPr bwMode="auto">
          <a:xfrm>
            <a:off x="2355850" y="1554163"/>
            <a:ext cx="3921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d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124980" name="Text Box 52"/>
          <p:cNvSpPr txBox="1">
            <a:spLocks noChangeArrowheads="1"/>
          </p:cNvSpPr>
          <p:nvPr/>
        </p:nvSpPr>
        <p:spPr bwMode="auto">
          <a:xfrm>
            <a:off x="2871788" y="617538"/>
            <a:ext cx="6272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  <a:ea typeface="黑体" pitchFamily="2" charset="-122"/>
              </a:rPr>
              <a:t>CD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∥ 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H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，与 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V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W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倾斜。</a:t>
            </a:r>
          </a:p>
        </p:txBody>
      </p:sp>
      <p:sp>
        <p:nvSpPr>
          <p:cNvPr id="124981" name="Text Box 53"/>
          <p:cNvSpPr txBox="1">
            <a:spLocks noChangeArrowheads="1"/>
          </p:cNvSpPr>
          <p:nvPr/>
        </p:nvSpPr>
        <p:spPr bwMode="auto">
          <a:xfrm>
            <a:off x="274638" y="4727575"/>
            <a:ext cx="8869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ISOCPEUR" pitchFamily="34" charset="0"/>
                <a:ea typeface="黑体" pitchFamily="2" charset="-122"/>
              </a:rPr>
              <a:t>① 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cd </a:t>
            </a:r>
            <a:r>
              <a:rPr lang="en-US" altLang="zh-CN" sz="2800">
                <a:latin typeface="ISOCPEUR" pitchFamily="34" charset="0"/>
                <a:sym typeface="Symbol" pitchFamily="18" charset="2"/>
              </a:rPr>
              <a:t>=</a:t>
            </a:r>
            <a:r>
              <a:rPr lang="en-US" altLang="zh-CN" sz="2800">
                <a:latin typeface="ISOCPEUR" pitchFamily="34" charset="0"/>
              </a:rPr>
              <a:t> 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CD</a:t>
            </a:r>
            <a:r>
              <a:rPr lang="en-US" altLang="zh-CN" sz="2800">
                <a:latin typeface="ISOCPEUR" pitchFamily="34" charset="0"/>
                <a:ea typeface="仿宋_GB2312" pitchFamily="49" charset="-122"/>
              </a:rPr>
              <a:t> </a:t>
            </a:r>
            <a:r>
              <a:rPr lang="en-US" altLang="zh-CN" sz="2800">
                <a:latin typeface="ISOCPEUR" pitchFamily="34" charset="0"/>
                <a:sym typeface="Symbol" pitchFamily="18" charset="2"/>
              </a:rPr>
              <a:t>=</a:t>
            </a:r>
            <a:r>
              <a:rPr lang="en-US" altLang="zh-CN" sz="2800">
                <a:latin typeface="ISOCPEUR" pitchFamily="34" charset="0"/>
                <a:ea typeface="仿宋_GB2312" pitchFamily="49" charset="-122"/>
              </a:rPr>
              <a:t> 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L</a:t>
            </a:r>
            <a:r>
              <a:rPr lang="en-US" altLang="zh-CN" sz="2800" i="1" baseline="-25000">
                <a:latin typeface="ISOCPEUR" pitchFamily="34" charset="0"/>
                <a:ea typeface="仿宋_GB2312" pitchFamily="49" charset="-122"/>
              </a:rPr>
              <a:t>CD</a:t>
            </a:r>
            <a:r>
              <a:rPr lang="en-US" altLang="zh-CN" sz="2800">
                <a:latin typeface="ISOCPEUR" pitchFamily="34" charset="0"/>
                <a:ea typeface="仿宋_GB2312" pitchFamily="49" charset="-122"/>
              </a:rPr>
              <a:t>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 ② 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c’</a:t>
            </a:r>
            <a:r>
              <a:rPr lang="en-US" altLang="zh-CN" sz="2800" i="1">
                <a:latin typeface="ISOCPEUR" pitchFamily="34" charset="0"/>
              </a:rPr>
              <a:t>d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’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∥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OX</a:t>
            </a:r>
            <a:r>
              <a:rPr lang="en-US" altLang="zh-CN" sz="2800">
                <a:latin typeface="ISOCPEUR" pitchFamily="34" charset="0"/>
                <a:ea typeface="仿宋_GB2312" pitchFamily="49" charset="-122"/>
              </a:rPr>
              <a:t> , 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c”</a:t>
            </a:r>
            <a:r>
              <a:rPr lang="en-US" altLang="zh-CN" sz="2800" i="1">
                <a:latin typeface="ISOCPEUR" pitchFamily="34" charset="0"/>
              </a:rPr>
              <a:t>d</a:t>
            </a:r>
            <a:r>
              <a:rPr lang="en-US" altLang="zh-CN" sz="900" i="1">
                <a:latin typeface="ISOCPEUR" pitchFamily="34" charset="0"/>
              </a:rPr>
              <a:t> </a:t>
            </a:r>
            <a:r>
              <a:rPr lang="en-US" altLang="zh-CN" sz="2800">
                <a:latin typeface="ISOCPEUR" pitchFamily="34" charset="0"/>
                <a:ea typeface="仿宋_GB2312" pitchFamily="49" charset="-122"/>
              </a:rPr>
              <a:t>”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∥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OY</a:t>
            </a:r>
            <a:r>
              <a:rPr lang="en-US" altLang="zh-CN" sz="2800" i="1" baseline="-25000">
                <a:latin typeface="ISOCPEUR" pitchFamily="34" charset="0"/>
                <a:ea typeface="仿宋_GB2312" pitchFamily="49" charset="-122"/>
              </a:rPr>
              <a:t>W</a:t>
            </a:r>
            <a:r>
              <a:rPr lang="en-US" altLang="zh-CN" sz="2800" baseline="-25000">
                <a:latin typeface="ISOCPEUR" pitchFamily="34" charset="0"/>
                <a:ea typeface="仿宋_GB2312" pitchFamily="49" charset="-122"/>
              </a:rPr>
              <a:t>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 </a:t>
            </a:r>
          </a:p>
        </p:txBody>
      </p:sp>
      <p:sp>
        <p:nvSpPr>
          <p:cNvPr id="124982" name="Text Box 54"/>
          <p:cNvSpPr txBox="1">
            <a:spLocks noChangeArrowheads="1"/>
          </p:cNvSpPr>
          <p:nvPr/>
        </p:nvSpPr>
        <p:spPr bwMode="auto">
          <a:xfrm>
            <a:off x="282575" y="5183188"/>
            <a:ext cx="88614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ISOCPEUR" pitchFamily="34" charset="0"/>
                <a:ea typeface="黑体" pitchFamily="2" charset="-122"/>
              </a:rPr>
              <a:t>③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c’d’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&lt;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CD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 ,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c”d</a:t>
            </a:r>
            <a:r>
              <a:rPr lang="en-US" altLang="zh-CN" sz="900" i="1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” &lt;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CD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ISOCPEUR" pitchFamily="34" charset="0"/>
                <a:ea typeface="黑体" pitchFamily="2" charset="-122"/>
              </a:rPr>
              <a:t>④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 </a:t>
            </a:r>
            <a:r>
              <a:rPr lang="en-US" altLang="zh-CN" sz="2800">
                <a:latin typeface="ISOCPEUR" pitchFamily="34" charset="0"/>
                <a:ea typeface="黑体" pitchFamily="2" charset="-122"/>
                <a:sym typeface="Symbol" pitchFamily="18" charset="2"/>
              </a:rPr>
              <a:t>=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0°</a:t>
            </a:r>
            <a:r>
              <a:rPr lang="zh-CN" altLang="en-US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，</a:t>
            </a:r>
            <a:r>
              <a:rPr lang="zh-CN" altLang="en-US" sz="2800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0°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&lt;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  </a:t>
            </a:r>
            <a:r>
              <a:rPr lang="zh-CN" altLang="en-US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、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&lt;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90°</a:t>
            </a:r>
            <a:r>
              <a:rPr lang="en-US" altLang="zh-CN" sz="2800">
                <a:latin typeface="ISOCPEUR" pitchFamily="34" charset="0"/>
                <a:ea typeface="黑体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124984" name="Line 56"/>
          <p:cNvSpPr>
            <a:spLocks noChangeShapeType="1"/>
          </p:cNvSpPr>
          <p:nvPr/>
        </p:nvSpPr>
        <p:spPr bwMode="auto">
          <a:xfrm flipH="1" flipV="1">
            <a:off x="6572250" y="2667000"/>
            <a:ext cx="723900" cy="723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85" name="Text Box 57"/>
          <p:cNvSpPr txBox="1">
            <a:spLocks noChangeArrowheads="1"/>
          </p:cNvSpPr>
          <p:nvPr/>
        </p:nvSpPr>
        <p:spPr bwMode="auto">
          <a:xfrm>
            <a:off x="6361113" y="2297113"/>
            <a:ext cx="52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c'</a:t>
            </a:r>
          </a:p>
        </p:txBody>
      </p:sp>
      <p:sp>
        <p:nvSpPr>
          <p:cNvPr id="124986" name="Line 58"/>
          <p:cNvSpPr>
            <a:spLocks noChangeShapeType="1"/>
          </p:cNvSpPr>
          <p:nvPr/>
        </p:nvSpPr>
        <p:spPr bwMode="auto">
          <a:xfrm>
            <a:off x="6203950" y="2667000"/>
            <a:ext cx="377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87" name="Text Box 59"/>
          <p:cNvSpPr txBox="1">
            <a:spLocks noChangeArrowheads="1"/>
          </p:cNvSpPr>
          <p:nvPr/>
        </p:nvSpPr>
        <p:spPr bwMode="auto">
          <a:xfrm>
            <a:off x="1077913" y="1579563"/>
            <a:ext cx="622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c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 </a:t>
            </a:r>
          </a:p>
        </p:txBody>
      </p:sp>
      <p:sp>
        <p:nvSpPr>
          <p:cNvPr id="124988" name="Line 60"/>
          <p:cNvSpPr>
            <a:spLocks noChangeShapeType="1"/>
          </p:cNvSpPr>
          <p:nvPr/>
        </p:nvSpPr>
        <p:spPr bwMode="auto">
          <a:xfrm flipV="1">
            <a:off x="1238250" y="1924050"/>
            <a:ext cx="0" cy="2324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89" name="Line 61"/>
          <p:cNvSpPr>
            <a:spLocks noChangeShapeType="1"/>
          </p:cNvSpPr>
          <p:nvPr/>
        </p:nvSpPr>
        <p:spPr bwMode="auto">
          <a:xfrm flipH="1">
            <a:off x="723900" y="1924050"/>
            <a:ext cx="514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90" name="Text Box 62"/>
          <p:cNvSpPr txBox="1">
            <a:spLocks noChangeArrowheads="1"/>
          </p:cNvSpPr>
          <p:nvPr/>
        </p:nvSpPr>
        <p:spPr bwMode="auto">
          <a:xfrm>
            <a:off x="760413" y="2973388"/>
            <a:ext cx="412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i="1">
                <a:latin typeface="ISOCP" pitchFamily="2" charset="0"/>
                <a:sym typeface="Symbol" pitchFamily="18" charset="2"/>
              </a:rPr>
              <a:t></a:t>
            </a:r>
            <a:r>
              <a:rPr lang="en-US" altLang="en-US" sz="2800" i="1">
                <a:latin typeface="ISOCP" pitchFamily="2" charset="0"/>
                <a:sym typeface="Symbol" pitchFamily="18" charset="2"/>
              </a:rPr>
              <a:t> </a:t>
            </a:r>
            <a:endParaRPr lang="en-US" altLang="zh-CN" sz="2800" i="1">
              <a:latin typeface="ISOCP" pitchFamily="2" charset="0"/>
              <a:sym typeface="Symbol" pitchFamily="18" charset="2"/>
            </a:endParaRPr>
          </a:p>
        </p:txBody>
      </p:sp>
      <p:sp>
        <p:nvSpPr>
          <p:cNvPr id="124991" name="Text Box 63"/>
          <p:cNvSpPr txBox="1">
            <a:spLocks noChangeArrowheads="1"/>
          </p:cNvSpPr>
          <p:nvPr/>
        </p:nvSpPr>
        <p:spPr bwMode="auto">
          <a:xfrm>
            <a:off x="1008063" y="3636963"/>
            <a:ext cx="344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i="1">
                <a:latin typeface="ISOCP" pitchFamily="2" charset="0"/>
                <a:sym typeface="Symbol" pitchFamily="18" charset="2"/>
              </a:rPr>
              <a:t> </a:t>
            </a:r>
            <a:endParaRPr lang="en-US" altLang="zh-CN" sz="2800" i="1">
              <a:latin typeface="ISOCP" pitchFamily="2" charset="0"/>
              <a:sym typeface="Symbol" pitchFamily="18" charset="2"/>
            </a:endParaRPr>
          </a:p>
        </p:txBody>
      </p:sp>
      <p:sp>
        <p:nvSpPr>
          <p:cNvPr id="124992" name="Line 64"/>
          <p:cNvSpPr>
            <a:spLocks noChangeShapeType="1"/>
          </p:cNvSpPr>
          <p:nvPr/>
        </p:nvSpPr>
        <p:spPr bwMode="auto">
          <a:xfrm>
            <a:off x="6381750" y="2854325"/>
            <a:ext cx="923925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93" name="AutoShape 65"/>
          <p:cNvSpPr>
            <a:spLocks noChangeArrowheads="1"/>
          </p:cNvSpPr>
          <p:nvPr/>
        </p:nvSpPr>
        <p:spPr bwMode="auto">
          <a:xfrm>
            <a:off x="3605213" y="1893888"/>
            <a:ext cx="69850" cy="6985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24994" name="AutoShape 66"/>
          <p:cNvSpPr>
            <a:spLocks noChangeArrowheads="1"/>
          </p:cNvSpPr>
          <p:nvPr/>
        </p:nvSpPr>
        <p:spPr bwMode="auto">
          <a:xfrm>
            <a:off x="2493963" y="1893888"/>
            <a:ext cx="69850" cy="6985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24995" name="Rectangle 67"/>
          <p:cNvSpPr>
            <a:spLocks noChangeArrowheads="1"/>
          </p:cNvSpPr>
          <p:nvPr/>
        </p:nvSpPr>
        <p:spPr bwMode="auto">
          <a:xfrm>
            <a:off x="257175" y="4783138"/>
            <a:ext cx="6718300" cy="1454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4983" name="Text Box 55"/>
          <p:cNvSpPr txBox="1">
            <a:spLocks noChangeArrowheads="1"/>
          </p:cNvSpPr>
          <p:nvPr/>
        </p:nvSpPr>
        <p:spPr bwMode="auto">
          <a:xfrm>
            <a:off x="341313" y="4692650"/>
            <a:ext cx="8802687" cy="161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ea typeface="黑体" pitchFamily="2" charset="-122"/>
              </a:rPr>
              <a:t>投影特性：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400">
                <a:ea typeface="黑体" pitchFamily="2" charset="-122"/>
              </a:rPr>
              <a:t>　　</a:t>
            </a:r>
            <a:r>
              <a:rPr lang="zh-CN" altLang="en-US" sz="2400">
                <a:ea typeface="黑体" pitchFamily="2" charset="-122"/>
              </a:rPr>
              <a:t>投影面平行线在所平行的投影面上的投影反映实长，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并反映与另外两个投影面的夹角实际大小；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        其它两个投影平行于相应的轴，且缩短。</a:t>
            </a:r>
          </a:p>
        </p:txBody>
      </p:sp>
    </p:spTree>
    <p:extLst>
      <p:ext uri="{BB962C8B-B14F-4D97-AF65-F5344CB8AC3E}">
        <p14:creationId xmlns:p14="http://schemas.microsoft.com/office/powerpoint/2010/main" val="291471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24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2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2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2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2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24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2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2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2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2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2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2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2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2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2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124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24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24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24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24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51" grpId="0" animBg="1"/>
      <p:bldP spid="124952" grpId="0" animBg="1"/>
      <p:bldP spid="124953" grpId="0" animBg="1"/>
      <p:bldP spid="124954" grpId="0" animBg="1"/>
      <p:bldP spid="124955" grpId="0" animBg="1"/>
      <p:bldP spid="124956" grpId="0" animBg="1"/>
      <p:bldP spid="124957" grpId="0" animBg="1"/>
      <p:bldP spid="124958" grpId="0" autoUpdateAnimBg="0"/>
      <p:bldP spid="124959" grpId="0" autoUpdateAnimBg="0"/>
      <p:bldP spid="124960" grpId="0" autoUpdateAnimBg="0"/>
      <p:bldP spid="124961" grpId="0" autoUpdateAnimBg="0"/>
      <p:bldP spid="124962" grpId="0" autoUpdateAnimBg="0"/>
      <p:bldP spid="124963" grpId="0" autoUpdateAnimBg="0"/>
      <p:bldP spid="124964" grpId="0" autoUpdateAnimBg="0"/>
      <p:bldP spid="124965" grpId="0" autoUpdateAnimBg="0"/>
      <p:bldP spid="124966" grpId="0" animBg="1"/>
      <p:bldP spid="124967" grpId="0" autoUpdateAnimBg="0"/>
      <p:bldP spid="124968" grpId="0" autoUpdateAnimBg="0"/>
      <p:bldP spid="124969" grpId="0" animBg="1"/>
      <p:bldP spid="124970" grpId="0" animBg="1"/>
      <p:bldP spid="124971" grpId="0" animBg="1"/>
      <p:bldP spid="124972" grpId="0" animBg="1"/>
      <p:bldP spid="124973" grpId="0" autoUpdateAnimBg="0"/>
      <p:bldP spid="124974" grpId="0" animBg="1"/>
      <p:bldP spid="124975" grpId="0" animBg="1"/>
      <p:bldP spid="124976" grpId="0" animBg="1"/>
      <p:bldP spid="124977" grpId="0" animBg="1"/>
      <p:bldP spid="124978" grpId="0" animBg="1"/>
      <p:bldP spid="124979" grpId="0" autoUpdateAnimBg="0"/>
      <p:bldP spid="124980" grpId="0"/>
      <p:bldP spid="124981" grpId="0" autoUpdateAnimBg="0"/>
      <p:bldP spid="124982" grpId="0" build="p" autoUpdateAnimBg="0"/>
      <p:bldP spid="124984" grpId="0" animBg="1"/>
      <p:bldP spid="124985" grpId="0" autoUpdateAnimBg="0"/>
      <p:bldP spid="124986" grpId="0" animBg="1"/>
      <p:bldP spid="124987" grpId="0" autoUpdateAnimBg="0"/>
      <p:bldP spid="124988" grpId="0" animBg="1"/>
      <p:bldP spid="124989" grpId="0" animBg="1"/>
      <p:bldP spid="124990" grpId="0" autoUpdateAnimBg="0"/>
      <p:bldP spid="124991" grpId="0" autoUpdateAnimBg="0"/>
      <p:bldP spid="124992" grpId="0" animBg="1"/>
      <p:bldP spid="124993" grpId="0" animBg="1" autoUpdateAnimBg="0"/>
      <p:bldP spid="124994" grpId="0" animBg="1" autoUpdateAnimBg="0"/>
      <p:bldP spid="124995" grpId="0" animBg="1"/>
      <p:bldP spid="12498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B84AED3-A7BD-4E43-9621-2118BC0C3FBC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43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9219" name="Text Box 2"/>
          <p:cNvSpPr txBox="1">
            <a:spLocks noChangeArrowheads="1"/>
          </p:cNvSpPr>
          <p:nvPr/>
        </p:nvSpPr>
        <p:spPr bwMode="auto">
          <a:xfrm>
            <a:off x="173038" y="168275"/>
            <a:ext cx="5565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．一般位置直线的投影</a:t>
            </a:r>
          </a:p>
        </p:txBody>
      </p:sp>
      <p:sp>
        <p:nvSpPr>
          <p:cNvPr id="125983" name="Text Box 31"/>
          <p:cNvSpPr txBox="1">
            <a:spLocks noChangeArrowheads="1"/>
          </p:cNvSpPr>
          <p:nvPr/>
        </p:nvSpPr>
        <p:spPr bwMode="auto">
          <a:xfrm>
            <a:off x="488950" y="5084763"/>
            <a:ext cx="8274050" cy="13731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ea typeface="黑体" pitchFamily="2" charset="-122"/>
              </a:rPr>
              <a:t>投影特性：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　　三个投影均与投影轴倾斜，投影缩短，投影与三个投影轴的夹角都不反映实际大小。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5213350" y="1543050"/>
            <a:ext cx="3556000" cy="3211513"/>
            <a:chOff x="3251" y="899"/>
            <a:chExt cx="2240" cy="2023"/>
          </a:xfrm>
        </p:grpSpPr>
        <p:sp>
          <p:nvSpPr>
            <p:cNvPr id="9280" name="Line 40"/>
            <p:cNvSpPr>
              <a:spLocks noChangeShapeType="1"/>
            </p:cNvSpPr>
            <p:nvPr/>
          </p:nvSpPr>
          <p:spPr bwMode="auto">
            <a:xfrm>
              <a:off x="5491" y="1656"/>
              <a:ext cx="0" cy="12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81" name="Group 41"/>
            <p:cNvGrpSpPr>
              <a:grpSpLocks/>
            </p:cNvGrpSpPr>
            <p:nvPr/>
          </p:nvGrpSpPr>
          <p:grpSpPr bwMode="auto">
            <a:xfrm>
              <a:off x="3251" y="899"/>
              <a:ext cx="2240" cy="2023"/>
              <a:chOff x="3251" y="899"/>
              <a:chExt cx="2240" cy="2023"/>
            </a:xfrm>
          </p:grpSpPr>
          <p:sp>
            <p:nvSpPr>
              <p:cNvPr id="9282" name="Rectangle 42"/>
              <p:cNvSpPr>
                <a:spLocks noChangeArrowheads="1"/>
              </p:cNvSpPr>
              <p:nvPr/>
            </p:nvSpPr>
            <p:spPr bwMode="auto">
              <a:xfrm>
                <a:off x="3255" y="902"/>
                <a:ext cx="1479" cy="1211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9283" name="Freeform 43"/>
              <p:cNvSpPr>
                <a:spLocks/>
              </p:cNvSpPr>
              <p:nvPr/>
            </p:nvSpPr>
            <p:spPr bwMode="auto">
              <a:xfrm>
                <a:off x="3255" y="901"/>
                <a:ext cx="1481" cy="1213"/>
              </a:xfrm>
              <a:custGeom>
                <a:avLst/>
                <a:gdLst>
                  <a:gd name="T0" fmla="*/ 1118 w 1589"/>
                  <a:gd name="T1" fmla="*/ 0 h 1300"/>
                  <a:gd name="T2" fmla="*/ 0 w 1589"/>
                  <a:gd name="T3" fmla="*/ 0 h 1300"/>
                  <a:gd name="T4" fmla="*/ 0 w 1589"/>
                  <a:gd name="T5" fmla="*/ 919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4" name="Freeform 44"/>
              <p:cNvSpPr>
                <a:spLocks/>
              </p:cNvSpPr>
              <p:nvPr/>
            </p:nvSpPr>
            <p:spPr bwMode="auto">
              <a:xfrm>
                <a:off x="4736" y="901"/>
                <a:ext cx="749" cy="1959"/>
              </a:xfrm>
              <a:custGeom>
                <a:avLst/>
                <a:gdLst>
                  <a:gd name="T0" fmla="*/ 0 w 804"/>
                  <a:gd name="T1" fmla="*/ 0 h 2100"/>
                  <a:gd name="T2" fmla="*/ 0 w 804"/>
                  <a:gd name="T3" fmla="*/ 915 h 2100"/>
                  <a:gd name="T4" fmla="*/ 565 w 804"/>
                  <a:gd name="T5" fmla="*/ 1483 h 2100"/>
                  <a:gd name="T6" fmla="*/ 565 w 804"/>
                  <a:gd name="T7" fmla="*/ 573 h 2100"/>
                  <a:gd name="T8" fmla="*/ 0 w 804"/>
                  <a:gd name="T9" fmla="*/ 0 h 2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4"/>
                  <a:gd name="T16" fmla="*/ 0 h 2100"/>
                  <a:gd name="T17" fmla="*/ 804 w 804"/>
                  <a:gd name="T18" fmla="*/ 2100 h 2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4" h="2100">
                    <a:moveTo>
                      <a:pt x="0" y="0"/>
                    </a:moveTo>
                    <a:lnTo>
                      <a:pt x="0" y="1296"/>
                    </a:lnTo>
                    <a:lnTo>
                      <a:pt x="804" y="2100"/>
                    </a:lnTo>
                    <a:lnTo>
                      <a:pt x="804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5" name="Freeform 45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1122 w 2400"/>
                  <a:gd name="T3" fmla="*/ 0 h 810"/>
                  <a:gd name="T4" fmla="*/ 1692 w 2400"/>
                  <a:gd name="T5" fmla="*/ 574 h 810"/>
                  <a:gd name="T6" fmla="*/ 575 w 2400"/>
                  <a:gd name="T7" fmla="*/ 574 h 810"/>
                  <a:gd name="T8" fmla="*/ 0 w 2400"/>
                  <a:gd name="T9" fmla="*/ 0 h 8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0"/>
                  <a:gd name="T16" fmla="*/ 0 h 810"/>
                  <a:gd name="T17" fmla="*/ 2400 w 2400"/>
                  <a:gd name="T18" fmla="*/ 810 h 8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0" h="810">
                    <a:moveTo>
                      <a:pt x="0" y="0"/>
                    </a:moveTo>
                    <a:lnTo>
                      <a:pt x="1590" y="0"/>
                    </a:lnTo>
                    <a:lnTo>
                      <a:pt x="2400" y="810"/>
                    </a:lnTo>
                    <a:lnTo>
                      <a:pt x="816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6" name="Line 46"/>
              <p:cNvSpPr>
                <a:spLocks noChangeShapeType="1"/>
              </p:cNvSpPr>
              <p:nvPr/>
            </p:nvSpPr>
            <p:spPr bwMode="auto">
              <a:xfrm>
                <a:off x="4736" y="901"/>
                <a:ext cx="755" cy="75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7" name="Freeform 47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571 w 2400"/>
                  <a:gd name="T3" fmla="*/ 574 h 810"/>
                  <a:gd name="T4" fmla="*/ 1692 w 2400"/>
                  <a:gd name="T5" fmla="*/ 574 h 810"/>
                  <a:gd name="T6" fmla="*/ 0 60000 65536"/>
                  <a:gd name="T7" fmla="*/ 0 60000 65536"/>
                  <a:gd name="T8" fmla="*/ 0 60000 65536"/>
                  <a:gd name="T9" fmla="*/ 0 w 2400"/>
                  <a:gd name="T10" fmla="*/ 0 h 810"/>
                  <a:gd name="T11" fmla="*/ 2400 w 2400"/>
                  <a:gd name="T12" fmla="*/ 810 h 8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0" h="810">
                    <a:moveTo>
                      <a:pt x="0" y="0"/>
                    </a:moveTo>
                    <a:lnTo>
                      <a:pt x="810" y="810"/>
                    </a:lnTo>
                    <a:lnTo>
                      <a:pt x="2400" y="81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8" name="Text Box 48"/>
              <p:cNvSpPr txBox="1">
                <a:spLocks noChangeArrowheads="1"/>
              </p:cNvSpPr>
              <p:nvPr/>
            </p:nvSpPr>
            <p:spPr bwMode="auto">
              <a:xfrm>
                <a:off x="5215" y="1570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W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9289" name="Text Box 49"/>
              <p:cNvSpPr txBox="1">
                <a:spLocks noChangeArrowheads="1"/>
              </p:cNvSpPr>
              <p:nvPr/>
            </p:nvSpPr>
            <p:spPr bwMode="auto">
              <a:xfrm>
                <a:off x="3277" y="89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V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9290" name="Text Box 50"/>
              <p:cNvSpPr txBox="1">
                <a:spLocks noChangeArrowheads="1"/>
              </p:cNvSpPr>
              <p:nvPr/>
            </p:nvSpPr>
            <p:spPr bwMode="auto">
              <a:xfrm>
                <a:off x="3972" y="263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H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</p:grpSp>
      </p:grpSp>
      <p:sp>
        <p:nvSpPr>
          <p:cNvPr id="126003" name="Line 51"/>
          <p:cNvSpPr>
            <a:spLocks noChangeShapeType="1"/>
          </p:cNvSpPr>
          <p:nvPr/>
        </p:nvSpPr>
        <p:spPr bwMode="auto">
          <a:xfrm>
            <a:off x="7337425" y="2433638"/>
            <a:ext cx="6000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04" name="Line 52"/>
          <p:cNvSpPr>
            <a:spLocks noChangeShapeType="1"/>
          </p:cNvSpPr>
          <p:nvPr/>
        </p:nvSpPr>
        <p:spPr bwMode="auto">
          <a:xfrm>
            <a:off x="6684963" y="3263900"/>
            <a:ext cx="1668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05" name="Line 53"/>
          <p:cNvSpPr>
            <a:spLocks noChangeShapeType="1"/>
          </p:cNvSpPr>
          <p:nvPr/>
        </p:nvSpPr>
        <p:spPr bwMode="auto">
          <a:xfrm>
            <a:off x="6683375" y="3263900"/>
            <a:ext cx="0" cy="977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06" name="Line 54"/>
          <p:cNvSpPr>
            <a:spLocks noChangeShapeType="1"/>
          </p:cNvSpPr>
          <p:nvPr/>
        </p:nvSpPr>
        <p:spPr bwMode="auto">
          <a:xfrm flipH="1" flipV="1">
            <a:off x="5888038" y="2466975"/>
            <a:ext cx="793750" cy="79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07" name="Line 55"/>
          <p:cNvSpPr>
            <a:spLocks noChangeShapeType="1"/>
          </p:cNvSpPr>
          <p:nvPr/>
        </p:nvSpPr>
        <p:spPr bwMode="auto">
          <a:xfrm flipV="1">
            <a:off x="6677025" y="3810000"/>
            <a:ext cx="661988" cy="433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08" name="Line 56"/>
          <p:cNvSpPr>
            <a:spLocks noChangeShapeType="1"/>
          </p:cNvSpPr>
          <p:nvPr/>
        </p:nvSpPr>
        <p:spPr bwMode="auto">
          <a:xfrm>
            <a:off x="7931150" y="2428875"/>
            <a:ext cx="434975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09" name="Text Box 57"/>
          <p:cNvSpPr txBox="1">
            <a:spLocks noChangeArrowheads="1"/>
          </p:cNvSpPr>
          <p:nvPr/>
        </p:nvSpPr>
        <p:spPr bwMode="auto">
          <a:xfrm>
            <a:off x="7251700" y="2054225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F</a:t>
            </a:r>
          </a:p>
        </p:txBody>
      </p:sp>
      <p:sp>
        <p:nvSpPr>
          <p:cNvPr id="126010" name="Text Box 58"/>
          <p:cNvSpPr txBox="1">
            <a:spLocks noChangeArrowheads="1"/>
          </p:cNvSpPr>
          <p:nvPr/>
        </p:nvSpPr>
        <p:spPr bwMode="auto">
          <a:xfrm>
            <a:off x="6318250" y="3087688"/>
            <a:ext cx="449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E</a:t>
            </a:r>
            <a:r>
              <a:rPr lang="en-US" altLang="zh-CN" sz="2400" b="0" i="1">
                <a:latin typeface="ISOCPEUR" pitchFamily="34" charset="0"/>
              </a:rPr>
              <a:t> </a:t>
            </a:r>
          </a:p>
        </p:txBody>
      </p:sp>
      <p:sp>
        <p:nvSpPr>
          <p:cNvPr id="126011" name="Text Box 59"/>
          <p:cNvSpPr txBox="1">
            <a:spLocks noChangeArrowheads="1"/>
          </p:cNvSpPr>
          <p:nvPr/>
        </p:nvSpPr>
        <p:spPr bwMode="auto">
          <a:xfrm>
            <a:off x="5597525" y="2135188"/>
            <a:ext cx="55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e’ 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6012" name="Text Box 60"/>
          <p:cNvSpPr txBox="1">
            <a:spLocks noChangeArrowheads="1"/>
          </p:cNvSpPr>
          <p:nvPr/>
        </p:nvSpPr>
        <p:spPr bwMode="auto">
          <a:xfrm>
            <a:off x="6629400" y="4151313"/>
            <a:ext cx="382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 </a:t>
            </a:r>
          </a:p>
        </p:txBody>
      </p:sp>
      <p:sp>
        <p:nvSpPr>
          <p:cNvPr id="126013" name="Text Box 61"/>
          <p:cNvSpPr txBox="1">
            <a:spLocks noChangeArrowheads="1"/>
          </p:cNvSpPr>
          <p:nvPr/>
        </p:nvSpPr>
        <p:spPr bwMode="auto">
          <a:xfrm>
            <a:off x="8283575" y="3052763"/>
            <a:ext cx="493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 </a:t>
            </a:r>
          </a:p>
        </p:txBody>
      </p:sp>
      <p:sp>
        <p:nvSpPr>
          <p:cNvPr id="126014" name="Text Box 62"/>
          <p:cNvSpPr txBox="1">
            <a:spLocks noChangeArrowheads="1"/>
          </p:cNvSpPr>
          <p:nvPr/>
        </p:nvSpPr>
        <p:spPr bwMode="auto">
          <a:xfrm>
            <a:off x="7924800" y="2195513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f” </a:t>
            </a:r>
          </a:p>
        </p:txBody>
      </p:sp>
      <p:sp>
        <p:nvSpPr>
          <p:cNvPr id="126015" name="Line 63"/>
          <p:cNvSpPr>
            <a:spLocks noChangeShapeType="1"/>
          </p:cNvSpPr>
          <p:nvPr/>
        </p:nvSpPr>
        <p:spPr bwMode="auto">
          <a:xfrm flipH="1" flipV="1">
            <a:off x="6965950" y="2062163"/>
            <a:ext cx="371475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16" name="Line 64"/>
          <p:cNvSpPr>
            <a:spLocks noChangeShapeType="1"/>
          </p:cNvSpPr>
          <p:nvPr/>
        </p:nvSpPr>
        <p:spPr bwMode="auto">
          <a:xfrm flipV="1">
            <a:off x="5883275" y="2060575"/>
            <a:ext cx="1085850" cy="412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17" name="Text Box 65"/>
          <p:cNvSpPr txBox="1">
            <a:spLocks noChangeArrowheads="1"/>
          </p:cNvSpPr>
          <p:nvPr/>
        </p:nvSpPr>
        <p:spPr bwMode="auto">
          <a:xfrm>
            <a:off x="7181850" y="3756025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 </a:t>
            </a:r>
          </a:p>
        </p:txBody>
      </p:sp>
      <p:sp>
        <p:nvSpPr>
          <p:cNvPr id="126018" name="Text Box 66"/>
          <p:cNvSpPr txBox="1">
            <a:spLocks noChangeArrowheads="1"/>
          </p:cNvSpPr>
          <p:nvPr/>
        </p:nvSpPr>
        <p:spPr bwMode="auto">
          <a:xfrm>
            <a:off x="6640513" y="1730375"/>
            <a:ext cx="52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f'</a:t>
            </a:r>
          </a:p>
        </p:txBody>
      </p:sp>
      <p:sp>
        <p:nvSpPr>
          <p:cNvPr id="126019" name="Line 67"/>
          <p:cNvSpPr>
            <a:spLocks noChangeShapeType="1"/>
          </p:cNvSpPr>
          <p:nvPr/>
        </p:nvSpPr>
        <p:spPr bwMode="auto">
          <a:xfrm flipH="1" flipV="1">
            <a:off x="5883275" y="3448050"/>
            <a:ext cx="800100" cy="795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0" name="Line 68"/>
          <p:cNvSpPr>
            <a:spLocks noChangeShapeType="1"/>
          </p:cNvSpPr>
          <p:nvPr/>
        </p:nvSpPr>
        <p:spPr bwMode="auto">
          <a:xfrm flipV="1">
            <a:off x="5886450" y="2466975"/>
            <a:ext cx="0" cy="982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1" name="Line 69"/>
          <p:cNvSpPr>
            <a:spLocks noChangeShapeType="1"/>
          </p:cNvSpPr>
          <p:nvPr/>
        </p:nvSpPr>
        <p:spPr bwMode="auto">
          <a:xfrm flipH="1" flipV="1">
            <a:off x="6965950" y="3448050"/>
            <a:ext cx="369888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2" name="Line 70"/>
          <p:cNvSpPr>
            <a:spLocks noChangeShapeType="1"/>
          </p:cNvSpPr>
          <p:nvPr/>
        </p:nvSpPr>
        <p:spPr bwMode="auto">
          <a:xfrm flipV="1">
            <a:off x="6965950" y="2066925"/>
            <a:ext cx="0" cy="1382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3" name="Line 71"/>
          <p:cNvSpPr>
            <a:spLocks noChangeShapeType="1"/>
          </p:cNvSpPr>
          <p:nvPr/>
        </p:nvSpPr>
        <p:spPr bwMode="auto">
          <a:xfrm>
            <a:off x="7337425" y="3816350"/>
            <a:ext cx="596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4" name="Line 72"/>
          <p:cNvSpPr>
            <a:spLocks noChangeShapeType="1"/>
          </p:cNvSpPr>
          <p:nvPr/>
        </p:nvSpPr>
        <p:spPr bwMode="auto">
          <a:xfrm>
            <a:off x="6684963" y="4241800"/>
            <a:ext cx="1668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5" name="Line 73"/>
          <p:cNvSpPr>
            <a:spLocks noChangeShapeType="1"/>
          </p:cNvSpPr>
          <p:nvPr/>
        </p:nvSpPr>
        <p:spPr bwMode="auto">
          <a:xfrm flipV="1">
            <a:off x="7937500" y="2438400"/>
            <a:ext cx="0" cy="1373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6" name="Line 74"/>
          <p:cNvSpPr>
            <a:spLocks noChangeShapeType="1"/>
          </p:cNvSpPr>
          <p:nvPr/>
        </p:nvSpPr>
        <p:spPr bwMode="auto">
          <a:xfrm flipV="1">
            <a:off x="8359775" y="3268663"/>
            <a:ext cx="0" cy="969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46" name="Text Box 77"/>
          <p:cNvSpPr txBox="1">
            <a:spLocks noChangeArrowheads="1"/>
          </p:cNvSpPr>
          <p:nvPr/>
        </p:nvSpPr>
        <p:spPr bwMode="auto">
          <a:xfrm>
            <a:off x="5334000" y="37623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/>
          </a:p>
        </p:txBody>
      </p:sp>
      <p:sp>
        <p:nvSpPr>
          <p:cNvPr id="126045" name="Line 93"/>
          <p:cNvSpPr>
            <a:spLocks noChangeShapeType="1"/>
          </p:cNvSpPr>
          <p:nvPr/>
        </p:nvSpPr>
        <p:spPr bwMode="auto">
          <a:xfrm flipV="1">
            <a:off x="6683375" y="2436813"/>
            <a:ext cx="654050" cy="82708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50" name="Line 98"/>
          <p:cNvSpPr>
            <a:spLocks noChangeShapeType="1"/>
          </p:cNvSpPr>
          <p:nvPr/>
        </p:nvSpPr>
        <p:spPr bwMode="auto">
          <a:xfrm>
            <a:off x="7337425" y="2433638"/>
            <a:ext cx="0" cy="1381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92" name="Text Box 140"/>
          <p:cNvSpPr txBox="1">
            <a:spLocks noChangeArrowheads="1"/>
          </p:cNvSpPr>
          <p:nvPr/>
        </p:nvSpPr>
        <p:spPr bwMode="auto">
          <a:xfrm>
            <a:off x="1985963" y="1379538"/>
            <a:ext cx="446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f’ </a:t>
            </a:r>
          </a:p>
        </p:txBody>
      </p:sp>
      <p:sp>
        <p:nvSpPr>
          <p:cNvPr id="126093" name="Line 141"/>
          <p:cNvSpPr>
            <a:spLocks noChangeShapeType="1"/>
          </p:cNvSpPr>
          <p:nvPr/>
        </p:nvSpPr>
        <p:spPr bwMode="auto">
          <a:xfrm flipH="1">
            <a:off x="1236663" y="2289175"/>
            <a:ext cx="20637" cy="2338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94" name="Text Box 142"/>
          <p:cNvSpPr txBox="1">
            <a:spLocks noChangeArrowheads="1"/>
          </p:cNvSpPr>
          <p:nvPr/>
        </p:nvSpPr>
        <p:spPr bwMode="auto">
          <a:xfrm>
            <a:off x="944563" y="4333875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e</a:t>
            </a:r>
          </a:p>
        </p:txBody>
      </p:sp>
      <p:sp>
        <p:nvSpPr>
          <p:cNvPr id="126095" name="Text Box 143"/>
          <p:cNvSpPr txBox="1">
            <a:spLocks noChangeArrowheads="1"/>
          </p:cNvSpPr>
          <p:nvPr/>
        </p:nvSpPr>
        <p:spPr bwMode="auto">
          <a:xfrm>
            <a:off x="1736725" y="3186113"/>
            <a:ext cx="568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f</a:t>
            </a:r>
          </a:p>
        </p:txBody>
      </p:sp>
      <p:sp>
        <p:nvSpPr>
          <p:cNvPr id="126096" name="Line 144"/>
          <p:cNvSpPr>
            <a:spLocks noChangeShapeType="1"/>
          </p:cNvSpPr>
          <p:nvPr/>
        </p:nvSpPr>
        <p:spPr bwMode="auto">
          <a:xfrm>
            <a:off x="2628900" y="3070225"/>
            <a:ext cx="171450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97" name="Line 145"/>
          <p:cNvSpPr>
            <a:spLocks noChangeShapeType="1"/>
          </p:cNvSpPr>
          <p:nvPr/>
        </p:nvSpPr>
        <p:spPr bwMode="auto">
          <a:xfrm>
            <a:off x="2181225" y="1727200"/>
            <a:ext cx="441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98" name="Line 146"/>
          <p:cNvSpPr>
            <a:spLocks noChangeShapeType="1"/>
          </p:cNvSpPr>
          <p:nvPr/>
        </p:nvSpPr>
        <p:spPr bwMode="auto">
          <a:xfrm>
            <a:off x="1252538" y="4625975"/>
            <a:ext cx="2928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99" name="Line 147"/>
          <p:cNvSpPr>
            <a:spLocks noChangeShapeType="1"/>
          </p:cNvSpPr>
          <p:nvPr/>
        </p:nvSpPr>
        <p:spPr bwMode="auto">
          <a:xfrm flipH="1" flipV="1">
            <a:off x="4167188" y="2303463"/>
            <a:ext cx="11112" cy="231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0" name="Text Box 148"/>
          <p:cNvSpPr txBox="1">
            <a:spLocks noChangeArrowheads="1"/>
          </p:cNvSpPr>
          <p:nvPr/>
        </p:nvSpPr>
        <p:spPr bwMode="auto">
          <a:xfrm>
            <a:off x="4130675" y="2255838"/>
            <a:ext cx="404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e”</a:t>
            </a:r>
          </a:p>
        </p:txBody>
      </p:sp>
      <p:sp>
        <p:nvSpPr>
          <p:cNvPr id="126101" name="Line 149"/>
          <p:cNvSpPr>
            <a:spLocks noChangeShapeType="1"/>
          </p:cNvSpPr>
          <p:nvPr/>
        </p:nvSpPr>
        <p:spPr bwMode="auto">
          <a:xfrm flipV="1">
            <a:off x="1244600" y="3503613"/>
            <a:ext cx="946150" cy="1111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2" name="Line 150"/>
          <p:cNvSpPr>
            <a:spLocks noChangeShapeType="1"/>
          </p:cNvSpPr>
          <p:nvPr/>
        </p:nvSpPr>
        <p:spPr bwMode="auto">
          <a:xfrm>
            <a:off x="2193925" y="3508375"/>
            <a:ext cx="873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3" name="Line 151"/>
          <p:cNvSpPr>
            <a:spLocks noChangeShapeType="1"/>
          </p:cNvSpPr>
          <p:nvPr/>
        </p:nvSpPr>
        <p:spPr bwMode="auto">
          <a:xfrm flipV="1">
            <a:off x="3067050" y="1728788"/>
            <a:ext cx="0" cy="1779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4" name="Line 152"/>
          <p:cNvSpPr>
            <a:spLocks noChangeShapeType="1"/>
          </p:cNvSpPr>
          <p:nvPr/>
        </p:nvSpPr>
        <p:spPr bwMode="auto">
          <a:xfrm>
            <a:off x="2622550" y="1733550"/>
            <a:ext cx="438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5" name="Line 153"/>
          <p:cNvSpPr>
            <a:spLocks noChangeShapeType="1"/>
          </p:cNvSpPr>
          <p:nvPr/>
        </p:nvSpPr>
        <p:spPr bwMode="auto">
          <a:xfrm>
            <a:off x="3057525" y="1739900"/>
            <a:ext cx="1109663" cy="550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6" name="Text Box 154"/>
          <p:cNvSpPr txBox="1">
            <a:spLocks noChangeArrowheads="1"/>
          </p:cNvSpPr>
          <p:nvPr/>
        </p:nvSpPr>
        <p:spPr bwMode="auto">
          <a:xfrm>
            <a:off x="3025775" y="1358900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f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126107" name="Text Box 155"/>
          <p:cNvSpPr txBox="1">
            <a:spLocks noChangeArrowheads="1"/>
          </p:cNvSpPr>
          <p:nvPr/>
        </p:nvSpPr>
        <p:spPr bwMode="auto">
          <a:xfrm>
            <a:off x="885825" y="1976438"/>
            <a:ext cx="622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</a:t>
            </a:r>
          </a:p>
        </p:txBody>
      </p:sp>
      <p:sp>
        <p:nvSpPr>
          <p:cNvPr id="126108" name="Line 156"/>
          <p:cNvSpPr>
            <a:spLocks noChangeShapeType="1"/>
          </p:cNvSpPr>
          <p:nvPr/>
        </p:nvSpPr>
        <p:spPr bwMode="auto">
          <a:xfrm flipV="1">
            <a:off x="2190750" y="1717675"/>
            <a:ext cx="0" cy="178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9" name="Line 157"/>
          <p:cNvSpPr>
            <a:spLocks noChangeShapeType="1"/>
          </p:cNvSpPr>
          <p:nvPr/>
        </p:nvSpPr>
        <p:spPr bwMode="auto">
          <a:xfrm flipH="1">
            <a:off x="1257300" y="1727200"/>
            <a:ext cx="923925" cy="561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58"/>
          <p:cNvGrpSpPr>
            <a:grpSpLocks/>
          </p:cNvGrpSpPr>
          <p:nvPr/>
        </p:nvGrpSpPr>
        <p:grpSpPr bwMode="auto">
          <a:xfrm>
            <a:off x="552450" y="955675"/>
            <a:ext cx="4454525" cy="4229100"/>
            <a:chOff x="12" y="372"/>
            <a:chExt cx="2806" cy="2664"/>
          </a:xfrm>
        </p:grpSpPr>
        <p:sp>
          <p:nvSpPr>
            <p:cNvPr id="9273" name="Line 159"/>
            <p:cNvSpPr>
              <a:spLocks noChangeShapeType="1"/>
            </p:cNvSpPr>
            <p:nvPr/>
          </p:nvSpPr>
          <p:spPr bwMode="auto">
            <a:xfrm>
              <a:off x="199" y="1704"/>
              <a:ext cx="24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4" name="Line 160"/>
            <p:cNvSpPr>
              <a:spLocks noChangeShapeType="1"/>
            </p:cNvSpPr>
            <p:nvPr/>
          </p:nvSpPr>
          <p:spPr bwMode="auto">
            <a:xfrm>
              <a:off x="1315" y="552"/>
              <a:ext cx="0" cy="2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5" name="Text Box 161"/>
            <p:cNvSpPr txBox="1">
              <a:spLocks noChangeArrowheads="1"/>
            </p:cNvSpPr>
            <p:nvPr/>
          </p:nvSpPr>
          <p:spPr bwMode="auto">
            <a:xfrm>
              <a:off x="12" y="1452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</a:t>
              </a:r>
            </a:p>
          </p:txBody>
        </p:sp>
        <p:sp>
          <p:nvSpPr>
            <p:cNvPr id="9276" name="Text Box 162"/>
            <p:cNvSpPr txBox="1">
              <a:spLocks noChangeArrowheads="1"/>
            </p:cNvSpPr>
            <p:nvPr/>
          </p:nvSpPr>
          <p:spPr bwMode="auto">
            <a:xfrm>
              <a:off x="1302" y="1476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</a:t>
              </a:r>
            </a:p>
          </p:txBody>
        </p:sp>
        <p:sp>
          <p:nvSpPr>
            <p:cNvPr id="9277" name="Text Box 163"/>
            <p:cNvSpPr txBox="1">
              <a:spLocks noChangeArrowheads="1"/>
            </p:cNvSpPr>
            <p:nvPr/>
          </p:nvSpPr>
          <p:spPr bwMode="auto">
            <a:xfrm>
              <a:off x="2493" y="1416"/>
              <a:ext cx="3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W</a:t>
              </a:r>
            </a:p>
          </p:txBody>
        </p:sp>
        <p:sp>
          <p:nvSpPr>
            <p:cNvPr id="9278" name="Text Box 164"/>
            <p:cNvSpPr txBox="1">
              <a:spLocks noChangeArrowheads="1"/>
            </p:cNvSpPr>
            <p:nvPr/>
          </p:nvSpPr>
          <p:spPr bwMode="auto">
            <a:xfrm>
              <a:off x="1313" y="372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</a:t>
              </a:r>
            </a:p>
          </p:txBody>
        </p:sp>
        <p:sp>
          <p:nvSpPr>
            <p:cNvPr id="9279" name="Text Box 165"/>
            <p:cNvSpPr txBox="1">
              <a:spLocks noChangeArrowheads="1"/>
            </p:cNvSpPr>
            <p:nvPr/>
          </p:nvSpPr>
          <p:spPr bwMode="auto">
            <a:xfrm>
              <a:off x="1285" y="2748"/>
              <a:ext cx="3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H </a:t>
              </a:r>
            </a:p>
          </p:txBody>
        </p:sp>
      </p:grpSp>
      <p:sp>
        <p:nvSpPr>
          <p:cNvPr id="126118" name="Line 166"/>
          <p:cNvSpPr>
            <a:spLocks noChangeShapeType="1"/>
          </p:cNvSpPr>
          <p:nvPr/>
        </p:nvSpPr>
        <p:spPr bwMode="auto">
          <a:xfrm>
            <a:off x="1257300" y="2298700"/>
            <a:ext cx="1374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19" name="Line 167"/>
          <p:cNvSpPr>
            <a:spLocks noChangeShapeType="1"/>
          </p:cNvSpPr>
          <p:nvPr/>
        </p:nvSpPr>
        <p:spPr bwMode="auto">
          <a:xfrm>
            <a:off x="2627313" y="2300288"/>
            <a:ext cx="1519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21" name="Text Box 169"/>
          <p:cNvSpPr txBox="1">
            <a:spLocks noChangeArrowheads="1"/>
          </p:cNvSpPr>
          <p:nvPr/>
        </p:nvSpPr>
        <p:spPr bwMode="auto">
          <a:xfrm>
            <a:off x="1362075" y="4146550"/>
            <a:ext cx="55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i="1">
                <a:latin typeface="ISOCPEUR" pitchFamily="34" charset="0"/>
                <a:sym typeface="Symbol" pitchFamily="18" charset="2"/>
              </a:rPr>
              <a:t></a:t>
            </a:r>
            <a:r>
              <a:rPr lang="en-US" altLang="zh-CN" sz="1800" i="1">
                <a:latin typeface="ISOCPEUR" pitchFamily="34" charset="0"/>
                <a:sym typeface="Symbol" pitchFamily="18" charset="2"/>
              </a:rPr>
              <a:t>?</a:t>
            </a:r>
            <a:r>
              <a:rPr lang="en-US" altLang="en-US" sz="2800" i="1">
                <a:latin typeface="ISOCPEUR" pitchFamily="34" charset="0"/>
                <a:sym typeface="Symbol" pitchFamily="18" charset="2"/>
              </a:rPr>
              <a:t> </a:t>
            </a:r>
            <a:endParaRPr lang="en-US" altLang="zh-CN" sz="2800" i="1"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26122" name="Text Box 170"/>
          <p:cNvSpPr txBox="1">
            <a:spLocks noChangeArrowheads="1"/>
          </p:cNvSpPr>
          <p:nvPr/>
        </p:nvSpPr>
        <p:spPr bwMode="auto">
          <a:xfrm>
            <a:off x="1804988" y="17541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i="1">
                <a:latin typeface="ISOCPEUR" pitchFamily="34" charset="0"/>
                <a:sym typeface="Symbol" pitchFamily="18" charset="2"/>
              </a:rPr>
              <a:t></a:t>
            </a:r>
            <a:r>
              <a:rPr lang="en-US" altLang="zh-CN" sz="1800" i="1">
                <a:latin typeface="ISOCPEUR" pitchFamily="34" charset="0"/>
                <a:sym typeface="Symbol" pitchFamily="18" charset="2"/>
              </a:rPr>
              <a:t>?</a:t>
            </a:r>
            <a:r>
              <a:rPr lang="en-US" altLang="en-US" sz="1800" i="1">
                <a:latin typeface="ISOCPEUR" pitchFamily="34" charset="0"/>
                <a:sym typeface="Symbol" pitchFamily="18" charset="2"/>
              </a:rPr>
              <a:t> </a:t>
            </a:r>
            <a:endParaRPr lang="en-US" altLang="zh-CN" sz="2800" i="1"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26123" name="Text Box 171"/>
          <p:cNvSpPr txBox="1">
            <a:spLocks noChangeArrowheads="1"/>
          </p:cNvSpPr>
          <p:nvPr/>
        </p:nvSpPr>
        <p:spPr bwMode="auto">
          <a:xfrm>
            <a:off x="1489075" y="1995488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i="1">
                <a:latin typeface="ISOCPEUR" pitchFamily="34" charset="0"/>
                <a:sym typeface="Symbol" pitchFamily="18" charset="2"/>
              </a:rPr>
              <a:t>?</a:t>
            </a:r>
            <a:endParaRPr lang="en-US" altLang="zh-CN" sz="2800" i="1">
              <a:latin typeface="ISOCPEUR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3084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2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2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2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2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2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2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2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2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2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2" dur="500"/>
                                        <p:tgtEl>
                                          <p:spTgt spid="12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2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2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2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2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2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2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2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1000"/>
                                        <p:tgtEl>
                                          <p:spTgt spid="12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12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8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2" dur="500"/>
                                        <p:tgtEl>
                                          <p:spTgt spid="125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83" grpId="0" animBg="1"/>
      <p:bldP spid="126003" grpId="0" animBg="1"/>
      <p:bldP spid="126004" grpId="0" animBg="1"/>
      <p:bldP spid="126005" grpId="0" animBg="1"/>
      <p:bldP spid="126006" grpId="0" animBg="1"/>
      <p:bldP spid="126007" grpId="0" animBg="1"/>
      <p:bldP spid="126008" grpId="0" animBg="1"/>
      <p:bldP spid="126009" grpId="0" autoUpdateAnimBg="0"/>
      <p:bldP spid="126010" grpId="0" autoUpdateAnimBg="0"/>
      <p:bldP spid="126011" grpId="0" autoUpdateAnimBg="0"/>
      <p:bldP spid="126012" grpId="0" autoUpdateAnimBg="0"/>
      <p:bldP spid="126013" grpId="0" autoUpdateAnimBg="0"/>
      <p:bldP spid="126014" grpId="0" autoUpdateAnimBg="0"/>
      <p:bldP spid="126015" grpId="0" animBg="1"/>
      <p:bldP spid="126016" grpId="0" animBg="1"/>
      <p:bldP spid="126017" grpId="0" autoUpdateAnimBg="0"/>
      <p:bldP spid="126018" grpId="0" autoUpdateAnimBg="0"/>
      <p:bldP spid="126019" grpId="0" animBg="1"/>
      <p:bldP spid="126020" grpId="0" animBg="1"/>
      <p:bldP spid="126021" grpId="0" animBg="1"/>
      <p:bldP spid="126022" grpId="0" animBg="1"/>
      <p:bldP spid="126023" grpId="0" animBg="1"/>
      <p:bldP spid="126024" grpId="0" animBg="1"/>
      <p:bldP spid="126025" grpId="0" animBg="1"/>
      <p:bldP spid="126026" grpId="0" animBg="1"/>
      <p:bldP spid="126045" grpId="0" animBg="1"/>
      <p:bldP spid="126050" grpId="0" animBg="1"/>
      <p:bldP spid="126092" grpId="0" autoUpdateAnimBg="0"/>
      <p:bldP spid="126093" grpId="0" animBg="1"/>
      <p:bldP spid="126094" grpId="0" autoUpdateAnimBg="0"/>
      <p:bldP spid="126095" grpId="0" autoUpdateAnimBg="0"/>
      <p:bldP spid="126096" grpId="0" animBg="1"/>
      <p:bldP spid="126097" grpId="0" animBg="1"/>
      <p:bldP spid="126098" grpId="0" animBg="1"/>
      <p:bldP spid="126099" grpId="0" animBg="1"/>
      <p:bldP spid="126100" grpId="0" autoUpdateAnimBg="0"/>
      <p:bldP spid="126101" grpId="0" animBg="1"/>
      <p:bldP spid="126102" grpId="0" animBg="1"/>
      <p:bldP spid="126103" grpId="0" animBg="1"/>
      <p:bldP spid="126104" grpId="0" animBg="1"/>
      <p:bldP spid="126105" grpId="0" animBg="1"/>
      <p:bldP spid="126106" grpId="0" autoUpdateAnimBg="0"/>
      <p:bldP spid="126107" grpId="0" autoUpdateAnimBg="0"/>
      <p:bldP spid="126108" grpId="0" animBg="1"/>
      <p:bldP spid="126109" grpId="0" animBg="1"/>
      <p:bldP spid="126118" grpId="0" animBg="1"/>
      <p:bldP spid="126119" grpId="0" animBg="1"/>
      <p:bldP spid="126121" grpId="0"/>
      <p:bldP spid="126122" grpId="0"/>
      <p:bldP spid="12612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B59E0A89-9EDB-4327-9F8F-B58A021768A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44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10243" name="Group 2"/>
          <p:cNvGrpSpPr>
            <a:grpSpLocks/>
          </p:cNvGrpSpPr>
          <p:nvPr/>
        </p:nvGrpSpPr>
        <p:grpSpPr bwMode="auto">
          <a:xfrm>
            <a:off x="4910138" y="1028700"/>
            <a:ext cx="3556000" cy="3211513"/>
            <a:chOff x="3251" y="899"/>
            <a:chExt cx="2240" cy="2023"/>
          </a:xfrm>
        </p:grpSpPr>
        <p:sp>
          <p:nvSpPr>
            <p:cNvPr id="10325" name="Line 3"/>
            <p:cNvSpPr>
              <a:spLocks noChangeShapeType="1"/>
            </p:cNvSpPr>
            <p:nvPr/>
          </p:nvSpPr>
          <p:spPr bwMode="auto">
            <a:xfrm>
              <a:off x="5491" y="1656"/>
              <a:ext cx="0" cy="12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26" name="Group 4"/>
            <p:cNvGrpSpPr>
              <a:grpSpLocks/>
            </p:cNvGrpSpPr>
            <p:nvPr/>
          </p:nvGrpSpPr>
          <p:grpSpPr bwMode="auto">
            <a:xfrm>
              <a:off x="3251" y="899"/>
              <a:ext cx="2240" cy="2023"/>
              <a:chOff x="3251" y="899"/>
              <a:chExt cx="2240" cy="2023"/>
            </a:xfrm>
          </p:grpSpPr>
          <p:sp>
            <p:nvSpPr>
              <p:cNvPr id="10327" name="Rectangle 5"/>
              <p:cNvSpPr>
                <a:spLocks noChangeArrowheads="1"/>
              </p:cNvSpPr>
              <p:nvPr/>
            </p:nvSpPr>
            <p:spPr bwMode="auto">
              <a:xfrm>
                <a:off x="3255" y="902"/>
                <a:ext cx="1479" cy="1211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10328" name="Freeform 6"/>
              <p:cNvSpPr>
                <a:spLocks/>
              </p:cNvSpPr>
              <p:nvPr/>
            </p:nvSpPr>
            <p:spPr bwMode="auto">
              <a:xfrm>
                <a:off x="3255" y="901"/>
                <a:ext cx="1481" cy="1213"/>
              </a:xfrm>
              <a:custGeom>
                <a:avLst/>
                <a:gdLst>
                  <a:gd name="T0" fmla="*/ 1118 w 1589"/>
                  <a:gd name="T1" fmla="*/ 0 h 1300"/>
                  <a:gd name="T2" fmla="*/ 0 w 1589"/>
                  <a:gd name="T3" fmla="*/ 0 h 1300"/>
                  <a:gd name="T4" fmla="*/ 0 w 1589"/>
                  <a:gd name="T5" fmla="*/ 919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29" name="Freeform 7"/>
              <p:cNvSpPr>
                <a:spLocks/>
              </p:cNvSpPr>
              <p:nvPr/>
            </p:nvSpPr>
            <p:spPr bwMode="auto">
              <a:xfrm>
                <a:off x="4736" y="901"/>
                <a:ext cx="749" cy="1959"/>
              </a:xfrm>
              <a:custGeom>
                <a:avLst/>
                <a:gdLst>
                  <a:gd name="T0" fmla="*/ 0 w 804"/>
                  <a:gd name="T1" fmla="*/ 0 h 2100"/>
                  <a:gd name="T2" fmla="*/ 0 w 804"/>
                  <a:gd name="T3" fmla="*/ 915 h 2100"/>
                  <a:gd name="T4" fmla="*/ 565 w 804"/>
                  <a:gd name="T5" fmla="*/ 1483 h 2100"/>
                  <a:gd name="T6" fmla="*/ 565 w 804"/>
                  <a:gd name="T7" fmla="*/ 573 h 2100"/>
                  <a:gd name="T8" fmla="*/ 0 w 804"/>
                  <a:gd name="T9" fmla="*/ 0 h 2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4"/>
                  <a:gd name="T16" fmla="*/ 0 h 2100"/>
                  <a:gd name="T17" fmla="*/ 804 w 804"/>
                  <a:gd name="T18" fmla="*/ 2100 h 2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4" h="2100">
                    <a:moveTo>
                      <a:pt x="0" y="0"/>
                    </a:moveTo>
                    <a:lnTo>
                      <a:pt x="0" y="1296"/>
                    </a:lnTo>
                    <a:lnTo>
                      <a:pt x="804" y="2100"/>
                    </a:lnTo>
                    <a:lnTo>
                      <a:pt x="804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30" name="Freeform 8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1122 w 2400"/>
                  <a:gd name="T3" fmla="*/ 0 h 810"/>
                  <a:gd name="T4" fmla="*/ 1692 w 2400"/>
                  <a:gd name="T5" fmla="*/ 574 h 810"/>
                  <a:gd name="T6" fmla="*/ 575 w 2400"/>
                  <a:gd name="T7" fmla="*/ 574 h 810"/>
                  <a:gd name="T8" fmla="*/ 0 w 2400"/>
                  <a:gd name="T9" fmla="*/ 0 h 8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0"/>
                  <a:gd name="T16" fmla="*/ 0 h 810"/>
                  <a:gd name="T17" fmla="*/ 2400 w 2400"/>
                  <a:gd name="T18" fmla="*/ 810 h 8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0" h="810">
                    <a:moveTo>
                      <a:pt x="0" y="0"/>
                    </a:moveTo>
                    <a:lnTo>
                      <a:pt x="1590" y="0"/>
                    </a:lnTo>
                    <a:lnTo>
                      <a:pt x="2400" y="810"/>
                    </a:lnTo>
                    <a:lnTo>
                      <a:pt x="816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31" name="Line 9"/>
              <p:cNvSpPr>
                <a:spLocks noChangeShapeType="1"/>
              </p:cNvSpPr>
              <p:nvPr/>
            </p:nvSpPr>
            <p:spPr bwMode="auto">
              <a:xfrm>
                <a:off x="4736" y="901"/>
                <a:ext cx="755" cy="75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32" name="Freeform 10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571 w 2400"/>
                  <a:gd name="T3" fmla="*/ 574 h 810"/>
                  <a:gd name="T4" fmla="*/ 1692 w 2400"/>
                  <a:gd name="T5" fmla="*/ 574 h 810"/>
                  <a:gd name="T6" fmla="*/ 0 60000 65536"/>
                  <a:gd name="T7" fmla="*/ 0 60000 65536"/>
                  <a:gd name="T8" fmla="*/ 0 60000 65536"/>
                  <a:gd name="T9" fmla="*/ 0 w 2400"/>
                  <a:gd name="T10" fmla="*/ 0 h 810"/>
                  <a:gd name="T11" fmla="*/ 2400 w 2400"/>
                  <a:gd name="T12" fmla="*/ 810 h 8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0" h="810">
                    <a:moveTo>
                      <a:pt x="0" y="0"/>
                    </a:moveTo>
                    <a:lnTo>
                      <a:pt x="810" y="810"/>
                    </a:lnTo>
                    <a:lnTo>
                      <a:pt x="2400" y="81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33" name="Text Box 11"/>
              <p:cNvSpPr txBox="1">
                <a:spLocks noChangeArrowheads="1"/>
              </p:cNvSpPr>
              <p:nvPr/>
            </p:nvSpPr>
            <p:spPr bwMode="auto">
              <a:xfrm>
                <a:off x="5215" y="1570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W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10334" name="Text Box 12"/>
              <p:cNvSpPr txBox="1">
                <a:spLocks noChangeArrowheads="1"/>
              </p:cNvSpPr>
              <p:nvPr/>
            </p:nvSpPr>
            <p:spPr bwMode="auto">
              <a:xfrm>
                <a:off x="3277" y="89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V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10335" name="Text Box 13"/>
              <p:cNvSpPr txBox="1">
                <a:spLocks noChangeArrowheads="1"/>
              </p:cNvSpPr>
              <p:nvPr/>
            </p:nvSpPr>
            <p:spPr bwMode="auto">
              <a:xfrm>
                <a:off x="3972" y="263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H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</p:grpSp>
      </p:grpSp>
      <p:sp>
        <p:nvSpPr>
          <p:cNvPr id="10244" name="Line 14"/>
          <p:cNvSpPr>
            <a:spLocks noChangeShapeType="1"/>
          </p:cNvSpPr>
          <p:nvPr/>
        </p:nvSpPr>
        <p:spPr bwMode="auto">
          <a:xfrm>
            <a:off x="7034213" y="1919288"/>
            <a:ext cx="6000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" name="Line 15"/>
          <p:cNvSpPr>
            <a:spLocks noChangeShapeType="1"/>
          </p:cNvSpPr>
          <p:nvPr/>
        </p:nvSpPr>
        <p:spPr bwMode="auto">
          <a:xfrm>
            <a:off x="6381750" y="2749550"/>
            <a:ext cx="1668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" name="Line 16"/>
          <p:cNvSpPr>
            <a:spLocks noChangeShapeType="1"/>
          </p:cNvSpPr>
          <p:nvPr/>
        </p:nvSpPr>
        <p:spPr bwMode="auto">
          <a:xfrm>
            <a:off x="6380163" y="2749550"/>
            <a:ext cx="0" cy="977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" name="Line 17"/>
          <p:cNvSpPr>
            <a:spLocks noChangeShapeType="1"/>
          </p:cNvSpPr>
          <p:nvPr/>
        </p:nvSpPr>
        <p:spPr bwMode="auto">
          <a:xfrm flipH="1" flipV="1">
            <a:off x="5584825" y="1952625"/>
            <a:ext cx="793750" cy="79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8" name="Line 18"/>
          <p:cNvSpPr>
            <a:spLocks noChangeShapeType="1"/>
          </p:cNvSpPr>
          <p:nvPr/>
        </p:nvSpPr>
        <p:spPr bwMode="auto">
          <a:xfrm flipV="1">
            <a:off x="6373813" y="3295650"/>
            <a:ext cx="661987" cy="433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9" name="Line 19"/>
          <p:cNvSpPr>
            <a:spLocks noChangeShapeType="1"/>
          </p:cNvSpPr>
          <p:nvPr/>
        </p:nvSpPr>
        <p:spPr bwMode="auto">
          <a:xfrm>
            <a:off x="7627938" y="1914525"/>
            <a:ext cx="434975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0" name="Text Box 20"/>
          <p:cNvSpPr txBox="1">
            <a:spLocks noChangeArrowheads="1"/>
          </p:cNvSpPr>
          <p:nvPr/>
        </p:nvSpPr>
        <p:spPr bwMode="auto">
          <a:xfrm>
            <a:off x="6948488" y="1539875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F</a:t>
            </a:r>
          </a:p>
        </p:txBody>
      </p:sp>
      <p:sp>
        <p:nvSpPr>
          <p:cNvPr id="10251" name="Text Box 21"/>
          <p:cNvSpPr txBox="1">
            <a:spLocks noChangeArrowheads="1"/>
          </p:cNvSpPr>
          <p:nvPr/>
        </p:nvSpPr>
        <p:spPr bwMode="auto">
          <a:xfrm>
            <a:off x="6015038" y="2573338"/>
            <a:ext cx="449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E</a:t>
            </a:r>
            <a:r>
              <a:rPr lang="en-US" altLang="zh-CN" sz="2400" b="0" i="1">
                <a:latin typeface="ISOCPEUR" pitchFamily="34" charset="0"/>
              </a:rPr>
              <a:t> </a:t>
            </a:r>
          </a:p>
        </p:txBody>
      </p:sp>
      <p:sp>
        <p:nvSpPr>
          <p:cNvPr id="10252" name="Text Box 22"/>
          <p:cNvSpPr txBox="1">
            <a:spLocks noChangeArrowheads="1"/>
          </p:cNvSpPr>
          <p:nvPr/>
        </p:nvSpPr>
        <p:spPr bwMode="auto">
          <a:xfrm>
            <a:off x="5294313" y="1620838"/>
            <a:ext cx="55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e’ 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0253" name="Text Box 23"/>
          <p:cNvSpPr txBox="1">
            <a:spLocks noChangeArrowheads="1"/>
          </p:cNvSpPr>
          <p:nvPr/>
        </p:nvSpPr>
        <p:spPr bwMode="auto">
          <a:xfrm>
            <a:off x="6326188" y="3636963"/>
            <a:ext cx="3825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 </a:t>
            </a:r>
          </a:p>
        </p:txBody>
      </p:sp>
      <p:sp>
        <p:nvSpPr>
          <p:cNvPr id="10254" name="Text Box 24"/>
          <p:cNvSpPr txBox="1">
            <a:spLocks noChangeArrowheads="1"/>
          </p:cNvSpPr>
          <p:nvPr/>
        </p:nvSpPr>
        <p:spPr bwMode="auto">
          <a:xfrm>
            <a:off x="7980363" y="2538413"/>
            <a:ext cx="493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 </a:t>
            </a:r>
          </a:p>
        </p:txBody>
      </p:sp>
      <p:sp>
        <p:nvSpPr>
          <p:cNvPr id="10255" name="Text Box 25"/>
          <p:cNvSpPr txBox="1">
            <a:spLocks noChangeArrowheads="1"/>
          </p:cNvSpPr>
          <p:nvPr/>
        </p:nvSpPr>
        <p:spPr bwMode="auto">
          <a:xfrm>
            <a:off x="7621588" y="1681163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f” </a:t>
            </a:r>
          </a:p>
        </p:txBody>
      </p:sp>
      <p:sp>
        <p:nvSpPr>
          <p:cNvPr id="10256" name="Line 26"/>
          <p:cNvSpPr>
            <a:spLocks noChangeShapeType="1"/>
          </p:cNvSpPr>
          <p:nvPr/>
        </p:nvSpPr>
        <p:spPr bwMode="auto">
          <a:xfrm flipH="1" flipV="1">
            <a:off x="6662738" y="1547813"/>
            <a:ext cx="371475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7" name="Line 27"/>
          <p:cNvSpPr>
            <a:spLocks noChangeShapeType="1"/>
          </p:cNvSpPr>
          <p:nvPr/>
        </p:nvSpPr>
        <p:spPr bwMode="auto">
          <a:xfrm flipV="1">
            <a:off x="5580063" y="1546225"/>
            <a:ext cx="1085850" cy="412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8" name="Text Box 28"/>
          <p:cNvSpPr txBox="1">
            <a:spLocks noChangeArrowheads="1"/>
          </p:cNvSpPr>
          <p:nvPr/>
        </p:nvSpPr>
        <p:spPr bwMode="auto">
          <a:xfrm>
            <a:off x="6878638" y="3241675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 </a:t>
            </a:r>
          </a:p>
        </p:txBody>
      </p:sp>
      <p:sp>
        <p:nvSpPr>
          <p:cNvPr id="10259" name="Text Box 29"/>
          <p:cNvSpPr txBox="1">
            <a:spLocks noChangeArrowheads="1"/>
          </p:cNvSpPr>
          <p:nvPr/>
        </p:nvSpPr>
        <p:spPr bwMode="auto">
          <a:xfrm>
            <a:off x="6337300" y="1216025"/>
            <a:ext cx="52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f'</a:t>
            </a:r>
          </a:p>
        </p:txBody>
      </p:sp>
      <p:sp>
        <p:nvSpPr>
          <p:cNvPr id="10260" name="Line 30"/>
          <p:cNvSpPr>
            <a:spLocks noChangeShapeType="1"/>
          </p:cNvSpPr>
          <p:nvPr/>
        </p:nvSpPr>
        <p:spPr bwMode="auto">
          <a:xfrm flipH="1" flipV="1">
            <a:off x="5580063" y="2933700"/>
            <a:ext cx="800100" cy="795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1" name="Line 31"/>
          <p:cNvSpPr>
            <a:spLocks noChangeShapeType="1"/>
          </p:cNvSpPr>
          <p:nvPr/>
        </p:nvSpPr>
        <p:spPr bwMode="auto">
          <a:xfrm flipV="1">
            <a:off x="5583238" y="1952625"/>
            <a:ext cx="0" cy="982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2" name="Line 32"/>
          <p:cNvSpPr>
            <a:spLocks noChangeShapeType="1"/>
          </p:cNvSpPr>
          <p:nvPr/>
        </p:nvSpPr>
        <p:spPr bwMode="auto">
          <a:xfrm flipH="1" flipV="1">
            <a:off x="6662738" y="2933700"/>
            <a:ext cx="369887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3" name="Line 33"/>
          <p:cNvSpPr>
            <a:spLocks noChangeShapeType="1"/>
          </p:cNvSpPr>
          <p:nvPr/>
        </p:nvSpPr>
        <p:spPr bwMode="auto">
          <a:xfrm flipV="1">
            <a:off x="6662738" y="1552575"/>
            <a:ext cx="0" cy="1382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4" name="Line 34"/>
          <p:cNvSpPr>
            <a:spLocks noChangeShapeType="1"/>
          </p:cNvSpPr>
          <p:nvPr/>
        </p:nvSpPr>
        <p:spPr bwMode="auto">
          <a:xfrm>
            <a:off x="7034213" y="3302000"/>
            <a:ext cx="596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5" name="Line 35"/>
          <p:cNvSpPr>
            <a:spLocks noChangeShapeType="1"/>
          </p:cNvSpPr>
          <p:nvPr/>
        </p:nvSpPr>
        <p:spPr bwMode="auto">
          <a:xfrm>
            <a:off x="6381750" y="3727450"/>
            <a:ext cx="1668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6" name="Line 36"/>
          <p:cNvSpPr>
            <a:spLocks noChangeShapeType="1"/>
          </p:cNvSpPr>
          <p:nvPr/>
        </p:nvSpPr>
        <p:spPr bwMode="auto">
          <a:xfrm flipV="1">
            <a:off x="7634288" y="1924050"/>
            <a:ext cx="0" cy="1373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7" name="Line 37"/>
          <p:cNvSpPr>
            <a:spLocks noChangeShapeType="1"/>
          </p:cNvSpPr>
          <p:nvPr/>
        </p:nvSpPr>
        <p:spPr bwMode="auto">
          <a:xfrm flipV="1">
            <a:off x="8056563" y="2754313"/>
            <a:ext cx="0" cy="969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14" name="Text Box 38"/>
          <p:cNvSpPr txBox="1">
            <a:spLocks noChangeArrowheads="1"/>
          </p:cNvSpPr>
          <p:nvPr/>
        </p:nvSpPr>
        <p:spPr bwMode="auto">
          <a:xfrm>
            <a:off x="5546725" y="2144713"/>
            <a:ext cx="53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F</a:t>
            </a:r>
            <a:r>
              <a:rPr lang="en-US" altLang="zh-CN" sz="1600" i="1">
                <a:latin typeface="ISOCPEUR" pitchFamily="34" charset="0"/>
              </a:rPr>
              <a:t>V </a:t>
            </a:r>
          </a:p>
        </p:txBody>
      </p:sp>
      <p:sp>
        <p:nvSpPr>
          <p:cNvPr id="127015" name="Text Box 39"/>
          <p:cNvSpPr txBox="1">
            <a:spLocks noChangeArrowheads="1"/>
          </p:cNvSpPr>
          <p:nvPr/>
        </p:nvSpPr>
        <p:spPr bwMode="auto">
          <a:xfrm>
            <a:off x="7234238" y="2657475"/>
            <a:ext cx="557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F</a:t>
            </a:r>
            <a:r>
              <a:rPr lang="en-US" altLang="zh-CN" sz="1600" i="1">
                <a:latin typeface="ISOCPEUR" pitchFamily="34" charset="0"/>
              </a:rPr>
              <a:t>W </a:t>
            </a:r>
          </a:p>
        </p:txBody>
      </p:sp>
      <p:sp>
        <p:nvSpPr>
          <p:cNvPr id="10270" name="Text Box 40"/>
          <p:cNvSpPr txBox="1">
            <a:spLocks noChangeArrowheads="1"/>
          </p:cNvSpPr>
          <p:nvPr/>
        </p:nvSpPr>
        <p:spPr bwMode="auto">
          <a:xfrm>
            <a:off x="169863" y="196850"/>
            <a:ext cx="80597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三．线段的实长及其与投影面的夹角</a:t>
            </a:r>
            <a:endParaRPr lang="zh-CN" altLang="en-US">
              <a:ea typeface="黑体" pitchFamily="2" charset="-122"/>
            </a:endParaRPr>
          </a:p>
        </p:txBody>
      </p:sp>
      <p:sp>
        <p:nvSpPr>
          <p:cNvPr id="10271" name="Text Box 41"/>
          <p:cNvSpPr txBox="1">
            <a:spLocks noChangeArrowheads="1"/>
          </p:cNvSpPr>
          <p:nvPr/>
        </p:nvSpPr>
        <p:spPr bwMode="auto">
          <a:xfrm>
            <a:off x="5030788" y="32480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/>
          </a:p>
        </p:txBody>
      </p:sp>
      <p:sp>
        <p:nvSpPr>
          <p:cNvPr id="127018" name="Text Box 42"/>
          <p:cNvSpPr txBox="1">
            <a:spLocks noChangeArrowheads="1"/>
          </p:cNvSpPr>
          <p:nvPr/>
        </p:nvSpPr>
        <p:spPr bwMode="auto">
          <a:xfrm>
            <a:off x="6562725" y="2289175"/>
            <a:ext cx="2809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i="1">
                <a:latin typeface="ISOCPEUR" pitchFamily="34" charset="0"/>
                <a:sym typeface="Symbol" pitchFamily="18" charset="2"/>
              </a:rPr>
              <a:t></a:t>
            </a:r>
            <a:endParaRPr lang="en-US" altLang="zh-CN" sz="1200" i="1"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27019" name="Text Box 43"/>
          <p:cNvSpPr txBox="1">
            <a:spLocks noChangeArrowheads="1"/>
          </p:cNvSpPr>
          <p:nvPr/>
        </p:nvSpPr>
        <p:spPr bwMode="auto">
          <a:xfrm>
            <a:off x="6630988" y="1970088"/>
            <a:ext cx="328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i="1">
                <a:latin typeface="ISOCPEUR" pitchFamily="34" charset="0"/>
                <a:sym typeface="Symbol" pitchFamily="18" charset="2"/>
              </a:rPr>
              <a:t> </a:t>
            </a:r>
            <a:endParaRPr lang="en-US" altLang="zh-CN" sz="1200" i="1"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27020" name="Line 44"/>
          <p:cNvSpPr>
            <a:spLocks noChangeShapeType="1"/>
          </p:cNvSpPr>
          <p:nvPr/>
        </p:nvSpPr>
        <p:spPr bwMode="auto">
          <a:xfrm flipV="1">
            <a:off x="6383338" y="2306638"/>
            <a:ext cx="654050" cy="43815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5932488" y="2192338"/>
            <a:ext cx="215900" cy="244475"/>
            <a:chOff x="3708" y="2132"/>
            <a:chExt cx="136" cy="154"/>
          </a:xfrm>
        </p:grpSpPr>
        <p:sp>
          <p:nvSpPr>
            <p:cNvPr id="10323" name="Arc 46"/>
            <p:cNvSpPr>
              <a:spLocks/>
            </p:cNvSpPr>
            <p:nvPr/>
          </p:nvSpPr>
          <p:spPr bwMode="auto">
            <a:xfrm>
              <a:off x="3750" y="2192"/>
              <a:ext cx="56" cy="76"/>
            </a:xfrm>
            <a:custGeom>
              <a:avLst/>
              <a:gdLst>
                <a:gd name="T0" fmla="*/ 0 w 21600"/>
                <a:gd name="T1" fmla="*/ 0 h 29104"/>
                <a:gd name="T2" fmla="*/ 0 w 21600"/>
                <a:gd name="T3" fmla="*/ 0 h 29104"/>
                <a:gd name="T4" fmla="*/ 0 w 21600"/>
                <a:gd name="T5" fmla="*/ 0 h 2910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104"/>
                <a:gd name="T11" fmla="*/ 21600 w 21600"/>
                <a:gd name="T12" fmla="*/ 29104 h 29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104" fill="none" extrusionOk="0">
                  <a:moveTo>
                    <a:pt x="19062" y="-1"/>
                  </a:moveTo>
                  <a:cubicBezTo>
                    <a:pt x="20728" y="3126"/>
                    <a:pt x="21600" y="6615"/>
                    <a:pt x="21600" y="10158"/>
                  </a:cubicBezTo>
                  <a:cubicBezTo>
                    <a:pt x="21600" y="18050"/>
                    <a:pt x="17295" y="25314"/>
                    <a:pt x="10373" y="29104"/>
                  </a:cubicBezTo>
                </a:path>
                <a:path w="21600" h="29104" stroke="0" extrusionOk="0">
                  <a:moveTo>
                    <a:pt x="19062" y="-1"/>
                  </a:moveTo>
                  <a:cubicBezTo>
                    <a:pt x="20728" y="3126"/>
                    <a:pt x="21600" y="6615"/>
                    <a:pt x="21600" y="10158"/>
                  </a:cubicBezTo>
                  <a:cubicBezTo>
                    <a:pt x="21600" y="18050"/>
                    <a:pt x="17295" y="25314"/>
                    <a:pt x="10373" y="29104"/>
                  </a:cubicBezTo>
                  <a:lnTo>
                    <a:pt x="0" y="10158"/>
                  </a:lnTo>
                  <a:lnTo>
                    <a:pt x="19062" y="-1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4" name="Text Box 47"/>
            <p:cNvSpPr txBox="1">
              <a:spLocks noChangeArrowheads="1"/>
            </p:cNvSpPr>
            <p:nvPr/>
          </p:nvSpPr>
          <p:spPr bwMode="auto">
            <a:xfrm>
              <a:off x="3708" y="2132"/>
              <a:ext cx="1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>
                  <a:solidFill>
                    <a:srgbClr val="0000CC"/>
                  </a:solidFill>
                </a:rPr>
                <a:t>.</a:t>
              </a:r>
            </a:p>
          </p:txBody>
        </p:sp>
      </p:grp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7278688" y="2552700"/>
            <a:ext cx="215900" cy="244475"/>
            <a:chOff x="4556" y="2359"/>
            <a:chExt cx="136" cy="154"/>
          </a:xfrm>
        </p:grpSpPr>
        <p:sp>
          <p:nvSpPr>
            <p:cNvPr id="10321" name="Arc 49"/>
            <p:cNvSpPr>
              <a:spLocks/>
            </p:cNvSpPr>
            <p:nvPr/>
          </p:nvSpPr>
          <p:spPr bwMode="auto">
            <a:xfrm>
              <a:off x="4582" y="2420"/>
              <a:ext cx="56" cy="62"/>
            </a:xfrm>
            <a:custGeom>
              <a:avLst/>
              <a:gdLst>
                <a:gd name="T0" fmla="*/ 0 w 21600"/>
                <a:gd name="T1" fmla="*/ 0 h 23975"/>
                <a:gd name="T2" fmla="*/ 0 w 21600"/>
                <a:gd name="T3" fmla="*/ 0 h 23975"/>
                <a:gd name="T4" fmla="*/ 0 w 21600"/>
                <a:gd name="T5" fmla="*/ 0 h 2397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3975"/>
                <a:gd name="T11" fmla="*/ 21600 w 21600"/>
                <a:gd name="T12" fmla="*/ 23975 h 239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3975" fill="none" extrusionOk="0">
                  <a:moveTo>
                    <a:pt x="132" y="23974"/>
                  </a:moveTo>
                  <a:cubicBezTo>
                    <a:pt x="44" y="23183"/>
                    <a:pt x="0" y="22386"/>
                    <a:pt x="0" y="21590"/>
                  </a:cubicBezTo>
                  <a:cubicBezTo>
                    <a:pt x="-1" y="9915"/>
                    <a:pt x="9276" y="353"/>
                    <a:pt x="20945" y="-1"/>
                  </a:cubicBezTo>
                </a:path>
                <a:path w="21600" h="23975" stroke="0" extrusionOk="0">
                  <a:moveTo>
                    <a:pt x="132" y="23974"/>
                  </a:moveTo>
                  <a:cubicBezTo>
                    <a:pt x="44" y="23183"/>
                    <a:pt x="0" y="22386"/>
                    <a:pt x="0" y="21590"/>
                  </a:cubicBezTo>
                  <a:cubicBezTo>
                    <a:pt x="-1" y="9915"/>
                    <a:pt x="9276" y="353"/>
                    <a:pt x="20945" y="-1"/>
                  </a:cubicBezTo>
                  <a:lnTo>
                    <a:pt x="21600" y="21590"/>
                  </a:lnTo>
                  <a:lnTo>
                    <a:pt x="132" y="23974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2" name="Text Box 50"/>
            <p:cNvSpPr txBox="1">
              <a:spLocks noChangeArrowheads="1"/>
            </p:cNvSpPr>
            <p:nvPr/>
          </p:nvSpPr>
          <p:spPr bwMode="auto">
            <a:xfrm>
              <a:off x="4556" y="2359"/>
              <a:ext cx="1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>
                  <a:solidFill>
                    <a:srgbClr val="0000CC"/>
                  </a:solidFill>
                </a:rPr>
                <a:t>.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4146550" y="2490788"/>
            <a:ext cx="1936750" cy="1087437"/>
            <a:chOff x="2567" y="2328"/>
            <a:chExt cx="1220" cy="685"/>
          </a:xfrm>
        </p:grpSpPr>
        <p:sp>
          <p:nvSpPr>
            <p:cNvPr id="10319" name="Text Box 52"/>
            <p:cNvSpPr txBox="1">
              <a:spLocks noChangeArrowheads="1"/>
            </p:cNvSpPr>
            <p:nvPr/>
          </p:nvSpPr>
          <p:spPr bwMode="auto">
            <a:xfrm>
              <a:off x="2567" y="2725"/>
              <a:ext cx="5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charset="-122"/>
                </a:rPr>
                <a:t>△</a:t>
              </a: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EF </a:t>
              </a:r>
            </a:p>
          </p:txBody>
        </p:sp>
        <p:sp>
          <p:nvSpPr>
            <p:cNvPr id="10320" name="Line 53"/>
            <p:cNvSpPr>
              <a:spLocks noChangeShapeType="1"/>
            </p:cNvSpPr>
            <p:nvPr/>
          </p:nvSpPr>
          <p:spPr bwMode="auto">
            <a:xfrm flipV="1">
              <a:off x="2990" y="2328"/>
              <a:ext cx="797" cy="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54"/>
          <p:cNvGrpSpPr>
            <a:grpSpLocks/>
          </p:cNvGrpSpPr>
          <p:nvPr/>
        </p:nvGrpSpPr>
        <p:grpSpPr bwMode="auto">
          <a:xfrm>
            <a:off x="6935788" y="2752725"/>
            <a:ext cx="1452562" cy="1978025"/>
            <a:chOff x="4340" y="2485"/>
            <a:chExt cx="915" cy="1246"/>
          </a:xfrm>
        </p:grpSpPr>
        <p:sp>
          <p:nvSpPr>
            <p:cNvPr id="10317" name="Text Box 55"/>
            <p:cNvSpPr txBox="1">
              <a:spLocks noChangeArrowheads="1"/>
            </p:cNvSpPr>
            <p:nvPr/>
          </p:nvSpPr>
          <p:spPr bwMode="auto">
            <a:xfrm>
              <a:off x="4660" y="3443"/>
              <a:ext cx="5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charset="-122"/>
                </a:rPr>
                <a:t>△</a:t>
              </a:r>
              <a:r>
                <a:rPr lang="en-US" altLang="zh-CN" sz="2400" i="1">
                  <a:latin typeface="ISOCPEUR" pitchFamily="34" charset="0"/>
                </a:rPr>
                <a:t>X</a:t>
              </a:r>
              <a:r>
                <a:rPr lang="en-US" altLang="zh-CN" sz="2400" i="1" baseline="-25000">
                  <a:latin typeface="ISOCPEUR" pitchFamily="34" charset="0"/>
                </a:rPr>
                <a:t>EF </a:t>
              </a:r>
            </a:p>
          </p:txBody>
        </p:sp>
        <p:sp>
          <p:nvSpPr>
            <p:cNvPr id="10318" name="Line 56"/>
            <p:cNvSpPr>
              <a:spLocks noChangeShapeType="1"/>
            </p:cNvSpPr>
            <p:nvPr/>
          </p:nvSpPr>
          <p:spPr bwMode="auto">
            <a:xfrm flipH="1" flipV="1">
              <a:off x="4340" y="2485"/>
              <a:ext cx="520" cy="1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79" name="Line 58"/>
          <p:cNvSpPr>
            <a:spLocks noChangeShapeType="1"/>
          </p:cNvSpPr>
          <p:nvPr/>
        </p:nvSpPr>
        <p:spPr bwMode="auto">
          <a:xfrm flipV="1">
            <a:off x="6380163" y="1922463"/>
            <a:ext cx="654050" cy="82708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35" name="Line 59"/>
          <p:cNvSpPr>
            <a:spLocks noChangeShapeType="1"/>
          </p:cNvSpPr>
          <p:nvPr/>
        </p:nvSpPr>
        <p:spPr bwMode="auto">
          <a:xfrm flipH="1">
            <a:off x="5961063" y="1922463"/>
            <a:ext cx="1069975" cy="4095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Group 60"/>
          <p:cNvGrpSpPr>
            <a:grpSpLocks/>
          </p:cNvGrpSpPr>
          <p:nvPr/>
        </p:nvGrpSpPr>
        <p:grpSpPr bwMode="auto">
          <a:xfrm>
            <a:off x="7032625" y="950913"/>
            <a:ext cx="1454150" cy="1223962"/>
            <a:chOff x="4401" y="1350"/>
            <a:chExt cx="916" cy="771"/>
          </a:xfrm>
        </p:grpSpPr>
        <p:sp>
          <p:nvSpPr>
            <p:cNvPr id="10315" name="Line 61"/>
            <p:cNvSpPr>
              <a:spLocks noChangeShapeType="1"/>
            </p:cNvSpPr>
            <p:nvPr/>
          </p:nvSpPr>
          <p:spPr bwMode="auto">
            <a:xfrm flipH="1">
              <a:off x="4401" y="1596"/>
              <a:ext cx="573" cy="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16" name="Text Box 62"/>
            <p:cNvSpPr txBox="1">
              <a:spLocks noChangeArrowheads="1"/>
            </p:cNvSpPr>
            <p:nvPr/>
          </p:nvSpPr>
          <p:spPr bwMode="auto">
            <a:xfrm>
              <a:off x="4734" y="1350"/>
              <a:ext cx="5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charset="-122"/>
                </a:rPr>
                <a:t>△</a:t>
              </a:r>
              <a:r>
                <a:rPr lang="en-US" altLang="zh-CN" sz="2400" i="1">
                  <a:latin typeface="ISOCPEUR" pitchFamily="34" charset="0"/>
                </a:rPr>
                <a:t>Z</a:t>
              </a:r>
              <a:r>
                <a:rPr lang="en-US" altLang="zh-CN" sz="2400" i="1" baseline="-25000">
                  <a:latin typeface="ISOCPEUR" pitchFamily="34" charset="0"/>
                </a:rPr>
                <a:t>EF </a:t>
              </a:r>
            </a:p>
          </p:txBody>
        </p:sp>
      </p:grpSp>
      <p:sp>
        <p:nvSpPr>
          <p:cNvPr id="10282" name="Line 63"/>
          <p:cNvSpPr>
            <a:spLocks noChangeShapeType="1"/>
          </p:cNvSpPr>
          <p:nvPr/>
        </p:nvSpPr>
        <p:spPr bwMode="auto">
          <a:xfrm>
            <a:off x="7034213" y="1919288"/>
            <a:ext cx="0" cy="1381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64"/>
          <p:cNvGrpSpPr>
            <a:grpSpLocks/>
          </p:cNvGrpSpPr>
          <p:nvPr/>
        </p:nvGrpSpPr>
        <p:grpSpPr bwMode="auto">
          <a:xfrm>
            <a:off x="6904038" y="2124075"/>
            <a:ext cx="215900" cy="244475"/>
            <a:chOff x="4320" y="2095"/>
            <a:chExt cx="136" cy="154"/>
          </a:xfrm>
        </p:grpSpPr>
        <p:sp>
          <p:nvSpPr>
            <p:cNvPr id="10313" name="Arc 65"/>
            <p:cNvSpPr>
              <a:spLocks/>
            </p:cNvSpPr>
            <p:nvPr/>
          </p:nvSpPr>
          <p:spPr bwMode="auto">
            <a:xfrm>
              <a:off x="4359" y="2160"/>
              <a:ext cx="56" cy="72"/>
            </a:xfrm>
            <a:custGeom>
              <a:avLst/>
              <a:gdLst>
                <a:gd name="T0" fmla="*/ 0 w 21600"/>
                <a:gd name="T1" fmla="*/ 0 h 27687"/>
                <a:gd name="T2" fmla="*/ 0 w 21600"/>
                <a:gd name="T3" fmla="*/ 0 h 27687"/>
                <a:gd name="T4" fmla="*/ 0 w 21600"/>
                <a:gd name="T5" fmla="*/ 0 h 2768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7687"/>
                <a:gd name="T11" fmla="*/ 21600 w 21600"/>
                <a:gd name="T12" fmla="*/ 27687 h 276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7687" fill="none" extrusionOk="0">
                  <a:moveTo>
                    <a:pt x="1174" y="27687"/>
                  </a:moveTo>
                  <a:cubicBezTo>
                    <a:pt x="397" y="25425"/>
                    <a:pt x="0" y="23051"/>
                    <a:pt x="0" y="20660"/>
                  </a:cubicBezTo>
                  <a:cubicBezTo>
                    <a:pt x="-1" y="11158"/>
                    <a:pt x="6208" y="2773"/>
                    <a:pt x="15296" y="0"/>
                  </a:cubicBezTo>
                </a:path>
                <a:path w="21600" h="27687" stroke="0" extrusionOk="0">
                  <a:moveTo>
                    <a:pt x="1174" y="27687"/>
                  </a:moveTo>
                  <a:cubicBezTo>
                    <a:pt x="397" y="25425"/>
                    <a:pt x="0" y="23051"/>
                    <a:pt x="0" y="20660"/>
                  </a:cubicBezTo>
                  <a:cubicBezTo>
                    <a:pt x="-1" y="11158"/>
                    <a:pt x="6208" y="2773"/>
                    <a:pt x="15296" y="0"/>
                  </a:cubicBezTo>
                  <a:lnTo>
                    <a:pt x="21600" y="20660"/>
                  </a:lnTo>
                  <a:lnTo>
                    <a:pt x="1174" y="27687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14" name="Text Box 66"/>
            <p:cNvSpPr txBox="1">
              <a:spLocks noChangeArrowheads="1"/>
            </p:cNvSpPr>
            <p:nvPr/>
          </p:nvSpPr>
          <p:spPr bwMode="auto">
            <a:xfrm>
              <a:off x="4320" y="2095"/>
              <a:ext cx="1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>
                  <a:solidFill>
                    <a:srgbClr val="0000CC"/>
                  </a:solidFill>
                </a:rPr>
                <a:t>.</a:t>
              </a:r>
            </a:p>
          </p:txBody>
        </p:sp>
      </p:grpSp>
      <p:sp>
        <p:nvSpPr>
          <p:cNvPr id="127043" name="Text Box 67"/>
          <p:cNvSpPr txBox="1">
            <a:spLocks noChangeArrowheads="1"/>
          </p:cNvSpPr>
          <p:nvPr/>
        </p:nvSpPr>
        <p:spPr bwMode="auto">
          <a:xfrm>
            <a:off x="6845300" y="2241550"/>
            <a:ext cx="515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F</a:t>
            </a:r>
            <a:r>
              <a:rPr lang="en-US" altLang="zh-CN" sz="1600" i="1">
                <a:latin typeface="ISOCPEUR" pitchFamily="34" charset="0"/>
              </a:rPr>
              <a:t>H </a:t>
            </a:r>
          </a:p>
        </p:txBody>
      </p:sp>
      <p:sp>
        <p:nvSpPr>
          <p:cNvPr id="127044" name="Line 68"/>
          <p:cNvSpPr>
            <a:spLocks noChangeShapeType="1"/>
          </p:cNvSpPr>
          <p:nvPr/>
        </p:nvSpPr>
        <p:spPr bwMode="auto">
          <a:xfrm>
            <a:off x="7034213" y="1928813"/>
            <a:ext cx="422275" cy="8159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45" name="Oval 69"/>
          <p:cNvSpPr>
            <a:spLocks noChangeArrowheads="1"/>
          </p:cNvSpPr>
          <p:nvPr/>
        </p:nvSpPr>
        <p:spPr bwMode="auto">
          <a:xfrm>
            <a:off x="6962775" y="2014538"/>
            <a:ext cx="117475" cy="127000"/>
          </a:xfrm>
          <a:prstGeom prst="ellipse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7046" name="Text Box 70"/>
          <p:cNvSpPr txBox="1">
            <a:spLocks noChangeArrowheads="1"/>
          </p:cNvSpPr>
          <p:nvPr/>
        </p:nvSpPr>
        <p:spPr bwMode="auto">
          <a:xfrm>
            <a:off x="6880225" y="1927225"/>
            <a:ext cx="3063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i="1">
                <a:latin typeface="ISOCPEUR" pitchFamily="34" charset="0"/>
                <a:sym typeface="Symbol" pitchFamily="18" charset="2"/>
              </a:rPr>
              <a:t> </a:t>
            </a:r>
            <a:endParaRPr lang="en-US" altLang="zh-CN" sz="1200" i="1"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27048" name="Text Box 72"/>
          <p:cNvSpPr txBox="1">
            <a:spLocks noChangeArrowheads="1"/>
          </p:cNvSpPr>
          <p:nvPr/>
        </p:nvSpPr>
        <p:spPr bwMode="auto">
          <a:xfrm>
            <a:off x="1970088" y="942975"/>
            <a:ext cx="446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f’ </a:t>
            </a:r>
          </a:p>
        </p:txBody>
      </p:sp>
      <p:sp>
        <p:nvSpPr>
          <p:cNvPr id="127049" name="Line 73"/>
          <p:cNvSpPr>
            <a:spLocks noChangeShapeType="1"/>
          </p:cNvSpPr>
          <p:nvPr/>
        </p:nvSpPr>
        <p:spPr bwMode="auto">
          <a:xfrm flipH="1">
            <a:off x="1220788" y="1852613"/>
            <a:ext cx="20637" cy="2338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0" name="Text Box 74"/>
          <p:cNvSpPr txBox="1">
            <a:spLocks noChangeArrowheads="1"/>
          </p:cNvSpPr>
          <p:nvPr/>
        </p:nvSpPr>
        <p:spPr bwMode="auto">
          <a:xfrm>
            <a:off x="928688" y="389731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e</a:t>
            </a:r>
          </a:p>
        </p:txBody>
      </p:sp>
      <p:sp>
        <p:nvSpPr>
          <p:cNvPr id="127051" name="Text Box 75"/>
          <p:cNvSpPr txBox="1">
            <a:spLocks noChangeArrowheads="1"/>
          </p:cNvSpPr>
          <p:nvPr/>
        </p:nvSpPr>
        <p:spPr bwMode="auto">
          <a:xfrm>
            <a:off x="1720850" y="2749550"/>
            <a:ext cx="568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f</a:t>
            </a:r>
          </a:p>
        </p:txBody>
      </p:sp>
      <p:sp>
        <p:nvSpPr>
          <p:cNvPr id="127052" name="Line 76"/>
          <p:cNvSpPr>
            <a:spLocks noChangeShapeType="1"/>
          </p:cNvSpPr>
          <p:nvPr/>
        </p:nvSpPr>
        <p:spPr bwMode="auto">
          <a:xfrm flipV="1">
            <a:off x="1233488" y="1849438"/>
            <a:ext cx="94615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5" name="Line 79"/>
          <p:cNvSpPr>
            <a:spLocks noChangeShapeType="1"/>
          </p:cNvSpPr>
          <p:nvPr/>
        </p:nvSpPr>
        <p:spPr bwMode="auto">
          <a:xfrm flipV="1">
            <a:off x="1239838" y="3425825"/>
            <a:ext cx="1530350" cy="749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6" name="Text Box 80"/>
          <p:cNvSpPr txBox="1">
            <a:spLocks noChangeArrowheads="1"/>
          </p:cNvSpPr>
          <p:nvPr/>
        </p:nvSpPr>
        <p:spPr bwMode="auto">
          <a:xfrm>
            <a:off x="2578100" y="3182938"/>
            <a:ext cx="590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1</a:t>
            </a:r>
          </a:p>
        </p:txBody>
      </p:sp>
      <p:sp>
        <p:nvSpPr>
          <p:cNvPr id="127057" name="Line 81"/>
          <p:cNvSpPr>
            <a:spLocks noChangeShapeType="1"/>
          </p:cNvSpPr>
          <p:nvPr/>
        </p:nvSpPr>
        <p:spPr bwMode="auto">
          <a:xfrm flipV="1">
            <a:off x="1228725" y="3067050"/>
            <a:ext cx="946150" cy="1111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3" name="Text Box 87"/>
          <p:cNvSpPr txBox="1">
            <a:spLocks noChangeArrowheads="1"/>
          </p:cNvSpPr>
          <p:nvPr/>
        </p:nvSpPr>
        <p:spPr bwMode="auto">
          <a:xfrm>
            <a:off x="869950" y="1539875"/>
            <a:ext cx="622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</a:t>
            </a:r>
          </a:p>
        </p:txBody>
      </p:sp>
      <p:sp>
        <p:nvSpPr>
          <p:cNvPr id="127064" name="Line 88"/>
          <p:cNvSpPr>
            <a:spLocks noChangeShapeType="1"/>
          </p:cNvSpPr>
          <p:nvPr/>
        </p:nvSpPr>
        <p:spPr bwMode="auto">
          <a:xfrm flipV="1">
            <a:off x="2174875" y="1281113"/>
            <a:ext cx="0" cy="178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5" name="Line 89"/>
          <p:cNvSpPr>
            <a:spLocks noChangeShapeType="1"/>
          </p:cNvSpPr>
          <p:nvPr/>
        </p:nvSpPr>
        <p:spPr bwMode="auto">
          <a:xfrm flipH="1">
            <a:off x="1241425" y="1281113"/>
            <a:ext cx="933450" cy="571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7" name="Line 91"/>
          <p:cNvSpPr>
            <a:spLocks noChangeShapeType="1"/>
          </p:cNvSpPr>
          <p:nvPr/>
        </p:nvSpPr>
        <p:spPr bwMode="auto">
          <a:xfrm>
            <a:off x="833438" y="2633663"/>
            <a:ext cx="2117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79" name="Line 103"/>
          <p:cNvSpPr>
            <a:spLocks noChangeShapeType="1"/>
          </p:cNvSpPr>
          <p:nvPr/>
        </p:nvSpPr>
        <p:spPr bwMode="auto">
          <a:xfrm flipV="1">
            <a:off x="2136775" y="1489075"/>
            <a:ext cx="71438" cy="28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0" name="Group 105"/>
          <p:cNvGrpSpPr>
            <a:grpSpLocks/>
          </p:cNvGrpSpPr>
          <p:nvPr/>
        </p:nvGrpSpPr>
        <p:grpSpPr bwMode="auto">
          <a:xfrm>
            <a:off x="2165350" y="1023938"/>
            <a:ext cx="1639888" cy="693737"/>
            <a:chOff x="4401" y="1350"/>
            <a:chExt cx="1176" cy="771"/>
          </a:xfrm>
        </p:grpSpPr>
        <p:sp>
          <p:nvSpPr>
            <p:cNvPr id="10311" name="Line 106"/>
            <p:cNvSpPr>
              <a:spLocks noChangeShapeType="1"/>
            </p:cNvSpPr>
            <p:nvPr/>
          </p:nvSpPr>
          <p:spPr bwMode="auto">
            <a:xfrm flipH="1">
              <a:off x="4401" y="1596"/>
              <a:ext cx="573" cy="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12" name="Text Box 107"/>
            <p:cNvSpPr txBox="1">
              <a:spLocks noChangeArrowheads="1"/>
            </p:cNvSpPr>
            <p:nvPr/>
          </p:nvSpPr>
          <p:spPr bwMode="auto">
            <a:xfrm>
              <a:off x="4477" y="1350"/>
              <a:ext cx="1100" cy="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charset="-122"/>
                </a:rPr>
                <a:t>    △</a:t>
              </a:r>
              <a:r>
                <a:rPr lang="en-US" altLang="zh-CN" sz="2400" i="1">
                  <a:latin typeface="ISOCPEUR" pitchFamily="34" charset="0"/>
                </a:rPr>
                <a:t>Z</a:t>
              </a:r>
              <a:r>
                <a:rPr lang="en-US" altLang="zh-CN" sz="2400" i="1" baseline="-25000">
                  <a:latin typeface="ISOCPEUR" pitchFamily="34" charset="0"/>
                </a:rPr>
                <a:t>EF </a:t>
              </a:r>
            </a:p>
          </p:txBody>
        </p:sp>
      </p:grpSp>
      <p:sp>
        <p:nvSpPr>
          <p:cNvPr id="127084" name="Line 108"/>
          <p:cNvSpPr>
            <a:spLocks noChangeShapeType="1"/>
          </p:cNvSpPr>
          <p:nvPr/>
        </p:nvSpPr>
        <p:spPr bwMode="auto">
          <a:xfrm>
            <a:off x="2182813" y="3074988"/>
            <a:ext cx="584200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86" name="Line 110"/>
          <p:cNvSpPr>
            <a:spLocks noChangeShapeType="1"/>
          </p:cNvSpPr>
          <p:nvPr/>
        </p:nvSpPr>
        <p:spPr bwMode="auto">
          <a:xfrm flipV="1">
            <a:off x="2136775" y="1524000"/>
            <a:ext cx="71438" cy="28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7087" name="Line 111"/>
          <p:cNvSpPr>
            <a:spLocks noChangeShapeType="1"/>
          </p:cNvSpPr>
          <p:nvPr/>
        </p:nvSpPr>
        <p:spPr bwMode="auto">
          <a:xfrm flipV="1">
            <a:off x="2441575" y="3228975"/>
            <a:ext cx="71438" cy="28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7088" name="Line 112"/>
          <p:cNvSpPr>
            <a:spLocks noChangeShapeType="1"/>
          </p:cNvSpPr>
          <p:nvPr/>
        </p:nvSpPr>
        <p:spPr bwMode="auto">
          <a:xfrm flipV="1">
            <a:off x="2468563" y="3265488"/>
            <a:ext cx="71437" cy="28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1" name="Group 116"/>
          <p:cNvGrpSpPr>
            <a:grpSpLocks/>
          </p:cNvGrpSpPr>
          <p:nvPr/>
        </p:nvGrpSpPr>
        <p:grpSpPr bwMode="auto">
          <a:xfrm rot="3667560">
            <a:off x="2122488" y="2984500"/>
            <a:ext cx="215900" cy="244475"/>
            <a:chOff x="3708" y="2132"/>
            <a:chExt cx="136" cy="154"/>
          </a:xfrm>
        </p:grpSpPr>
        <p:sp>
          <p:nvSpPr>
            <p:cNvPr id="10309" name="Arc 117"/>
            <p:cNvSpPr>
              <a:spLocks/>
            </p:cNvSpPr>
            <p:nvPr/>
          </p:nvSpPr>
          <p:spPr bwMode="auto">
            <a:xfrm>
              <a:off x="3750" y="2192"/>
              <a:ext cx="56" cy="76"/>
            </a:xfrm>
            <a:custGeom>
              <a:avLst/>
              <a:gdLst>
                <a:gd name="T0" fmla="*/ 0 w 21600"/>
                <a:gd name="T1" fmla="*/ 0 h 29104"/>
                <a:gd name="T2" fmla="*/ 0 w 21600"/>
                <a:gd name="T3" fmla="*/ 0 h 29104"/>
                <a:gd name="T4" fmla="*/ 0 w 21600"/>
                <a:gd name="T5" fmla="*/ 0 h 2910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104"/>
                <a:gd name="T11" fmla="*/ 21600 w 21600"/>
                <a:gd name="T12" fmla="*/ 29104 h 29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104" fill="none" extrusionOk="0">
                  <a:moveTo>
                    <a:pt x="19062" y="-1"/>
                  </a:moveTo>
                  <a:cubicBezTo>
                    <a:pt x="20728" y="3126"/>
                    <a:pt x="21600" y="6615"/>
                    <a:pt x="21600" y="10158"/>
                  </a:cubicBezTo>
                  <a:cubicBezTo>
                    <a:pt x="21600" y="18050"/>
                    <a:pt x="17295" y="25314"/>
                    <a:pt x="10373" y="29104"/>
                  </a:cubicBezTo>
                </a:path>
                <a:path w="21600" h="29104" stroke="0" extrusionOk="0">
                  <a:moveTo>
                    <a:pt x="19062" y="-1"/>
                  </a:moveTo>
                  <a:cubicBezTo>
                    <a:pt x="20728" y="3126"/>
                    <a:pt x="21600" y="6615"/>
                    <a:pt x="21600" y="10158"/>
                  </a:cubicBezTo>
                  <a:cubicBezTo>
                    <a:pt x="21600" y="18050"/>
                    <a:pt x="17295" y="25314"/>
                    <a:pt x="10373" y="29104"/>
                  </a:cubicBezTo>
                  <a:lnTo>
                    <a:pt x="0" y="10158"/>
                  </a:lnTo>
                  <a:lnTo>
                    <a:pt x="19062" y="-1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10" name="Text Box 118"/>
            <p:cNvSpPr txBox="1">
              <a:spLocks noChangeArrowheads="1"/>
            </p:cNvSpPr>
            <p:nvPr/>
          </p:nvSpPr>
          <p:spPr bwMode="auto">
            <a:xfrm>
              <a:off x="3708" y="2132"/>
              <a:ext cx="1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>
                  <a:solidFill>
                    <a:srgbClr val="0000CC"/>
                  </a:solidFill>
                </a:rPr>
                <a:t>.</a:t>
              </a:r>
            </a:p>
          </p:txBody>
        </p:sp>
      </p:grpSp>
      <p:sp>
        <p:nvSpPr>
          <p:cNvPr id="127095" name="Text Box 119"/>
          <p:cNvSpPr txBox="1">
            <a:spLocks noChangeArrowheads="1"/>
          </p:cNvSpPr>
          <p:nvPr/>
        </p:nvSpPr>
        <p:spPr bwMode="auto">
          <a:xfrm>
            <a:off x="1444625" y="3651250"/>
            <a:ext cx="371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i="1">
                <a:latin typeface="ISOCPEUR" pitchFamily="34" charset="0"/>
                <a:sym typeface="Symbol" pitchFamily="18" charset="2"/>
              </a:rPr>
              <a:t></a:t>
            </a:r>
            <a:endParaRPr lang="en-US" altLang="zh-CN" sz="2800" i="1"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27096" name="Text Box 120"/>
          <p:cNvSpPr txBox="1">
            <a:spLocks noChangeArrowheads="1"/>
          </p:cNvSpPr>
          <p:nvPr/>
        </p:nvSpPr>
        <p:spPr bwMode="auto">
          <a:xfrm>
            <a:off x="550863" y="4841875"/>
            <a:ext cx="8040687" cy="124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黑体" pitchFamily="2" charset="-122"/>
              </a:rPr>
              <a:t>直角三角形法</a:t>
            </a:r>
            <a:r>
              <a:rPr lang="zh-CN" altLang="en-US" sz="2800">
                <a:ea typeface="黑体" pitchFamily="2" charset="-122"/>
              </a:rPr>
              <a:t>：</a:t>
            </a:r>
            <a:r>
              <a:rPr lang="zh-CN" altLang="en-US" sz="2400">
                <a:ea typeface="黑体" pitchFamily="2" charset="-122"/>
              </a:rPr>
              <a:t>利用直线的一个已知投影和相对应的坐标差构建直角三角形，斜边为实长，斜边与已知投影的夹角为线段与投影面的夹角。</a:t>
            </a:r>
          </a:p>
        </p:txBody>
      </p:sp>
    </p:spTree>
    <p:extLst>
      <p:ext uri="{BB962C8B-B14F-4D97-AF65-F5344CB8AC3E}">
        <p14:creationId xmlns:p14="http://schemas.microsoft.com/office/powerpoint/2010/main" val="53997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2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2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1000"/>
                                        <p:tgtEl>
                                          <p:spTgt spid="12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1000"/>
                                        <p:tgtEl>
                                          <p:spTgt spid="127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27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2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27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27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14" grpId="0" autoUpdateAnimBg="0"/>
      <p:bldP spid="127015" grpId="0" autoUpdateAnimBg="0"/>
      <p:bldP spid="127018" grpId="0" autoUpdateAnimBg="0"/>
      <p:bldP spid="127019" grpId="0" autoUpdateAnimBg="0"/>
      <p:bldP spid="127020" grpId="0" animBg="1"/>
      <p:bldP spid="127035" grpId="0" animBg="1"/>
      <p:bldP spid="127043" grpId="0" autoUpdateAnimBg="0"/>
      <p:bldP spid="127044" grpId="0" animBg="1"/>
      <p:bldP spid="127045" grpId="0" animBg="1"/>
      <p:bldP spid="127046" grpId="0"/>
      <p:bldP spid="127048" grpId="0"/>
      <p:bldP spid="127049" grpId="0" animBg="1"/>
      <p:bldP spid="127050" grpId="0"/>
      <p:bldP spid="127051" grpId="0"/>
      <p:bldP spid="127052" grpId="0" animBg="1"/>
      <p:bldP spid="127055" grpId="0" animBg="1"/>
      <p:bldP spid="127056" grpId="0"/>
      <p:bldP spid="127057" grpId="0" animBg="1"/>
      <p:bldP spid="127063" grpId="0"/>
      <p:bldP spid="127064" grpId="0" animBg="1"/>
      <p:bldP spid="127065" grpId="0" animBg="1"/>
      <p:bldP spid="127067" grpId="0" animBg="1"/>
      <p:bldP spid="127079" grpId="0" animBg="1"/>
      <p:bldP spid="127084" grpId="0" animBg="1"/>
      <p:bldP spid="127086" grpId="0" animBg="1"/>
      <p:bldP spid="127087" grpId="0" animBg="1"/>
      <p:bldP spid="127088" grpId="0" animBg="1"/>
      <p:bldP spid="127095" grpId="0"/>
      <p:bldP spid="12709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418263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EBC1E75E-F8E2-4678-AAF1-C5A8969D1D8D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45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1267" name="Text Box 2"/>
          <p:cNvSpPr txBox="1">
            <a:spLocks noChangeArrowheads="1"/>
          </p:cNvSpPr>
          <p:nvPr/>
        </p:nvSpPr>
        <p:spPr bwMode="auto">
          <a:xfrm>
            <a:off x="341313" y="293688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四．属于直线的点</a:t>
            </a:r>
          </a:p>
        </p:txBody>
      </p:sp>
      <p:sp>
        <p:nvSpPr>
          <p:cNvPr id="128003" name="Text Box 3"/>
          <p:cNvSpPr txBox="1">
            <a:spLocks noChangeArrowheads="1"/>
          </p:cNvSpPr>
          <p:nvPr/>
        </p:nvSpPr>
        <p:spPr bwMode="auto">
          <a:xfrm>
            <a:off x="222250" y="1216025"/>
            <a:ext cx="892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同名投影（同面投影）：不同几何要素在同一投影面上的投影。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926013" y="4037013"/>
            <a:ext cx="3427412" cy="461962"/>
            <a:chOff x="127" y="2555"/>
            <a:chExt cx="2641" cy="291"/>
          </a:xfrm>
        </p:grpSpPr>
        <p:sp>
          <p:nvSpPr>
            <p:cNvPr id="11342" name="Text Box 13"/>
            <p:cNvSpPr txBox="1">
              <a:spLocks noChangeArrowheads="1"/>
            </p:cNvSpPr>
            <p:nvPr/>
          </p:nvSpPr>
          <p:spPr bwMode="auto">
            <a:xfrm>
              <a:off x="127" y="2558"/>
              <a:ext cx="3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1343" name="Text Box 14"/>
            <p:cNvSpPr txBox="1">
              <a:spLocks noChangeArrowheads="1"/>
            </p:cNvSpPr>
            <p:nvPr/>
          </p:nvSpPr>
          <p:spPr bwMode="auto">
            <a:xfrm>
              <a:off x="2406" y="2555"/>
              <a:ext cx="3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1344" name="Line 15"/>
            <p:cNvSpPr>
              <a:spLocks noChangeShapeType="1"/>
            </p:cNvSpPr>
            <p:nvPr/>
          </p:nvSpPr>
          <p:spPr bwMode="auto">
            <a:xfrm>
              <a:off x="408" y="2808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5364163" y="2557463"/>
            <a:ext cx="2779712" cy="3692525"/>
            <a:chOff x="714" y="1129"/>
            <a:chExt cx="1751" cy="2326"/>
          </a:xfrm>
        </p:grpSpPr>
        <p:sp>
          <p:nvSpPr>
            <p:cNvPr id="11334" name="Line 33"/>
            <p:cNvSpPr>
              <a:spLocks noChangeShapeType="1"/>
            </p:cNvSpPr>
            <p:nvPr/>
          </p:nvSpPr>
          <p:spPr bwMode="auto">
            <a:xfrm>
              <a:off x="984" y="2058"/>
              <a:ext cx="0" cy="1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5" name="Line 34"/>
            <p:cNvSpPr>
              <a:spLocks noChangeShapeType="1"/>
            </p:cNvSpPr>
            <p:nvPr/>
          </p:nvSpPr>
          <p:spPr bwMode="auto">
            <a:xfrm>
              <a:off x="2016" y="1224"/>
              <a:ext cx="0" cy="17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6" name="Line 35"/>
            <p:cNvSpPr>
              <a:spLocks noChangeShapeType="1"/>
            </p:cNvSpPr>
            <p:nvPr/>
          </p:nvSpPr>
          <p:spPr bwMode="auto">
            <a:xfrm flipH="1">
              <a:off x="984" y="2946"/>
              <a:ext cx="1032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7" name="Line 36"/>
            <p:cNvSpPr>
              <a:spLocks noChangeShapeType="1"/>
            </p:cNvSpPr>
            <p:nvPr/>
          </p:nvSpPr>
          <p:spPr bwMode="auto">
            <a:xfrm flipV="1">
              <a:off x="984" y="1218"/>
              <a:ext cx="1038" cy="8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8" name="Text Box 37"/>
            <p:cNvSpPr txBox="1">
              <a:spLocks noChangeArrowheads="1"/>
            </p:cNvSpPr>
            <p:nvPr/>
          </p:nvSpPr>
          <p:spPr bwMode="auto">
            <a:xfrm>
              <a:off x="714" y="1891"/>
              <a:ext cx="4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a’</a:t>
              </a:r>
            </a:p>
          </p:txBody>
        </p:sp>
        <p:sp>
          <p:nvSpPr>
            <p:cNvPr id="11339" name="Text Box 38"/>
            <p:cNvSpPr txBox="1">
              <a:spLocks noChangeArrowheads="1"/>
            </p:cNvSpPr>
            <p:nvPr/>
          </p:nvSpPr>
          <p:spPr bwMode="auto">
            <a:xfrm>
              <a:off x="2005" y="1129"/>
              <a:ext cx="4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b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’</a:t>
              </a:r>
            </a:p>
          </p:txBody>
        </p:sp>
        <p:sp>
          <p:nvSpPr>
            <p:cNvPr id="11340" name="Text Box 39"/>
            <p:cNvSpPr txBox="1">
              <a:spLocks noChangeArrowheads="1"/>
            </p:cNvSpPr>
            <p:nvPr/>
          </p:nvSpPr>
          <p:spPr bwMode="auto">
            <a:xfrm>
              <a:off x="768" y="320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11341" name="Text Box 40"/>
            <p:cNvSpPr txBox="1">
              <a:spLocks noChangeArrowheads="1"/>
            </p:cNvSpPr>
            <p:nvPr/>
          </p:nvSpPr>
          <p:spPr bwMode="auto">
            <a:xfrm>
              <a:off x="1919" y="2884"/>
              <a:ext cx="41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b </a:t>
              </a:r>
              <a:endParaRPr lang="en-US" altLang="zh-CN" sz="2000" i="1">
                <a:latin typeface="ISOCPEUR" pitchFamily="34" charset="0"/>
                <a:ea typeface="仿宋_GB2312" pitchFamily="49" charset="-122"/>
              </a:endParaRPr>
            </a:p>
          </p:txBody>
        </p:sp>
      </p:grp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6227763" y="2992438"/>
            <a:ext cx="714375" cy="3082925"/>
            <a:chOff x="1260" y="1405"/>
            <a:chExt cx="450" cy="1942"/>
          </a:xfrm>
        </p:grpSpPr>
        <p:sp>
          <p:nvSpPr>
            <p:cNvPr id="11329" name="Line 42"/>
            <p:cNvSpPr>
              <a:spLocks noChangeShapeType="1"/>
            </p:cNvSpPr>
            <p:nvPr/>
          </p:nvSpPr>
          <p:spPr bwMode="auto">
            <a:xfrm>
              <a:off x="1548" y="1608"/>
              <a:ext cx="0" cy="14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0" name="AutoShape 43"/>
            <p:cNvSpPr>
              <a:spLocks noChangeArrowheads="1"/>
            </p:cNvSpPr>
            <p:nvPr/>
          </p:nvSpPr>
          <p:spPr bwMode="auto">
            <a:xfrm>
              <a:off x="1527" y="1577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11331" name="AutoShape 44"/>
            <p:cNvSpPr>
              <a:spLocks noChangeArrowheads="1"/>
            </p:cNvSpPr>
            <p:nvPr/>
          </p:nvSpPr>
          <p:spPr bwMode="auto">
            <a:xfrm>
              <a:off x="1527" y="3089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11332" name="Text Box 45"/>
            <p:cNvSpPr txBox="1">
              <a:spLocks noChangeArrowheads="1"/>
            </p:cNvSpPr>
            <p:nvPr/>
          </p:nvSpPr>
          <p:spPr bwMode="auto">
            <a:xfrm>
              <a:off x="1362" y="3097"/>
              <a:ext cx="3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l</a:t>
              </a:r>
            </a:p>
          </p:txBody>
        </p:sp>
        <p:sp>
          <p:nvSpPr>
            <p:cNvPr id="11333" name="Text Box 46"/>
            <p:cNvSpPr txBox="1">
              <a:spLocks noChangeArrowheads="1"/>
            </p:cNvSpPr>
            <p:nvPr/>
          </p:nvSpPr>
          <p:spPr bwMode="auto">
            <a:xfrm>
              <a:off x="1260" y="1405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l’</a:t>
              </a:r>
            </a:p>
          </p:txBody>
        </p:sp>
      </p:grp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5934075" y="3206750"/>
            <a:ext cx="784225" cy="3248025"/>
            <a:chOff x="1114" y="1507"/>
            <a:chExt cx="494" cy="2046"/>
          </a:xfrm>
        </p:grpSpPr>
        <p:sp>
          <p:nvSpPr>
            <p:cNvPr id="11324" name="Line 61"/>
            <p:cNvSpPr>
              <a:spLocks noChangeShapeType="1"/>
            </p:cNvSpPr>
            <p:nvPr/>
          </p:nvSpPr>
          <p:spPr bwMode="auto">
            <a:xfrm>
              <a:off x="1380" y="1734"/>
              <a:ext cx="0" cy="17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5" name="AutoShape 62"/>
            <p:cNvSpPr>
              <a:spLocks noChangeArrowheads="1"/>
            </p:cNvSpPr>
            <p:nvPr/>
          </p:nvSpPr>
          <p:spPr bwMode="auto">
            <a:xfrm>
              <a:off x="1359" y="3437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11326" name="AutoShape 63"/>
            <p:cNvSpPr>
              <a:spLocks noChangeArrowheads="1"/>
            </p:cNvSpPr>
            <p:nvPr/>
          </p:nvSpPr>
          <p:spPr bwMode="auto">
            <a:xfrm>
              <a:off x="1359" y="1721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11327" name="Text Box 64"/>
            <p:cNvSpPr txBox="1">
              <a:spLocks noChangeArrowheads="1"/>
            </p:cNvSpPr>
            <p:nvPr/>
          </p:nvSpPr>
          <p:spPr bwMode="auto">
            <a:xfrm>
              <a:off x="1367" y="3322"/>
              <a:ext cx="24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k </a:t>
              </a:r>
            </a:p>
          </p:txBody>
        </p:sp>
        <p:sp>
          <p:nvSpPr>
            <p:cNvPr id="11328" name="Text Box 65"/>
            <p:cNvSpPr txBox="1">
              <a:spLocks noChangeArrowheads="1"/>
            </p:cNvSpPr>
            <p:nvPr/>
          </p:nvSpPr>
          <p:spPr bwMode="auto">
            <a:xfrm>
              <a:off x="1114" y="1507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k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’</a:t>
              </a:r>
            </a:p>
          </p:txBody>
        </p:sp>
      </p:grpSp>
      <p:sp>
        <p:nvSpPr>
          <p:cNvPr id="128066" name="Text Box 66"/>
          <p:cNvSpPr txBox="1">
            <a:spLocks noChangeArrowheads="1"/>
          </p:cNvSpPr>
          <p:nvPr/>
        </p:nvSpPr>
        <p:spPr bwMode="auto">
          <a:xfrm>
            <a:off x="271463" y="1816100"/>
            <a:ext cx="84550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几何条件：属于直线上的点，其各个投影必在该直线的同名投影上，且将直线的各投影分割成和空间相同的比例。</a:t>
            </a:r>
          </a:p>
        </p:txBody>
      </p:sp>
      <p:grpSp>
        <p:nvGrpSpPr>
          <p:cNvPr id="6" name="Group 67"/>
          <p:cNvGrpSpPr>
            <a:grpSpLocks/>
          </p:cNvGrpSpPr>
          <p:nvPr/>
        </p:nvGrpSpPr>
        <p:grpSpPr bwMode="auto">
          <a:xfrm>
            <a:off x="766763" y="2886075"/>
            <a:ext cx="3556000" cy="3211513"/>
            <a:chOff x="3251" y="899"/>
            <a:chExt cx="2240" cy="2023"/>
          </a:xfrm>
        </p:grpSpPr>
        <p:sp>
          <p:nvSpPr>
            <p:cNvPr id="11313" name="Line 68"/>
            <p:cNvSpPr>
              <a:spLocks noChangeShapeType="1"/>
            </p:cNvSpPr>
            <p:nvPr/>
          </p:nvSpPr>
          <p:spPr bwMode="auto">
            <a:xfrm>
              <a:off x="5491" y="1656"/>
              <a:ext cx="0" cy="12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314" name="Group 69"/>
            <p:cNvGrpSpPr>
              <a:grpSpLocks/>
            </p:cNvGrpSpPr>
            <p:nvPr/>
          </p:nvGrpSpPr>
          <p:grpSpPr bwMode="auto">
            <a:xfrm>
              <a:off x="3251" y="899"/>
              <a:ext cx="2240" cy="2023"/>
              <a:chOff x="3251" y="899"/>
              <a:chExt cx="2240" cy="2023"/>
            </a:xfrm>
          </p:grpSpPr>
          <p:sp>
            <p:nvSpPr>
              <p:cNvPr id="11315" name="Rectangle 70"/>
              <p:cNvSpPr>
                <a:spLocks noChangeArrowheads="1"/>
              </p:cNvSpPr>
              <p:nvPr/>
            </p:nvSpPr>
            <p:spPr bwMode="auto">
              <a:xfrm>
                <a:off x="3255" y="902"/>
                <a:ext cx="1479" cy="1211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11316" name="Freeform 71"/>
              <p:cNvSpPr>
                <a:spLocks/>
              </p:cNvSpPr>
              <p:nvPr/>
            </p:nvSpPr>
            <p:spPr bwMode="auto">
              <a:xfrm>
                <a:off x="3255" y="901"/>
                <a:ext cx="1481" cy="1213"/>
              </a:xfrm>
              <a:custGeom>
                <a:avLst/>
                <a:gdLst>
                  <a:gd name="T0" fmla="*/ 1118 w 1589"/>
                  <a:gd name="T1" fmla="*/ 0 h 1300"/>
                  <a:gd name="T2" fmla="*/ 0 w 1589"/>
                  <a:gd name="T3" fmla="*/ 0 h 1300"/>
                  <a:gd name="T4" fmla="*/ 0 w 1589"/>
                  <a:gd name="T5" fmla="*/ 919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17" name="Freeform 72"/>
              <p:cNvSpPr>
                <a:spLocks/>
              </p:cNvSpPr>
              <p:nvPr/>
            </p:nvSpPr>
            <p:spPr bwMode="auto">
              <a:xfrm>
                <a:off x="4736" y="901"/>
                <a:ext cx="749" cy="1959"/>
              </a:xfrm>
              <a:custGeom>
                <a:avLst/>
                <a:gdLst>
                  <a:gd name="T0" fmla="*/ 0 w 804"/>
                  <a:gd name="T1" fmla="*/ 0 h 2100"/>
                  <a:gd name="T2" fmla="*/ 0 w 804"/>
                  <a:gd name="T3" fmla="*/ 915 h 2100"/>
                  <a:gd name="T4" fmla="*/ 565 w 804"/>
                  <a:gd name="T5" fmla="*/ 1483 h 2100"/>
                  <a:gd name="T6" fmla="*/ 565 w 804"/>
                  <a:gd name="T7" fmla="*/ 573 h 2100"/>
                  <a:gd name="T8" fmla="*/ 0 w 804"/>
                  <a:gd name="T9" fmla="*/ 0 h 2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4"/>
                  <a:gd name="T16" fmla="*/ 0 h 2100"/>
                  <a:gd name="T17" fmla="*/ 804 w 804"/>
                  <a:gd name="T18" fmla="*/ 2100 h 2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4" h="2100">
                    <a:moveTo>
                      <a:pt x="0" y="0"/>
                    </a:moveTo>
                    <a:lnTo>
                      <a:pt x="0" y="1296"/>
                    </a:lnTo>
                    <a:lnTo>
                      <a:pt x="804" y="2100"/>
                    </a:lnTo>
                    <a:lnTo>
                      <a:pt x="804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18" name="Freeform 73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1122 w 2400"/>
                  <a:gd name="T3" fmla="*/ 0 h 810"/>
                  <a:gd name="T4" fmla="*/ 1692 w 2400"/>
                  <a:gd name="T5" fmla="*/ 574 h 810"/>
                  <a:gd name="T6" fmla="*/ 575 w 2400"/>
                  <a:gd name="T7" fmla="*/ 574 h 810"/>
                  <a:gd name="T8" fmla="*/ 0 w 2400"/>
                  <a:gd name="T9" fmla="*/ 0 h 8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0"/>
                  <a:gd name="T16" fmla="*/ 0 h 810"/>
                  <a:gd name="T17" fmla="*/ 2400 w 2400"/>
                  <a:gd name="T18" fmla="*/ 810 h 8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0" h="810">
                    <a:moveTo>
                      <a:pt x="0" y="0"/>
                    </a:moveTo>
                    <a:lnTo>
                      <a:pt x="1590" y="0"/>
                    </a:lnTo>
                    <a:lnTo>
                      <a:pt x="2400" y="810"/>
                    </a:lnTo>
                    <a:lnTo>
                      <a:pt x="816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19" name="Line 74"/>
              <p:cNvSpPr>
                <a:spLocks noChangeShapeType="1"/>
              </p:cNvSpPr>
              <p:nvPr/>
            </p:nvSpPr>
            <p:spPr bwMode="auto">
              <a:xfrm>
                <a:off x="4736" y="901"/>
                <a:ext cx="755" cy="75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20" name="Freeform 75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571 w 2400"/>
                  <a:gd name="T3" fmla="*/ 574 h 810"/>
                  <a:gd name="T4" fmla="*/ 1692 w 2400"/>
                  <a:gd name="T5" fmla="*/ 574 h 810"/>
                  <a:gd name="T6" fmla="*/ 0 60000 65536"/>
                  <a:gd name="T7" fmla="*/ 0 60000 65536"/>
                  <a:gd name="T8" fmla="*/ 0 60000 65536"/>
                  <a:gd name="T9" fmla="*/ 0 w 2400"/>
                  <a:gd name="T10" fmla="*/ 0 h 810"/>
                  <a:gd name="T11" fmla="*/ 2400 w 2400"/>
                  <a:gd name="T12" fmla="*/ 810 h 8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0" h="810">
                    <a:moveTo>
                      <a:pt x="0" y="0"/>
                    </a:moveTo>
                    <a:lnTo>
                      <a:pt x="810" y="810"/>
                    </a:lnTo>
                    <a:lnTo>
                      <a:pt x="2400" y="81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21" name="Text Box 76"/>
              <p:cNvSpPr txBox="1">
                <a:spLocks noChangeArrowheads="1"/>
              </p:cNvSpPr>
              <p:nvPr/>
            </p:nvSpPr>
            <p:spPr bwMode="auto">
              <a:xfrm>
                <a:off x="5215" y="1570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W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11322" name="Text Box 77"/>
              <p:cNvSpPr txBox="1">
                <a:spLocks noChangeArrowheads="1"/>
              </p:cNvSpPr>
              <p:nvPr/>
            </p:nvSpPr>
            <p:spPr bwMode="auto">
              <a:xfrm>
                <a:off x="3277" y="89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V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11323" name="Text Box 78"/>
              <p:cNvSpPr txBox="1">
                <a:spLocks noChangeArrowheads="1"/>
              </p:cNvSpPr>
              <p:nvPr/>
            </p:nvSpPr>
            <p:spPr bwMode="auto">
              <a:xfrm>
                <a:off x="3972" y="263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H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</p:grpSp>
      </p:grpSp>
      <p:sp>
        <p:nvSpPr>
          <p:cNvPr id="128079" name="Line 79"/>
          <p:cNvSpPr>
            <a:spLocks noChangeShapeType="1"/>
          </p:cNvSpPr>
          <p:nvPr/>
        </p:nvSpPr>
        <p:spPr bwMode="auto">
          <a:xfrm>
            <a:off x="2890838" y="3784600"/>
            <a:ext cx="6000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0" name="Line 80"/>
          <p:cNvSpPr>
            <a:spLocks noChangeShapeType="1"/>
          </p:cNvSpPr>
          <p:nvPr/>
        </p:nvSpPr>
        <p:spPr bwMode="auto">
          <a:xfrm>
            <a:off x="2238375" y="4614863"/>
            <a:ext cx="1668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1" name="Line 81"/>
          <p:cNvSpPr>
            <a:spLocks noChangeShapeType="1"/>
          </p:cNvSpPr>
          <p:nvPr/>
        </p:nvSpPr>
        <p:spPr bwMode="auto">
          <a:xfrm>
            <a:off x="2236788" y="4614863"/>
            <a:ext cx="0" cy="977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2" name="Line 82"/>
          <p:cNvSpPr>
            <a:spLocks noChangeShapeType="1"/>
          </p:cNvSpPr>
          <p:nvPr/>
        </p:nvSpPr>
        <p:spPr bwMode="auto">
          <a:xfrm flipH="1" flipV="1">
            <a:off x="1441450" y="3817938"/>
            <a:ext cx="793750" cy="79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3" name="Line 83"/>
          <p:cNvSpPr>
            <a:spLocks noChangeShapeType="1"/>
          </p:cNvSpPr>
          <p:nvPr/>
        </p:nvSpPr>
        <p:spPr bwMode="auto">
          <a:xfrm flipV="1">
            <a:off x="2230438" y="5160963"/>
            <a:ext cx="661987" cy="4333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4" name="Line 84"/>
          <p:cNvSpPr>
            <a:spLocks noChangeShapeType="1"/>
          </p:cNvSpPr>
          <p:nvPr/>
        </p:nvSpPr>
        <p:spPr bwMode="auto">
          <a:xfrm>
            <a:off x="3484563" y="3779838"/>
            <a:ext cx="434975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5" name="Text Box 85"/>
          <p:cNvSpPr txBox="1">
            <a:spLocks noChangeArrowheads="1"/>
          </p:cNvSpPr>
          <p:nvPr/>
        </p:nvSpPr>
        <p:spPr bwMode="auto">
          <a:xfrm>
            <a:off x="2744788" y="3405188"/>
            <a:ext cx="449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F</a:t>
            </a:r>
            <a:r>
              <a:rPr lang="en-US" altLang="zh-CN" sz="2400" b="0" i="1">
                <a:latin typeface="ISOCPEUR" pitchFamily="34" charset="0"/>
              </a:rPr>
              <a:t> </a:t>
            </a:r>
          </a:p>
        </p:txBody>
      </p:sp>
      <p:sp>
        <p:nvSpPr>
          <p:cNvPr id="128086" name="Text Box 86"/>
          <p:cNvSpPr txBox="1">
            <a:spLocks noChangeArrowheads="1"/>
          </p:cNvSpPr>
          <p:nvPr/>
        </p:nvSpPr>
        <p:spPr bwMode="auto">
          <a:xfrm>
            <a:off x="1871663" y="4438650"/>
            <a:ext cx="449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E</a:t>
            </a:r>
            <a:r>
              <a:rPr lang="en-US" altLang="zh-CN" sz="2400" b="0" i="1">
                <a:latin typeface="ISOCPEUR" pitchFamily="34" charset="0"/>
              </a:rPr>
              <a:t> </a:t>
            </a:r>
          </a:p>
        </p:txBody>
      </p:sp>
      <p:sp>
        <p:nvSpPr>
          <p:cNvPr id="128087" name="Text Box 87"/>
          <p:cNvSpPr txBox="1">
            <a:spLocks noChangeArrowheads="1"/>
          </p:cNvSpPr>
          <p:nvPr/>
        </p:nvSpPr>
        <p:spPr bwMode="auto">
          <a:xfrm>
            <a:off x="1150938" y="3486150"/>
            <a:ext cx="555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e’ 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8088" name="Text Box 88"/>
          <p:cNvSpPr txBox="1">
            <a:spLocks noChangeArrowheads="1"/>
          </p:cNvSpPr>
          <p:nvPr/>
        </p:nvSpPr>
        <p:spPr bwMode="auto">
          <a:xfrm>
            <a:off x="2100263" y="5470525"/>
            <a:ext cx="382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 </a:t>
            </a:r>
          </a:p>
        </p:txBody>
      </p:sp>
      <p:sp>
        <p:nvSpPr>
          <p:cNvPr id="128089" name="Text Box 89"/>
          <p:cNvSpPr txBox="1">
            <a:spLocks noChangeArrowheads="1"/>
          </p:cNvSpPr>
          <p:nvPr/>
        </p:nvSpPr>
        <p:spPr bwMode="auto">
          <a:xfrm>
            <a:off x="3836988" y="4403725"/>
            <a:ext cx="493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 </a:t>
            </a:r>
          </a:p>
        </p:txBody>
      </p:sp>
      <p:sp>
        <p:nvSpPr>
          <p:cNvPr id="128090" name="Text Box 90"/>
          <p:cNvSpPr txBox="1">
            <a:spLocks noChangeArrowheads="1"/>
          </p:cNvSpPr>
          <p:nvPr/>
        </p:nvSpPr>
        <p:spPr bwMode="auto">
          <a:xfrm>
            <a:off x="3478213" y="354647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f” </a:t>
            </a:r>
          </a:p>
        </p:txBody>
      </p:sp>
      <p:sp>
        <p:nvSpPr>
          <p:cNvPr id="128091" name="Line 91"/>
          <p:cNvSpPr>
            <a:spLocks noChangeShapeType="1"/>
          </p:cNvSpPr>
          <p:nvPr/>
        </p:nvSpPr>
        <p:spPr bwMode="auto">
          <a:xfrm flipH="1" flipV="1">
            <a:off x="2519363" y="3413125"/>
            <a:ext cx="371475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92" name="Line 92"/>
          <p:cNvSpPr>
            <a:spLocks noChangeShapeType="1"/>
          </p:cNvSpPr>
          <p:nvPr/>
        </p:nvSpPr>
        <p:spPr bwMode="auto">
          <a:xfrm flipV="1">
            <a:off x="1436688" y="3411538"/>
            <a:ext cx="1085850" cy="412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93" name="Text Box 93"/>
          <p:cNvSpPr txBox="1">
            <a:spLocks noChangeArrowheads="1"/>
          </p:cNvSpPr>
          <p:nvPr/>
        </p:nvSpPr>
        <p:spPr bwMode="auto">
          <a:xfrm>
            <a:off x="2541588" y="5191125"/>
            <a:ext cx="404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g </a:t>
            </a:r>
          </a:p>
        </p:txBody>
      </p:sp>
      <p:sp>
        <p:nvSpPr>
          <p:cNvPr id="128094" name="Text Box 94"/>
          <p:cNvSpPr txBox="1">
            <a:spLocks noChangeArrowheads="1"/>
          </p:cNvSpPr>
          <p:nvPr/>
        </p:nvSpPr>
        <p:spPr bwMode="auto">
          <a:xfrm>
            <a:off x="2193925" y="3081338"/>
            <a:ext cx="52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f'</a:t>
            </a:r>
          </a:p>
        </p:txBody>
      </p:sp>
      <p:sp>
        <p:nvSpPr>
          <p:cNvPr id="128095" name="Line 95"/>
          <p:cNvSpPr>
            <a:spLocks noChangeShapeType="1"/>
          </p:cNvSpPr>
          <p:nvPr/>
        </p:nvSpPr>
        <p:spPr bwMode="auto">
          <a:xfrm flipH="1" flipV="1">
            <a:off x="1436688" y="4799013"/>
            <a:ext cx="800100" cy="795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96" name="Line 96"/>
          <p:cNvSpPr>
            <a:spLocks noChangeShapeType="1"/>
          </p:cNvSpPr>
          <p:nvPr/>
        </p:nvSpPr>
        <p:spPr bwMode="auto">
          <a:xfrm flipV="1">
            <a:off x="1439863" y="3817938"/>
            <a:ext cx="0" cy="982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97" name="Line 97"/>
          <p:cNvSpPr>
            <a:spLocks noChangeShapeType="1"/>
          </p:cNvSpPr>
          <p:nvPr/>
        </p:nvSpPr>
        <p:spPr bwMode="auto">
          <a:xfrm flipH="1" flipV="1">
            <a:off x="2519363" y="4799013"/>
            <a:ext cx="369887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98" name="Line 98"/>
          <p:cNvSpPr>
            <a:spLocks noChangeShapeType="1"/>
          </p:cNvSpPr>
          <p:nvPr/>
        </p:nvSpPr>
        <p:spPr bwMode="auto">
          <a:xfrm flipV="1">
            <a:off x="2519363" y="3417888"/>
            <a:ext cx="0" cy="1382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99" name="Line 99"/>
          <p:cNvSpPr>
            <a:spLocks noChangeShapeType="1"/>
          </p:cNvSpPr>
          <p:nvPr/>
        </p:nvSpPr>
        <p:spPr bwMode="auto">
          <a:xfrm>
            <a:off x="2890838" y="5167313"/>
            <a:ext cx="596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00" name="Line 100"/>
          <p:cNvSpPr>
            <a:spLocks noChangeShapeType="1"/>
          </p:cNvSpPr>
          <p:nvPr/>
        </p:nvSpPr>
        <p:spPr bwMode="auto">
          <a:xfrm>
            <a:off x="2238375" y="5592763"/>
            <a:ext cx="1668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01" name="Line 101"/>
          <p:cNvSpPr>
            <a:spLocks noChangeShapeType="1"/>
          </p:cNvSpPr>
          <p:nvPr/>
        </p:nvSpPr>
        <p:spPr bwMode="auto">
          <a:xfrm flipV="1">
            <a:off x="3490913" y="3789363"/>
            <a:ext cx="0" cy="1373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02" name="Line 102"/>
          <p:cNvSpPr>
            <a:spLocks noChangeShapeType="1"/>
          </p:cNvSpPr>
          <p:nvPr/>
        </p:nvSpPr>
        <p:spPr bwMode="auto">
          <a:xfrm flipV="1">
            <a:off x="3913188" y="4619625"/>
            <a:ext cx="0" cy="969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05" name="Text Box 105"/>
          <p:cNvSpPr txBox="1">
            <a:spLocks noChangeArrowheads="1"/>
          </p:cNvSpPr>
          <p:nvPr/>
        </p:nvSpPr>
        <p:spPr bwMode="auto">
          <a:xfrm>
            <a:off x="887413" y="51133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/>
          </a:p>
        </p:txBody>
      </p:sp>
      <p:sp>
        <p:nvSpPr>
          <p:cNvPr id="128121" name="Line 121"/>
          <p:cNvSpPr>
            <a:spLocks noChangeShapeType="1"/>
          </p:cNvSpPr>
          <p:nvPr/>
        </p:nvSpPr>
        <p:spPr bwMode="auto">
          <a:xfrm flipV="1">
            <a:off x="2236788" y="3787775"/>
            <a:ext cx="654050" cy="8270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26" name="Line 126"/>
          <p:cNvSpPr>
            <a:spLocks noChangeShapeType="1"/>
          </p:cNvSpPr>
          <p:nvPr/>
        </p:nvSpPr>
        <p:spPr bwMode="auto">
          <a:xfrm>
            <a:off x="2890838" y="3784600"/>
            <a:ext cx="0" cy="1381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36" name="Line 136"/>
          <p:cNvSpPr>
            <a:spLocks noChangeShapeType="1"/>
          </p:cNvSpPr>
          <p:nvPr/>
        </p:nvSpPr>
        <p:spPr bwMode="auto">
          <a:xfrm flipH="1" flipV="1">
            <a:off x="2078038" y="3557588"/>
            <a:ext cx="533400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37" name="Line 137"/>
          <p:cNvSpPr>
            <a:spLocks noChangeShapeType="1"/>
          </p:cNvSpPr>
          <p:nvPr/>
        </p:nvSpPr>
        <p:spPr bwMode="auto">
          <a:xfrm>
            <a:off x="2630488" y="4138613"/>
            <a:ext cx="0" cy="1184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35" name="AutoShape 135"/>
          <p:cNvSpPr>
            <a:spLocks noChangeArrowheads="1"/>
          </p:cNvSpPr>
          <p:nvPr/>
        </p:nvSpPr>
        <p:spPr bwMode="auto">
          <a:xfrm>
            <a:off x="2595563" y="5281613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8138" name="Line 138"/>
          <p:cNvSpPr>
            <a:spLocks noChangeShapeType="1"/>
          </p:cNvSpPr>
          <p:nvPr/>
        </p:nvSpPr>
        <p:spPr bwMode="auto">
          <a:xfrm flipV="1">
            <a:off x="2624138" y="4129088"/>
            <a:ext cx="10318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34" name="AutoShape 134"/>
          <p:cNvSpPr>
            <a:spLocks noChangeArrowheads="1"/>
          </p:cNvSpPr>
          <p:nvPr/>
        </p:nvSpPr>
        <p:spPr bwMode="auto">
          <a:xfrm>
            <a:off x="2593975" y="4081463"/>
            <a:ext cx="74613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8139" name="AutoShape 139"/>
          <p:cNvSpPr>
            <a:spLocks noChangeArrowheads="1"/>
          </p:cNvSpPr>
          <p:nvPr/>
        </p:nvSpPr>
        <p:spPr bwMode="auto">
          <a:xfrm>
            <a:off x="3625850" y="4079875"/>
            <a:ext cx="74613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8140" name="AutoShape 140"/>
          <p:cNvSpPr>
            <a:spLocks noChangeArrowheads="1"/>
          </p:cNvSpPr>
          <p:nvPr/>
        </p:nvSpPr>
        <p:spPr bwMode="auto">
          <a:xfrm>
            <a:off x="2074863" y="3516313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8142" name="Text Box 142"/>
          <p:cNvSpPr txBox="1">
            <a:spLocks noChangeArrowheads="1"/>
          </p:cNvSpPr>
          <p:nvPr/>
        </p:nvSpPr>
        <p:spPr bwMode="auto">
          <a:xfrm>
            <a:off x="3627438" y="3873500"/>
            <a:ext cx="5064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g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 </a:t>
            </a:r>
          </a:p>
        </p:txBody>
      </p:sp>
      <p:sp>
        <p:nvSpPr>
          <p:cNvPr id="128143" name="Text Box 143"/>
          <p:cNvSpPr txBox="1">
            <a:spLocks noChangeArrowheads="1"/>
          </p:cNvSpPr>
          <p:nvPr/>
        </p:nvSpPr>
        <p:spPr bwMode="auto">
          <a:xfrm>
            <a:off x="2746375" y="5057775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f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 </a:t>
            </a:r>
          </a:p>
        </p:txBody>
      </p:sp>
      <p:sp>
        <p:nvSpPr>
          <p:cNvPr id="128145" name="Text Box 145"/>
          <p:cNvSpPr txBox="1">
            <a:spLocks noChangeArrowheads="1"/>
          </p:cNvSpPr>
          <p:nvPr/>
        </p:nvSpPr>
        <p:spPr bwMode="auto">
          <a:xfrm>
            <a:off x="1752600" y="3209925"/>
            <a:ext cx="555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g’</a:t>
            </a:r>
            <a:r>
              <a:rPr lang="en-US" altLang="zh-CN" sz="1800" i="1">
                <a:latin typeface="ISOCPEUR" pitchFamily="34" charset="0"/>
              </a:rPr>
              <a:t> 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8146" name="Text Box 146"/>
          <p:cNvSpPr txBox="1">
            <a:spLocks noChangeArrowheads="1"/>
          </p:cNvSpPr>
          <p:nvPr/>
        </p:nvSpPr>
        <p:spPr bwMode="auto">
          <a:xfrm>
            <a:off x="2438400" y="4019550"/>
            <a:ext cx="55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G</a:t>
            </a:r>
            <a:r>
              <a:rPr lang="en-US" altLang="zh-CN" sz="1800" i="1">
                <a:latin typeface="ISOCPEUR" pitchFamily="34" charset="0"/>
              </a:rPr>
              <a:t> </a:t>
            </a:r>
            <a:endParaRPr lang="en-US" altLang="zh-CN" sz="2400">
              <a:latin typeface="ISOCPEUR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11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8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2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2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2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2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2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28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28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2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2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2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2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2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28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2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2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2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2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12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2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12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12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2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2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2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2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2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autoUpdateAnimBg="0"/>
      <p:bldP spid="128066" grpId="0" autoUpdateAnimBg="0"/>
      <p:bldP spid="128079" grpId="0" animBg="1"/>
      <p:bldP spid="128080" grpId="0" animBg="1"/>
      <p:bldP spid="128081" grpId="0" animBg="1"/>
      <p:bldP spid="128082" grpId="0" animBg="1"/>
      <p:bldP spid="128083" grpId="0" animBg="1"/>
      <p:bldP spid="128084" grpId="0" animBg="1"/>
      <p:bldP spid="128085" grpId="0"/>
      <p:bldP spid="128086" grpId="0"/>
      <p:bldP spid="128087" grpId="0"/>
      <p:bldP spid="128088" grpId="0"/>
      <p:bldP spid="128089" grpId="0"/>
      <p:bldP spid="128090" grpId="0"/>
      <p:bldP spid="128091" grpId="0" animBg="1"/>
      <p:bldP spid="128092" grpId="0" animBg="1"/>
      <p:bldP spid="128093" grpId="0"/>
      <p:bldP spid="128094" grpId="0"/>
      <p:bldP spid="128095" grpId="0" animBg="1"/>
      <p:bldP spid="128096" grpId="0" animBg="1"/>
      <p:bldP spid="128097" grpId="0" animBg="1"/>
      <p:bldP spid="128098" grpId="0" animBg="1"/>
      <p:bldP spid="128099" grpId="0" animBg="1"/>
      <p:bldP spid="128100" grpId="0" animBg="1"/>
      <p:bldP spid="128101" grpId="0" animBg="1"/>
      <p:bldP spid="128102" grpId="0" animBg="1"/>
      <p:bldP spid="128105" grpId="0"/>
      <p:bldP spid="128121" grpId="0" animBg="1"/>
      <p:bldP spid="128126" grpId="0" animBg="1"/>
      <p:bldP spid="128136" grpId="0" animBg="1"/>
      <p:bldP spid="128137" grpId="0" animBg="1"/>
      <p:bldP spid="128135" grpId="0" animBg="1"/>
      <p:bldP spid="128138" grpId="0" animBg="1"/>
      <p:bldP spid="128134" grpId="0" animBg="1"/>
      <p:bldP spid="128139" grpId="0" animBg="1"/>
      <p:bldP spid="128140" grpId="0" animBg="1"/>
      <p:bldP spid="128142" grpId="0"/>
      <p:bldP spid="128143" grpId="0"/>
      <p:bldP spid="128145" grpId="0"/>
      <p:bldP spid="12814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8F982A10-FB3E-4FA4-B290-DD885426D768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46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11150" y="723900"/>
            <a:ext cx="4257675" cy="3987800"/>
            <a:chOff x="-37" y="362"/>
            <a:chExt cx="2866" cy="2684"/>
          </a:xfrm>
        </p:grpSpPr>
        <p:sp>
          <p:nvSpPr>
            <p:cNvPr id="12345" name="Line 5"/>
            <p:cNvSpPr>
              <a:spLocks noChangeShapeType="1"/>
            </p:cNvSpPr>
            <p:nvPr/>
          </p:nvSpPr>
          <p:spPr bwMode="auto">
            <a:xfrm>
              <a:off x="199" y="1704"/>
              <a:ext cx="24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6" name="Line 6"/>
            <p:cNvSpPr>
              <a:spLocks noChangeShapeType="1"/>
            </p:cNvSpPr>
            <p:nvPr/>
          </p:nvSpPr>
          <p:spPr bwMode="auto">
            <a:xfrm>
              <a:off x="1315" y="552"/>
              <a:ext cx="0" cy="2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7" name="Text Box 7"/>
            <p:cNvSpPr txBox="1">
              <a:spLocks noChangeArrowheads="1"/>
            </p:cNvSpPr>
            <p:nvPr/>
          </p:nvSpPr>
          <p:spPr bwMode="auto">
            <a:xfrm>
              <a:off x="-37" y="1442"/>
              <a:ext cx="329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2348" name="Text Box 8"/>
            <p:cNvSpPr txBox="1">
              <a:spLocks noChangeArrowheads="1"/>
            </p:cNvSpPr>
            <p:nvPr/>
          </p:nvSpPr>
          <p:spPr bwMode="auto">
            <a:xfrm>
              <a:off x="1254" y="1467"/>
              <a:ext cx="31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2349" name="Text Box 9"/>
            <p:cNvSpPr txBox="1">
              <a:spLocks noChangeArrowheads="1"/>
            </p:cNvSpPr>
            <p:nvPr/>
          </p:nvSpPr>
          <p:spPr bwMode="auto">
            <a:xfrm>
              <a:off x="2481" y="1406"/>
              <a:ext cx="348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W</a:t>
              </a:r>
            </a:p>
          </p:txBody>
        </p:sp>
        <p:sp>
          <p:nvSpPr>
            <p:cNvPr id="12350" name="Text Box 10"/>
            <p:cNvSpPr txBox="1">
              <a:spLocks noChangeArrowheads="1"/>
            </p:cNvSpPr>
            <p:nvPr/>
          </p:nvSpPr>
          <p:spPr bwMode="auto">
            <a:xfrm>
              <a:off x="1265" y="362"/>
              <a:ext cx="31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 </a:t>
              </a:r>
            </a:p>
          </p:txBody>
        </p:sp>
        <p:sp>
          <p:nvSpPr>
            <p:cNvPr id="12351" name="Text Box 11"/>
            <p:cNvSpPr txBox="1">
              <a:spLocks noChangeArrowheads="1"/>
            </p:cNvSpPr>
            <p:nvPr/>
          </p:nvSpPr>
          <p:spPr bwMode="auto">
            <a:xfrm>
              <a:off x="1233" y="2738"/>
              <a:ext cx="45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H </a:t>
              </a:r>
              <a:r>
                <a:rPr lang="en-US" altLang="zh-CN" sz="2400" i="1">
                  <a:latin typeface="ISOCPEUR" pitchFamily="34" charset="0"/>
                </a:rPr>
                <a:t> </a:t>
              </a:r>
            </a:p>
          </p:txBody>
        </p:sp>
      </p:grpSp>
      <p:sp>
        <p:nvSpPr>
          <p:cNvPr id="143376" name="Line 16"/>
          <p:cNvSpPr>
            <a:spLocks noChangeShapeType="1"/>
          </p:cNvSpPr>
          <p:nvPr/>
        </p:nvSpPr>
        <p:spPr bwMode="auto">
          <a:xfrm>
            <a:off x="2317750" y="2716213"/>
            <a:ext cx="1609725" cy="160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7" name="Line 17"/>
          <p:cNvSpPr>
            <a:spLocks noChangeShapeType="1"/>
          </p:cNvSpPr>
          <p:nvPr/>
        </p:nvSpPr>
        <p:spPr bwMode="auto">
          <a:xfrm>
            <a:off x="1465263" y="4111625"/>
            <a:ext cx="2238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8" name="Line 18"/>
          <p:cNvSpPr>
            <a:spLocks noChangeShapeType="1"/>
          </p:cNvSpPr>
          <p:nvPr/>
        </p:nvSpPr>
        <p:spPr bwMode="auto">
          <a:xfrm flipV="1">
            <a:off x="3708400" y="1263650"/>
            <a:ext cx="0" cy="2838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9" name="Line 19"/>
          <p:cNvSpPr>
            <a:spLocks noChangeShapeType="1"/>
          </p:cNvSpPr>
          <p:nvPr/>
        </p:nvSpPr>
        <p:spPr bwMode="auto">
          <a:xfrm>
            <a:off x="1465263" y="1263650"/>
            <a:ext cx="2238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0" name="Line 20"/>
          <p:cNvSpPr>
            <a:spLocks noChangeShapeType="1"/>
          </p:cNvSpPr>
          <p:nvPr/>
        </p:nvSpPr>
        <p:spPr bwMode="auto">
          <a:xfrm>
            <a:off x="1465263" y="30162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1" name="Line 21"/>
          <p:cNvSpPr>
            <a:spLocks noChangeShapeType="1"/>
          </p:cNvSpPr>
          <p:nvPr/>
        </p:nvSpPr>
        <p:spPr bwMode="auto">
          <a:xfrm flipV="1">
            <a:off x="2617788" y="1920875"/>
            <a:ext cx="0" cy="1095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2" name="Line 22"/>
          <p:cNvSpPr>
            <a:spLocks noChangeShapeType="1"/>
          </p:cNvSpPr>
          <p:nvPr/>
        </p:nvSpPr>
        <p:spPr bwMode="auto">
          <a:xfrm>
            <a:off x="1470025" y="19161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3" name="Line 23"/>
          <p:cNvSpPr>
            <a:spLocks noChangeShapeType="1"/>
          </p:cNvSpPr>
          <p:nvPr/>
        </p:nvSpPr>
        <p:spPr bwMode="auto">
          <a:xfrm flipH="1">
            <a:off x="2613025" y="1265238"/>
            <a:ext cx="1095375" cy="650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4" name="Text Box 24"/>
          <p:cNvSpPr txBox="1">
            <a:spLocks noChangeArrowheads="1"/>
          </p:cNvSpPr>
          <p:nvPr/>
        </p:nvSpPr>
        <p:spPr bwMode="auto">
          <a:xfrm>
            <a:off x="3276600" y="927100"/>
            <a:ext cx="844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  <p:sp>
        <p:nvSpPr>
          <p:cNvPr id="143385" name="Text Box 25"/>
          <p:cNvSpPr txBox="1">
            <a:spLocks noChangeArrowheads="1"/>
          </p:cNvSpPr>
          <p:nvPr/>
        </p:nvSpPr>
        <p:spPr bwMode="auto">
          <a:xfrm>
            <a:off x="2286000" y="1563688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143386" name="Line 26"/>
          <p:cNvSpPr>
            <a:spLocks noChangeShapeType="1"/>
          </p:cNvSpPr>
          <p:nvPr/>
        </p:nvSpPr>
        <p:spPr bwMode="auto">
          <a:xfrm>
            <a:off x="1465263" y="3368675"/>
            <a:ext cx="1495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7" name="Line 27"/>
          <p:cNvSpPr>
            <a:spLocks noChangeShapeType="1"/>
          </p:cNvSpPr>
          <p:nvPr/>
        </p:nvSpPr>
        <p:spPr bwMode="auto">
          <a:xfrm flipV="1">
            <a:off x="2970213" y="1477963"/>
            <a:ext cx="0" cy="188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8" name="Line 28"/>
          <p:cNvSpPr>
            <a:spLocks noChangeShapeType="1"/>
          </p:cNvSpPr>
          <p:nvPr/>
        </p:nvSpPr>
        <p:spPr bwMode="auto">
          <a:xfrm>
            <a:off x="1460500" y="1487488"/>
            <a:ext cx="1514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9" name="AutoShape 29"/>
          <p:cNvSpPr>
            <a:spLocks noChangeArrowheads="1"/>
          </p:cNvSpPr>
          <p:nvPr/>
        </p:nvSpPr>
        <p:spPr bwMode="auto">
          <a:xfrm>
            <a:off x="2935288" y="1444625"/>
            <a:ext cx="69850" cy="69850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143390" name="Text Box 30"/>
          <p:cNvSpPr txBox="1">
            <a:spLocks noChangeArrowheads="1"/>
          </p:cNvSpPr>
          <p:nvPr/>
        </p:nvSpPr>
        <p:spPr bwMode="auto">
          <a:xfrm>
            <a:off x="2735263" y="1173163"/>
            <a:ext cx="757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c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143391" name="Text Box 31"/>
          <p:cNvSpPr txBox="1">
            <a:spLocks noChangeArrowheads="1"/>
          </p:cNvSpPr>
          <p:nvPr/>
        </p:nvSpPr>
        <p:spPr bwMode="auto">
          <a:xfrm>
            <a:off x="803275" y="5324475"/>
            <a:ext cx="76088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对于侧平线，有两种判断方法：利用侧投影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                                                         利用比例法。</a:t>
            </a:r>
          </a:p>
        </p:txBody>
      </p: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855663" y="1076325"/>
            <a:ext cx="768350" cy="3165475"/>
            <a:chOff x="3237" y="1295"/>
            <a:chExt cx="484" cy="1994"/>
          </a:xfrm>
        </p:grpSpPr>
        <p:sp>
          <p:nvSpPr>
            <p:cNvPr id="12338" name="Line 48"/>
            <p:cNvSpPr>
              <a:spLocks noChangeShapeType="1"/>
            </p:cNvSpPr>
            <p:nvPr/>
          </p:nvSpPr>
          <p:spPr bwMode="auto">
            <a:xfrm>
              <a:off x="3624" y="1412"/>
              <a:ext cx="0" cy="4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9" name="Line 49"/>
            <p:cNvSpPr>
              <a:spLocks noChangeShapeType="1"/>
            </p:cNvSpPr>
            <p:nvPr/>
          </p:nvSpPr>
          <p:spPr bwMode="auto">
            <a:xfrm>
              <a:off x="3624" y="1828"/>
              <a:ext cx="0" cy="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0" name="Line 50"/>
            <p:cNvSpPr>
              <a:spLocks noChangeShapeType="1"/>
            </p:cNvSpPr>
            <p:nvPr/>
          </p:nvSpPr>
          <p:spPr bwMode="auto">
            <a:xfrm>
              <a:off x="3624" y="2516"/>
              <a:ext cx="0" cy="6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1" name="Text Box 51"/>
            <p:cNvSpPr txBox="1">
              <a:spLocks noChangeArrowheads="1"/>
            </p:cNvSpPr>
            <p:nvPr/>
          </p:nvSpPr>
          <p:spPr bwMode="auto">
            <a:xfrm>
              <a:off x="3263" y="1295"/>
              <a:ext cx="4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a’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2342" name="Text Box 52"/>
            <p:cNvSpPr txBox="1">
              <a:spLocks noChangeArrowheads="1"/>
            </p:cNvSpPr>
            <p:nvPr/>
          </p:nvSpPr>
          <p:spPr bwMode="auto">
            <a:xfrm>
              <a:off x="3356" y="3039"/>
              <a:ext cx="3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12343" name="Text Box 53"/>
            <p:cNvSpPr txBox="1">
              <a:spLocks noChangeArrowheads="1"/>
            </p:cNvSpPr>
            <p:nvPr/>
          </p:nvSpPr>
          <p:spPr bwMode="auto">
            <a:xfrm>
              <a:off x="3237" y="1767"/>
              <a:ext cx="4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b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’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2344" name="Text Box 54"/>
            <p:cNvSpPr txBox="1">
              <a:spLocks noChangeArrowheads="1"/>
            </p:cNvSpPr>
            <p:nvPr/>
          </p:nvSpPr>
          <p:spPr bwMode="auto">
            <a:xfrm>
              <a:off x="3338" y="2433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b</a:t>
              </a:r>
              <a:endParaRPr lang="en-US" altLang="zh-CN" sz="2400" b="0">
                <a:latin typeface="ISOCPEUR" pitchFamily="34" charset="0"/>
              </a:endParaRPr>
            </a:p>
          </p:txBody>
        </p:sp>
      </p:grpSp>
      <p:grpSp>
        <p:nvGrpSpPr>
          <p:cNvPr id="4" name="Group 55"/>
          <p:cNvGrpSpPr>
            <a:grpSpLocks/>
          </p:cNvGrpSpPr>
          <p:nvPr/>
        </p:nvGrpSpPr>
        <p:grpSpPr bwMode="auto">
          <a:xfrm>
            <a:off x="992188" y="1289050"/>
            <a:ext cx="574675" cy="2276475"/>
            <a:chOff x="3323" y="1429"/>
            <a:chExt cx="362" cy="1434"/>
          </a:xfrm>
        </p:grpSpPr>
        <p:sp>
          <p:nvSpPr>
            <p:cNvPr id="12334" name="AutoShape 56"/>
            <p:cNvSpPr>
              <a:spLocks noChangeArrowheads="1"/>
            </p:cNvSpPr>
            <p:nvPr/>
          </p:nvSpPr>
          <p:spPr bwMode="auto">
            <a:xfrm>
              <a:off x="3599" y="1533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12335" name="Text Box 57"/>
            <p:cNvSpPr txBox="1">
              <a:spLocks noChangeArrowheads="1"/>
            </p:cNvSpPr>
            <p:nvPr/>
          </p:nvSpPr>
          <p:spPr bwMode="auto">
            <a:xfrm>
              <a:off x="3323" y="1429"/>
              <a:ext cx="3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c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2336" name="AutoShape 58"/>
            <p:cNvSpPr>
              <a:spLocks noChangeArrowheads="1"/>
            </p:cNvSpPr>
            <p:nvPr/>
          </p:nvSpPr>
          <p:spPr bwMode="auto">
            <a:xfrm>
              <a:off x="3599" y="2715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12337" name="Text Box 59"/>
            <p:cNvSpPr txBox="1">
              <a:spLocks noChangeArrowheads="1"/>
            </p:cNvSpPr>
            <p:nvPr/>
          </p:nvSpPr>
          <p:spPr bwMode="auto">
            <a:xfrm>
              <a:off x="3335" y="2632"/>
              <a:ext cx="35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c</a:t>
              </a:r>
              <a:endParaRPr lang="en-US" altLang="zh-CN" sz="2400" b="0">
                <a:latin typeface="ISOCPEUR" pitchFamily="34" charset="0"/>
              </a:endParaRPr>
            </a:p>
          </p:txBody>
        </p:sp>
      </p:grpSp>
      <p:grpSp>
        <p:nvGrpSpPr>
          <p:cNvPr id="5" name="Group 119"/>
          <p:cNvGrpSpPr>
            <a:grpSpLocks/>
          </p:cNvGrpSpPr>
          <p:nvPr/>
        </p:nvGrpSpPr>
        <p:grpSpPr bwMode="auto">
          <a:xfrm>
            <a:off x="5330825" y="1066800"/>
            <a:ext cx="2781300" cy="3165475"/>
            <a:chOff x="3358" y="672"/>
            <a:chExt cx="1752" cy="1994"/>
          </a:xfrm>
        </p:grpSpPr>
        <p:sp>
          <p:nvSpPr>
            <p:cNvPr id="12318" name="Line 67"/>
            <p:cNvSpPr>
              <a:spLocks noChangeShapeType="1"/>
            </p:cNvSpPr>
            <p:nvPr/>
          </p:nvSpPr>
          <p:spPr bwMode="auto">
            <a:xfrm>
              <a:off x="3579" y="1706"/>
              <a:ext cx="13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9" name="Text Box 69"/>
            <p:cNvSpPr txBox="1">
              <a:spLocks noChangeArrowheads="1"/>
            </p:cNvSpPr>
            <p:nvPr/>
          </p:nvSpPr>
          <p:spPr bwMode="auto">
            <a:xfrm>
              <a:off x="3358" y="1461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2320" name="Text Box 70"/>
            <p:cNvSpPr txBox="1">
              <a:spLocks noChangeArrowheads="1"/>
            </p:cNvSpPr>
            <p:nvPr/>
          </p:nvSpPr>
          <p:spPr bwMode="auto">
            <a:xfrm>
              <a:off x="4814" y="1444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grpSp>
          <p:nvGrpSpPr>
            <p:cNvPr id="12321" name="Group 89"/>
            <p:cNvGrpSpPr>
              <a:grpSpLocks/>
            </p:cNvGrpSpPr>
            <p:nvPr/>
          </p:nvGrpSpPr>
          <p:grpSpPr bwMode="auto">
            <a:xfrm>
              <a:off x="3701" y="672"/>
              <a:ext cx="484" cy="1994"/>
              <a:chOff x="3237" y="1295"/>
              <a:chExt cx="484" cy="1994"/>
            </a:xfrm>
          </p:grpSpPr>
          <p:sp>
            <p:nvSpPr>
              <p:cNvPr id="12327" name="Line 90"/>
              <p:cNvSpPr>
                <a:spLocks noChangeShapeType="1"/>
              </p:cNvSpPr>
              <p:nvPr/>
            </p:nvSpPr>
            <p:spPr bwMode="auto">
              <a:xfrm>
                <a:off x="3624" y="1412"/>
                <a:ext cx="0" cy="4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8" name="Line 91"/>
              <p:cNvSpPr>
                <a:spLocks noChangeShapeType="1"/>
              </p:cNvSpPr>
              <p:nvPr/>
            </p:nvSpPr>
            <p:spPr bwMode="auto">
              <a:xfrm>
                <a:off x="3624" y="1828"/>
                <a:ext cx="0" cy="6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9" name="Line 92"/>
              <p:cNvSpPr>
                <a:spLocks noChangeShapeType="1"/>
              </p:cNvSpPr>
              <p:nvPr/>
            </p:nvSpPr>
            <p:spPr bwMode="auto">
              <a:xfrm>
                <a:off x="3624" y="2516"/>
                <a:ext cx="0" cy="6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0" name="Text Box 93"/>
              <p:cNvSpPr txBox="1">
                <a:spLocks noChangeArrowheads="1"/>
              </p:cNvSpPr>
              <p:nvPr/>
            </p:nvSpPr>
            <p:spPr bwMode="auto">
              <a:xfrm>
                <a:off x="3263" y="1295"/>
                <a:ext cx="45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a’</a:t>
                </a:r>
                <a:endParaRPr lang="en-US" altLang="zh-CN" sz="2400" b="0">
                  <a:latin typeface="ISOCPEUR" pitchFamily="34" charset="0"/>
                </a:endParaRPr>
              </a:p>
            </p:txBody>
          </p:sp>
          <p:sp>
            <p:nvSpPr>
              <p:cNvPr id="12331" name="Text Box 94"/>
              <p:cNvSpPr txBox="1">
                <a:spLocks noChangeArrowheads="1"/>
              </p:cNvSpPr>
              <p:nvPr/>
            </p:nvSpPr>
            <p:spPr bwMode="auto">
              <a:xfrm>
                <a:off x="3356" y="3039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a</a:t>
                </a:r>
              </a:p>
            </p:txBody>
          </p:sp>
          <p:sp>
            <p:nvSpPr>
              <p:cNvPr id="12332" name="Text Box 95"/>
              <p:cNvSpPr txBox="1">
                <a:spLocks noChangeArrowheads="1"/>
              </p:cNvSpPr>
              <p:nvPr/>
            </p:nvSpPr>
            <p:spPr bwMode="auto">
              <a:xfrm>
                <a:off x="3237" y="1767"/>
                <a:ext cx="47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b</a:t>
                </a: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’</a:t>
                </a:r>
                <a:endParaRPr lang="en-US" altLang="zh-CN" sz="2000" b="0">
                  <a:latin typeface="ISOCPEUR" pitchFamily="34" charset="0"/>
                </a:endParaRPr>
              </a:p>
            </p:txBody>
          </p:sp>
          <p:sp>
            <p:nvSpPr>
              <p:cNvPr id="12333" name="Text Box 96"/>
              <p:cNvSpPr txBox="1">
                <a:spLocks noChangeArrowheads="1"/>
              </p:cNvSpPr>
              <p:nvPr/>
            </p:nvSpPr>
            <p:spPr bwMode="auto">
              <a:xfrm>
                <a:off x="3338" y="2424"/>
                <a:ext cx="30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b</a:t>
                </a:r>
                <a:endParaRPr lang="en-US" altLang="zh-CN" sz="2000" b="0">
                  <a:latin typeface="ISOCPEUR" pitchFamily="34" charset="0"/>
                </a:endParaRPr>
              </a:p>
            </p:txBody>
          </p:sp>
        </p:grpSp>
        <p:grpSp>
          <p:nvGrpSpPr>
            <p:cNvPr id="12322" name="Group 97"/>
            <p:cNvGrpSpPr>
              <a:grpSpLocks/>
            </p:cNvGrpSpPr>
            <p:nvPr/>
          </p:nvGrpSpPr>
          <p:grpSpPr bwMode="auto">
            <a:xfrm>
              <a:off x="3787" y="806"/>
              <a:ext cx="362" cy="1444"/>
              <a:chOff x="3323" y="1429"/>
              <a:chExt cx="362" cy="1444"/>
            </a:xfrm>
          </p:grpSpPr>
          <p:sp>
            <p:nvSpPr>
              <p:cNvPr id="12323" name="AutoShape 98"/>
              <p:cNvSpPr>
                <a:spLocks noChangeArrowheads="1"/>
              </p:cNvSpPr>
              <p:nvPr/>
            </p:nvSpPr>
            <p:spPr bwMode="auto">
              <a:xfrm>
                <a:off x="3599" y="1533"/>
                <a:ext cx="44" cy="44"/>
              </a:xfrm>
              <a:prstGeom prst="flowChartConnector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>
                  <a:solidFill>
                    <a:srgbClr val="FFFF00"/>
                  </a:solidFill>
                  <a:latin typeface="ISOCPEUR" pitchFamily="34" charset="0"/>
                </a:endParaRPr>
              </a:p>
            </p:txBody>
          </p:sp>
          <p:sp>
            <p:nvSpPr>
              <p:cNvPr id="12324" name="Text Box 99"/>
              <p:cNvSpPr txBox="1">
                <a:spLocks noChangeArrowheads="1"/>
              </p:cNvSpPr>
              <p:nvPr/>
            </p:nvSpPr>
            <p:spPr bwMode="auto">
              <a:xfrm>
                <a:off x="3323" y="1429"/>
                <a:ext cx="35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c</a:t>
                </a: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'</a:t>
                </a:r>
                <a:endParaRPr lang="en-US" altLang="zh-CN" sz="2000" b="0">
                  <a:latin typeface="ISOCPEUR" pitchFamily="34" charset="0"/>
                </a:endParaRPr>
              </a:p>
            </p:txBody>
          </p:sp>
          <p:sp>
            <p:nvSpPr>
              <p:cNvPr id="12325" name="AutoShape 100"/>
              <p:cNvSpPr>
                <a:spLocks noChangeArrowheads="1"/>
              </p:cNvSpPr>
              <p:nvPr/>
            </p:nvSpPr>
            <p:spPr bwMode="auto">
              <a:xfrm>
                <a:off x="3599" y="2715"/>
                <a:ext cx="44" cy="44"/>
              </a:xfrm>
              <a:prstGeom prst="flowChartConnector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>
                  <a:solidFill>
                    <a:srgbClr val="FFFF00"/>
                  </a:solidFill>
                  <a:latin typeface="ISOCPEUR" pitchFamily="34" charset="0"/>
                </a:endParaRPr>
              </a:p>
            </p:txBody>
          </p:sp>
          <p:sp>
            <p:nvSpPr>
              <p:cNvPr id="12326" name="Text Box 101"/>
              <p:cNvSpPr txBox="1">
                <a:spLocks noChangeArrowheads="1"/>
              </p:cNvSpPr>
              <p:nvPr/>
            </p:nvSpPr>
            <p:spPr bwMode="auto">
              <a:xfrm>
                <a:off x="3335" y="2623"/>
                <a:ext cx="35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c</a:t>
                </a:r>
                <a:endParaRPr lang="en-US" altLang="zh-CN" sz="2000" b="0">
                  <a:latin typeface="ISOCPEUR" pitchFamily="34" charset="0"/>
                </a:endParaRPr>
              </a:p>
            </p:txBody>
          </p:sp>
        </p:grpSp>
      </p:grpSp>
      <p:sp>
        <p:nvSpPr>
          <p:cNvPr id="143462" name="Line 102"/>
          <p:cNvSpPr>
            <a:spLocks noChangeShapeType="1"/>
          </p:cNvSpPr>
          <p:nvPr/>
        </p:nvSpPr>
        <p:spPr bwMode="auto">
          <a:xfrm flipV="1">
            <a:off x="6500813" y="3590925"/>
            <a:ext cx="452437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64" name="Line 104"/>
          <p:cNvSpPr>
            <a:spLocks noChangeShapeType="1"/>
          </p:cNvSpPr>
          <p:nvPr/>
        </p:nvSpPr>
        <p:spPr bwMode="auto">
          <a:xfrm>
            <a:off x="6492875" y="3692525"/>
            <a:ext cx="179388" cy="204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3463" name="AutoShape 103"/>
          <p:cNvSpPr>
            <a:spLocks noChangeArrowheads="1"/>
          </p:cNvSpPr>
          <p:nvPr/>
        </p:nvSpPr>
        <p:spPr bwMode="auto">
          <a:xfrm>
            <a:off x="6642100" y="3860800"/>
            <a:ext cx="69850" cy="69850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143465" name="Line 105"/>
          <p:cNvSpPr>
            <a:spLocks noChangeShapeType="1"/>
          </p:cNvSpPr>
          <p:nvPr/>
        </p:nvSpPr>
        <p:spPr bwMode="auto">
          <a:xfrm flipH="1" flipV="1">
            <a:off x="6500813" y="3008313"/>
            <a:ext cx="444500" cy="579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3476" name="Text Box 116"/>
          <p:cNvSpPr txBox="1">
            <a:spLocks noChangeArrowheads="1"/>
          </p:cNvSpPr>
          <p:nvPr/>
        </p:nvSpPr>
        <p:spPr bwMode="auto">
          <a:xfrm>
            <a:off x="6780213" y="3392488"/>
            <a:ext cx="6619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b</a:t>
            </a:r>
            <a:r>
              <a:rPr lang="en-US" altLang="zh-CN" sz="2000" i="1" baseline="-25000">
                <a:latin typeface="ISOCPEUR" pitchFamily="34" charset="0"/>
              </a:rPr>
              <a:t>1</a:t>
            </a:r>
            <a:endParaRPr lang="en-US" altLang="zh-CN" sz="2000" i="1" baseline="-25000"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143477" name="Text Box 117"/>
          <p:cNvSpPr txBox="1">
            <a:spLocks noChangeArrowheads="1"/>
          </p:cNvSpPr>
          <p:nvPr/>
        </p:nvSpPr>
        <p:spPr bwMode="auto">
          <a:xfrm>
            <a:off x="6645275" y="374491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r>
              <a:rPr lang="en-US" altLang="zh-CN" sz="2000" i="1" baseline="-25000">
                <a:latin typeface="ISOCPEUR" pitchFamily="34" charset="0"/>
              </a:rPr>
              <a:t>1</a:t>
            </a:r>
            <a:endParaRPr lang="en-US" altLang="zh-CN" sz="2000" i="1" baseline="-25000"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143478" name="Text Box 118"/>
          <p:cNvSpPr txBox="1">
            <a:spLocks noChangeArrowheads="1"/>
          </p:cNvSpPr>
          <p:nvPr/>
        </p:nvSpPr>
        <p:spPr bwMode="auto">
          <a:xfrm>
            <a:off x="6107113" y="3470275"/>
            <a:ext cx="382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endParaRPr lang="en-US" altLang="zh-CN" sz="2000" i="1" baseline="-25000">
              <a:latin typeface="ISOCPEUR" pitchFamily="34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123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3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3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4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4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4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43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43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4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4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43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43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76" grpId="0" animBg="1"/>
      <p:bldP spid="143377" grpId="0" animBg="1"/>
      <p:bldP spid="143378" grpId="0" animBg="1"/>
      <p:bldP spid="143379" grpId="0" animBg="1"/>
      <p:bldP spid="143380" grpId="0" animBg="1"/>
      <p:bldP spid="143381" grpId="0" animBg="1"/>
      <p:bldP spid="143382" grpId="0" animBg="1"/>
      <p:bldP spid="143383" grpId="0" animBg="1"/>
      <p:bldP spid="143384" grpId="0" autoUpdateAnimBg="0"/>
      <p:bldP spid="143385" grpId="0" autoUpdateAnimBg="0"/>
      <p:bldP spid="143386" grpId="0" animBg="1"/>
      <p:bldP spid="143387" grpId="0" animBg="1"/>
      <p:bldP spid="143388" grpId="0" animBg="1"/>
      <p:bldP spid="143389" grpId="0" animBg="1" autoUpdateAnimBg="0"/>
      <p:bldP spid="143390" grpId="0" autoUpdateAnimBg="0"/>
      <p:bldP spid="143391" grpId="0"/>
      <p:bldP spid="143462" grpId="0" animBg="1"/>
      <p:bldP spid="143464" grpId="0" animBg="1"/>
      <p:bldP spid="143463" grpId="0" animBg="1"/>
      <p:bldP spid="143465" grpId="0" animBg="1"/>
      <p:bldP spid="143476" grpId="0"/>
      <p:bldP spid="143477" grpId="0"/>
      <p:bldP spid="14347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4FDCC0A-37C4-4385-AA55-7C9A28293F18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47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4339" name="Text Box 11"/>
          <p:cNvSpPr txBox="1">
            <a:spLocks noChangeArrowheads="1"/>
          </p:cNvSpPr>
          <p:nvPr/>
        </p:nvSpPr>
        <p:spPr bwMode="auto">
          <a:xfrm>
            <a:off x="341313" y="220663"/>
            <a:ext cx="8802687" cy="641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五</a:t>
            </a:r>
            <a:r>
              <a:rPr lang="zh-CN" altLang="en-US" sz="3600" dirty="0" smtClean="0">
                <a:latin typeface="黑体" pitchFamily="2" charset="-122"/>
                <a:ea typeface="黑体" pitchFamily="2" charset="-122"/>
              </a:rPr>
              <a:t>．</a:t>
            </a: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两直线的相对位置</a:t>
            </a:r>
          </a:p>
        </p:txBody>
      </p:sp>
      <p:sp>
        <p:nvSpPr>
          <p:cNvPr id="145501" name="Text Box 93"/>
          <p:cNvSpPr txBox="1">
            <a:spLocks noChangeArrowheads="1"/>
          </p:cNvSpPr>
          <p:nvPr/>
        </p:nvSpPr>
        <p:spPr bwMode="auto">
          <a:xfrm>
            <a:off x="479425" y="912813"/>
            <a:ext cx="8062913" cy="9699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两直线的相对位置可分为三种情况：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        平行、相交、交叉  （</a:t>
            </a:r>
            <a:r>
              <a:rPr lang="zh-CN" altLang="en-US" sz="2400"/>
              <a:t>垂直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）。</a:t>
            </a:r>
          </a:p>
        </p:txBody>
      </p:sp>
      <p:sp>
        <p:nvSpPr>
          <p:cNvPr id="145503" name="Text Box 95"/>
          <p:cNvSpPr txBox="1">
            <a:spLocks noChangeArrowheads="1"/>
          </p:cNvSpPr>
          <p:nvPr/>
        </p:nvSpPr>
        <p:spPr bwMode="auto">
          <a:xfrm>
            <a:off x="358775" y="1928813"/>
            <a:ext cx="3376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⒈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两直线平行</a:t>
            </a:r>
            <a:endParaRPr lang="zh-CN" altLang="en-US" sz="2800" b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96"/>
          <p:cNvGrpSpPr>
            <a:grpSpLocks/>
          </p:cNvGrpSpPr>
          <p:nvPr/>
        </p:nvGrpSpPr>
        <p:grpSpPr bwMode="auto">
          <a:xfrm>
            <a:off x="1295400" y="2566988"/>
            <a:ext cx="3683000" cy="2955925"/>
            <a:chOff x="816" y="1617"/>
            <a:chExt cx="2320" cy="1862"/>
          </a:xfrm>
        </p:grpSpPr>
        <p:sp>
          <p:nvSpPr>
            <p:cNvPr id="14368" name="AutoShape 97"/>
            <p:cNvSpPr>
              <a:spLocks noChangeArrowheads="1"/>
            </p:cNvSpPr>
            <p:nvPr/>
          </p:nvSpPr>
          <p:spPr bwMode="auto">
            <a:xfrm flipH="1">
              <a:off x="816" y="2724"/>
              <a:ext cx="2320" cy="755"/>
            </a:xfrm>
            <a:prstGeom prst="parallelogram">
              <a:avLst>
                <a:gd name="adj" fmla="val 99512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4369" name="Rectangle 98"/>
            <p:cNvSpPr>
              <a:spLocks noChangeArrowheads="1"/>
            </p:cNvSpPr>
            <p:nvPr/>
          </p:nvSpPr>
          <p:spPr bwMode="auto">
            <a:xfrm>
              <a:off x="816" y="1642"/>
              <a:ext cx="1566" cy="108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4370" name="Line 99"/>
            <p:cNvSpPr>
              <a:spLocks noChangeShapeType="1"/>
            </p:cNvSpPr>
            <p:nvPr/>
          </p:nvSpPr>
          <p:spPr bwMode="auto">
            <a:xfrm flipV="1">
              <a:off x="1340" y="1922"/>
              <a:ext cx="525" cy="3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1" name="Line 100"/>
            <p:cNvSpPr>
              <a:spLocks noChangeShapeType="1"/>
            </p:cNvSpPr>
            <p:nvPr/>
          </p:nvSpPr>
          <p:spPr bwMode="auto">
            <a:xfrm>
              <a:off x="1509" y="2886"/>
              <a:ext cx="678" cy="14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2" name="Line 101"/>
            <p:cNvSpPr>
              <a:spLocks noChangeShapeType="1"/>
            </p:cNvSpPr>
            <p:nvPr/>
          </p:nvSpPr>
          <p:spPr bwMode="auto">
            <a:xfrm flipV="1">
              <a:off x="956" y="1893"/>
              <a:ext cx="475" cy="27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3" name="Line 102"/>
            <p:cNvSpPr>
              <a:spLocks noChangeShapeType="1"/>
            </p:cNvSpPr>
            <p:nvPr/>
          </p:nvSpPr>
          <p:spPr bwMode="auto">
            <a:xfrm>
              <a:off x="1418" y="1880"/>
              <a:ext cx="607" cy="6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4" name="Line 103"/>
            <p:cNvSpPr>
              <a:spLocks noChangeShapeType="1"/>
            </p:cNvSpPr>
            <p:nvPr/>
          </p:nvSpPr>
          <p:spPr bwMode="auto">
            <a:xfrm flipV="1">
              <a:off x="1509" y="2229"/>
              <a:ext cx="678" cy="14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5" name="Line 104"/>
            <p:cNvSpPr>
              <a:spLocks noChangeShapeType="1"/>
            </p:cNvSpPr>
            <p:nvPr/>
          </p:nvSpPr>
          <p:spPr bwMode="auto">
            <a:xfrm>
              <a:off x="1858" y="1915"/>
              <a:ext cx="322" cy="3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6" name="Line 105"/>
            <p:cNvSpPr>
              <a:spLocks noChangeShapeType="1"/>
            </p:cNvSpPr>
            <p:nvPr/>
          </p:nvSpPr>
          <p:spPr bwMode="auto">
            <a:xfrm flipV="1">
              <a:off x="2032" y="2481"/>
              <a:ext cx="0" cy="8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7" name="Line 106"/>
            <p:cNvSpPr>
              <a:spLocks noChangeShapeType="1"/>
            </p:cNvSpPr>
            <p:nvPr/>
          </p:nvSpPr>
          <p:spPr bwMode="auto">
            <a:xfrm>
              <a:off x="1410" y="2621"/>
              <a:ext cx="0" cy="5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8" name="Line 107"/>
            <p:cNvSpPr>
              <a:spLocks noChangeShapeType="1"/>
            </p:cNvSpPr>
            <p:nvPr/>
          </p:nvSpPr>
          <p:spPr bwMode="auto">
            <a:xfrm>
              <a:off x="956" y="2152"/>
              <a:ext cx="454" cy="4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9" name="Line 108"/>
            <p:cNvSpPr>
              <a:spLocks noChangeShapeType="1"/>
            </p:cNvSpPr>
            <p:nvPr/>
          </p:nvSpPr>
          <p:spPr bwMode="auto">
            <a:xfrm>
              <a:off x="1409" y="3179"/>
              <a:ext cx="624" cy="13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0" name="Line 109"/>
            <p:cNvSpPr>
              <a:spLocks noChangeShapeType="1"/>
            </p:cNvSpPr>
            <p:nvPr/>
          </p:nvSpPr>
          <p:spPr bwMode="auto">
            <a:xfrm flipV="1">
              <a:off x="1404" y="2487"/>
              <a:ext cx="621" cy="13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1" name="Rectangle 110"/>
            <p:cNvSpPr>
              <a:spLocks noChangeArrowheads="1"/>
            </p:cNvSpPr>
            <p:nvPr/>
          </p:nvSpPr>
          <p:spPr bwMode="auto">
            <a:xfrm>
              <a:off x="2236" y="2964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82" name="Rectangle 111"/>
            <p:cNvSpPr>
              <a:spLocks noChangeArrowheads="1"/>
            </p:cNvSpPr>
            <p:nvPr/>
          </p:nvSpPr>
          <p:spPr bwMode="auto">
            <a:xfrm>
              <a:off x="1451" y="2957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83" name="Rectangle 112"/>
            <p:cNvSpPr>
              <a:spLocks noChangeArrowheads="1"/>
            </p:cNvSpPr>
            <p:nvPr/>
          </p:nvSpPr>
          <p:spPr bwMode="auto">
            <a:xfrm>
              <a:off x="2087" y="315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84" name="Rectangle 113"/>
            <p:cNvSpPr>
              <a:spLocks noChangeArrowheads="1"/>
            </p:cNvSpPr>
            <p:nvPr/>
          </p:nvSpPr>
          <p:spPr bwMode="auto">
            <a:xfrm>
              <a:off x="2780" y="3228"/>
              <a:ext cx="7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宋体" charset="-122"/>
                </a:rPr>
                <a:t>H</a:t>
              </a:r>
              <a:endParaRPr lang="en-US" altLang="zh-CN" sz="2400" i="1">
                <a:solidFill>
                  <a:srgbClr val="FF3300"/>
                </a:solidFill>
              </a:endParaRPr>
            </a:p>
          </p:txBody>
        </p:sp>
        <p:sp>
          <p:nvSpPr>
            <p:cNvPr id="14385" name="Rectangle 114"/>
            <p:cNvSpPr>
              <a:spLocks noChangeArrowheads="1"/>
            </p:cNvSpPr>
            <p:nvPr/>
          </p:nvSpPr>
          <p:spPr bwMode="auto">
            <a:xfrm>
              <a:off x="1540" y="2334"/>
              <a:ext cx="1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86" name="Rectangle 115"/>
            <p:cNvSpPr>
              <a:spLocks noChangeArrowheads="1"/>
            </p:cNvSpPr>
            <p:nvPr/>
          </p:nvSpPr>
          <p:spPr bwMode="auto">
            <a:xfrm>
              <a:off x="1368" y="1677"/>
              <a:ext cx="15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r>
                <a:rPr lang="en-US" altLang="zh-CN" sz="2800" i="1">
                  <a:solidFill>
                    <a:srgbClr val="000000"/>
                  </a:solidFill>
                  <a:sym typeface="Symbol" pitchFamily="18" charset="2"/>
                </a:rPr>
                <a:t>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87" name="Rectangle 116"/>
            <p:cNvSpPr>
              <a:spLocks noChangeArrowheads="1"/>
            </p:cNvSpPr>
            <p:nvPr/>
          </p:nvSpPr>
          <p:spPr bwMode="auto">
            <a:xfrm>
              <a:off x="1550" y="266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88" name="Rectangle 117"/>
            <p:cNvSpPr>
              <a:spLocks noChangeArrowheads="1"/>
            </p:cNvSpPr>
            <p:nvPr/>
          </p:nvSpPr>
          <p:spPr bwMode="auto">
            <a:xfrm>
              <a:off x="1201" y="2502"/>
              <a:ext cx="12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89" name="Rectangle 118"/>
            <p:cNvSpPr>
              <a:spLocks noChangeArrowheads="1"/>
            </p:cNvSpPr>
            <p:nvPr/>
          </p:nvSpPr>
          <p:spPr bwMode="auto">
            <a:xfrm>
              <a:off x="916" y="1915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90" name="Rectangle 119"/>
            <p:cNvSpPr>
              <a:spLocks noChangeArrowheads="1"/>
            </p:cNvSpPr>
            <p:nvPr/>
          </p:nvSpPr>
          <p:spPr bwMode="auto">
            <a:xfrm>
              <a:off x="860" y="1617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宋体" charset="-122"/>
                </a:rPr>
                <a:t>V</a:t>
              </a:r>
              <a:endParaRPr lang="en-US" altLang="zh-CN" sz="2400" i="1">
                <a:solidFill>
                  <a:srgbClr val="FF3300"/>
                </a:solidFill>
              </a:endParaRPr>
            </a:p>
          </p:txBody>
        </p:sp>
        <p:sp>
          <p:nvSpPr>
            <p:cNvPr id="14391" name="Rectangle 120"/>
            <p:cNvSpPr>
              <a:spLocks noChangeArrowheads="1"/>
            </p:cNvSpPr>
            <p:nvPr/>
          </p:nvSpPr>
          <p:spPr bwMode="auto">
            <a:xfrm>
              <a:off x="1243" y="201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92" name="Freeform 121"/>
            <p:cNvSpPr>
              <a:spLocks/>
            </p:cNvSpPr>
            <p:nvPr/>
          </p:nvSpPr>
          <p:spPr bwMode="auto">
            <a:xfrm>
              <a:off x="1346" y="2213"/>
              <a:ext cx="164" cy="163"/>
            </a:xfrm>
            <a:custGeom>
              <a:avLst/>
              <a:gdLst>
                <a:gd name="T0" fmla="*/ 0 w 600"/>
                <a:gd name="T1" fmla="*/ 0 h 599"/>
                <a:gd name="T2" fmla="*/ 1 w 600"/>
                <a:gd name="T3" fmla="*/ 1 h 599"/>
                <a:gd name="T4" fmla="*/ 1 w 600"/>
                <a:gd name="T5" fmla="*/ 1 h 599"/>
                <a:gd name="T6" fmla="*/ 0 60000 65536"/>
                <a:gd name="T7" fmla="*/ 0 60000 65536"/>
                <a:gd name="T8" fmla="*/ 0 60000 65536"/>
                <a:gd name="T9" fmla="*/ 0 w 600"/>
                <a:gd name="T10" fmla="*/ 0 h 599"/>
                <a:gd name="T11" fmla="*/ 600 w 600"/>
                <a:gd name="T12" fmla="*/ 599 h 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0" h="599">
                  <a:moveTo>
                    <a:pt x="0" y="0"/>
                  </a:moveTo>
                  <a:lnTo>
                    <a:pt x="599" y="599"/>
                  </a:lnTo>
                  <a:lnTo>
                    <a:pt x="600" y="59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3" name="Rectangle 122"/>
            <p:cNvSpPr>
              <a:spLocks noChangeArrowheads="1"/>
            </p:cNvSpPr>
            <p:nvPr/>
          </p:nvSpPr>
          <p:spPr bwMode="auto">
            <a:xfrm>
              <a:off x="2047" y="2388"/>
              <a:ext cx="1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94" name="Rectangle 123"/>
            <p:cNvSpPr>
              <a:spLocks noChangeArrowheads="1"/>
            </p:cNvSpPr>
            <p:nvPr/>
          </p:nvSpPr>
          <p:spPr bwMode="auto">
            <a:xfrm>
              <a:off x="1879" y="1687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95" name="Rectangle 124"/>
            <p:cNvSpPr>
              <a:spLocks noChangeArrowheads="1"/>
            </p:cNvSpPr>
            <p:nvPr/>
          </p:nvSpPr>
          <p:spPr bwMode="auto">
            <a:xfrm>
              <a:off x="2228" y="2073"/>
              <a:ext cx="12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96" name="Line 125"/>
            <p:cNvSpPr>
              <a:spLocks noChangeShapeType="1"/>
            </p:cNvSpPr>
            <p:nvPr/>
          </p:nvSpPr>
          <p:spPr bwMode="auto">
            <a:xfrm flipV="1">
              <a:off x="2187" y="2236"/>
              <a:ext cx="0" cy="7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7" name="Line 126"/>
            <p:cNvSpPr>
              <a:spLocks noChangeShapeType="1"/>
            </p:cNvSpPr>
            <p:nvPr/>
          </p:nvSpPr>
          <p:spPr bwMode="auto">
            <a:xfrm>
              <a:off x="1340" y="2214"/>
              <a:ext cx="169" cy="1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8" name="Line 127"/>
            <p:cNvSpPr>
              <a:spLocks noChangeShapeType="1"/>
            </p:cNvSpPr>
            <p:nvPr/>
          </p:nvSpPr>
          <p:spPr bwMode="auto">
            <a:xfrm flipV="1">
              <a:off x="1515" y="2376"/>
              <a:ext cx="0" cy="5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9" name="Text Box 128"/>
            <p:cNvSpPr txBox="1">
              <a:spLocks noChangeArrowheads="1"/>
            </p:cNvSpPr>
            <p:nvPr/>
          </p:nvSpPr>
          <p:spPr bwMode="auto">
            <a:xfrm>
              <a:off x="1486" y="1634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/>
            </a:p>
          </p:txBody>
        </p:sp>
        <p:sp>
          <p:nvSpPr>
            <p:cNvPr id="14400" name="Text Box 129"/>
            <p:cNvSpPr txBox="1">
              <a:spLocks noChangeArrowheads="1"/>
            </p:cNvSpPr>
            <p:nvPr/>
          </p:nvSpPr>
          <p:spPr bwMode="auto">
            <a:xfrm>
              <a:off x="1293" y="2004"/>
              <a:ext cx="1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</a:t>
              </a:r>
              <a:endParaRPr lang="en-US" altLang="zh-CN" sz="2400" b="0"/>
            </a:p>
          </p:txBody>
        </p:sp>
        <p:sp>
          <p:nvSpPr>
            <p:cNvPr id="14401" name="Text Box 130"/>
            <p:cNvSpPr txBox="1">
              <a:spLocks noChangeArrowheads="1"/>
            </p:cNvSpPr>
            <p:nvPr/>
          </p:nvSpPr>
          <p:spPr bwMode="auto">
            <a:xfrm>
              <a:off x="1918" y="1642"/>
              <a:ext cx="1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</a:t>
              </a:r>
              <a:endParaRPr lang="en-US" altLang="zh-CN" sz="2400" b="0"/>
            </a:p>
          </p:txBody>
        </p:sp>
        <p:sp>
          <p:nvSpPr>
            <p:cNvPr id="14402" name="Text Box 131"/>
            <p:cNvSpPr txBox="1">
              <a:spLocks noChangeArrowheads="1"/>
            </p:cNvSpPr>
            <p:nvPr/>
          </p:nvSpPr>
          <p:spPr bwMode="auto">
            <a:xfrm>
              <a:off x="958" y="1900"/>
              <a:ext cx="1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</a:t>
              </a:r>
              <a:endParaRPr lang="en-US" altLang="zh-CN" sz="2400" b="0"/>
            </a:p>
          </p:txBody>
        </p:sp>
        <p:sp>
          <p:nvSpPr>
            <p:cNvPr id="14403" name="Line 132"/>
            <p:cNvSpPr>
              <a:spLocks noChangeShapeType="1"/>
            </p:cNvSpPr>
            <p:nvPr/>
          </p:nvSpPr>
          <p:spPr bwMode="auto">
            <a:xfrm>
              <a:off x="1865" y="1922"/>
              <a:ext cx="0" cy="8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4" name="Line 133"/>
            <p:cNvSpPr>
              <a:spLocks noChangeShapeType="1"/>
            </p:cNvSpPr>
            <p:nvPr/>
          </p:nvSpPr>
          <p:spPr bwMode="auto">
            <a:xfrm>
              <a:off x="1865" y="2718"/>
              <a:ext cx="300" cy="3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5" name="Line 134"/>
            <p:cNvSpPr>
              <a:spLocks noChangeShapeType="1"/>
            </p:cNvSpPr>
            <p:nvPr/>
          </p:nvSpPr>
          <p:spPr bwMode="auto">
            <a:xfrm>
              <a:off x="956" y="2159"/>
              <a:ext cx="0" cy="5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6" name="Line 135"/>
            <p:cNvSpPr>
              <a:spLocks noChangeShapeType="1"/>
            </p:cNvSpPr>
            <p:nvPr/>
          </p:nvSpPr>
          <p:spPr bwMode="auto">
            <a:xfrm>
              <a:off x="942" y="2711"/>
              <a:ext cx="462" cy="4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7" name="Line 136"/>
            <p:cNvSpPr>
              <a:spLocks noChangeShapeType="1"/>
            </p:cNvSpPr>
            <p:nvPr/>
          </p:nvSpPr>
          <p:spPr bwMode="auto">
            <a:xfrm>
              <a:off x="1340" y="2208"/>
              <a:ext cx="0" cy="3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8" name="Line 137"/>
            <p:cNvSpPr>
              <a:spLocks noChangeShapeType="1"/>
            </p:cNvSpPr>
            <p:nvPr/>
          </p:nvSpPr>
          <p:spPr bwMode="auto">
            <a:xfrm flipH="1" flipV="1">
              <a:off x="1326" y="2718"/>
              <a:ext cx="183" cy="1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9" name="Line 138"/>
            <p:cNvSpPr>
              <a:spLocks noChangeShapeType="1"/>
            </p:cNvSpPr>
            <p:nvPr/>
          </p:nvSpPr>
          <p:spPr bwMode="auto">
            <a:xfrm flipV="1">
              <a:off x="1334" y="2691"/>
              <a:ext cx="0" cy="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139"/>
          <p:cNvGrpSpPr>
            <a:grpSpLocks/>
          </p:cNvGrpSpPr>
          <p:nvPr/>
        </p:nvGrpSpPr>
        <p:grpSpPr bwMode="auto">
          <a:xfrm>
            <a:off x="5373688" y="2646363"/>
            <a:ext cx="2389187" cy="2695575"/>
            <a:chOff x="3423" y="1131"/>
            <a:chExt cx="1362" cy="1538"/>
          </a:xfrm>
        </p:grpSpPr>
        <p:sp>
          <p:nvSpPr>
            <p:cNvPr id="14345" name="Rectangle 140"/>
            <p:cNvSpPr>
              <a:spLocks noChangeArrowheads="1"/>
            </p:cNvSpPr>
            <p:nvPr/>
          </p:nvSpPr>
          <p:spPr bwMode="auto">
            <a:xfrm>
              <a:off x="3919" y="2083"/>
              <a:ext cx="8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46" name="Rectangle 141"/>
            <p:cNvSpPr>
              <a:spLocks noChangeArrowheads="1"/>
            </p:cNvSpPr>
            <p:nvPr/>
          </p:nvSpPr>
          <p:spPr bwMode="auto">
            <a:xfrm>
              <a:off x="3584" y="2367"/>
              <a:ext cx="77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47" name="Rectangle 142"/>
            <p:cNvSpPr>
              <a:spLocks noChangeArrowheads="1"/>
            </p:cNvSpPr>
            <p:nvPr/>
          </p:nvSpPr>
          <p:spPr bwMode="auto">
            <a:xfrm>
              <a:off x="4171" y="2461"/>
              <a:ext cx="8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48" name="Rectangle 143"/>
            <p:cNvSpPr>
              <a:spLocks noChangeArrowheads="1"/>
            </p:cNvSpPr>
            <p:nvPr/>
          </p:nvSpPr>
          <p:spPr bwMode="auto">
            <a:xfrm>
              <a:off x="4580" y="2249"/>
              <a:ext cx="8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49" name="Rectangle 144"/>
            <p:cNvSpPr>
              <a:spLocks noChangeArrowheads="1"/>
            </p:cNvSpPr>
            <p:nvPr/>
          </p:nvSpPr>
          <p:spPr bwMode="auto">
            <a:xfrm>
              <a:off x="3573" y="1371"/>
              <a:ext cx="120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r>
                <a:rPr lang="en-US" altLang="zh-CN" sz="2400" b="0" i="1">
                  <a:solidFill>
                    <a:srgbClr val="000000"/>
                  </a:solidFill>
                  <a:latin typeface="Dutch801 Rm BT" pitchFamily="18" charset="0"/>
                  <a:sym typeface="Symbol" pitchFamily="18" charset="2"/>
                </a:rPr>
                <a:t>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50" name="Rectangle 145"/>
            <p:cNvSpPr>
              <a:spLocks noChangeArrowheads="1"/>
            </p:cNvSpPr>
            <p:nvPr/>
          </p:nvSpPr>
          <p:spPr bwMode="auto">
            <a:xfrm>
              <a:off x="4176" y="1183"/>
              <a:ext cx="8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51" name="Rectangle 146"/>
            <p:cNvSpPr>
              <a:spLocks noChangeArrowheads="1"/>
            </p:cNvSpPr>
            <p:nvPr/>
          </p:nvSpPr>
          <p:spPr bwMode="auto">
            <a:xfrm>
              <a:off x="3928" y="1471"/>
              <a:ext cx="8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52" name="Rectangle 147"/>
            <p:cNvSpPr>
              <a:spLocks noChangeArrowheads="1"/>
            </p:cNvSpPr>
            <p:nvPr/>
          </p:nvSpPr>
          <p:spPr bwMode="auto">
            <a:xfrm>
              <a:off x="4556" y="1176"/>
              <a:ext cx="87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53" name="Rectangle 148"/>
            <p:cNvSpPr>
              <a:spLocks noChangeArrowheads="1"/>
            </p:cNvSpPr>
            <p:nvPr/>
          </p:nvSpPr>
          <p:spPr bwMode="auto">
            <a:xfrm>
              <a:off x="4698" y="1911"/>
              <a:ext cx="8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charset="-122"/>
                </a:rPr>
                <a:t>O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54" name="Rectangle 149"/>
            <p:cNvSpPr>
              <a:spLocks noChangeArrowheads="1"/>
            </p:cNvSpPr>
            <p:nvPr/>
          </p:nvSpPr>
          <p:spPr bwMode="auto">
            <a:xfrm>
              <a:off x="3423" y="1898"/>
              <a:ext cx="87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charset="-122"/>
                </a:rPr>
                <a:t>X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55" name="Text Box 150"/>
            <p:cNvSpPr txBox="1">
              <a:spLocks noChangeArrowheads="1"/>
            </p:cNvSpPr>
            <p:nvPr/>
          </p:nvSpPr>
          <p:spPr bwMode="auto">
            <a:xfrm>
              <a:off x="3585" y="1370"/>
              <a:ext cx="211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</a:t>
              </a:r>
              <a:endParaRPr lang="en-US" altLang="zh-CN" sz="2400" b="0"/>
            </a:p>
          </p:txBody>
        </p:sp>
        <p:sp>
          <p:nvSpPr>
            <p:cNvPr id="14356" name="Text Box 151"/>
            <p:cNvSpPr txBox="1">
              <a:spLocks noChangeArrowheads="1"/>
            </p:cNvSpPr>
            <p:nvPr/>
          </p:nvSpPr>
          <p:spPr bwMode="auto">
            <a:xfrm>
              <a:off x="3948" y="1454"/>
              <a:ext cx="17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</a:t>
              </a:r>
              <a:endParaRPr lang="en-US" altLang="zh-CN" sz="2400" b="0"/>
            </a:p>
          </p:txBody>
        </p:sp>
        <p:sp>
          <p:nvSpPr>
            <p:cNvPr id="14357" name="Text Box 152"/>
            <p:cNvSpPr txBox="1">
              <a:spLocks noChangeArrowheads="1"/>
            </p:cNvSpPr>
            <p:nvPr/>
          </p:nvSpPr>
          <p:spPr bwMode="auto">
            <a:xfrm>
              <a:off x="4565" y="1131"/>
              <a:ext cx="17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</a:t>
              </a:r>
              <a:endParaRPr lang="en-US" altLang="zh-CN" sz="2400" b="0"/>
            </a:p>
          </p:txBody>
        </p:sp>
        <p:sp>
          <p:nvSpPr>
            <p:cNvPr id="14358" name="Text Box 153"/>
            <p:cNvSpPr txBox="1">
              <a:spLocks noChangeArrowheads="1"/>
            </p:cNvSpPr>
            <p:nvPr/>
          </p:nvSpPr>
          <p:spPr bwMode="auto">
            <a:xfrm>
              <a:off x="4224" y="1132"/>
              <a:ext cx="17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</a:t>
              </a:r>
              <a:endParaRPr lang="en-US" altLang="zh-CN" sz="2400" b="0"/>
            </a:p>
          </p:txBody>
        </p:sp>
        <p:sp>
          <p:nvSpPr>
            <p:cNvPr id="14359" name="Line 154"/>
            <p:cNvSpPr>
              <a:spLocks noChangeShapeType="1"/>
            </p:cNvSpPr>
            <p:nvPr/>
          </p:nvSpPr>
          <p:spPr bwMode="auto">
            <a:xfrm>
              <a:off x="3546" y="2036"/>
              <a:ext cx="110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0" name="Line 155"/>
            <p:cNvSpPr>
              <a:spLocks noChangeShapeType="1"/>
            </p:cNvSpPr>
            <p:nvPr/>
          </p:nvSpPr>
          <p:spPr bwMode="auto">
            <a:xfrm>
              <a:off x="3693" y="1562"/>
              <a:ext cx="0" cy="8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1" name="Line 156"/>
            <p:cNvSpPr>
              <a:spLocks noChangeShapeType="1"/>
            </p:cNvSpPr>
            <p:nvPr/>
          </p:nvSpPr>
          <p:spPr bwMode="auto">
            <a:xfrm>
              <a:off x="4045" y="1600"/>
              <a:ext cx="0" cy="6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2" name="Line 157"/>
            <p:cNvSpPr>
              <a:spLocks noChangeShapeType="1"/>
            </p:cNvSpPr>
            <p:nvPr/>
          </p:nvSpPr>
          <p:spPr bwMode="auto">
            <a:xfrm>
              <a:off x="4134" y="1318"/>
              <a:ext cx="0" cy="12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3" name="Line 158"/>
            <p:cNvSpPr>
              <a:spLocks noChangeShapeType="1"/>
            </p:cNvSpPr>
            <p:nvPr/>
          </p:nvSpPr>
          <p:spPr bwMode="auto">
            <a:xfrm>
              <a:off x="4525" y="1338"/>
              <a:ext cx="0" cy="10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4" name="Line 159"/>
            <p:cNvSpPr>
              <a:spLocks noChangeShapeType="1"/>
            </p:cNvSpPr>
            <p:nvPr/>
          </p:nvSpPr>
          <p:spPr bwMode="auto">
            <a:xfrm flipV="1">
              <a:off x="3686" y="1318"/>
              <a:ext cx="442" cy="25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5" name="Line 160"/>
            <p:cNvSpPr>
              <a:spLocks noChangeShapeType="1"/>
            </p:cNvSpPr>
            <p:nvPr/>
          </p:nvSpPr>
          <p:spPr bwMode="auto">
            <a:xfrm flipV="1">
              <a:off x="4045" y="1338"/>
              <a:ext cx="473" cy="26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6" name="Line 161"/>
            <p:cNvSpPr>
              <a:spLocks noChangeShapeType="1"/>
            </p:cNvSpPr>
            <p:nvPr/>
          </p:nvSpPr>
          <p:spPr bwMode="auto">
            <a:xfrm flipH="1" flipV="1">
              <a:off x="4038" y="2206"/>
              <a:ext cx="480" cy="1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7" name="Line 162"/>
            <p:cNvSpPr>
              <a:spLocks noChangeShapeType="1"/>
            </p:cNvSpPr>
            <p:nvPr/>
          </p:nvSpPr>
          <p:spPr bwMode="auto">
            <a:xfrm>
              <a:off x="3680" y="2445"/>
              <a:ext cx="461" cy="1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5571" name="Text Box 163"/>
          <p:cNvSpPr txBox="1">
            <a:spLocks noChangeArrowheads="1"/>
          </p:cNvSpPr>
          <p:nvPr/>
        </p:nvSpPr>
        <p:spPr bwMode="auto">
          <a:xfrm>
            <a:off x="757238" y="5662613"/>
            <a:ext cx="78882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几何条件：空间两直线平行，则其各同名投影必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      相互平行，反之亦然。</a:t>
            </a:r>
          </a:p>
        </p:txBody>
      </p:sp>
    </p:spTree>
    <p:extLst>
      <p:ext uri="{BB962C8B-B14F-4D97-AF65-F5344CB8AC3E}">
        <p14:creationId xmlns:p14="http://schemas.microsoft.com/office/powerpoint/2010/main" val="63282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501" grpId="0" animBg="1"/>
      <p:bldP spid="145503" grpId="0" autoUpdateAnimBg="0"/>
      <p:bldP spid="145571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E59AD18A-16D2-4F74-83B0-EB1F6C14D318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48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30050" name="Text Box 2"/>
          <p:cNvSpPr txBox="1">
            <a:spLocks noChangeArrowheads="1"/>
          </p:cNvSpPr>
          <p:nvPr/>
        </p:nvSpPr>
        <p:spPr bwMode="auto">
          <a:xfrm>
            <a:off x="5110163" y="4206875"/>
            <a:ext cx="3446462" cy="457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  <a:ea typeface="仿宋_GB2312" pitchFamily="49" charset="-122"/>
              </a:rPr>
              <a:t>a’b’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∥</a:t>
            </a:r>
            <a:r>
              <a:rPr lang="en-US" altLang="zh-CN" sz="2400" i="1">
                <a:latin typeface="ISOCPEUR" pitchFamily="34" charset="0"/>
                <a:ea typeface="仿宋_GB2312" pitchFamily="49" charset="-122"/>
              </a:rPr>
              <a:t>c’d’,ab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∥</a:t>
            </a:r>
            <a:r>
              <a:rPr lang="en-US" altLang="zh-CN" sz="2400" i="1">
                <a:latin typeface="ISOCPEUR" pitchFamily="34" charset="0"/>
                <a:ea typeface="仿宋_GB2312" pitchFamily="49" charset="-122"/>
              </a:rPr>
              <a:t>dc,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837113" y="4610100"/>
            <a:ext cx="2609850" cy="457200"/>
            <a:chOff x="3298" y="4002"/>
            <a:chExt cx="1644" cy="288"/>
          </a:xfrm>
        </p:grpSpPr>
        <p:sp>
          <p:nvSpPr>
            <p:cNvPr id="15452" name="Text Box 4"/>
            <p:cNvSpPr txBox="1">
              <a:spLocks noChangeArrowheads="1"/>
            </p:cNvSpPr>
            <p:nvPr/>
          </p:nvSpPr>
          <p:spPr bwMode="auto">
            <a:xfrm>
              <a:off x="3298" y="4002"/>
              <a:ext cx="1644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  <a:ea typeface="仿宋_GB2312" pitchFamily="49" charset="-122"/>
                </a:rPr>
                <a:t>  a”b”</a:t>
              </a:r>
              <a:r>
                <a:rPr lang="en-US" altLang="zh-CN" sz="800" i="1">
                  <a:latin typeface="ISOCPEUR" pitchFamily="34" charset="0"/>
                  <a:ea typeface="仿宋_GB2312" pitchFamily="49" charset="-122"/>
                </a:rPr>
                <a:t> </a:t>
              </a:r>
              <a:r>
                <a:rPr lang="en-US" altLang="zh-CN" sz="2400" i="1">
                  <a:latin typeface="ISOCPEUR" pitchFamily="34" charset="0"/>
                  <a:ea typeface="黑体" pitchFamily="2" charset="-122"/>
                </a:rPr>
                <a:t>∥</a:t>
              </a:r>
              <a:r>
                <a:rPr lang="en-US" altLang="zh-CN" sz="2400" i="1">
                  <a:latin typeface="ISOCPEUR" pitchFamily="34" charset="0"/>
                  <a:ea typeface="仿宋_GB2312" pitchFamily="49" charset="-122"/>
                </a:rPr>
                <a:t>c”d”    </a:t>
              </a:r>
              <a:r>
                <a:rPr lang="en-US" altLang="zh-CN" sz="1200" i="1">
                  <a:latin typeface="ISOCPEUR" pitchFamily="34" charset="0"/>
                  <a:ea typeface="仿宋_GB2312" pitchFamily="49" charset="-122"/>
                </a:rPr>
                <a:t> </a:t>
              </a:r>
              <a:r>
                <a:rPr lang="en-US" altLang="zh-CN" sz="2400" i="1">
                  <a:latin typeface="ISOCPEUR" pitchFamily="34" charset="0"/>
                  <a:ea typeface="仿宋_GB2312" pitchFamily="49" charset="-122"/>
                </a:rPr>
                <a:t> 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15453" name="Text Box 5"/>
            <p:cNvSpPr txBox="1">
              <a:spLocks noChangeArrowheads="1"/>
            </p:cNvSpPr>
            <p:nvPr/>
          </p:nvSpPr>
          <p:spPr bwMode="auto">
            <a:xfrm>
              <a:off x="3815" y="4010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黑体" pitchFamily="2" charset="-122"/>
                </a:rPr>
                <a:t>╲</a:t>
              </a:r>
            </a:p>
          </p:txBody>
        </p:sp>
      </p:grpSp>
      <p:sp>
        <p:nvSpPr>
          <p:cNvPr id="130054" name="Rectangle 6"/>
          <p:cNvSpPr>
            <a:spLocks noChangeArrowheads="1"/>
          </p:cNvSpPr>
          <p:nvPr/>
        </p:nvSpPr>
        <p:spPr bwMode="auto">
          <a:xfrm>
            <a:off x="5002213" y="4097338"/>
            <a:ext cx="2859087" cy="11287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343525" y="2466975"/>
            <a:ext cx="1931988" cy="479425"/>
            <a:chOff x="3445" y="2582"/>
            <a:chExt cx="1217" cy="302"/>
          </a:xfrm>
        </p:grpSpPr>
        <p:sp>
          <p:nvSpPr>
            <p:cNvPr id="15449" name="Line 8"/>
            <p:cNvSpPr>
              <a:spLocks noChangeShapeType="1"/>
            </p:cNvSpPr>
            <p:nvPr/>
          </p:nvSpPr>
          <p:spPr bwMode="auto">
            <a:xfrm>
              <a:off x="3645" y="2827"/>
              <a:ext cx="7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0" name="Text Box 9"/>
            <p:cNvSpPr txBox="1">
              <a:spLocks noChangeArrowheads="1"/>
            </p:cNvSpPr>
            <p:nvPr/>
          </p:nvSpPr>
          <p:spPr bwMode="auto">
            <a:xfrm>
              <a:off x="3445" y="258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5451" name="Text Box 10"/>
            <p:cNvSpPr txBox="1">
              <a:spLocks noChangeArrowheads="1"/>
            </p:cNvSpPr>
            <p:nvPr/>
          </p:nvSpPr>
          <p:spPr bwMode="auto">
            <a:xfrm>
              <a:off x="4366" y="2596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65100" y="2436813"/>
            <a:ext cx="2598738" cy="458787"/>
            <a:chOff x="183" y="2563"/>
            <a:chExt cx="1637" cy="289"/>
          </a:xfrm>
        </p:grpSpPr>
        <p:sp>
          <p:nvSpPr>
            <p:cNvPr id="15446" name="Text Box 13"/>
            <p:cNvSpPr txBox="1">
              <a:spLocks noChangeArrowheads="1"/>
            </p:cNvSpPr>
            <p:nvPr/>
          </p:nvSpPr>
          <p:spPr bwMode="auto">
            <a:xfrm>
              <a:off x="183" y="256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5447" name="Text Box 14"/>
            <p:cNvSpPr txBox="1">
              <a:spLocks noChangeArrowheads="1"/>
            </p:cNvSpPr>
            <p:nvPr/>
          </p:nvSpPr>
          <p:spPr bwMode="auto">
            <a:xfrm>
              <a:off x="1524" y="2563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5448" name="Line 15"/>
            <p:cNvSpPr>
              <a:spLocks noChangeShapeType="1"/>
            </p:cNvSpPr>
            <p:nvPr/>
          </p:nvSpPr>
          <p:spPr bwMode="auto">
            <a:xfrm>
              <a:off x="400" y="2824"/>
              <a:ext cx="1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2736850" y="2455863"/>
            <a:ext cx="2608263" cy="458787"/>
            <a:chOff x="1803" y="2575"/>
            <a:chExt cx="1643" cy="289"/>
          </a:xfrm>
        </p:grpSpPr>
        <p:sp>
          <p:nvSpPr>
            <p:cNvPr id="15443" name="Text Box 17"/>
            <p:cNvSpPr txBox="1">
              <a:spLocks noChangeArrowheads="1"/>
            </p:cNvSpPr>
            <p:nvPr/>
          </p:nvSpPr>
          <p:spPr bwMode="auto">
            <a:xfrm>
              <a:off x="1803" y="2576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5444" name="Text Box 18"/>
            <p:cNvSpPr txBox="1">
              <a:spLocks noChangeArrowheads="1"/>
            </p:cNvSpPr>
            <p:nvPr/>
          </p:nvSpPr>
          <p:spPr bwMode="auto">
            <a:xfrm>
              <a:off x="3150" y="2575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5445" name="Line 19"/>
            <p:cNvSpPr>
              <a:spLocks noChangeShapeType="1"/>
            </p:cNvSpPr>
            <p:nvPr/>
          </p:nvSpPr>
          <p:spPr bwMode="auto">
            <a:xfrm>
              <a:off x="2026" y="2824"/>
              <a:ext cx="1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0068" name="Line 20"/>
          <p:cNvSpPr>
            <a:spLocks noChangeShapeType="1"/>
          </p:cNvSpPr>
          <p:nvPr/>
        </p:nvSpPr>
        <p:spPr bwMode="auto">
          <a:xfrm>
            <a:off x="798513" y="2311400"/>
            <a:ext cx="0" cy="1209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69" name="Line 21"/>
          <p:cNvSpPr>
            <a:spLocks noChangeShapeType="1"/>
          </p:cNvSpPr>
          <p:nvPr/>
        </p:nvSpPr>
        <p:spPr bwMode="auto">
          <a:xfrm>
            <a:off x="1360488" y="1873250"/>
            <a:ext cx="0" cy="1971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70" name="Line 22"/>
          <p:cNvSpPr>
            <a:spLocks noChangeShapeType="1"/>
          </p:cNvSpPr>
          <p:nvPr/>
        </p:nvSpPr>
        <p:spPr bwMode="auto">
          <a:xfrm>
            <a:off x="1550988" y="2263775"/>
            <a:ext cx="0" cy="1171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71" name="Line 23"/>
          <p:cNvSpPr>
            <a:spLocks noChangeShapeType="1"/>
          </p:cNvSpPr>
          <p:nvPr/>
        </p:nvSpPr>
        <p:spPr bwMode="auto">
          <a:xfrm>
            <a:off x="2125663" y="1828800"/>
            <a:ext cx="6350" cy="191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72" name="Line 24"/>
          <p:cNvSpPr>
            <a:spLocks noChangeShapeType="1"/>
          </p:cNvSpPr>
          <p:nvPr/>
        </p:nvSpPr>
        <p:spPr bwMode="auto">
          <a:xfrm>
            <a:off x="798513" y="3521075"/>
            <a:ext cx="561975" cy="314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73" name="Line 25"/>
          <p:cNvSpPr>
            <a:spLocks noChangeShapeType="1"/>
          </p:cNvSpPr>
          <p:nvPr/>
        </p:nvSpPr>
        <p:spPr bwMode="auto">
          <a:xfrm>
            <a:off x="1550988" y="3425825"/>
            <a:ext cx="581025" cy="32385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74" name="Text Box 26"/>
          <p:cNvSpPr txBox="1">
            <a:spLocks noChangeArrowheads="1"/>
          </p:cNvSpPr>
          <p:nvPr/>
        </p:nvSpPr>
        <p:spPr bwMode="auto">
          <a:xfrm>
            <a:off x="579438" y="340836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30075" name="Text Box 27"/>
          <p:cNvSpPr txBox="1">
            <a:spLocks noChangeArrowheads="1"/>
          </p:cNvSpPr>
          <p:nvPr/>
        </p:nvSpPr>
        <p:spPr bwMode="auto">
          <a:xfrm>
            <a:off x="1128713" y="3798888"/>
            <a:ext cx="404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b </a:t>
            </a:r>
          </a:p>
        </p:txBody>
      </p:sp>
      <p:sp>
        <p:nvSpPr>
          <p:cNvPr id="130076" name="Text Box 28"/>
          <p:cNvSpPr txBox="1">
            <a:spLocks noChangeArrowheads="1"/>
          </p:cNvSpPr>
          <p:nvPr/>
        </p:nvSpPr>
        <p:spPr bwMode="auto">
          <a:xfrm>
            <a:off x="1320800" y="3341688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30077" name="Text Box 29"/>
          <p:cNvSpPr txBox="1">
            <a:spLocks noChangeArrowheads="1"/>
          </p:cNvSpPr>
          <p:nvPr/>
        </p:nvSpPr>
        <p:spPr bwMode="auto">
          <a:xfrm>
            <a:off x="1814513" y="3656013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</a:t>
            </a:r>
          </a:p>
        </p:txBody>
      </p:sp>
      <p:sp>
        <p:nvSpPr>
          <p:cNvPr id="130078" name="Line 30"/>
          <p:cNvSpPr>
            <a:spLocks noChangeShapeType="1"/>
          </p:cNvSpPr>
          <p:nvPr/>
        </p:nvSpPr>
        <p:spPr bwMode="auto">
          <a:xfrm>
            <a:off x="3322638" y="2359025"/>
            <a:ext cx="0" cy="1209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79" name="Line 31"/>
          <p:cNvSpPr>
            <a:spLocks noChangeShapeType="1"/>
          </p:cNvSpPr>
          <p:nvPr/>
        </p:nvSpPr>
        <p:spPr bwMode="auto">
          <a:xfrm>
            <a:off x="3884613" y="1920875"/>
            <a:ext cx="0" cy="1749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0" name="Line 32"/>
          <p:cNvSpPr>
            <a:spLocks noChangeShapeType="1"/>
          </p:cNvSpPr>
          <p:nvPr/>
        </p:nvSpPr>
        <p:spPr bwMode="auto">
          <a:xfrm>
            <a:off x="4449763" y="1876425"/>
            <a:ext cx="6350" cy="191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1" name="Line 33"/>
          <p:cNvSpPr>
            <a:spLocks noChangeShapeType="1"/>
          </p:cNvSpPr>
          <p:nvPr/>
        </p:nvSpPr>
        <p:spPr bwMode="auto">
          <a:xfrm>
            <a:off x="3317875" y="3560763"/>
            <a:ext cx="565150" cy="10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2" name="Line 34"/>
          <p:cNvSpPr>
            <a:spLocks noChangeShapeType="1"/>
          </p:cNvSpPr>
          <p:nvPr/>
        </p:nvSpPr>
        <p:spPr bwMode="auto">
          <a:xfrm>
            <a:off x="3883025" y="3662363"/>
            <a:ext cx="584200" cy="1143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3" name="Text Box 35"/>
          <p:cNvSpPr txBox="1">
            <a:spLocks noChangeArrowheads="1"/>
          </p:cNvSpPr>
          <p:nvPr/>
        </p:nvSpPr>
        <p:spPr bwMode="auto">
          <a:xfrm>
            <a:off x="3030538" y="333851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30084" name="Text Box 36"/>
          <p:cNvSpPr txBox="1">
            <a:spLocks noChangeArrowheads="1"/>
          </p:cNvSpPr>
          <p:nvPr/>
        </p:nvSpPr>
        <p:spPr bwMode="auto">
          <a:xfrm>
            <a:off x="3538538" y="3624263"/>
            <a:ext cx="5480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b</a:t>
            </a: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30085" name="Text Box 37"/>
          <p:cNvSpPr txBox="1">
            <a:spLocks noChangeArrowheads="1"/>
          </p:cNvSpPr>
          <p:nvPr/>
        </p:nvSpPr>
        <p:spPr bwMode="auto">
          <a:xfrm>
            <a:off x="4300538" y="3681413"/>
            <a:ext cx="58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</a:t>
            </a:r>
          </a:p>
        </p:txBody>
      </p:sp>
      <p:sp>
        <p:nvSpPr>
          <p:cNvPr id="130086" name="Line 38"/>
          <p:cNvSpPr>
            <a:spLocks noChangeShapeType="1"/>
          </p:cNvSpPr>
          <p:nvPr/>
        </p:nvSpPr>
        <p:spPr bwMode="auto">
          <a:xfrm>
            <a:off x="5989638" y="243522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7" name="Line 39"/>
          <p:cNvSpPr>
            <a:spLocks noChangeShapeType="1"/>
          </p:cNvSpPr>
          <p:nvPr/>
        </p:nvSpPr>
        <p:spPr bwMode="auto">
          <a:xfrm>
            <a:off x="6389688" y="2549525"/>
            <a:ext cx="0" cy="520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8" name="Line 40"/>
          <p:cNvSpPr>
            <a:spLocks noChangeShapeType="1"/>
          </p:cNvSpPr>
          <p:nvPr/>
        </p:nvSpPr>
        <p:spPr bwMode="auto">
          <a:xfrm>
            <a:off x="5989638" y="3078163"/>
            <a:ext cx="0" cy="542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9" name="Line 41"/>
          <p:cNvSpPr>
            <a:spLocks noChangeShapeType="1"/>
          </p:cNvSpPr>
          <p:nvPr/>
        </p:nvSpPr>
        <p:spPr bwMode="auto">
          <a:xfrm>
            <a:off x="6389688" y="3071813"/>
            <a:ext cx="0" cy="638175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90" name="Text Box 42"/>
          <p:cNvSpPr txBox="1">
            <a:spLocks noChangeArrowheads="1"/>
          </p:cNvSpPr>
          <p:nvPr/>
        </p:nvSpPr>
        <p:spPr bwMode="auto">
          <a:xfrm>
            <a:off x="5638800" y="283686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30091" name="Text Box 43"/>
          <p:cNvSpPr txBox="1">
            <a:spLocks noChangeArrowheads="1"/>
          </p:cNvSpPr>
          <p:nvPr/>
        </p:nvSpPr>
        <p:spPr bwMode="auto">
          <a:xfrm>
            <a:off x="5667375" y="348456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b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30092" name="Text Box 44"/>
          <p:cNvSpPr txBox="1">
            <a:spLocks noChangeArrowheads="1"/>
          </p:cNvSpPr>
          <p:nvPr/>
        </p:nvSpPr>
        <p:spPr bwMode="auto">
          <a:xfrm>
            <a:off x="6208713" y="3636963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30093" name="Text Box 45"/>
          <p:cNvSpPr txBox="1">
            <a:spLocks noChangeArrowheads="1"/>
          </p:cNvSpPr>
          <p:nvPr/>
        </p:nvSpPr>
        <p:spPr bwMode="auto">
          <a:xfrm>
            <a:off x="5959475" y="2779713"/>
            <a:ext cx="538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30094" name="Line 46"/>
          <p:cNvSpPr>
            <a:spLocks noChangeShapeType="1"/>
          </p:cNvSpPr>
          <p:nvPr/>
        </p:nvSpPr>
        <p:spPr bwMode="auto">
          <a:xfrm>
            <a:off x="5980113" y="1635125"/>
            <a:ext cx="1162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95" name="Line 47"/>
          <p:cNvSpPr>
            <a:spLocks noChangeShapeType="1"/>
          </p:cNvSpPr>
          <p:nvPr/>
        </p:nvSpPr>
        <p:spPr bwMode="auto">
          <a:xfrm>
            <a:off x="6370638" y="1930400"/>
            <a:ext cx="139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96" name="Line 48"/>
          <p:cNvSpPr>
            <a:spLocks noChangeShapeType="1"/>
          </p:cNvSpPr>
          <p:nvPr/>
        </p:nvSpPr>
        <p:spPr bwMode="auto">
          <a:xfrm>
            <a:off x="5980113" y="2435225"/>
            <a:ext cx="169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97" name="Line 49"/>
          <p:cNvSpPr>
            <a:spLocks noChangeShapeType="1"/>
          </p:cNvSpPr>
          <p:nvPr/>
        </p:nvSpPr>
        <p:spPr bwMode="auto">
          <a:xfrm>
            <a:off x="6389688" y="2559050"/>
            <a:ext cx="749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98" name="Line 50"/>
          <p:cNvSpPr>
            <a:spLocks noChangeShapeType="1"/>
          </p:cNvSpPr>
          <p:nvPr/>
        </p:nvSpPr>
        <p:spPr bwMode="auto">
          <a:xfrm>
            <a:off x="5989638" y="3082925"/>
            <a:ext cx="1149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99" name="Line 51"/>
          <p:cNvSpPr>
            <a:spLocks noChangeShapeType="1"/>
          </p:cNvSpPr>
          <p:nvPr/>
        </p:nvSpPr>
        <p:spPr bwMode="auto">
          <a:xfrm>
            <a:off x="5989638" y="3616325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0" name="Line 52"/>
          <p:cNvSpPr>
            <a:spLocks noChangeShapeType="1"/>
          </p:cNvSpPr>
          <p:nvPr/>
        </p:nvSpPr>
        <p:spPr bwMode="auto">
          <a:xfrm>
            <a:off x="6386513" y="3708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1" name="Line 53"/>
          <p:cNvSpPr>
            <a:spLocks noChangeShapeType="1"/>
          </p:cNvSpPr>
          <p:nvPr/>
        </p:nvSpPr>
        <p:spPr bwMode="auto">
          <a:xfrm>
            <a:off x="6916738" y="2857500"/>
            <a:ext cx="990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2" name="Line 54"/>
          <p:cNvSpPr>
            <a:spLocks noChangeShapeType="1"/>
          </p:cNvSpPr>
          <p:nvPr/>
        </p:nvSpPr>
        <p:spPr bwMode="auto">
          <a:xfrm flipV="1">
            <a:off x="7145338" y="1631950"/>
            <a:ext cx="0" cy="1454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3" name="Line 55"/>
          <p:cNvSpPr>
            <a:spLocks noChangeShapeType="1"/>
          </p:cNvSpPr>
          <p:nvPr/>
        </p:nvSpPr>
        <p:spPr bwMode="auto">
          <a:xfrm flipV="1">
            <a:off x="7672388" y="2432050"/>
            <a:ext cx="0" cy="1187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4" name="Line 56"/>
          <p:cNvSpPr>
            <a:spLocks noChangeShapeType="1"/>
          </p:cNvSpPr>
          <p:nvPr/>
        </p:nvSpPr>
        <p:spPr bwMode="auto">
          <a:xfrm flipV="1">
            <a:off x="7767638" y="1930400"/>
            <a:ext cx="0" cy="177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5" name="Line 57"/>
          <p:cNvSpPr>
            <a:spLocks noChangeShapeType="1"/>
          </p:cNvSpPr>
          <p:nvPr/>
        </p:nvSpPr>
        <p:spPr bwMode="auto">
          <a:xfrm>
            <a:off x="7146925" y="1638300"/>
            <a:ext cx="520700" cy="800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6" name="Line 58"/>
          <p:cNvSpPr>
            <a:spLocks noChangeShapeType="1"/>
          </p:cNvSpPr>
          <p:nvPr/>
        </p:nvSpPr>
        <p:spPr bwMode="auto">
          <a:xfrm flipH="1">
            <a:off x="7145338" y="1930400"/>
            <a:ext cx="622300" cy="62865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7" name="Text Box 59"/>
          <p:cNvSpPr txBox="1">
            <a:spLocks noChangeArrowheads="1"/>
          </p:cNvSpPr>
          <p:nvPr/>
        </p:nvSpPr>
        <p:spPr bwMode="auto">
          <a:xfrm>
            <a:off x="7072313" y="13700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130108" name="Text Box 60"/>
          <p:cNvSpPr txBox="1">
            <a:spLocks noChangeArrowheads="1"/>
          </p:cNvSpPr>
          <p:nvPr/>
        </p:nvSpPr>
        <p:spPr bwMode="auto">
          <a:xfrm>
            <a:off x="7626350" y="2227263"/>
            <a:ext cx="552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b”</a:t>
            </a:r>
          </a:p>
        </p:txBody>
      </p:sp>
      <p:sp>
        <p:nvSpPr>
          <p:cNvPr id="130109" name="Text Box 61"/>
          <p:cNvSpPr txBox="1">
            <a:spLocks noChangeArrowheads="1"/>
          </p:cNvSpPr>
          <p:nvPr/>
        </p:nvSpPr>
        <p:spPr bwMode="auto">
          <a:xfrm>
            <a:off x="7594600" y="1611313"/>
            <a:ext cx="615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c”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130110" name="Text Box 62"/>
          <p:cNvSpPr txBox="1">
            <a:spLocks noChangeArrowheads="1"/>
          </p:cNvSpPr>
          <p:nvPr/>
        </p:nvSpPr>
        <p:spPr bwMode="auto">
          <a:xfrm>
            <a:off x="7067550" y="2379663"/>
            <a:ext cx="546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d”</a:t>
            </a:r>
          </a:p>
        </p:txBody>
      </p:sp>
      <p:sp>
        <p:nvSpPr>
          <p:cNvPr id="130111" name="Text Box 63"/>
          <p:cNvSpPr txBox="1">
            <a:spLocks noChangeArrowheads="1"/>
          </p:cNvSpPr>
          <p:nvPr/>
        </p:nvSpPr>
        <p:spPr bwMode="auto">
          <a:xfrm>
            <a:off x="1082675" y="4373563"/>
            <a:ext cx="1112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平行</a:t>
            </a:r>
          </a:p>
        </p:txBody>
      </p:sp>
      <p:sp>
        <p:nvSpPr>
          <p:cNvPr id="130112" name="Text Box 64"/>
          <p:cNvSpPr txBox="1">
            <a:spLocks noChangeArrowheads="1"/>
          </p:cNvSpPr>
          <p:nvPr/>
        </p:nvSpPr>
        <p:spPr bwMode="auto">
          <a:xfrm>
            <a:off x="3378200" y="4364038"/>
            <a:ext cx="1552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平行</a:t>
            </a:r>
          </a:p>
        </p:txBody>
      </p:sp>
      <p:grpSp>
        <p:nvGrpSpPr>
          <p:cNvPr id="6" name="Group 65"/>
          <p:cNvGrpSpPr>
            <a:grpSpLocks/>
          </p:cNvGrpSpPr>
          <p:nvPr/>
        </p:nvGrpSpPr>
        <p:grpSpPr bwMode="auto">
          <a:xfrm>
            <a:off x="6778625" y="1239838"/>
            <a:ext cx="1946275" cy="3041650"/>
            <a:chOff x="4349" y="1812"/>
            <a:chExt cx="1226" cy="1916"/>
          </a:xfrm>
        </p:grpSpPr>
        <p:sp>
          <p:nvSpPr>
            <p:cNvPr id="15438" name="Line 66"/>
            <p:cNvSpPr>
              <a:spLocks noChangeShapeType="1"/>
            </p:cNvSpPr>
            <p:nvPr/>
          </p:nvSpPr>
          <p:spPr bwMode="auto">
            <a:xfrm>
              <a:off x="4438" y="2012"/>
              <a:ext cx="0" cy="16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9" name="Text Box 67"/>
            <p:cNvSpPr txBox="1">
              <a:spLocks noChangeArrowheads="1"/>
            </p:cNvSpPr>
            <p:nvPr/>
          </p:nvSpPr>
          <p:spPr bwMode="auto">
            <a:xfrm>
              <a:off x="5199" y="2581"/>
              <a:ext cx="3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W </a:t>
              </a:r>
            </a:p>
          </p:txBody>
        </p:sp>
        <p:sp>
          <p:nvSpPr>
            <p:cNvPr id="15440" name="Text Box 68"/>
            <p:cNvSpPr txBox="1">
              <a:spLocks noChangeArrowheads="1"/>
            </p:cNvSpPr>
            <p:nvPr/>
          </p:nvSpPr>
          <p:spPr bwMode="auto">
            <a:xfrm>
              <a:off x="4393" y="1812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 </a:t>
              </a:r>
            </a:p>
          </p:txBody>
        </p:sp>
        <p:sp>
          <p:nvSpPr>
            <p:cNvPr id="15441" name="Text Box 69"/>
            <p:cNvSpPr txBox="1">
              <a:spLocks noChangeArrowheads="1"/>
            </p:cNvSpPr>
            <p:nvPr/>
          </p:nvSpPr>
          <p:spPr bwMode="auto">
            <a:xfrm>
              <a:off x="4349" y="3440"/>
              <a:ext cx="4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H </a:t>
              </a:r>
              <a:r>
                <a:rPr lang="en-US" altLang="zh-CN" sz="2400" i="1">
                  <a:latin typeface="ISOCPEUR" pitchFamily="34" charset="0"/>
                </a:rPr>
                <a:t> </a:t>
              </a:r>
            </a:p>
          </p:txBody>
        </p:sp>
        <p:sp>
          <p:nvSpPr>
            <p:cNvPr id="15442" name="Line 70"/>
            <p:cNvSpPr>
              <a:spLocks noChangeShapeType="1"/>
            </p:cNvSpPr>
            <p:nvPr/>
          </p:nvSpPr>
          <p:spPr bwMode="auto">
            <a:xfrm>
              <a:off x="4436" y="2828"/>
              <a:ext cx="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0119" name="Text Box 71"/>
          <p:cNvSpPr txBox="1">
            <a:spLocks noChangeArrowheads="1"/>
          </p:cNvSpPr>
          <p:nvPr/>
        </p:nvSpPr>
        <p:spPr bwMode="auto">
          <a:xfrm>
            <a:off x="6223000" y="4378325"/>
            <a:ext cx="267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不平行</a:t>
            </a:r>
          </a:p>
        </p:txBody>
      </p:sp>
      <p:grpSp>
        <p:nvGrpSpPr>
          <p:cNvPr id="7" name="Group 72"/>
          <p:cNvGrpSpPr>
            <a:grpSpLocks/>
          </p:cNvGrpSpPr>
          <p:nvPr/>
        </p:nvGrpSpPr>
        <p:grpSpPr bwMode="auto">
          <a:xfrm>
            <a:off x="420688" y="1489075"/>
            <a:ext cx="2001837" cy="898525"/>
            <a:chOff x="344" y="1966"/>
            <a:chExt cx="1261" cy="566"/>
          </a:xfrm>
        </p:grpSpPr>
        <p:sp>
          <p:nvSpPr>
            <p:cNvPr id="15432" name="Text Box 73"/>
            <p:cNvSpPr txBox="1">
              <a:spLocks noChangeArrowheads="1"/>
            </p:cNvSpPr>
            <p:nvPr/>
          </p:nvSpPr>
          <p:spPr bwMode="auto">
            <a:xfrm>
              <a:off x="344" y="2282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33" name="Text Box 74"/>
            <p:cNvSpPr txBox="1">
              <a:spLocks noChangeArrowheads="1"/>
            </p:cNvSpPr>
            <p:nvPr/>
          </p:nvSpPr>
          <p:spPr bwMode="auto">
            <a:xfrm>
              <a:off x="721" y="2008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34" name="Text Box 75"/>
            <p:cNvSpPr txBox="1">
              <a:spLocks noChangeArrowheads="1"/>
            </p:cNvSpPr>
            <p:nvPr/>
          </p:nvSpPr>
          <p:spPr bwMode="auto">
            <a:xfrm>
              <a:off x="853" y="2248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35" name="Text Box 76"/>
            <p:cNvSpPr txBox="1">
              <a:spLocks noChangeArrowheads="1"/>
            </p:cNvSpPr>
            <p:nvPr/>
          </p:nvSpPr>
          <p:spPr bwMode="auto">
            <a:xfrm>
              <a:off x="1243" y="1966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36" name="Line 77"/>
            <p:cNvSpPr>
              <a:spLocks noChangeShapeType="1"/>
            </p:cNvSpPr>
            <p:nvPr/>
          </p:nvSpPr>
          <p:spPr bwMode="auto">
            <a:xfrm flipV="1">
              <a:off x="575" y="2199"/>
              <a:ext cx="36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7" name="Line 78"/>
            <p:cNvSpPr>
              <a:spLocks noChangeShapeType="1"/>
            </p:cNvSpPr>
            <p:nvPr/>
          </p:nvSpPr>
          <p:spPr bwMode="auto">
            <a:xfrm flipV="1">
              <a:off x="1055" y="2175"/>
              <a:ext cx="360" cy="276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79"/>
          <p:cNvGrpSpPr>
            <a:grpSpLocks/>
          </p:cNvGrpSpPr>
          <p:nvPr/>
        </p:nvGrpSpPr>
        <p:grpSpPr bwMode="auto">
          <a:xfrm>
            <a:off x="2921000" y="1541463"/>
            <a:ext cx="1820863" cy="898525"/>
            <a:chOff x="1926" y="1999"/>
            <a:chExt cx="1147" cy="566"/>
          </a:xfrm>
        </p:grpSpPr>
        <p:sp>
          <p:nvSpPr>
            <p:cNvPr id="15426" name="Text Box 80"/>
            <p:cNvSpPr txBox="1">
              <a:spLocks noChangeArrowheads="1"/>
            </p:cNvSpPr>
            <p:nvPr/>
          </p:nvSpPr>
          <p:spPr bwMode="auto">
            <a:xfrm>
              <a:off x="1926" y="2315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27" name="Text Box 81"/>
            <p:cNvSpPr txBox="1">
              <a:spLocks noChangeArrowheads="1"/>
            </p:cNvSpPr>
            <p:nvPr/>
          </p:nvSpPr>
          <p:spPr bwMode="auto">
            <a:xfrm>
              <a:off x="2303" y="2041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28" name="Text Box 82"/>
            <p:cNvSpPr txBox="1">
              <a:spLocks noChangeArrowheads="1"/>
            </p:cNvSpPr>
            <p:nvPr/>
          </p:nvSpPr>
          <p:spPr bwMode="auto">
            <a:xfrm>
              <a:off x="2321" y="2281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29" name="Text Box 83"/>
            <p:cNvSpPr txBox="1">
              <a:spLocks noChangeArrowheads="1"/>
            </p:cNvSpPr>
            <p:nvPr/>
          </p:nvSpPr>
          <p:spPr bwMode="auto">
            <a:xfrm>
              <a:off x="2711" y="1999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30" name="Line 84"/>
            <p:cNvSpPr>
              <a:spLocks noChangeShapeType="1"/>
            </p:cNvSpPr>
            <p:nvPr/>
          </p:nvSpPr>
          <p:spPr bwMode="auto">
            <a:xfrm flipV="1">
              <a:off x="2172" y="2232"/>
              <a:ext cx="36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1" name="Line 85"/>
            <p:cNvSpPr>
              <a:spLocks noChangeShapeType="1"/>
            </p:cNvSpPr>
            <p:nvPr/>
          </p:nvSpPr>
          <p:spPr bwMode="auto">
            <a:xfrm flipV="1">
              <a:off x="2524" y="2208"/>
              <a:ext cx="368" cy="28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86"/>
          <p:cNvGrpSpPr>
            <a:grpSpLocks/>
          </p:cNvGrpSpPr>
          <p:nvPr/>
        </p:nvGrpSpPr>
        <p:grpSpPr bwMode="auto">
          <a:xfrm>
            <a:off x="5472113" y="1436688"/>
            <a:ext cx="1036637" cy="1377950"/>
            <a:chOff x="3524" y="1933"/>
            <a:chExt cx="653" cy="868"/>
          </a:xfrm>
        </p:grpSpPr>
        <p:sp>
          <p:nvSpPr>
            <p:cNvPr id="15420" name="Line 87"/>
            <p:cNvSpPr>
              <a:spLocks noChangeShapeType="1"/>
            </p:cNvSpPr>
            <p:nvPr/>
          </p:nvSpPr>
          <p:spPr bwMode="auto">
            <a:xfrm>
              <a:off x="3852" y="2058"/>
              <a:ext cx="0" cy="5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1" name="Line 88"/>
            <p:cNvSpPr>
              <a:spLocks noChangeShapeType="1"/>
            </p:cNvSpPr>
            <p:nvPr/>
          </p:nvSpPr>
          <p:spPr bwMode="auto">
            <a:xfrm>
              <a:off x="4104" y="2244"/>
              <a:ext cx="0" cy="40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2" name="Text Box 89"/>
            <p:cNvSpPr txBox="1">
              <a:spLocks noChangeArrowheads="1"/>
            </p:cNvSpPr>
            <p:nvPr/>
          </p:nvSpPr>
          <p:spPr bwMode="auto">
            <a:xfrm>
              <a:off x="3524" y="1933"/>
              <a:ext cx="4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23" name="Text Box 90"/>
            <p:cNvSpPr txBox="1">
              <a:spLocks noChangeArrowheads="1"/>
            </p:cNvSpPr>
            <p:nvPr/>
          </p:nvSpPr>
          <p:spPr bwMode="auto">
            <a:xfrm>
              <a:off x="3534" y="2413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24" name="Text Box 91"/>
            <p:cNvSpPr txBox="1">
              <a:spLocks noChangeArrowheads="1"/>
            </p:cNvSpPr>
            <p:nvPr/>
          </p:nvSpPr>
          <p:spPr bwMode="auto">
            <a:xfrm>
              <a:off x="3822" y="2107"/>
              <a:ext cx="3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25" name="Text Box 92"/>
            <p:cNvSpPr txBox="1">
              <a:spLocks noChangeArrowheads="1"/>
            </p:cNvSpPr>
            <p:nvPr/>
          </p:nvSpPr>
          <p:spPr bwMode="auto">
            <a:xfrm>
              <a:off x="3744" y="2551"/>
              <a:ext cx="4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>
                <a:latin typeface="ISOCPEUR" pitchFamily="34" charset="0"/>
              </a:endParaRPr>
            </a:p>
          </p:txBody>
        </p:sp>
      </p:grpSp>
      <p:sp>
        <p:nvSpPr>
          <p:cNvPr id="130145" name="Text Box 97"/>
          <p:cNvSpPr txBox="1">
            <a:spLocks noChangeArrowheads="1"/>
          </p:cNvSpPr>
          <p:nvPr/>
        </p:nvSpPr>
        <p:spPr bwMode="auto">
          <a:xfrm>
            <a:off x="203200" y="5392738"/>
            <a:ext cx="87709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注意：对一般位置直线，根据任意两对同名投影可判断是否平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  行。对某些投影面平行线，则要根据第三个同名投影。</a:t>
            </a:r>
          </a:p>
        </p:txBody>
      </p:sp>
    </p:spTree>
    <p:extLst>
      <p:ext uri="{BB962C8B-B14F-4D97-AF65-F5344CB8AC3E}">
        <p14:creationId xmlns:p14="http://schemas.microsoft.com/office/powerpoint/2010/main" val="329690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3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3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3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3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3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30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3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3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3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3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3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30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3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3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3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3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3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30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3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3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3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30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30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3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3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13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13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30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13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130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4" dur="500"/>
                                        <p:tgtEl>
                                          <p:spTgt spid="130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13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4" dur="500"/>
                                        <p:tgtEl>
                                          <p:spTgt spid="13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animBg="1" autoUpdateAnimBg="0"/>
      <p:bldP spid="130054" grpId="0" animBg="1"/>
      <p:bldP spid="130068" grpId="0" animBg="1"/>
      <p:bldP spid="130069" grpId="0" animBg="1"/>
      <p:bldP spid="130070" grpId="0" animBg="1"/>
      <p:bldP spid="130071" grpId="0" animBg="1"/>
      <p:bldP spid="130072" grpId="0" animBg="1"/>
      <p:bldP spid="130073" grpId="0" animBg="1"/>
      <p:bldP spid="130074" grpId="0" autoUpdateAnimBg="0"/>
      <p:bldP spid="130075" grpId="0" autoUpdateAnimBg="0"/>
      <p:bldP spid="130076" grpId="0" autoUpdateAnimBg="0"/>
      <p:bldP spid="130077" grpId="0" autoUpdateAnimBg="0"/>
      <p:bldP spid="130078" grpId="0" animBg="1"/>
      <p:bldP spid="130079" grpId="0" animBg="1"/>
      <p:bldP spid="130080" grpId="0" animBg="1"/>
      <p:bldP spid="130081" grpId="0" animBg="1"/>
      <p:bldP spid="130082" grpId="0" animBg="1"/>
      <p:bldP spid="130083" grpId="0" autoUpdateAnimBg="0"/>
      <p:bldP spid="130084" grpId="0" autoUpdateAnimBg="0"/>
      <p:bldP spid="130085" grpId="0" autoUpdateAnimBg="0"/>
      <p:bldP spid="130086" grpId="0" animBg="1"/>
      <p:bldP spid="130087" grpId="0" animBg="1"/>
      <p:bldP spid="130088" grpId="0" animBg="1"/>
      <p:bldP spid="130089" grpId="0" animBg="1"/>
      <p:bldP spid="130090" grpId="0" autoUpdateAnimBg="0"/>
      <p:bldP spid="130091" grpId="0" autoUpdateAnimBg="0"/>
      <p:bldP spid="130092" grpId="0" autoUpdateAnimBg="0"/>
      <p:bldP spid="130093" grpId="0" autoUpdateAnimBg="0"/>
      <p:bldP spid="130094" grpId="0" animBg="1"/>
      <p:bldP spid="130095" grpId="0" animBg="1"/>
      <p:bldP spid="130096" grpId="0" animBg="1"/>
      <p:bldP spid="130097" grpId="0" animBg="1"/>
      <p:bldP spid="130098" grpId="0" animBg="1"/>
      <p:bldP spid="130099" grpId="0" animBg="1"/>
      <p:bldP spid="130100" grpId="0" animBg="1"/>
      <p:bldP spid="130101" grpId="0" animBg="1"/>
      <p:bldP spid="130102" grpId="0" animBg="1"/>
      <p:bldP spid="130103" grpId="0" animBg="1"/>
      <p:bldP spid="130104" grpId="0" animBg="1"/>
      <p:bldP spid="130105" grpId="0" animBg="1"/>
      <p:bldP spid="130106" grpId="0" animBg="1"/>
      <p:bldP spid="130107" grpId="0" autoUpdateAnimBg="0"/>
      <p:bldP spid="130108" grpId="0" autoUpdateAnimBg="0"/>
      <p:bldP spid="130109" grpId="0" autoUpdateAnimBg="0"/>
      <p:bldP spid="130110" grpId="0" autoUpdateAnimBg="0"/>
      <p:bldP spid="130111" grpId="0"/>
      <p:bldP spid="130112" grpId="0"/>
      <p:bldP spid="130119" grpId="0"/>
      <p:bldP spid="130145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528AB2BA-6E1D-49A7-B14D-D0E32764667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49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31088" name="Text Box 16"/>
          <p:cNvSpPr txBox="1">
            <a:spLocks noChangeArrowheads="1"/>
          </p:cNvSpPr>
          <p:nvPr/>
        </p:nvSpPr>
        <p:spPr bwMode="auto">
          <a:xfrm>
            <a:off x="314325" y="5305425"/>
            <a:ext cx="8561388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几何条件：两相交直线各同名投影均相交，且交点符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合点的投影规律，即两直线只有一个公有点。</a:t>
            </a:r>
          </a:p>
        </p:txBody>
      </p:sp>
      <p:sp>
        <p:nvSpPr>
          <p:cNvPr id="131131" name="Rectangle 59"/>
          <p:cNvSpPr>
            <a:spLocks noChangeArrowheads="1"/>
          </p:cNvSpPr>
          <p:nvPr/>
        </p:nvSpPr>
        <p:spPr bwMode="auto">
          <a:xfrm>
            <a:off x="984250" y="1239838"/>
            <a:ext cx="2876550" cy="2208212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6389" name="Text Box 60"/>
          <p:cNvSpPr txBox="1">
            <a:spLocks noChangeArrowheads="1"/>
          </p:cNvSpPr>
          <p:nvPr/>
        </p:nvSpPr>
        <p:spPr bwMode="auto">
          <a:xfrm>
            <a:off x="431800" y="298450"/>
            <a:ext cx="33829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⒉ 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两直线相交</a:t>
            </a:r>
            <a:endParaRPr lang="zh-CN" altLang="en-US"/>
          </a:p>
        </p:txBody>
      </p:sp>
      <p:sp>
        <p:nvSpPr>
          <p:cNvPr id="131134" name="AutoShape 62"/>
          <p:cNvSpPr>
            <a:spLocks noChangeArrowheads="1"/>
          </p:cNvSpPr>
          <p:nvPr/>
        </p:nvSpPr>
        <p:spPr bwMode="auto">
          <a:xfrm flipH="1">
            <a:off x="984250" y="3438525"/>
            <a:ext cx="4216400" cy="1363663"/>
          </a:xfrm>
          <a:prstGeom prst="parallelogram">
            <a:avLst>
              <a:gd name="adj" fmla="val 99516"/>
            </a:avLst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31135" name="Line 63"/>
          <p:cNvSpPr>
            <a:spLocks noChangeShapeType="1"/>
          </p:cNvSpPr>
          <p:nvPr/>
        </p:nvSpPr>
        <p:spPr bwMode="auto">
          <a:xfrm flipV="1">
            <a:off x="2157413" y="3846513"/>
            <a:ext cx="1335087" cy="2936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36" name="Line 64"/>
          <p:cNvSpPr>
            <a:spLocks noChangeShapeType="1"/>
          </p:cNvSpPr>
          <p:nvPr/>
        </p:nvSpPr>
        <p:spPr bwMode="auto">
          <a:xfrm>
            <a:off x="1992313" y="3835400"/>
            <a:ext cx="2005012" cy="2571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37" name="Line 65"/>
          <p:cNvSpPr>
            <a:spLocks noChangeShapeType="1"/>
          </p:cNvSpPr>
          <p:nvPr/>
        </p:nvSpPr>
        <p:spPr bwMode="auto">
          <a:xfrm flipV="1">
            <a:off x="2016125" y="2346325"/>
            <a:ext cx="1981200" cy="48101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38" name="Line 66"/>
          <p:cNvSpPr>
            <a:spLocks noChangeShapeType="1"/>
          </p:cNvSpPr>
          <p:nvPr/>
        </p:nvSpPr>
        <p:spPr bwMode="auto">
          <a:xfrm>
            <a:off x="2144713" y="2381250"/>
            <a:ext cx="1336675" cy="3762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39" name="Line 67"/>
          <p:cNvSpPr>
            <a:spLocks noChangeShapeType="1"/>
          </p:cNvSpPr>
          <p:nvPr/>
        </p:nvSpPr>
        <p:spPr bwMode="auto">
          <a:xfrm>
            <a:off x="1430338" y="1677988"/>
            <a:ext cx="1639887" cy="6683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0" name="Line 68"/>
          <p:cNvSpPr>
            <a:spLocks noChangeShapeType="1"/>
          </p:cNvSpPr>
          <p:nvPr/>
        </p:nvSpPr>
        <p:spPr bwMode="auto">
          <a:xfrm flipV="1">
            <a:off x="1595438" y="1689100"/>
            <a:ext cx="1733550" cy="7159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1" name="Line 69"/>
          <p:cNvSpPr>
            <a:spLocks noChangeShapeType="1"/>
          </p:cNvSpPr>
          <p:nvPr/>
        </p:nvSpPr>
        <p:spPr bwMode="auto">
          <a:xfrm>
            <a:off x="2401888" y="2065338"/>
            <a:ext cx="541337" cy="539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2" name="Line 70"/>
          <p:cNvSpPr>
            <a:spLocks noChangeShapeType="1"/>
          </p:cNvSpPr>
          <p:nvPr/>
        </p:nvSpPr>
        <p:spPr bwMode="auto">
          <a:xfrm>
            <a:off x="3070225" y="2333625"/>
            <a:ext cx="387350" cy="387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3" name="Line 71"/>
          <p:cNvSpPr>
            <a:spLocks noChangeShapeType="1"/>
          </p:cNvSpPr>
          <p:nvPr/>
        </p:nvSpPr>
        <p:spPr bwMode="auto">
          <a:xfrm>
            <a:off x="3340100" y="3436938"/>
            <a:ext cx="247650" cy="246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4" name="Line 72"/>
          <p:cNvSpPr>
            <a:spLocks noChangeShapeType="1"/>
          </p:cNvSpPr>
          <p:nvPr/>
        </p:nvSpPr>
        <p:spPr bwMode="auto">
          <a:xfrm>
            <a:off x="3751263" y="3857625"/>
            <a:ext cx="246062" cy="247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5" name="Line 73"/>
          <p:cNvSpPr>
            <a:spLocks noChangeShapeType="1"/>
          </p:cNvSpPr>
          <p:nvPr/>
        </p:nvSpPr>
        <p:spPr bwMode="auto">
          <a:xfrm>
            <a:off x="3340100" y="1701800"/>
            <a:ext cx="0" cy="1735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6" name="Line 74"/>
          <p:cNvSpPr>
            <a:spLocks noChangeShapeType="1"/>
          </p:cNvSpPr>
          <p:nvPr/>
        </p:nvSpPr>
        <p:spPr bwMode="auto">
          <a:xfrm>
            <a:off x="3997325" y="2357438"/>
            <a:ext cx="0" cy="17351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7" name="Line 75"/>
          <p:cNvSpPr>
            <a:spLocks noChangeShapeType="1"/>
          </p:cNvSpPr>
          <p:nvPr/>
        </p:nvSpPr>
        <p:spPr bwMode="auto">
          <a:xfrm>
            <a:off x="3492500" y="2757488"/>
            <a:ext cx="0" cy="10779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8" name="Line 76"/>
          <p:cNvSpPr>
            <a:spLocks noChangeShapeType="1"/>
          </p:cNvSpPr>
          <p:nvPr/>
        </p:nvSpPr>
        <p:spPr bwMode="auto">
          <a:xfrm>
            <a:off x="3070225" y="3436938"/>
            <a:ext cx="400050" cy="398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9" name="Line 77"/>
          <p:cNvSpPr>
            <a:spLocks noChangeShapeType="1"/>
          </p:cNvSpPr>
          <p:nvPr/>
        </p:nvSpPr>
        <p:spPr bwMode="auto">
          <a:xfrm>
            <a:off x="3070225" y="2322513"/>
            <a:ext cx="0" cy="11255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0" name="Line 78"/>
          <p:cNvSpPr>
            <a:spLocks noChangeShapeType="1"/>
          </p:cNvSpPr>
          <p:nvPr/>
        </p:nvSpPr>
        <p:spPr bwMode="auto">
          <a:xfrm>
            <a:off x="2965450" y="2616200"/>
            <a:ext cx="0" cy="1336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1" name="Line 79"/>
          <p:cNvSpPr>
            <a:spLocks noChangeShapeType="1"/>
          </p:cNvSpPr>
          <p:nvPr/>
        </p:nvSpPr>
        <p:spPr bwMode="auto">
          <a:xfrm>
            <a:off x="1454150" y="1677988"/>
            <a:ext cx="703263" cy="703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2" name="Line 80"/>
          <p:cNvSpPr>
            <a:spLocks noChangeShapeType="1"/>
          </p:cNvSpPr>
          <p:nvPr/>
        </p:nvSpPr>
        <p:spPr bwMode="auto">
          <a:xfrm>
            <a:off x="2157413" y="2370138"/>
            <a:ext cx="0" cy="1193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3" name="Line 81"/>
          <p:cNvSpPr>
            <a:spLocks noChangeShapeType="1"/>
          </p:cNvSpPr>
          <p:nvPr/>
        </p:nvSpPr>
        <p:spPr bwMode="auto">
          <a:xfrm>
            <a:off x="2157413" y="3811588"/>
            <a:ext cx="0" cy="3286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4" name="Line 82"/>
          <p:cNvSpPr>
            <a:spLocks noChangeShapeType="1"/>
          </p:cNvSpPr>
          <p:nvPr/>
        </p:nvSpPr>
        <p:spPr bwMode="auto">
          <a:xfrm>
            <a:off x="2016125" y="2827338"/>
            <a:ext cx="0" cy="1008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5" name="Line 83"/>
          <p:cNvSpPr>
            <a:spLocks noChangeShapeType="1"/>
          </p:cNvSpPr>
          <p:nvPr/>
        </p:nvSpPr>
        <p:spPr bwMode="auto">
          <a:xfrm>
            <a:off x="1595438" y="2392363"/>
            <a:ext cx="422275" cy="4238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6" name="Line 84"/>
          <p:cNvSpPr>
            <a:spLocks noChangeShapeType="1"/>
          </p:cNvSpPr>
          <p:nvPr/>
        </p:nvSpPr>
        <p:spPr bwMode="auto">
          <a:xfrm>
            <a:off x="1595438" y="3436938"/>
            <a:ext cx="409575" cy="409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7" name="Line 85"/>
          <p:cNvSpPr>
            <a:spLocks noChangeShapeType="1"/>
          </p:cNvSpPr>
          <p:nvPr/>
        </p:nvSpPr>
        <p:spPr bwMode="auto">
          <a:xfrm>
            <a:off x="1604963" y="2392363"/>
            <a:ext cx="0" cy="1044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8" name="Line 86"/>
          <p:cNvSpPr>
            <a:spLocks noChangeShapeType="1"/>
          </p:cNvSpPr>
          <p:nvPr/>
        </p:nvSpPr>
        <p:spPr bwMode="auto">
          <a:xfrm>
            <a:off x="1441450" y="3425825"/>
            <a:ext cx="703263" cy="7032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9" name="Line 87"/>
          <p:cNvSpPr>
            <a:spLocks noChangeShapeType="1"/>
          </p:cNvSpPr>
          <p:nvPr/>
        </p:nvSpPr>
        <p:spPr bwMode="auto">
          <a:xfrm>
            <a:off x="1454150" y="1677988"/>
            <a:ext cx="0" cy="1770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60" name="Rectangle 88"/>
          <p:cNvSpPr>
            <a:spLocks noChangeArrowheads="1"/>
          </p:cNvSpPr>
          <p:nvPr/>
        </p:nvSpPr>
        <p:spPr bwMode="auto">
          <a:xfrm>
            <a:off x="1514475" y="1958975"/>
            <a:ext cx="2270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a</a:t>
            </a:r>
            <a:r>
              <a:rPr lang="en-US" altLang="zh-CN" sz="2400" b="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61" name="Rectangle 89"/>
          <p:cNvSpPr>
            <a:spLocks noChangeArrowheads="1"/>
          </p:cNvSpPr>
          <p:nvPr/>
        </p:nvSpPr>
        <p:spPr bwMode="auto">
          <a:xfrm>
            <a:off x="1317625" y="1343025"/>
            <a:ext cx="2111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c</a:t>
            </a:r>
            <a:r>
              <a:rPr lang="en-US" altLang="zh-CN" sz="2400" i="1">
                <a:solidFill>
                  <a:srgbClr val="000000"/>
                </a:solidFill>
                <a:sym typeface="Symbol" pitchFamily="18" charset="2"/>
              </a:rPr>
              <a:t></a:t>
            </a:r>
            <a:endParaRPr lang="en-US" altLang="zh-CN" sz="2400" i="1">
              <a:solidFill>
                <a:srgbClr val="000000"/>
              </a:solidFill>
              <a:sym typeface="CommercialPi BT" pitchFamily="18" charset="2"/>
            </a:endParaRPr>
          </a:p>
        </p:txBody>
      </p:sp>
      <p:sp>
        <p:nvSpPr>
          <p:cNvPr id="131162" name="Rectangle 90"/>
          <p:cNvSpPr>
            <a:spLocks noChangeArrowheads="1"/>
          </p:cNvSpPr>
          <p:nvPr/>
        </p:nvSpPr>
        <p:spPr bwMode="auto">
          <a:xfrm>
            <a:off x="1041400" y="1438275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宋体" charset="-122"/>
              </a:rPr>
              <a:t>V</a:t>
            </a:r>
            <a:endParaRPr lang="en-US" altLang="zh-CN" sz="2400" i="1">
              <a:solidFill>
                <a:srgbClr val="FF3300"/>
              </a:solidFill>
            </a:endParaRPr>
          </a:p>
        </p:txBody>
      </p:sp>
      <p:sp>
        <p:nvSpPr>
          <p:cNvPr id="131163" name="Rectangle 91"/>
          <p:cNvSpPr>
            <a:spLocks noChangeArrowheads="1"/>
          </p:cNvSpPr>
          <p:nvPr/>
        </p:nvSpPr>
        <p:spPr bwMode="auto">
          <a:xfrm>
            <a:off x="765175" y="3259138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宋体" charset="-122"/>
              </a:rPr>
              <a:t>X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64" name="Rectangle 92"/>
          <p:cNvSpPr>
            <a:spLocks noChangeArrowheads="1"/>
          </p:cNvSpPr>
          <p:nvPr/>
        </p:nvSpPr>
        <p:spPr bwMode="auto">
          <a:xfrm>
            <a:off x="3217863" y="1281113"/>
            <a:ext cx="228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b</a:t>
            </a:r>
            <a:r>
              <a:rPr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lang="en-US" altLang="zh-CN" sz="240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131165" name="Rectangle 93"/>
          <p:cNvSpPr>
            <a:spLocks noChangeArrowheads="1"/>
          </p:cNvSpPr>
          <p:nvPr/>
        </p:nvSpPr>
        <p:spPr bwMode="auto">
          <a:xfrm>
            <a:off x="4678363" y="4406900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宋体" charset="-122"/>
              </a:rPr>
              <a:t>H</a:t>
            </a:r>
            <a:endParaRPr lang="en-US" altLang="zh-CN" sz="2400" i="1">
              <a:solidFill>
                <a:srgbClr val="FF3300"/>
              </a:solidFill>
            </a:endParaRPr>
          </a:p>
        </p:txBody>
      </p:sp>
      <p:sp>
        <p:nvSpPr>
          <p:cNvPr id="131166" name="Rectangle 94"/>
          <p:cNvSpPr>
            <a:spLocks noChangeArrowheads="1"/>
          </p:cNvSpPr>
          <p:nvPr/>
        </p:nvSpPr>
        <p:spPr bwMode="auto">
          <a:xfrm>
            <a:off x="3568700" y="2471738"/>
            <a:ext cx="2190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Dutch801 Rm BT" pitchFamily="18" charset="0"/>
              </a:rPr>
              <a:t>D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67" name="Rectangle 95"/>
          <p:cNvSpPr>
            <a:spLocks noChangeArrowheads="1"/>
          </p:cNvSpPr>
          <p:nvPr/>
        </p:nvSpPr>
        <p:spPr bwMode="auto">
          <a:xfrm>
            <a:off x="2051050" y="348615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a</a:t>
            </a:r>
            <a:endParaRPr lang="en-US" altLang="zh-CN" sz="2400" b="0">
              <a:solidFill>
                <a:srgbClr val="FF3300"/>
              </a:solidFill>
            </a:endParaRPr>
          </a:p>
        </p:txBody>
      </p:sp>
      <p:sp>
        <p:nvSpPr>
          <p:cNvPr id="131168" name="Rectangle 96"/>
          <p:cNvSpPr>
            <a:spLocks noChangeArrowheads="1"/>
          </p:cNvSpPr>
          <p:nvPr/>
        </p:nvSpPr>
        <p:spPr bwMode="auto">
          <a:xfrm>
            <a:off x="2143125" y="4029075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c</a:t>
            </a:r>
            <a:endParaRPr lang="en-US" altLang="zh-CN" sz="2400" b="0">
              <a:solidFill>
                <a:srgbClr val="FF3300"/>
              </a:solidFill>
            </a:endParaRPr>
          </a:p>
        </p:txBody>
      </p:sp>
      <p:sp>
        <p:nvSpPr>
          <p:cNvPr id="131169" name="Rectangle 97"/>
          <p:cNvSpPr>
            <a:spLocks noChangeArrowheads="1"/>
          </p:cNvSpPr>
          <p:nvPr/>
        </p:nvSpPr>
        <p:spPr bwMode="auto">
          <a:xfrm>
            <a:off x="3563938" y="3617913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d</a:t>
            </a:r>
            <a:endParaRPr lang="en-US" altLang="zh-CN" sz="2400" b="0">
              <a:solidFill>
                <a:srgbClr val="FF3300"/>
              </a:solidFill>
            </a:endParaRPr>
          </a:p>
        </p:txBody>
      </p:sp>
      <p:sp>
        <p:nvSpPr>
          <p:cNvPr id="131170" name="Rectangle 98"/>
          <p:cNvSpPr>
            <a:spLocks noChangeArrowheads="1"/>
          </p:cNvSpPr>
          <p:nvPr/>
        </p:nvSpPr>
        <p:spPr bwMode="auto">
          <a:xfrm>
            <a:off x="2921000" y="39370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k</a:t>
            </a:r>
            <a:endParaRPr lang="en-US" altLang="zh-CN" sz="2400" b="0">
              <a:solidFill>
                <a:srgbClr val="FF3300"/>
              </a:solidFill>
            </a:endParaRPr>
          </a:p>
        </p:txBody>
      </p:sp>
      <p:sp>
        <p:nvSpPr>
          <p:cNvPr id="131171" name="Rectangle 99"/>
          <p:cNvSpPr>
            <a:spLocks noChangeArrowheads="1"/>
          </p:cNvSpPr>
          <p:nvPr/>
        </p:nvSpPr>
        <p:spPr bwMode="auto">
          <a:xfrm>
            <a:off x="1895475" y="2330450"/>
            <a:ext cx="2000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Dutch801 Rm BT" pitchFamily="18" charset="0"/>
              </a:rPr>
              <a:t>C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72" name="Rectangle 100"/>
          <p:cNvSpPr>
            <a:spLocks noChangeArrowheads="1"/>
          </p:cNvSpPr>
          <p:nvPr/>
        </p:nvSpPr>
        <p:spPr bwMode="auto">
          <a:xfrm>
            <a:off x="1798638" y="2711450"/>
            <a:ext cx="1905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Dutch801 Rm BT" pitchFamily="18" charset="0"/>
              </a:rPr>
              <a:t>A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73" name="Rectangle 101"/>
          <p:cNvSpPr>
            <a:spLocks noChangeArrowheads="1"/>
          </p:cNvSpPr>
          <p:nvPr/>
        </p:nvSpPr>
        <p:spPr bwMode="auto">
          <a:xfrm>
            <a:off x="2365375" y="1627188"/>
            <a:ext cx="2270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k</a:t>
            </a:r>
            <a:r>
              <a:rPr lang="en-US" altLang="zh-CN" sz="2400" b="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lang="en-US" altLang="zh-CN" sz="2400" b="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131174" name="Rectangle 102"/>
          <p:cNvSpPr>
            <a:spLocks noChangeArrowheads="1"/>
          </p:cNvSpPr>
          <p:nvPr/>
        </p:nvSpPr>
        <p:spPr bwMode="auto">
          <a:xfrm>
            <a:off x="2722563" y="2590800"/>
            <a:ext cx="193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Dutch801 Rm BT" pitchFamily="18" charset="0"/>
              </a:rPr>
              <a:t>K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75" name="Rectangle 103"/>
          <p:cNvSpPr>
            <a:spLocks noChangeArrowheads="1"/>
          </p:cNvSpPr>
          <p:nvPr/>
        </p:nvSpPr>
        <p:spPr bwMode="auto">
          <a:xfrm>
            <a:off x="3011488" y="1968500"/>
            <a:ext cx="228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d</a:t>
            </a:r>
            <a:r>
              <a:rPr lang="en-US" altLang="zh-CN" sz="2400" i="1">
                <a:solidFill>
                  <a:srgbClr val="000000"/>
                </a:solidFill>
                <a:sym typeface="Symbol" pitchFamily="18" charset="2"/>
              </a:rPr>
              <a:t></a:t>
            </a:r>
            <a:endParaRPr lang="en-US" altLang="zh-CN" sz="2400" b="0">
              <a:solidFill>
                <a:srgbClr val="FF3300"/>
              </a:solidFill>
            </a:endParaRPr>
          </a:p>
        </p:txBody>
      </p:sp>
      <p:sp>
        <p:nvSpPr>
          <p:cNvPr id="131176" name="Rectangle 104"/>
          <p:cNvSpPr>
            <a:spLocks noChangeArrowheads="1"/>
          </p:cNvSpPr>
          <p:nvPr/>
        </p:nvSpPr>
        <p:spPr bwMode="auto">
          <a:xfrm>
            <a:off x="4113213" y="3946525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b</a:t>
            </a:r>
            <a:endParaRPr lang="en-US" altLang="zh-CN" sz="2400" b="0">
              <a:solidFill>
                <a:srgbClr val="FF3300"/>
              </a:solidFill>
            </a:endParaRPr>
          </a:p>
        </p:txBody>
      </p:sp>
      <p:sp>
        <p:nvSpPr>
          <p:cNvPr id="131177" name="Rectangle 105"/>
          <p:cNvSpPr>
            <a:spLocks noChangeArrowheads="1"/>
          </p:cNvSpPr>
          <p:nvPr/>
        </p:nvSpPr>
        <p:spPr bwMode="auto">
          <a:xfrm>
            <a:off x="3668713" y="3116263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宋体" charset="-122"/>
              </a:rPr>
              <a:t>O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78" name="Rectangle 106"/>
          <p:cNvSpPr>
            <a:spLocks noChangeArrowheads="1"/>
          </p:cNvSpPr>
          <p:nvPr/>
        </p:nvSpPr>
        <p:spPr bwMode="auto">
          <a:xfrm>
            <a:off x="4044950" y="2224088"/>
            <a:ext cx="1952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Dutch801 Rm BT" pitchFamily="18" charset="0"/>
              </a:rPr>
              <a:t>B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79" name="Line 107"/>
          <p:cNvSpPr>
            <a:spLocks noChangeShapeType="1"/>
          </p:cNvSpPr>
          <p:nvPr/>
        </p:nvSpPr>
        <p:spPr bwMode="auto">
          <a:xfrm flipH="1" flipV="1">
            <a:off x="3319463" y="1695450"/>
            <a:ext cx="663575" cy="663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08"/>
          <p:cNvGrpSpPr>
            <a:grpSpLocks/>
          </p:cNvGrpSpPr>
          <p:nvPr/>
        </p:nvGrpSpPr>
        <p:grpSpPr bwMode="auto">
          <a:xfrm>
            <a:off x="5740400" y="1552575"/>
            <a:ext cx="2582863" cy="3265488"/>
            <a:chOff x="3690" y="968"/>
            <a:chExt cx="1627" cy="2057"/>
          </a:xfrm>
        </p:grpSpPr>
        <p:sp>
          <p:nvSpPr>
            <p:cNvPr id="16437" name="Text Box 109"/>
            <p:cNvSpPr txBox="1">
              <a:spLocks noChangeArrowheads="1"/>
            </p:cNvSpPr>
            <p:nvPr/>
          </p:nvSpPr>
          <p:spPr bwMode="auto">
            <a:xfrm>
              <a:off x="3945" y="2737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c</a:t>
              </a:r>
              <a:endParaRPr lang="en-US" altLang="zh-CN" sz="2400"/>
            </a:p>
          </p:txBody>
        </p:sp>
        <p:sp>
          <p:nvSpPr>
            <p:cNvPr id="16438" name="Line 110"/>
            <p:cNvSpPr>
              <a:spLocks noChangeShapeType="1"/>
            </p:cNvSpPr>
            <p:nvPr/>
          </p:nvSpPr>
          <p:spPr bwMode="auto">
            <a:xfrm flipV="1">
              <a:off x="5077" y="1141"/>
              <a:ext cx="0" cy="17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39" name="Line 111"/>
            <p:cNvSpPr>
              <a:spLocks noChangeShapeType="1"/>
            </p:cNvSpPr>
            <p:nvPr/>
          </p:nvSpPr>
          <p:spPr bwMode="auto">
            <a:xfrm>
              <a:off x="4433" y="1510"/>
              <a:ext cx="0" cy="1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0" name="Line 112"/>
            <p:cNvSpPr>
              <a:spLocks noChangeShapeType="1"/>
            </p:cNvSpPr>
            <p:nvPr/>
          </p:nvSpPr>
          <p:spPr bwMode="auto">
            <a:xfrm>
              <a:off x="4112" y="2663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1" name="Line 113"/>
            <p:cNvSpPr>
              <a:spLocks noChangeShapeType="1"/>
            </p:cNvSpPr>
            <p:nvPr/>
          </p:nvSpPr>
          <p:spPr bwMode="auto">
            <a:xfrm>
              <a:off x="3694" y="2102"/>
              <a:ext cx="157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2" name="Line 114"/>
            <p:cNvSpPr>
              <a:spLocks noChangeShapeType="1"/>
            </p:cNvSpPr>
            <p:nvPr/>
          </p:nvSpPr>
          <p:spPr bwMode="auto">
            <a:xfrm flipV="1">
              <a:off x="3880" y="1123"/>
              <a:ext cx="1197" cy="69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3" name="Line 115"/>
            <p:cNvSpPr>
              <a:spLocks noChangeShapeType="1"/>
            </p:cNvSpPr>
            <p:nvPr/>
          </p:nvSpPr>
          <p:spPr bwMode="auto">
            <a:xfrm>
              <a:off x="4112" y="1328"/>
              <a:ext cx="745" cy="43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4" name="Line 116"/>
            <p:cNvSpPr>
              <a:spLocks noChangeShapeType="1"/>
            </p:cNvSpPr>
            <p:nvPr/>
          </p:nvSpPr>
          <p:spPr bwMode="auto">
            <a:xfrm>
              <a:off x="4112" y="1348"/>
              <a:ext cx="0" cy="153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5" name="Line 117"/>
            <p:cNvSpPr>
              <a:spLocks noChangeShapeType="1"/>
            </p:cNvSpPr>
            <p:nvPr/>
          </p:nvSpPr>
          <p:spPr bwMode="auto">
            <a:xfrm>
              <a:off x="4857" y="1758"/>
              <a:ext cx="0" cy="75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6" name="Line 118"/>
            <p:cNvSpPr>
              <a:spLocks noChangeShapeType="1"/>
            </p:cNvSpPr>
            <p:nvPr/>
          </p:nvSpPr>
          <p:spPr bwMode="auto">
            <a:xfrm flipH="1">
              <a:off x="4112" y="2515"/>
              <a:ext cx="745" cy="352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7" name="Line 119"/>
            <p:cNvSpPr>
              <a:spLocks noChangeShapeType="1"/>
            </p:cNvSpPr>
            <p:nvPr/>
          </p:nvSpPr>
          <p:spPr bwMode="auto">
            <a:xfrm>
              <a:off x="3880" y="1814"/>
              <a:ext cx="0" cy="77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8" name="Line 120"/>
            <p:cNvSpPr>
              <a:spLocks noChangeShapeType="1"/>
            </p:cNvSpPr>
            <p:nvPr/>
          </p:nvSpPr>
          <p:spPr bwMode="auto">
            <a:xfrm>
              <a:off x="3880" y="2592"/>
              <a:ext cx="1197" cy="27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9" name="Text Box 121"/>
            <p:cNvSpPr txBox="1">
              <a:spLocks noChangeArrowheads="1"/>
            </p:cNvSpPr>
            <p:nvPr/>
          </p:nvSpPr>
          <p:spPr bwMode="auto">
            <a:xfrm>
              <a:off x="3690" y="2417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a</a:t>
              </a:r>
              <a:endParaRPr lang="en-US" altLang="zh-CN" sz="2400"/>
            </a:p>
          </p:txBody>
        </p:sp>
        <p:sp>
          <p:nvSpPr>
            <p:cNvPr id="16450" name="Text Box 122"/>
            <p:cNvSpPr txBox="1">
              <a:spLocks noChangeArrowheads="1"/>
            </p:cNvSpPr>
            <p:nvPr/>
          </p:nvSpPr>
          <p:spPr bwMode="auto">
            <a:xfrm>
              <a:off x="5069" y="273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b</a:t>
              </a:r>
              <a:endParaRPr lang="en-US" altLang="zh-CN" sz="2400"/>
            </a:p>
          </p:txBody>
        </p:sp>
        <p:sp>
          <p:nvSpPr>
            <p:cNvPr id="16451" name="Text Box 123"/>
            <p:cNvSpPr txBox="1">
              <a:spLocks noChangeArrowheads="1"/>
            </p:cNvSpPr>
            <p:nvPr/>
          </p:nvSpPr>
          <p:spPr bwMode="auto">
            <a:xfrm>
              <a:off x="4855" y="237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d</a:t>
              </a:r>
              <a:endParaRPr lang="en-US" altLang="zh-CN" sz="2400"/>
            </a:p>
          </p:txBody>
        </p:sp>
        <p:sp>
          <p:nvSpPr>
            <p:cNvPr id="16452" name="Text Box 124"/>
            <p:cNvSpPr txBox="1">
              <a:spLocks noChangeArrowheads="1"/>
            </p:cNvSpPr>
            <p:nvPr/>
          </p:nvSpPr>
          <p:spPr bwMode="auto">
            <a:xfrm>
              <a:off x="5009" y="96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i="1">
                  <a:latin typeface="Dutch801 Rm BT" pitchFamily="18" charset="0"/>
                </a:rPr>
                <a:t> </a:t>
              </a:r>
              <a:r>
                <a:rPr lang="en-US" altLang="zh-CN" sz="2400" i="1"/>
                <a:t>b</a:t>
              </a:r>
              <a:r>
                <a:rPr lang="en-US" altLang="zh-CN" sz="2400">
                  <a:sym typeface="Symbol" pitchFamily="18" charset="2"/>
                </a:rPr>
                <a:t></a:t>
              </a:r>
            </a:p>
          </p:txBody>
        </p:sp>
        <p:sp>
          <p:nvSpPr>
            <p:cNvPr id="16453" name="Text Box 125"/>
            <p:cNvSpPr txBox="1">
              <a:spLocks noChangeArrowheads="1"/>
            </p:cNvSpPr>
            <p:nvPr/>
          </p:nvSpPr>
          <p:spPr bwMode="auto">
            <a:xfrm>
              <a:off x="3695" y="1581"/>
              <a:ext cx="2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ym typeface="EuroRoman" pitchFamily="2" charset="2"/>
                </a:rPr>
                <a:t>a</a:t>
              </a:r>
              <a:r>
                <a:rPr lang="en-US" altLang="zh-CN" sz="2400">
                  <a:sym typeface="Symbol" pitchFamily="18" charset="2"/>
                </a:rPr>
                <a:t></a:t>
              </a:r>
            </a:p>
          </p:txBody>
        </p:sp>
        <p:sp>
          <p:nvSpPr>
            <p:cNvPr id="16454" name="Text Box 126"/>
            <p:cNvSpPr txBox="1">
              <a:spLocks noChangeArrowheads="1"/>
            </p:cNvSpPr>
            <p:nvPr/>
          </p:nvSpPr>
          <p:spPr bwMode="auto">
            <a:xfrm>
              <a:off x="3939" y="1151"/>
              <a:ext cx="2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ym typeface="EuroRoman" pitchFamily="2" charset="2"/>
                </a:rPr>
                <a:t>c</a:t>
              </a:r>
              <a:r>
                <a:rPr lang="en-US" altLang="zh-CN" sz="2400">
                  <a:sym typeface="Symbol" pitchFamily="18" charset="2"/>
                </a:rPr>
                <a:t></a:t>
              </a:r>
            </a:p>
          </p:txBody>
        </p:sp>
        <p:sp>
          <p:nvSpPr>
            <p:cNvPr id="16455" name="Text Box 127"/>
            <p:cNvSpPr txBox="1">
              <a:spLocks noChangeArrowheads="1"/>
            </p:cNvSpPr>
            <p:nvPr/>
          </p:nvSpPr>
          <p:spPr bwMode="auto">
            <a:xfrm>
              <a:off x="4793" y="1508"/>
              <a:ext cx="3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ym typeface="EuroRoman" pitchFamily="2" charset="2"/>
                </a:rPr>
                <a:t>d</a:t>
              </a:r>
              <a:r>
                <a:rPr lang="en-US" altLang="zh-CN" sz="2400">
                  <a:sym typeface="Symbol" pitchFamily="18" charset="2"/>
                </a:rPr>
                <a:t></a:t>
              </a:r>
            </a:p>
          </p:txBody>
        </p:sp>
        <p:sp>
          <p:nvSpPr>
            <p:cNvPr id="16456" name="Text Box 128"/>
            <p:cNvSpPr txBox="1">
              <a:spLocks noChangeArrowheads="1"/>
            </p:cNvSpPr>
            <p:nvPr/>
          </p:nvSpPr>
          <p:spPr bwMode="auto">
            <a:xfrm>
              <a:off x="4356" y="271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k</a:t>
              </a:r>
              <a:endParaRPr lang="en-US" altLang="zh-CN" sz="2400"/>
            </a:p>
          </p:txBody>
        </p:sp>
        <p:sp>
          <p:nvSpPr>
            <p:cNvPr id="16457" name="Text Box 129"/>
            <p:cNvSpPr txBox="1">
              <a:spLocks noChangeArrowheads="1"/>
            </p:cNvSpPr>
            <p:nvPr/>
          </p:nvSpPr>
          <p:spPr bwMode="auto">
            <a:xfrm>
              <a:off x="4328" y="1228"/>
              <a:ext cx="2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ym typeface="EuroRoman" pitchFamily="2" charset="2"/>
                </a:rPr>
                <a:t>k</a:t>
              </a:r>
              <a:r>
                <a:rPr lang="en-US" altLang="zh-CN" sz="2400">
                  <a:sym typeface="Symbol" pitchFamily="18" charset="2"/>
                </a:rPr>
                <a:t>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459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3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3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3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3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3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3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3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3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3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3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3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3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3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3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3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3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3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3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3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3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13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3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13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13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13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13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13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13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13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8" grpId="0"/>
      <p:bldP spid="131131" grpId="0" animBg="1"/>
      <p:bldP spid="131134" grpId="0" animBg="1"/>
      <p:bldP spid="131135" grpId="0" animBg="1"/>
      <p:bldP spid="131136" grpId="0" animBg="1"/>
      <p:bldP spid="131137" grpId="0" animBg="1"/>
      <p:bldP spid="131138" grpId="0" animBg="1"/>
      <p:bldP spid="131139" grpId="0" animBg="1"/>
      <p:bldP spid="131140" grpId="0" animBg="1"/>
      <p:bldP spid="131141" grpId="0" animBg="1"/>
      <p:bldP spid="131142" grpId="0" animBg="1"/>
      <p:bldP spid="131143" grpId="0" animBg="1"/>
      <p:bldP spid="131144" grpId="0" animBg="1"/>
      <p:bldP spid="131145" grpId="0" animBg="1"/>
      <p:bldP spid="131146" grpId="0" animBg="1"/>
      <p:bldP spid="131147" grpId="0" animBg="1"/>
      <p:bldP spid="131148" grpId="0" animBg="1"/>
      <p:bldP spid="131149" grpId="0" animBg="1"/>
      <p:bldP spid="131150" grpId="0" animBg="1"/>
      <p:bldP spid="131151" grpId="0" animBg="1"/>
      <p:bldP spid="131152" grpId="0" animBg="1"/>
      <p:bldP spid="131153" grpId="0" animBg="1"/>
      <p:bldP spid="131154" grpId="0" animBg="1"/>
      <p:bldP spid="131155" grpId="0" animBg="1"/>
      <p:bldP spid="131156" grpId="0" animBg="1"/>
      <p:bldP spid="131157" grpId="0" animBg="1"/>
      <p:bldP spid="131158" grpId="0" animBg="1"/>
      <p:bldP spid="131159" grpId="0" animBg="1"/>
      <p:bldP spid="131160" grpId="0"/>
      <p:bldP spid="131161" grpId="0"/>
      <p:bldP spid="131162" grpId="0"/>
      <p:bldP spid="131163" grpId="0"/>
      <p:bldP spid="131164" grpId="0"/>
      <p:bldP spid="131165" grpId="0"/>
      <p:bldP spid="131166" grpId="0"/>
      <p:bldP spid="131167" grpId="0"/>
      <p:bldP spid="131168" grpId="0"/>
      <p:bldP spid="131169" grpId="0"/>
      <p:bldP spid="131170" grpId="0"/>
      <p:bldP spid="131171" grpId="0"/>
      <p:bldP spid="131172" grpId="0"/>
      <p:bldP spid="131173" grpId="0"/>
      <p:bldP spid="131174" grpId="0"/>
      <p:bldP spid="131175" grpId="0"/>
      <p:bldP spid="131176" grpId="0"/>
      <p:bldP spid="131177" grpId="0"/>
      <p:bldP spid="131178" grpId="0"/>
      <p:bldP spid="13117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8327296B-8714-4520-9E73-2120AFD6AC21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50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68350" y="782638"/>
            <a:ext cx="2141538" cy="1231900"/>
            <a:chOff x="584" y="1615"/>
            <a:chExt cx="1349" cy="776"/>
          </a:xfrm>
        </p:grpSpPr>
        <p:sp>
          <p:nvSpPr>
            <p:cNvPr id="17463" name="Line 3"/>
            <p:cNvSpPr>
              <a:spLocks noChangeShapeType="1"/>
            </p:cNvSpPr>
            <p:nvPr/>
          </p:nvSpPr>
          <p:spPr bwMode="auto">
            <a:xfrm flipV="1">
              <a:off x="840" y="1872"/>
              <a:ext cx="894" cy="4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64" name="Line 4"/>
            <p:cNvSpPr>
              <a:spLocks noChangeShapeType="1"/>
            </p:cNvSpPr>
            <p:nvPr/>
          </p:nvSpPr>
          <p:spPr bwMode="auto">
            <a:xfrm>
              <a:off x="948" y="1848"/>
              <a:ext cx="624" cy="384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65" name="Text Box 5"/>
            <p:cNvSpPr txBox="1">
              <a:spLocks noChangeArrowheads="1"/>
            </p:cNvSpPr>
            <p:nvPr/>
          </p:nvSpPr>
          <p:spPr bwMode="auto">
            <a:xfrm>
              <a:off x="584" y="2141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7466" name="Text Box 6"/>
            <p:cNvSpPr txBox="1">
              <a:spLocks noChangeArrowheads="1"/>
            </p:cNvSpPr>
            <p:nvPr/>
          </p:nvSpPr>
          <p:spPr bwMode="auto">
            <a:xfrm>
              <a:off x="1577" y="1643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7467" name="Text Box 7"/>
            <p:cNvSpPr txBox="1">
              <a:spLocks noChangeArrowheads="1"/>
            </p:cNvSpPr>
            <p:nvPr/>
          </p:nvSpPr>
          <p:spPr bwMode="auto">
            <a:xfrm>
              <a:off x="785" y="1615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7468" name="Text Box 8"/>
            <p:cNvSpPr txBox="1">
              <a:spLocks noChangeArrowheads="1"/>
            </p:cNvSpPr>
            <p:nvPr/>
          </p:nvSpPr>
          <p:spPr bwMode="auto">
            <a:xfrm>
              <a:off x="1487" y="2089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>
                <a:latin typeface="ISOCPEUR" pitchFamily="34" charset="0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730750" y="801688"/>
            <a:ext cx="2141538" cy="1231900"/>
            <a:chOff x="3080" y="1627"/>
            <a:chExt cx="1349" cy="776"/>
          </a:xfrm>
        </p:grpSpPr>
        <p:sp>
          <p:nvSpPr>
            <p:cNvPr id="17457" name="Line 10"/>
            <p:cNvSpPr>
              <a:spLocks noChangeShapeType="1"/>
            </p:cNvSpPr>
            <p:nvPr/>
          </p:nvSpPr>
          <p:spPr bwMode="auto">
            <a:xfrm flipV="1">
              <a:off x="3336" y="1884"/>
              <a:ext cx="894" cy="4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58" name="Line 11"/>
            <p:cNvSpPr>
              <a:spLocks noChangeShapeType="1"/>
            </p:cNvSpPr>
            <p:nvPr/>
          </p:nvSpPr>
          <p:spPr bwMode="auto">
            <a:xfrm>
              <a:off x="3444" y="1860"/>
              <a:ext cx="624" cy="384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59" name="Text Box 12"/>
            <p:cNvSpPr txBox="1">
              <a:spLocks noChangeArrowheads="1"/>
            </p:cNvSpPr>
            <p:nvPr/>
          </p:nvSpPr>
          <p:spPr bwMode="auto">
            <a:xfrm>
              <a:off x="3080" y="2153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7460" name="Text Box 13"/>
            <p:cNvSpPr txBox="1">
              <a:spLocks noChangeArrowheads="1"/>
            </p:cNvSpPr>
            <p:nvPr/>
          </p:nvSpPr>
          <p:spPr bwMode="auto">
            <a:xfrm>
              <a:off x="4073" y="1655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7461" name="Text Box 14"/>
            <p:cNvSpPr txBox="1">
              <a:spLocks noChangeArrowheads="1"/>
            </p:cNvSpPr>
            <p:nvPr/>
          </p:nvSpPr>
          <p:spPr bwMode="auto">
            <a:xfrm>
              <a:off x="3281" y="1627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7462" name="Text Box 15"/>
            <p:cNvSpPr txBox="1">
              <a:spLocks noChangeArrowheads="1"/>
            </p:cNvSpPr>
            <p:nvPr/>
          </p:nvSpPr>
          <p:spPr bwMode="auto">
            <a:xfrm>
              <a:off x="3983" y="2101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>
                <a:latin typeface="ISOCPEUR" pitchFamily="34" charset="0"/>
              </a:endParaRP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603250" y="1863725"/>
            <a:ext cx="2598738" cy="458788"/>
            <a:chOff x="183" y="2563"/>
            <a:chExt cx="1637" cy="289"/>
          </a:xfrm>
        </p:grpSpPr>
        <p:sp>
          <p:nvSpPr>
            <p:cNvPr id="17454" name="Text Box 18"/>
            <p:cNvSpPr txBox="1">
              <a:spLocks noChangeArrowheads="1"/>
            </p:cNvSpPr>
            <p:nvPr/>
          </p:nvSpPr>
          <p:spPr bwMode="auto">
            <a:xfrm>
              <a:off x="183" y="256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7455" name="Text Box 19"/>
            <p:cNvSpPr txBox="1">
              <a:spLocks noChangeArrowheads="1"/>
            </p:cNvSpPr>
            <p:nvPr/>
          </p:nvSpPr>
          <p:spPr bwMode="auto">
            <a:xfrm>
              <a:off x="1524" y="2563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7456" name="Line 20"/>
            <p:cNvSpPr>
              <a:spLocks noChangeShapeType="1"/>
            </p:cNvSpPr>
            <p:nvPr/>
          </p:nvSpPr>
          <p:spPr bwMode="auto">
            <a:xfrm>
              <a:off x="400" y="2824"/>
              <a:ext cx="1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4527550" y="1863725"/>
            <a:ext cx="2598738" cy="458788"/>
            <a:chOff x="183" y="2563"/>
            <a:chExt cx="1637" cy="289"/>
          </a:xfrm>
        </p:grpSpPr>
        <p:sp>
          <p:nvSpPr>
            <p:cNvPr id="17451" name="Text Box 22"/>
            <p:cNvSpPr txBox="1">
              <a:spLocks noChangeArrowheads="1"/>
            </p:cNvSpPr>
            <p:nvPr/>
          </p:nvSpPr>
          <p:spPr bwMode="auto">
            <a:xfrm>
              <a:off x="183" y="256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7452" name="Text Box 23"/>
            <p:cNvSpPr txBox="1">
              <a:spLocks noChangeArrowheads="1"/>
            </p:cNvSpPr>
            <p:nvPr/>
          </p:nvSpPr>
          <p:spPr bwMode="auto">
            <a:xfrm>
              <a:off x="1524" y="2563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7453" name="Line 24"/>
            <p:cNvSpPr>
              <a:spLocks noChangeShapeType="1"/>
            </p:cNvSpPr>
            <p:nvPr/>
          </p:nvSpPr>
          <p:spPr bwMode="auto">
            <a:xfrm>
              <a:off x="400" y="2824"/>
              <a:ext cx="1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6457" name="Line 25"/>
          <p:cNvSpPr>
            <a:spLocks noChangeShapeType="1"/>
          </p:cNvSpPr>
          <p:nvPr/>
        </p:nvSpPr>
        <p:spPr bwMode="auto">
          <a:xfrm>
            <a:off x="1169988" y="1916113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58" name="Line 26"/>
          <p:cNvSpPr>
            <a:spLocks noChangeShapeType="1"/>
          </p:cNvSpPr>
          <p:nvPr/>
        </p:nvSpPr>
        <p:spPr bwMode="auto">
          <a:xfrm>
            <a:off x="2586038" y="1185863"/>
            <a:ext cx="0" cy="1187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59" name="Line 27"/>
          <p:cNvSpPr>
            <a:spLocks noChangeShapeType="1"/>
          </p:cNvSpPr>
          <p:nvPr/>
        </p:nvSpPr>
        <p:spPr bwMode="auto">
          <a:xfrm>
            <a:off x="1335088" y="1147763"/>
            <a:ext cx="0" cy="174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60" name="Line 28"/>
          <p:cNvSpPr>
            <a:spLocks noChangeShapeType="1"/>
          </p:cNvSpPr>
          <p:nvPr/>
        </p:nvSpPr>
        <p:spPr bwMode="auto">
          <a:xfrm>
            <a:off x="2325688" y="1751013"/>
            <a:ext cx="0" cy="142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61" name="Line 29"/>
          <p:cNvSpPr>
            <a:spLocks noChangeShapeType="1"/>
          </p:cNvSpPr>
          <p:nvPr/>
        </p:nvSpPr>
        <p:spPr bwMode="auto">
          <a:xfrm>
            <a:off x="1938338" y="1516063"/>
            <a:ext cx="0" cy="155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62" name="Line 30"/>
          <p:cNvSpPr>
            <a:spLocks noChangeShapeType="1"/>
          </p:cNvSpPr>
          <p:nvPr/>
        </p:nvSpPr>
        <p:spPr bwMode="auto">
          <a:xfrm flipV="1">
            <a:off x="1169988" y="2366963"/>
            <a:ext cx="1416050" cy="920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6463" name="Line 31"/>
          <p:cNvSpPr>
            <a:spLocks noChangeShapeType="1"/>
          </p:cNvSpPr>
          <p:nvPr/>
        </p:nvSpPr>
        <p:spPr bwMode="auto">
          <a:xfrm>
            <a:off x="1335088" y="2894013"/>
            <a:ext cx="990600" cy="2921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6464" name="Text Box 32"/>
          <p:cNvSpPr txBox="1">
            <a:spLocks noChangeArrowheads="1"/>
          </p:cNvSpPr>
          <p:nvPr/>
        </p:nvSpPr>
        <p:spPr bwMode="auto">
          <a:xfrm>
            <a:off x="931863" y="314960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46465" name="Text Box 33"/>
          <p:cNvSpPr txBox="1">
            <a:spLocks noChangeArrowheads="1"/>
          </p:cNvSpPr>
          <p:nvPr/>
        </p:nvSpPr>
        <p:spPr bwMode="auto">
          <a:xfrm>
            <a:off x="2541588" y="225425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b</a:t>
            </a:r>
          </a:p>
        </p:txBody>
      </p:sp>
      <p:sp>
        <p:nvSpPr>
          <p:cNvPr id="146466" name="Text Box 34"/>
          <p:cNvSpPr txBox="1">
            <a:spLocks noChangeArrowheads="1"/>
          </p:cNvSpPr>
          <p:nvPr/>
        </p:nvSpPr>
        <p:spPr bwMode="auto">
          <a:xfrm>
            <a:off x="1292225" y="2540000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46467" name="Text Box 35"/>
          <p:cNvSpPr txBox="1">
            <a:spLocks noChangeArrowheads="1"/>
          </p:cNvSpPr>
          <p:nvPr/>
        </p:nvSpPr>
        <p:spPr bwMode="auto">
          <a:xfrm>
            <a:off x="2138363" y="3035300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</a:t>
            </a:r>
          </a:p>
        </p:txBody>
      </p:sp>
      <p:sp>
        <p:nvSpPr>
          <p:cNvPr id="146468" name="Line 36"/>
          <p:cNvSpPr>
            <a:spLocks noChangeShapeType="1"/>
          </p:cNvSpPr>
          <p:nvPr/>
        </p:nvSpPr>
        <p:spPr bwMode="auto">
          <a:xfrm>
            <a:off x="5132388" y="1935163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69" name="Line 37"/>
          <p:cNvSpPr>
            <a:spLocks noChangeShapeType="1"/>
          </p:cNvSpPr>
          <p:nvPr/>
        </p:nvSpPr>
        <p:spPr bwMode="auto">
          <a:xfrm>
            <a:off x="6548438" y="1204913"/>
            <a:ext cx="0" cy="168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70" name="Line 38"/>
          <p:cNvSpPr>
            <a:spLocks noChangeShapeType="1"/>
          </p:cNvSpPr>
          <p:nvPr/>
        </p:nvSpPr>
        <p:spPr bwMode="auto">
          <a:xfrm>
            <a:off x="5297488" y="1166813"/>
            <a:ext cx="0" cy="174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71" name="Line 39"/>
          <p:cNvSpPr>
            <a:spLocks noChangeShapeType="1"/>
          </p:cNvSpPr>
          <p:nvPr/>
        </p:nvSpPr>
        <p:spPr bwMode="auto">
          <a:xfrm>
            <a:off x="6288088" y="1770063"/>
            <a:ext cx="0" cy="142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72" name="Line 40"/>
          <p:cNvSpPr>
            <a:spLocks noChangeShapeType="1"/>
          </p:cNvSpPr>
          <p:nvPr/>
        </p:nvSpPr>
        <p:spPr bwMode="auto">
          <a:xfrm>
            <a:off x="5900738" y="1535113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73" name="Line 41"/>
          <p:cNvSpPr>
            <a:spLocks noChangeShapeType="1"/>
          </p:cNvSpPr>
          <p:nvPr/>
        </p:nvSpPr>
        <p:spPr bwMode="auto">
          <a:xfrm>
            <a:off x="5307013" y="2894013"/>
            <a:ext cx="990600" cy="2921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6474" name="Line 42"/>
          <p:cNvSpPr>
            <a:spLocks noChangeShapeType="1"/>
          </p:cNvSpPr>
          <p:nvPr/>
        </p:nvSpPr>
        <p:spPr bwMode="auto">
          <a:xfrm flipV="1">
            <a:off x="5132388" y="2881313"/>
            <a:ext cx="1419225" cy="419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75" name="Text Box 43"/>
          <p:cNvSpPr txBox="1">
            <a:spLocks noChangeArrowheads="1"/>
          </p:cNvSpPr>
          <p:nvPr/>
        </p:nvSpPr>
        <p:spPr bwMode="auto">
          <a:xfrm>
            <a:off x="1081088" y="4119563"/>
            <a:ext cx="7694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不相交</a:t>
            </a:r>
          </a:p>
        </p:txBody>
      </p:sp>
      <p:sp>
        <p:nvSpPr>
          <p:cNvPr id="146476" name="Text Box 44"/>
          <p:cNvSpPr txBox="1">
            <a:spLocks noChangeArrowheads="1"/>
          </p:cNvSpPr>
          <p:nvPr/>
        </p:nvSpPr>
        <p:spPr bwMode="auto">
          <a:xfrm>
            <a:off x="5434013" y="4102100"/>
            <a:ext cx="3417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相交</a:t>
            </a:r>
          </a:p>
        </p:txBody>
      </p:sp>
      <p:sp>
        <p:nvSpPr>
          <p:cNvPr id="146477" name="Text Box 45"/>
          <p:cNvSpPr txBox="1">
            <a:spLocks noChangeArrowheads="1"/>
          </p:cNvSpPr>
          <p:nvPr/>
        </p:nvSpPr>
        <p:spPr bwMode="auto">
          <a:xfrm>
            <a:off x="5580063" y="1073150"/>
            <a:ext cx="706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46478" name="Text Box 46"/>
          <p:cNvSpPr txBox="1">
            <a:spLocks noChangeArrowheads="1"/>
          </p:cNvSpPr>
          <p:nvPr/>
        </p:nvSpPr>
        <p:spPr bwMode="auto">
          <a:xfrm>
            <a:off x="5749925" y="3073400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endParaRPr lang="en-US" altLang="zh-CN" sz="2000">
              <a:latin typeface="ISOCPEUR" pitchFamily="34" charset="0"/>
            </a:endParaRPr>
          </a:p>
        </p:txBody>
      </p:sp>
      <p:sp>
        <p:nvSpPr>
          <p:cNvPr id="146479" name="Text Box 47"/>
          <p:cNvSpPr txBox="1">
            <a:spLocks noChangeArrowheads="1"/>
          </p:cNvSpPr>
          <p:nvPr/>
        </p:nvSpPr>
        <p:spPr bwMode="auto">
          <a:xfrm>
            <a:off x="4884738" y="314960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46480" name="Text Box 48"/>
          <p:cNvSpPr txBox="1">
            <a:spLocks noChangeArrowheads="1"/>
          </p:cNvSpPr>
          <p:nvPr/>
        </p:nvSpPr>
        <p:spPr bwMode="auto">
          <a:xfrm>
            <a:off x="6523038" y="2625725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b</a:t>
            </a:r>
          </a:p>
        </p:txBody>
      </p:sp>
      <p:sp>
        <p:nvSpPr>
          <p:cNvPr id="146481" name="Text Box 49"/>
          <p:cNvSpPr txBox="1">
            <a:spLocks noChangeArrowheads="1"/>
          </p:cNvSpPr>
          <p:nvPr/>
        </p:nvSpPr>
        <p:spPr bwMode="auto">
          <a:xfrm>
            <a:off x="5245100" y="2540000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46482" name="Text Box 50"/>
          <p:cNvSpPr txBox="1">
            <a:spLocks noChangeArrowheads="1"/>
          </p:cNvSpPr>
          <p:nvPr/>
        </p:nvSpPr>
        <p:spPr bwMode="auto">
          <a:xfrm>
            <a:off x="6091238" y="3035300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</a:t>
            </a:r>
          </a:p>
        </p:txBody>
      </p:sp>
      <p:sp>
        <p:nvSpPr>
          <p:cNvPr id="146483" name="Text Box 51"/>
          <p:cNvSpPr txBox="1">
            <a:spLocks noChangeArrowheads="1"/>
          </p:cNvSpPr>
          <p:nvPr/>
        </p:nvSpPr>
        <p:spPr bwMode="auto">
          <a:xfrm>
            <a:off x="1674813" y="1111250"/>
            <a:ext cx="592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  <a:endParaRPr lang="en-US" altLang="zh-CN" sz="2000">
              <a:latin typeface="ISOCPEUR" pitchFamily="34" charset="0"/>
            </a:endParaRPr>
          </a:p>
        </p:txBody>
      </p:sp>
      <p:sp>
        <p:nvSpPr>
          <p:cNvPr id="146484" name="Text Box 52"/>
          <p:cNvSpPr txBox="1">
            <a:spLocks noChangeArrowheads="1"/>
          </p:cNvSpPr>
          <p:nvPr/>
        </p:nvSpPr>
        <p:spPr bwMode="auto">
          <a:xfrm>
            <a:off x="1423988" y="2406650"/>
            <a:ext cx="627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r>
              <a:rPr lang="en-US" altLang="zh-CN" sz="2000" i="1" baseline="-25000">
                <a:latin typeface="ISOCPEUR" pitchFamily="34" charset="0"/>
              </a:rPr>
              <a:t>1</a:t>
            </a:r>
            <a:endParaRPr lang="en-US" altLang="zh-CN" sz="2000" i="1">
              <a:latin typeface="ISOCPEUR" pitchFamily="34" charset="0"/>
            </a:endParaRPr>
          </a:p>
        </p:txBody>
      </p:sp>
      <p:sp>
        <p:nvSpPr>
          <p:cNvPr id="146485" name="Text Box 53"/>
          <p:cNvSpPr txBox="1">
            <a:spLocks noChangeArrowheads="1"/>
          </p:cNvSpPr>
          <p:nvPr/>
        </p:nvSpPr>
        <p:spPr bwMode="auto">
          <a:xfrm>
            <a:off x="1381125" y="2987675"/>
            <a:ext cx="779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r>
              <a:rPr lang="en-US" altLang="zh-CN" sz="2000" i="1" baseline="-25000">
                <a:latin typeface="ISOCPEUR" pitchFamily="34" charset="0"/>
              </a:rPr>
              <a:t>2</a:t>
            </a:r>
            <a:endParaRPr lang="en-US" altLang="zh-CN" sz="2000" i="1">
              <a:latin typeface="ISOCPEUR" pitchFamily="34" charset="0"/>
            </a:endParaRPr>
          </a:p>
        </p:txBody>
      </p:sp>
      <p:sp>
        <p:nvSpPr>
          <p:cNvPr id="146486" name="AutoShape 54"/>
          <p:cNvSpPr>
            <a:spLocks noChangeArrowheads="1"/>
          </p:cNvSpPr>
          <p:nvPr/>
        </p:nvSpPr>
        <p:spPr bwMode="auto">
          <a:xfrm>
            <a:off x="5865813" y="149066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46487" name="AutoShape 55"/>
          <p:cNvSpPr>
            <a:spLocks noChangeArrowheads="1"/>
          </p:cNvSpPr>
          <p:nvPr/>
        </p:nvSpPr>
        <p:spPr bwMode="auto">
          <a:xfrm>
            <a:off x="5865813" y="303371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46488" name="AutoShape 56"/>
          <p:cNvSpPr>
            <a:spLocks noChangeArrowheads="1"/>
          </p:cNvSpPr>
          <p:nvPr/>
        </p:nvSpPr>
        <p:spPr bwMode="auto">
          <a:xfrm>
            <a:off x="1893888" y="149066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46489" name="AutoShape 57"/>
          <p:cNvSpPr>
            <a:spLocks noChangeArrowheads="1"/>
          </p:cNvSpPr>
          <p:nvPr/>
        </p:nvSpPr>
        <p:spPr bwMode="auto">
          <a:xfrm>
            <a:off x="1903413" y="275748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46490" name="AutoShape 58"/>
          <p:cNvSpPr>
            <a:spLocks noChangeArrowheads="1"/>
          </p:cNvSpPr>
          <p:nvPr/>
        </p:nvSpPr>
        <p:spPr bwMode="auto">
          <a:xfrm>
            <a:off x="1903413" y="303371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46491" name="Text Box 59"/>
          <p:cNvSpPr txBox="1">
            <a:spLocks noChangeArrowheads="1"/>
          </p:cNvSpPr>
          <p:nvPr/>
        </p:nvSpPr>
        <p:spPr bwMode="auto">
          <a:xfrm>
            <a:off x="336550" y="4840288"/>
            <a:ext cx="3795713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两同名投影交点不符合一点的投影规律。</a:t>
            </a:r>
          </a:p>
        </p:txBody>
      </p:sp>
      <p:sp>
        <p:nvSpPr>
          <p:cNvPr id="146492" name="Text Box 60"/>
          <p:cNvSpPr txBox="1">
            <a:spLocks noChangeArrowheads="1"/>
          </p:cNvSpPr>
          <p:nvPr/>
        </p:nvSpPr>
        <p:spPr bwMode="auto">
          <a:xfrm>
            <a:off x="4398963" y="4846638"/>
            <a:ext cx="379571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两同名投影交点符合一点的投影规律。</a:t>
            </a:r>
          </a:p>
        </p:txBody>
      </p:sp>
    </p:spTree>
    <p:extLst>
      <p:ext uri="{BB962C8B-B14F-4D97-AF65-F5344CB8AC3E}">
        <p14:creationId xmlns:p14="http://schemas.microsoft.com/office/powerpoint/2010/main" val="60449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6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6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6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46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4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4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4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4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4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4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4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46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46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46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4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46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4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46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4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46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46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4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46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46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4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46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4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14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146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146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46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46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57" grpId="0" animBg="1"/>
      <p:bldP spid="146458" grpId="0" animBg="1"/>
      <p:bldP spid="146459" grpId="0" animBg="1"/>
      <p:bldP spid="146460" grpId="0" animBg="1"/>
      <p:bldP spid="146461" grpId="0" animBg="1"/>
      <p:bldP spid="146462" grpId="0" animBg="1"/>
      <p:bldP spid="146463" grpId="0" animBg="1"/>
      <p:bldP spid="146464" grpId="0" autoUpdateAnimBg="0"/>
      <p:bldP spid="146465" grpId="0" autoUpdateAnimBg="0"/>
      <p:bldP spid="146466" grpId="0" autoUpdateAnimBg="0"/>
      <p:bldP spid="146467" grpId="0" autoUpdateAnimBg="0"/>
      <p:bldP spid="146468" grpId="0" animBg="1"/>
      <p:bldP spid="146469" grpId="0" animBg="1"/>
      <p:bldP spid="146470" grpId="0" animBg="1"/>
      <p:bldP spid="146471" grpId="0" animBg="1"/>
      <p:bldP spid="146472" grpId="0" animBg="1"/>
      <p:bldP spid="146473" grpId="0" animBg="1"/>
      <p:bldP spid="146474" grpId="0" animBg="1"/>
      <p:bldP spid="146475" grpId="0"/>
      <p:bldP spid="146476" grpId="0"/>
      <p:bldP spid="146477" grpId="0" autoUpdateAnimBg="0"/>
      <p:bldP spid="146478" grpId="0" autoUpdateAnimBg="0"/>
      <p:bldP spid="146479" grpId="0" autoUpdateAnimBg="0"/>
      <p:bldP spid="146480" grpId="0" autoUpdateAnimBg="0"/>
      <p:bldP spid="146481" grpId="0" autoUpdateAnimBg="0"/>
      <p:bldP spid="146482" grpId="0" autoUpdateAnimBg="0"/>
      <p:bldP spid="146483" grpId="0" autoUpdateAnimBg="0"/>
      <p:bldP spid="146484" grpId="0" autoUpdateAnimBg="0"/>
      <p:bldP spid="146485" grpId="0" autoUpdateAnimBg="0"/>
      <p:bldP spid="146486" grpId="0" animBg="1"/>
      <p:bldP spid="146487" grpId="0" animBg="1"/>
      <p:bldP spid="146488" grpId="0" animBg="1"/>
      <p:bldP spid="146489" grpId="0" animBg="1"/>
      <p:bldP spid="146490" grpId="0" animBg="1"/>
      <p:bldP spid="146491" grpId="0"/>
      <p:bldP spid="14649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75D15BD-E36D-4FDA-8B26-C7B8A5F34F60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51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8435" name="Text Box 58"/>
          <p:cNvSpPr txBox="1">
            <a:spLocks noChangeArrowheads="1"/>
          </p:cNvSpPr>
          <p:nvPr/>
        </p:nvSpPr>
        <p:spPr bwMode="auto">
          <a:xfrm>
            <a:off x="620713" y="214313"/>
            <a:ext cx="63071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例：判断直线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AB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CD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的相对位置。</a:t>
            </a:r>
          </a:p>
        </p:txBody>
      </p:sp>
      <p:grpSp>
        <p:nvGrpSpPr>
          <p:cNvPr id="18436" name="Group 59"/>
          <p:cNvGrpSpPr>
            <a:grpSpLocks/>
          </p:cNvGrpSpPr>
          <p:nvPr/>
        </p:nvGrpSpPr>
        <p:grpSpPr bwMode="auto">
          <a:xfrm>
            <a:off x="1200150" y="1104900"/>
            <a:ext cx="4076700" cy="4610100"/>
            <a:chOff x="756" y="696"/>
            <a:chExt cx="2568" cy="2904"/>
          </a:xfrm>
        </p:grpSpPr>
        <p:sp>
          <p:nvSpPr>
            <p:cNvPr id="18444" name="Text Box 60"/>
            <p:cNvSpPr txBox="1">
              <a:spLocks noChangeArrowheads="1"/>
            </p:cNvSpPr>
            <p:nvPr/>
          </p:nvSpPr>
          <p:spPr bwMode="auto">
            <a:xfrm>
              <a:off x="1593" y="1819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′</a:t>
              </a:r>
            </a:p>
          </p:txBody>
        </p:sp>
        <p:sp>
          <p:nvSpPr>
            <p:cNvPr id="18445" name="Line 61"/>
            <p:cNvSpPr>
              <a:spLocks noChangeShapeType="1"/>
            </p:cNvSpPr>
            <p:nvPr/>
          </p:nvSpPr>
          <p:spPr bwMode="auto">
            <a:xfrm>
              <a:off x="756" y="2388"/>
              <a:ext cx="25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6" name="Line 62"/>
            <p:cNvSpPr>
              <a:spLocks noChangeShapeType="1"/>
            </p:cNvSpPr>
            <p:nvPr/>
          </p:nvSpPr>
          <p:spPr bwMode="auto">
            <a:xfrm>
              <a:off x="1536" y="900"/>
              <a:ext cx="0" cy="1032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7" name="Line 63"/>
            <p:cNvSpPr>
              <a:spLocks noChangeShapeType="1"/>
            </p:cNvSpPr>
            <p:nvPr/>
          </p:nvSpPr>
          <p:spPr bwMode="auto">
            <a:xfrm>
              <a:off x="1536" y="1932"/>
              <a:ext cx="0" cy="7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8" name="Line 64"/>
            <p:cNvSpPr>
              <a:spLocks noChangeShapeType="1"/>
            </p:cNvSpPr>
            <p:nvPr/>
          </p:nvSpPr>
          <p:spPr bwMode="auto">
            <a:xfrm>
              <a:off x="1536" y="2652"/>
              <a:ext cx="0" cy="816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9" name="Line 65"/>
            <p:cNvSpPr>
              <a:spLocks noChangeShapeType="1"/>
            </p:cNvSpPr>
            <p:nvPr/>
          </p:nvSpPr>
          <p:spPr bwMode="auto">
            <a:xfrm flipV="1">
              <a:off x="1104" y="1128"/>
              <a:ext cx="876" cy="61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50" name="Line 66"/>
            <p:cNvSpPr>
              <a:spLocks noChangeShapeType="1"/>
            </p:cNvSpPr>
            <p:nvPr/>
          </p:nvSpPr>
          <p:spPr bwMode="auto">
            <a:xfrm>
              <a:off x="1104" y="2652"/>
              <a:ext cx="876" cy="50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51" name="Line 67"/>
            <p:cNvSpPr>
              <a:spLocks noChangeShapeType="1"/>
            </p:cNvSpPr>
            <p:nvPr/>
          </p:nvSpPr>
          <p:spPr bwMode="auto">
            <a:xfrm flipV="1">
              <a:off x="1104" y="1740"/>
              <a:ext cx="0" cy="9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52" name="Line 68"/>
            <p:cNvSpPr>
              <a:spLocks noChangeShapeType="1"/>
            </p:cNvSpPr>
            <p:nvPr/>
          </p:nvSpPr>
          <p:spPr bwMode="auto">
            <a:xfrm flipV="1">
              <a:off x="1980" y="1128"/>
              <a:ext cx="0" cy="20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53" name="Text Box 69"/>
            <p:cNvSpPr txBox="1">
              <a:spLocks noChangeArrowheads="1"/>
            </p:cNvSpPr>
            <p:nvPr/>
          </p:nvSpPr>
          <p:spPr bwMode="auto">
            <a:xfrm>
              <a:off x="1510" y="696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c</a:t>
              </a:r>
              <a:endParaRPr lang="en-US" altLang="zh-CN" sz="2400"/>
            </a:p>
          </p:txBody>
        </p:sp>
        <p:sp>
          <p:nvSpPr>
            <p:cNvPr id="18454" name="Text Box 70"/>
            <p:cNvSpPr txBox="1">
              <a:spLocks noChangeArrowheads="1"/>
            </p:cNvSpPr>
            <p:nvPr/>
          </p:nvSpPr>
          <p:spPr bwMode="auto">
            <a:xfrm>
              <a:off x="1593" y="696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′</a:t>
              </a:r>
            </a:p>
          </p:txBody>
        </p:sp>
        <p:sp>
          <p:nvSpPr>
            <p:cNvPr id="18455" name="Text Box 71"/>
            <p:cNvSpPr txBox="1">
              <a:spLocks noChangeArrowheads="1"/>
            </p:cNvSpPr>
            <p:nvPr/>
          </p:nvSpPr>
          <p:spPr bwMode="auto">
            <a:xfrm>
              <a:off x="888" y="1624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′</a:t>
              </a:r>
            </a:p>
          </p:txBody>
        </p:sp>
        <p:sp>
          <p:nvSpPr>
            <p:cNvPr id="18456" name="Text Box 72"/>
            <p:cNvSpPr txBox="1">
              <a:spLocks noChangeArrowheads="1"/>
            </p:cNvSpPr>
            <p:nvPr/>
          </p:nvSpPr>
          <p:spPr bwMode="auto">
            <a:xfrm>
              <a:off x="781" y="16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a</a:t>
              </a:r>
              <a:endParaRPr lang="en-US" altLang="zh-CN" sz="2400"/>
            </a:p>
          </p:txBody>
        </p:sp>
        <p:grpSp>
          <p:nvGrpSpPr>
            <p:cNvPr id="18457" name="Group 73"/>
            <p:cNvGrpSpPr>
              <a:grpSpLocks/>
            </p:cNvGrpSpPr>
            <p:nvPr/>
          </p:nvGrpSpPr>
          <p:grpSpPr bwMode="auto">
            <a:xfrm>
              <a:off x="1959" y="912"/>
              <a:ext cx="369" cy="312"/>
              <a:chOff x="1947" y="936"/>
              <a:chExt cx="369" cy="312"/>
            </a:xfrm>
          </p:grpSpPr>
          <p:sp>
            <p:nvSpPr>
              <p:cNvPr id="18463" name="Text Box 74"/>
              <p:cNvSpPr txBox="1">
                <a:spLocks noChangeArrowheads="1"/>
              </p:cNvSpPr>
              <p:nvPr/>
            </p:nvSpPr>
            <p:spPr bwMode="auto">
              <a:xfrm>
                <a:off x="2006" y="936"/>
                <a:ext cx="31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′</a:t>
                </a:r>
              </a:p>
            </p:txBody>
          </p:sp>
          <p:sp>
            <p:nvSpPr>
              <p:cNvPr id="18464" name="Text Box 75"/>
              <p:cNvSpPr txBox="1">
                <a:spLocks noChangeArrowheads="1"/>
              </p:cNvSpPr>
              <p:nvPr/>
            </p:nvSpPr>
            <p:spPr bwMode="auto">
              <a:xfrm>
                <a:off x="1947" y="96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/>
                  <a:t>b</a:t>
                </a:r>
                <a:endParaRPr lang="en-US" altLang="zh-CN" sz="2400"/>
              </a:p>
            </p:txBody>
          </p:sp>
        </p:grpSp>
        <p:sp>
          <p:nvSpPr>
            <p:cNvPr id="18458" name="Text Box 76"/>
            <p:cNvSpPr txBox="1">
              <a:spLocks noChangeArrowheads="1"/>
            </p:cNvSpPr>
            <p:nvPr/>
          </p:nvSpPr>
          <p:spPr bwMode="auto">
            <a:xfrm>
              <a:off x="1504" y="181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d</a:t>
              </a:r>
              <a:endParaRPr lang="en-US" altLang="zh-CN" sz="2400"/>
            </a:p>
          </p:txBody>
        </p:sp>
        <p:sp>
          <p:nvSpPr>
            <p:cNvPr id="18459" name="Text Box 77"/>
            <p:cNvSpPr txBox="1">
              <a:spLocks noChangeArrowheads="1"/>
            </p:cNvSpPr>
            <p:nvPr/>
          </p:nvSpPr>
          <p:spPr bwMode="auto">
            <a:xfrm>
              <a:off x="907" y="25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a</a:t>
              </a:r>
              <a:endParaRPr lang="en-US" altLang="zh-CN" sz="2800"/>
            </a:p>
          </p:txBody>
        </p:sp>
        <p:sp>
          <p:nvSpPr>
            <p:cNvPr id="18460" name="Text Box 78"/>
            <p:cNvSpPr txBox="1">
              <a:spLocks noChangeArrowheads="1"/>
            </p:cNvSpPr>
            <p:nvPr/>
          </p:nvSpPr>
          <p:spPr bwMode="auto">
            <a:xfrm>
              <a:off x="1960" y="303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b</a:t>
              </a:r>
              <a:endParaRPr lang="en-US" altLang="zh-CN" sz="2800"/>
            </a:p>
          </p:txBody>
        </p:sp>
        <p:sp>
          <p:nvSpPr>
            <p:cNvPr id="18461" name="Text Box 79"/>
            <p:cNvSpPr txBox="1">
              <a:spLocks noChangeArrowheads="1"/>
            </p:cNvSpPr>
            <p:nvPr/>
          </p:nvSpPr>
          <p:spPr bwMode="auto">
            <a:xfrm>
              <a:off x="1510" y="3312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c</a:t>
              </a:r>
            </a:p>
          </p:txBody>
        </p:sp>
        <p:sp>
          <p:nvSpPr>
            <p:cNvPr id="18462" name="Text Box 80"/>
            <p:cNvSpPr txBox="1">
              <a:spLocks noChangeArrowheads="1"/>
            </p:cNvSpPr>
            <p:nvPr/>
          </p:nvSpPr>
          <p:spPr bwMode="auto">
            <a:xfrm>
              <a:off x="1534" y="247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d</a:t>
              </a:r>
            </a:p>
          </p:txBody>
        </p:sp>
      </p:grpSp>
      <p:sp>
        <p:nvSpPr>
          <p:cNvPr id="147537" name="Text Box 81"/>
          <p:cNvSpPr txBox="1">
            <a:spLocks noChangeArrowheads="1"/>
          </p:cNvSpPr>
          <p:nvPr/>
        </p:nvSpPr>
        <p:spPr bwMode="auto">
          <a:xfrm>
            <a:off x="6092825" y="925513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相交吗？</a:t>
            </a:r>
          </a:p>
        </p:txBody>
      </p:sp>
      <p:sp>
        <p:nvSpPr>
          <p:cNvPr id="147538" name="Text Box 82"/>
          <p:cNvSpPr txBox="1">
            <a:spLocks noChangeArrowheads="1"/>
          </p:cNvSpPr>
          <p:nvPr/>
        </p:nvSpPr>
        <p:spPr bwMode="auto">
          <a:xfrm>
            <a:off x="6092825" y="1522413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ea typeface="黑体" pitchFamily="2" charset="-122"/>
              </a:rPr>
              <a:t>不相交！</a:t>
            </a:r>
          </a:p>
        </p:txBody>
      </p:sp>
      <p:sp>
        <p:nvSpPr>
          <p:cNvPr id="147539" name="Text Box 83"/>
          <p:cNvSpPr txBox="1">
            <a:spLocks noChangeArrowheads="1"/>
          </p:cNvSpPr>
          <p:nvPr/>
        </p:nvSpPr>
        <p:spPr bwMode="auto">
          <a:xfrm>
            <a:off x="5772150" y="2122488"/>
            <a:ext cx="233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为什么？</a:t>
            </a:r>
          </a:p>
        </p:txBody>
      </p:sp>
      <p:sp>
        <p:nvSpPr>
          <p:cNvPr id="147540" name="Text Box 84"/>
          <p:cNvSpPr txBox="1">
            <a:spLocks noChangeArrowheads="1"/>
          </p:cNvSpPr>
          <p:nvPr/>
        </p:nvSpPr>
        <p:spPr bwMode="auto">
          <a:xfrm>
            <a:off x="5295900" y="2778125"/>
            <a:ext cx="34877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charset="-122"/>
              </a:rPr>
              <a:t>   </a:t>
            </a:r>
            <a:r>
              <a:rPr lang="zh-CN" altLang="en-US" sz="2800">
                <a:solidFill>
                  <a:srgbClr val="FF3300"/>
                </a:solidFill>
                <a:ea typeface="黑体" pitchFamily="2" charset="-122"/>
              </a:rPr>
              <a:t>交点不符合空间一个点的投影特性。</a:t>
            </a:r>
          </a:p>
        </p:txBody>
      </p:sp>
      <p:sp>
        <p:nvSpPr>
          <p:cNvPr id="147541" name="Text Box 85"/>
          <p:cNvSpPr txBox="1">
            <a:spLocks noChangeArrowheads="1"/>
          </p:cNvSpPr>
          <p:nvPr/>
        </p:nvSpPr>
        <p:spPr bwMode="auto">
          <a:xfrm>
            <a:off x="5713413" y="4324350"/>
            <a:ext cx="2543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判断方法？</a:t>
            </a:r>
          </a:p>
        </p:txBody>
      </p:sp>
      <p:sp>
        <p:nvSpPr>
          <p:cNvPr id="147542" name="Text Box 86"/>
          <p:cNvSpPr txBox="1">
            <a:spLocks noChangeArrowheads="1"/>
          </p:cNvSpPr>
          <p:nvPr/>
        </p:nvSpPr>
        <p:spPr bwMode="auto">
          <a:xfrm>
            <a:off x="5464175" y="4940300"/>
            <a:ext cx="308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⒈ </a:t>
            </a:r>
            <a:r>
              <a:rPr lang="zh-CN" altLang="en-US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应用定比定理</a:t>
            </a:r>
          </a:p>
        </p:txBody>
      </p:sp>
      <p:sp>
        <p:nvSpPr>
          <p:cNvPr id="147543" name="Text Box 87"/>
          <p:cNvSpPr txBox="1">
            <a:spLocks noChangeArrowheads="1"/>
          </p:cNvSpPr>
          <p:nvPr/>
        </p:nvSpPr>
        <p:spPr bwMode="auto">
          <a:xfrm>
            <a:off x="5465763" y="5546725"/>
            <a:ext cx="2960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⒉ </a:t>
            </a:r>
            <a:r>
              <a:rPr lang="zh-CN" altLang="en-US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利用侧面投影</a:t>
            </a:r>
          </a:p>
        </p:txBody>
      </p:sp>
    </p:spTree>
    <p:extLst>
      <p:ext uri="{BB962C8B-B14F-4D97-AF65-F5344CB8AC3E}">
        <p14:creationId xmlns:p14="http://schemas.microsoft.com/office/powerpoint/2010/main" val="242494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47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47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7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7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147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147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7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7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147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147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7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7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7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7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537" grpId="0" autoUpdateAnimBg="0"/>
      <p:bldP spid="147538" grpId="0" autoUpdateAnimBg="0"/>
      <p:bldP spid="147539" grpId="0" autoUpdateAnimBg="0"/>
      <p:bldP spid="147540" grpId="0" autoUpdateAnimBg="0"/>
      <p:bldP spid="147541" grpId="0" autoUpdateAnimBg="0"/>
      <p:bldP spid="147542" grpId="0" autoUpdateAnimBg="0"/>
      <p:bldP spid="147543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F023ED99-F46A-476E-8BF0-04CA25452DE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52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32119" name="Text Box 23"/>
          <p:cNvSpPr txBox="1">
            <a:spLocks noChangeArrowheads="1"/>
          </p:cNvSpPr>
          <p:nvPr/>
        </p:nvSpPr>
        <p:spPr bwMode="auto">
          <a:xfrm>
            <a:off x="319088" y="196850"/>
            <a:ext cx="25955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交叉</a:t>
            </a:r>
          </a:p>
        </p:txBody>
      </p:sp>
      <p:grpSp>
        <p:nvGrpSpPr>
          <p:cNvPr id="19460" name="Group 46"/>
          <p:cNvGrpSpPr>
            <a:grpSpLocks/>
          </p:cNvGrpSpPr>
          <p:nvPr/>
        </p:nvGrpSpPr>
        <p:grpSpPr bwMode="auto">
          <a:xfrm>
            <a:off x="1346200" y="1166813"/>
            <a:ext cx="3421063" cy="3036887"/>
            <a:chOff x="862" y="423"/>
            <a:chExt cx="2155" cy="1913"/>
          </a:xfrm>
        </p:grpSpPr>
        <p:sp>
          <p:nvSpPr>
            <p:cNvPr id="19548" name="AutoShape 47"/>
            <p:cNvSpPr>
              <a:spLocks noChangeArrowheads="1"/>
            </p:cNvSpPr>
            <p:nvPr/>
          </p:nvSpPr>
          <p:spPr bwMode="auto">
            <a:xfrm flipH="1">
              <a:off x="862" y="1553"/>
              <a:ext cx="2155" cy="783"/>
            </a:xfrm>
            <a:prstGeom prst="parallelogram">
              <a:avLst>
                <a:gd name="adj" fmla="val 99743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9549" name="Rectangle 48"/>
            <p:cNvSpPr>
              <a:spLocks noChangeArrowheads="1"/>
            </p:cNvSpPr>
            <p:nvPr/>
          </p:nvSpPr>
          <p:spPr bwMode="auto">
            <a:xfrm>
              <a:off x="863" y="477"/>
              <a:ext cx="1377" cy="108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9550" name="Line 49"/>
            <p:cNvSpPr>
              <a:spLocks noChangeShapeType="1"/>
            </p:cNvSpPr>
            <p:nvPr/>
          </p:nvSpPr>
          <p:spPr bwMode="auto">
            <a:xfrm>
              <a:off x="2400" y="1302"/>
              <a:ext cx="0" cy="5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1" name="Line 50"/>
            <p:cNvSpPr>
              <a:spLocks noChangeShapeType="1"/>
            </p:cNvSpPr>
            <p:nvPr/>
          </p:nvSpPr>
          <p:spPr bwMode="auto">
            <a:xfrm>
              <a:off x="2107" y="1009"/>
              <a:ext cx="298" cy="2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2" name="Line 51"/>
            <p:cNvSpPr>
              <a:spLocks noChangeShapeType="1"/>
            </p:cNvSpPr>
            <p:nvPr/>
          </p:nvSpPr>
          <p:spPr bwMode="auto">
            <a:xfrm>
              <a:off x="2505" y="1105"/>
              <a:ext cx="0" cy="6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3" name="Line 52"/>
            <p:cNvSpPr>
              <a:spLocks noChangeShapeType="1"/>
            </p:cNvSpPr>
            <p:nvPr/>
          </p:nvSpPr>
          <p:spPr bwMode="auto">
            <a:xfrm>
              <a:off x="2505" y="1917"/>
              <a:ext cx="0" cy="1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4" name="Line 53"/>
            <p:cNvSpPr>
              <a:spLocks noChangeShapeType="1"/>
            </p:cNvSpPr>
            <p:nvPr/>
          </p:nvSpPr>
          <p:spPr bwMode="auto">
            <a:xfrm>
              <a:off x="2006" y="601"/>
              <a:ext cx="504" cy="5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5" name="Line 54"/>
            <p:cNvSpPr>
              <a:spLocks noChangeShapeType="1"/>
            </p:cNvSpPr>
            <p:nvPr/>
          </p:nvSpPr>
          <p:spPr bwMode="auto">
            <a:xfrm>
              <a:off x="1051" y="1187"/>
              <a:ext cx="130" cy="1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6" name="Line 55"/>
            <p:cNvSpPr>
              <a:spLocks noChangeShapeType="1"/>
            </p:cNvSpPr>
            <p:nvPr/>
          </p:nvSpPr>
          <p:spPr bwMode="auto">
            <a:xfrm>
              <a:off x="1181" y="1672"/>
              <a:ext cx="1324" cy="3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7" name="Line 56"/>
            <p:cNvSpPr>
              <a:spLocks noChangeShapeType="1"/>
            </p:cNvSpPr>
            <p:nvPr/>
          </p:nvSpPr>
          <p:spPr bwMode="auto">
            <a:xfrm>
              <a:off x="1118" y="904"/>
              <a:ext cx="989" cy="105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8" name="Line 57"/>
            <p:cNvSpPr>
              <a:spLocks noChangeShapeType="1"/>
            </p:cNvSpPr>
            <p:nvPr/>
          </p:nvSpPr>
          <p:spPr bwMode="auto">
            <a:xfrm flipV="1">
              <a:off x="1603" y="1845"/>
              <a:ext cx="797" cy="18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9" name="Line 58"/>
            <p:cNvSpPr>
              <a:spLocks noChangeShapeType="1"/>
            </p:cNvSpPr>
            <p:nvPr/>
          </p:nvSpPr>
          <p:spPr bwMode="auto">
            <a:xfrm flipV="1">
              <a:off x="1598" y="1307"/>
              <a:ext cx="807" cy="7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60" name="Line 59"/>
            <p:cNvSpPr>
              <a:spLocks noChangeShapeType="1"/>
            </p:cNvSpPr>
            <p:nvPr/>
          </p:nvSpPr>
          <p:spPr bwMode="auto">
            <a:xfrm flipV="1">
              <a:off x="1185" y="1096"/>
              <a:ext cx="1325" cy="22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61" name="Line 60"/>
            <p:cNvSpPr>
              <a:spLocks noChangeShapeType="1"/>
            </p:cNvSpPr>
            <p:nvPr/>
          </p:nvSpPr>
          <p:spPr bwMode="auto">
            <a:xfrm flipV="1">
              <a:off x="1056" y="601"/>
              <a:ext cx="960" cy="5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62" name="Line 61"/>
            <p:cNvSpPr>
              <a:spLocks noChangeShapeType="1"/>
            </p:cNvSpPr>
            <p:nvPr/>
          </p:nvSpPr>
          <p:spPr bwMode="auto">
            <a:xfrm>
              <a:off x="1123" y="904"/>
              <a:ext cx="470" cy="4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63" name="Line 62"/>
            <p:cNvSpPr>
              <a:spLocks noChangeShapeType="1"/>
            </p:cNvSpPr>
            <p:nvPr/>
          </p:nvSpPr>
          <p:spPr bwMode="auto">
            <a:xfrm>
              <a:off x="1603" y="1384"/>
              <a:ext cx="0" cy="6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64" name="Line 63"/>
            <p:cNvSpPr>
              <a:spLocks noChangeShapeType="1"/>
            </p:cNvSpPr>
            <p:nvPr/>
          </p:nvSpPr>
          <p:spPr bwMode="auto">
            <a:xfrm>
              <a:off x="1185" y="1311"/>
              <a:ext cx="0" cy="3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65" name="Rectangle 64"/>
            <p:cNvSpPr>
              <a:spLocks noChangeArrowheads="1"/>
            </p:cNvSpPr>
            <p:nvPr/>
          </p:nvSpPr>
          <p:spPr bwMode="auto">
            <a:xfrm>
              <a:off x="1092" y="1556"/>
              <a:ext cx="4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66" name="Rectangle 65"/>
            <p:cNvSpPr>
              <a:spLocks noChangeArrowheads="1"/>
            </p:cNvSpPr>
            <p:nvPr/>
          </p:nvSpPr>
          <p:spPr bwMode="auto">
            <a:xfrm>
              <a:off x="1496" y="1947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67" name="Rectangle 66"/>
            <p:cNvSpPr>
              <a:spLocks noChangeArrowheads="1"/>
            </p:cNvSpPr>
            <p:nvPr/>
          </p:nvSpPr>
          <p:spPr bwMode="auto">
            <a:xfrm>
              <a:off x="986" y="760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68" name="Rectangle 67"/>
            <p:cNvSpPr>
              <a:spLocks noChangeArrowheads="1"/>
            </p:cNvSpPr>
            <p:nvPr/>
          </p:nvSpPr>
          <p:spPr bwMode="auto">
            <a:xfrm>
              <a:off x="1041" y="1275"/>
              <a:ext cx="1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69" name="Rectangle 68"/>
            <p:cNvSpPr>
              <a:spLocks noChangeArrowheads="1"/>
            </p:cNvSpPr>
            <p:nvPr/>
          </p:nvSpPr>
          <p:spPr bwMode="auto">
            <a:xfrm>
              <a:off x="916" y="1027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0" name="Rectangle 69"/>
            <p:cNvSpPr>
              <a:spLocks noChangeArrowheads="1"/>
            </p:cNvSpPr>
            <p:nvPr/>
          </p:nvSpPr>
          <p:spPr bwMode="auto">
            <a:xfrm>
              <a:off x="1463" y="1334"/>
              <a:ext cx="12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1" name="Rectangle 70"/>
            <p:cNvSpPr>
              <a:spLocks noChangeArrowheads="1"/>
            </p:cNvSpPr>
            <p:nvPr/>
          </p:nvSpPr>
          <p:spPr bwMode="auto">
            <a:xfrm>
              <a:off x="919" y="48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宋体" charset="-122"/>
                </a:rPr>
                <a:t>V</a:t>
              </a:r>
              <a:endParaRPr lang="en-US" altLang="zh-CN" sz="2400" i="1">
                <a:solidFill>
                  <a:srgbClr val="FF3300"/>
                </a:solidFill>
              </a:endParaRPr>
            </a:p>
          </p:txBody>
        </p:sp>
        <p:sp>
          <p:nvSpPr>
            <p:cNvPr id="19572" name="Rectangle 71"/>
            <p:cNvSpPr>
              <a:spLocks noChangeArrowheads="1"/>
            </p:cNvSpPr>
            <p:nvPr/>
          </p:nvSpPr>
          <p:spPr bwMode="auto">
            <a:xfrm>
              <a:off x="2507" y="203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3" name="Rectangle 72"/>
            <p:cNvSpPr>
              <a:spLocks noChangeArrowheads="1"/>
            </p:cNvSpPr>
            <p:nvPr/>
          </p:nvSpPr>
          <p:spPr bwMode="auto">
            <a:xfrm>
              <a:off x="2725" y="210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宋体" charset="-122"/>
                </a:rPr>
                <a:t>H</a:t>
              </a:r>
              <a:endParaRPr lang="en-US" altLang="zh-CN" sz="2400" i="1">
                <a:solidFill>
                  <a:srgbClr val="FF3300"/>
                </a:solidFill>
              </a:endParaRPr>
            </a:p>
          </p:txBody>
        </p:sp>
        <p:sp>
          <p:nvSpPr>
            <p:cNvPr id="19574" name="Rectangle 73"/>
            <p:cNvSpPr>
              <a:spLocks noChangeArrowheads="1"/>
            </p:cNvSpPr>
            <p:nvPr/>
          </p:nvSpPr>
          <p:spPr bwMode="auto">
            <a:xfrm>
              <a:off x="2443" y="1707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5" name="Rectangle 74"/>
            <p:cNvSpPr>
              <a:spLocks noChangeArrowheads="1"/>
            </p:cNvSpPr>
            <p:nvPr/>
          </p:nvSpPr>
          <p:spPr bwMode="auto">
            <a:xfrm>
              <a:off x="2062" y="79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6" name="Rectangle 75"/>
            <p:cNvSpPr>
              <a:spLocks noChangeArrowheads="1"/>
            </p:cNvSpPr>
            <p:nvPr/>
          </p:nvSpPr>
          <p:spPr bwMode="auto">
            <a:xfrm>
              <a:off x="2253" y="1288"/>
              <a:ext cx="1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7" name="Rectangle 76"/>
            <p:cNvSpPr>
              <a:spLocks noChangeArrowheads="1"/>
            </p:cNvSpPr>
            <p:nvPr/>
          </p:nvSpPr>
          <p:spPr bwMode="auto">
            <a:xfrm>
              <a:off x="2544" y="985"/>
              <a:ext cx="12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8" name="Rectangle 77"/>
            <p:cNvSpPr>
              <a:spLocks noChangeArrowheads="1"/>
            </p:cNvSpPr>
            <p:nvPr/>
          </p:nvSpPr>
          <p:spPr bwMode="auto">
            <a:xfrm>
              <a:off x="2067" y="46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9" name="Text Box 78"/>
            <p:cNvSpPr txBox="1">
              <a:spLocks noChangeArrowheads="1"/>
            </p:cNvSpPr>
            <p:nvPr/>
          </p:nvSpPr>
          <p:spPr bwMode="auto">
            <a:xfrm>
              <a:off x="1047" y="761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580" name="Text Box 79"/>
            <p:cNvSpPr txBox="1">
              <a:spLocks noChangeArrowheads="1"/>
            </p:cNvSpPr>
            <p:nvPr/>
          </p:nvSpPr>
          <p:spPr bwMode="auto">
            <a:xfrm>
              <a:off x="2137" y="765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581" name="Text Box 80"/>
            <p:cNvSpPr txBox="1">
              <a:spLocks noChangeArrowheads="1"/>
            </p:cNvSpPr>
            <p:nvPr/>
          </p:nvSpPr>
          <p:spPr bwMode="auto">
            <a:xfrm>
              <a:off x="2103" y="423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582" name="Text Box 81"/>
            <p:cNvSpPr txBox="1">
              <a:spLocks noChangeArrowheads="1"/>
            </p:cNvSpPr>
            <p:nvPr/>
          </p:nvSpPr>
          <p:spPr bwMode="auto">
            <a:xfrm>
              <a:off x="982" y="1022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</p:grpSp>
      <p:grpSp>
        <p:nvGrpSpPr>
          <p:cNvPr id="19461" name="Group 82"/>
          <p:cNvGrpSpPr>
            <a:grpSpLocks/>
          </p:cNvGrpSpPr>
          <p:nvPr/>
        </p:nvGrpSpPr>
        <p:grpSpPr bwMode="auto">
          <a:xfrm>
            <a:off x="5156200" y="1255713"/>
            <a:ext cx="2563813" cy="3036887"/>
            <a:chOff x="3535" y="985"/>
            <a:chExt cx="1615" cy="1913"/>
          </a:xfrm>
        </p:grpSpPr>
        <p:sp>
          <p:nvSpPr>
            <p:cNvPr id="19525" name="Line 83"/>
            <p:cNvSpPr>
              <a:spLocks noChangeShapeType="1"/>
            </p:cNvSpPr>
            <p:nvPr/>
          </p:nvSpPr>
          <p:spPr bwMode="auto">
            <a:xfrm>
              <a:off x="3787" y="1714"/>
              <a:ext cx="0" cy="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6" name="Rectangle 84"/>
            <p:cNvSpPr>
              <a:spLocks noChangeArrowheads="1"/>
            </p:cNvSpPr>
            <p:nvPr/>
          </p:nvSpPr>
          <p:spPr bwMode="auto">
            <a:xfrm>
              <a:off x="3796" y="2613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27" name="Rectangle 85"/>
            <p:cNvSpPr>
              <a:spLocks noChangeArrowheads="1"/>
            </p:cNvSpPr>
            <p:nvPr/>
          </p:nvSpPr>
          <p:spPr bwMode="auto">
            <a:xfrm>
              <a:off x="3627" y="204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28" name="Rectangle 86"/>
            <p:cNvSpPr>
              <a:spLocks noChangeArrowheads="1"/>
            </p:cNvSpPr>
            <p:nvPr/>
          </p:nvSpPr>
          <p:spPr bwMode="auto">
            <a:xfrm>
              <a:off x="3733" y="1314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29" name="Rectangle 87"/>
            <p:cNvSpPr>
              <a:spLocks noChangeArrowheads="1"/>
            </p:cNvSpPr>
            <p:nvPr/>
          </p:nvSpPr>
          <p:spPr bwMode="auto">
            <a:xfrm>
              <a:off x="3628" y="165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0" name="Rectangle 88"/>
            <p:cNvSpPr>
              <a:spLocks noChangeArrowheads="1"/>
            </p:cNvSpPr>
            <p:nvPr/>
          </p:nvSpPr>
          <p:spPr bwMode="auto">
            <a:xfrm>
              <a:off x="4741" y="266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1" name="Rectangle 89"/>
            <p:cNvSpPr>
              <a:spLocks noChangeArrowheads="1"/>
            </p:cNvSpPr>
            <p:nvPr/>
          </p:nvSpPr>
          <p:spPr bwMode="auto">
            <a:xfrm>
              <a:off x="4906" y="226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2" name="Rectangle 90"/>
            <p:cNvSpPr>
              <a:spLocks noChangeArrowheads="1"/>
            </p:cNvSpPr>
            <p:nvPr/>
          </p:nvSpPr>
          <p:spPr bwMode="auto">
            <a:xfrm>
              <a:off x="4864" y="1464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3" name="Rectangle 91"/>
            <p:cNvSpPr>
              <a:spLocks noChangeArrowheads="1"/>
            </p:cNvSpPr>
            <p:nvPr/>
          </p:nvSpPr>
          <p:spPr bwMode="auto">
            <a:xfrm>
              <a:off x="4760" y="1024"/>
              <a:ext cx="1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4" name="Rectangle 92"/>
            <p:cNvSpPr>
              <a:spLocks noChangeArrowheads="1"/>
            </p:cNvSpPr>
            <p:nvPr/>
          </p:nvSpPr>
          <p:spPr bwMode="auto">
            <a:xfrm>
              <a:off x="5054" y="186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charset="-122"/>
                </a:rPr>
                <a:t>O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5" name="Rectangle 93"/>
            <p:cNvSpPr>
              <a:spLocks noChangeArrowheads="1"/>
            </p:cNvSpPr>
            <p:nvPr/>
          </p:nvSpPr>
          <p:spPr bwMode="auto">
            <a:xfrm>
              <a:off x="3535" y="1876"/>
              <a:ext cx="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charset="-122"/>
                </a:rPr>
                <a:t>X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6" name="Text Box 94"/>
            <p:cNvSpPr txBox="1">
              <a:spLocks noChangeArrowheads="1"/>
            </p:cNvSpPr>
            <p:nvPr/>
          </p:nvSpPr>
          <p:spPr bwMode="auto">
            <a:xfrm>
              <a:off x="4946" y="1432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537" name="Text Box 95"/>
            <p:cNvSpPr txBox="1">
              <a:spLocks noChangeArrowheads="1"/>
            </p:cNvSpPr>
            <p:nvPr/>
          </p:nvSpPr>
          <p:spPr bwMode="auto">
            <a:xfrm>
              <a:off x="4822" y="985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538" name="Line 96"/>
            <p:cNvSpPr>
              <a:spLocks noChangeShapeType="1"/>
            </p:cNvSpPr>
            <p:nvPr/>
          </p:nvSpPr>
          <p:spPr bwMode="auto">
            <a:xfrm flipV="1">
              <a:off x="3782" y="1131"/>
              <a:ext cx="956" cy="58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39" name="Line 97"/>
            <p:cNvSpPr>
              <a:spLocks noChangeShapeType="1"/>
            </p:cNvSpPr>
            <p:nvPr/>
          </p:nvSpPr>
          <p:spPr bwMode="auto">
            <a:xfrm>
              <a:off x="3854" y="1434"/>
              <a:ext cx="984" cy="105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0" name="Line 98"/>
            <p:cNvSpPr>
              <a:spLocks noChangeShapeType="1"/>
            </p:cNvSpPr>
            <p:nvPr/>
          </p:nvSpPr>
          <p:spPr bwMode="auto">
            <a:xfrm>
              <a:off x="3638" y="1997"/>
              <a:ext cx="138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1" name="Line 99"/>
            <p:cNvSpPr>
              <a:spLocks noChangeShapeType="1"/>
            </p:cNvSpPr>
            <p:nvPr/>
          </p:nvSpPr>
          <p:spPr bwMode="auto">
            <a:xfrm>
              <a:off x="3854" y="1445"/>
              <a:ext cx="0" cy="122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2" name="Line 100"/>
            <p:cNvSpPr>
              <a:spLocks noChangeShapeType="1"/>
            </p:cNvSpPr>
            <p:nvPr/>
          </p:nvSpPr>
          <p:spPr bwMode="auto">
            <a:xfrm>
              <a:off x="4742" y="1133"/>
              <a:ext cx="0" cy="15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3" name="Line 101"/>
            <p:cNvSpPr>
              <a:spLocks noChangeShapeType="1"/>
            </p:cNvSpPr>
            <p:nvPr/>
          </p:nvSpPr>
          <p:spPr bwMode="auto">
            <a:xfrm>
              <a:off x="4834" y="1541"/>
              <a:ext cx="0" cy="8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4" name="Line 102"/>
            <p:cNvSpPr>
              <a:spLocks noChangeShapeType="1"/>
            </p:cNvSpPr>
            <p:nvPr/>
          </p:nvSpPr>
          <p:spPr bwMode="auto">
            <a:xfrm flipV="1">
              <a:off x="3850" y="2390"/>
              <a:ext cx="984" cy="26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5" name="Line 103"/>
            <p:cNvSpPr>
              <a:spLocks noChangeShapeType="1"/>
            </p:cNvSpPr>
            <p:nvPr/>
          </p:nvSpPr>
          <p:spPr bwMode="auto">
            <a:xfrm>
              <a:off x="3787" y="2184"/>
              <a:ext cx="955" cy="5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6" name="Text Box 104"/>
            <p:cNvSpPr txBox="1">
              <a:spLocks noChangeArrowheads="1"/>
            </p:cNvSpPr>
            <p:nvPr/>
          </p:nvSpPr>
          <p:spPr bwMode="auto">
            <a:xfrm>
              <a:off x="3693" y="1645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547" name="Text Box 105"/>
            <p:cNvSpPr txBox="1">
              <a:spLocks noChangeArrowheads="1"/>
            </p:cNvSpPr>
            <p:nvPr/>
          </p:nvSpPr>
          <p:spPr bwMode="auto">
            <a:xfrm>
              <a:off x="3789" y="1303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</p:grpSp>
      <p:sp>
        <p:nvSpPr>
          <p:cNvPr id="132202" name="Rectangle 106"/>
          <p:cNvSpPr>
            <a:spLocks noChangeArrowheads="1"/>
          </p:cNvSpPr>
          <p:nvPr/>
        </p:nvSpPr>
        <p:spPr bwMode="auto">
          <a:xfrm>
            <a:off x="6459538" y="3784600"/>
            <a:ext cx="327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ISOCPEUR" pitchFamily="34" charset="0"/>
              </a:rPr>
              <a:t>1(2)</a:t>
            </a:r>
            <a:endParaRPr lang="en-US" altLang="zh-CN" sz="2000">
              <a:solidFill>
                <a:srgbClr val="FF3300"/>
              </a:solidFill>
              <a:latin typeface="ISOCPEUR" pitchFamily="34" charset="0"/>
            </a:endParaRPr>
          </a:p>
        </p:txBody>
      </p:sp>
      <p:sp>
        <p:nvSpPr>
          <p:cNvPr id="132203" name="Text Box 107"/>
          <p:cNvSpPr txBox="1">
            <a:spLocks noChangeArrowheads="1"/>
          </p:cNvSpPr>
          <p:nvPr/>
        </p:nvSpPr>
        <p:spPr bwMode="auto">
          <a:xfrm>
            <a:off x="6373813" y="3575050"/>
            <a:ext cx="287337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800">
                <a:solidFill>
                  <a:schemeClr val="tx2"/>
                </a:solidFill>
              </a:rPr>
              <a:t>●</a:t>
            </a:r>
          </a:p>
        </p:txBody>
      </p:sp>
      <p:sp>
        <p:nvSpPr>
          <p:cNvPr id="132204" name="Line 108"/>
          <p:cNvSpPr>
            <a:spLocks noChangeShapeType="1"/>
          </p:cNvSpPr>
          <p:nvPr/>
        </p:nvSpPr>
        <p:spPr bwMode="auto">
          <a:xfrm flipV="1">
            <a:off x="6516688" y="1825625"/>
            <a:ext cx="0" cy="18589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Group 109"/>
          <p:cNvGrpSpPr>
            <a:grpSpLocks/>
          </p:cNvGrpSpPr>
          <p:nvPr/>
        </p:nvGrpSpPr>
        <p:grpSpPr bwMode="auto">
          <a:xfrm>
            <a:off x="6373813" y="1951038"/>
            <a:ext cx="549275" cy="463550"/>
            <a:chOff x="4029" y="917"/>
            <a:chExt cx="346" cy="292"/>
          </a:xfrm>
        </p:grpSpPr>
        <p:sp>
          <p:nvSpPr>
            <p:cNvPr id="19522" name="Rectangle 110"/>
            <p:cNvSpPr>
              <a:spLocks noChangeArrowheads="1"/>
            </p:cNvSpPr>
            <p:nvPr/>
          </p:nvSpPr>
          <p:spPr bwMode="auto">
            <a:xfrm>
              <a:off x="4138" y="984"/>
              <a:ext cx="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ISOCPEUR" pitchFamily="34" charset="0"/>
                </a:rPr>
                <a:t>2</a:t>
              </a:r>
              <a:endParaRPr lang="en-US" altLang="zh-CN" sz="200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523" name="Text Box 111"/>
            <p:cNvSpPr txBox="1">
              <a:spLocks noChangeArrowheads="1"/>
            </p:cNvSpPr>
            <p:nvPr/>
          </p:nvSpPr>
          <p:spPr bwMode="auto">
            <a:xfrm>
              <a:off x="4029" y="917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524" name="Text Box 112"/>
            <p:cNvSpPr txBox="1">
              <a:spLocks noChangeArrowheads="1"/>
            </p:cNvSpPr>
            <p:nvPr/>
          </p:nvSpPr>
          <p:spPr bwMode="auto">
            <a:xfrm>
              <a:off x="4189" y="959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</p:grpSp>
      <p:grpSp>
        <p:nvGrpSpPr>
          <p:cNvPr id="5" name="Group 113"/>
          <p:cNvGrpSpPr>
            <a:grpSpLocks/>
          </p:cNvGrpSpPr>
          <p:nvPr/>
        </p:nvGrpSpPr>
        <p:grpSpPr bwMode="auto">
          <a:xfrm>
            <a:off x="6372225" y="1373188"/>
            <a:ext cx="496888" cy="555625"/>
            <a:chOff x="4028" y="553"/>
            <a:chExt cx="313" cy="350"/>
          </a:xfrm>
        </p:grpSpPr>
        <p:sp>
          <p:nvSpPr>
            <p:cNvPr id="19519" name="Rectangle 114"/>
            <p:cNvSpPr>
              <a:spLocks noChangeArrowheads="1"/>
            </p:cNvSpPr>
            <p:nvPr/>
          </p:nvSpPr>
          <p:spPr bwMode="auto">
            <a:xfrm>
              <a:off x="4140" y="594"/>
              <a:ext cx="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  <a:endParaRPr lang="en-US" altLang="zh-CN" sz="200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520" name="Text Box 115"/>
            <p:cNvSpPr txBox="1">
              <a:spLocks noChangeArrowheads="1"/>
            </p:cNvSpPr>
            <p:nvPr/>
          </p:nvSpPr>
          <p:spPr bwMode="auto">
            <a:xfrm>
              <a:off x="4028" y="768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  <a:latin typeface="ISOCPEUR" pitchFamily="34" charset="0"/>
                </a:rPr>
                <a:t>●</a:t>
              </a:r>
            </a:p>
          </p:txBody>
        </p:sp>
        <p:sp>
          <p:nvSpPr>
            <p:cNvPr id="19521" name="Text Box 116"/>
            <p:cNvSpPr txBox="1">
              <a:spLocks noChangeArrowheads="1"/>
            </p:cNvSpPr>
            <p:nvPr/>
          </p:nvSpPr>
          <p:spPr bwMode="auto">
            <a:xfrm>
              <a:off x="4155" y="553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ISOCPEUR" pitchFamily="34" charset="0"/>
                </a:rPr>
                <a:t>′</a:t>
              </a:r>
            </a:p>
          </p:txBody>
        </p:sp>
      </p:grpSp>
      <p:sp>
        <p:nvSpPr>
          <p:cNvPr id="132213" name="Text Box 117"/>
          <p:cNvSpPr txBox="1">
            <a:spLocks noChangeArrowheads="1"/>
          </p:cNvSpPr>
          <p:nvPr/>
        </p:nvSpPr>
        <p:spPr bwMode="auto">
          <a:xfrm>
            <a:off x="347663" y="4438650"/>
            <a:ext cx="2347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投影特性：</a:t>
            </a:r>
          </a:p>
        </p:txBody>
      </p:sp>
      <p:sp>
        <p:nvSpPr>
          <p:cNvPr id="132214" name="Text Box 118"/>
          <p:cNvSpPr txBox="1">
            <a:spLocks noChangeArrowheads="1"/>
          </p:cNvSpPr>
          <p:nvPr/>
        </p:nvSpPr>
        <p:spPr bwMode="auto">
          <a:xfrm>
            <a:off x="541338" y="5037138"/>
            <a:ext cx="8602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同名投影可能相交，但 </a:t>
            </a:r>
            <a:r>
              <a:rPr lang="zh-CN" altLang="en-US" sz="2400">
                <a:ea typeface="黑体" pitchFamily="2" charset="-122"/>
              </a:rPr>
              <a:t>“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交点</a:t>
            </a:r>
            <a:r>
              <a:rPr lang="zh-CN" altLang="en-US" sz="2400">
                <a:ea typeface="黑体" pitchFamily="2" charset="-122"/>
              </a:rPr>
              <a:t>”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不符合一个点的投影规律。</a:t>
            </a:r>
          </a:p>
        </p:txBody>
      </p:sp>
      <p:sp>
        <p:nvSpPr>
          <p:cNvPr id="132215" name="Text Box 119"/>
          <p:cNvSpPr txBox="1">
            <a:spLocks noChangeArrowheads="1"/>
          </p:cNvSpPr>
          <p:nvPr/>
        </p:nvSpPr>
        <p:spPr bwMode="auto">
          <a:xfrm>
            <a:off x="544513" y="5518150"/>
            <a:ext cx="83677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2.</a:t>
            </a:r>
            <a:r>
              <a:rPr lang="en-US" altLang="zh-CN" sz="2400">
                <a:ea typeface="黑体" pitchFamily="2" charset="-122"/>
              </a:rPr>
              <a:t>“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交点</a:t>
            </a:r>
            <a:r>
              <a:rPr lang="zh-CN" altLang="en-US" sz="2400">
                <a:ea typeface="黑体" pitchFamily="2" charset="-122"/>
              </a:rPr>
              <a:t>”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是两直线上的一对重影点的投影，用其可帮助判断两直线的空间位置。</a:t>
            </a:r>
          </a:p>
        </p:txBody>
      </p:sp>
      <p:grpSp>
        <p:nvGrpSpPr>
          <p:cNvPr id="6" name="Group 120"/>
          <p:cNvGrpSpPr>
            <a:grpSpLocks/>
          </p:cNvGrpSpPr>
          <p:nvPr/>
        </p:nvGrpSpPr>
        <p:grpSpPr bwMode="auto">
          <a:xfrm>
            <a:off x="2443163" y="1370013"/>
            <a:ext cx="1022350" cy="2551112"/>
            <a:chOff x="1562" y="547"/>
            <a:chExt cx="644" cy="1607"/>
          </a:xfrm>
        </p:grpSpPr>
        <p:sp>
          <p:nvSpPr>
            <p:cNvPr id="19500" name="Line 121"/>
            <p:cNvSpPr>
              <a:spLocks noChangeShapeType="1"/>
            </p:cNvSpPr>
            <p:nvPr/>
          </p:nvSpPr>
          <p:spPr bwMode="auto">
            <a:xfrm>
              <a:off x="1699" y="798"/>
              <a:ext cx="0" cy="7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01" name="Line 122"/>
            <p:cNvSpPr>
              <a:spLocks noChangeShapeType="1"/>
            </p:cNvSpPr>
            <p:nvPr/>
          </p:nvSpPr>
          <p:spPr bwMode="auto">
            <a:xfrm>
              <a:off x="1694" y="1552"/>
              <a:ext cx="365" cy="3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02" name="Group 123"/>
            <p:cNvGrpSpPr>
              <a:grpSpLocks/>
            </p:cNvGrpSpPr>
            <p:nvPr/>
          </p:nvGrpSpPr>
          <p:grpSpPr bwMode="auto">
            <a:xfrm>
              <a:off x="1562" y="547"/>
              <a:ext cx="644" cy="1607"/>
              <a:chOff x="1562" y="547"/>
              <a:chExt cx="644" cy="1607"/>
            </a:xfrm>
          </p:grpSpPr>
          <p:sp>
            <p:nvSpPr>
              <p:cNvPr id="19503" name="Line 124"/>
              <p:cNvSpPr>
                <a:spLocks noChangeShapeType="1"/>
              </p:cNvSpPr>
              <p:nvPr/>
            </p:nvSpPr>
            <p:spPr bwMode="auto">
              <a:xfrm>
                <a:off x="1853" y="1120"/>
                <a:ext cx="211" cy="21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4" name="Line 125"/>
              <p:cNvSpPr>
                <a:spLocks noChangeShapeType="1"/>
              </p:cNvSpPr>
              <p:nvPr/>
            </p:nvSpPr>
            <p:spPr bwMode="auto">
              <a:xfrm>
                <a:off x="2064" y="1158"/>
                <a:ext cx="0" cy="7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5" name="Rectangle 126"/>
              <p:cNvSpPr>
                <a:spLocks noChangeArrowheads="1"/>
              </p:cNvSpPr>
              <p:nvPr/>
            </p:nvSpPr>
            <p:spPr bwMode="auto">
              <a:xfrm>
                <a:off x="1562" y="944"/>
                <a:ext cx="9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ISOCPEUR" pitchFamily="34" charset="0"/>
                  </a:rPr>
                  <a:t>2</a:t>
                </a:r>
                <a:endParaRPr lang="en-US" altLang="zh-CN" sz="2000">
                  <a:solidFill>
                    <a:srgbClr val="FF3300"/>
                  </a:solidFill>
                  <a:latin typeface="ISOCPEUR" pitchFamily="34" charset="0"/>
                </a:endParaRPr>
              </a:p>
            </p:txBody>
          </p:sp>
          <p:sp>
            <p:nvSpPr>
              <p:cNvPr id="19506" name="Line 127"/>
              <p:cNvSpPr>
                <a:spLocks noChangeShapeType="1"/>
              </p:cNvSpPr>
              <p:nvPr/>
            </p:nvSpPr>
            <p:spPr bwMode="auto">
              <a:xfrm>
                <a:off x="1689" y="798"/>
                <a:ext cx="379" cy="3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7" name="Rectangle 128"/>
              <p:cNvSpPr>
                <a:spLocks noChangeArrowheads="1"/>
              </p:cNvSpPr>
              <p:nvPr/>
            </p:nvSpPr>
            <p:spPr bwMode="auto">
              <a:xfrm>
                <a:off x="1671" y="588"/>
                <a:ext cx="5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ISOCPEUR" pitchFamily="34" charset="0"/>
                  </a:rPr>
                  <a:t>1</a:t>
                </a:r>
                <a:endParaRPr lang="en-US" altLang="zh-CN" sz="2000">
                  <a:solidFill>
                    <a:srgbClr val="FF3300"/>
                  </a:solidFill>
                  <a:latin typeface="ISOCPEUR" pitchFamily="34" charset="0"/>
                </a:endParaRPr>
              </a:p>
            </p:txBody>
          </p:sp>
          <p:sp>
            <p:nvSpPr>
              <p:cNvPr id="19508" name="Rectangle 129"/>
              <p:cNvSpPr>
                <a:spLocks noChangeArrowheads="1"/>
              </p:cNvSpPr>
              <p:nvPr/>
            </p:nvSpPr>
            <p:spPr bwMode="auto">
              <a:xfrm>
                <a:off x="2000" y="1962"/>
                <a:ext cx="20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ISOCPEUR" pitchFamily="34" charset="0"/>
                  </a:rPr>
                  <a:t>1(2)</a:t>
                </a:r>
                <a:endParaRPr lang="en-US" altLang="zh-CN" sz="2000">
                  <a:solidFill>
                    <a:srgbClr val="FF3300"/>
                  </a:solidFill>
                  <a:latin typeface="ISOCPEUR" pitchFamily="34" charset="0"/>
                </a:endParaRPr>
              </a:p>
            </p:txBody>
          </p:sp>
          <p:sp>
            <p:nvSpPr>
              <p:cNvPr id="19509" name="Rectangle 130"/>
              <p:cNvSpPr>
                <a:spLocks noChangeArrowheads="1"/>
              </p:cNvSpPr>
              <p:nvPr/>
            </p:nvSpPr>
            <p:spPr bwMode="auto">
              <a:xfrm>
                <a:off x="2057" y="1323"/>
                <a:ext cx="14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宋体" charset="-122"/>
                  </a:rPr>
                  <a:t>Ⅱ</a:t>
                </a:r>
                <a:endParaRPr lang="en-US" altLang="zh-CN" sz="1800">
                  <a:solidFill>
                    <a:srgbClr val="FF3300"/>
                  </a:solidFill>
                </a:endParaRPr>
              </a:p>
            </p:txBody>
          </p:sp>
          <p:sp>
            <p:nvSpPr>
              <p:cNvPr id="19510" name="Rectangle 131"/>
              <p:cNvSpPr>
                <a:spLocks noChangeArrowheads="1"/>
              </p:cNvSpPr>
              <p:nvPr/>
            </p:nvSpPr>
            <p:spPr bwMode="auto">
              <a:xfrm>
                <a:off x="1997" y="983"/>
                <a:ext cx="14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宋体" charset="-122"/>
                  </a:rPr>
                  <a:t>Ⅰ</a:t>
                </a:r>
                <a:endParaRPr lang="en-US" altLang="zh-CN" sz="1800">
                  <a:solidFill>
                    <a:srgbClr val="FF3300"/>
                  </a:solidFill>
                </a:endParaRPr>
              </a:p>
            </p:txBody>
          </p:sp>
          <p:sp>
            <p:nvSpPr>
              <p:cNvPr id="19511" name="Text Box 132"/>
              <p:cNvSpPr txBox="1">
                <a:spLocks noChangeArrowheads="1"/>
              </p:cNvSpPr>
              <p:nvPr/>
            </p:nvSpPr>
            <p:spPr bwMode="auto">
              <a:xfrm>
                <a:off x="1687" y="547"/>
                <a:ext cx="18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′</a:t>
                </a:r>
              </a:p>
            </p:txBody>
          </p:sp>
          <p:sp>
            <p:nvSpPr>
              <p:cNvPr id="19512" name="Text Box 133"/>
              <p:cNvSpPr txBox="1">
                <a:spLocks noChangeArrowheads="1"/>
              </p:cNvSpPr>
              <p:nvPr/>
            </p:nvSpPr>
            <p:spPr bwMode="auto">
              <a:xfrm>
                <a:off x="1614" y="911"/>
                <a:ext cx="18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′</a:t>
                </a:r>
              </a:p>
            </p:txBody>
          </p:sp>
          <p:sp>
            <p:nvSpPr>
              <p:cNvPr id="19513" name="Text Box 134"/>
              <p:cNvSpPr txBox="1">
                <a:spLocks noChangeArrowheads="1"/>
              </p:cNvSpPr>
              <p:nvPr/>
            </p:nvSpPr>
            <p:spPr bwMode="auto">
              <a:xfrm>
                <a:off x="1607" y="897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800">
                    <a:solidFill>
                      <a:schemeClr val="tx2"/>
                    </a:solidFill>
                  </a:rPr>
                  <a:t>●</a:t>
                </a:r>
              </a:p>
            </p:txBody>
          </p:sp>
          <p:sp>
            <p:nvSpPr>
              <p:cNvPr id="19514" name="Text Box 135"/>
              <p:cNvSpPr txBox="1">
                <a:spLocks noChangeArrowheads="1"/>
              </p:cNvSpPr>
              <p:nvPr/>
            </p:nvSpPr>
            <p:spPr bwMode="auto">
              <a:xfrm>
                <a:off x="1608" y="733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800">
                    <a:solidFill>
                      <a:schemeClr val="tx2"/>
                    </a:solidFill>
                  </a:rPr>
                  <a:t>●</a:t>
                </a:r>
              </a:p>
            </p:txBody>
          </p:sp>
          <p:sp>
            <p:nvSpPr>
              <p:cNvPr id="19515" name="Text Box 136"/>
              <p:cNvSpPr txBox="1">
                <a:spLocks noChangeArrowheads="1"/>
              </p:cNvSpPr>
              <p:nvPr/>
            </p:nvSpPr>
            <p:spPr bwMode="auto">
              <a:xfrm>
                <a:off x="1973" y="1851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800">
                    <a:solidFill>
                      <a:schemeClr val="tx2"/>
                    </a:solidFill>
                  </a:rPr>
                  <a:t>●</a:t>
                </a:r>
              </a:p>
            </p:txBody>
          </p:sp>
          <p:sp>
            <p:nvSpPr>
              <p:cNvPr id="19516" name="Text Box 137"/>
              <p:cNvSpPr txBox="1">
                <a:spLocks noChangeArrowheads="1"/>
              </p:cNvSpPr>
              <p:nvPr/>
            </p:nvSpPr>
            <p:spPr bwMode="auto">
              <a:xfrm>
                <a:off x="1968" y="1098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800">
                    <a:solidFill>
                      <a:schemeClr val="tx2"/>
                    </a:solidFill>
                  </a:rPr>
                  <a:t>●</a:t>
                </a:r>
              </a:p>
            </p:txBody>
          </p:sp>
          <p:sp>
            <p:nvSpPr>
              <p:cNvPr id="19517" name="Text Box 138"/>
              <p:cNvSpPr txBox="1">
                <a:spLocks noChangeArrowheads="1"/>
              </p:cNvSpPr>
              <p:nvPr/>
            </p:nvSpPr>
            <p:spPr bwMode="auto">
              <a:xfrm>
                <a:off x="1973" y="1270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800">
                    <a:solidFill>
                      <a:schemeClr val="tx2"/>
                    </a:solidFill>
                  </a:rPr>
                  <a:t>●</a:t>
                </a:r>
              </a:p>
            </p:txBody>
          </p:sp>
          <p:sp>
            <p:nvSpPr>
              <p:cNvPr id="19518" name="Line 139"/>
              <p:cNvSpPr>
                <a:spLocks noChangeShapeType="1"/>
              </p:cNvSpPr>
              <p:nvPr/>
            </p:nvSpPr>
            <p:spPr bwMode="auto">
              <a:xfrm>
                <a:off x="1694" y="966"/>
                <a:ext cx="72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140"/>
          <p:cNvGrpSpPr>
            <a:grpSpLocks/>
          </p:cNvGrpSpPr>
          <p:nvPr/>
        </p:nvGrpSpPr>
        <p:grpSpPr bwMode="auto">
          <a:xfrm>
            <a:off x="2014539" y="1550988"/>
            <a:ext cx="1190626" cy="2365375"/>
            <a:chOff x="29" y="607"/>
            <a:chExt cx="750" cy="1490"/>
          </a:xfrm>
        </p:grpSpPr>
        <p:sp>
          <p:nvSpPr>
            <p:cNvPr id="19482" name="Line 141"/>
            <p:cNvSpPr>
              <a:spLocks noChangeShapeType="1"/>
            </p:cNvSpPr>
            <p:nvPr/>
          </p:nvSpPr>
          <p:spPr bwMode="auto">
            <a:xfrm>
              <a:off x="503" y="1156"/>
              <a:ext cx="0" cy="6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3" name="Line 142"/>
            <p:cNvSpPr>
              <a:spLocks noChangeShapeType="1"/>
            </p:cNvSpPr>
            <p:nvPr/>
          </p:nvSpPr>
          <p:spPr bwMode="auto">
            <a:xfrm>
              <a:off x="628" y="1295"/>
              <a:ext cx="0" cy="6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4" name="Line 143"/>
            <p:cNvSpPr>
              <a:spLocks noChangeShapeType="1"/>
            </p:cNvSpPr>
            <p:nvPr/>
          </p:nvSpPr>
          <p:spPr bwMode="auto">
            <a:xfrm>
              <a:off x="403" y="1060"/>
              <a:ext cx="220" cy="2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5" name="Text Box 144"/>
            <p:cNvSpPr txBox="1">
              <a:spLocks noChangeArrowheads="1"/>
            </p:cNvSpPr>
            <p:nvPr/>
          </p:nvSpPr>
          <p:spPr bwMode="auto">
            <a:xfrm>
              <a:off x="204" y="607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486" name="Line 145"/>
            <p:cNvSpPr>
              <a:spLocks noChangeShapeType="1"/>
            </p:cNvSpPr>
            <p:nvPr/>
          </p:nvSpPr>
          <p:spPr bwMode="auto">
            <a:xfrm>
              <a:off x="210" y="873"/>
              <a:ext cx="86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7" name="Text Box 146"/>
            <p:cNvSpPr txBox="1">
              <a:spLocks noChangeArrowheads="1"/>
            </p:cNvSpPr>
            <p:nvPr/>
          </p:nvSpPr>
          <p:spPr bwMode="auto">
            <a:xfrm>
              <a:off x="47" y="607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488" name="Rectangle 147"/>
            <p:cNvSpPr>
              <a:spLocks noChangeArrowheads="1"/>
            </p:cNvSpPr>
            <p:nvPr/>
          </p:nvSpPr>
          <p:spPr bwMode="auto">
            <a:xfrm>
              <a:off x="464" y="963"/>
              <a:ext cx="14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宋体" charset="-122"/>
                </a:rPr>
                <a:t>Ⅳ</a:t>
              </a:r>
              <a:endParaRPr lang="en-US" altLang="zh-CN" sz="1800">
                <a:solidFill>
                  <a:srgbClr val="FF3300"/>
                </a:solidFill>
              </a:endParaRPr>
            </a:p>
          </p:txBody>
        </p:sp>
        <p:sp>
          <p:nvSpPr>
            <p:cNvPr id="19489" name="Rectangle 148"/>
            <p:cNvSpPr>
              <a:spLocks noChangeArrowheads="1"/>
            </p:cNvSpPr>
            <p:nvPr/>
          </p:nvSpPr>
          <p:spPr bwMode="auto">
            <a:xfrm>
              <a:off x="509" y="1607"/>
              <a:ext cx="8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ISOCPEUR" pitchFamily="34" charset="0"/>
                </a:rPr>
                <a:t>4</a:t>
              </a:r>
              <a:endParaRPr lang="en-US" altLang="zh-CN" sz="200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490" name="Rectangle 149"/>
            <p:cNvSpPr>
              <a:spLocks noChangeArrowheads="1"/>
            </p:cNvSpPr>
            <p:nvPr/>
          </p:nvSpPr>
          <p:spPr bwMode="auto">
            <a:xfrm>
              <a:off x="29" y="638"/>
              <a:ext cx="34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 smtClean="0">
                  <a:solidFill>
                    <a:srgbClr val="000000"/>
                  </a:solidFill>
                  <a:latin typeface="ISOCPEUR" pitchFamily="34" charset="0"/>
                </a:rPr>
                <a:t>3 (</a:t>
              </a:r>
              <a:r>
                <a:rPr lang="en-US" altLang="zh-CN" sz="2000" dirty="0">
                  <a:solidFill>
                    <a:srgbClr val="000000"/>
                  </a:solidFill>
                  <a:latin typeface="ISOCPEUR" pitchFamily="34" charset="0"/>
                </a:rPr>
                <a:t>4 )</a:t>
              </a:r>
              <a:endParaRPr lang="en-US" altLang="zh-CN" sz="2000" dirty="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491" name="Rectangle 150"/>
            <p:cNvSpPr>
              <a:spLocks noChangeArrowheads="1"/>
            </p:cNvSpPr>
            <p:nvPr/>
          </p:nvSpPr>
          <p:spPr bwMode="auto">
            <a:xfrm>
              <a:off x="577" y="1905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ISOCPEUR" pitchFamily="34" charset="0"/>
                </a:rPr>
                <a:t>3</a:t>
              </a:r>
              <a:endParaRPr lang="en-US" altLang="zh-CN" sz="200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492" name="Rectangle 151"/>
            <p:cNvSpPr>
              <a:spLocks noChangeArrowheads="1"/>
            </p:cNvSpPr>
            <p:nvPr/>
          </p:nvSpPr>
          <p:spPr bwMode="auto">
            <a:xfrm>
              <a:off x="634" y="1283"/>
              <a:ext cx="14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宋体" charset="-122"/>
                </a:rPr>
                <a:t>Ⅲ</a:t>
              </a:r>
              <a:endParaRPr lang="en-US" altLang="zh-CN" sz="1800">
                <a:solidFill>
                  <a:srgbClr val="FF3300"/>
                </a:solidFill>
              </a:endParaRPr>
            </a:p>
          </p:txBody>
        </p:sp>
        <p:sp>
          <p:nvSpPr>
            <p:cNvPr id="19493" name="Line 152"/>
            <p:cNvSpPr>
              <a:spLocks noChangeShapeType="1"/>
            </p:cNvSpPr>
            <p:nvPr/>
          </p:nvSpPr>
          <p:spPr bwMode="auto">
            <a:xfrm flipH="1" flipV="1">
              <a:off x="215" y="1487"/>
              <a:ext cx="418" cy="41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4" name="Line 153"/>
            <p:cNvSpPr>
              <a:spLocks noChangeShapeType="1"/>
            </p:cNvSpPr>
            <p:nvPr/>
          </p:nvSpPr>
          <p:spPr bwMode="auto">
            <a:xfrm flipV="1">
              <a:off x="215" y="877"/>
              <a:ext cx="0" cy="61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5" name="Text Box 154"/>
            <p:cNvSpPr txBox="1">
              <a:spLocks noChangeArrowheads="1"/>
            </p:cNvSpPr>
            <p:nvPr/>
          </p:nvSpPr>
          <p:spPr bwMode="auto">
            <a:xfrm>
              <a:off x="536" y="1225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496" name="Text Box 155"/>
            <p:cNvSpPr txBox="1">
              <a:spLocks noChangeArrowheads="1"/>
            </p:cNvSpPr>
            <p:nvPr/>
          </p:nvSpPr>
          <p:spPr bwMode="auto">
            <a:xfrm>
              <a:off x="412" y="1095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497" name="Text Box 156"/>
            <p:cNvSpPr txBox="1">
              <a:spLocks noChangeArrowheads="1"/>
            </p:cNvSpPr>
            <p:nvPr/>
          </p:nvSpPr>
          <p:spPr bwMode="auto">
            <a:xfrm>
              <a:off x="537" y="1839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498" name="Text Box 157"/>
            <p:cNvSpPr txBox="1">
              <a:spLocks noChangeArrowheads="1"/>
            </p:cNvSpPr>
            <p:nvPr/>
          </p:nvSpPr>
          <p:spPr bwMode="auto">
            <a:xfrm>
              <a:off x="408" y="1700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499" name="Text Box 158"/>
            <p:cNvSpPr txBox="1">
              <a:spLocks noChangeArrowheads="1"/>
            </p:cNvSpPr>
            <p:nvPr/>
          </p:nvSpPr>
          <p:spPr bwMode="auto">
            <a:xfrm>
              <a:off x="130" y="813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</p:grpSp>
      <p:grpSp>
        <p:nvGrpSpPr>
          <p:cNvPr id="9" name="Group 159"/>
          <p:cNvGrpSpPr>
            <a:grpSpLocks/>
          </p:cNvGrpSpPr>
          <p:nvPr/>
        </p:nvGrpSpPr>
        <p:grpSpPr bwMode="auto">
          <a:xfrm>
            <a:off x="5800746" y="1636712"/>
            <a:ext cx="595315" cy="2489200"/>
            <a:chOff x="3668" y="719"/>
            <a:chExt cx="375" cy="1568"/>
          </a:xfrm>
        </p:grpSpPr>
        <p:sp>
          <p:nvSpPr>
            <p:cNvPr id="19473" name="Text Box 160"/>
            <p:cNvSpPr txBox="1">
              <a:spLocks noChangeArrowheads="1"/>
            </p:cNvSpPr>
            <p:nvPr/>
          </p:nvSpPr>
          <p:spPr bwMode="auto">
            <a:xfrm>
              <a:off x="3812" y="898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474" name="Rectangle 161"/>
            <p:cNvSpPr>
              <a:spLocks noChangeArrowheads="1"/>
            </p:cNvSpPr>
            <p:nvPr/>
          </p:nvSpPr>
          <p:spPr bwMode="auto">
            <a:xfrm>
              <a:off x="3668" y="719"/>
              <a:ext cx="37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 smtClean="0">
                  <a:solidFill>
                    <a:srgbClr val="000000"/>
                  </a:solidFill>
                  <a:latin typeface="ISOCPEUR" pitchFamily="34" charset="0"/>
                </a:rPr>
                <a:t>3’ (4’)</a:t>
              </a:r>
              <a:endParaRPr lang="en-US" altLang="zh-CN" sz="2000" dirty="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475" name="Rectangle 162"/>
            <p:cNvSpPr>
              <a:spLocks noChangeArrowheads="1"/>
            </p:cNvSpPr>
            <p:nvPr/>
          </p:nvSpPr>
          <p:spPr bwMode="auto">
            <a:xfrm>
              <a:off x="3900" y="2095"/>
              <a:ext cx="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ISOCPEUR" pitchFamily="34" charset="0"/>
                </a:rPr>
                <a:t>3</a:t>
              </a:r>
              <a:endParaRPr lang="en-US" altLang="zh-CN" sz="200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476" name="Rectangle 163"/>
            <p:cNvSpPr>
              <a:spLocks noChangeArrowheads="1"/>
            </p:cNvSpPr>
            <p:nvPr/>
          </p:nvSpPr>
          <p:spPr bwMode="auto">
            <a:xfrm>
              <a:off x="3919" y="1726"/>
              <a:ext cx="8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ISOCPEUR" pitchFamily="34" charset="0"/>
                </a:rPr>
                <a:t>4</a:t>
              </a:r>
              <a:endParaRPr lang="en-US" altLang="zh-CN" sz="240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477" name="Line 164"/>
            <p:cNvSpPr>
              <a:spLocks noChangeShapeType="1"/>
            </p:cNvSpPr>
            <p:nvPr/>
          </p:nvSpPr>
          <p:spPr bwMode="auto">
            <a:xfrm>
              <a:off x="3898" y="968"/>
              <a:ext cx="0" cy="11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78" name="Text Box 165"/>
            <p:cNvSpPr txBox="1">
              <a:spLocks noChangeArrowheads="1"/>
            </p:cNvSpPr>
            <p:nvPr/>
          </p:nvSpPr>
          <p:spPr bwMode="auto">
            <a:xfrm>
              <a:off x="3808" y="1819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479" name="Text Box 166"/>
            <p:cNvSpPr txBox="1">
              <a:spLocks noChangeArrowheads="1"/>
            </p:cNvSpPr>
            <p:nvPr/>
          </p:nvSpPr>
          <p:spPr bwMode="auto">
            <a:xfrm>
              <a:off x="3812" y="1992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991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3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32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32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2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2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19" grpId="0"/>
      <p:bldP spid="132202" grpId="0" autoUpdateAnimBg="0"/>
      <p:bldP spid="132203" grpId="0" autoUpdateAnimBg="0"/>
      <p:bldP spid="132204" grpId="0" animBg="1"/>
      <p:bldP spid="132213" grpId="0"/>
      <p:bldP spid="132214" grpId="0" build="p" autoUpdateAnimBg="0"/>
      <p:bldP spid="132215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26F4B10-A95F-4464-AD6E-CB8CD88E0D80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53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3315" name="Text Box 2"/>
          <p:cNvSpPr txBox="1">
            <a:spLocks noChangeArrowheads="1"/>
          </p:cNvSpPr>
          <p:nvPr/>
        </p:nvSpPr>
        <p:spPr bwMode="auto">
          <a:xfrm>
            <a:off x="341313" y="177800"/>
            <a:ext cx="88026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六</a:t>
            </a:r>
            <a:r>
              <a:rPr lang="zh-CN" altLang="en-US" sz="3600" dirty="0" smtClean="0">
                <a:latin typeface="黑体" pitchFamily="2" charset="-122"/>
                <a:ea typeface="黑体" pitchFamily="2" charset="-122"/>
              </a:rPr>
              <a:t>．</a:t>
            </a: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直线的迹</a:t>
            </a:r>
            <a:r>
              <a:rPr lang="zh-CN" altLang="en-US" sz="3600" dirty="0" smtClean="0">
                <a:latin typeface="黑体" pitchFamily="2" charset="-122"/>
                <a:ea typeface="黑体" pitchFamily="2" charset="-122"/>
              </a:rPr>
              <a:t>点 （</a:t>
            </a:r>
            <a:r>
              <a:rPr lang="zh-CN" altLang="en-US" sz="36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自学</a:t>
            </a:r>
            <a:r>
              <a:rPr lang="zh-CN" altLang="en-US" sz="3600" dirty="0" smtClean="0">
                <a:latin typeface="黑体" pitchFamily="2" charset="-122"/>
                <a:ea typeface="黑体" pitchFamily="2" charset="-122"/>
              </a:rPr>
              <a:t>）</a:t>
            </a:r>
            <a:endParaRPr lang="zh-CN" altLang="en-US" sz="360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789488" y="4286250"/>
            <a:ext cx="4037012" cy="461963"/>
            <a:chOff x="142" y="2552"/>
            <a:chExt cx="2597" cy="297"/>
          </a:xfrm>
        </p:grpSpPr>
        <p:sp>
          <p:nvSpPr>
            <p:cNvPr id="13343" name="Text Box 4"/>
            <p:cNvSpPr txBox="1">
              <a:spLocks noChangeArrowheads="1"/>
            </p:cNvSpPr>
            <p:nvPr/>
          </p:nvSpPr>
          <p:spPr bwMode="auto">
            <a:xfrm>
              <a:off x="142" y="2555"/>
              <a:ext cx="314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3344" name="Text Box 5"/>
            <p:cNvSpPr txBox="1">
              <a:spLocks noChangeArrowheads="1"/>
            </p:cNvSpPr>
            <p:nvPr/>
          </p:nvSpPr>
          <p:spPr bwMode="auto">
            <a:xfrm>
              <a:off x="2437" y="2552"/>
              <a:ext cx="302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3345" name="Line 6"/>
            <p:cNvSpPr>
              <a:spLocks noChangeShapeType="1"/>
            </p:cNvSpPr>
            <p:nvPr/>
          </p:nvSpPr>
          <p:spPr bwMode="auto">
            <a:xfrm>
              <a:off x="408" y="2808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9031" name="Text Box 7"/>
          <p:cNvSpPr txBox="1">
            <a:spLocks noChangeArrowheads="1"/>
          </p:cNvSpPr>
          <p:nvPr/>
        </p:nvSpPr>
        <p:spPr bwMode="auto">
          <a:xfrm>
            <a:off x="341313" y="4246563"/>
            <a:ext cx="880268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分析：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因为迹点是投影面上点，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迹点的一个投影必在轴上！</a:t>
            </a:r>
          </a:p>
        </p:txBody>
      </p:sp>
      <p:sp>
        <p:nvSpPr>
          <p:cNvPr id="129032" name="Line 8"/>
          <p:cNvSpPr>
            <a:spLocks noChangeShapeType="1"/>
          </p:cNvSpPr>
          <p:nvPr/>
        </p:nvSpPr>
        <p:spPr bwMode="auto">
          <a:xfrm flipH="1">
            <a:off x="5686425" y="4338638"/>
            <a:ext cx="419100" cy="33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3" name="Line 9"/>
          <p:cNvSpPr>
            <a:spLocks noChangeShapeType="1"/>
          </p:cNvSpPr>
          <p:nvPr/>
        </p:nvSpPr>
        <p:spPr bwMode="auto">
          <a:xfrm>
            <a:off x="5686425" y="4681538"/>
            <a:ext cx="0" cy="1238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4" name="Line 10"/>
          <p:cNvSpPr>
            <a:spLocks noChangeShapeType="1"/>
          </p:cNvSpPr>
          <p:nvPr/>
        </p:nvSpPr>
        <p:spPr bwMode="auto">
          <a:xfrm flipH="1">
            <a:off x="5697538" y="5719763"/>
            <a:ext cx="409575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5" name="AutoShape 11"/>
          <p:cNvSpPr>
            <a:spLocks noChangeArrowheads="1"/>
          </p:cNvSpPr>
          <p:nvPr/>
        </p:nvSpPr>
        <p:spPr bwMode="auto">
          <a:xfrm>
            <a:off x="5648325" y="4652963"/>
            <a:ext cx="74613" cy="74612"/>
          </a:xfrm>
          <a:prstGeom prst="flowChartConnector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9036" name="AutoShape 12"/>
          <p:cNvSpPr>
            <a:spLocks noChangeArrowheads="1"/>
          </p:cNvSpPr>
          <p:nvPr/>
        </p:nvSpPr>
        <p:spPr bwMode="auto">
          <a:xfrm>
            <a:off x="5657850" y="5881688"/>
            <a:ext cx="74613" cy="74612"/>
          </a:xfrm>
          <a:prstGeom prst="flowChartConnector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9037" name="Text Box 13"/>
          <p:cNvSpPr txBox="1">
            <a:spLocks noChangeArrowheads="1"/>
          </p:cNvSpPr>
          <p:nvPr/>
        </p:nvSpPr>
        <p:spPr bwMode="auto">
          <a:xfrm>
            <a:off x="5265738" y="4359275"/>
            <a:ext cx="58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m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</a:t>
            </a:r>
          </a:p>
        </p:txBody>
      </p:sp>
      <p:sp>
        <p:nvSpPr>
          <p:cNvPr id="129038" name="Text Box 14"/>
          <p:cNvSpPr txBox="1">
            <a:spLocks noChangeArrowheads="1"/>
          </p:cNvSpPr>
          <p:nvPr/>
        </p:nvSpPr>
        <p:spPr bwMode="auto">
          <a:xfrm>
            <a:off x="4637088" y="5672138"/>
            <a:ext cx="4506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m </a:t>
            </a: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2400" i="1">
                <a:latin typeface="ISOCPEUR" pitchFamily="34" charset="0"/>
              </a:rPr>
              <a:t> </a:t>
            </a:r>
            <a:r>
              <a:rPr lang="en-US" altLang="zh-CN" sz="2400">
                <a:latin typeface="ISOCPEUR" pitchFamily="34" charset="0"/>
              </a:rPr>
              <a:t>M</a:t>
            </a:r>
          </a:p>
        </p:txBody>
      </p:sp>
      <p:sp>
        <p:nvSpPr>
          <p:cNvPr id="129039" name="Line 15"/>
          <p:cNvSpPr>
            <a:spLocks noChangeShapeType="1"/>
          </p:cNvSpPr>
          <p:nvPr/>
        </p:nvSpPr>
        <p:spPr bwMode="auto">
          <a:xfrm flipV="1">
            <a:off x="7715250" y="4683125"/>
            <a:ext cx="36195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40" name="Line 16"/>
          <p:cNvSpPr>
            <a:spLocks noChangeShapeType="1"/>
          </p:cNvSpPr>
          <p:nvPr/>
        </p:nvSpPr>
        <p:spPr bwMode="auto">
          <a:xfrm flipV="1">
            <a:off x="8077200" y="2747963"/>
            <a:ext cx="0" cy="1933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41" name="Line 17"/>
          <p:cNvSpPr>
            <a:spLocks noChangeShapeType="1"/>
          </p:cNvSpPr>
          <p:nvPr/>
        </p:nvSpPr>
        <p:spPr bwMode="auto">
          <a:xfrm flipV="1">
            <a:off x="7724775" y="2747963"/>
            <a:ext cx="350838" cy="276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42" name="AutoShape 18"/>
          <p:cNvSpPr>
            <a:spLocks noChangeArrowheads="1"/>
          </p:cNvSpPr>
          <p:nvPr/>
        </p:nvSpPr>
        <p:spPr bwMode="auto">
          <a:xfrm>
            <a:off x="8029575" y="4643438"/>
            <a:ext cx="74613" cy="74612"/>
          </a:xfrm>
          <a:prstGeom prst="flowChartConnector">
            <a:avLst/>
          </a:pr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9043" name="Text Box 19"/>
          <p:cNvSpPr txBox="1">
            <a:spLocks noChangeArrowheads="1"/>
          </p:cNvSpPr>
          <p:nvPr/>
        </p:nvSpPr>
        <p:spPr bwMode="auto">
          <a:xfrm>
            <a:off x="7932738" y="4567238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n</a:t>
            </a:r>
          </a:p>
        </p:txBody>
      </p:sp>
      <p:sp>
        <p:nvSpPr>
          <p:cNvPr id="129044" name="AutoShape 20"/>
          <p:cNvSpPr>
            <a:spLocks noChangeArrowheads="1"/>
          </p:cNvSpPr>
          <p:nvPr/>
        </p:nvSpPr>
        <p:spPr bwMode="auto">
          <a:xfrm>
            <a:off x="8039100" y="2700338"/>
            <a:ext cx="74613" cy="74612"/>
          </a:xfrm>
          <a:prstGeom prst="flowChartConnector">
            <a:avLst/>
          </a:pr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9045" name="Text Box 21"/>
          <p:cNvSpPr txBox="1">
            <a:spLocks noChangeArrowheads="1"/>
          </p:cNvSpPr>
          <p:nvPr/>
        </p:nvSpPr>
        <p:spPr bwMode="auto">
          <a:xfrm>
            <a:off x="7596188" y="2300288"/>
            <a:ext cx="1323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n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</a:t>
            </a: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2400" i="1">
                <a:latin typeface="ISOCPEUR" pitchFamily="34" charset="0"/>
              </a:rPr>
              <a:t> N</a:t>
            </a:r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5695950" y="2871788"/>
            <a:ext cx="2722563" cy="3148012"/>
            <a:chOff x="3588" y="2040"/>
            <a:chExt cx="1715" cy="1983"/>
          </a:xfrm>
        </p:grpSpPr>
        <p:sp>
          <p:nvSpPr>
            <p:cNvPr id="13335" name="Line 23"/>
            <p:cNvSpPr>
              <a:spLocks noChangeShapeType="1"/>
            </p:cNvSpPr>
            <p:nvPr/>
          </p:nvSpPr>
          <p:spPr bwMode="auto">
            <a:xfrm>
              <a:off x="3852" y="2952"/>
              <a:ext cx="0" cy="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6" name="Line 24"/>
            <p:cNvSpPr>
              <a:spLocks noChangeShapeType="1"/>
            </p:cNvSpPr>
            <p:nvPr/>
          </p:nvSpPr>
          <p:spPr bwMode="auto">
            <a:xfrm>
              <a:off x="4863" y="2135"/>
              <a:ext cx="0" cy="1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7" name="Line 25"/>
            <p:cNvSpPr>
              <a:spLocks noChangeShapeType="1"/>
            </p:cNvSpPr>
            <p:nvPr/>
          </p:nvSpPr>
          <p:spPr bwMode="auto">
            <a:xfrm flipH="1">
              <a:off x="3852" y="3307"/>
              <a:ext cx="1011" cy="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8" name="Line 26"/>
            <p:cNvSpPr>
              <a:spLocks noChangeShapeType="1"/>
            </p:cNvSpPr>
            <p:nvPr/>
          </p:nvSpPr>
          <p:spPr bwMode="auto">
            <a:xfrm flipV="1">
              <a:off x="3852" y="2129"/>
              <a:ext cx="1017" cy="8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9" name="Text Box 27"/>
            <p:cNvSpPr txBox="1">
              <a:spLocks noChangeArrowheads="1"/>
            </p:cNvSpPr>
            <p:nvPr/>
          </p:nvSpPr>
          <p:spPr bwMode="auto">
            <a:xfrm>
              <a:off x="3588" y="2786"/>
              <a:ext cx="4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a’</a:t>
              </a:r>
            </a:p>
          </p:txBody>
        </p:sp>
        <p:sp>
          <p:nvSpPr>
            <p:cNvPr id="13340" name="Text Box 28"/>
            <p:cNvSpPr txBox="1">
              <a:spLocks noChangeArrowheads="1"/>
            </p:cNvSpPr>
            <p:nvPr/>
          </p:nvSpPr>
          <p:spPr bwMode="auto">
            <a:xfrm>
              <a:off x="4852" y="2040"/>
              <a:ext cx="45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b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’</a:t>
              </a:r>
            </a:p>
          </p:txBody>
        </p:sp>
        <p:sp>
          <p:nvSpPr>
            <p:cNvPr id="13341" name="Text Box 29"/>
            <p:cNvSpPr txBox="1">
              <a:spLocks noChangeArrowheads="1"/>
            </p:cNvSpPr>
            <p:nvPr/>
          </p:nvSpPr>
          <p:spPr bwMode="auto">
            <a:xfrm>
              <a:off x="3832" y="3773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13342" name="Text Box 30"/>
            <p:cNvSpPr txBox="1">
              <a:spLocks noChangeArrowheads="1"/>
            </p:cNvSpPr>
            <p:nvPr/>
          </p:nvSpPr>
          <p:spPr bwMode="auto">
            <a:xfrm>
              <a:off x="4699" y="3260"/>
              <a:ext cx="4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  b </a:t>
              </a:r>
              <a:endParaRPr lang="en-US" altLang="zh-CN" sz="2000" i="1">
                <a:latin typeface="ISOCPEUR" pitchFamily="34" charset="0"/>
                <a:ea typeface="仿宋_GB2312" pitchFamily="49" charset="-122"/>
              </a:endParaRPr>
            </a:p>
          </p:txBody>
        </p:sp>
      </p:grpSp>
      <p:sp>
        <p:nvSpPr>
          <p:cNvPr id="129055" name="Text Box 31"/>
          <p:cNvSpPr txBox="1">
            <a:spLocks noChangeArrowheads="1"/>
          </p:cNvSpPr>
          <p:nvPr/>
        </p:nvSpPr>
        <p:spPr bwMode="auto">
          <a:xfrm>
            <a:off x="341313" y="2146300"/>
            <a:ext cx="880268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规定：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直线与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H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面的交点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水平迹点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M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直线与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V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面的交点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正面迹点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直线与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W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面的交点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侧面迹点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S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）</a:t>
            </a:r>
          </a:p>
        </p:txBody>
      </p:sp>
      <p:sp>
        <p:nvSpPr>
          <p:cNvPr id="129056" name="Text Box 32"/>
          <p:cNvSpPr txBox="1">
            <a:spLocks noChangeArrowheads="1"/>
          </p:cNvSpPr>
          <p:nvPr/>
        </p:nvSpPr>
        <p:spPr bwMode="auto">
          <a:xfrm>
            <a:off x="341313" y="1054100"/>
            <a:ext cx="88026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定义：直线与投影面的交点，称为该直线的迹点。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迹点既在直线上（或延长线上），又在投影面上。</a:t>
            </a:r>
          </a:p>
        </p:txBody>
      </p:sp>
    </p:spTree>
    <p:extLst>
      <p:ext uri="{BB962C8B-B14F-4D97-AF65-F5344CB8AC3E}">
        <p14:creationId xmlns:p14="http://schemas.microsoft.com/office/powerpoint/2010/main" val="100162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2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2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29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2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29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29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1" grpId="0"/>
      <p:bldP spid="129032" grpId="0" animBg="1"/>
      <p:bldP spid="129033" grpId="0" animBg="1"/>
      <p:bldP spid="129034" grpId="0" animBg="1"/>
      <p:bldP spid="129035" grpId="0" animBg="1"/>
      <p:bldP spid="129036" grpId="0" animBg="1"/>
      <p:bldP spid="129037" grpId="0" autoUpdateAnimBg="0"/>
      <p:bldP spid="129038" grpId="0" autoUpdateAnimBg="0"/>
      <p:bldP spid="129039" grpId="0" animBg="1"/>
      <p:bldP spid="129040" grpId="0" animBg="1"/>
      <p:bldP spid="129041" grpId="0" animBg="1"/>
      <p:bldP spid="129042" grpId="0" animBg="1"/>
      <p:bldP spid="129043" grpId="0" autoUpdateAnimBg="0"/>
      <p:bldP spid="129044" grpId="0" animBg="1"/>
      <p:bldP spid="129045" grpId="0" autoUpdateAnimBg="0"/>
      <p:bldP spid="129055" grpId="0" build="p" autoUpdateAnimBg="0"/>
      <p:bldP spid="12905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2BB46B-25CF-4745-A585-34E97E5FFFFD}" type="slidenum">
              <a:rPr lang="en-US" altLang="zh-CN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41987" name="Text Box 35"/>
          <p:cNvSpPr txBox="1">
            <a:spLocks noChangeArrowheads="1"/>
          </p:cNvSpPr>
          <p:nvPr/>
        </p:nvSpPr>
        <p:spPr bwMode="auto">
          <a:xfrm>
            <a:off x="158750" y="131763"/>
            <a:ext cx="8802688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附录：尺规作图基本知识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1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endParaRPr lang="en-US" altLang="zh-CN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1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点：圆点，直径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1mm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2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直线：有头有尾，两端标记字母。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    可见轮廓线 － 粗实线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    绘图辅助线 － 细实线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4856163" y="3382963"/>
            <a:ext cx="4111625" cy="461962"/>
            <a:chOff x="145" y="2555"/>
            <a:chExt cx="2590" cy="291"/>
          </a:xfrm>
        </p:grpSpPr>
        <p:sp>
          <p:nvSpPr>
            <p:cNvPr id="42011" name="Text Box 37"/>
            <p:cNvSpPr txBox="1">
              <a:spLocks noChangeArrowheads="1"/>
            </p:cNvSpPr>
            <p:nvPr/>
          </p:nvSpPr>
          <p:spPr bwMode="auto">
            <a:xfrm>
              <a:off x="145" y="255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42012" name="Text Box 38"/>
            <p:cNvSpPr txBox="1">
              <a:spLocks noChangeArrowheads="1"/>
            </p:cNvSpPr>
            <p:nvPr/>
          </p:nvSpPr>
          <p:spPr bwMode="auto">
            <a:xfrm>
              <a:off x="2439" y="2555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42013" name="Line 39"/>
            <p:cNvSpPr>
              <a:spLocks noChangeShapeType="1"/>
            </p:cNvSpPr>
            <p:nvPr/>
          </p:nvSpPr>
          <p:spPr bwMode="auto">
            <a:xfrm>
              <a:off x="408" y="2808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5762625" y="1903413"/>
            <a:ext cx="2779713" cy="3692525"/>
            <a:chOff x="714" y="1129"/>
            <a:chExt cx="1751" cy="2326"/>
          </a:xfrm>
        </p:grpSpPr>
        <p:sp>
          <p:nvSpPr>
            <p:cNvPr id="42003" name="Line 41"/>
            <p:cNvSpPr>
              <a:spLocks noChangeShapeType="1"/>
            </p:cNvSpPr>
            <p:nvPr/>
          </p:nvSpPr>
          <p:spPr bwMode="auto">
            <a:xfrm>
              <a:off x="984" y="2058"/>
              <a:ext cx="0" cy="1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4" name="Line 42"/>
            <p:cNvSpPr>
              <a:spLocks noChangeShapeType="1"/>
            </p:cNvSpPr>
            <p:nvPr/>
          </p:nvSpPr>
          <p:spPr bwMode="auto">
            <a:xfrm>
              <a:off x="2016" y="1224"/>
              <a:ext cx="0" cy="17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5" name="Line 43"/>
            <p:cNvSpPr>
              <a:spLocks noChangeShapeType="1"/>
            </p:cNvSpPr>
            <p:nvPr/>
          </p:nvSpPr>
          <p:spPr bwMode="auto">
            <a:xfrm flipH="1">
              <a:off x="984" y="2946"/>
              <a:ext cx="1032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6" name="Line 44"/>
            <p:cNvSpPr>
              <a:spLocks noChangeShapeType="1"/>
            </p:cNvSpPr>
            <p:nvPr/>
          </p:nvSpPr>
          <p:spPr bwMode="auto">
            <a:xfrm flipV="1">
              <a:off x="984" y="1218"/>
              <a:ext cx="1038" cy="8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7" name="Text Box 45"/>
            <p:cNvSpPr txBox="1">
              <a:spLocks noChangeArrowheads="1"/>
            </p:cNvSpPr>
            <p:nvPr/>
          </p:nvSpPr>
          <p:spPr bwMode="auto">
            <a:xfrm>
              <a:off x="714" y="1891"/>
              <a:ext cx="4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a’</a:t>
              </a:r>
            </a:p>
          </p:txBody>
        </p:sp>
        <p:sp>
          <p:nvSpPr>
            <p:cNvPr id="42008" name="Text Box 46"/>
            <p:cNvSpPr txBox="1">
              <a:spLocks noChangeArrowheads="1"/>
            </p:cNvSpPr>
            <p:nvPr/>
          </p:nvSpPr>
          <p:spPr bwMode="auto">
            <a:xfrm>
              <a:off x="2005" y="1129"/>
              <a:ext cx="4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b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’</a:t>
              </a:r>
            </a:p>
          </p:txBody>
        </p:sp>
        <p:sp>
          <p:nvSpPr>
            <p:cNvPr id="42009" name="Text Box 47"/>
            <p:cNvSpPr txBox="1">
              <a:spLocks noChangeArrowheads="1"/>
            </p:cNvSpPr>
            <p:nvPr/>
          </p:nvSpPr>
          <p:spPr bwMode="auto">
            <a:xfrm>
              <a:off x="768" y="320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42010" name="Text Box 48"/>
            <p:cNvSpPr txBox="1">
              <a:spLocks noChangeArrowheads="1"/>
            </p:cNvSpPr>
            <p:nvPr/>
          </p:nvSpPr>
          <p:spPr bwMode="auto">
            <a:xfrm>
              <a:off x="1919" y="2884"/>
              <a:ext cx="41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b </a:t>
              </a:r>
              <a:endParaRPr lang="en-US" altLang="zh-CN" sz="2000" i="1">
                <a:latin typeface="ISOCPEUR" pitchFamily="34" charset="0"/>
                <a:ea typeface="仿宋_GB2312" pitchFamily="49" charset="-122"/>
              </a:endParaRPr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6626225" y="2338388"/>
            <a:ext cx="714375" cy="3082925"/>
            <a:chOff x="1260" y="1405"/>
            <a:chExt cx="450" cy="1942"/>
          </a:xfrm>
        </p:grpSpPr>
        <p:sp>
          <p:nvSpPr>
            <p:cNvPr id="41998" name="Line 50"/>
            <p:cNvSpPr>
              <a:spLocks noChangeShapeType="1"/>
            </p:cNvSpPr>
            <p:nvPr/>
          </p:nvSpPr>
          <p:spPr bwMode="auto">
            <a:xfrm>
              <a:off x="1548" y="1608"/>
              <a:ext cx="0" cy="14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9" name="AutoShape 51"/>
            <p:cNvSpPr>
              <a:spLocks noChangeArrowheads="1"/>
            </p:cNvSpPr>
            <p:nvPr/>
          </p:nvSpPr>
          <p:spPr bwMode="auto">
            <a:xfrm>
              <a:off x="1527" y="1577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42000" name="AutoShape 52"/>
            <p:cNvSpPr>
              <a:spLocks noChangeArrowheads="1"/>
            </p:cNvSpPr>
            <p:nvPr/>
          </p:nvSpPr>
          <p:spPr bwMode="auto">
            <a:xfrm>
              <a:off x="1527" y="3089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42001" name="Text Box 53"/>
            <p:cNvSpPr txBox="1">
              <a:spLocks noChangeArrowheads="1"/>
            </p:cNvSpPr>
            <p:nvPr/>
          </p:nvSpPr>
          <p:spPr bwMode="auto">
            <a:xfrm>
              <a:off x="1362" y="3097"/>
              <a:ext cx="3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l</a:t>
              </a:r>
            </a:p>
          </p:txBody>
        </p:sp>
        <p:sp>
          <p:nvSpPr>
            <p:cNvPr id="42002" name="Text Box 54"/>
            <p:cNvSpPr txBox="1">
              <a:spLocks noChangeArrowheads="1"/>
            </p:cNvSpPr>
            <p:nvPr/>
          </p:nvSpPr>
          <p:spPr bwMode="auto">
            <a:xfrm>
              <a:off x="1260" y="1405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l’</a:t>
              </a:r>
            </a:p>
          </p:txBody>
        </p:sp>
      </p:grp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6332538" y="2552700"/>
            <a:ext cx="784225" cy="3248025"/>
            <a:chOff x="1114" y="1507"/>
            <a:chExt cx="494" cy="2046"/>
          </a:xfrm>
        </p:grpSpPr>
        <p:sp>
          <p:nvSpPr>
            <p:cNvPr id="41993" name="Line 56"/>
            <p:cNvSpPr>
              <a:spLocks noChangeShapeType="1"/>
            </p:cNvSpPr>
            <p:nvPr/>
          </p:nvSpPr>
          <p:spPr bwMode="auto">
            <a:xfrm>
              <a:off x="1380" y="1734"/>
              <a:ext cx="0" cy="17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4" name="AutoShape 57"/>
            <p:cNvSpPr>
              <a:spLocks noChangeArrowheads="1"/>
            </p:cNvSpPr>
            <p:nvPr/>
          </p:nvSpPr>
          <p:spPr bwMode="auto">
            <a:xfrm>
              <a:off x="1359" y="3437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41995" name="AutoShape 58"/>
            <p:cNvSpPr>
              <a:spLocks noChangeArrowheads="1"/>
            </p:cNvSpPr>
            <p:nvPr/>
          </p:nvSpPr>
          <p:spPr bwMode="auto">
            <a:xfrm>
              <a:off x="1359" y="1721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41996" name="Text Box 59"/>
            <p:cNvSpPr txBox="1">
              <a:spLocks noChangeArrowheads="1"/>
            </p:cNvSpPr>
            <p:nvPr/>
          </p:nvSpPr>
          <p:spPr bwMode="auto">
            <a:xfrm>
              <a:off x="1367" y="3322"/>
              <a:ext cx="24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k </a:t>
              </a:r>
            </a:p>
          </p:txBody>
        </p:sp>
        <p:sp>
          <p:nvSpPr>
            <p:cNvPr id="41997" name="Text Box 60"/>
            <p:cNvSpPr txBox="1">
              <a:spLocks noChangeArrowheads="1"/>
            </p:cNvSpPr>
            <p:nvPr/>
          </p:nvSpPr>
          <p:spPr bwMode="auto">
            <a:xfrm>
              <a:off x="1114" y="1507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k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’</a:t>
              </a:r>
            </a:p>
          </p:txBody>
        </p:sp>
      </p:grpSp>
      <p:sp>
        <p:nvSpPr>
          <p:cNvPr id="180285" name="Text Box 61"/>
          <p:cNvSpPr txBox="1">
            <a:spLocks noChangeArrowheads="1"/>
          </p:cNvSpPr>
          <p:nvPr/>
        </p:nvSpPr>
        <p:spPr bwMode="auto">
          <a:xfrm>
            <a:off x="341313" y="4543425"/>
            <a:ext cx="8802687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3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平行线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4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垂直线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8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D0C0C6-3D37-4EF6-8C2D-726638D235C5}" type="slidenum">
              <a:rPr lang="en-US" altLang="zh-CN"/>
              <a:pPr>
                <a:defRPr/>
              </a:pPr>
              <a:t>55</a:t>
            </a:fld>
            <a:endParaRPr lang="en-US" altLang="zh-CN"/>
          </a:p>
        </p:txBody>
      </p:sp>
      <p:sp>
        <p:nvSpPr>
          <p:cNvPr id="43011" name="AutoShape 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actionButtonBlank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marL="457200" indent="-4572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黑体" pitchFamily="2" charset="-122"/>
              </a:rPr>
              <a:t>It is a good answer that knows when to stop. 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ea typeface="黑体" pitchFamily="2" charset="-122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                                                   </a:t>
            </a:r>
            <a:r>
              <a:rPr lang="en-US" altLang="zh-CN" sz="2400" dirty="0" smtClean="0">
                <a:ea typeface="黑体" pitchFamily="2" charset="-122"/>
              </a:rPr>
              <a:t>                         </a:t>
            </a:r>
            <a:r>
              <a:rPr lang="zh-CN" altLang="en-US" sz="2400" dirty="0" smtClean="0">
                <a:ea typeface="黑体" pitchFamily="2" charset="-122"/>
              </a:rPr>
              <a:t>－ </a:t>
            </a:r>
            <a:r>
              <a:rPr lang="en-US" altLang="zh-CN" sz="2400" dirty="0">
                <a:ea typeface="黑体" pitchFamily="2" charset="-122"/>
              </a:rPr>
              <a:t>Italian Proverb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黑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Office\Templates\演示文稿设计\场景型模板.pot</Template>
  <TotalTime>10053</TotalTime>
  <Words>3882</Words>
  <Application>Microsoft Office PowerPoint</Application>
  <PresentationFormat>全屏显示(4:3)</PresentationFormat>
  <Paragraphs>1172</Paragraphs>
  <Slides>55</Slides>
  <Notes>3</Notes>
  <HiddenSlides>0</HiddenSlides>
  <MMClips>1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55</vt:i4>
      </vt:variant>
    </vt:vector>
  </HeadingPairs>
  <TitlesOfParts>
    <vt:vector size="60" baseType="lpstr">
      <vt:lpstr>场景型模板</vt:lpstr>
      <vt:lpstr>Image</vt:lpstr>
      <vt:lpstr>BMP 图像</vt:lpstr>
      <vt:lpstr>位图图像</vt:lpstr>
      <vt:lpstr>Photo Editor 照片</vt:lpstr>
      <vt:lpstr>   机械设计基础 (1)</vt:lpstr>
      <vt:lpstr> “机械设计基础”系列课程  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第一讲</vt:lpstr>
      <vt:lpstr>第一章  绪论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三．内容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第二章  点、直线和平面的投影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ENGINEERING GRAPHICS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第一讲            1999.9.29</dc:title>
  <dc:creator>litm</dc:creator>
  <cp:lastModifiedBy>Li Tiemin</cp:lastModifiedBy>
  <cp:revision>450</cp:revision>
  <dcterms:created xsi:type="dcterms:W3CDTF">1999-09-22T00:31:18Z</dcterms:created>
  <dcterms:modified xsi:type="dcterms:W3CDTF">2023-09-17T09:18:50Z</dcterms:modified>
</cp:coreProperties>
</file>