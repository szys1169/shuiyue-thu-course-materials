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1" r:id="rId4"/>
    <p:sldId id="260" r:id="rId5"/>
    <p:sldId id="263" r:id="rId6"/>
    <p:sldId id="265" r:id="rId7"/>
    <p:sldId id="266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88599" autoAdjust="0"/>
  </p:normalViewPr>
  <p:slideViewPr>
    <p:cSldViewPr snapToGrid="0">
      <p:cViewPr varScale="1">
        <p:scale>
          <a:sx n="76" d="100"/>
          <a:sy n="76" d="100"/>
        </p:scale>
        <p:origin x="120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643771-C58D-47BE-A95C-59290A2EB36D}" type="datetimeFigureOut">
              <a:rPr lang="zh-CN" altLang="en-US" smtClean="0"/>
              <a:t>2026/6/29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9B368-530A-438A-9DAD-13F09A89DB3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168" y="17371"/>
            <a:ext cx="2406041" cy="11978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770400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8000"/>
            <a:ext cx="7886700" cy="510649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3"/>
          <a:srcRect t="18900" b="24401"/>
          <a:stretch>
            <a:fillRect/>
          </a:stretch>
        </p:blipFill>
        <p:spPr>
          <a:xfrm>
            <a:off x="173618" y="1031493"/>
            <a:ext cx="8785284" cy="216024"/>
          </a:xfrm>
          <a:prstGeom prst="rect">
            <a:avLst/>
          </a:prstGeom>
        </p:spPr>
      </p:pic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>
            <a:lvl1pPr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Calibri (正文)"/>
              </a:defRPr>
            </a:lvl1pPr>
          </a:lstStyle>
          <a:p>
            <a:fld id="{6F463926-53FD-4ECB-B19C-E4EF13DB6407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188000"/>
            <a:ext cx="3886200" cy="5102842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188000"/>
            <a:ext cx="3886200" cy="5102842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  <a:lvl2pPr>
              <a:lnSpc>
                <a:spcPct val="110000"/>
              </a:lnSpc>
              <a:defRPr/>
            </a:lvl2pPr>
            <a:lvl3pPr>
              <a:lnSpc>
                <a:spcPct val="110000"/>
              </a:lnSpc>
              <a:defRPr/>
            </a:lvl3pPr>
            <a:lvl4pPr>
              <a:lnSpc>
                <a:spcPct val="110000"/>
              </a:lnSpc>
              <a:defRPr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sp>
        <p:nvSpPr>
          <p:cNvPr id="1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70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171871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112380"/>
            <a:ext cx="3868340" cy="4077283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171871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12380"/>
            <a:ext cx="3887391" cy="40772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156" y="254"/>
            <a:ext cx="1032719" cy="1031239"/>
          </a:xfrm>
          <a:prstGeom prst="rect">
            <a:avLst/>
          </a:prstGeom>
        </p:spPr>
      </p:pic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  <p:sp>
        <p:nvSpPr>
          <p:cNvPr id="9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907" y="46550"/>
            <a:ext cx="1202417" cy="1200694"/>
          </a:xfrm>
          <a:prstGeom prst="rect">
            <a:avLst/>
          </a:prstGeom>
        </p:spPr>
      </p:pic>
      <p:sp>
        <p:nvSpPr>
          <p:cNvPr id="8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235825" y="6524625"/>
            <a:ext cx="1905000" cy="333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3200">
                <a:solidFill>
                  <a:schemeClr val="tx1">
                    <a:lumMod val="65000"/>
                    <a:lumOff val="35000"/>
                  </a:schemeClr>
                </a:solidFill>
                <a:latin typeface="Courier New" panose="02070309020205020404" pitchFamily="49" charset="0"/>
                <a:ea typeface="方正姚体" pitchFamily="2" charset="-122"/>
              </a:defRPr>
            </a:lvl1pPr>
            <a:lvl2pPr marL="742950" indent="-28575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2pPr>
            <a:lvl3pPr marL="11430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3pPr>
            <a:lvl4pPr marL="16002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4pPr>
            <a:lvl5pPr marL="2057400" indent="-228600" eaLnBrk="0" hangingPunct="0"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FF00"/>
                </a:solidFill>
                <a:latin typeface="Courier New" panose="02070309020205020404" pitchFamily="49" charset="0"/>
                <a:ea typeface="方正姚体" pitchFamily="2" charset="-122"/>
              </a:defRPr>
            </a:lvl9pPr>
          </a:lstStyle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‹#›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69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88000"/>
            <a:ext cx="7886700" cy="49297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463926-53FD-4ECB-B19C-E4EF13DB640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zh-CN" altLang="en-US" sz="4800" dirty="0"/>
              <a:t>作业</a:t>
            </a:r>
            <a:r>
              <a:rPr lang="en-US" altLang="zh-CN" sz="4800" dirty="0"/>
              <a:t>: C++</a:t>
            </a:r>
            <a:r>
              <a:rPr lang="zh-CN" altLang="en-US" sz="4800" dirty="0"/>
              <a:t>高质量编程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7086600" y="6492875"/>
            <a:ext cx="2057400" cy="365125"/>
          </a:xfrm>
        </p:spPr>
        <p:txBody>
          <a:bodyPr/>
          <a:lstStyle/>
          <a:p>
            <a:fld id="{6F463926-53FD-4ECB-B19C-E4EF13DB6407}" type="slidenum">
              <a:rPr lang="zh-CN" altLang="en-US" smtClean="0"/>
              <a:t>1</a:t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640" y="4692373"/>
            <a:ext cx="2530805" cy="2237500"/>
          </a:xfrm>
          <a:prstGeom prst="rect">
            <a:avLst/>
          </a:prstGeom>
        </p:spPr>
      </p:pic>
      <p:sp>
        <p:nvSpPr>
          <p:cNvPr id="7" name="Subtitle 2"/>
          <p:cNvSpPr txBox="1"/>
          <p:nvPr/>
        </p:nvSpPr>
        <p:spPr>
          <a:xfrm>
            <a:off x="1143000" y="3338802"/>
            <a:ext cx="6858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ea typeface="隶书" panose="02010509060101010101" pitchFamily="49" charset="-122"/>
              </a:rPr>
              <a:t>助教：杜婉晴 </a:t>
            </a:r>
            <a:endParaRPr lang="en-US" altLang="zh-CN" dirty="0">
              <a:ea typeface="隶书" panose="02010509060101010101" pitchFamily="49" charset="-122"/>
            </a:endParaRPr>
          </a:p>
          <a:p>
            <a:r>
              <a:rPr lang="zh-CN" altLang="en-US" dirty="0">
                <a:ea typeface="隶书" panose="02010509060101010101" pitchFamily="49" charset="-122"/>
              </a:rPr>
              <a:t>邮箱：</a:t>
            </a:r>
            <a:r>
              <a:rPr lang="en-US" altLang="zh-CN" dirty="0">
                <a:ea typeface="隶书" panose="02010509060101010101" pitchFamily="49" charset="-122"/>
              </a:rPr>
              <a:t>duwanqingdwq@163.com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题：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24</a:t>
            </a:r>
            <a:r>
              <a:rPr lang="zh-CN" altLang="en-US" dirty="0"/>
              <a:t>点是一种经典的益智游戏，它的具体玩法如下：</a:t>
            </a:r>
            <a:endParaRPr lang="en-US" altLang="zh-CN" dirty="0"/>
          </a:p>
          <a:p>
            <a:pPr marL="0" indent="0" algn="just">
              <a:buNone/>
            </a:pPr>
            <a:r>
              <a:rPr lang="zh-CN" altLang="en-US" dirty="0"/>
              <a:t>给玩家</a:t>
            </a:r>
            <a:r>
              <a:rPr lang="en-US" altLang="zh-CN" dirty="0"/>
              <a:t>4</a:t>
            </a:r>
            <a:r>
              <a:rPr lang="zh-CN" altLang="en-US" dirty="0"/>
              <a:t>张牌，每张牌的面值在</a:t>
            </a:r>
            <a:r>
              <a:rPr lang="en-US" altLang="zh-CN" dirty="0"/>
              <a:t>1~13</a:t>
            </a:r>
            <a:r>
              <a:rPr lang="zh-CN" altLang="en-US" dirty="0"/>
              <a:t>之间，允许其中有数值相同的牌。采用加减乘除四则运算，允许中间运算存在小数，并且可以使用括号，但每张牌只能使用一次，尝试构造一个表达式，使其运算结果为</a:t>
            </a:r>
            <a:r>
              <a:rPr lang="en-US" altLang="zh-CN" dirty="0"/>
              <a:t>24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请你根据上述游戏规则构造一个玩</a:t>
            </a:r>
            <a:r>
              <a:rPr lang="en-US" altLang="zh-CN" dirty="0"/>
              <a:t>24</a:t>
            </a:r>
            <a:r>
              <a:rPr lang="zh-CN" altLang="en-US" dirty="0"/>
              <a:t>点的算法。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请在文档中简要分析使用的算法</a:t>
            </a:r>
            <a:r>
              <a:rPr lang="en-US" altLang="zh-CN" dirty="0"/>
              <a:t>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2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8000"/>
            <a:ext cx="4830318" cy="55181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b="1" dirty="0"/>
              <a:t>【输入】 </a:t>
            </a:r>
          </a:p>
          <a:p>
            <a:pPr marL="0" indent="0" algn="just">
              <a:buNone/>
            </a:pPr>
            <a:r>
              <a:rPr lang="zh-CN" altLang="en-US" dirty="0"/>
              <a:t>占一行，一共四个数（</a:t>
            </a:r>
            <a:r>
              <a:rPr lang="en-US" altLang="zh-CN" dirty="0"/>
              <a:t>1~13</a:t>
            </a:r>
            <a:r>
              <a:rPr lang="zh-CN" altLang="en-US" dirty="0"/>
              <a:t>），按空格分隔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b="1" dirty="0"/>
              <a:t>【输</a:t>
            </a:r>
            <a:r>
              <a:rPr lang="zh-CN" altLang="en-US" b="1" dirty="0"/>
              <a:t>出</a:t>
            </a:r>
            <a:r>
              <a:rPr lang="zh-CN" altLang="zh-CN" b="1" dirty="0"/>
              <a:t>】 </a:t>
            </a:r>
          </a:p>
          <a:p>
            <a:pPr marL="0" indent="0">
              <a:buNone/>
            </a:pPr>
            <a:r>
              <a:rPr lang="zh-CN" altLang="en-US" dirty="0"/>
              <a:t>若能得到运算结果为</a:t>
            </a:r>
            <a:r>
              <a:rPr lang="en-US" altLang="zh-CN" dirty="0"/>
              <a:t>24</a:t>
            </a:r>
            <a:r>
              <a:rPr lang="zh-CN" altLang="en-US" dirty="0"/>
              <a:t>，则输出所有能够得到</a:t>
            </a:r>
            <a:r>
              <a:rPr lang="en-US" altLang="zh-CN" dirty="0"/>
              <a:t>24</a:t>
            </a:r>
            <a:r>
              <a:rPr lang="zh-CN" altLang="en-US" dirty="0"/>
              <a:t>的运算表达式（格式如右侧输出样例所示，请注意括号的使用）；否则输出</a:t>
            </a:r>
            <a:r>
              <a:rPr lang="en-US" altLang="zh-CN" dirty="0"/>
              <a:t>no</a:t>
            </a:r>
            <a:r>
              <a:rPr lang="zh-CN" altLang="en-US" dirty="0"/>
              <a:t> 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算式间的输出顺序无要求，但不能重复输出完全一样的结果。</a:t>
            </a:r>
            <a:endParaRPr lang="en-US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3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02302" y="1443213"/>
            <a:ext cx="141304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>
                <a:sym typeface="Wingdings" panose="05000000000000000000" pitchFamily="2" charset="2"/>
              </a:rPr>
              <a:t>【</a:t>
            </a:r>
            <a:r>
              <a:rPr lang="zh-CN" altLang="zh-CN" sz="1600" b="1" dirty="0"/>
              <a:t>输</a:t>
            </a:r>
            <a:r>
              <a:rPr lang="zh-CN" altLang="en-US" sz="1600" b="1" dirty="0"/>
              <a:t>出样例</a:t>
            </a:r>
            <a:r>
              <a:rPr lang="en-US" altLang="zh-CN" sz="1600" dirty="0">
                <a:sym typeface="Wingdings" panose="05000000000000000000" pitchFamily="2" charset="2"/>
              </a:rPr>
              <a:t>】</a:t>
            </a:r>
            <a:endParaRPr lang="en-GB" altLang="zh-CN" sz="1600" dirty="0"/>
          </a:p>
          <a:p>
            <a:r>
              <a:rPr lang="zh-CN" altLang="en-US" sz="1600" dirty="0"/>
              <a:t>((10+5)-3)*2</a:t>
            </a:r>
          </a:p>
          <a:p>
            <a:r>
              <a:rPr lang="zh-CN" altLang="en-US" sz="1600" dirty="0"/>
              <a:t>(10+(5-3))*2</a:t>
            </a:r>
          </a:p>
          <a:p>
            <a:r>
              <a:rPr lang="zh-CN" altLang="en-US" sz="1600" dirty="0"/>
              <a:t>(10-(3-5))*2</a:t>
            </a:r>
          </a:p>
          <a:p>
            <a:r>
              <a:rPr lang="zh-CN" altLang="en-US" sz="1600" dirty="0"/>
              <a:t>((10-3)+5)*2</a:t>
            </a:r>
          </a:p>
          <a:p>
            <a:r>
              <a:rPr lang="zh-CN" altLang="en-US" sz="1600" dirty="0"/>
              <a:t>(10+2)*(5-3)</a:t>
            </a:r>
          </a:p>
          <a:p>
            <a:r>
              <a:rPr lang="zh-CN" altLang="en-US" sz="1600" dirty="0"/>
              <a:t>((5+10)-3)*2</a:t>
            </a:r>
          </a:p>
          <a:p>
            <a:r>
              <a:rPr lang="zh-CN" altLang="en-US" sz="1600" dirty="0"/>
              <a:t>(5+(10-3))*2</a:t>
            </a:r>
          </a:p>
          <a:p>
            <a:r>
              <a:rPr lang="zh-CN" altLang="en-US" sz="1600" dirty="0"/>
              <a:t>(5-(3-10))*2</a:t>
            </a:r>
          </a:p>
          <a:p>
            <a:r>
              <a:rPr lang="zh-CN" altLang="en-US" sz="1600" dirty="0"/>
              <a:t>((5-3)+10)*2</a:t>
            </a:r>
          </a:p>
          <a:p>
            <a:r>
              <a:rPr lang="zh-CN" altLang="en-US" sz="1600" dirty="0"/>
              <a:t>(5-3)*(10+2)</a:t>
            </a:r>
          </a:p>
          <a:p>
            <a:r>
              <a:rPr lang="zh-CN" altLang="en-US" sz="1600" dirty="0"/>
              <a:t>(5-3)*(2+10)</a:t>
            </a:r>
          </a:p>
          <a:p>
            <a:r>
              <a:rPr lang="zh-CN" altLang="en-US" sz="1600" dirty="0"/>
              <a:t>(2+10)*(5-3)</a:t>
            </a:r>
          </a:p>
          <a:p>
            <a:r>
              <a:rPr lang="zh-CN" altLang="en-US" sz="1600" dirty="0"/>
              <a:t>2*((10+5)-3)</a:t>
            </a:r>
          </a:p>
          <a:p>
            <a:r>
              <a:rPr lang="zh-CN" altLang="en-US" sz="1600" dirty="0"/>
              <a:t>2*(10+(5-3))</a:t>
            </a:r>
          </a:p>
          <a:p>
            <a:r>
              <a:rPr lang="zh-CN" altLang="en-US" sz="1600" dirty="0"/>
              <a:t>2*(10-(3-5))</a:t>
            </a:r>
          </a:p>
          <a:p>
            <a:r>
              <a:rPr lang="zh-CN" altLang="en-US" sz="1600" dirty="0"/>
              <a:t>2*((10-3)+5)</a:t>
            </a:r>
          </a:p>
          <a:p>
            <a:r>
              <a:rPr lang="zh-CN" altLang="en-US" sz="1600" dirty="0"/>
              <a:t>2*((5+10)-3)</a:t>
            </a:r>
          </a:p>
          <a:p>
            <a:r>
              <a:rPr lang="zh-CN" altLang="en-US" sz="1600" dirty="0"/>
              <a:t>2*(5+(10-3))</a:t>
            </a:r>
          </a:p>
          <a:p>
            <a:r>
              <a:rPr lang="zh-CN" altLang="en-US" sz="1600" dirty="0"/>
              <a:t>2*(5-(3-10))</a:t>
            </a:r>
          </a:p>
          <a:p>
            <a:r>
              <a:rPr lang="zh-CN" altLang="en-US" sz="1600" dirty="0"/>
              <a:t>2*((5-3)+10)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626198" y="1443213"/>
            <a:ext cx="147610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1600" b="1" dirty="0"/>
              <a:t>【输入</a:t>
            </a:r>
            <a:r>
              <a:rPr lang="zh-CN" altLang="en-US" sz="1600" b="1" dirty="0"/>
              <a:t>样例</a:t>
            </a:r>
            <a:r>
              <a:rPr lang="zh-CN" altLang="zh-CN" sz="1600" b="1" dirty="0"/>
              <a:t>】</a:t>
            </a:r>
            <a:endParaRPr lang="en-US" altLang="zh-CN" sz="1600" dirty="0"/>
          </a:p>
          <a:p>
            <a:r>
              <a:rPr lang="en-US" altLang="zh-CN" sz="1600" dirty="0"/>
              <a:t>2 3 5 10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2</a:t>
            </a:r>
            <a:r>
              <a:rPr lang="zh-CN" altLang="en-US" dirty="0"/>
              <a:t>题：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en-US" dirty="0"/>
              <a:t>在上题的基础上进行拓展，用户可以输入</a:t>
            </a:r>
            <a:r>
              <a:rPr lang="en-US" altLang="zh-CN" dirty="0"/>
              <a:t>n</a:t>
            </a:r>
            <a:r>
              <a:rPr lang="zh-CN" altLang="en-US" dirty="0"/>
              <a:t>个数和目标</a:t>
            </a:r>
            <a:r>
              <a:rPr lang="en-US" altLang="zh-CN" dirty="0"/>
              <a:t>D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为了简化问题，将可使用的运算符限定于加号和乘号两种，且它们之间既没有优先级次序也不得使用括号（故计算总是按输入</a:t>
            </a:r>
            <a:r>
              <a:rPr lang="en-US" altLang="zh-CN" dirty="0"/>
              <a:t>n</a:t>
            </a:r>
            <a:r>
              <a:rPr lang="zh-CN" altLang="en-US" dirty="0"/>
              <a:t>个数的顺序及添加的运算符自左向右进行）。</a:t>
            </a:r>
            <a:endParaRPr lang="en-US" altLang="zh-CN" dirty="0"/>
          </a:p>
          <a:p>
            <a:pPr marL="0" lvl="0" indent="0">
              <a:buNone/>
            </a:pPr>
            <a:r>
              <a:rPr lang="zh-CN" altLang="en-US" dirty="0"/>
              <a:t>一旦得不到目标</a:t>
            </a:r>
            <a:r>
              <a:rPr lang="en-US" altLang="zh-CN" dirty="0"/>
              <a:t>D</a:t>
            </a:r>
            <a:r>
              <a:rPr lang="zh-CN" altLang="en-US" dirty="0"/>
              <a:t>，我们希望知道一个能够通过这</a:t>
            </a:r>
            <a:r>
              <a:rPr lang="en-US" altLang="zh-CN" dirty="0"/>
              <a:t>n</a:t>
            </a:r>
            <a:r>
              <a:rPr lang="zh-CN" altLang="en-US" dirty="0"/>
              <a:t>个数得出的大于</a:t>
            </a:r>
            <a:r>
              <a:rPr lang="en-US" altLang="zh-CN" dirty="0"/>
              <a:t>D</a:t>
            </a:r>
            <a:r>
              <a:rPr lang="zh-CN" altLang="en-US" dirty="0"/>
              <a:t>的最小值。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【</a:t>
            </a:r>
            <a:r>
              <a:rPr lang="zh-CN" altLang="en-US" dirty="0"/>
              <a:t>请在文档中简要分析使用的算法</a:t>
            </a:r>
            <a:r>
              <a:rPr lang="en-US" altLang="zh-CN" dirty="0"/>
              <a:t>】</a:t>
            </a:r>
          </a:p>
          <a:p>
            <a:pPr marL="0" lvl="0" indent="0">
              <a:buNone/>
            </a:pPr>
            <a:endParaRPr lang="zh-CN" altLang="zh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4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88000"/>
            <a:ext cx="4153662" cy="49218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zh-CN" altLang="zh-CN" sz="2400" b="1" dirty="0"/>
              <a:t>【输入】 </a:t>
            </a:r>
          </a:p>
          <a:p>
            <a:pPr marL="0" indent="0" algn="just">
              <a:buNone/>
            </a:pPr>
            <a:r>
              <a:rPr lang="zh-CN" altLang="en-US" sz="2400" dirty="0"/>
              <a:t>第一行两个正整数 </a:t>
            </a:r>
            <a:r>
              <a:rPr lang="en-US" altLang="zh-CN" sz="2400" dirty="0"/>
              <a:t>N </a:t>
            </a:r>
            <a:r>
              <a:rPr lang="zh-CN" altLang="en-US" sz="2400" dirty="0"/>
              <a:t>和 </a:t>
            </a:r>
            <a:r>
              <a:rPr lang="en-US" altLang="zh-CN" sz="2400" dirty="0"/>
              <a:t>D</a:t>
            </a:r>
            <a:r>
              <a:rPr lang="zh-CN" altLang="en-US" sz="2400" dirty="0"/>
              <a:t>，分别表示数的个数和目标结果。第二行为 </a:t>
            </a:r>
            <a:r>
              <a:rPr lang="en-US" altLang="zh-CN" sz="2400" dirty="0"/>
              <a:t>N </a:t>
            </a:r>
            <a:r>
              <a:rPr lang="zh-CN" altLang="en-US" sz="2400" dirty="0"/>
              <a:t>个数字，以空格分隔。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zh-CN" sz="2400" b="1" dirty="0"/>
              <a:t>【输</a:t>
            </a:r>
            <a:r>
              <a:rPr lang="zh-CN" altLang="en-US" sz="2400" b="1" dirty="0"/>
              <a:t>出</a:t>
            </a:r>
            <a:r>
              <a:rPr lang="zh-CN" altLang="zh-CN" sz="2400" b="1" dirty="0"/>
              <a:t>】 </a:t>
            </a:r>
          </a:p>
          <a:p>
            <a:pPr marL="0" lvl="0" indent="0">
              <a:buNone/>
            </a:pPr>
            <a:r>
              <a:rPr lang="zh-CN" altLang="en-US" sz="2400" dirty="0"/>
              <a:t>若能得到</a:t>
            </a:r>
            <a:r>
              <a:rPr lang="en-US" altLang="zh-CN" sz="2400" dirty="0"/>
              <a:t>D</a:t>
            </a:r>
            <a:r>
              <a:rPr lang="zh-CN" altLang="en-US" sz="2400" dirty="0"/>
              <a:t>，则输出一个对应算式；否则输出</a:t>
            </a:r>
            <a:r>
              <a:rPr lang="en-US" altLang="zh-CN" sz="2400" dirty="0"/>
              <a:t>No</a:t>
            </a:r>
            <a:r>
              <a:rPr lang="zh-CN" altLang="en-US" sz="2400" dirty="0"/>
              <a:t>，以及大于</a:t>
            </a:r>
            <a:r>
              <a:rPr lang="en-US" altLang="zh-CN" sz="2400" dirty="0"/>
              <a:t>D</a:t>
            </a:r>
            <a:r>
              <a:rPr lang="zh-CN" altLang="en-US" sz="2400" dirty="0"/>
              <a:t>的最小值（最小值不存在则输出</a:t>
            </a:r>
            <a:r>
              <a:rPr lang="en-US" altLang="zh-CN" sz="2400" dirty="0"/>
              <a:t>-1</a:t>
            </a:r>
            <a:r>
              <a:rPr lang="zh-CN" altLang="en-US" sz="2400" dirty="0"/>
              <a:t>）。</a:t>
            </a:r>
            <a:endParaRPr lang="en-US" altLang="zh-CN" sz="2400" dirty="0"/>
          </a:p>
          <a:p>
            <a:pPr marL="0" lvl="0" indent="0">
              <a:buNone/>
            </a:pPr>
            <a:endParaRPr lang="zh-CN" altLang="zh-CN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5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75125" y="1652378"/>
            <a:ext cx="2141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ym typeface="Wingdings" panose="05000000000000000000" pitchFamily="2" charset="2"/>
              </a:rPr>
              <a:t>【</a:t>
            </a:r>
            <a:r>
              <a:rPr lang="zh-CN" altLang="zh-CN" sz="1400" b="1" dirty="0"/>
              <a:t>输</a:t>
            </a:r>
            <a:r>
              <a:rPr lang="zh-CN" altLang="en-US" sz="1400" b="1" dirty="0"/>
              <a:t>出样例</a:t>
            </a:r>
            <a:r>
              <a:rPr lang="en-US" altLang="zh-CN" sz="1400" b="1" dirty="0"/>
              <a:t>1</a:t>
            </a:r>
            <a:r>
              <a:rPr lang="en-US" altLang="zh-CN" sz="1400" dirty="0">
                <a:sym typeface="Wingdings" panose="05000000000000000000" pitchFamily="2" charset="2"/>
              </a:rPr>
              <a:t>】</a:t>
            </a:r>
          </a:p>
          <a:p>
            <a:r>
              <a:rPr lang="en-US" altLang="zh-CN" sz="1400" dirty="0">
                <a:sym typeface="Wingdings" panose="05000000000000000000" pitchFamily="2" charset="2"/>
              </a:rPr>
              <a:t>34+12</a:t>
            </a:r>
            <a:r>
              <a:rPr lang="zh-CN" altLang="en-US" sz="1400" dirty="0">
                <a:sym typeface="Wingdings" panose="05000000000000000000" pitchFamily="2" charset="2"/>
              </a:rPr>
              <a:t>*</a:t>
            </a:r>
            <a:r>
              <a:rPr lang="en-US" altLang="zh-CN" sz="1400" dirty="0">
                <a:sym typeface="Wingdings" panose="05000000000000000000" pitchFamily="2" charset="2"/>
              </a:rPr>
              <a:t>5+5</a:t>
            </a:r>
            <a:endParaRPr lang="en-GB" altLang="zh-CN" sz="1400" dirty="0"/>
          </a:p>
        </p:txBody>
      </p:sp>
      <p:sp>
        <p:nvSpPr>
          <p:cNvPr id="7" name="Rectangle 6"/>
          <p:cNvSpPr/>
          <p:nvPr/>
        </p:nvSpPr>
        <p:spPr>
          <a:xfrm>
            <a:off x="5061663" y="1652378"/>
            <a:ext cx="21414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ym typeface="Wingdings" panose="05000000000000000000" pitchFamily="2" charset="2"/>
              </a:rPr>
              <a:t>【</a:t>
            </a:r>
            <a:r>
              <a:rPr lang="zh-CN" altLang="zh-CN" sz="1400" b="1" dirty="0"/>
              <a:t>输</a:t>
            </a:r>
            <a:r>
              <a:rPr lang="zh-CN" altLang="en-US" sz="1400" b="1" dirty="0"/>
              <a:t>入样例</a:t>
            </a:r>
            <a:r>
              <a:rPr lang="en-US" altLang="zh-CN" sz="1400" b="1" dirty="0"/>
              <a:t>1</a:t>
            </a:r>
            <a:r>
              <a:rPr lang="en-US" altLang="zh-CN" sz="1400" dirty="0">
                <a:sym typeface="Wingdings" panose="05000000000000000000" pitchFamily="2" charset="2"/>
              </a:rPr>
              <a:t>】</a:t>
            </a:r>
          </a:p>
          <a:p>
            <a:r>
              <a:rPr lang="en-US" altLang="zh-CN" sz="1400" dirty="0">
                <a:sym typeface="Wingdings" panose="05000000000000000000" pitchFamily="2" charset="2"/>
              </a:rPr>
              <a:t>4 235</a:t>
            </a:r>
          </a:p>
          <a:p>
            <a:r>
              <a:rPr lang="en-US" altLang="zh-CN" sz="1400" dirty="0">
                <a:sym typeface="Wingdings" panose="05000000000000000000" pitchFamily="2" charset="2"/>
              </a:rPr>
              <a:t>34 12 5 5</a:t>
            </a:r>
            <a:endParaRPr lang="en-GB" altLang="zh-CN" sz="1400" dirty="0"/>
          </a:p>
        </p:txBody>
      </p:sp>
      <p:sp>
        <p:nvSpPr>
          <p:cNvPr id="8" name="Rectangle 7"/>
          <p:cNvSpPr/>
          <p:nvPr/>
        </p:nvSpPr>
        <p:spPr>
          <a:xfrm>
            <a:off x="6775125" y="3549603"/>
            <a:ext cx="21414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ym typeface="Wingdings" panose="05000000000000000000" pitchFamily="2" charset="2"/>
              </a:rPr>
              <a:t>【</a:t>
            </a:r>
            <a:r>
              <a:rPr lang="zh-CN" altLang="zh-CN" sz="1400" b="1" dirty="0"/>
              <a:t>输</a:t>
            </a:r>
            <a:r>
              <a:rPr lang="zh-CN" altLang="en-US" sz="1400" b="1" dirty="0"/>
              <a:t>出样例</a:t>
            </a:r>
            <a:r>
              <a:rPr lang="en-US" altLang="zh-CN" sz="1400" b="1" dirty="0"/>
              <a:t>2</a:t>
            </a:r>
            <a:r>
              <a:rPr lang="en-US" altLang="zh-CN" sz="1400" dirty="0">
                <a:sym typeface="Wingdings" panose="05000000000000000000" pitchFamily="2" charset="2"/>
              </a:rPr>
              <a:t>】</a:t>
            </a:r>
          </a:p>
          <a:p>
            <a:r>
              <a:rPr lang="en-US" altLang="zh-CN" sz="1400" dirty="0">
                <a:sym typeface="Wingdings" panose="05000000000000000000" pitchFamily="2" charset="2"/>
              </a:rPr>
              <a:t>No</a:t>
            </a:r>
          </a:p>
          <a:p>
            <a:r>
              <a:rPr lang="en-US" altLang="zh-CN" sz="1400" dirty="0">
                <a:sym typeface="Wingdings" panose="05000000000000000000" pitchFamily="2" charset="2"/>
              </a:rPr>
              <a:t>729</a:t>
            </a:r>
            <a:endParaRPr lang="en-GB" altLang="zh-CN" sz="1400" dirty="0"/>
          </a:p>
        </p:txBody>
      </p:sp>
      <p:sp>
        <p:nvSpPr>
          <p:cNvPr id="9" name="Rectangle 8"/>
          <p:cNvSpPr/>
          <p:nvPr/>
        </p:nvSpPr>
        <p:spPr>
          <a:xfrm>
            <a:off x="5061663" y="3549603"/>
            <a:ext cx="21414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>
                <a:sym typeface="Wingdings" panose="05000000000000000000" pitchFamily="2" charset="2"/>
              </a:rPr>
              <a:t>【</a:t>
            </a:r>
            <a:r>
              <a:rPr lang="zh-CN" altLang="zh-CN" sz="1400" b="1" dirty="0"/>
              <a:t>输</a:t>
            </a:r>
            <a:r>
              <a:rPr lang="zh-CN" altLang="en-US" sz="1400" b="1" dirty="0"/>
              <a:t>入样例</a:t>
            </a:r>
            <a:r>
              <a:rPr lang="en-US" altLang="zh-CN" sz="1400" b="1" dirty="0"/>
              <a:t>2</a:t>
            </a:r>
            <a:r>
              <a:rPr lang="en-US" altLang="zh-CN" sz="1400" dirty="0">
                <a:sym typeface="Wingdings" panose="05000000000000000000" pitchFamily="2" charset="2"/>
              </a:rPr>
              <a:t>】</a:t>
            </a:r>
          </a:p>
          <a:p>
            <a:r>
              <a:rPr lang="en-US" altLang="zh-CN" sz="1400" dirty="0">
                <a:sym typeface="Wingdings" panose="05000000000000000000" pitchFamily="2" charset="2"/>
              </a:rPr>
              <a:t>3 600</a:t>
            </a:r>
          </a:p>
          <a:p>
            <a:r>
              <a:rPr lang="en-US" altLang="zh-CN" sz="1400" dirty="0">
                <a:sym typeface="Wingdings" panose="05000000000000000000" pitchFamily="2" charset="2"/>
              </a:rPr>
              <a:t>9 9 9</a:t>
            </a:r>
            <a:endParaRPr lang="en-GB" altLang="zh-CN" sz="1400" dirty="0"/>
          </a:p>
        </p:txBody>
      </p:sp>
      <p:sp>
        <p:nvSpPr>
          <p:cNvPr id="10" name="Rectangle 9"/>
          <p:cNvSpPr/>
          <p:nvPr/>
        </p:nvSpPr>
        <p:spPr>
          <a:xfrm>
            <a:off x="628650" y="5787559"/>
            <a:ext cx="45368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b="1" dirty="0"/>
              <a:t>【</a:t>
            </a:r>
            <a:r>
              <a:rPr lang="zh-CN" altLang="en-US" sz="2400" b="1" dirty="0"/>
              <a:t>限制</a:t>
            </a:r>
            <a:r>
              <a:rPr lang="zh-CN" altLang="zh-CN" sz="2400" b="1" dirty="0"/>
              <a:t>】</a:t>
            </a:r>
            <a:r>
              <a:rPr lang="pt-BR" altLang="zh-CN" sz="2400" dirty="0"/>
              <a:t>1 ≤ N ≤ 24</a:t>
            </a:r>
            <a:r>
              <a:rPr lang="zh-CN" altLang="pt-BR" sz="2400" dirty="0"/>
              <a:t>，</a:t>
            </a:r>
            <a:r>
              <a:rPr lang="pt-BR" altLang="zh-CN" sz="2400" dirty="0"/>
              <a:t>1 ≤ D &lt; 2^60</a:t>
            </a:r>
            <a:endParaRPr lang="zh-CN" altLang="zh-CN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小作业提醒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zh-CN" altLang="zh-CN" dirty="0"/>
              <a:t>作业提交</a:t>
            </a:r>
            <a:r>
              <a:rPr lang="zh-CN" altLang="en-US" dirty="0"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压缩成一个文件</a:t>
            </a:r>
            <a:endParaRPr lang="zh-CN" altLang="en-US" dirty="0">
              <a:solidFill>
                <a:schemeClr val="accent2"/>
              </a:solidFill>
            </a:endParaRPr>
          </a:p>
          <a:p>
            <a:pPr lvl="1">
              <a:lnSpc>
                <a:spcPct val="90000"/>
              </a:lnSpc>
            </a:pPr>
            <a:r>
              <a:rPr lang="zh-CN" altLang="zh-CN" dirty="0"/>
              <a:t>该文件含有的内容</a:t>
            </a:r>
          </a:p>
          <a:p>
            <a:pPr lvl="2">
              <a:lnSpc>
                <a:spcPct val="90000"/>
              </a:lnSpc>
            </a:pPr>
            <a:r>
              <a:rPr lang="zh-CN" altLang="zh-CN" dirty="0"/>
              <a:t>源程序</a:t>
            </a:r>
            <a:r>
              <a:rPr lang="zh-CN" altLang="en-US" dirty="0"/>
              <a:t>、工程文件等</a:t>
            </a:r>
            <a:endParaRPr lang="en-US" altLang="zh-CN" dirty="0"/>
          </a:p>
          <a:p>
            <a:pPr lvl="3"/>
            <a:r>
              <a:rPr lang="zh-CN" altLang="en-US" dirty="0"/>
              <a:t>保证能运行</a:t>
            </a:r>
            <a:endParaRPr lang="zh-CN" altLang="zh-CN" dirty="0"/>
          </a:p>
          <a:p>
            <a:pPr lvl="2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文档: </a:t>
            </a:r>
            <a:endParaRPr lang="en-US" altLang="zh-CN" dirty="0">
              <a:solidFill>
                <a:schemeClr val="accent2"/>
              </a:solidFill>
            </a:endParaRPr>
          </a:p>
          <a:p>
            <a:pPr lvl="3"/>
            <a:r>
              <a:rPr lang="zh-CN" altLang="zh-CN" dirty="0"/>
              <a:t>如何</a:t>
            </a:r>
            <a:r>
              <a:rPr lang="zh-CN" altLang="en-US" dirty="0"/>
              <a:t>编译</a:t>
            </a:r>
            <a:r>
              <a:rPr lang="zh-CN" altLang="zh-CN" dirty="0"/>
              <a:t>运行、</a:t>
            </a:r>
            <a:r>
              <a:rPr lang="zh-CN" altLang="en-US" dirty="0">
                <a:solidFill>
                  <a:schemeClr val="accent2"/>
                </a:solidFill>
              </a:rPr>
              <a:t>程序运行的</a:t>
            </a:r>
            <a:r>
              <a:rPr lang="zh-CN" altLang="zh-CN" dirty="0">
                <a:solidFill>
                  <a:schemeClr val="accent2"/>
                </a:solidFill>
              </a:rPr>
              <a:t>结果</a:t>
            </a:r>
            <a:r>
              <a:rPr lang="zh-CN" altLang="en-US" dirty="0">
                <a:solidFill>
                  <a:schemeClr val="accent2"/>
                </a:solidFill>
              </a:rPr>
              <a:t>及算法简要分析、</a:t>
            </a:r>
            <a:r>
              <a:rPr lang="en-US" altLang="zh-CN" dirty="0"/>
              <a:t> AI</a:t>
            </a:r>
            <a:r>
              <a:rPr lang="zh-CN" altLang="en-US" dirty="0"/>
              <a:t>工具使用说明</a:t>
            </a:r>
            <a:endParaRPr lang="en-US" altLang="zh-CN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zh-CN" dirty="0"/>
              <a:t>独立完成作业 </a:t>
            </a:r>
          </a:p>
          <a:p>
            <a:pPr lvl="1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抄袭</a:t>
            </a:r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0分</a:t>
            </a:r>
            <a:endParaRPr lang="zh-CN" altLang="zh-CN" dirty="0"/>
          </a:p>
          <a:p>
            <a:pPr lvl="1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非常相似的作业</a:t>
            </a:r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低分</a:t>
            </a:r>
            <a:r>
              <a:rPr lang="zh-CN" altLang="en-US" dirty="0">
                <a:solidFill>
                  <a:schemeClr val="accent2"/>
                </a:solidFill>
              </a:rPr>
              <a:t>，不超过</a:t>
            </a:r>
            <a:r>
              <a:rPr lang="en-US" altLang="zh-CN" dirty="0">
                <a:solidFill>
                  <a:schemeClr val="accent2"/>
                </a:solidFill>
              </a:rPr>
              <a:t>30%</a:t>
            </a:r>
            <a:endParaRPr lang="zh-CN" altLang="zh-CN" dirty="0">
              <a:solidFill>
                <a:schemeClr val="accent2"/>
              </a:solidFill>
            </a:endParaRPr>
          </a:p>
          <a:p>
            <a:pPr>
              <a:lnSpc>
                <a:spcPct val="90000"/>
              </a:lnSpc>
            </a:pPr>
            <a:r>
              <a:rPr lang="zh-CN" altLang="zh-CN" dirty="0"/>
              <a:t>严格交作业的时间</a:t>
            </a:r>
          </a:p>
          <a:p>
            <a:pPr lvl="1">
              <a:lnSpc>
                <a:spcPct val="90000"/>
              </a:lnSpc>
            </a:pPr>
            <a:r>
              <a:rPr lang="zh-CN" altLang="zh-CN" dirty="0">
                <a:solidFill>
                  <a:schemeClr val="accent2"/>
                </a:solidFill>
              </a:rPr>
              <a:t>迟交</a:t>
            </a:r>
            <a:r>
              <a:rPr lang="zh-CN" altLang="en-US" dirty="0">
                <a:solidFill>
                  <a:schemeClr val="accent2"/>
                </a:solidFill>
                <a:sym typeface="Wingdings" panose="05000000000000000000" pitchFamily="2" charset="2"/>
              </a:rPr>
              <a:t></a:t>
            </a:r>
            <a:r>
              <a:rPr lang="zh-CN" altLang="zh-CN" dirty="0">
                <a:solidFill>
                  <a:schemeClr val="accent2"/>
                </a:solidFill>
              </a:rPr>
              <a:t> </a:t>
            </a:r>
            <a:r>
              <a:rPr lang="zh-CN" altLang="en-US" dirty="0">
                <a:solidFill>
                  <a:schemeClr val="accent2"/>
                </a:solidFill>
              </a:rPr>
              <a:t>酌情扣分（</a:t>
            </a:r>
            <a:r>
              <a:rPr lang="en-US" altLang="zh-CN" dirty="0">
                <a:solidFill>
                  <a:schemeClr val="accent2"/>
                </a:solidFill>
              </a:rPr>
              <a:t>10%/</a:t>
            </a:r>
            <a:r>
              <a:rPr lang="zh-CN" altLang="en-US" dirty="0">
                <a:solidFill>
                  <a:schemeClr val="accent2"/>
                </a:solidFill>
              </a:rPr>
              <a:t>天）</a:t>
            </a:r>
            <a:r>
              <a:rPr lang="zh-CN" altLang="zh-CN" dirty="0"/>
              <a:t>           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6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E7DD-75A4-A8B2-9B61-781A0F428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9D499E-194C-1DBE-9B4C-35DC992EE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AI 工具使用规范与声明要求</a:t>
            </a:r>
            <a:endParaRPr lang="zh-CN" altLang="zh-CN" b="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A18A3F-9F4C-66BB-2CF3-ED5DF4CBF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zh-CN" sz="2000" dirty="0"/>
              <a:t>为了确保学术诚信与成绩评定的公正性，所有在作业中使用了AI的同学，必须在提交的</a:t>
            </a:r>
            <a:r>
              <a:rPr lang="zh-CN" altLang="zh-CN" sz="2000" b="1" dirty="0"/>
              <a:t>作业报告文档末</a:t>
            </a:r>
            <a:r>
              <a:rPr lang="zh-CN" altLang="en-US" sz="2000" b="1" dirty="0"/>
              <a:t>尾</a:t>
            </a:r>
            <a:r>
              <a:rPr lang="zh-CN" altLang="zh-CN" sz="2000" dirty="0"/>
              <a:t>添加【AI 工具使用声明】章节。未添加声明但被查出代码具有明显AI自动化生成痕迹的，将视作抄袭处理。</a:t>
            </a:r>
            <a:endParaRPr lang="en-US" altLang="zh-CN" sz="2000" dirty="0"/>
          </a:p>
          <a:p>
            <a:r>
              <a:rPr lang="zh-CN" altLang="en-US" sz="2000" dirty="0"/>
              <a:t>声明内容要求：</a:t>
            </a:r>
            <a:endParaRPr lang="en-US" altLang="zh-CN" sz="2000" dirty="0"/>
          </a:p>
          <a:p>
            <a:pPr lvl="1"/>
            <a:r>
              <a:rPr lang="zh-CN" altLang="zh-CN" sz="1800" b="1" dirty="0"/>
              <a:t>使用了什么工具：</a:t>
            </a:r>
            <a:r>
              <a:rPr lang="zh-CN" altLang="zh-CN" sz="1800" dirty="0"/>
              <a:t>在哪些模块、功能或 Debug 环节中使用了 AI？使用的是哪款工具？</a:t>
            </a:r>
          </a:p>
          <a:p>
            <a:pPr lvl="1"/>
            <a:r>
              <a:rPr lang="zh-CN" altLang="zh-CN" sz="1800" b="1" dirty="0"/>
              <a:t>如何与 AI 交互：</a:t>
            </a:r>
            <a:r>
              <a:rPr lang="zh-CN" altLang="zh-CN" sz="1800" dirty="0"/>
              <a:t>你给 AI 输入了怎样的 Prompt（提示词）？AI 给你提供了什么帮助（例如：生成了基础骨架、优化了算法复杂度、修复了某个特定 Bug）？</a:t>
            </a:r>
          </a:p>
          <a:p>
            <a:pPr lvl="1"/>
            <a:r>
              <a:rPr lang="zh-CN" altLang="zh-CN" sz="1800" b="1" dirty="0"/>
              <a:t>你的独立贡献是什么：</a:t>
            </a:r>
            <a:r>
              <a:rPr lang="zh-CN" altLang="zh-CN" sz="1800" dirty="0"/>
              <a:t>AI 生成的代码你是否进行了修改和测试？你是如何理解这段代码并将其融入你的整体系统中的？</a:t>
            </a:r>
          </a:p>
          <a:p>
            <a:pPr lvl="1"/>
            <a:endParaRPr lang="zh-CN" altLang="zh-CN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41CB56-B1AD-3178-99C9-35B75F83E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hangingPunct="1"/>
            <a:fld id="{7BA3BC7E-BC74-4C74-B96C-83D543F716C6}" type="slidenum">
              <a:rPr lang="en-US" altLang="zh-CN" sz="1400" smtClean="0">
                <a:latin typeface="Calibri (正文)"/>
                <a:ea typeface="宋体" panose="02010600030101010101" charset="-122"/>
              </a:rPr>
              <a:t>7</a:t>
            </a:fld>
            <a:endParaRPr lang="en-US" altLang="zh-CN" sz="1400" dirty="0">
              <a:latin typeface="Calibri (正文)"/>
              <a:ea typeface="宋体" panose="0201060003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5401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tsinghua-new</Template>
  <TotalTime>1</TotalTime>
  <Words>819</Words>
  <Application>Microsoft Office PowerPoint</Application>
  <PresentationFormat>全屏显示(4:3)</PresentationFormat>
  <Paragraphs>84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Calibri (正文)</vt:lpstr>
      <vt:lpstr>隶书</vt:lpstr>
      <vt:lpstr>Arial</vt:lpstr>
      <vt:lpstr>Calibri</vt:lpstr>
      <vt:lpstr>Calibri Light</vt:lpstr>
      <vt:lpstr>Courier New</vt:lpstr>
      <vt:lpstr>Wingdings</vt:lpstr>
      <vt:lpstr>Office 主题</vt:lpstr>
      <vt:lpstr>作业: C++高质量编程</vt:lpstr>
      <vt:lpstr>第1题：</vt:lpstr>
      <vt:lpstr>要求</vt:lpstr>
      <vt:lpstr>第2题：</vt:lpstr>
      <vt:lpstr>要求</vt:lpstr>
      <vt:lpstr>小作业提醒</vt:lpstr>
      <vt:lpstr>AI 工具使用规范与声明要求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Shixia Liu</dc:creator>
  <cp:lastModifiedBy>TSingSV</cp:lastModifiedBy>
  <cp:revision>173</cp:revision>
  <dcterms:created xsi:type="dcterms:W3CDTF">2022-08-22T07:42:16Z</dcterms:created>
  <dcterms:modified xsi:type="dcterms:W3CDTF">2026-06-29T01:32:38Z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1033-11.1.0.10702</vt:lpwstr>
  </property>
</Properties>
</file>