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264" r:id="rId2"/>
    <p:sldId id="372" r:id="rId3"/>
    <p:sldId id="465" r:id="rId4"/>
    <p:sldId id="459" r:id="rId5"/>
    <p:sldId id="373" r:id="rId6"/>
    <p:sldId id="460" r:id="rId7"/>
    <p:sldId id="374" r:id="rId8"/>
    <p:sldId id="461" r:id="rId9"/>
    <p:sldId id="433" r:id="rId10"/>
    <p:sldId id="464" r:id="rId11"/>
    <p:sldId id="434" r:id="rId12"/>
    <p:sldId id="475" r:id="rId13"/>
    <p:sldId id="474" r:id="rId14"/>
    <p:sldId id="297" r:id="rId15"/>
    <p:sldId id="462" r:id="rId16"/>
    <p:sldId id="466" r:id="rId17"/>
    <p:sldId id="472" r:id="rId18"/>
    <p:sldId id="467" r:id="rId19"/>
    <p:sldId id="468" r:id="rId20"/>
    <p:sldId id="469" r:id="rId21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orient="horz" pos="119">
          <p15:clr>
            <a:srgbClr val="A4A3A4"/>
          </p15:clr>
        </p15:guide>
        <p15:guide id="3" orient="horz" pos="4201">
          <p15:clr>
            <a:srgbClr val="A4A3A4"/>
          </p15:clr>
        </p15:guide>
        <p15:guide id="4" orient="horz" pos="663">
          <p15:clr>
            <a:srgbClr val="A4A3A4"/>
          </p15:clr>
        </p15:guide>
        <p15:guide id="5" orient="horz" pos="3657">
          <p15:clr>
            <a:srgbClr val="A4A3A4"/>
          </p15:clr>
        </p15:guide>
        <p15:guide id="6" pos="2880">
          <p15:clr>
            <a:srgbClr val="A4A3A4"/>
          </p15:clr>
        </p15:guide>
        <p15:guide id="7" pos="1383">
          <p15:clr>
            <a:srgbClr val="A4A3A4"/>
          </p15:clr>
        </p15:guide>
        <p15:guide id="8" pos="4377">
          <p15:clr>
            <a:srgbClr val="A4A3A4"/>
          </p15:clr>
        </p15:guide>
        <p15:guide id="9" pos="839">
          <p15:clr>
            <a:srgbClr val="A4A3A4"/>
          </p15:clr>
        </p15:guide>
        <p15:guide id="10" pos="492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FCCFF"/>
    <a:srgbClr val="FF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108" autoAdjust="0"/>
    <p:restoredTop sz="94840" autoAdjust="0"/>
  </p:normalViewPr>
  <p:slideViewPr>
    <p:cSldViewPr snapToGrid="0">
      <p:cViewPr varScale="1">
        <p:scale>
          <a:sx n="83" d="100"/>
          <a:sy n="83" d="100"/>
        </p:scale>
        <p:origin x="-1541" y="-62"/>
      </p:cViewPr>
      <p:guideLst>
        <p:guide orient="horz" pos="2160"/>
        <p:guide orient="horz" pos="119"/>
        <p:guide orient="horz" pos="4201"/>
        <p:guide orient="horz" pos="663"/>
        <p:guide orient="horz" pos="3657"/>
        <p:guide pos="2880"/>
        <p:guide pos="1383"/>
        <p:guide pos="4377"/>
        <p:guide pos="839"/>
        <p:guide pos="4921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9" y="2640"/>
                <a:ext cx="335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4097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097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 smtClean="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 smtClean="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 smtClean="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0166CDED-D712-48EF-AD4F-FA1129094FB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903980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A38580-834A-4F06-808A-5A44F8DA10B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24593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5044B6-76D7-4837-B2A9-B5D2A800F26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96171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CE3EA1-AE58-475B-B61E-C276F292BC4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919528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765D7E-44FF-4849-9525-CE71DE9A5DD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86804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646813-111D-4502-987F-B46C5E9046E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82513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E89A98-544E-4415-AB8D-C86B49756B9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29852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1C2654-36F9-4A42-A897-4E27D88C2D5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41889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4B4870-2AC4-4737-A1F6-CB4E31C8CFB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781847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B92013-49A4-4093-8221-CEFB7FE3E3A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77302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158E21-DA19-4010-9846-2BC0643243F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40317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/>
          </a:p>
        </p:txBody>
      </p:sp>
      <p:sp>
        <p:nvSpPr>
          <p:cNvPr id="39939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/>
          </a:p>
        </p:txBody>
      </p:sp>
      <p:sp>
        <p:nvSpPr>
          <p:cNvPr id="39940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/>
          </a:p>
        </p:txBody>
      </p:sp>
      <p:sp>
        <p:nvSpPr>
          <p:cNvPr id="39941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/>
          </a:p>
        </p:txBody>
      </p:sp>
      <p:sp>
        <p:nvSpPr>
          <p:cNvPr id="39942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/>
          </a:p>
        </p:txBody>
      </p:sp>
      <p:sp>
        <p:nvSpPr>
          <p:cNvPr id="39943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/>
          </a:p>
        </p:txBody>
      </p:sp>
      <p:sp>
        <p:nvSpPr>
          <p:cNvPr id="39944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9947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9948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9949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D6C63A22-185F-497C-8ABE-BFE795A4803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CCFF"/>
            </a:gs>
            <a:gs pos="100000">
              <a:srgbClr val="765E76"/>
            </a:gs>
          </a:gsLst>
          <a:path path="rect">
            <a:fillToRect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3"/>
          <p:cNvSpPr>
            <a:spLocks noChangeArrowheads="1"/>
          </p:cNvSpPr>
          <p:nvPr/>
        </p:nvSpPr>
        <p:spPr bwMode="auto">
          <a:xfrm>
            <a:off x="0" y="627063"/>
            <a:ext cx="91440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6000" b="1" dirty="0">
                <a:latin typeface="Arial" charset="0"/>
                <a:ea typeface="隶书" pitchFamily="49" charset="-122"/>
              </a:rPr>
              <a:t>第六讲习题答案</a:t>
            </a:r>
          </a:p>
        </p:txBody>
      </p:sp>
      <p:sp>
        <p:nvSpPr>
          <p:cNvPr id="3075" name="Rectangle 4"/>
          <p:cNvSpPr>
            <a:spLocks noChangeArrowheads="1"/>
          </p:cNvSpPr>
          <p:nvPr/>
        </p:nvSpPr>
        <p:spPr bwMode="auto">
          <a:xfrm>
            <a:off x="0" y="2606675"/>
            <a:ext cx="9144000" cy="143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4400" b="1">
                <a:ea typeface="黑体" pitchFamily="2" charset="-122"/>
              </a:rPr>
              <a:t>平面体与平面体相交</a:t>
            </a:r>
          </a:p>
          <a:p>
            <a:pPr algn="ctr" eaLnBrk="1" hangingPunct="1"/>
            <a:r>
              <a:rPr lang="zh-CN" altLang="en-US" sz="4400" b="1">
                <a:ea typeface="黑体" pitchFamily="2" charset="-122"/>
              </a:rPr>
              <a:t>平面体与回转体相交</a:t>
            </a:r>
            <a:endParaRPr lang="zh-CN" altLang="en-US" sz="4400" b="1">
              <a:latin typeface="Arial" charset="0"/>
              <a:ea typeface="黑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6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en-US" sz="1600" b="1">
                <a:latin typeface="宋体" pitchFamily="2" charset="-122"/>
              </a:rPr>
              <a:t>3-3-1-1  作左视图</a:t>
            </a:r>
            <a:endParaRPr lang="zh-CN" altLang="en-US" sz="1600" b="1">
              <a:latin typeface="宋体" pitchFamily="2" charset="-122"/>
            </a:endParaRPr>
          </a:p>
        </p:txBody>
      </p:sp>
      <p:sp>
        <p:nvSpPr>
          <p:cNvPr id="4099" name="Oval 7"/>
          <p:cNvSpPr>
            <a:spLocks noChangeArrowheads="1"/>
          </p:cNvSpPr>
          <p:nvPr/>
        </p:nvSpPr>
        <p:spPr bwMode="auto">
          <a:xfrm>
            <a:off x="1943100" y="144463"/>
            <a:ext cx="592138" cy="2921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4100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25" t="19189" r="35027" b="32600"/>
          <a:stretch>
            <a:fillRect/>
          </a:stretch>
        </p:blipFill>
        <p:spPr bwMode="auto">
          <a:xfrm>
            <a:off x="0" y="485775"/>
            <a:ext cx="4581525" cy="3984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29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23" t="18538" r="34088" b="31966"/>
          <a:stretch>
            <a:fillRect/>
          </a:stretch>
        </p:blipFill>
        <p:spPr bwMode="auto">
          <a:xfrm>
            <a:off x="4484688" y="2728913"/>
            <a:ext cx="4659312" cy="4129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3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291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77" t="19109" r="34154" b="31038"/>
          <a:stretch>
            <a:fillRect/>
          </a:stretch>
        </p:blipFill>
        <p:spPr bwMode="auto">
          <a:xfrm>
            <a:off x="5011738" y="3211513"/>
            <a:ext cx="4132262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5" t="24431" r="33723" b="31136"/>
          <a:stretch>
            <a:fillRect/>
          </a:stretch>
        </p:blipFill>
        <p:spPr bwMode="auto">
          <a:xfrm>
            <a:off x="0" y="0"/>
            <a:ext cx="3929063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22917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38" t="22298" r="31927" b="27197"/>
          <a:stretch>
            <a:fillRect/>
          </a:stretch>
        </p:blipFill>
        <p:spPr bwMode="auto">
          <a:xfrm>
            <a:off x="498475" y="3230563"/>
            <a:ext cx="4335463" cy="3627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22920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87" t="24219" r="33801" b="30290"/>
          <a:stretch>
            <a:fillRect/>
          </a:stretch>
        </p:blipFill>
        <p:spPr bwMode="auto">
          <a:xfrm>
            <a:off x="4064000" y="0"/>
            <a:ext cx="3898900" cy="3468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22921" name="Text Box 9"/>
          <p:cNvSpPr txBox="1">
            <a:spLocks noChangeArrowheads="1"/>
          </p:cNvSpPr>
          <p:nvPr/>
        </p:nvSpPr>
        <p:spPr bwMode="auto">
          <a:xfrm>
            <a:off x="2047875" y="2779713"/>
            <a:ext cx="17256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000" b="1">
                <a:solidFill>
                  <a:schemeClr val="hlink"/>
                </a:solidFill>
                <a:latin typeface="宋体" pitchFamily="2" charset="-122"/>
              </a:rPr>
              <a:t>1 </a:t>
            </a:r>
            <a:r>
              <a:rPr lang="zh-CN" altLang="en-US" sz="2000" b="1">
                <a:solidFill>
                  <a:schemeClr val="hlink"/>
                </a:solidFill>
                <a:latin typeface="宋体" pitchFamily="2" charset="-122"/>
              </a:rPr>
              <a:t>想清过程</a:t>
            </a:r>
          </a:p>
        </p:txBody>
      </p:sp>
      <p:sp>
        <p:nvSpPr>
          <p:cNvPr id="422922" name="Text Box 10"/>
          <p:cNvSpPr txBox="1">
            <a:spLocks noChangeArrowheads="1"/>
          </p:cNvSpPr>
          <p:nvPr/>
        </p:nvSpPr>
        <p:spPr bwMode="auto">
          <a:xfrm>
            <a:off x="6342063" y="2730500"/>
            <a:ext cx="17256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000" b="1">
                <a:solidFill>
                  <a:schemeClr val="hlink"/>
                </a:solidFill>
                <a:latin typeface="宋体" pitchFamily="2" charset="-122"/>
              </a:rPr>
              <a:t>2 </a:t>
            </a:r>
            <a:r>
              <a:rPr lang="zh-CN" altLang="en-US" sz="2000" b="1">
                <a:solidFill>
                  <a:schemeClr val="hlink"/>
                </a:solidFill>
                <a:latin typeface="宋体" pitchFamily="2" charset="-122"/>
              </a:rPr>
              <a:t>逐面截切</a:t>
            </a:r>
          </a:p>
        </p:txBody>
      </p:sp>
      <p:sp>
        <p:nvSpPr>
          <p:cNvPr id="422923" name="Text Box 11"/>
          <p:cNvSpPr txBox="1">
            <a:spLocks noChangeArrowheads="1"/>
          </p:cNvSpPr>
          <p:nvPr/>
        </p:nvSpPr>
        <p:spPr bwMode="auto">
          <a:xfrm>
            <a:off x="2781300" y="6183313"/>
            <a:ext cx="17256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000" b="1">
                <a:solidFill>
                  <a:schemeClr val="hlink"/>
                </a:solidFill>
                <a:latin typeface="宋体" pitchFamily="2" charset="-122"/>
              </a:rPr>
              <a:t>3 </a:t>
            </a:r>
            <a:r>
              <a:rPr lang="zh-CN" altLang="en-US" sz="2000" b="1">
                <a:solidFill>
                  <a:schemeClr val="hlink"/>
                </a:solidFill>
                <a:latin typeface="宋体" pitchFamily="2" charset="-122"/>
              </a:rPr>
              <a:t>边画边想</a:t>
            </a:r>
          </a:p>
        </p:txBody>
      </p:sp>
      <p:sp>
        <p:nvSpPr>
          <p:cNvPr id="422924" name="Text Box 12"/>
          <p:cNvSpPr txBox="1">
            <a:spLocks noChangeArrowheads="1"/>
          </p:cNvSpPr>
          <p:nvPr/>
        </p:nvSpPr>
        <p:spPr bwMode="auto">
          <a:xfrm>
            <a:off x="7418388" y="6234113"/>
            <a:ext cx="17256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000" b="1">
                <a:solidFill>
                  <a:schemeClr val="hlink"/>
                </a:solidFill>
                <a:latin typeface="宋体" pitchFamily="2" charset="-122"/>
              </a:rPr>
              <a:t>4 </a:t>
            </a:r>
            <a:r>
              <a:rPr lang="zh-CN" altLang="en-US" sz="2000" b="1">
                <a:solidFill>
                  <a:schemeClr val="hlink"/>
                </a:solidFill>
                <a:latin typeface="宋体" pitchFamily="2" charset="-122"/>
              </a:rPr>
              <a:t>务必检查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229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229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2000"/>
                                        <p:tgtEl>
                                          <p:spTgt spid="422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22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422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422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422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422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2921" grpId="0"/>
      <p:bldP spid="422922" grpId="0"/>
      <p:bldP spid="422923" grpId="0"/>
      <p:bldP spid="42292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897" r="-11324"/>
          <a:stretch>
            <a:fillRect/>
          </a:stretch>
        </p:blipFill>
        <p:spPr bwMode="auto">
          <a:xfrm>
            <a:off x="2024063" y="1049338"/>
            <a:ext cx="2687637" cy="23479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162"/>
          <a:stretch>
            <a:fillRect/>
          </a:stretch>
        </p:blipFill>
        <p:spPr bwMode="auto">
          <a:xfrm>
            <a:off x="4711700" y="1046163"/>
            <a:ext cx="2174875" cy="23510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8" name="Text Box 5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en-US" sz="1600" b="1">
                <a:latin typeface="宋体" pitchFamily="2" charset="-122"/>
              </a:rPr>
              <a:t>3-3-1-1  作左视图</a:t>
            </a:r>
            <a:endParaRPr lang="zh-CN" altLang="en-US" sz="1600" b="1">
              <a:latin typeface="宋体" pitchFamily="2" charset="-122"/>
            </a:endParaRPr>
          </a:p>
        </p:txBody>
      </p:sp>
      <p:sp>
        <p:nvSpPr>
          <p:cNvPr id="6149" name="Oval 6"/>
          <p:cNvSpPr>
            <a:spLocks noChangeArrowheads="1"/>
          </p:cNvSpPr>
          <p:nvPr/>
        </p:nvSpPr>
        <p:spPr bwMode="auto">
          <a:xfrm>
            <a:off x="196850" y="457200"/>
            <a:ext cx="592138" cy="2921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83"/>
          <a:stretch>
            <a:fillRect/>
          </a:stretch>
        </p:blipFill>
        <p:spPr bwMode="auto">
          <a:xfrm>
            <a:off x="1809750" y="446088"/>
            <a:ext cx="4791075" cy="6189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1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en-US" sz="1600" b="1">
                <a:latin typeface="宋体" pitchFamily="2" charset="-122"/>
              </a:rPr>
              <a:t>3-3-1-2  作主视图</a:t>
            </a:r>
            <a:endParaRPr lang="zh-CN" altLang="en-US" sz="1600" b="1">
              <a:latin typeface="宋体" pitchFamily="2" charset="-122"/>
            </a:endParaRPr>
          </a:p>
        </p:txBody>
      </p:sp>
      <p:sp>
        <p:nvSpPr>
          <p:cNvPr id="4" name="Oval 7"/>
          <p:cNvSpPr>
            <a:spLocks noChangeArrowheads="1"/>
          </p:cNvSpPr>
          <p:nvPr/>
        </p:nvSpPr>
        <p:spPr bwMode="auto">
          <a:xfrm>
            <a:off x="1943100" y="144463"/>
            <a:ext cx="592138" cy="2921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" name="Text Box 12"/>
          <p:cNvSpPr txBox="1">
            <a:spLocks noChangeArrowheads="1"/>
          </p:cNvSpPr>
          <p:nvPr/>
        </p:nvSpPr>
        <p:spPr bwMode="auto">
          <a:xfrm>
            <a:off x="766964" y="5432584"/>
            <a:ext cx="6035288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400" b="1" dirty="0" smtClean="0">
                <a:latin typeface="宋体" pitchFamily="2" charset="-122"/>
              </a:rPr>
              <a:t>注意：</a:t>
            </a:r>
            <a:endParaRPr lang="en-US" altLang="zh-CN" sz="2400" b="1" dirty="0" smtClean="0">
              <a:latin typeface="宋体" pitchFamily="2" charset="-122"/>
            </a:endParaRPr>
          </a:p>
          <a:p>
            <a:pPr eaLnBrk="1" hangingPunct="1"/>
            <a:r>
              <a:rPr lang="zh-CN" altLang="en-US" sz="2400" b="1" dirty="0">
                <a:solidFill>
                  <a:schemeClr val="hlink"/>
                </a:solidFill>
                <a:latin typeface="宋体" pitchFamily="2" charset="-122"/>
              </a:rPr>
              <a:t>轮廓</a:t>
            </a:r>
            <a:r>
              <a:rPr lang="zh-CN" altLang="en-US" sz="2400" b="1" dirty="0" smtClean="0">
                <a:solidFill>
                  <a:schemeClr val="hlink"/>
                </a:solidFill>
                <a:latin typeface="宋体" pitchFamily="2" charset="-122"/>
              </a:rPr>
              <a:t>线要跟轮廓线上的特殊点相连。</a:t>
            </a:r>
            <a:endParaRPr lang="en-US" altLang="zh-CN" sz="2400" b="1" dirty="0" smtClean="0">
              <a:solidFill>
                <a:schemeClr val="hlink"/>
              </a:solidFill>
              <a:latin typeface="宋体" pitchFamily="2" charset="-122"/>
            </a:endParaRPr>
          </a:p>
          <a:p>
            <a:pPr eaLnBrk="1" hangingPunct="1"/>
            <a:r>
              <a:rPr lang="zh-CN" altLang="en-US" sz="2400" b="1" dirty="0" smtClean="0">
                <a:solidFill>
                  <a:schemeClr val="hlink"/>
                </a:solidFill>
                <a:latin typeface="宋体" pitchFamily="2" charset="-122"/>
              </a:rPr>
              <a:t>（交线的顶点必有线与它相连）</a:t>
            </a:r>
            <a:endParaRPr lang="zh-CN" altLang="en-US" sz="2400" b="1" dirty="0">
              <a:solidFill>
                <a:schemeClr val="hlink"/>
              </a:solidFill>
              <a:latin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4433" r="-12129"/>
          <a:stretch>
            <a:fillRect/>
          </a:stretch>
        </p:blipFill>
        <p:spPr bwMode="auto">
          <a:xfrm>
            <a:off x="1641475" y="1109663"/>
            <a:ext cx="3313113" cy="28384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5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en-US" sz="1600" b="1">
                <a:latin typeface="宋体" pitchFamily="2" charset="-122"/>
              </a:rPr>
              <a:t>*3-3-1-2  作主视图</a:t>
            </a:r>
            <a:endParaRPr lang="zh-CN" altLang="en-US" sz="1600" b="1">
              <a:latin typeface="宋体" pitchFamily="2" charset="-122"/>
            </a:endParaRPr>
          </a:p>
        </p:txBody>
      </p:sp>
      <p:pic>
        <p:nvPicPr>
          <p:cNvPr id="8196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4388"/>
          <a:stretch>
            <a:fillRect/>
          </a:stretch>
        </p:blipFill>
        <p:spPr bwMode="auto">
          <a:xfrm>
            <a:off x="4954588" y="1346200"/>
            <a:ext cx="2801937" cy="24161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en-US" sz="1600" b="1">
                <a:latin typeface="宋体" pitchFamily="2" charset="-122"/>
              </a:rPr>
              <a:t>3-3-1-3  作左视图</a:t>
            </a:r>
            <a:endParaRPr lang="zh-CN" altLang="en-US" sz="1600" b="1">
              <a:latin typeface="宋体" pitchFamily="2" charset="-122"/>
            </a:endParaRPr>
          </a:p>
        </p:txBody>
      </p:sp>
      <p:pic>
        <p:nvPicPr>
          <p:cNvPr id="9219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9325" y="446088"/>
            <a:ext cx="4705350" cy="535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1084" name="Text Box 12"/>
          <p:cNvSpPr txBox="1">
            <a:spLocks noChangeArrowheads="1"/>
          </p:cNvSpPr>
          <p:nvPr/>
        </p:nvSpPr>
        <p:spPr bwMode="auto">
          <a:xfrm>
            <a:off x="5156200" y="5276850"/>
            <a:ext cx="39878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hlink"/>
                </a:solidFill>
                <a:latin typeface="宋体" pitchFamily="2" charset="-122"/>
              </a:rPr>
              <a:t>形体相交时，形体内部没有线，</a:t>
            </a:r>
          </a:p>
          <a:p>
            <a:pPr eaLnBrk="1" hangingPunct="1"/>
            <a:r>
              <a:rPr lang="zh-CN" altLang="en-US" b="1" dirty="0">
                <a:solidFill>
                  <a:schemeClr val="hlink"/>
                </a:solidFill>
                <a:latin typeface="宋体" pitchFamily="2" charset="-122"/>
              </a:rPr>
              <a:t>交线只发生在形体表面相交的部分。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1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08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51" t="16573" r="21759" b="35019"/>
          <a:stretch>
            <a:fillRect/>
          </a:stretch>
        </p:blipFill>
        <p:spPr bwMode="auto">
          <a:xfrm>
            <a:off x="1800225" y="998538"/>
            <a:ext cx="4843463" cy="311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3" name="Text Box 2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en-US" sz="1600" b="1">
                <a:latin typeface="宋体" pitchFamily="2" charset="-122"/>
              </a:rPr>
              <a:t>3-3-1-3  作左视图</a:t>
            </a:r>
            <a:endParaRPr lang="zh-CN" altLang="en-US" sz="1600" b="1">
              <a:latin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9775" y="1004888"/>
            <a:ext cx="5124450" cy="484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7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en-US" sz="1600" b="1">
                <a:latin typeface="宋体" pitchFamily="2" charset="-122"/>
              </a:rPr>
              <a:t>3-3-1-4  作俯视图</a:t>
            </a:r>
            <a:endParaRPr lang="zh-CN" altLang="en-US" sz="1600" b="1">
              <a:latin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en-US" sz="1600" b="1">
                <a:latin typeface="宋体" pitchFamily="2" charset="-122"/>
              </a:rPr>
              <a:t>3-3-1-4  作俯视图</a:t>
            </a:r>
            <a:endParaRPr lang="zh-CN" altLang="en-US" sz="1600" b="1">
              <a:latin typeface="宋体" pitchFamily="2" charset="-122"/>
            </a:endParaRPr>
          </a:p>
        </p:txBody>
      </p:sp>
      <p:pic>
        <p:nvPicPr>
          <p:cNvPr id="12291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6765" r="-23643"/>
          <a:stretch>
            <a:fillRect/>
          </a:stretch>
        </p:blipFill>
        <p:spPr bwMode="auto">
          <a:xfrm>
            <a:off x="1754188" y="904875"/>
            <a:ext cx="4665662" cy="26527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12"/>
          <a:stretch>
            <a:fillRect/>
          </a:stretch>
        </p:blipFill>
        <p:spPr bwMode="auto">
          <a:xfrm>
            <a:off x="2255838" y="446088"/>
            <a:ext cx="4848225" cy="620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5" name="Text Box 5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en-US" sz="1600" b="1">
                <a:latin typeface="宋体" pitchFamily="2" charset="-122"/>
              </a:rPr>
              <a:t>3-3-1-5  作左视图</a:t>
            </a:r>
            <a:endParaRPr lang="zh-CN" altLang="en-US" sz="1600" b="1">
              <a:latin typeface="宋体" pitchFamily="2" charset="-122"/>
            </a:endParaRPr>
          </a:p>
        </p:txBody>
      </p:sp>
      <p:pic>
        <p:nvPicPr>
          <p:cNvPr id="13316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703" r="-3383"/>
          <a:stretch>
            <a:fillRect/>
          </a:stretch>
        </p:blipFill>
        <p:spPr bwMode="auto">
          <a:xfrm>
            <a:off x="6338888" y="3405188"/>
            <a:ext cx="2449512" cy="3063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Oval 5"/>
          <p:cNvSpPr>
            <a:spLocks noChangeArrowheads="1"/>
          </p:cNvSpPr>
          <p:nvPr/>
        </p:nvSpPr>
        <p:spPr bwMode="auto">
          <a:xfrm>
            <a:off x="196850" y="457200"/>
            <a:ext cx="592138" cy="2921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2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en-US" sz="1600" b="1">
                <a:latin typeface="宋体" pitchFamily="2" charset="-122"/>
              </a:rPr>
              <a:t>3-3-1-5  作左视图</a:t>
            </a:r>
            <a:endParaRPr lang="zh-CN" altLang="en-US" sz="1600" b="1">
              <a:latin typeface="宋体" pitchFamily="2" charset="-122"/>
            </a:endParaRPr>
          </a:p>
        </p:txBody>
      </p:sp>
      <p:pic>
        <p:nvPicPr>
          <p:cNvPr id="43417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492" t="25359" r="25729" b="30794"/>
          <a:stretch>
            <a:fillRect/>
          </a:stretch>
        </p:blipFill>
        <p:spPr bwMode="auto">
          <a:xfrm>
            <a:off x="2090738" y="3681413"/>
            <a:ext cx="2306637" cy="271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418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679" t="37190" r="29492" b="19597"/>
          <a:stretch>
            <a:fillRect/>
          </a:stretch>
        </p:blipFill>
        <p:spPr bwMode="auto">
          <a:xfrm>
            <a:off x="5571617" y="3684588"/>
            <a:ext cx="2233613" cy="267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4181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43" t="21223" r="55351" b="36848"/>
          <a:stretch>
            <a:fillRect/>
          </a:stretch>
        </p:blipFill>
        <p:spPr bwMode="auto">
          <a:xfrm>
            <a:off x="2190750" y="179388"/>
            <a:ext cx="2351088" cy="2954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4182" name="Line 6"/>
          <p:cNvSpPr>
            <a:spLocks noChangeShapeType="1"/>
          </p:cNvSpPr>
          <p:nvPr/>
        </p:nvSpPr>
        <p:spPr bwMode="auto">
          <a:xfrm>
            <a:off x="4941888" y="1525588"/>
            <a:ext cx="41116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434183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070" t="18750" r="8281" b="37566"/>
          <a:stretch>
            <a:fillRect/>
          </a:stretch>
        </p:blipFill>
        <p:spPr bwMode="auto">
          <a:xfrm>
            <a:off x="5829300" y="0"/>
            <a:ext cx="1731963" cy="308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34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34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000" fill="hold"/>
                                        <p:tgtEl>
                                          <p:spTgt spid="4341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2000" fill="hold"/>
                                        <p:tgtEl>
                                          <p:spTgt spid="434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434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434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418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en-US" sz="1600" b="1">
                <a:latin typeface="宋体" pitchFamily="2" charset="-122"/>
              </a:rPr>
              <a:t>3-3-1-6  作主视图</a:t>
            </a:r>
            <a:endParaRPr lang="zh-CN" altLang="en-US" sz="1600" b="1">
              <a:latin typeface="宋体" pitchFamily="2" charset="-122"/>
            </a:endParaRPr>
          </a:p>
        </p:txBody>
      </p:sp>
      <p:sp>
        <p:nvSpPr>
          <p:cNvPr id="15363" name="Oval 3"/>
          <p:cNvSpPr>
            <a:spLocks noChangeArrowheads="1"/>
          </p:cNvSpPr>
          <p:nvPr/>
        </p:nvSpPr>
        <p:spPr bwMode="auto">
          <a:xfrm>
            <a:off x="196850" y="457200"/>
            <a:ext cx="592138" cy="2921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43315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68" t="26318" r="49875" b="34196"/>
          <a:stretch>
            <a:fillRect/>
          </a:stretch>
        </p:blipFill>
        <p:spPr bwMode="auto">
          <a:xfrm>
            <a:off x="661988" y="3636963"/>
            <a:ext cx="3503612" cy="3221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01" t="20882" r="24974" b="29297"/>
          <a:stretch>
            <a:fillRect/>
          </a:stretch>
        </p:blipFill>
        <p:spPr bwMode="auto">
          <a:xfrm>
            <a:off x="3227388" y="273050"/>
            <a:ext cx="3965575" cy="300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3158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744" t="26318" r="15938" b="34196"/>
          <a:stretch>
            <a:fillRect/>
          </a:stretch>
        </p:blipFill>
        <p:spPr bwMode="auto">
          <a:xfrm>
            <a:off x="5848350" y="3636963"/>
            <a:ext cx="3295650" cy="3221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3159" name="Line 7"/>
          <p:cNvSpPr>
            <a:spLocks noChangeShapeType="1"/>
          </p:cNvSpPr>
          <p:nvPr/>
        </p:nvSpPr>
        <p:spPr bwMode="auto">
          <a:xfrm>
            <a:off x="4573588" y="5360988"/>
            <a:ext cx="6223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33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33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000" fill="hold"/>
                                        <p:tgtEl>
                                          <p:spTgt spid="433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2000" fill="hold"/>
                                        <p:tgtEl>
                                          <p:spTgt spid="433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315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83"/>
          <a:stretch>
            <a:fillRect/>
          </a:stretch>
        </p:blipFill>
        <p:spPr bwMode="auto">
          <a:xfrm>
            <a:off x="981075" y="466725"/>
            <a:ext cx="4800600" cy="6189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7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en-US" sz="1600" b="1">
                <a:latin typeface="宋体" pitchFamily="2" charset="-122"/>
              </a:rPr>
              <a:t>3-3-1-6  作主视图</a:t>
            </a:r>
            <a:endParaRPr lang="zh-CN" altLang="en-US" sz="1600" b="1">
              <a:latin typeface="宋体" pitchFamily="2" charset="-122"/>
            </a:endParaRPr>
          </a:p>
        </p:txBody>
      </p:sp>
      <p:sp>
        <p:nvSpPr>
          <p:cNvPr id="16388" name="Oval 5"/>
          <p:cNvSpPr>
            <a:spLocks noChangeArrowheads="1"/>
          </p:cNvSpPr>
          <p:nvPr/>
        </p:nvSpPr>
        <p:spPr bwMode="auto">
          <a:xfrm>
            <a:off x="196850" y="457200"/>
            <a:ext cx="592138" cy="2921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1433513" y="1338263"/>
            <a:ext cx="1974850" cy="779462"/>
            <a:chOff x="903" y="843"/>
            <a:chExt cx="1244" cy="491"/>
          </a:xfrm>
        </p:grpSpPr>
        <p:sp>
          <p:nvSpPr>
            <p:cNvPr id="16418" name="Line 6"/>
            <p:cNvSpPr>
              <a:spLocks noChangeShapeType="1"/>
            </p:cNvSpPr>
            <p:nvPr/>
          </p:nvSpPr>
          <p:spPr bwMode="auto">
            <a:xfrm>
              <a:off x="903" y="1328"/>
              <a:ext cx="1244" cy="6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19" name="Line 7"/>
            <p:cNvSpPr>
              <a:spLocks noChangeShapeType="1"/>
            </p:cNvSpPr>
            <p:nvPr/>
          </p:nvSpPr>
          <p:spPr bwMode="auto">
            <a:xfrm flipV="1">
              <a:off x="2147" y="850"/>
              <a:ext cx="0" cy="478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20" name="Line 8"/>
            <p:cNvSpPr>
              <a:spLocks noChangeShapeType="1"/>
            </p:cNvSpPr>
            <p:nvPr/>
          </p:nvSpPr>
          <p:spPr bwMode="auto">
            <a:xfrm flipH="1">
              <a:off x="1924" y="843"/>
              <a:ext cx="216" cy="7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21" name="Line 9"/>
            <p:cNvSpPr>
              <a:spLocks noChangeShapeType="1"/>
            </p:cNvSpPr>
            <p:nvPr/>
          </p:nvSpPr>
          <p:spPr bwMode="auto">
            <a:xfrm flipH="1">
              <a:off x="1911" y="843"/>
              <a:ext cx="7" cy="216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22" name="Line 10"/>
            <p:cNvSpPr>
              <a:spLocks noChangeShapeType="1"/>
            </p:cNvSpPr>
            <p:nvPr/>
          </p:nvSpPr>
          <p:spPr bwMode="auto">
            <a:xfrm flipH="1">
              <a:off x="1139" y="1066"/>
              <a:ext cx="772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23" name="Line 11"/>
            <p:cNvSpPr>
              <a:spLocks noChangeShapeType="1"/>
            </p:cNvSpPr>
            <p:nvPr/>
          </p:nvSpPr>
          <p:spPr bwMode="auto">
            <a:xfrm flipV="1">
              <a:off x="1132" y="843"/>
              <a:ext cx="7" cy="229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24" name="Line 12"/>
            <p:cNvSpPr>
              <a:spLocks noChangeShapeType="1"/>
            </p:cNvSpPr>
            <p:nvPr/>
          </p:nvSpPr>
          <p:spPr bwMode="auto">
            <a:xfrm flipH="1">
              <a:off x="910" y="850"/>
              <a:ext cx="229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25" name="Line 13"/>
            <p:cNvSpPr>
              <a:spLocks noChangeShapeType="1"/>
            </p:cNvSpPr>
            <p:nvPr/>
          </p:nvSpPr>
          <p:spPr bwMode="auto">
            <a:xfrm>
              <a:off x="903" y="869"/>
              <a:ext cx="0" cy="452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1414463" y="4633913"/>
            <a:ext cx="1995487" cy="769937"/>
            <a:chOff x="891" y="2919"/>
            <a:chExt cx="1257" cy="485"/>
          </a:xfrm>
        </p:grpSpPr>
        <p:sp>
          <p:nvSpPr>
            <p:cNvPr id="16410" name="Line 17"/>
            <p:cNvSpPr>
              <a:spLocks noChangeShapeType="1"/>
            </p:cNvSpPr>
            <p:nvPr/>
          </p:nvSpPr>
          <p:spPr bwMode="auto">
            <a:xfrm>
              <a:off x="891" y="3391"/>
              <a:ext cx="1244" cy="6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11" name="Line 18"/>
            <p:cNvSpPr>
              <a:spLocks noChangeShapeType="1"/>
            </p:cNvSpPr>
            <p:nvPr/>
          </p:nvSpPr>
          <p:spPr bwMode="auto">
            <a:xfrm flipV="1">
              <a:off x="2148" y="2926"/>
              <a:ext cx="0" cy="478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12" name="Line 19"/>
            <p:cNvSpPr>
              <a:spLocks noChangeShapeType="1"/>
            </p:cNvSpPr>
            <p:nvPr/>
          </p:nvSpPr>
          <p:spPr bwMode="auto">
            <a:xfrm flipH="1">
              <a:off x="1925" y="2919"/>
              <a:ext cx="216" cy="7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13" name="Line 20"/>
            <p:cNvSpPr>
              <a:spLocks noChangeShapeType="1"/>
            </p:cNvSpPr>
            <p:nvPr/>
          </p:nvSpPr>
          <p:spPr bwMode="auto">
            <a:xfrm flipH="1">
              <a:off x="1918" y="2919"/>
              <a:ext cx="1" cy="4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14" name="Line 21"/>
            <p:cNvSpPr>
              <a:spLocks noChangeShapeType="1"/>
            </p:cNvSpPr>
            <p:nvPr/>
          </p:nvSpPr>
          <p:spPr bwMode="auto">
            <a:xfrm flipH="1">
              <a:off x="1134" y="3305"/>
              <a:ext cx="772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15" name="Line 22"/>
            <p:cNvSpPr>
              <a:spLocks noChangeShapeType="1"/>
            </p:cNvSpPr>
            <p:nvPr/>
          </p:nvSpPr>
          <p:spPr bwMode="auto">
            <a:xfrm flipV="1">
              <a:off x="1133" y="2919"/>
              <a:ext cx="7" cy="387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16" name="Line 23"/>
            <p:cNvSpPr>
              <a:spLocks noChangeShapeType="1"/>
            </p:cNvSpPr>
            <p:nvPr/>
          </p:nvSpPr>
          <p:spPr bwMode="auto">
            <a:xfrm flipH="1">
              <a:off x="911" y="2926"/>
              <a:ext cx="229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17" name="Line 24"/>
            <p:cNvSpPr>
              <a:spLocks noChangeShapeType="1"/>
            </p:cNvSpPr>
            <p:nvPr/>
          </p:nvSpPr>
          <p:spPr bwMode="auto">
            <a:xfrm>
              <a:off x="904" y="2945"/>
              <a:ext cx="0" cy="452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8634" name="Text Box 26"/>
          <p:cNvSpPr txBox="1">
            <a:spLocks noChangeArrowheads="1"/>
          </p:cNvSpPr>
          <p:nvPr/>
        </p:nvSpPr>
        <p:spPr bwMode="auto">
          <a:xfrm>
            <a:off x="4427538" y="5440363"/>
            <a:ext cx="4487862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latin typeface="黑体" pitchFamily="2" charset="-122"/>
                <a:ea typeface="黑体" pitchFamily="2" charset="-122"/>
              </a:rPr>
              <a:t>回转体截切检查：</a:t>
            </a:r>
            <a:endParaRPr lang="en-US" altLang="zh-CN" sz="2800" b="1" dirty="0">
              <a:latin typeface="黑体" pitchFamily="2" charset="-122"/>
              <a:ea typeface="黑体" pitchFamily="2" charset="-122"/>
            </a:endParaRPr>
          </a:p>
          <a:p>
            <a:pPr eaLnBrk="1" hangingPunct="1"/>
            <a:r>
              <a:rPr lang="zh-CN" altLang="en-US" sz="2800" b="1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算上中心线，也是类似形。</a:t>
            </a:r>
          </a:p>
        </p:txBody>
      </p:sp>
      <p:sp>
        <p:nvSpPr>
          <p:cNvPr id="68636" name="Line 28"/>
          <p:cNvSpPr>
            <a:spLocks noChangeShapeType="1"/>
          </p:cNvSpPr>
          <p:nvPr/>
        </p:nvSpPr>
        <p:spPr bwMode="auto">
          <a:xfrm>
            <a:off x="1406525" y="5138738"/>
            <a:ext cx="1974850" cy="9525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637" name="Line 29"/>
          <p:cNvSpPr>
            <a:spLocks noChangeShapeType="1"/>
          </p:cNvSpPr>
          <p:nvPr/>
        </p:nvSpPr>
        <p:spPr bwMode="auto">
          <a:xfrm flipH="1" flipV="1">
            <a:off x="3392488" y="4618038"/>
            <a:ext cx="9525" cy="541337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638" name="Line 30"/>
          <p:cNvSpPr>
            <a:spLocks noChangeShapeType="1"/>
          </p:cNvSpPr>
          <p:nvPr/>
        </p:nvSpPr>
        <p:spPr bwMode="auto">
          <a:xfrm flipH="1">
            <a:off x="2828925" y="4638675"/>
            <a:ext cx="530225" cy="11113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639" name="Line 31"/>
          <p:cNvSpPr>
            <a:spLocks noChangeShapeType="1"/>
          </p:cNvSpPr>
          <p:nvPr/>
        </p:nvSpPr>
        <p:spPr bwMode="auto">
          <a:xfrm flipH="1">
            <a:off x="2817813" y="4619625"/>
            <a:ext cx="1587" cy="415925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640" name="Line 32"/>
          <p:cNvSpPr>
            <a:spLocks noChangeShapeType="1"/>
          </p:cNvSpPr>
          <p:nvPr/>
        </p:nvSpPr>
        <p:spPr bwMode="auto">
          <a:xfrm flipH="1">
            <a:off x="2000250" y="5033963"/>
            <a:ext cx="809625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641" name="Line 33"/>
          <p:cNvSpPr>
            <a:spLocks noChangeShapeType="1"/>
          </p:cNvSpPr>
          <p:nvPr/>
        </p:nvSpPr>
        <p:spPr bwMode="auto">
          <a:xfrm flipV="1">
            <a:off x="2019300" y="4618038"/>
            <a:ext cx="1588" cy="4064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642" name="Line 34"/>
          <p:cNvSpPr>
            <a:spLocks noChangeShapeType="1"/>
          </p:cNvSpPr>
          <p:nvPr/>
        </p:nvSpPr>
        <p:spPr bwMode="auto">
          <a:xfrm flipH="1">
            <a:off x="1438275" y="4638675"/>
            <a:ext cx="57150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643" name="Line 35"/>
          <p:cNvSpPr>
            <a:spLocks noChangeShapeType="1"/>
          </p:cNvSpPr>
          <p:nvPr/>
        </p:nvSpPr>
        <p:spPr bwMode="auto">
          <a:xfrm>
            <a:off x="1427163" y="4629150"/>
            <a:ext cx="0" cy="519113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644" name="Line 36"/>
          <p:cNvSpPr>
            <a:spLocks noChangeShapeType="1"/>
          </p:cNvSpPr>
          <p:nvPr/>
        </p:nvSpPr>
        <p:spPr bwMode="auto">
          <a:xfrm>
            <a:off x="1406525" y="2093913"/>
            <a:ext cx="1974850" cy="9525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645" name="Line 37"/>
          <p:cNvSpPr>
            <a:spLocks noChangeShapeType="1"/>
          </p:cNvSpPr>
          <p:nvPr/>
        </p:nvSpPr>
        <p:spPr bwMode="auto">
          <a:xfrm flipH="1" flipV="1">
            <a:off x="3392488" y="1573213"/>
            <a:ext cx="9525" cy="541337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646" name="Line 38"/>
          <p:cNvSpPr>
            <a:spLocks noChangeShapeType="1"/>
          </p:cNvSpPr>
          <p:nvPr/>
        </p:nvSpPr>
        <p:spPr bwMode="auto">
          <a:xfrm flipH="1">
            <a:off x="2828925" y="1593850"/>
            <a:ext cx="530225" cy="11113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647" name="Line 39"/>
          <p:cNvSpPr>
            <a:spLocks noChangeShapeType="1"/>
          </p:cNvSpPr>
          <p:nvPr/>
        </p:nvSpPr>
        <p:spPr bwMode="auto">
          <a:xfrm flipH="1">
            <a:off x="2817813" y="1585913"/>
            <a:ext cx="1587" cy="187325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648" name="Line 40"/>
          <p:cNvSpPr>
            <a:spLocks noChangeShapeType="1"/>
          </p:cNvSpPr>
          <p:nvPr/>
        </p:nvSpPr>
        <p:spPr bwMode="auto">
          <a:xfrm flipH="1">
            <a:off x="2000250" y="1801813"/>
            <a:ext cx="809625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649" name="Line 41"/>
          <p:cNvSpPr>
            <a:spLocks noChangeShapeType="1"/>
          </p:cNvSpPr>
          <p:nvPr/>
        </p:nvSpPr>
        <p:spPr bwMode="auto">
          <a:xfrm flipV="1">
            <a:off x="2019300" y="1573213"/>
            <a:ext cx="1588" cy="207962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650" name="Line 42"/>
          <p:cNvSpPr>
            <a:spLocks noChangeShapeType="1"/>
          </p:cNvSpPr>
          <p:nvPr/>
        </p:nvSpPr>
        <p:spPr bwMode="auto">
          <a:xfrm flipH="1">
            <a:off x="1438275" y="1593850"/>
            <a:ext cx="57150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651" name="Line 43"/>
          <p:cNvSpPr>
            <a:spLocks noChangeShapeType="1"/>
          </p:cNvSpPr>
          <p:nvPr/>
        </p:nvSpPr>
        <p:spPr bwMode="auto">
          <a:xfrm>
            <a:off x="1427163" y="1584325"/>
            <a:ext cx="0" cy="519113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652" name="Arc 44"/>
          <p:cNvSpPr>
            <a:spLocks/>
          </p:cNvSpPr>
          <p:nvPr/>
        </p:nvSpPr>
        <p:spPr bwMode="auto">
          <a:xfrm>
            <a:off x="4498975" y="1333500"/>
            <a:ext cx="796925" cy="758825"/>
          </a:xfrm>
          <a:custGeom>
            <a:avLst/>
            <a:gdLst>
              <a:gd name="T0" fmla="*/ 0 w 21600"/>
              <a:gd name="T1" fmla="*/ 0 h 21912"/>
              <a:gd name="T2" fmla="*/ 796851 w 21600"/>
              <a:gd name="T3" fmla="*/ 758825 h 21912"/>
              <a:gd name="T4" fmla="*/ 0 w 21600"/>
              <a:gd name="T5" fmla="*/ 748020 h 21912"/>
              <a:gd name="T6" fmla="*/ 0 60000 65536"/>
              <a:gd name="T7" fmla="*/ 0 60000 65536"/>
              <a:gd name="T8" fmla="*/ 0 60000 65536"/>
              <a:gd name="T9" fmla="*/ 0 w 21600"/>
              <a:gd name="T10" fmla="*/ 0 h 21912"/>
              <a:gd name="T11" fmla="*/ 21600 w 21600"/>
              <a:gd name="T12" fmla="*/ 21912 h 2191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912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1704"/>
                  <a:pt x="21599" y="21808"/>
                  <a:pt x="21597" y="21911"/>
                </a:cubicBezTo>
              </a:path>
              <a:path w="21600" h="21912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1704"/>
                  <a:pt x="21599" y="21808"/>
                  <a:pt x="21597" y="21911"/>
                </a:cubicBezTo>
                <a:lnTo>
                  <a:pt x="0" y="21600"/>
                </a:lnTo>
                <a:close/>
              </a:path>
            </a:pathLst>
          </a:custGeom>
          <a:noFill/>
          <a:ln w="571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653" name="Arc 45"/>
          <p:cNvSpPr>
            <a:spLocks/>
          </p:cNvSpPr>
          <p:nvPr/>
        </p:nvSpPr>
        <p:spPr bwMode="auto">
          <a:xfrm>
            <a:off x="4529138" y="1593850"/>
            <a:ext cx="530225" cy="519113"/>
          </a:xfrm>
          <a:custGeom>
            <a:avLst/>
            <a:gdLst>
              <a:gd name="T0" fmla="*/ 0 w 21577"/>
              <a:gd name="T1" fmla="*/ 0 h 21600"/>
              <a:gd name="T2" fmla="*/ 530225 w 21577"/>
              <a:gd name="T3" fmla="*/ 495176 h 21600"/>
              <a:gd name="T4" fmla="*/ 0 w 21577"/>
              <a:gd name="T5" fmla="*/ 519113 h 21600"/>
              <a:gd name="T6" fmla="*/ 0 60000 65536"/>
              <a:gd name="T7" fmla="*/ 0 60000 65536"/>
              <a:gd name="T8" fmla="*/ 0 60000 65536"/>
              <a:gd name="T9" fmla="*/ 0 w 21577"/>
              <a:gd name="T10" fmla="*/ 0 h 21600"/>
              <a:gd name="T11" fmla="*/ 21577 w 21577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577" h="21600" fill="none" extrusionOk="0">
                <a:moveTo>
                  <a:pt x="-1" y="0"/>
                </a:moveTo>
                <a:cubicBezTo>
                  <a:pt x="11542" y="0"/>
                  <a:pt x="21044" y="9074"/>
                  <a:pt x="21577" y="20603"/>
                </a:cubicBezTo>
              </a:path>
              <a:path w="21577" h="21600" stroke="0" extrusionOk="0">
                <a:moveTo>
                  <a:pt x="-1" y="0"/>
                </a:moveTo>
                <a:cubicBezTo>
                  <a:pt x="11542" y="0"/>
                  <a:pt x="21044" y="9074"/>
                  <a:pt x="21577" y="20603"/>
                </a:cubicBezTo>
                <a:lnTo>
                  <a:pt x="0" y="21600"/>
                </a:lnTo>
                <a:close/>
              </a:path>
            </a:pathLst>
          </a:custGeom>
          <a:noFill/>
          <a:ln w="571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8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8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3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xit" presetSubtype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4" dur="2000"/>
                                        <p:tgtEl>
                                          <p:spTgt spid="686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8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1000"/>
                                        <p:tgtEl>
                                          <p:spTgt spid="68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68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1000"/>
                                        <p:tgtEl>
                                          <p:spTgt spid="68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5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1000"/>
                                        <p:tgtEl>
                                          <p:spTgt spid="68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5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1000"/>
                                        <p:tgtEl>
                                          <p:spTgt spid="68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5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1000"/>
                                        <p:tgtEl>
                                          <p:spTgt spid="68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6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1000"/>
                                        <p:tgtEl>
                                          <p:spTgt spid="68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6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8" dur="1000"/>
                                        <p:tgtEl>
                                          <p:spTgt spid="68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1000"/>
                                        <p:tgtEl>
                                          <p:spTgt spid="68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1000"/>
                                        <p:tgtEl>
                                          <p:spTgt spid="68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1000"/>
                                        <p:tgtEl>
                                          <p:spTgt spid="68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8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5" dur="1000"/>
                                        <p:tgtEl>
                                          <p:spTgt spid="68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8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1000"/>
                                        <p:tgtEl>
                                          <p:spTgt spid="68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9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3" dur="1000"/>
                                        <p:tgtEl>
                                          <p:spTgt spid="68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9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1000"/>
                                        <p:tgtEl>
                                          <p:spTgt spid="68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9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1" dur="1000"/>
                                        <p:tgtEl>
                                          <p:spTgt spid="68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1000"/>
                                        <p:tgtEl>
                                          <p:spTgt spid="68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34" grpId="0"/>
      <p:bldP spid="68636" grpId="0" animBg="1"/>
      <p:bldP spid="68637" grpId="0" animBg="1"/>
      <p:bldP spid="68638" grpId="0" animBg="1"/>
      <p:bldP spid="68639" grpId="0" animBg="1"/>
      <p:bldP spid="68640" grpId="0" animBg="1"/>
      <p:bldP spid="68641" grpId="0" animBg="1"/>
      <p:bldP spid="68642" grpId="0" animBg="1"/>
      <p:bldP spid="68643" grpId="0" animBg="1"/>
      <p:bldP spid="68644" grpId="0" animBg="1"/>
      <p:bldP spid="68645" grpId="0" animBg="1"/>
      <p:bldP spid="68646" grpId="0" animBg="1"/>
      <p:bldP spid="68647" grpId="0" animBg="1"/>
      <p:bldP spid="68648" grpId="0" animBg="1"/>
      <p:bldP spid="68649" grpId="0" animBg="1"/>
      <p:bldP spid="68650" grpId="0" animBg="1"/>
      <p:bldP spid="68651" grpId="0" animBg="1"/>
      <p:bldP spid="68652" grpId="0" animBg="1"/>
      <p:bldP spid="68652" grpId="1" animBg="1"/>
      <p:bldP spid="6865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en-US" sz="1600" b="1">
                <a:latin typeface="宋体" pitchFamily="2" charset="-122"/>
              </a:rPr>
              <a:t>3-3-1-6  作主视图</a:t>
            </a:r>
            <a:endParaRPr lang="zh-CN" altLang="en-US" sz="1600" b="1">
              <a:latin typeface="宋体" pitchFamily="2" charset="-122"/>
            </a:endParaRPr>
          </a:p>
        </p:txBody>
      </p:sp>
      <p:pic>
        <p:nvPicPr>
          <p:cNvPr id="17411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79" t="18298" r="15842" b="29964"/>
          <a:stretch>
            <a:fillRect/>
          </a:stretch>
        </p:blipFill>
        <p:spPr bwMode="auto">
          <a:xfrm>
            <a:off x="1539875" y="1089025"/>
            <a:ext cx="5537200" cy="367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2" name="Oval 6"/>
          <p:cNvSpPr>
            <a:spLocks noChangeArrowheads="1"/>
          </p:cNvSpPr>
          <p:nvPr/>
        </p:nvSpPr>
        <p:spPr bwMode="auto">
          <a:xfrm>
            <a:off x="196850" y="457200"/>
            <a:ext cx="592138" cy="2921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en-US" sz="1600" b="1">
                <a:latin typeface="宋体" pitchFamily="2" charset="-122"/>
              </a:rPr>
              <a:t>3-3-1-</a:t>
            </a:r>
            <a:r>
              <a:rPr lang="en-US" altLang="zh-CN" sz="1600" b="1">
                <a:latin typeface="宋体" pitchFamily="2" charset="-122"/>
              </a:rPr>
              <a:t>7</a:t>
            </a:r>
            <a:r>
              <a:rPr lang="en-US" altLang="en-US" sz="1600" b="1">
                <a:latin typeface="宋体" pitchFamily="2" charset="-122"/>
              </a:rPr>
              <a:t>  </a:t>
            </a:r>
            <a:r>
              <a:rPr lang="zh-CN" altLang="en-US" sz="1600" b="1">
                <a:latin typeface="宋体" pitchFamily="2" charset="-122"/>
              </a:rPr>
              <a:t>完成圆锥穿三棱柱孔的俯视图，并作左视图。</a:t>
            </a:r>
          </a:p>
        </p:txBody>
      </p:sp>
      <p:sp>
        <p:nvSpPr>
          <p:cNvPr id="18435" name="Oval 5"/>
          <p:cNvSpPr>
            <a:spLocks noChangeArrowheads="1"/>
          </p:cNvSpPr>
          <p:nvPr/>
        </p:nvSpPr>
        <p:spPr bwMode="auto">
          <a:xfrm>
            <a:off x="196850" y="457200"/>
            <a:ext cx="592138" cy="2921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423943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02" t="22168" r="18150" b="26106"/>
          <a:stretch>
            <a:fillRect/>
          </a:stretch>
        </p:blipFill>
        <p:spPr bwMode="auto">
          <a:xfrm>
            <a:off x="0" y="757238"/>
            <a:ext cx="4319588" cy="323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23944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67" t="14844" r="20547" b="23438"/>
          <a:stretch>
            <a:fillRect/>
          </a:stretch>
        </p:blipFill>
        <p:spPr bwMode="auto">
          <a:xfrm>
            <a:off x="2930525" y="2208213"/>
            <a:ext cx="5943600" cy="4649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23946" name="Text Box 10"/>
          <p:cNvSpPr txBox="1">
            <a:spLocks noChangeArrowheads="1"/>
          </p:cNvSpPr>
          <p:nvPr/>
        </p:nvSpPr>
        <p:spPr bwMode="auto">
          <a:xfrm>
            <a:off x="6359525" y="4964113"/>
            <a:ext cx="27844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000" b="1">
                <a:latin typeface="宋体" pitchFamily="2" charset="-122"/>
              </a:rPr>
              <a:t>虚实分界点如何确定？</a:t>
            </a:r>
          </a:p>
        </p:txBody>
      </p:sp>
      <p:sp>
        <p:nvSpPr>
          <p:cNvPr id="423948" name="Line 12"/>
          <p:cNvSpPr>
            <a:spLocks noChangeShapeType="1"/>
          </p:cNvSpPr>
          <p:nvPr/>
        </p:nvSpPr>
        <p:spPr bwMode="auto">
          <a:xfrm flipH="1" flipV="1">
            <a:off x="6980238" y="3678238"/>
            <a:ext cx="1301750" cy="13303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3949" name="Line 13"/>
          <p:cNvSpPr>
            <a:spLocks noChangeShapeType="1"/>
          </p:cNvSpPr>
          <p:nvPr/>
        </p:nvSpPr>
        <p:spPr bwMode="auto">
          <a:xfrm flipV="1">
            <a:off x="8296275" y="3649663"/>
            <a:ext cx="79375" cy="13604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239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239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23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23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23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423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3946" grpId="0"/>
      <p:bldP spid="423948" grpId="0" animBg="1"/>
      <p:bldP spid="42394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2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en-US" sz="1600" b="1">
                <a:latin typeface="宋体" pitchFamily="2" charset="-122"/>
              </a:rPr>
              <a:t>3-3-1-</a:t>
            </a:r>
            <a:r>
              <a:rPr lang="en-US" altLang="zh-CN" sz="1600" b="1">
                <a:latin typeface="宋体" pitchFamily="2" charset="-122"/>
              </a:rPr>
              <a:t>7</a:t>
            </a:r>
            <a:r>
              <a:rPr lang="en-US" altLang="en-US" sz="1600" b="1">
                <a:latin typeface="宋体" pitchFamily="2" charset="-122"/>
              </a:rPr>
              <a:t>  </a:t>
            </a:r>
            <a:r>
              <a:rPr lang="zh-CN" altLang="en-US" sz="1600" b="1">
                <a:latin typeface="宋体" pitchFamily="2" charset="-122"/>
              </a:rPr>
              <a:t>完成圆锥穿三棱柱孔的俯视图，并作左视图。</a:t>
            </a:r>
          </a:p>
        </p:txBody>
      </p:sp>
      <p:sp>
        <p:nvSpPr>
          <p:cNvPr id="19459" name="Oval 3"/>
          <p:cNvSpPr>
            <a:spLocks noChangeArrowheads="1"/>
          </p:cNvSpPr>
          <p:nvPr/>
        </p:nvSpPr>
        <p:spPr bwMode="auto">
          <a:xfrm>
            <a:off x="196850" y="457200"/>
            <a:ext cx="592138" cy="2921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19460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40" t="20557" r="19089" b="23323"/>
          <a:stretch>
            <a:fillRect/>
          </a:stretch>
        </p:blipFill>
        <p:spPr bwMode="auto">
          <a:xfrm>
            <a:off x="0" y="787400"/>
            <a:ext cx="5559425" cy="421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1111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23" t="21208" r="20807" b="26221"/>
          <a:stretch>
            <a:fillRect/>
          </a:stretch>
        </p:blipFill>
        <p:spPr bwMode="auto">
          <a:xfrm>
            <a:off x="3649663" y="2625725"/>
            <a:ext cx="5494337" cy="423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Oval 8"/>
          <p:cNvSpPr>
            <a:spLocks noChangeArrowheads="1"/>
          </p:cNvSpPr>
          <p:nvPr/>
        </p:nvSpPr>
        <p:spPr bwMode="auto">
          <a:xfrm>
            <a:off x="7269480" y="3666745"/>
            <a:ext cx="329057" cy="329184"/>
          </a:xfrm>
          <a:prstGeom prst="ellipse">
            <a:avLst/>
          </a:prstGeom>
          <a:noFill/>
          <a:ln w="254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7" name="Oval 8"/>
          <p:cNvSpPr>
            <a:spLocks noChangeArrowheads="1"/>
          </p:cNvSpPr>
          <p:nvPr/>
        </p:nvSpPr>
        <p:spPr bwMode="auto">
          <a:xfrm>
            <a:off x="4879848" y="5382769"/>
            <a:ext cx="329057" cy="329184"/>
          </a:xfrm>
          <a:prstGeom prst="ellipse">
            <a:avLst/>
          </a:prstGeom>
          <a:noFill/>
          <a:ln w="254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8" name="Oval 8"/>
          <p:cNvSpPr>
            <a:spLocks noChangeArrowheads="1"/>
          </p:cNvSpPr>
          <p:nvPr/>
        </p:nvSpPr>
        <p:spPr bwMode="auto">
          <a:xfrm>
            <a:off x="8107680" y="3645409"/>
            <a:ext cx="329057" cy="329184"/>
          </a:xfrm>
          <a:prstGeom prst="ellipse">
            <a:avLst/>
          </a:prstGeom>
          <a:noFill/>
          <a:ln w="254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31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2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en-US" sz="1600" b="1">
                <a:latin typeface="宋体" pitchFamily="2" charset="-122"/>
              </a:rPr>
              <a:t>3-3-1-</a:t>
            </a:r>
            <a:r>
              <a:rPr lang="en-US" altLang="zh-CN" sz="1600" b="1">
                <a:latin typeface="宋体" pitchFamily="2" charset="-122"/>
              </a:rPr>
              <a:t>7</a:t>
            </a:r>
            <a:r>
              <a:rPr lang="en-US" altLang="en-US" sz="1600" b="1">
                <a:latin typeface="宋体" pitchFamily="2" charset="-122"/>
              </a:rPr>
              <a:t>  </a:t>
            </a:r>
            <a:r>
              <a:rPr lang="zh-CN" altLang="en-US" sz="1600" b="1">
                <a:latin typeface="宋体" pitchFamily="2" charset="-122"/>
              </a:rPr>
              <a:t>完成圆锥穿三棱柱孔的俯视图，并作左视图。</a:t>
            </a:r>
          </a:p>
        </p:txBody>
      </p:sp>
      <p:pic>
        <p:nvPicPr>
          <p:cNvPr id="42496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84" t="14844" r="23607" b="27068"/>
          <a:stretch>
            <a:fillRect/>
          </a:stretch>
        </p:blipFill>
        <p:spPr bwMode="auto">
          <a:xfrm>
            <a:off x="0" y="622300"/>
            <a:ext cx="3848100" cy="325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2496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01" t="14844" r="23788" b="18636"/>
          <a:stretch>
            <a:fillRect/>
          </a:stretch>
        </p:blipFill>
        <p:spPr bwMode="auto">
          <a:xfrm>
            <a:off x="3306763" y="3787775"/>
            <a:ext cx="2955925" cy="2897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24966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70" t="24397" r="24896" b="27800"/>
          <a:stretch>
            <a:fillRect/>
          </a:stretch>
        </p:blipFill>
        <p:spPr bwMode="auto">
          <a:xfrm>
            <a:off x="4722813" y="652463"/>
            <a:ext cx="3981450" cy="290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249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249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4249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4249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000" fill="hold"/>
                                        <p:tgtEl>
                                          <p:spTgt spid="4249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000" fill="hold"/>
                                        <p:tgtEl>
                                          <p:spTgt spid="4249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2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en-US" sz="1600" b="1">
                <a:latin typeface="宋体" pitchFamily="2" charset="-122"/>
              </a:rPr>
              <a:t>3-3-1-</a:t>
            </a:r>
            <a:r>
              <a:rPr lang="en-US" altLang="zh-CN" sz="1600" b="1">
                <a:latin typeface="宋体" pitchFamily="2" charset="-122"/>
              </a:rPr>
              <a:t>8</a:t>
            </a:r>
            <a:r>
              <a:rPr lang="en-US" altLang="en-US" sz="1600" b="1">
                <a:latin typeface="宋体" pitchFamily="2" charset="-122"/>
              </a:rPr>
              <a:t>  </a:t>
            </a:r>
            <a:r>
              <a:rPr lang="zh-CN" altLang="en-US" sz="1600" b="1">
                <a:latin typeface="宋体" pitchFamily="2" charset="-122"/>
              </a:rPr>
              <a:t>补全三棱柱与圆环相交后主视图中所缺的线。</a:t>
            </a:r>
          </a:p>
        </p:txBody>
      </p:sp>
      <p:pic>
        <p:nvPicPr>
          <p:cNvPr id="2150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21" t="13428" r="23438" b="16406"/>
          <a:stretch>
            <a:fillRect/>
          </a:stretch>
        </p:blipFill>
        <p:spPr bwMode="auto">
          <a:xfrm>
            <a:off x="3183450" y="639724"/>
            <a:ext cx="5840412" cy="6054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8" name="Oval 5"/>
          <p:cNvSpPr>
            <a:spLocks noChangeArrowheads="1"/>
          </p:cNvSpPr>
          <p:nvPr/>
        </p:nvSpPr>
        <p:spPr bwMode="auto">
          <a:xfrm>
            <a:off x="196850" y="457200"/>
            <a:ext cx="592138" cy="2921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" name="Text Box 26"/>
          <p:cNvSpPr txBox="1">
            <a:spLocks noChangeArrowheads="1"/>
          </p:cNvSpPr>
          <p:nvPr/>
        </p:nvSpPr>
        <p:spPr bwMode="auto">
          <a:xfrm>
            <a:off x="0" y="3940639"/>
            <a:ext cx="3183450" cy="12618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latin typeface="黑体" pitchFamily="2" charset="-122"/>
                <a:ea typeface="黑体" pitchFamily="2" charset="-122"/>
              </a:rPr>
              <a:t>检查：</a:t>
            </a:r>
            <a:endParaRPr lang="en-US" altLang="zh-CN" sz="2800" b="1" dirty="0">
              <a:latin typeface="黑体" pitchFamily="2" charset="-122"/>
              <a:ea typeface="黑体" pitchFamily="2" charset="-122"/>
            </a:endParaRPr>
          </a:p>
          <a:p>
            <a:pPr eaLnBrk="1" hangingPunct="1"/>
            <a:r>
              <a:rPr lang="zh-CN" altLang="en-US" sz="2400" b="1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轮廓线跟轮廓线上</a:t>
            </a:r>
            <a:endParaRPr lang="en-US" altLang="zh-CN" sz="2400" b="1" dirty="0">
              <a:solidFill>
                <a:schemeClr val="hlink"/>
              </a:solidFill>
              <a:latin typeface="黑体" pitchFamily="2" charset="-122"/>
              <a:ea typeface="黑体" pitchFamily="2" charset="-122"/>
            </a:endParaRPr>
          </a:p>
          <a:p>
            <a:pPr eaLnBrk="1" hangingPunct="1"/>
            <a:r>
              <a:rPr lang="zh-CN" altLang="en-US" sz="2400" b="1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的特殊点相连。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2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en-US" sz="1600" b="1">
                <a:latin typeface="宋体" pitchFamily="2" charset="-122"/>
              </a:rPr>
              <a:t>3-3-1-</a:t>
            </a:r>
            <a:r>
              <a:rPr lang="en-US" altLang="zh-CN" sz="1600" b="1">
                <a:latin typeface="宋体" pitchFamily="2" charset="-122"/>
              </a:rPr>
              <a:t>8</a:t>
            </a:r>
            <a:r>
              <a:rPr lang="en-US" altLang="en-US" sz="1600" b="1">
                <a:latin typeface="宋体" pitchFamily="2" charset="-122"/>
              </a:rPr>
              <a:t>  </a:t>
            </a:r>
            <a:r>
              <a:rPr lang="zh-CN" altLang="en-US" sz="1600" b="1">
                <a:latin typeface="宋体" pitchFamily="2" charset="-122"/>
              </a:rPr>
              <a:t>补全三棱柱与圆环相交后主视图中所缺的线。</a:t>
            </a:r>
          </a:p>
        </p:txBody>
      </p:sp>
      <p:pic>
        <p:nvPicPr>
          <p:cNvPr id="42701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23" t="17268" r="24544" b="28987"/>
          <a:stretch>
            <a:fillRect/>
          </a:stretch>
        </p:blipFill>
        <p:spPr bwMode="auto">
          <a:xfrm>
            <a:off x="0" y="765175"/>
            <a:ext cx="4533900" cy="379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2701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349" t="18538" r="35027" b="24919"/>
          <a:stretch>
            <a:fillRect/>
          </a:stretch>
        </p:blipFill>
        <p:spPr bwMode="auto">
          <a:xfrm>
            <a:off x="5516563" y="972588"/>
            <a:ext cx="2430462" cy="3590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3" name="Oval 6"/>
          <p:cNvSpPr>
            <a:spLocks noChangeArrowheads="1"/>
          </p:cNvSpPr>
          <p:nvPr/>
        </p:nvSpPr>
        <p:spPr bwMode="auto">
          <a:xfrm>
            <a:off x="196850" y="457200"/>
            <a:ext cx="592138" cy="2921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" name="Text Box 26">
            <a:extLst>
              <a:ext uri="{FF2B5EF4-FFF2-40B4-BE49-F238E27FC236}">
                <a16:creationId xmlns:a16="http://schemas.microsoft.com/office/drawing/2014/main" xmlns="" id="{A2CEC5C5-F100-4D0F-8802-DDC0A40DC5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6754" y="4876804"/>
            <a:ext cx="6229743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3200" b="1" dirty="0">
                <a:latin typeface="黑体" pitchFamily="2" charset="-122"/>
                <a:ea typeface="黑体" pitchFamily="2" charset="-122"/>
              </a:rPr>
              <a:t>总结：</a:t>
            </a:r>
            <a:endParaRPr lang="en-US" altLang="zh-CN" sz="3200" b="1" dirty="0">
              <a:latin typeface="黑体" pitchFamily="2" charset="-122"/>
              <a:ea typeface="黑体" pitchFamily="2" charset="-122"/>
            </a:endParaRPr>
          </a:p>
          <a:p>
            <a:pPr eaLnBrk="1" hangingPunct="1"/>
            <a:r>
              <a:rPr lang="en-US" altLang="zh-CN" sz="3200" b="1" dirty="0">
                <a:latin typeface="黑体" pitchFamily="2" charset="-122"/>
                <a:ea typeface="黑体" pitchFamily="2" charset="-122"/>
              </a:rPr>
              <a:t>1</a:t>
            </a:r>
            <a:r>
              <a:rPr lang="zh-CN" altLang="en-US" sz="3200" b="1" dirty="0">
                <a:latin typeface="黑体" pitchFamily="2" charset="-122"/>
                <a:ea typeface="黑体" pitchFamily="2" charset="-122"/>
              </a:rPr>
              <a:t>个中心，</a:t>
            </a:r>
            <a:r>
              <a:rPr lang="en-US" altLang="zh-CN" sz="3200" b="1" dirty="0">
                <a:latin typeface="黑体" pitchFamily="2" charset="-122"/>
                <a:ea typeface="黑体" pitchFamily="2" charset="-122"/>
              </a:rPr>
              <a:t>2</a:t>
            </a:r>
            <a:r>
              <a:rPr lang="zh-CN" altLang="en-US" sz="3200" b="1" dirty="0">
                <a:latin typeface="黑体" pitchFamily="2" charset="-122"/>
                <a:ea typeface="黑体" pitchFamily="2" charset="-122"/>
              </a:rPr>
              <a:t>个基本点：</a:t>
            </a:r>
            <a:endParaRPr lang="en-US" altLang="zh-CN" sz="3200" b="1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7" name="Text Box 26">
            <a:extLst>
              <a:ext uri="{FF2B5EF4-FFF2-40B4-BE49-F238E27FC236}">
                <a16:creationId xmlns:a16="http://schemas.microsoft.com/office/drawing/2014/main" xmlns="" id="{E2D1FBCE-865A-498A-8887-32C405FD5D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4751" y="5949837"/>
            <a:ext cx="509140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3200" b="1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过程，类似形</a:t>
            </a:r>
            <a:r>
              <a:rPr lang="en-US" altLang="zh-CN" sz="3200" b="1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/</a:t>
            </a:r>
            <a:r>
              <a:rPr lang="zh-CN" altLang="en-US" sz="3200" b="1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轮廓线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27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270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270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3756</TotalTime>
  <Words>227</Words>
  <Application>Microsoft Office PowerPoint</Application>
  <PresentationFormat>全屏显示(4:3)</PresentationFormat>
  <Paragraphs>39</Paragraphs>
  <Slides>20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1" baseType="lpstr">
      <vt:lpstr>Blends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MC SYSTEM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MC SYSTEM</dc:creator>
  <cp:lastModifiedBy>Li Tiemin</cp:lastModifiedBy>
  <cp:revision>316</cp:revision>
  <dcterms:created xsi:type="dcterms:W3CDTF">2006-04-04T11:38:05Z</dcterms:created>
  <dcterms:modified xsi:type="dcterms:W3CDTF">2023-11-03T04:45:20Z</dcterms:modified>
</cp:coreProperties>
</file>