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35" r:id="rId3"/>
    <p:sldId id="503" r:id="rId5"/>
    <p:sldId id="491" r:id="rId6"/>
    <p:sldId id="492" r:id="rId7"/>
    <p:sldId id="493" r:id="rId8"/>
    <p:sldId id="494" r:id="rId9"/>
    <p:sldId id="496" r:id="rId10"/>
    <p:sldId id="497" r:id="rId11"/>
    <p:sldId id="505" r:id="rId12"/>
    <p:sldId id="506" r:id="rId13"/>
    <p:sldId id="498" r:id="rId14"/>
    <p:sldId id="499" r:id="rId15"/>
    <p:sldId id="500" r:id="rId16"/>
    <p:sldId id="510" r:id="rId17"/>
  </p:sldIdLst>
  <p:sldSz cx="9144000" cy="6858000" type="screen4x3"/>
  <p:notesSz cx="7099300" cy="10234295"/>
  <p:custDataLst>
    <p:tags r:id="rId2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5pPr>
    <a:lvl6pPr marL="22860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6pPr>
    <a:lvl7pPr marL="27432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7pPr>
    <a:lvl8pPr marL="32004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8pPr>
    <a:lvl9pPr marL="36576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0BFD9"/>
    <a:srgbClr val="7BC3F7"/>
    <a:srgbClr val="F4BA4A"/>
    <a:srgbClr val="CD5134"/>
    <a:srgbClr val="800000"/>
    <a:srgbClr val="D6009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 autoAdjust="0"/>
    <p:restoredTop sz="98897" autoAdjust="0"/>
  </p:normalViewPr>
  <p:slideViewPr>
    <p:cSldViewPr snapToGrid="0" snapToObjects="1" showGuides="1">
      <p:cViewPr varScale="1">
        <p:scale>
          <a:sx n="76" d="100"/>
          <a:sy n="76" d="100"/>
        </p:scale>
        <p:origin x="939" y="42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FD453D5-D8CA-4DAC-88E5-7CE18AD1B56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82E76E0-A888-40CF-A184-F38F8899793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329FBAA-91E4-4D1A-BD1E-7B2BE9681FB9}" type="slidenum">
              <a:rPr lang="zh-CN" altLang="en-US" sz="1300" smtClean="0">
                <a:cs typeface="楷体_GB2312" charset="-122"/>
              </a:rPr>
            </a:fld>
            <a:endParaRPr lang="en-US" altLang="zh-CN" sz="1300">
              <a:cs typeface="楷体_GB2312" charset="-122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>
              <a:defRPr/>
            </a:pPr>
            <a:endParaRPr lang="zh-CN" altLang="en-US" sz="2400" b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>
              <a:defRPr/>
            </a:pPr>
            <a:endParaRPr lang="zh-CN" altLang="en-US" sz="2400" b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</a:ln>
        </p:spPr>
        <p:txBody>
          <a:bodyPr wrap="none" anchor="ctr"/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  <a:defRPr/>
            </a:pPr>
            <a:endParaRPr lang="zh-CN" altLang="en-US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>
              <a:defRPr/>
            </a:pPr>
            <a:endParaRPr lang="zh-CN" altLang="en-US" sz="2400" b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977900"/>
            <a:ext cx="4495800" cy="5880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77900"/>
            <a:ext cx="4495800" cy="5880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845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845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77900"/>
            <a:ext cx="9144000" cy="5880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>
              <a:defRPr/>
            </a:pPr>
            <a:endParaRPr lang="zh-CN" altLang="en-US" sz="2400" b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Rectangle 14"/>
          <p:cNvSpPr>
            <a:spLocks noChangeArrowheads="1"/>
          </p:cNvSpPr>
          <p:nvPr userDrawn="1"/>
        </p:nvSpPr>
        <p:spPr bwMode="auto">
          <a:xfrm>
            <a:off x="-12700" y="774700"/>
            <a:ext cx="3467100" cy="42863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</a:ln>
        </p:spPr>
        <p:txBody>
          <a:bodyPr wrap="none" anchor="ctr"/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  <a:defRPr/>
            </a:pPr>
            <a:endParaRPr lang="zh-CN" altLang="en-US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2700"/>
            <a:ext cx="8178800" cy="6096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anose="02010609060101010101" pitchFamily="49" charset="-122"/>
          <a:ea typeface="楷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798513"/>
            <a:ext cx="9186863" cy="3163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6600" dirty="0">
                <a:solidFill>
                  <a:srgbClr val="000000"/>
                </a:solidFill>
              </a:rPr>
              <a:t>工程经济学</a:t>
            </a:r>
            <a:br>
              <a:rPr lang="zh-CN" altLang="en-US" sz="4800" dirty="0">
                <a:solidFill>
                  <a:srgbClr val="000000"/>
                </a:solidFill>
              </a:rPr>
            </a:br>
            <a:br>
              <a:rPr lang="zh-CN" altLang="en-US" sz="4800" dirty="0">
                <a:solidFill>
                  <a:srgbClr val="000000"/>
                </a:solidFill>
              </a:rPr>
            </a:br>
            <a:r>
              <a:rPr kumimoji="1" lang="zh-CN" altLang="en-US" sz="4800" dirty="0">
                <a:solidFill>
                  <a:srgbClr val="800000"/>
                </a:solidFill>
              </a:rPr>
              <a:t>项目可行性研究</a:t>
            </a:r>
            <a:r>
              <a:rPr kumimoji="1" lang="en-US" altLang="zh-CN" sz="4800" dirty="0">
                <a:solidFill>
                  <a:srgbClr val="800000"/>
                </a:solidFill>
              </a:rPr>
              <a:t>:</a:t>
            </a:r>
            <a:br>
              <a:rPr kumimoji="1" lang="en-US" altLang="zh-CN" sz="4800" dirty="0">
                <a:solidFill>
                  <a:srgbClr val="800000"/>
                </a:solidFill>
              </a:rPr>
            </a:br>
            <a:r>
              <a:rPr kumimoji="1" lang="zh-CN" altLang="en-US" sz="4000" dirty="0">
                <a:solidFill>
                  <a:srgbClr val="800000"/>
                </a:solidFill>
              </a:rPr>
              <a:t>组织</a:t>
            </a:r>
            <a:r>
              <a:rPr lang="zh-CN" altLang="en-US" sz="4000" dirty="0">
                <a:solidFill>
                  <a:srgbClr val="800000"/>
                </a:solidFill>
              </a:rPr>
              <a:t>、实施与进度</a:t>
            </a:r>
            <a:r>
              <a:rPr kumimoji="1" lang="zh-CN" altLang="en-US" sz="4000" dirty="0">
                <a:solidFill>
                  <a:srgbClr val="800000"/>
                </a:solidFill>
              </a:rPr>
              <a:t>安排</a:t>
            </a:r>
            <a:endParaRPr kumimoji="1" lang="zh-CN" altLang="en-US" sz="4000" dirty="0">
              <a:solidFill>
                <a:srgbClr val="800000"/>
              </a:solidFill>
            </a:endParaRPr>
          </a:p>
        </p:txBody>
      </p:sp>
      <p:sp>
        <p:nvSpPr>
          <p:cNvPr id="512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25488" y="4775200"/>
            <a:ext cx="7634287" cy="153828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唐文哲 </a:t>
            </a:r>
            <a:r>
              <a:rPr lang="zh-CN" altLang="en-US" dirty="0" smtClean="0"/>
              <a:t>教授</a:t>
            </a:r>
            <a:endParaRPr lang="zh-CN" altLang="en-US" dirty="0"/>
          </a:p>
          <a:p>
            <a:pPr eaLnBrk="1" hangingPunct="1"/>
            <a:r>
              <a:rPr lang="en-US" altLang="zh-CN" dirty="0" smtClean="0"/>
              <a:t>2023</a:t>
            </a:r>
            <a:r>
              <a:rPr lang="zh-CN" altLang="en-US" dirty="0" smtClean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23</a:t>
            </a:r>
            <a:r>
              <a:rPr lang="zh-CN" altLang="en-US" smtClean="0"/>
              <a:t>日</a:t>
            </a:r>
            <a:endParaRPr lang="zh-CN" altLang="en-US" dirty="0"/>
          </a:p>
          <a:p>
            <a:pPr algn="l" eaLnBrk="1" hangingPunct="1"/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可行性研究        工程经济学</a:t>
            </a:r>
            <a:endParaRPr lang="en-US" altLang="zh-CN"/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28600" y="11684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总论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228600" y="17399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市场研究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2633663" y="320675"/>
            <a:ext cx="747712" cy="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228600" y="23114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charset="-122"/>
              </a:rPr>
              <a:t>投资条件与项目选址</a:t>
            </a:r>
            <a:endParaRPr lang="en-US" altLang="zh-CN" sz="2000">
              <a:ea typeface="楷体_GB2312" charset="-122"/>
            </a:endParaRPr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228600" y="29210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技术方案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76" name="Text Box 10"/>
          <p:cNvSpPr txBox="1">
            <a:spLocks noChangeArrowheads="1"/>
          </p:cNvSpPr>
          <p:nvPr/>
        </p:nvSpPr>
        <p:spPr bwMode="auto">
          <a:xfrm>
            <a:off x="228600" y="35306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charset="-122"/>
              </a:rPr>
              <a:t>环境影响</a:t>
            </a:r>
            <a:endParaRPr lang="zh-CN" altLang="en-US" sz="2000">
              <a:ea typeface="楷体_GB2312" charset="-122"/>
            </a:endParaRPr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228600" y="41402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D60093"/>
                </a:solidFill>
                <a:latin typeface="Times New Roman" panose="02020603050405020304" charset="0"/>
                <a:ea typeface="楷体_GB2312" charset="-122"/>
              </a:rPr>
              <a:t>组织</a:t>
            </a:r>
            <a:r>
              <a:rPr lang="en-US" altLang="zh-CN" sz="2000">
                <a:solidFill>
                  <a:srgbClr val="D60093"/>
                </a:solidFill>
                <a:latin typeface="Times New Roman" panose="02020603050405020304" charset="0"/>
                <a:ea typeface="楷体_GB2312" charset="-122"/>
              </a:rPr>
              <a:t>,</a:t>
            </a:r>
            <a:r>
              <a:rPr lang="zh-CN" altLang="en-US" sz="2000">
                <a:solidFill>
                  <a:srgbClr val="D60093"/>
                </a:solidFill>
                <a:latin typeface="Times New Roman" panose="02020603050405020304" charset="0"/>
                <a:ea typeface="楷体_GB2312" charset="-122"/>
              </a:rPr>
              <a:t>实施与进度安排</a:t>
            </a:r>
            <a:endParaRPr lang="zh-CN" altLang="en-US" sz="2000">
              <a:solidFill>
                <a:srgbClr val="D60093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78" name="Text Box 12"/>
          <p:cNvSpPr txBox="1">
            <a:spLocks noChangeArrowheads="1"/>
          </p:cNvSpPr>
          <p:nvPr/>
        </p:nvSpPr>
        <p:spPr bwMode="auto">
          <a:xfrm>
            <a:off x="0" y="5329238"/>
            <a:ext cx="31527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国民经济评价与社会效益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79" name="Text Box 13"/>
          <p:cNvSpPr txBox="1">
            <a:spLocks noChangeArrowheads="1"/>
          </p:cNvSpPr>
          <p:nvPr/>
        </p:nvSpPr>
        <p:spPr bwMode="auto">
          <a:xfrm>
            <a:off x="228600" y="47498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财务评价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80" name="Text Box 14"/>
          <p:cNvSpPr txBox="1">
            <a:spLocks noChangeArrowheads="1"/>
          </p:cNvSpPr>
          <p:nvPr/>
        </p:nvSpPr>
        <p:spPr bwMode="auto">
          <a:xfrm>
            <a:off x="228600" y="6035675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charset="0"/>
                <a:ea typeface="楷体_GB2312" charset="-122"/>
              </a:rPr>
              <a:t>结论：是否可行？</a:t>
            </a:r>
            <a:endParaRPr lang="zh-CN" altLang="en-US" sz="2000"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181" name="Line 15"/>
          <p:cNvSpPr>
            <a:spLocks noChangeShapeType="1"/>
          </p:cNvSpPr>
          <p:nvPr/>
        </p:nvSpPr>
        <p:spPr bwMode="auto">
          <a:xfrm>
            <a:off x="1541463" y="15748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2" name="Line 16"/>
          <p:cNvSpPr>
            <a:spLocks noChangeShapeType="1"/>
          </p:cNvSpPr>
          <p:nvPr/>
        </p:nvSpPr>
        <p:spPr bwMode="auto">
          <a:xfrm>
            <a:off x="1541463" y="21463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3" name="Line 17"/>
          <p:cNvSpPr>
            <a:spLocks noChangeShapeType="1"/>
          </p:cNvSpPr>
          <p:nvPr/>
        </p:nvSpPr>
        <p:spPr bwMode="auto">
          <a:xfrm>
            <a:off x="1528763" y="27178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4" name="Line 18"/>
          <p:cNvSpPr>
            <a:spLocks noChangeShapeType="1"/>
          </p:cNvSpPr>
          <p:nvPr/>
        </p:nvSpPr>
        <p:spPr bwMode="auto">
          <a:xfrm>
            <a:off x="1543050" y="33655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5" name="Line 19"/>
          <p:cNvSpPr>
            <a:spLocks noChangeShapeType="1"/>
          </p:cNvSpPr>
          <p:nvPr/>
        </p:nvSpPr>
        <p:spPr bwMode="auto">
          <a:xfrm>
            <a:off x="1546225" y="39370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6" name="Line 20"/>
          <p:cNvSpPr>
            <a:spLocks noChangeShapeType="1"/>
          </p:cNvSpPr>
          <p:nvPr/>
        </p:nvSpPr>
        <p:spPr bwMode="auto">
          <a:xfrm>
            <a:off x="1528763" y="45466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7" name="Line 21"/>
          <p:cNvSpPr>
            <a:spLocks noChangeShapeType="1"/>
          </p:cNvSpPr>
          <p:nvPr/>
        </p:nvSpPr>
        <p:spPr bwMode="auto">
          <a:xfrm>
            <a:off x="1528763" y="5191125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" name="Line 22"/>
          <p:cNvSpPr>
            <a:spLocks noChangeShapeType="1"/>
          </p:cNvSpPr>
          <p:nvPr/>
        </p:nvSpPr>
        <p:spPr bwMode="auto">
          <a:xfrm>
            <a:off x="1528763" y="5762625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3" name="Line 23"/>
          <p:cNvSpPr>
            <a:spLocks noChangeShapeType="1"/>
          </p:cNvSpPr>
          <p:nvPr/>
        </p:nvSpPr>
        <p:spPr bwMode="auto">
          <a:xfrm>
            <a:off x="3381375" y="13716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4" name="Text Box 24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25" name="Line 25"/>
          <p:cNvSpPr>
            <a:spLocks noChangeShapeType="1"/>
          </p:cNvSpPr>
          <p:nvPr/>
        </p:nvSpPr>
        <p:spPr bwMode="auto">
          <a:xfrm>
            <a:off x="3381375" y="19335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6" name="Text Box 26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27" name="Line 27"/>
          <p:cNvSpPr>
            <a:spLocks noChangeShapeType="1"/>
          </p:cNvSpPr>
          <p:nvPr/>
        </p:nvSpPr>
        <p:spPr bwMode="auto">
          <a:xfrm>
            <a:off x="3381375" y="2482850"/>
            <a:ext cx="1095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8" name="Text Box 28"/>
          <p:cNvSpPr txBox="1">
            <a:spLocks noChangeArrowheads="1"/>
          </p:cNvSpPr>
          <p:nvPr/>
        </p:nvSpPr>
        <p:spPr bwMode="auto">
          <a:xfrm>
            <a:off x="4652963" y="23114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投资环境分析</a:t>
            </a:r>
            <a:endParaRPr lang="zh-CN" altLang="en-US" sz="2000">
              <a:solidFill>
                <a:srgbClr val="0000FF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29" name="Line 29"/>
          <p:cNvSpPr>
            <a:spLocks noChangeShapeType="1"/>
          </p:cNvSpPr>
          <p:nvPr/>
        </p:nvSpPr>
        <p:spPr bwMode="auto">
          <a:xfrm>
            <a:off x="3381375" y="43211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0" name="Text Box 30"/>
          <p:cNvSpPr txBox="1">
            <a:spLocks noChangeArrowheads="1"/>
          </p:cNvSpPr>
          <p:nvPr/>
        </p:nvSpPr>
        <p:spPr bwMode="auto">
          <a:xfrm>
            <a:off x="4652963" y="3540125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法律法规要求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31" name="Line 31"/>
          <p:cNvSpPr>
            <a:spLocks noChangeShapeType="1"/>
          </p:cNvSpPr>
          <p:nvPr/>
        </p:nvSpPr>
        <p:spPr bwMode="auto">
          <a:xfrm>
            <a:off x="3381375" y="37115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2" name="Line 32"/>
          <p:cNvSpPr>
            <a:spLocks noChangeShapeType="1"/>
          </p:cNvSpPr>
          <p:nvPr/>
        </p:nvSpPr>
        <p:spPr bwMode="auto">
          <a:xfrm>
            <a:off x="3381375" y="3054350"/>
            <a:ext cx="1095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3" name="Text Box 33"/>
          <p:cNvSpPr txBox="1">
            <a:spLocks noChangeArrowheads="1"/>
          </p:cNvSpPr>
          <p:nvPr/>
        </p:nvSpPr>
        <p:spPr bwMode="auto">
          <a:xfrm>
            <a:off x="4648200" y="285591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楷体_GB2312" charset="-122"/>
              </a:rPr>
              <a:t>相关工程学科，同时得到成本数据</a:t>
            </a:r>
            <a:endParaRPr lang="zh-CN" altLang="en-US" sz="2000">
              <a:solidFill>
                <a:srgbClr val="0000FF"/>
              </a:solidFill>
              <a:ea typeface="楷体_GB2312" charset="-122"/>
            </a:endParaRPr>
          </a:p>
        </p:txBody>
      </p:sp>
      <p:sp>
        <p:nvSpPr>
          <p:cNvPr id="1049634" name="Line 34"/>
          <p:cNvSpPr>
            <a:spLocks noChangeShapeType="1"/>
          </p:cNvSpPr>
          <p:nvPr/>
        </p:nvSpPr>
        <p:spPr bwMode="auto">
          <a:xfrm>
            <a:off x="3381375" y="49657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5" name="Line 35"/>
          <p:cNvSpPr>
            <a:spLocks noChangeShapeType="1"/>
          </p:cNvSpPr>
          <p:nvPr/>
        </p:nvSpPr>
        <p:spPr bwMode="auto">
          <a:xfrm>
            <a:off x="3381375" y="55372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6" name="Line 36"/>
          <p:cNvSpPr>
            <a:spLocks noChangeShapeType="1"/>
          </p:cNvSpPr>
          <p:nvPr/>
        </p:nvSpPr>
        <p:spPr bwMode="auto">
          <a:xfrm>
            <a:off x="3381375" y="620712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7" name="Text Box 37"/>
          <p:cNvSpPr txBox="1">
            <a:spLocks noChangeArrowheads="1"/>
          </p:cNvSpPr>
          <p:nvPr/>
        </p:nvSpPr>
        <p:spPr bwMode="auto">
          <a:xfrm>
            <a:off x="4652963" y="5876925"/>
            <a:ext cx="40814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归纳上述分析，对成本与收益的关系进行总评价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38" name="Text Box 38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39" name="Text Box 39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0" name="Text Box 40"/>
          <p:cNvSpPr txBox="1">
            <a:spLocks noChangeArrowheads="1"/>
          </p:cNvSpPr>
          <p:nvPr/>
        </p:nvSpPr>
        <p:spPr bwMode="auto">
          <a:xfrm>
            <a:off x="4652963" y="4119563"/>
            <a:ext cx="408146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D60093"/>
                </a:solidFill>
                <a:ea typeface="楷体_GB2312" charset="-122"/>
              </a:rPr>
              <a:t>项目如何执行</a:t>
            </a:r>
            <a:endParaRPr lang="zh-CN" altLang="en-US" sz="2000">
              <a:solidFill>
                <a:srgbClr val="D60093"/>
              </a:solidFill>
              <a:ea typeface="楷体_GB2312" charset="-122"/>
            </a:endParaRPr>
          </a:p>
          <a:p>
            <a:pPr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1" name="Text Box 41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2" name="Text Box 42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3" name="Text Box 43"/>
          <p:cNvSpPr txBox="1">
            <a:spLocks noChangeArrowheads="1"/>
          </p:cNvSpPr>
          <p:nvPr/>
        </p:nvSpPr>
        <p:spPr bwMode="auto">
          <a:xfrm>
            <a:off x="4872038" y="4767263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4" name="Text Box 44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5" name="Text Box 45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6" name="Text Box 46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7" name="Text Box 47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8" name="Text Box 48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49" name="Text Box 49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3333CC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50" name="Text Box 50"/>
          <p:cNvSpPr txBox="1">
            <a:spLocks noChangeArrowheads="1"/>
          </p:cNvSpPr>
          <p:nvPr/>
        </p:nvSpPr>
        <p:spPr bwMode="auto">
          <a:xfrm>
            <a:off x="4652963" y="5876925"/>
            <a:ext cx="40814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归纳上述分析，对成本与收益的关系进行总评价</a:t>
            </a:r>
            <a:endParaRPr lang="zh-CN" altLang="en-US" sz="2000">
              <a:solidFill>
                <a:srgbClr val="0000FF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51" name="Text Box 51"/>
          <p:cNvSpPr txBox="1">
            <a:spLocks noChangeArrowheads="1"/>
          </p:cNvSpPr>
          <p:nvPr/>
        </p:nvSpPr>
        <p:spPr bwMode="auto">
          <a:xfrm>
            <a:off x="4648200" y="533876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楷体_GB2312" charset="-122"/>
              </a:rPr>
              <a:t>考虑社会成本、社会收益的评价</a:t>
            </a:r>
            <a:endParaRPr lang="en-US" altLang="zh-CN" sz="2000">
              <a:solidFill>
                <a:srgbClr val="0000FF"/>
              </a:solidFill>
              <a:ea typeface="楷体_GB2312" charset="-122"/>
            </a:endParaRPr>
          </a:p>
        </p:txBody>
      </p:sp>
      <p:sp>
        <p:nvSpPr>
          <p:cNvPr id="1049652" name="Text Box 52"/>
          <p:cNvSpPr txBox="1">
            <a:spLocks noChangeArrowheads="1"/>
          </p:cNvSpPr>
          <p:nvPr/>
        </p:nvSpPr>
        <p:spPr bwMode="auto">
          <a:xfrm>
            <a:off x="4648200" y="480536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NPV</a:t>
            </a:r>
            <a:r>
              <a:rPr lang="zh-CN" altLang="en-US" sz="2000">
                <a:solidFill>
                  <a:srgbClr val="3333CC"/>
                </a:solidFill>
                <a:ea typeface="楷体_GB2312" charset="-122"/>
              </a:rPr>
              <a:t>、</a:t>
            </a: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IRR </a:t>
            </a:r>
            <a:r>
              <a:rPr lang="zh-CN" altLang="en-US" sz="2000">
                <a:solidFill>
                  <a:srgbClr val="3333CC"/>
                </a:solidFill>
                <a:ea typeface="楷体_GB2312" charset="-122"/>
              </a:rPr>
              <a:t>、投资回收期</a:t>
            </a:r>
            <a:r>
              <a:rPr lang="en-US" altLang="zh-CN" sz="2000">
                <a:solidFill>
                  <a:srgbClr val="0000FF"/>
                </a:solidFill>
                <a:ea typeface="楷体_GB2312" charset="-122"/>
              </a:rPr>
              <a:t> </a:t>
            </a: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……</a:t>
            </a:r>
            <a:endParaRPr lang="zh-CN" altLang="en-US" sz="2000">
              <a:solidFill>
                <a:srgbClr val="3333CC"/>
              </a:solidFill>
              <a:ea typeface="楷体_GB2312" charset="-122"/>
            </a:endParaRPr>
          </a:p>
        </p:txBody>
      </p:sp>
      <p:sp>
        <p:nvSpPr>
          <p:cNvPr id="1049653" name="Text Box 53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(BCA)</a:t>
            </a:r>
            <a:endParaRPr lang="en-US" altLang="zh-CN" sz="2000">
              <a:solidFill>
                <a:srgbClr val="0000FF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049654" name="Text Box 54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charset="0"/>
                <a:ea typeface="楷体_GB2312" charset="-122"/>
              </a:rPr>
              <a:t>市场有没有需求？收益有多大？</a:t>
            </a:r>
            <a:endParaRPr lang="zh-CN" altLang="en-US" sz="2000">
              <a:solidFill>
                <a:srgbClr val="0000FF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7221" name="Rectangle 55"/>
          <p:cNvSpPr>
            <a:spLocks noChangeArrowheads="1"/>
          </p:cNvSpPr>
          <p:nvPr/>
        </p:nvSpPr>
        <p:spPr bwMode="auto">
          <a:xfrm>
            <a:off x="-284163" y="367347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楷体_GB231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4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4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4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4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4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4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4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4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4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4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4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4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4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4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04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04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04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4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04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04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04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04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04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104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04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104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104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104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104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104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104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24" grpId="0"/>
      <p:bldP spid="1049626" grpId="0"/>
      <p:bldP spid="1049628" grpId="0"/>
      <p:bldP spid="1049630" grpId="0"/>
      <p:bldP spid="1049633" grpId="0"/>
      <p:bldP spid="1049637" grpId="0"/>
      <p:bldP spid="1049638" grpId="0"/>
      <p:bldP spid="1049639" grpId="0"/>
      <p:bldP spid="1049640" grpId="0"/>
      <p:bldP spid="1049641" grpId="0"/>
      <p:bldP spid="1049642" grpId="0"/>
      <p:bldP spid="1049643" grpId="0"/>
      <p:bldP spid="1049644" grpId="0"/>
      <p:bldP spid="1049645" grpId="0"/>
      <p:bldP spid="1049646" grpId="0"/>
      <p:bldP spid="1049647" grpId="0"/>
      <p:bldP spid="1049648" grpId="0"/>
      <p:bldP spid="1049649" grpId="0"/>
      <p:bldP spid="1049650" grpId="0"/>
      <p:bldP spid="1049651" grpId="0"/>
      <p:bldP spid="1049652" grpId="0"/>
      <p:bldP spid="1049653" grpId="0"/>
      <p:bldP spid="10496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Project Phases</a:t>
            </a:r>
            <a:endParaRPr lang="zh-CN" altLang="en-US" sz="320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Feasibility study</a:t>
            </a:r>
            <a:endParaRPr lang="en-US" altLang="zh-CN"/>
          </a:p>
          <a:p>
            <a:pPr eaLnBrk="1" hangingPunct="1"/>
            <a:r>
              <a:rPr lang="en-US" altLang="zh-CN"/>
              <a:t>Design (process, civil, mech., elect. / instru.)</a:t>
            </a:r>
            <a:endParaRPr lang="en-US" altLang="zh-CN"/>
          </a:p>
          <a:p>
            <a:pPr eaLnBrk="1" hangingPunct="1"/>
            <a:r>
              <a:rPr lang="en-AU" altLang="zh-CN"/>
              <a:t>Procurement Phase</a:t>
            </a:r>
            <a:endParaRPr lang="en-US" altLang="zh-CN"/>
          </a:p>
          <a:p>
            <a:pPr eaLnBrk="1" hangingPunct="1"/>
            <a:r>
              <a:rPr lang="en-US" altLang="zh-CN"/>
              <a:t>Construction </a:t>
            </a:r>
            <a:r>
              <a:rPr lang="en-AU" altLang="zh-CN"/>
              <a:t>Phase</a:t>
            </a:r>
            <a:endParaRPr lang="en-US" altLang="zh-CN"/>
          </a:p>
          <a:p>
            <a:pPr eaLnBrk="1" hangingPunct="1"/>
            <a:r>
              <a:rPr lang="en-US" altLang="zh-CN"/>
              <a:t>Commissioning </a:t>
            </a:r>
            <a:r>
              <a:rPr lang="en-AU" altLang="zh-CN"/>
              <a:t>Phase</a:t>
            </a:r>
            <a:endParaRPr lang="en-US" altLang="zh-CN"/>
          </a:p>
          <a:p>
            <a:pPr eaLnBrk="1" hangingPunct="1"/>
            <a:r>
              <a:rPr lang="en-AU" altLang="zh-CN"/>
              <a:t>Project Completion / </a:t>
            </a:r>
            <a:r>
              <a:rPr lang="en-US" altLang="zh-CN"/>
              <a:t>Handover </a:t>
            </a:r>
            <a:r>
              <a:rPr lang="en-AU" altLang="zh-CN"/>
              <a:t>Phase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>
                <a:solidFill>
                  <a:srgbClr val="000099"/>
                </a:solidFill>
              </a:rPr>
              <a:t>Scheduling Techniques</a:t>
            </a:r>
            <a:endParaRPr lang="zh-CN" altLang="en-US" sz="3200" b="0">
              <a:solidFill>
                <a:srgbClr val="000099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/>
              <a:t>Bar Charts (Gantt Charts)</a:t>
            </a:r>
            <a:endParaRPr lang="en-AU" altLang="zh-CN"/>
          </a:p>
          <a:p>
            <a:pPr eaLnBrk="1" hangingPunct="1"/>
            <a:r>
              <a:rPr lang="en-AU" altLang="zh-CN"/>
              <a:t>Milestone method</a:t>
            </a:r>
            <a:endParaRPr lang="en-AU" altLang="zh-CN"/>
          </a:p>
          <a:p>
            <a:pPr eaLnBrk="1" hangingPunct="1"/>
            <a:r>
              <a:rPr lang="en-AU" altLang="zh-CN"/>
              <a:t>Ch</a:t>
            </a:r>
            <a:r>
              <a:rPr lang="en-US" altLang="zh-CN"/>
              <a:t>e</a:t>
            </a:r>
            <a:r>
              <a:rPr lang="en-AU" altLang="zh-CN"/>
              <a:t>ck lists</a:t>
            </a:r>
            <a:endParaRPr lang="en-AU" altLang="zh-CN"/>
          </a:p>
          <a:p>
            <a:pPr eaLnBrk="1" hangingPunct="1"/>
            <a:r>
              <a:rPr lang="en-AU" altLang="zh-CN"/>
              <a:t>Line of balance</a:t>
            </a:r>
            <a:endParaRPr lang="en-AU" altLang="zh-CN"/>
          </a:p>
          <a:p>
            <a:pPr eaLnBrk="1" hangingPunct="1"/>
            <a:r>
              <a:rPr lang="en-AU" altLang="zh-CN"/>
              <a:t>Networks – CPM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317500" y="233363"/>
            <a:ext cx="693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b="0">
                <a:solidFill>
                  <a:srgbClr val="000099"/>
                </a:solidFill>
                <a:latin typeface="Times New Roman" panose="02020603050405020304" charset="0"/>
                <a:ea typeface="楷体_GB2312" charset="-122"/>
              </a:rPr>
              <a:t>Milestone Method </a:t>
            </a:r>
            <a:endParaRPr lang="en-US" altLang="zh-CN" sz="4000" b="0">
              <a:solidFill>
                <a:srgbClr val="000099"/>
              </a:solidFill>
              <a:latin typeface="Times New Roman" panose="02020603050405020304" charset="0"/>
              <a:ea typeface="楷体_GB2312" charset="-122"/>
            </a:endParaRPr>
          </a:p>
        </p:txBody>
      </p:sp>
      <p:pic>
        <p:nvPicPr>
          <p:cNvPr id="10243" name="Picture 5" descr="construction_gantt_ful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1057275"/>
            <a:ext cx="7350125" cy="522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5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folHlink"/>
          </a:solidFill>
        </p:spPr>
        <p:txBody>
          <a:bodyPr/>
          <a:lstStyle/>
          <a:p>
            <a:pPr eaLnBrk="1" hangingPunct="1"/>
            <a:r>
              <a:rPr lang="en-US" altLang="zh-CN" sz="3200">
                <a:solidFill>
                  <a:srgbClr val="000000"/>
                </a:solidFill>
              </a:rPr>
              <a:t>Critical Path Method</a:t>
            </a:r>
            <a:endParaRPr lang="en-US" altLang="zh-CN" sz="3200">
              <a:solidFill>
                <a:srgbClr val="000000"/>
              </a:solidFill>
            </a:endParaRPr>
          </a:p>
        </p:txBody>
      </p:sp>
      <p:sp>
        <p:nvSpPr>
          <p:cNvPr id="11267" name="Line 5"/>
          <p:cNvSpPr>
            <a:spLocks noChangeShapeType="1"/>
          </p:cNvSpPr>
          <p:nvPr/>
        </p:nvSpPr>
        <p:spPr bwMode="auto">
          <a:xfrm flipV="1">
            <a:off x="677863" y="3079750"/>
            <a:ext cx="935037" cy="15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Oval 6"/>
          <p:cNvSpPr>
            <a:spLocks noChangeArrowheads="1"/>
          </p:cNvSpPr>
          <p:nvPr/>
        </p:nvSpPr>
        <p:spPr bwMode="auto">
          <a:xfrm>
            <a:off x="1612900" y="2935288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1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69" name="Line 7"/>
          <p:cNvSpPr>
            <a:spLocks noChangeShapeType="1"/>
          </p:cNvSpPr>
          <p:nvPr/>
        </p:nvSpPr>
        <p:spPr bwMode="auto">
          <a:xfrm>
            <a:off x="1901825" y="3295650"/>
            <a:ext cx="1079500" cy="5762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Line 8"/>
          <p:cNvSpPr>
            <a:spLocks noChangeShapeType="1"/>
          </p:cNvSpPr>
          <p:nvPr/>
        </p:nvSpPr>
        <p:spPr bwMode="auto">
          <a:xfrm flipV="1">
            <a:off x="1828800" y="2214563"/>
            <a:ext cx="1152525" cy="7207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Oval 9"/>
          <p:cNvSpPr>
            <a:spLocks noChangeArrowheads="1"/>
          </p:cNvSpPr>
          <p:nvPr/>
        </p:nvSpPr>
        <p:spPr bwMode="auto">
          <a:xfrm>
            <a:off x="7158038" y="2935288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8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2" name="Oval 10"/>
          <p:cNvSpPr>
            <a:spLocks noChangeArrowheads="1"/>
          </p:cNvSpPr>
          <p:nvPr/>
        </p:nvSpPr>
        <p:spPr bwMode="auto">
          <a:xfrm>
            <a:off x="5789613" y="19272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6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3" name="Line 11"/>
          <p:cNvSpPr>
            <a:spLocks noChangeShapeType="1"/>
          </p:cNvSpPr>
          <p:nvPr/>
        </p:nvSpPr>
        <p:spPr bwMode="auto">
          <a:xfrm>
            <a:off x="7518400" y="3079750"/>
            <a:ext cx="10795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Oval 12"/>
          <p:cNvSpPr>
            <a:spLocks noChangeArrowheads="1"/>
          </p:cNvSpPr>
          <p:nvPr/>
        </p:nvSpPr>
        <p:spPr bwMode="auto">
          <a:xfrm>
            <a:off x="8597900" y="28638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9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5" name="Oval 13"/>
          <p:cNvSpPr>
            <a:spLocks noChangeArrowheads="1"/>
          </p:cNvSpPr>
          <p:nvPr/>
        </p:nvSpPr>
        <p:spPr bwMode="auto">
          <a:xfrm>
            <a:off x="319088" y="28638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0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6" name="Oval 14"/>
          <p:cNvSpPr>
            <a:spLocks noChangeArrowheads="1"/>
          </p:cNvSpPr>
          <p:nvPr/>
        </p:nvSpPr>
        <p:spPr bwMode="auto">
          <a:xfrm>
            <a:off x="4421188" y="19272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4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7" name="Oval 15"/>
          <p:cNvSpPr>
            <a:spLocks noChangeArrowheads="1"/>
          </p:cNvSpPr>
          <p:nvPr/>
        </p:nvSpPr>
        <p:spPr bwMode="auto">
          <a:xfrm>
            <a:off x="2981325" y="37274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3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8" name="Oval 16"/>
          <p:cNvSpPr>
            <a:spLocks noChangeArrowheads="1"/>
          </p:cNvSpPr>
          <p:nvPr/>
        </p:nvSpPr>
        <p:spPr bwMode="auto">
          <a:xfrm>
            <a:off x="2981325" y="1998663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2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79" name="Line 17"/>
          <p:cNvSpPr>
            <a:spLocks noChangeShapeType="1"/>
          </p:cNvSpPr>
          <p:nvPr/>
        </p:nvSpPr>
        <p:spPr bwMode="auto">
          <a:xfrm>
            <a:off x="3341688" y="2143125"/>
            <a:ext cx="10795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Oval 18"/>
          <p:cNvSpPr>
            <a:spLocks noChangeArrowheads="1"/>
          </p:cNvSpPr>
          <p:nvPr/>
        </p:nvSpPr>
        <p:spPr bwMode="auto">
          <a:xfrm>
            <a:off x="5934075" y="37274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7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81" name="Oval 19"/>
          <p:cNvSpPr>
            <a:spLocks noChangeArrowheads="1"/>
          </p:cNvSpPr>
          <p:nvPr/>
        </p:nvSpPr>
        <p:spPr bwMode="auto">
          <a:xfrm>
            <a:off x="4494213" y="36544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5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282" name="Line 20"/>
          <p:cNvSpPr>
            <a:spLocks noChangeShapeType="1"/>
          </p:cNvSpPr>
          <p:nvPr/>
        </p:nvSpPr>
        <p:spPr bwMode="auto">
          <a:xfrm>
            <a:off x="3341688" y="3871913"/>
            <a:ext cx="11525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3" name="Line 21"/>
          <p:cNvSpPr>
            <a:spLocks noChangeShapeType="1"/>
          </p:cNvSpPr>
          <p:nvPr/>
        </p:nvSpPr>
        <p:spPr bwMode="auto">
          <a:xfrm>
            <a:off x="4852988" y="3871913"/>
            <a:ext cx="10810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4" name="Line 22"/>
          <p:cNvSpPr>
            <a:spLocks noChangeShapeType="1"/>
          </p:cNvSpPr>
          <p:nvPr/>
        </p:nvSpPr>
        <p:spPr bwMode="auto">
          <a:xfrm flipH="1" flipV="1">
            <a:off x="4710113" y="2287588"/>
            <a:ext cx="1295400" cy="143986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5" name="Line 23"/>
          <p:cNvSpPr>
            <a:spLocks noChangeShapeType="1"/>
          </p:cNvSpPr>
          <p:nvPr/>
        </p:nvSpPr>
        <p:spPr bwMode="auto">
          <a:xfrm>
            <a:off x="4781550" y="2143125"/>
            <a:ext cx="10080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6" name="Line 24"/>
          <p:cNvSpPr>
            <a:spLocks noChangeShapeType="1"/>
          </p:cNvSpPr>
          <p:nvPr/>
        </p:nvSpPr>
        <p:spPr bwMode="auto">
          <a:xfrm>
            <a:off x="533400" y="3222625"/>
            <a:ext cx="360363" cy="15128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7" name="Line 25"/>
          <p:cNvSpPr>
            <a:spLocks noChangeShapeType="1"/>
          </p:cNvSpPr>
          <p:nvPr/>
        </p:nvSpPr>
        <p:spPr bwMode="auto">
          <a:xfrm>
            <a:off x="893763" y="4735513"/>
            <a:ext cx="467995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8" name="Line 26"/>
          <p:cNvSpPr>
            <a:spLocks noChangeShapeType="1"/>
          </p:cNvSpPr>
          <p:nvPr/>
        </p:nvSpPr>
        <p:spPr bwMode="auto">
          <a:xfrm flipV="1">
            <a:off x="5573713" y="4087813"/>
            <a:ext cx="431800" cy="6477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9" name="Line 27"/>
          <p:cNvSpPr>
            <a:spLocks noChangeShapeType="1"/>
          </p:cNvSpPr>
          <p:nvPr/>
        </p:nvSpPr>
        <p:spPr bwMode="auto">
          <a:xfrm flipV="1">
            <a:off x="6294438" y="3222625"/>
            <a:ext cx="863600" cy="5762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0" name="Line 28"/>
          <p:cNvSpPr>
            <a:spLocks noChangeShapeType="1"/>
          </p:cNvSpPr>
          <p:nvPr/>
        </p:nvSpPr>
        <p:spPr bwMode="auto">
          <a:xfrm>
            <a:off x="6149975" y="2214563"/>
            <a:ext cx="1008063" cy="7921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1" name="Line 29"/>
          <p:cNvSpPr>
            <a:spLocks noChangeShapeType="1"/>
          </p:cNvSpPr>
          <p:nvPr/>
        </p:nvSpPr>
        <p:spPr bwMode="auto">
          <a:xfrm flipV="1">
            <a:off x="3197225" y="2359025"/>
            <a:ext cx="0" cy="13684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2" name="Text Box 30"/>
          <p:cNvSpPr txBox="1">
            <a:spLocks noChangeArrowheads="1"/>
          </p:cNvSpPr>
          <p:nvPr/>
        </p:nvSpPr>
        <p:spPr bwMode="auto">
          <a:xfrm>
            <a:off x="3197225" y="3079750"/>
            <a:ext cx="40005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(0)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3" name="Text Box 31"/>
          <p:cNvSpPr txBox="1">
            <a:spLocks noChangeArrowheads="1"/>
          </p:cNvSpPr>
          <p:nvPr/>
        </p:nvSpPr>
        <p:spPr bwMode="auto">
          <a:xfrm>
            <a:off x="4852988" y="2863850"/>
            <a:ext cx="360362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(0)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4" name="Text Box 32"/>
          <p:cNvSpPr txBox="1">
            <a:spLocks noChangeArrowheads="1"/>
          </p:cNvSpPr>
          <p:nvPr/>
        </p:nvSpPr>
        <p:spPr bwMode="auto">
          <a:xfrm>
            <a:off x="23336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5" name="Text Box 33"/>
          <p:cNvSpPr txBox="1">
            <a:spLocks noChangeArrowheads="1"/>
          </p:cNvSpPr>
          <p:nvPr/>
        </p:nvSpPr>
        <p:spPr bwMode="auto">
          <a:xfrm>
            <a:off x="2117725" y="35115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6" name="Text Box 34"/>
          <p:cNvSpPr txBox="1">
            <a:spLocks noChangeArrowheads="1"/>
          </p:cNvSpPr>
          <p:nvPr/>
        </p:nvSpPr>
        <p:spPr bwMode="auto">
          <a:xfrm>
            <a:off x="3702050" y="21431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7" name="Text Box 35"/>
          <p:cNvSpPr txBox="1">
            <a:spLocks noChangeArrowheads="1"/>
          </p:cNvSpPr>
          <p:nvPr/>
        </p:nvSpPr>
        <p:spPr bwMode="auto">
          <a:xfrm>
            <a:off x="5213350" y="21431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8" name="Text Box 36"/>
          <p:cNvSpPr txBox="1">
            <a:spLocks noChangeArrowheads="1"/>
          </p:cNvSpPr>
          <p:nvPr/>
        </p:nvSpPr>
        <p:spPr bwMode="auto">
          <a:xfrm>
            <a:off x="2909888" y="47355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299" name="Text Box 37"/>
          <p:cNvSpPr txBox="1">
            <a:spLocks noChangeArrowheads="1"/>
          </p:cNvSpPr>
          <p:nvPr/>
        </p:nvSpPr>
        <p:spPr bwMode="auto">
          <a:xfrm>
            <a:off x="7950200" y="30797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0" name="Text Box 38"/>
          <p:cNvSpPr txBox="1">
            <a:spLocks noChangeArrowheads="1"/>
          </p:cNvSpPr>
          <p:nvPr/>
        </p:nvSpPr>
        <p:spPr bwMode="auto">
          <a:xfrm>
            <a:off x="3773488" y="38719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1" name="Text Box 39"/>
          <p:cNvSpPr txBox="1">
            <a:spLocks noChangeArrowheads="1"/>
          </p:cNvSpPr>
          <p:nvPr/>
        </p:nvSpPr>
        <p:spPr bwMode="auto">
          <a:xfrm>
            <a:off x="5141913" y="38719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2" name="Text Box 40"/>
          <p:cNvSpPr txBox="1">
            <a:spLocks noChangeArrowheads="1"/>
          </p:cNvSpPr>
          <p:nvPr/>
        </p:nvSpPr>
        <p:spPr bwMode="auto">
          <a:xfrm>
            <a:off x="6294438" y="25034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3" name="Text Box 41"/>
          <p:cNvSpPr txBox="1">
            <a:spLocks noChangeArrowheads="1"/>
          </p:cNvSpPr>
          <p:nvPr/>
        </p:nvSpPr>
        <p:spPr bwMode="auto">
          <a:xfrm>
            <a:off x="6653213" y="35115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4" name="Text Box 42"/>
          <p:cNvSpPr txBox="1">
            <a:spLocks noChangeArrowheads="1"/>
          </p:cNvSpPr>
          <p:nvPr/>
        </p:nvSpPr>
        <p:spPr bwMode="auto">
          <a:xfrm>
            <a:off x="1325563" y="4951413"/>
            <a:ext cx="6750050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A network diagram showing earliest and latest starts and finishes</a:t>
            </a:r>
            <a:endParaRPr lang="en-US" altLang="zh-CN" sz="1800" b="0">
              <a:ea typeface="楷体_GB2312" charset="-122"/>
            </a:endParaRPr>
          </a:p>
        </p:txBody>
      </p:sp>
      <p:sp>
        <p:nvSpPr>
          <p:cNvPr id="11305" name="Line 43"/>
          <p:cNvSpPr>
            <a:spLocks noChangeShapeType="1"/>
          </p:cNvSpPr>
          <p:nvPr/>
        </p:nvSpPr>
        <p:spPr bwMode="auto">
          <a:xfrm flipV="1">
            <a:off x="7950200" y="4591050"/>
            <a:ext cx="6477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6" name="Line 44"/>
          <p:cNvSpPr>
            <a:spLocks noChangeShapeType="1"/>
          </p:cNvSpPr>
          <p:nvPr/>
        </p:nvSpPr>
        <p:spPr bwMode="auto">
          <a:xfrm>
            <a:off x="8310563" y="4303713"/>
            <a:ext cx="0" cy="5032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7" name="Text Box 45"/>
          <p:cNvSpPr txBox="1">
            <a:spLocks noChangeArrowheads="1"/>
          </p:cNvSpPr>
          <p:nvPr/>
        </p:nvSpPr>
        <p:spPr bwMode="auto">
          <a:xfrm>
            <a:off x="7878763" y="4303713"/>
            <a:ext cx="4222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ES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8" name="Text Box 46"/>
          <p:cNvSpPr txBox="1">
            <a:spLocks noChangeArrowheads="1"/>
          </p:cNvSpPr>
          <p:nvPr/>
        </p:nvSpPr>
        <p:spPr bwMode="auto">
          <a:xfrm>
            <a:off x="8310563" y="4303713"/>
            <a:ext cx="411162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EF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09" name="Text Box 47"/>
          <p:cNvSpPr txBox="1">
            <a:spLocks noChangeArrowheads="1"/>
          </p:cNvSpPr>
          <p:nvPr/>
        </p:nvSpPr>
        <p:spPr bwMode="auto">
          <a:xfrm>
            <a:off x="7878763" y="4591050"/>
            <a:ext cx="401637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LS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0" name="Text Box 48"/>
          <p:cNvSpPr txBox="1">
            <a:spLocks noChangeArrowheads="1"/>
          </p:cNvSpPr>
          <p:nvPr/>
        </p:nvSpPr>
        <p:spPr bwMode="auto">
          <a:xfrm>
            <a:off x="8310563" y="4591050"/>
            <a:ext cx="39052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LF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1" name="Line 49"/>
          <p:cNvSpPr>
            <a:spLocks noChangeShapeType="1"/>
          </p:cNvSpPr>
          <p:nvPr/>
        </p:nvSpPr>
        <p:spPr bwMode="auto">
          <a:xfrm flipV="1">
            <a:off x="820738" y="2719388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2" name="Line 50"/>
          <p:cNvSpPr>
            <a:spLocks noChangeShapeType="1"/>
          </p:cNvSpPr>
          <p:nvPr/>
        </p:nvSpPr>
        <p:spPr bwMode="auto">
          <a:xfrm>
            <a:off x="1109663" y="24320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3" name="Text Box 51"/>
          <p:cNvSpPr txBox="1">
            <a:spLocks noChangeArrowheads="1"/>
          </p:cNvSpPr>
          <p:nvPr/>
        </p:nvSpPr>
        <p:spPr bwMode="auto">
          <a:xfrm>
            <a:off x="820738" y="24320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4" name="Text Box 52"/>
          <p:cNvSpPr txBox="1">
            <a:spLocks noChangeArrowheads="1"/>
          </p:cNvSpPr>
          <p:nvPr/>
        </p:nvSpPr>
        <p:spPr bwMode="auto">
          <a:xfrm>
            <a:off x="1109663" y="24320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5" name="Text Box 53"/>
          <p:cNvSpPr txBox="1">
            <a:spLocks noChangeArrowheads="1"/>
          </p:cNvSpPr>
          <p:nvPr/>
        </p:nvSpPr>
        <p:spPr bwMode="auto">
          <a:xfrm>
            <a:off x="1109663" y="27193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6" name="Text Box 54"/>
          <p:cNvSpPr txBox="1">
            <a:spLocks noChangeArrowheads="1"/>
          </p:cNvSpPr>
          <p:nvPr/>
        </p:nvSpPr>
        <p:spPr bwMode="auto">
          <a:xfrm>
            <a:off x="820738" y="27193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7" name="Text Box 55"/>
          <p:cNvSpPr txBox="1">
            <a:spLocks noChangeArrowheads="1"/>
          </p:cNvSpPr>
          <p:nvPr/>
        </p:nvSpPr>
        <p:spPr bwMode="auto">
          <a:xfrm>
            <a:off x="965200" y="31511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18" name="Line 56"/>
          <p:cNvSpPr>
            <a:spLocks noChangeShapeType="1"/>
          </p:cNvSpPr>
          <p:nvPr/>
        </p:nvSpPr>
        <p:spPr bwMode="auto">
          <a:xfrm flipV="1">
            <a:off x="1828800" y="2359025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9" name="Line 57"/>
          <p:cNvSpPr>
            <a:spLocks noChangeShapeType="1"/>
          </p:cNvSpPr>
          <p:nvPr/>
        </p:nvSpPr>
        <p:spPr bwMode="auto">
          <a:xfrm>
            <a:off x="2117725" y="20716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0" name="Text Box 58"/>
          <p:cNvSpPr txBox="1">
            <a:spLocks noChangeArrowheads="1"/>
          </p:cNvSpPr>
          <p:nvPr/>
        </p:nvSpPr>
        <p:spPr bwMode="auto">
          <a:xfrm>
            <a:off x="1828800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1" name="Text Box 59"/>
          <p:cNvSpPr txBox="1">
            <a:spLocks noChangeArrowheads="1"/>
          </p:cNvSpPr>
          <p:nvPr/>
        </p:nvSpPr>
        <p:spPr bwMode="auto">
          <a:xfrm>
            <a:off x="2117725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2" name="Text Box 60"/>
          <p:cNvSpPr txBox="1">
            <a:spLocks noChangeArrowheads="1"/>
          </p:cNvSpPr>
          <p:nvPr/>
        </p:nvSpPr>
        <p:spPr bwMode="auto">
          <a:xfrm>
            <a:off x="2117725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3" name="Text Box 61"/>
          <p:cNvSpPr txBox="1">
            <a:spLocks noChangeArrowheads="1"/>
          </p:cNvSpPr>
          <p:nvPr/>
        </p:nvSpPr>
        <p:spPr bwMode="auto">
          <a:xfrm>
            <a:off x="1828800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4" name="Line 62"/>
          <p:cNvSpPr>
            <a:spLocks noChangeShapeType="1"/>
          </p:cNvSpPr>
          <p:nvPr/>
        </p:nvSpPr>
        <p:spPr bwMode="auto">
          <a:xfrm flipV="1">
            <a:off x="3556000" y="1854200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5" name="Line 63"/>
          <p:cNvSpPr>
            <a:spLocks noChangeShapeType="1"/>
          </p:cNvSpPr>
          <p:nvPr/>
        </p:nvSpPr>
        <p:spPr bwMode="auto">
          <a:xfrm>
            <a:off x="3844925" y="1566863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6" name="Text Box 64"/>
          <p:cNvSpPr txBox="1">
            <a:spLocks noChangeArrowheads="1"/>
          </p:cNvSpPr>
          <p:nvPr/>
        </p:nvSpPr>
        <p:spPr bwMode="auto">
          <a:xfrm>
            <a:off x="3556000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7" name="Text Box 65"/>
          <p:cNvSpPr txBox="1">
            <a:spLocks noChangeArrowheads="1"/>
          </p:cNvSpPr>
          <p:nvPr/>
        </p:nvSpPr>
        <p:spPr bwMode="auto">
          <a:xfrm>
            <a:off x="3844925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8" name="Text Box 66"/>
          <p:cNvSpPr txBox="1">
            <a:spLocks noChangeArrowheads="1"/>
          </p:cNvSpPr>
          <p:nvPr/>
        </p:nvSpPr>
        <p:spPr bwMode="auto">
          <a:xfrm>
            <a:off x="3844925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29" name="Text Box 67"/>
          <p:cNvSpPr txBox="1">
            <a:spLocks noChangeArrowheads="1"/>
          </p:cNvSpPr>
          <p:nvPr/>
        </p:nvSpPr>
        <p:spPr bwMode="auto">
          <a:xfrm>
            <a:off x="3556000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0" name="Line 68"/>
          <p:cNvSpPr>
            <a:spLocks noChangeShapeType="1"/>
          </p:cNvSpPr>
          <p:nvPr/>
        </p:nvSpPr>
        <p:spPr bwMode="auto">
          <a:xfrm flipV="1">
            <a:off x="4997450" y="1854200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1" name="Line 69"/>
          <p:cNvSpPr>
            <a:spLocks noChangeShapeType="1"/>
          </p:cNvSpPr>
          <p:nvPr/>
        </p:nvSpPr>
        <p:spPr bwMode="auto">
          <a:xfrm>
            <a:off x="5286375" y="1566863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2" name="Text Box 70"/>
          <p:cNvSpPr txBox="1">
            <a:spLocks noChangeArrowheads="1"/>
          </p:cNvSpPr>
          <p:nvPr/>
        </p:nvSpPr>
        <p:spPr bwMode="auto">
          <a:xfrm>
            <a:off x="4997450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3" name="Text Box 71"/>
          <p:cNvSpPr txBox="1">
            <a:spLocks noChangeArrowheads="1"/>
          </p:cNvSpPr>
          <p:nvPr/>
        </p:nvSpPr>
        <p:spPr bwMode="auto">
          <a:xfrm>
            <a:off x="5286375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4" name="Text Box 72"/>
          <p:cNvSpPr txBox="1">
            <a:spLocks noChangeArrowheads="1"/>
          </p:cNvSpPr>
          <p:nvPr/>
        </p:nvSpPr>
        <p:spPr bwMode="auto">
          <a:xfrm>
            <a:off x="5286375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5" name="Text Box 73"/>
          <p:cNvSpPr txBox="1">
            <a:spLocks noChangeArrowheads="1"/>
          </p:cNvSpPr>
          <p:nvPr/>
        </p:nvSpPr>
        <p:spPr bwMode="auto">
          <a:xfrm>
            <a:off x="4997450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6" name="Line 74"/>
          <p:cNvSpPr>
            <a:spLocks noChangeShapeType="1"/>
          </p:cNvSpPr>
          <p:nvPr/>
        </p:nvSpPr>
        <p:spPr bwMode="auto">
          <a:xfrm flipV="1">
            <a:off x="6581775" y="2359025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7" name="Line 75"/>
          <p:cNvSpPr>
            <a:spLocks noChangeShapeType="1"/>
          </p:cNvSpPr>
          <p:nvPr/>
        </p:nvSpPr>
        <p:spPr bwMode="auto">
          <a:xfrm>
            <a:off x="6870700" y="20716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8" name="Text Box 76"/>
          <p:cNvSpPr txBox="1">
            <a:spLocks noChangeArrowheads="1"/>
          </p:cNvSpPr>
          <p:nvPr/>
        </p:nvSpPr>
        <p:spPr bwMode="auto">
          <a:xfrm>
            <a:off x="6581775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39" name="Text Box 77"/>
          <p:cNvSpPr txBox="1">
            <a:spLocks noChangeArrowheads="1"/>
          </p:cNvSpPr>
          <p:nvPr/>
        </p:nvSpPr>
        <p:spPr bwMode="auto">
          <a:xfrm>
            <a:off x="6870700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0" name="Text Box 78"/>
          <p:cNvSpPr txBox="1">
            <a:spLocks noChangeArrowheads="1"/>
          </p:cNvSpPr>
          <p:nvPr/>
        </p:nvSpPr>
        <p:spPr bwMode="auto">
          <a:xfrm>
            <a:off x="6870700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1" name="Text Box 79"/>
          <p:cNvSpPr txBox="1">
            <a:spLocks noChangeArrowheads="1"/>
          </p:cNvSpPr>
          <p:nvPr/>
        </p:nvSpPr>
        <p:spPr bwMode="auto">
          <a:xfrm>
            <a:off x="6581775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2" name="Line 80"/>
          <p:cNvSpPr>
            <a:spLocks noChangeShapeType="1"/>
          </p:cNvSpPr>
          <p:nvPr/>
        </p:nvSpPr>
        <p:spPr bwMode="auto">
          <a:xfrm flipV="1">
            <a:off x="2332038" y="3294063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3" name="Line 81"/>
          <p:cNvSpPr>
            <a:spLocks noChangeShapeType="1"/>
          </p:cNvSpPr>
          <p:nvPr/>
        </p:nvSpPr>
        <p:spPr bwMode="auto">
          <a:xfrm>
            <a:off x="2620963" y="30067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4" name="Text Box 82"/>
          <p:cNvSpPr txBox="1">
            <a:spLocks noChangeArrowheads="1"/>
          </p:cNvSpPr>
          <p:nvPr/>
        </p:nvSpPr>
        <p:spPr bwMode="auto">
          <a:xfrm>
            <a:off x="2332038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5" name="Text Box 83"/>
          <p:cNvSpPr txBox="1">
            <a:spLocks noChangeArrowheads="1"/>
          </p:cNvSpPr>
          <p:nvPr/>
        </p:nvSpPr>
        <p:spPr bwMode="auto">
          <a:xfrm>
            <a:off x="2620963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6" name="Text Box 84"/>
          <p:cNvSpPr txBox="1">
            <a:spLocks noChangeArrowheads="1"/>
          </p:cNvSpPr>
          <p:nvPr/>
        </p:nvSpPr>
        <p:spPr bwMode="auto">
          <a:xfrm>
            <a:off x="2620963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7" name="Text Box 85"/>
          <p:cNvSpPr txBox="1">
            <a:spLocks noChangeArrowheads="1"/>
          </p:cNvSpPr>
          <p:nvPr/>
        </p:nvSpPr>
        <p:spPr bwMode="auto">
          <a:xfrm>
            <a:off x="2332038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48" name="Line 86"/>
          <p:cNvSpPr>
            <a:spLocks noChangeShapeType="1"/>
          </p:cNvSpPr>
          <p:nvPr/>
        </p:nvSpPr>
        <p:spPr bwMode="auto">
          <a:xfrm flipV="1">
            <a:off x="3629025" y="3582988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9" name="Line 87"/>
          <p:cNvSpPr>
            <a:spLocks noChangeShapeType="1"/>
          </p:cNvSpPr>
          <p:nvPr/>
        </p:nvSpPr>
        <p:spPr bwMode="auto">
          <a:xfrm>
            <a:off x="3917950" y="32956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0" name="Text Box 88"/>
          <p:cNvSpPr txBox="1">
            <a:spLocks noChangeArrowheads="1"/>
          </p:cNvSpPr>
          <p:nvPr/>
        </p:nvSpPr>
        <p:spPr bwMode="auto">
          <a:xfrm>
            <a:off x="3629025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1" name="Text Box 89"/>
          <p:cNvSpPr txBox="1">
            <a:spLocks noChangeArrowheads="1"/>
          </p:cNvSpPr>
          <p:nvPr/>
        </p:nvSpPr>
        <p:spPr bwMode="auto">
          <a:xfrm>
            <a:off x="3917950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2" name="Text Box 90"/>
          <p:cNvSpPr txBox="1">
            <a:spLocks noChangeArrowheads="1"/>
          </p:cNvSpPr>
          <p:nvPr/>
        </p:nvSpPr>
        <p:spPr bwMode="auto">
          <a:xfrm>
            <a:off x="3917950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6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3" name="Text Box 91"/>
          <p:cNvSpPr txBox="1">
            <a:spLocks noChangeArrowheads="1"/>
          </p:cNvSpPr>
          <p:nvPr/>
        </p:nvSpPr>
        <p:spPr bwMode="auto">
          <a:xfrm>
            <a:off x="3629025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4" name="Line 92"/>
          <p:cNvSpPr>
            <a:spLocks noChangeShapeType="1"/>
          </p:cNvSpPr>
          <p:nvPr/>
        </p:nvSpPr>
        <p:spPr bwMode="auto">
          <a:xfrm flipV="1">
            <a:off x="4997450" y="3582988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5" name="Line 93"/>
          <p:cNvSpPr>
            <a:spLocks noChangeShapeType="1"/>
          </p:cNvSpPr>
          <p:nvPr/>
        </p:nvSpPr>
        <p:spPr bwMode="auto">
          <a:xfrm>
            <a:off x="5286375" y="32956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6" name="Text Box 94"/>
          <p:cNvSpPr txBox="1">
            <a:spLocks noChangeArrowheads="1"/>
          </p:cNvSpPr>
          <p:nvPr/>
        </p:nvSpPr>
        <p:spPr bwMode="auto">
          <a:xfrm>
            <a:off x="4997450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7" name="Text Box 95"/>
          <p:cNvSpPr txBox="1">
            <a:spLocks noChangeArrowheads="1"/>
          </p:cNvSpPr>
          <p:nvPr/>
        </p:nvSpPr>
        <p:spPr bwMode="auto">
          <a:xfrm>
            <a:off x="5286375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4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8" name="Text Box 96"/>
          <p:cNvSpPr txBox="1">
            <a:spLocks noChangeArrowheads="1"/>
          </p:cNvSpPr>
          <p:nvPr/>
        </p:nvSpPr>
        <p:spPr bwMode="auto">
          <a:xfrm>
            <a:off x="5286375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59" name="Text Box 97"/>
          <p:cNvSpPr txBox="1">
            <a:spLocks noChangeArrowheads="1"/>
          </p:cNvSpPr>
          <p:nvPr/>
        </p:nvSpPr>
        <p:spPr bwMode="auto">
          <a:xfrm>
            <a:off x="4997450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6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0" name="Line 98"/>
          <p:cNvSpPr>
            <a:spLocks noChangeShapeType="1"/>
          </p:cNvSpPr>
          <p:nvPr/>
        </p:nvSpPr>
        <p:spPr bwMode="auto">
          <a:xfrm flipV="1">
            <a:off x="6221413" y="3294063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1" name="Line 99"/>
          <p:cNvSpPr>
            <a:spLocks noChangeShapeType="1"/>
          </p:cNvSpPr>
          <p:nvPr/>
        </p:nvSpPr>
        <p:spPr bwMode="auto">
          <a:xfrm>
            <a:off x="6510338" y="30067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2" name="Text Box 100"/>
          <p:cNvSpPr txBox="1">
            <a:spLocks noChangeArrowheads="1"/>
          </p:cNvSpPr>
          <p:nvPr/>
        </p:nvSpPr>
        <p:spPr bwMode="auto">
          <a:xfrm>
            <a:off x="6221413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3" name="Text Box 101"/>
          <p:cNvSpPr txBox="1">
            <a:spLocks noChangeArrowheads="1"/>
          </p:cNvSpPr>
          <p:nvPr/>
        </p:nvSpPr>
        <p:spPr bwMode="auto">
          <a:xfrm>
            <a:off x="6510338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4" name="Text Box 102"/>
          <p:cNvSpPr txBox="1">
            <a:spLocks noChangeArrowheads="1"/>
          </p:cNvSpPr>
          <p:nvPr/>
        </p:nvSpPr>
        <p:spPr bwMode="auto">
          <a:xfrm>
            <a:off x="6510338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5" name="Text Box 103"/>
          <p:cNvSpPr txBox="1">
            <a:spLocks noChangeArrowheads="1"/>
          </p:cNvSpPr>
          <p:nvPr/>
        </p:nvSpPr>
        <p:spPr bwMode="auto">
          <a:xfrm>
            <a:off x="6221413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6" name="Line 104"/>
          <p:cNvSpPr>
            <a:spLocks noChangeShapeType="1"/>
          </p:cNvSpPr>
          <p:nvPr/>
        </p:nvSpPr>
        <p:spPr bwMode="auto">
          <a:xfrm flipV="1">
            <a:off x="7805738" y="2790825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" name="Line 105"/>
          <p:cNvSpPr>
            <a:spLocks noChangeShapeType="1"/>
          </p:cNvSpPr>
          <p:nvPr/>
        </p:nvSpPr>
        <p:spPr bwMode="auto">
          <a:xfrm>
            <a:off x="8094663" y="25034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" name="Text Box 106"/>
          <p:cNvSpPr txBox="1">
            <a:spLocks noChangeArrowheads="1"/>
          </p:cNvSpPr>
          <p:nvPr/>
        </p:nvSpPr>
        <p:spPr bwMode="auto">
          <a:xfrm>
            <a:off x="7805738" y="25034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69" name="Text Box 107"/>
          <p:cNvSpPr txBox="1">
            <a:spLocks noChangeArrowheads="1"/>
          </p:cNvSpPr>
          <p:nvPr/>
        </p:nvSpPr>
        <p:spPr bwMode="auto">
          <a:xfrm>
            <a:off x="8094663" y="2503488"/>
            <a:ext cx="43180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0" name="Text Box 108"/>
          <p:cNvSpPr txBox="1">
            <a:spLocks noChangeArrowheads="1"/>
          </p:cNvSpPr>
          <p:nvPr/>
        </p:nvSpPr>
        <p:spPr bwMode="auto">
          <a:xfrm>
            <a:off x="8094663" y="2790825"/>
            <a:ext cx="43180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1" name="Text Box 109"/>
          <p:cNvSpPr txBox="1">
            <a:spLocks noChangeArrowheads="1"/>
          </p:cNvSpPr>
          <p:nvPr/>
        </p:nvSpPr>
        <p:spPr bwMode="auto">
          <a:xfrm>
            <a:off x="7805738" y="27908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2" name="Line 110"/>
          <p:cNvSpPr>
            <a:spLocks noChangeShapeType="1"/>
          </p:cNvSpPr>
          <p:nvPr/>
        </p:nvSpPr>
        <p:spPr bwMode="auto">
          <a:xfrm flipV="1">
            <a:off x="2763838" y="4446588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3" name="Line 111"/>
          <p:cNvSpPr>
            <a:spLocks noChangeShapeType="1"/>
          </p:cNvSpPr>
          <p:nvPr/>
        </p:nvSpPr>
        <p:spPr bwMode="auto">
          <a:xfrm>
            <a:off x="3052763" y="41592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4" name="Text Box 112"/>
          <p:cNvSpPr txBox="1">
            <a:spLocks noChangeArrowheads="1"/>
          </p:cNvSpPr>
          <p:nvPr/>
        </p:nvSpPr>
        <p:spPr bwMode="auto">
          <a:xfrm>
            <a:off x="2763838" y="41592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5" name="Text Box 113"/>
          <p:cNvSpPr txBox="1">
            <a:spLocks noChangeArrowheads="1"/>
          </p:cNvSpPr>
          <p:nvPr/>
        </p:nvSpPr>
        <p:spPr bwMode="auto">
          <a:xfrm>
            <a:off x="3052763" y="41592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6" name="Text Box 114"/>
          <p:cNvSpPr txBox="1">
            <a:spLocks noChangeArrowheads="1"/>
          </p:cNvSpPr>
          <p:nvPr/>
        </p:nvSpPr>
        <p:spPr bwMode="auto">
          <a:xfrm>
            <a:off x="3052763" y="44465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7" name="Text Box 115"/>
          <p:cNvSpPr txBox="1">
            <a:spLocks noChangeArrowheads="1"/>
          </p:cNvSpPr>
          <p:nvPr/>
        </p:nvSpPr>
        <p:spPr bwMode="auto">
          <a:xfrm>
            <a:off x="2763838" y="44465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78" name="Line 116"/>
          <p:cNvSpPr>
            <a:spLocks noChangeShapeType="1"/>
          </p:cNvSpPr>
          <p:nvPr/>
        </p:nvSpPr>
        <p:spPr bwMode="auto">
          <a:xfrm flipV="1">
            <a:off x="5356225" y="2862263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9" name="Line 117"/>
          <p:cNvSpPr>
            <a:spLocks noChangeShapeType="1"/>
          </p:cNvSpPr>
          <p:nvPr/>
        </p:nvSpPr>
        <p:spPr bwMode="auto">
          <a:xfrm>
            <a:off x="5645150" y="25749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0" name="Text Box 118"/>
          <p:cNvSpPr txBox="1">
            <a:spLocks noChangeArrowheads="1"/>
          </p:cNvSpPr>
          <p:nvPr/>
        </p:nvSpPr>
        <p:spPr bwMode="auto">
          <a:xfrm>
            <a:off x="53562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1" name="Text Box 119"/>
          <p:cNvSpPr txBox="1">
            <a:spLocks noChangeArrowheads="1"/>
          </p:cNvSpPr>
          <p:nvPr/>
        </p:nvSpPr>
        <p:spPr bwMode="auto">
          <a:xfrm>
            <a:off x="5645150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2" name="Text Box 120"/>
          <p:cNvSpPr txBox="1">
            <a:spLocks noChangeArrowheads="1"/>
          </p:cNvSpPr>
          <p:nvPr/>
        </p:nvSpPr>
        <p:spPr bwMode="auto">
          <a:xfrm>
            <a:off x="5645150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3" name="Text Box 121"/>
          <p:cNvSpPr txBox="1">
            <a:spLocks noChangeArrowheads="1"/>
          </p:cNvSpPr>
          <p:nvPr/>
        </p:nvSpPr>
        <p:spPr bwMode="auto">
          <a:xfrm>
            <a:off x="5356225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4" name="Line 122"/>
          <p:cNvSpPr>
            <a:spLocks noChangeShapeType="1"/>
          </p:cNvSpPr>
          <p:nvPr/>
        </p:nvSpPr>
        <p:spPr bwMode="auto">
          <a:xfrm flipV="1">
            <a:off x="3197225" y="2862263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5" name="Line 123"/>
          <p:cNvSpPr>
            <a:spLocks noChangeShapeType="1"/>
          </p:cNvSpPr>
          <p:nvPr/>
        </p:nvSpPr>
        <p:spPr bwMode="auto">
          <a:xfrm>
            <a:off x="3486150" y="25749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6" name="Text Box 124"/>
          <p:cNvSpPr txBox="1">
            <a:spLocks noChangeArrowheads="1"/>
          </p:cNvSpPr>
          <p:nvPr/>
        </p:nvSpPr>
        <p:spPr bwMode="auto">
          <a:xfrm>
            <a:off x="31972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7" name="Text Box 125"/>
          <p:cNvSpPr txBox="1">
            <a:spLocks noChangeArrowheads="1"/>
          </p:cNvSpPr>
          <p:nvPr/>
        </p:nvSpPr>
        <p:spPr bwMode="auto">
          <a:xfrm>
            <a:off x="3486150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8" name="Text Box 126"/>
          <p:cNvSpPr txBox="1">
            <a:spLocks noChangeArrowheads="1"/>
          </p:cNvSpPr>
          <p:nvPr/>
        </p:nvSpPr>
        <p:spPr bwMode="auto">
          <a:xfrm>
            <a:off x="3486150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  <p:sp>
        <p:nvSpPr>
          <p:cNvPr id="11389" name="Text Box 127"/>
          <p:cNvSpPr txBox="1">
            <a:spLocks noChangeArrowheads="1"/>
          </p:cNvSpPr>
          <p:nvPr/>
        </p:nvSpPr>
        <p:spPr bwMode="auto">
          <a:xfrm>
            <a:off x="3197225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  <a:endParaRPr lang="en-US" altLang="zh-CN" sz="1400" b="0">
              <a:ea typeface="楷体_GB231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Operation strategies</a:t>
            </a:r>
            <a:endParaRPr lang="zh-CN" altLang="en-US" sz="32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/>
              <a:t>Company owned &amp; operated plant on a greenfield site</a:t>
            </a:r>
            <a:endParaRPr lang="en-AU" altLang="zh-CN"/>
          </a:p>
          <a:p>
            <a:pPr eaLnBrk="1" hangingPunct="1"/>
            <a:r>
              <a:rPr lang="en-AU" altLang="zh-CN"/>
              <a:t>Company owned and operated plant on an existing company / other site</a:t>
            </a:r>
            <a:endParaRPr lang="en-AU" altLang="zh-CN"/>
          </a:p>
          <a:p>
            <a:pPr eaLnBrk="1" hangingPunct="1"/>
            <a:r>
              <a:rPr lang="en-AU" altLang="zh-CN"/>
              <a:t>Company owned plant operated by another manufacturing company</a:t>
            </a:r>
            <a:endParaRPr lang="en-AU" altLang="zh-CN"/>
          </a:p>
          <a:p>
            <a:pPr eaLnBrk="1" hangingPunct="1"/>
            <a:r>
              <a:rPr lang="en-AU" altLang="zh-CN"/>
              <a:t>Toll manufacture by another manufacturing company</a:t>
            </a:r>
            <a:endParaRPr lang="en-AU" altLang="zh-CN"/>
          </a:p>
          <a:p>
            <a:pPr eaLnBrk="1" hangingPunct="1"/>
            <a:r>
              <a:rPr lang="en-AU" altLang="zh-CN"/>
              <a:t>Licensed manufacture by another manufacturing company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宋体" panose="02010600030101010101" pitchFamily="2" charset="-122"/>
              </a:rPr>
              <a:t>企业组织和劳动定员</a:t>
            </a:r>
            <a:endParaRPr lang="zh-CN" altLang="en-US" sz="3200">
              <a:latin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宋体" panose="02010600030101010101" pitchFamily="2" charset="-122"/>
              </a:rPr>
              <a:t>企业组织</a:t>
            </a:r>
            <a:endParaRPr lang="zh-CN" altLang="en-US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企业组织形式</a:t>
            </a:r>
            <a:endParaRPr lang="zh-CN" altLang="en-US" b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企业工作制度</a:t>
            </a:r>
            <a:endParaRPr lang="zh-CN" altLang="en-US" b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企业薪酬制度</a:t>
            </a:r>
            <a:endParaRPr lang="zh-CN" altLang="en-US" b="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宋体" panose="02010600030101010101" pitchFamily="2" charset="-122"/>
              </a:rPr>
              <a:t>劳动定员和人员培训</a:t>
            </a:r>
            <a:endParaRPr lang="zh-CN" altLang="en-US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劳动定员</a:t>
            </a:r>
            <a:endParaRPr lang="zh-CN" altLang="en-US" b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项目年人工费用估算</a:t>
            </a:r>
            <a:endParaRPr lang="zh-CN" altLang="en-US" b="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b="0">
                <a:latin typeface="宋体" panose="02010600030101010101" pitchFamily="2" charset="-122"/>
              </a:rPr>
              <a:t>人员培训计划及费用估算</a:t>
            </a:r>
            <a:endParaRPr lang="zh-CN" altLang="en-US" b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7" t="11937" r="25269" b="5460"/>
          <a:stretch>
            <a:fillRect/>
          </a:stretch>
        </p:blipFill>
        <p:spPr bwMode="auto">
          <a:xfrm>
            <a:off x="0" y="0"/>
            <a:ext cx="89392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58738" y="0"/>
            <a:ext cx="8823325" cy="819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b="0"/>
              <a:t>三峡总公司</a:t>
            </a:r>
            <a:endParaRPr lang="zh-CN" altLang="en-US" b="0"/>
          </a:p>
        </p:txBody>
      </p:sp>
      <p:grpSp>
        <p:nvGrpSpPr>
          <p:cNvPr id="15363" name="Group 5"/>
          <p:cNvGrpSpPr/>
          <p:nvPr/>
        </p:nvGrpSpPr>
        <p:grpSpPr bwMode="auto">
          <a:xfrm>
            <a:off x="212725" y="1150938"/>
            <a:ext cx="8569325" cy="5454650"/>
            <a:chOff x="1800" y="2215"/>
            <a:chExt cx="8280" cy="7805"/>
          </a:xfrm>
        </p:grpSpPr>
        <p:sp>
          <p:nvSpPr>
            <p:cNvPr id="15364" name="Text Box 6"/>
            <p:cNvSpPr txBox="1">
              <a:spLocks noChangeArrowheads="1"/>
            </p:cNvSpPr>
            <p:nvPr/>
          </p:nvSpPr>
          <p:spPr bwMode="auto">
            <a:xfrm>
              <a:off x="5391" y="2215"/>
              <a:ext cx="997" cy="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总经理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5" name="Text Box 7"/>
            <p:cNvSpPr txBox="1">
              <a:spLocks noChangeArrowheads="1"/>
            </p:cNvSpPr>
            <p:nvPr/>
          </p:nvSpPr>
          <p:spPr bwMode="auto">
            <a:xfrm>
              <a:off x="3695" y="2782"/>
              <a:ext cx="1099" cy="4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副总经理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6" name="Text Box 8"/>
            <p:cNvSpPr txBox="1">
              <a:spLocks noChangeArrowheads="1"/>
            </p:cNvSpPr>
            <p:nvPr/>
          </p:nvSpPr>
          <p:spPr bwMode="auto">
            <a:xfrm>
              <a:off x="6289" y="3634"/>
              <a:ext cx="398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科学技术委员会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7" name="Text Box 9"/>
            <p:cNvSpPr txBox="1">
              <a:spLocks noChangeArrowheads="1"/>
            </p:cNvSpPr>
            <p:nvPr/>
          </p:nvSpPr>
          <p:spPr bwMode="auto">
            <a:xfrm>
              <a:off x="8685" y="3634"/>
              <a:ext cx="397" cy="1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经济、法律顾问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8" name="Text Box 10"/>
            <p:cNvSpPr txBox="1">
              <a:spLocks noChangeArrowheads="1"/>
            </p:cNvSpPr>
            <p:nvPr/>
          </p:nvSpPr>
          <p:spPr bwMode="auto">
            <a:xfrm>
              <a:off x="7087" y="3634"/>
              <a:ext cx="399" cy="14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投资委员会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9" name="Text Box 11"/>
            <p:cNvSpPr txBox="1">
              <a:spLocks noChangeArrowheads="1"/>
            </p:cNvSpPr>
            <p:nvPr/>
          </p:nvSpPr>
          <p:spPr bwMode="auto">
            <a:xfrm>
              <a:off x="7886" y="3634"/>
              <a:ext cx="398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预算委员会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0" name="Text Box 12"/>
            <p:cNvSpPr txBox="1">
              <a:spLocks noChangeArrowheads="1"/>
            </p:cNvSpPr>
            <p:nvPr/>
          </p:nvSpPr>
          <p:spPr bwMode="auto">
            <a:xfrm>
              <a:off x="2598" y="7462"/>
              <a:ext cx="392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向家坝工程建设部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1" name="Text Box 13"/>
            <p:cNvSpPr txBox="1">
              <a:spLocks noChangeArrowheads="1"/>
            </p:cNvSpPr>
            <p:nvPr/>
          </p:nvSpPr>
          <p:spPr bwMode="auto">
            <a:xfrm>
              <a:off x="2198" y="7462"/>
              <a:ext cx="399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溪洛渡工程建设部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2" name="Text Box 14"/>
            <p:cNvSpPr txBox="1">
              <a:spLocks noChangeArrowheads="1"/>
            </p:cNvSpPr>
            <p:nvPr/>
          </p:nvSpPr>
          <p:spPr bwMode="auto">
            <a:xfrm>
              <a:off x="1800" y="7462"/>
              <a:ext cx="395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3" name="Text Box 15"/>
            <p:cNvSpPr txBox="1">
              <a:spLocks noChangeArrowheads="1"/>
            </p:cNvSpPr>
            <p:nvPr/>
          </p:nvSpPr>
          <p:spPr bwMode="auto">
            <a:xfrm>
              <a:off x="6090" y="5478"/>
              <a:ext cx="401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机电工程部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4" name="Text Box 16"/>
            <p:cNvSpPr txBox="1">
              <a:spLocks noChangeArrowheads="1"/>
            </p:cNvSpPr>
            <p:nvPr/>
          </p:nvSpPr>
          <p:spPr bwMode="auto">
            <a:xfrm>
              <a:off x="3799" y="5478"/>
              <a:ext cx="394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计划发展部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5" name="Text Box 17"/>
            <p:cNvSpPr txBox="1">
              <a:spLocks noChangeArrowheads="1"/>
            </p:cNvSpPr>
            <p:nvPr/>
          </p:nvSpPr>
          <p:spPr bwMode="auto">
            <a:xfrm>
              <a:off x="8088" y="5478"/>
              <a:ext cx="397" cy="15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审计室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6" name="Text Box 18"/>
            <p:cNvSpPr txBox="1">
              <a:spLocks noChangeArrowheads="1"/>
            </p:cNvSpPr>
            <p:nvPr/>
          </p:nvSpPr>
          <p:spPr bwMode="auto">
            <a:xfrm>
              <a:off x="4296" y="5478"/>
              <a:ext cx="395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资产财务部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7" name="Text Box 19"/>
            <p:cNvSpPr txBox="1">
              <a:spLocks noChangeArrowheads="1"/>
            </p:cNvSpPr>
            <p:nvPr/>
          </p:nvSpPr>
          <p:spPr bwMode="auto">
            <a:xfrm>
              <a:off x="7090" y="5478"/>
              <a:ext cx="395" cy="15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国际合作部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8" name="Text Box 20"/>
            <p:cNvSpPr txBox="1">
              <a:spLocks noChangeArrowheads="1"/>
            </p:cNvSpPr>
            <p:nvPr/>
          </p:nvSpPr>
          <p:spPr bwMode="auto">
            <a:xfrm>
              <a:off x="6591" y="5478"/>
              <a:ext cx="392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科技与环境保护部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9" name="Text Box 21"/>
            <p:cNvSpPr txBox="1">
              <a:spLocks noChangeArrowheads="1"/>
            </p:cNvSpPr>
            <p:nvPr/>
          </p:nvSpPr>
          <p:spPr bwMode="auto">
            <a:xfrm>
              <a:off x="2800" y="5478"/>
              <a:ext cx="397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总经理工作部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0" name="Text Box 22"/>
            <p:cNvSpPr txBox="1">
              <a:spLocks noChangeArrowheads="1"/>
            </p:cNvSpPr>
            <p:nvPr/>
          </p:nvSpPr>
          <p:spPr bwMode="auto">
            <a:xfrm>
              <a:off x="3299" y="5478"/>
              <a:ext cx="395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信息中心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1" name="Text Box 23"/>
            <p:cNvSpPr txBox="1">
              <a:spLocks noChangeArrowheads="1"/>
            </p:cNvSpPr>
            <p:nvPr/>
          </p:nvSpPr>
          <p:spPr bwMode="auto">
            <a:xfrm>
              <a:off x="8585" y="5478"/>
              <a:ext cx="398" cy="15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党群工作部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2" name="Text Box 24"/>
            <p:cNvSpPr txBox="1">
              <a:spLocks noChangeArrowheads="1"/>
            </p:cNvSpPr>
            <p:nvPr/>
          </p:nvSpPr>
          <p:spPr bwMode="auto">
            <a:xfrm>
              <a:off x="4794" y="5478"/>
              <a:ext cx="393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人力资源部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3" name="Text Box 25"/>
            <p:cNvSpPr txBox="1">
              <a:spLocks noChangeArrowheads="1"/>
            </p:cNvSpPr>
            <p:nvPr/>
          </p:nvSpPr>
          <p:spPr bwMode="auto">
            <a:xfrm>
              <a:off x="5291" y="5478"/>
              <a:ext cx="406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枢纽管理部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4" name="Text Box 26"/>
            <p:cNvSpPr txBox="1">
              <a:spLocks noChangeArrowheads="1"/>
            </p:cNvSpPr>
            <p:nvPr/>
          </p:nvSpPr>
          <p:spPr bwMode="auto">
            <a:xfrm>
              <a:off x="9083" y="5478"/>
              <a:ext cx="400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北京代表处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5" name="Text Box 27"/>
            <p:cNvSpPr txBox="1">
              <a:spLocks noChangeArrowheads="1"/>
            </p:cNvSpPr>
            <p:nvPr/>
          </p:nvSpPr>
          <p:spPr bwMode="auto">
            <a:xfrm>
              <a:off x="7588" y="5478"/>
              <a:ext cx="395" cy="15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新闻宣传中心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6" name="Text Box 28"/>
            <p:cNvSpPr txBox="1">
              <a:spLocks noChangeArrowheads="1"/>
            </p:cNvSpPr>
            <p:nvPr/>
          </p:nvSpPr>
          <p:spPr bwMode="auto">
            <a:xfrm>
              <a:off x="2301" y="5478"/>
              <a:ext cx="396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监察室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7" name="Text Box 29"/>
            <p:cNvSpPr txBox="1">
              <a:spLocks noChangeArrowheads="1"/>
            </p:cNvSpPr>
            <p:nvPr/>
          </p:nvSpPr>
          <p:spPr bwMode="auto">
            <a:xfrm>
              <a:off x="2997" y="7462"/>
              <a:ext cx="396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金沙江开发有限公司筹建处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8" name="Text Box 30"/>
            <p:cNvSpPr txBox="1">
              <a:spLocks noChangeArrowheads="1"/>
            </p:cNvSpPr>
            <p:nvPr/>
          </p:nvSpPr>
          <p:spPr bwMode="auto">
            <a:xfrm>
              <a:off x="7685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长江三峡旅游发展有限公司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9" name="Text Box 31"/>
            <p:cNvSpPr txBox="1">
              <a:spLocks noChangeArrowheads="1"/>
            </p:cNvSpPr>
            <p:nvPr/>
          </p:nvSpPr>
          <p:spPr bwMode="auto">
            <a:xfrm>
              <a:off x="7186" y="7462"/>
              <a:ext cx="396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中国长江电力股份有限公司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0" name="Text Box 32"/>
            <p:cNvSpPr txBox="1">
              <a:spLocks noChangeArrowheads="1"/>
            </p:cNvSpPr>
            <p:nvPr/>
          </p:nvSpPr>
          <p:spPr bwMode="auto">
            <a:xfrm>
              <a:off x="6688" y="7462"/>
              <a:ext cx="394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长江三峡水电工程公司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1" name="Text Box 33"/>
            <p:cNvSpPr txBox="1">
              <a:spLocks noChangeArrowheads="1"/>
            </p:cNvSpPr>
            <p:nvPr/>
          </p:nvSpPr>
          <p:spPr bwMode="auto">
            <a:xfrm>
              <a:off x="6189" y="7462"/>
              <a:ext cx="395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宜昌三峡工程设备有限公司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2" name="Text Box 34"/>
            <p:cNvSpPr txBox="1">
              <a:spLocks noChangeArrowheads="1"/>
            </p:cNvSpPr>
            <p:nvPr/>
          </p:nvSpPr>
          <p:spPr bwMode="auto">
            <a:xfrm>
              <a:off x="3694" y="7462"/>
              <a:ext cx="401" cy="25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宜昌三峡多能公司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3" name="Text Box 35"/>
            <p:cNvSpPr txBox="1">
              <a:spLocks noChangeArrowheads="1"/>
            </p:cNvSpPr>
            <p:nvPr/>
          </p:nvSpPr>
          <p:spPr bwMode="auto">
            <a:xfrm>
              <a:off x="5690" y="7462"/>
              <a:ext cx="398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长江三峡实业有限公司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4" name="Text Box 36"/>
            <p:cNvSpPr txBox="1">
              <a:spLocks noChangeArrowheads="1"/>
            </p:cNvSpPr>
            <p:nvPr/>
          </p:nvSpPr>
          <p:spPr bwMode="auto">
            <a:xfrm>
              <a:off x="4693" y="7462"/>
              <a:ext cx="398" cy="25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长江三峡技术经济发展有限公司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5" name="Text Box 37"/>
            <p:cNvSpPr txBox="1">
              <a:spLocks noChangeArrowheads="1"/>
            </p:cNvSpPr>
            <p:nvPr/>
          </p:nvSpPr>
          <p:spPr bwMode="auto">
            <a:xfrm>
              <a:off x="4194" y="7462"/>
              <a:ext cx="399" cy="25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长江三峡投资发展有限责任公司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6" name="Text Box 38"/>
            <p:cNvSpPr txBox="1">
              <a:spLocks noChangeArrowheads="1"/>
            </p:cNvSpPr>
            <p:nvPr/>
          </p:nvSpPr>
          <p:spPr bwMode="auto">
            <a:xfrm>
              <a:off x="8184" y="7462"/>
              <a:ext cx="399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三峡财务有限责任公司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7" name="Text Box 39"/>
            <p:cNvSpPr txBox="1">
              <a:spLocks noChangeArrowheads="1"/>
            </p:cNvSpPr>
            <p:nvPr/>
          </p:nvSpPr>
          <p:spPr bwMode="auto">
            <a:xfrm>
              <a:off x="8684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三峡国际招标有限责任公司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8" name="Text Box 40"/>
            <p:cNvSpPr txBox="1">
              <a:spLocks noChangeArrowheads="1"/>
            </p:cNvSpPr>
            <p:nvPr/>
          </p:nvSpPr>
          <p:spPr bwMode="auto">
            <a:xfrm>
              <a:off x="9183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宜昌能达通用电器股份合作公司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9" name="Text Box 41"/>
            <p:cNvSpPr txBox="1">
              <a:spLocks noChangeArrowheads="1"/>
            </p:cNvSpPr>
            <p:nvPr/>
          </p:nvSpPr>
          <p:spPr bwMode="auto">
            <a:xfrm>
              <a:off x="9680" y="7462"/>
              <a:ext cx="400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三峡高科信息技术有限公司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0" name="Text Box 42"/>
            <p:cNvSpPr txBox="1">
              <a:spLocks noChangeArrowheads="1"/>
            </p:cNvSpPr>
            <p:nvPr/>
          </p:nvSpPr>
          <p:spPr bwMode="auto">
            <a:xfrm>
              <a:off x="3297" y="3634"/>
              <a:ext cx="396" cy="14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总工程师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1" name="Text Box 43"/>
            <p:cNvSpPr txBox="1">
              <a:spLocks noChangeArrowheads="1"/>
            </p:cNvSpPr>
            <p:nvPr/>
          </p:nvSpPr>
          <p:spPr bwMode="auto">
            <a:xfrm>
              <a:off x="4194" y="3634"/>
              <a:ext cx="399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总会计师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2" name="Text Box 44"/>
            <p:cNvSpPr txBox="1">
              <a:spLocks noChangeArrowheads="1"/>
            </p:cNvSpPr>
            <p:nvPr/>
          </p:nvSpPr>
          <p:spPr bwMode="auto">
            <a:xfrm>
              <a:off x="5092" y="3634"/>
              <a:ext cx="401" cy="14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总经济师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3" name="Text Box 45"/>
            <p:cNvSpPr txBox="1">
              <a:spLocks noChangeArrowheads="1"/>
            </p:cNvSpPr>
            <p:nvPr/>
          </p:nvSpPr>
          <p:spPr bwMode="auto">
            <a:xfrm>
              <a:off x="7087" y="2782"/>
              <a:ext cx="1373" cy="4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总经理助理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4" name="Line 46"/>
            <p:cNvSpPr>
              <a:spLocks noChangeShapeType="1"/>
            </p:cNvSpPr>
            <p:nvPr/>
          </p:nvSpPr>
          <p:spPr bwMode="auto">
            <a:xfrm>
              <a:off x="5890" y="2641"/>
              <a:ext cx="1" cy="4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Line 47"/>
            <p:cNvSpPr>
              <a:spLocks noChangeShapeType="1"/>
            </p:cNvSpPr>
            <p:nvPr/>
          </p:nvSpPr>
          <p:spPr bwMode="auto">
            <a:xfrm>
              <a:off x="4793" y="2924"/>
              <a:ext cx="229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Line 48"/>
            <p:cNvSpPr>
              <a:spLocks noChangeShapeType="1"/>
            </p:cNvSpPr>
            <p:nvPr/>
          </p:nvSpPr>
          <p:spPr bwMode="auto">
            <a:xfrm>
              <a:off x="3496" y="3350"/>
              <a:ext cx="538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Line 49"/>
            <p:cNvSpPr>
              <a:spLocks noChangeShapeType="1"/>
            </p:cNvSpPr>
            <p:nvPr/>
          </p:nvSpPr>
          <p:spPr bwMode="auto">
            <a:xfrm>
              <a:off x="3496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Line 50"/>
            <p:cNvSpPr>
              <a:spLocks noChangeShapeType="1"/>
            </p:cNvSpPr>
            <p:nvPr/>
          </p:nvSpPr>
          <p:spPr bwMode="auto">
            <a:xfrm>
              <a:off x="4394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Line 51"/>
            <p:cNvSpPr>
              <a:spLocks noChangeShapeType="1"/>
            </p:cNvSpPr>
            <p:nvPr/>
          </p:nvSpPr>
          <p:spPr bwMode="auto">
            <a:xfrm>
              <a:off x="5291" y="3350"/>
              <a:ext cx="2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Line 52"/>
            <p:cNvSpPr>
              <a:spLocks noChangeShapeType="1"/>
            </p:cNvSpPr>
            <p:nvPr/>
          </p:nvSpPr>
          <p:spPr bwMode="auto">
            <a:xfrm>
              <a:off x="6489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Line 53"/>
            <p:cNvSpPr>
              <a:spLocks noChangeShapeType="1"/>
            </p:cNvSpPr>
            <p:nvPr/>
          </p:nvSpPr>
          <p:spPr bwMode="auto">
            <a:xfrm>
              <a:off x="7287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Line 54"/>
            <p:cNvSpPr>
              <a:spLocks noChangeShapeType="1"/>
            </p:cNvSpPr>
            <p:nvPr/>
          </p:nvSpPr>
          <p:spPr bwMode="auto">
            <a:xfrm>
              <a:off x="8085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Line 55"/>
            <p:cNvSpPr>
              <a:spLocks noChangeShapeType="1"/>
            </p:cNvSpPr>
            <p:nvPr/>
          </p:nvSpPr>
          <p:spPr bwMode="auto">
            <a:xfrm>
              <a:off x="8883" y="3350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Line 56"/>
            <p:cNvSpPr>
              <a:spLocks noChangeShapeType="1"/>
            </p:cNvSpPr>
            <p:nvPr/>
          </p:nvSpPr>
          <p:spPr bwMode="auto">
            <a:xfrm>
              <a:off x="2499" y="5194"/>
              <a:ext cx="678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57"/>
            <p:cNvSpPr>
              <a:spLocks noChangeShapeType="1"/>
            </p:cNvSpPr>
            <p:nvPr/>
          </p:nvSpPr>
          <p:spPr bwMode="auto">
            <a:xfrm>
              <a:off x="2499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58"/>
            <p:cNvSpPr>
              <a:spLocks noChangeShapeType="1"/>
            </p:cNvSpPr>
            <p:nvPr/>
          </p:nvSpPr>
          <p:spPr bwMode="auto">
            <a:xfrm>
              <a:off x="2997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Line 59"/>
            <p:cNvSpPr>
              <a:spLocks noChangeShapeType="1"/>
            </p:cNvSpPr>
            <p:nvPr/>
          </p:nvSpPr>
          <p:spPr bwMode="auto">
            <a:xfrm>
              <a:off x="3496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Line 60"/>
            <p:cNvSpPr>
              <a:spLocks noChangeShapeType="1"/>
            </p:cNvSpPr>
            <p:nvPr/>
          </p:nvSpPr>
          <p:spPr bwMode="auto">
            <a:xfrm>
              <a:off x="3994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Line 61"/>
            <p:cNvSpPr>
              <a:spLocks noChangeShapeType="1"/>
            </p:cNvSpPr>
            <p:nvPr/>
          </p:nvSpPr>
          <p:spPr bwMode="auto">
            <a:xfrm>
              <a:off x="4493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62"/>
            <p:cNvSpPr>
              <a:spLocks noChangeShapeType="1"/>
            </p:cNvSpPr>
            <p:nvPr/>
          </p:nvSpPr>
          <p:spPr bwMode="auto">
            <a:xfrm>
              <a:off x="4992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Line 63"/>
            <p:cNvSpPr>
              <a:spLocks noChangeShapeType="1"/>
            </p:cNvSpPr>
            <p:nvPr/>
          </p:nvSpPr>
          <p:spPr bwMode="auto">
            <a:xfrm>
              <a:off x="5491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64"/>
            <p:cNvSpPr>
              <a:spLocks noChangeShapeType="1"/>
            </p:cNvSpPr>
            <p:nvPr/>
          </p:nvSpPr>
          <p:spPr bwMode="auto">
            <a:xfrm>
              <a:off x="6289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65"/>
            <p:cNvSpPr>
              <a:spLocks noChangeShapeType="1"/>
            </p:cNvSpPr>
            <p:nvPr/>
          </p:nvSpPr>
          <p:spPr bwMode="auto">
            <a:xfrm>
              <a:off x="6788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66"/>
            <p:cNvSpPr>
              <a:spLocks noChangeShapeType="1"/>
            </p:cNvSpPr>
            <p:nvPr/>
          </p:nvSpPr>
          <p:spPr bwMode="auto">
            <a:xfrm>
              <a:off x="7287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67"/>
            <p:cNvSpPr>
              <a:spLocks noChangeShapeType="1"/>
            </p:cNvSpPr>
            <p:nvPr/>
          </p:nvSpPr>
          <p:spPr bwMode="auto">
            <a:xfrm>
              <a:off x="7785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68"/>
            <p:cNvSpPr>
              <a:spLocks noChangeShapeType="1"/>
            </p:cNvSpPr>
            <p:nvPr/>
          </p:nvSpPr>
          <p:spPr bwMode="auto">
            <a:xfrm>
              <a:off x="8284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69"/>
            <p:cNvSpPr>
              <a:spLocks noChangeShapeType="1"/>
            </p:cNvSpPr>
            <p:nvPr/>
          </p:nvSpPr>
          <p:spPr bwMode="auto">
            <a:xfrm>
              <a:off x="8783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Line 70"/>
            <p:cNvSpPr>
              <a:spLocks noChangeShapeType="1"/>
            </p:cNvSpPr>
            <p:nvPr/>
          </p:nvSpPr>
          <p:spPr bwMode="auto">
            <a:xfrm>
              <a:off x="9282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Line 71"/>
            <p:cNvSpPr>
              <a:spLocks noChangeShapeType="1"/>
            </p:cNvSpPr>
            <p:nvPr/>
          </p:nvSpPr>
          <p:spPr bwMode="auto">
            <a:xfrm>
              <a:off x="2000" y="7179"/>
              <a:ext cx="78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Line 72"/>
            <p:cNvSpPr>
              <a:spLocks noChangeShapeType="1"/>
            </p:cNvSpPr>
            <p:nvPr/>
          </p:nvSpPr>
          <p:spPr bwMode="auto">
            <a:xfrm>
              <a:off x="199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Line 73"/>
            <p:cNvSpPr>
              <a:spLocks noChangeShapeType="1"/>
            </p:cNvSpPr>
            <p:nvPr/>
          </p:nvSpPr>
          <p:spPr bwMode="auto">
            <a:xfrm>
              <a:off x="2397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Line 74"/>
            <p:cNvSpPr>
              <a:spLocks noChangeShapeType="1"/>
            </p:cNvSpPr>
            <p:nvPr/>
          </p:nvSpPr>
          <p:spPr bwMode="auto">
            <a:xfrm>
              <a:off x="2797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Line 75"/>
            <p:cNvSpPr>
              <a:spLocks noChangeShapeType="1"/>
            </p:cNvSpPr>
            <p:nvPr/>
          </p:nvSpPr>
          <p:spPr bwMode="auto">
            <a:xfrm>
              <a:off x="3195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Line 76"/>
            <p:cNvSpPr>
              <a:spLocks noChangeShapeType="1"/>
            </p:cNvSpPr>
            <p:nvPr/>
          </p:nvSpPr>
          <p:spPr bwMode="auto">
            <a:xfrm>
              <a:off x="3895" y="7183"/>
              <a:ext cx="2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Line 77"/>
            <p:cNvSpPr>
              <a:spLocks noChangeShapeType="1"/>
            </p:cNvSpPr>
            <p:nvPr/>
          </p:nvSpPr>
          <p:spPr bwMode="auto">
            <a:xfrm>
              <a:off x="4393" y="7183"/>
              <a:ext cx="2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Line 78"/>
            <p:cNvSpPr>
              <a:spLocks noChangeShapeType="1"/>
            </p:cNvSpPr>
            <p:nvPr/>
          </p:nvSpPr>
          <p:spPr bwMode="auto">
            <a:xfrm>
              <a:off x="4893" y="7183"/>
              <a:ext cx="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Line 79"/>
            <p:cNvSpPr>
              <a:spLocks noChangeShapeType="1"/>
            </p:cNvSpPr>
            <p:nvPr/>
          </p:nvSpPr>
          <p:spPr bwMode="auto">
            <a:xfrm>
              <a:off x="588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Line 80"/>
            <p:cNvSpPr>
              <a:spLocks noChangeShapeType="1"/>
            </p:cNvSpPr>
            <p:nvPr/>
          </p:nvSpPr>
          <p:spPr bwMode="auto">
            <a:xfrm>
              <a:off x="6387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Line 81"/>
            <p:cNvSpPr>
              <a:spLocks noChangeShapeType="1"/>
            </p:cNvSpPr>
            <p:nvPr/>
          </p:nvSpPr>
          <p:spPr bwMode="auto">
            <a:xfrm>
              <a:off x="6885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0" name="Line 82"/>
            <p:cNvSpPr>
              <a:spLocks noChangeShapeType="1"/>
            </p:cNvSpPr>
            <p:nvPr/>
          </p:nvSpPr>
          <p:spPr bwMode="auto">
            <a:xfrm>
              <a:off x="7384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Line 83"/>
            <p:cNvSpPr>
              <a:spLocks noChangeShapeType="1"/>
            </p:cNvSpPr>
            <p:nvPr/>
          </p:nvSpPr>
          <p:spPr bwMode="auto">
            <a:xfrm>
              <a:off x="7883" y="7181"/>
              <a:ext cx="3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Line 84"/>
            <p:cNvSpPr>
              <a:spLocks noChangeShapeType="1"/>
            </p:cNvSpPr>
            <p:nvPr/>
          </p:nvSpPr>
          <p:spPr bwMode="auto">
            <a:xfrm>
              <a:off x="8383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Line 85"/>
            <p:cNvSpPr>
              <a:spLocks noChangeShapeType="1"/>
            </p:cNvSpPr>
            <p:nvPr/>
          </p:nvSpPr>
          <p:spPr bwMode="auto">
            <a:xfrm>
              <a:off x="8881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86"/>
            <p:cNvSpPr>
              <a:spLocks noChangeShapeType="1"/>
            </p:cNvSpPr>
            <p:nvPr/>
          </p:nvSpPr>
          <p:spPr bwMode="auto">
            <a:xfrm>
              <a:off x="9380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87"/>
            <p:cNvSpPr>
              <a:spLocks noChangeShapeType="1"/>
            </p:cNvSpPr>
            <p:nvPr/>
          </p:nvSpPr>
          <p:spPr bwMode="auto">
            <a:xfrm>
              <a:off x="987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Text Box 88"/>
            <p:cNvSpPr txBox="1">
              <a:spLocks noChangeArrowheads="1"/>
            </p:cNvSpPr>
            <p:nvPr/>
          </p:nvSpPr>
          <p:spPr bwMode="auto">
            <a:xfrm>
              <a:off x="5192" y="7462"/>
              <a:ext cx="398" cy="25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charset="0"/>
                  <a:ea typeface="楷体_GB2312" charset="-122"/>
                </a:rPr>
                <a:t>长江新能源开发有限公司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47" name="Line 89"/>
            <p:cNvSpPr>
              <a:spLocks noChangeShapeType="1"/>
            </p:cNvSpPr>
            <p:nvPr/>
          </p:nvSpPr>
          <p:spPr bwMode="auto">
            <a:xfrm>
              <a:off x="5392" y="7183"/>
              <a:ext cx="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Line 5"/>
          <p:cNvSpPr>
            <a:spLocks noChangeShapeType="1"/>
          </p:cNvSpPr>
          <p:nvPr/>
        </p:nvSpPr>
        <p:spPr bwMode="auto">
          <a:xfrm>
            <a:off x="6534150" y="2700338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>
            <a:off x="723900" y="3332163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总经理工作部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723900" y="3624263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人力资源部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>
            <a:off x="723900" y="39147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综合计划部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>
            <a:off x="723900" y="42068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电力营销部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>
            <a:off x="723900" y="44989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规划发展部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>
            <a:off x="723900" y="4791075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财务管理部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4" name="Rectangle 12"/>
          <p:cNvSpPr>
            <a:spLocks noChangeArrowheads="1"/>
          </p:cNvSpPr>
          <p:nvPr/>
        </p:nvSpPr>
        <p:spPr bwMode="auto">
          <a:xfrm>
            <a:off x="723900" y="5100638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生产管理部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723900" y="578802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机电物资部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23900" y="5445125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信息管理部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397" name="Line 15"/>
          <p:cNvSpPr>
            <a:spLocks noChangeShapeType="1"/>
          </p:cNvSpPr>
          <p:nvPr/>
        </p:nvSpPr>
        <p:spPr bwMode="auto">
          <a:xfrm>
            <a:off x="539750" y="3044825"/>
            <a:ext cx="0" cy="3276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6"/>
          <p:cNvSpPr>
            <a:spLocks noChangeShapeType="1"/>
          </p:cNvSpPr>
          <p:nvPr/>
        </p:nvSpPr>
        <p:spPr bwMode="auto">
          <a:xfrm>
            <a:off x="539750" y="594201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7"/>
          <p:cNvSpPr>
            <a:spLocks noChangeShapeType="1"/>
          </p:cNvSpPr>
          <p:nvPr/>
        </p:nvSpPr>
        <p:spPr bwMode="auto">
          <a:xfrm>
            <a:off x="539750" y="555942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8"/>
          <p:cNvSpPr>
            <a:spLocks noChangeShapeType="1"/>
          </p:cNvSpPr>
          <p:nvPr/>
        </p:nvSpPr>
        <p:spPr bwMode="auto">
          <a:xfrm>
            <a:off x="539750" y="5214938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19"/>
          <p:cNvSpPr>
            <a:spLocks noChangeShapeType="1"/>
          </p:cNvSpPr>
          <p:nvPr/>
        </p:nvSpPr>
        <p:spPr bwMode="auto">
          <a:xfrm>
            <a:off x="539750" y="490537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Line 20"/>
          <p:cNvSpPr>
            <a:spLocks noChangeShapeType="1"/>
          </p:cNvSpPr>
          <p:nvPr/>
        </p:nvSpPr>
        <p:spPr bwMode="auto">
          <a:xfrm>
            <a:off x="539750" y="461327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3" name="Line 21"/>
          <p:cNvSpPr>
            <a:spLocks noChangeShapeType="1"/>
          </p:cNvSpPr>
          <p:nvPr/>
        </p:nvSpPr>
        <p:spPr bwMode="auto">
          <a:xfrm>
            <a:off x="539750" y="43227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4" name="Line 22"/>
          <p:cNvSpPr>
            <a:spLocks noChangeShapeType="1"/>
          </p:cNvSpPr>
          <p:nvPr/>
        </p:nvSpPr>
        <p:spPr bwMode="auto">
          <a:xfrm>
            <a:off x="539750" y="40306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5" name="Line 23"/>
          <p:cNvSpPr>
            <a:spLocks noChangeShapeType="1"/>
          </p:cNvSpPr>
          <p:nvPr/>
        </p:nvSpPr>
        <p:spPr bwMode="auto">
          <a:xfrm>
            <a:off x="539750" y="37385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6" name="Line 24"/>
          <p:cNvSpPr>
            <a:spLocks noChangeShapeType="1"/>
          </p:cNvSpPr>
          <p:nvPr/>
        </p:nvSpPr>
        <p:spPr bwMode="auto">
          <a:xfrm>
            <a:off x="539750" y="34464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7" name="Line 25"/>
          <p:cNvSpPr>
            <a:spLocks noChangeShapeType="1"/>
          </p:cNvSpPr>
          <p:nvPr/>
        </p:nvSpPr>
        <p:spPr bwMode="auto">
          <a:xfrm flipH="1">
            <a:off x="2195513" y="3044825"/>
            <a:ext cx="20637" cy="197961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8" name="Rectangle 26"/>
          <p:cNvSpPr>
            <a:spLocks noChangeArrowheads="1"/>
          </p:cNvSpPr>
          <p:nvPr/>
        </p:nvSpPr>
        <p:spPr bwMode="auto">
          <a:xfrm>
            <a:off x="2414588" y="3332163"/>
            <a:ext cx="1684337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锦屏建设管理局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09" name="Rectangle 27"/>
          <p:cNvSpPr>
            <a:spLocks noChangeArrowheads="1"/>
          </p:cNvSpPr>
          <p:nvPr/>
        </p:nvSpPr>
        <p:spPr bwMode="auto">
          <a:xfrm>
            <a:off x="2414588" y="3790950"/>
            <a:ext cx="1684337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官地建设管理局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10" name="Rectangle 28"/>
          <p:cNvSpPr>
            <a:spLocks noChangeArrowheads="1"/>
          </p:cNvSpPr>
          <p:nvPr/>
        </p:nvSpPr>
        <p:spPr bwMode="auto">
          <a:xfrm>
            <a:off x="2425700" y="4306888"/>
            <a:ext cx="1684338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桐子林建设管理局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11" name="Line 29"/>
          <p:cNvSpPr>
            <a:spLocks noChangeShapeType="1"/>
          </p:cNvSpPr>
          <p:nvPr/>
        </p:nvSpPr>
        <p:spPr bwMode="auto">
          <a:xfrm>
            <a:off x="2216150" y="3503613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2" name="Line 30"/>
          <p:cNvSpPr>
            <a:spLocks noChangeShapeType="1"/>
          </p:cNvSpPr>
          <p:nvPr/>
        </p:nvSpPr>
        <p:spPr bwMode="auto">
          <a:xfrm>
            <a:off x="2216150" y="3962400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3" name="Line 31"/>
          <p:cNvSpPr>
            <a:spLocks noChangeShapeType="1"/>
          </p:cNvSpPr>
          <p:nvPr/>
        </p:nvSpPr>
        <p:spPr bwMode="auto">
          <a:xfrm>
            <a:off x="2216150" y="4479925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4" name="Line 32"/>
          <p:cNvSpPr>
            <a:spLocks noChangeShapeType="1"/>
          </p:cNvSpPr>
          <p:nvPr/>
        </p:nvSpPr>
        <p:spPr bwMode="auto">
          <a:xfrm flipV="1">
            <a:off x="539750" y="3044825"/>
            <a:ext cx="553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5" name="Rectangle 33"/>
          <p:cNvSpPr>
            <a:spLocks noChangeArrowheads="1"/>
          </p:cNvSpPr>
          <p:nvPr/>
        </p:nvSpPr>
        <p:spPr bwMode="auto">
          <a:xfrm>
            <a:off x="4491038" y="3330575"/>
            <a:ext cx="1311275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二滩水力发电厂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16" name="Line 34"/>
          <p:cNvSpPr>
            <a:spLocks noChangeShapeType="1"/>
          </p:cNvSpPr>
          <p:nvPr/>
        </p:nvSpPr>
        <p:spPr bwMode="auto">
          <a:xfrm>
            <a:off x="4273550" y="3503613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7" name="Line 35"/>
          <p:cNvSpPr>
            <a:spLocks noChangeShapeType="1"/>
          </p:cNvSpPr>
          <p:nvPr/>
        </p:nvSpPr>
        <p:spPr bwMode="auto">
          <a:xfrm>
            <a:off x="4273550" y="3044825"/>
            <a:ext cx="0" cy="4587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18" name="Group 36"/>
          <p:cNvGrpSpPr/>
          <p:nvPr/>
        </p:nvGrpSpPr>
        <p:grpSpPr bwMode="auto">
          <a:xfrm>
            <a:off x="6296025" y="3330575"/>
            <a:ext cx="1092200" cy="688975"/>
            <a:chOff x="4080" y="1680"/>
            <a:chExt cx="864" cy="672"/>
          </a:xfrm>
        </p:grpSpPr>
        <p:sp>
          <p:nvSpPr>
            <p:cNvPr id="16452" name="Rectangle 37"/>
            <p:cNvSpPr>
              <a:spLocks noChangeArrowheads="1"/>
            </p:cNvSpPr>
            <p:nvPr/>
          </p:nvSpPr>
          <p:spPr bwMode="auto">
            <a:xfrm>
              <a:off x="4080" y="1680"/>
              <a:ext cx="86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政治工作部</a:t>
              </a:r>
              <a:endPara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6453" name="Rectangle 38"/>
            <p:cNvSpPr>
              <a:spLocks noChangeArrowheads="1"/>
            </p:cNvSpPr>
            <p:nvPr/>
          </p:nvSpPr>
          <p:spPr bwMode="auto">
            <a:xfrm>
              <a:off x="4080" y="2064"/>
              <a:ext cx="86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工         会</a:t>
              </a:r>
              <a:endPara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</p:grpSp>
      <p:sp>
        <p:nvSpPr>
          <p:cNvPr id="16419" name="Line 39"/>
          <p:cNvSpPr>
            <a:spLocks noChangeShapeType="1"/>
          </p:cNvSpPr>
          <p:nvPr/>
        </p:nvSpPr>
        <p:spPr bwMode="auto">
          <a:xfrm>
            <a:off x="7413625" y="3873500"/>
            <a:ext cx="1936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20" name="Group 40"/>
          <p:cNvGrpSpPr/>
          <p:nvPr/>
        </p:nvGrpSpPr>
        <p:grpSpPr bwMode="auto">
          <a:xfrm>
            <a:off x="7824788" y="3330575"/>
            <a:ext cx="1020762" cy="976313"/>
            <a:chOff x="4752" y="1680"/>
            <a:chExt cx="672" cy="816"/>
          </a:xfrm>
        </p:grpSpPr>
        <p:sp>
          <p:nvSpPr>
            <p:cNvPr id="16450" name="Rectangle 41"/>
            <p:cNvSpPr>
              <a:spLocks noChangeArrowheads="1"/>
            </p:cNvSpPr>
            <p:nvPr/>
          </p:nvSpPr>
          <p:spPr bwMode="auto">
            <a:xfrm>
              <a:off x="4752" y="1680"/>
              <a:ext cx="28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prstDash val="sysDot"/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党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委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办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公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室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6451" name="Rectangle 42"/>
            <p:cNvSpPr>
              <a:spLocks noChangeArrowheads="1"/>
            </p:cNvSpPr>
            <p:nvPr/>
          </p:nvSpPr>
          <p:spPr bwMode="auto">
            <a:xfrm>
              <a:off x="5136" y="1680"/>
              <a:ext cx="28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prstDash val="sysDot"/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党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委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组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织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部</a:t>
              </a:r>
              <a:endPara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</p:grpSp>
      <p:grpSp>
        <p:nvGrpSpPr>
          <p:cNvPr id="16421" name="Group 43"/>
          <p:cNvGrpSpPr/>
          <p:nvPr/>
        </p:nvGrpSpPr>
        <p:grpSpPr bwMode="auto">
          <a:xfrm>
            <a:off x="6083300" y="4708525"/>
            <a:ext cx="2762250" cy="860425"/>
            <a:chOff x="3652" y="2832"/>
            <a:chExt cx="1820" cy="720"/>
          </a:xfrm>
        </p:grpSpPr>
        <p:sp>
          <p:nvSpPr>
            <p:cNvPr id="16446" name="Line 44"/>
            <p:cNvSpPr>
              <a:spLocks noChangeShapeType="1"/>
            </p:cNvSpPr>
            <p:nvPr/>
          </p:nvSpPr>
          <p:spPr bwMode="auto">
            <a:xfrm>
              <a:off x="3665" y="3408"/>
              <a:ext cx="12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Rectangle 45"/>
            <p:cNvSpPr>
              <a:spLocks noChangeArrowheads="1"/>
            </p:cNvSpPr>
            <p:nvPr/>
          </p:nvSpPr>
          <p:spPr bwMode="auto">
            <a:xfrm>
              <a:off x="3792" y="2832"/>
              <a:ext cx="168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四川二滩建设咨询有限公司</a:t>
              </a:r>
              <a:endPara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6448" name="Rectangle 46"/>
            <p:cNvSpPr>
              <a:spLocks noChangeArrowheads="1"/>
            </p:cNvSpPr>
            <p:nvPr/>
          </p:nvSpPr>
          <p:spPr bwMode="auto">
            <a:xfrm>
              <a:off x="3792" y="3264"/>
              <a:ext cx="168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二滩实业发展有限责任公司</a:t>
              </a:r>
              <a:endPara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6449" name="Line 47"/>
            <p:cNvSpPr>
              <a:spLocks noChangeShapeType="1"/>
            </p:cNvSpPr>
            <p:nvPr/>
          </p:nvSpPr>
          <p:spPr bwMode="auto">
            <a:xfrm>
              <a:off x="3652" y="2976"/>
              <a:ext cx="12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22" name="Line 48"/>
          <p:cNvSpPr>
            <a:spLocks noChangeShapeType="1"/>
          </p:cNvSpPr>
          <p:nvPr/>
        </p:nvSpPr>
        <p:spPr bwMode="auto">
          <a:xfrm flipV="1">
            <a:off x="6070600" y="3044825"/>
            <a:ext cx="0" cy="23510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3" name="Rectangle 49"/>
          <p:cNvSpPr>
            <a:spLocks noChangeArrowheads="1"/>
          </p:cNvSpPr>
          <p:nvPr/>
        </p:nvSpPr>
        <p:spPr bwMode="auto">
          <a:xfrm>
            <a:off x="1268413" y="1438275"/>
            <a:ext cx="1603375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监    事   会</a:t>
            </a:r>
            <a:endParaRPr kumimoji="1" lang="zh-CN" altLang="en-US" sz="18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24" name="Rectangle 50"/>
          <p:cNvSpPr>
            <a:spLocks noChangeArrowheads="1"/>
          </p:cNvSpPr>
          <p:nvPr/>
        </p:nvSpPr>
        <p:spPr bwMode="auto">
          <a:xfrm>
            <a:off x="6149975" y="1897063"/>
            <a:ext cx="1165225" cy="40163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党委书记</a:t>
            </a:r>
            <a:endParaRPr kumimoji="1" lang="zh-CN" altLang="en-US" sz="12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（总经理兼）</a:t>
            </a:r>
            <a:endParaRPr kumimoji="1" lang="zh-CN" altLang="en-US" sz="12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25" name="Rectangle 51"/>
          <p:cNvSpPr>
            <a:spLocks noChangeArrowheads="1"/>
          </p:cNvSpPr>
          <p:nvPr/>
        </p:nvSpPr>
        <p:spPr bwMode="auto">
          <a:xfrm>
            <a:off x="6732588" y="2527300"/>
            <a:ext cx="1165225" cy="4032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党委副书记</a:t>
            </a:r>
            <a:endParaRPr kumimoji="1" lang="zh-CN" altLang="en-US" sz="12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（兼工会主席）</a:t>
            </a:r>
            <a:endParaRPr kumimoji="1" lang="zh-CN" altLang="en-US" sz="12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26" name="Rectangle 52"/>
          <p:cNvSpPr>
            <a:spLocks noChangeArrowheads="1"/>
          </p:cNvSpPr>
          <p:nvPr/>
        </p:nvSpPr>
        <p:spPr bwMode="auto">
          <a:xfrm>
            <a:off x="3454400" y="1954213"/>
            <a:ext cx="1601788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总    经   理</a:t>
            </a:r>
            <a:endParaRPr kumimoji="1" lang="zh-CN" altLang="en-US" sz="18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27" name="Rectangle 53"/>
          <p:cNvSpPr>
            <a:spLocks noChangeArrowheads="1"/>
          </p:cNvSpPr>
          <p:nvPr/>
        </p:nvSpPr>
        <p:spPr bwMode="auto">
          <a:xfrm>
            <a:off x="3454400" y="1438275"/>
            <a:ext cx="1601788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董   事   会</a:t>
            </a:r>
            <a:endParaRPr kumimoji="1" lang="zh-CN" altLang="en-US" sz="18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28" name="Line 54"/>
          <p:cNvSpPr>
            <a:spLocks noChangeShapeType="1"/>
          </p:cNvSpPr>
          <p:nvPr/>
        </p:nvSpPr>
        <p:spPr bwMode="auto">
          <a:xfrm>
            <a:off x="2871788" y="1611313"/>
            <a:ext cx="5826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9" name="Line 55"/>
          <p:cNvSpPr>
            <a:spLocks noChangeShapeType="1"/>
          </p:cNvSpPr>
          <p:nvPr/>
        </p:nvSpPr>
        <p:spPr bwMode="auto">
          <a:xfrm>
            <a:off x="4256088" y="1782763"/>
            <a:ext cx="0" cy="1714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0" name="Rectangle 56"/>
          <p:cNvSpPr>
            <a:spLocks noChangeArrowheads="1"/>
          </p:cNvSpPr>
          <p:nvPr/>
        </p:nvSpPr>
        <p:spPr bwMode="auto">
          <a:xfrm>
            <a:off x="2139950" y="2584450"/>
            <a:ext cx="1374775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总经理助理</a:t>
            </a:r>
            <a:endParaRPr kumimoji="1" lang="zh-CN" altLang="en-US" sz="18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31" name="Rectangle 57"/>
          <p:cNvSpPr>
            <a:spLocks noChangeArrowheads="1"/>
          </p:cNvSpPr>
          <p:nvPr/>
        </p:nvSpPr>
        <p:spPr bwMode="auto">
          <a:xfrm>
            <a:off x="4838700" y="2414588"/>
            <a:ext cx="1165225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副总经理</a:t>
            </a:r>
            <a:endParaRPr kumimoji="1" lang="zh-CN" altLang="en-US" sz="18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32" name="Line 58"/>
          <p:cNvSpPr>
            <a:spLocks noChangeShapeType="1"/>
          </p:cNvSpPr>
          <p:nvPr/>
        </p:nvSpPr>
        <p:spPr bwMode="auto">
          <a:xfrm>
            <a:off x="4256088" y="2298700"/>
            <a:ext cx="0" cy="7461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3" name="Line 59"/>
          <p:cNvSpPr>
            <a:spLocks noChangeShapeType="1"/>
          </p:cNvSpPr>
          <p:nvPr/>
        </p:nvSpPr>
        <p:spPr bwMode="auto">
          <a:xfrm>
            <a:off x="3552825" y="27432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4" name="Line 60"/>
          <p:cNvSpPr>
            <a:spLocks noChangeShapeType="1"/>
          </p:cNvSpPr>
          <p:nvPr/>
        </p:nvSpPr>
        <p:spPr bwMode="auto">
          <a:xfrm>
            <a:off x="4256088" y="2584450"/>
            <a:ext cx="5826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5" name="Line 61"/>
          <p:cNvSpPr>
            <a:spLocks noChangeShapeType="1"/>
          </p:cNvSpPr>
          <p:nvPr/>
        </p:nvSpPr>
        <p:spPr bwMode="auto">
          <a:xfrm>
            <a:off x="5056188" y="2127250"/>
            <a:ext cx="109378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6" name="Line 62"/>
          <p:cNvSpPr>
            <a:spLocks noChangeShapeType="1"/>
          </p:cNvSpPr>
          <p:nvPr/>
        </p:nvSpPr>
        <p:spPr bwMode="auto">
          <a:xfrm>
            <a:off x="6513513" y="2298700"/>
            <a:ext cx="0" cy="10318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7" name="Line 63"/>
          <p:cNvSpPr>
            <a:spLocks noChangeShapeType="1"/>
          </p:cNvSpPr>
          <p:nvPr/>
        </p:nvSpPr>
        <p:spPr bwMode="auto">
          <a:xfrm>
            <a:off x="7315200" y="2127250"/>
            <a:ext cx="1311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8" name="Line 64"/>
          <p:cNvSpPr>
            <a:spLocks noChangeShapeType="1"/>
          </p:cNvSpPr>
          <p:nvPr/>
        </p:nvSpPr>
        <p:spPr bwMode="auto">
          <a:xfrm flipV="1">
            <a:off x="8043863" y="2127250"/>
            <a:ext cx="0" cy="12033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9" name="Line 65"/>
          <p:cNvSpPr>
            <a:spLocks noChangeShapeType="1"/>
          </p:cNvSpPr>
          <p:nvPr/>
        </p:nvSpPr>
        <p:spPr bwMode="auto">
          <a:xfrm flipV="1">
            <a:off x="8626475" y="2127250"/>
            <a:ext cx="0" cy="12033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0" name="Line 66"/>
          <p:cNvSpPr>
            <a:spLocks noChangeShapeType="1"/>
          </p:cNvSpPr>
          <p:nvPr/>
        </p:nvSpPr>
        <p:spPr bwMode="auto">
          <a:xfrm flipV="1">
            <a:off x="7607300" y="2944813"/>
            <a:ext cx="0" cy="9191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1" name="Rectangle 67"/>
          <p:cNvSpPr>
            <a:spLocks noChangeArrowheads="1"/>
          </p:cNvSpPr>
          <p:nvPr/>
        </p:nvSpPr>
        <p:spPr bwMode="auto">
          <a:xfrm>
            <a:off x="731838" y="6151563"/>
            <a:ext cx="1346200" cy="2301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北京办事处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42" name="Line 68"/>
          <p:cNvSpPr>
            <a:spLocks noChangeShapeType="1"/>
          </p:cNvSpPr>
          <p:nvPr/>
        </p:nvSpPr>
        <p:spPr bwMode="auto">
          <a:xfrm>
            <a:off x="547688" y="6324600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3" name="Rectangle 69"/>
          <p:cNvSpPr>
            <a:spLocks noChangeArrowheads="1"/>
          </p:cNvSpPr>
          <p:nvPr/>
        </p:nvSpPr>
        <p:spPr bwMode="auto">
          <a:xfrm>
            <a:off x="2405063" y="4851400"/>
            <a:ext cx="1684337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两河口建设管理局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charset="0"/>
              <a:ea typeface="楷体_GB2312" charset="-122"/>
            </a:endParaRPr>
          </a:p>
        </p:txBody>
      </p:sp>
      <p:sp>
        <p:nvSpPr>
          <p:cNvPr id="16444" name="Line 70"/>
          <p:cNvSpPr>
            <a:spLocks noChangeShapeType="1"/>
          </p:cNvSpPr>
          <p:nvPr/>
        </p:nvSpPr>
        <p:spPr bwMode="auto">
          <a:xfrm>
            <a:off x="2195513" y="5024438"/>
            <a:ext cx="19208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5" name="Text Box 71"/>
          <p:cNvSpPr txBox="1">
            <a:spLocks noChangeArrowheads="1"/>
          </p:cNvSpPr>
          <p:nvPr/>
        </p:nvSpPr>
        <p:spPr bwMode="auto">
          <a:xfrm>
            <a:off x="395288" y="333375"/>
            <a:ext cx="3398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9900"/>
                </a:solidFill>
                <a:ea typeface="楷体_GB2312" charset="-122"/>
              </a:rPr>
              <a:t>二滩公司组织结构图</a:t>
            </a:r>
            <a:endParaRPr lang="zh-CN" altLang="en-US" sz="2800">
              <a:solidFill>
                <a:srgbClr val="FF9900"/>
              </a:solidFill>
              <a:ea typeface="楷体_GB231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17412" name="Picture 4" descr="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52400" y="304800"/>
            <a:ext cx="61452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3600">
                <a:solidFill>
                  <a:srgbClr val="FF9900"/>
                </a:solidFill>
                <a:latin typeface="Times New Roman" panose="02020603050405020304" charset="0"/>
                <a:ea typeface="黑体" panose="02010609060101010101" pitchFamily="49" charset="-122"/>
                <a:cs typeface="楷体_GB2312" charset="-122"/>
              </a:rPr>
              <a:t>——</a:t>
            </a:r>
            <a:r>
              <a:rPr kumimoji="1" lang="zh-CN" altLang="en-US" sz="36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charset="-122"/>
              </a:rPr>
              <a:t>锦屏建设管理局组织结构</a:t>
            </a:r>
            <a:endParaRPr kumimoji="1" lang="zh-CN" altLang="en-US" sz="360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 charset="-122"/>
            </a:endParaRPr>
          </a:p>
        </p:txBody>
      </p:sp>
      <p:grpSp>
        <p:nvGrpSpPr>
          <p:cNvPr id="17414" name="Group 6"/>
          <p:cNvGrpSpPr/>
          <p:nvPr/>
        </p:nvGrpSpPr>
        <p:grpSpPr bwMode="auto">
          <a:xfrm>
            <a:off x="722313" y="2060575"/>
            <a:ext cx="7594600" cy="3409950"/>
            <a:chOff x="455" y="1644"/>
            <a:chExt cx="4784" cy="2148"/>
          </a:xfrm>
        </p:grpSpPr>
        <p:sp>
          <p:nvSpPr>
            <p:cNvPr id="17415" name="Line 7"/>
            <p:cNvSpPr>
              <a:spLocks noChangeShapeType="1"/>
            </p:cNvSpPr>
            <p:nvPr/>
          </p:nvSpPr>
          <p:spPr bwMode="auto">
            <a:xfrm>
              <a:off x="2904" y="1910"/>
              <a:ext cx="6" cy="102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1220" y="2069"/>
              <a:ext cx="916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总工程师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 flipV="1">
              <a:off x="630" y="2898"/>
              <a:ext cx="4443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62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Rectangle 11"/>
            <p:cNvSpPr>
              <a:spLocks noChangeArrowheads="1"/>
            </p:cNvSpPr>
            <p:nvPr/>
          </p:nvSpPr>
          <p:spPr bwMode="auto">
            <a:xfrm>
              <a:off x="3657" y="1933"/>
              <a:ext cx="915" cy="2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副局长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20" name="Rectangle 12"/>
            <p:cNvSpPr>
              <a:spLocks noChangeArrowheads="1"/>
            </p:cNvSpPr>
            <p:nvPr/>
          </p:nvSpPr>
          <p:spPr bwMode="auto">
            <a:xfrm>
              <a:off x="3665" y="2341"/>
              <a:ext cx="915" cy="2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总会计师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>
              <a:off x="1144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2409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2912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342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077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451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Rectangle 19"/>
            <p:cNvSpPr>
              <a:spLocks noChangeArrowheads="1"/>
            </p:cNvSpPr>
            <p:nvPr/>
          </p:nvSpPr>
          <p:spPr bwMode="auto">
            <a:xfrm>
              <a:off x="455" y="3109"/>
              <a:ext cx="396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办公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室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28" name="Rectangle 20"/>
            <p:cNvSpPr>
              <a:spLocks noChangeArrowheads="1"/>
            </p:cNvSpPr>
            <p:nvPr/>
          </p:nvSpPr>
          <p:spPr bwMode="auto">
            <a:xfrm>
              <a:off x="975" y="3108"/>
              <a:ext cx="475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计划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合同部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29" name="Rectangle 21"/>
            <p:cNvSpPr>
              <a:spLocks noChangeArrowheads="1"/>
            </p:cNvSpPr>
            <p:nvPr/>
          </p:nvSpPr>
          <p:spPr bwMode="auto">
            <a:xfrm>
              <a:off x="2215" y="3109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技术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二部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0" name="Rectangle 22"/>
            <p:cNvSpPr>
              <a:spLocks noChangeArrowheads="1"/>
            </p:cNvSpPr>
            <p:nvPr/>
          </p:nvSpPr>
          <p:spPr bwMode="auto">
            <a:xfrm>
              <a:off x="2735" y="3108"/>
              <a:ext cx="394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工程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一部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1" name="Rectangle 23"/>
            <p:cNvSpPr>
              <a:spLocks noChangeArrowheads="1"/>
            </p:cNvSpPr>
            <p:nvPr/>
          </p:nvSpPr>
          <p:spPr bwMode="auto">
            <a:xfrm>
              <a:off x="3258" y="3109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工程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二部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2" name="Rectangle 24"/>
            <p:cNvSpPr>
              <a:spLocks noChangeArrowheads="1"/>
            </p:cNvSpPr>
            <p:nvPr/>
          </p:nvSpPr>
          <p:spPr bwMode="auto">
            <a:xfrm>
              <a:off x="4903" y="3108"/>
              <a:ext cx="336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综合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管理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3" name="Rectangle 25"/>
            <p:cNvSpPr>
              <a:spLocks noChangeArrowheads="1"/>
            </p:cNvSpPr>
            <p:nvPr/>
          </p:nvSpPr>
          <p:spPr bwMode="auto">
            <a:xfrm>
              <a:off x="4346" y="3109"/>
              <a:ext cx="394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机电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物资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2918" y="2085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27"/>
            <p:cNvSpPr>
              <a:spLocks noChangeShapeType="1"/>
            </p:cNvSpPr>
            <p:nvPr/>
          </p:nvSpPr>
          <p:spPr bwMode="auto">
            <a:xfrm>
              <a:off x="2918" y="2455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28"/>
            <p:cNvSpPr>
              <a:spLocks noChangeShapeType="1"/>
            </p:cNvSpPr>
            <p:nvPr/>
          </p:nvSpPr>
          <p:spPr bwMode="auto">
            <a:xfrm>
              <a:off x="2161" y="2223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Rectangle 29"/>
            <p:cNvSpPr>
              <a:spLocks noChangeArrowheads="1"/>
            </p:cNvSpPr>
            <p:nvPr/>
          </p:nvSpPr>
          <p:spPr bwMode="auto">
            <a:xfrm>
              <a:off x="2213" y="1644"/>
              <a:ext cx="1371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局长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38" name="Line 30"/>
            <p:cNvSpPr>
              <a:spLocks noChangeShapeType="1"/>
            </p:cNvSpPr>
            <p:nvPr/>
          </p:nvSpPr>
          <p:spPr bwMode="auto">
            <a:xfrm>
              <a:off x="1819" y="2902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Rectangle 31"/>
            <p:cNvSpPr>
              <a:spLocks noChangeArrowheads="1"/>
            </p:cNvSpPr>
            <p:nvPr/>
          </p:nvSpPr>
          <p:spPr bwMode="auto">
            <a:xfrm>
              <a:off x="1625" y="3107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技术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一部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40" name="Line 32"/>
            <p:cNvSpPr>
              <a:spLocks noChangeShapeType="1"/>
            </p:cNvSpPr>
            <p:nvPr/>
          </p:nvSpPr>
          <p:spPr bwMode="auto">
            <a:xfrm>
              <a:off x="3971" y="2899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Rectangle 33"/>
            <p:cNvSpPr>
              <a:spLocks noChangeArrowheads="1"/>
            </p:cNvSpPr>
            <p:nvPr/>
          </p:nvSpPr>
          <p:spPr bwMode="auto">
            <a:xfrm>
              <a:off x="3801" y="3104"/>
              <a:ext cx="394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财务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部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42" name="Rectangle 34"/>
            <p:cNvSpPr>
              <a:spLocks noChangeArrowheads="1"/>
            </p:cNvSpPr>
            <p:nvPr/>
          </p:nvSpPr>
          <p:spPr bwMode="auto">
            <a:xfrm>
              <a:off x="1229" y="2529"/>
              <a:ext cx="916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charset="0"/>
                  <a:ea typeface="楷体_GB2312" charset="-122"/>
                </a:rPr>
                <a:t>局长助理</a:t>
              </a:r>
              <a:endParaRPr kumimoji="1" lang="zh-CN" altLang="en-US" sz="1600">
                <a:solidFill>
                  <a:srgbClr val="000066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>
              <a:off x="2170" y="2683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18436" name="Picture 4" descr="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04800" y="381000"/>
            <a:ext cx="482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9900"/>
                </a:solidFill>
                <a:latin typeface="Times New Roman" panose="02020603050405020304" charset="0"/>
                <a:ea typeface="黑体" panose="02010609060101010101" pitchFamily="49" charset="-122"/>
                <a:cs typeface="楷体_GB2312" charset="-122"/>
              </a:rPr>
              <a:t>——</a:t>
            </a:r>
            <a:r>
              <a:rPr kumimoji="1" lang="zh-CN" altLang="en-US" sz="28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charset="-122"/>
              </a:rPr>
              <a:t>二滩水力发电厂组织结构</a:t>
            </a:r>
            <a:endParaRPr kumimoji="1" lang="zh-CN" altLang="en-US" sz="280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 charset="-122"/>
            </a:endParaRPr>
          </a:p>
        </p:txBody>
      </p:sp>
      <p:grpSp>
        <p:nvGrpSpPr>
          <p:cNvPr id="18438" name="Group 6"/>
          <p:cNvGrpSpPr/>
          <p:nvPr/>
        </p:nvGrpSpPr>
        <p:grpSpPr bwMode="auto">
          <a:xfrm>
            <a:off x="838200" y="1752600"/>
            <a:ext cx="7426325" cy="4437063"/>
            <a:chOff x="698" y="1104"/>
            <a:chExt cx="4678" cy="2795"/>
          </a:xfrm>
        </p:grpSpPr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>
              <a:off x="3024" y="1296"/>
              <a:ext cx="0" cy="100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2390" y="1104"/>
              <a:ext cx="1245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厂长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>
              <a:off x="5235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5096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机械班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1171" y="3157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>
              <a:off x="4554" y="2898"/>
              <a:ext cx="0" cy="72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1021" y="230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>
              <a:off x="2166" y="2898"/>
              <a:ext cx="0" cy="59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3190" y="315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>
              <a:off x="3532" y="3152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3197" y="3152"/>
              <a:ext cx="3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3375" y="2712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2512" y="3147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2846" y="3155"/>
              <a:ext cx="0" cy="197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2509" y="3147"/>
              <a:ext cx="33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2691" y="2709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821" y="3152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>
              <a:off x="828" y="3152"/>
              <a:ext cx="33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>
              <a:off x="1005" y="2712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>
              <a:off x="3376" y="230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698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总务组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1035" y="3299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信息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组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2040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物资组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2381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运行值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2722" y="3299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设备组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3052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水工班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3404" y="3288"/>
              <a:ext cx="282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水调班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66" name="Line 34"/>
            <p:cNvSpPr>
              <a:spLocks noChangeShapeType="1"/>
            </p:cNvSpPr>
            <p:nvPr/>
          </p:nvSpPr>
          <p:spPr bwMode="auto">
            <a:xfrm>
              <a:off x="1025" y="2306"/>
              <a:ext cx="3527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35"/>
            <p:cNvSpPr>
              <a:spLocks noChangeShapeType="1"/>
            </p:cNvSpPr>
            <p:nvPr/>
          </p:nvSpPr>
          <p:spPr bwMode="auto">
            <a:xfrm>
              <a:off x="4554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>
              <a:off x="2706" y="2308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>
              <a:off x="1840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38"/>
            <p:cNvSpPr>
              <a:spLocks noChangeShapeType="1"/>
            </p:cNvSpPr>
            <p:nvPr/>
          </p:nvSpPr>
          <p:spPr bwMode="auto">
            <a:xfrm>
              <a:off x="2174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Rectangle 39"/>
            <p:cNvSpPr>
              <a:spLocks noChangeArrowheads="1"/>
            </p:cNvSpPr>
            <p:nvPr/>
          </p:nvSpPr>
          <p:spPr bwMode="auto">
            <a:xfrm>
              <a:off x="872" y="2436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办公室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1706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财务部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2040" y="2438"/>
              <a:ext cx="280" cy="5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经管部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2560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运行部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5" name="Rectangle 43"/>
            <p:cNvSpPr>
              <a:spLocks noChangeArrowheads="1"/>
            </p:cNvSpPr>
            <p:nvPr/>
          </p:nvSpPr>
          <p:spPr bwMode="auto">
            <a:xfrm>
              <a:off x="3234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水工部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6" name="Rectangle 44"/>
            <p:cNvSpPr>
              <a:spLocks noChangeArrowheads="1"/>
            </p:cNvSpPr>
            <p:nvPr/>
          </p:nvSpPr>
          <p:spPr bwMode="auto">
            <a:xfrm>
              <a:off x="4428" y="2441"/>
              <a:ext cx="281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检修部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77" name="Line 45"/>
            <p:cNvSpPr>
              <a:spLocks noChangeShapeType="1"/>
            </p:cNvSpPr>
            <p:nvPr/>
          </p:nvSpPr>
          <p:spPr bwMode="auto">
            <a:xfrm>
              <a:off x="3876" y="3149"/>
              <a:ext cx="136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46"/>
            <p:cNvSpPr>
              <a:spLocks noChangeShapeType="1"/>
            </p:cNvSpPr>
            <p:nvPr/>
          </p:nvSpPr>
          <p:spPr bwMode="auto">
            <a:xfrm>
              <a:off x="3883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47"/>
            <p:cNvSpPr>
              <a:spLocks noChangeShapeType="1"/>
            </p:cNvSpPr>
            <p:nvPr/>
          </p:nvSpPr>
          <p:spPr bwMode="auto">
            <a:xfrm>
              <a:off x="4228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Line 48"/>
            <p:cNvSpPr>
              <a:spLocks noChangeShapeType="1"/>
            </p:cNvSpPr>
            <p:nvPr/>
          </p:nvSpPr>
          <p:spPr bwMode="auto">
            <a:xfrm>
              <a:off x="4888" y="3152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Line 49"/>
            <p:cNvSpPr>
              <a:spLocks noChangeShapeType="1"/>
            </p:cNvSpPr>
            <p:nvPr/>
          </p:nvSpPr>
          <p:spPr bwMode="auto">
            <a:xfrm>
              <a:off x="1521" y="2304"/>
              <a:ext cx="0" cy="1201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Rectangle 50"/>
            <p:cNvSpPr>
              <a:spLocks noChangeArrowheads="1"/>
            </p:cNvSpPr>
            <p:nvPr/>
          </p:nvSpPr>
          <p:spPr bwMode="auto">
            <a:xfrm>
              <a:off x="3746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自动班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4087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通信班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84" name="Rectangle 52"/>
            <p:cNvSpPr>
              <a:spLocks noChangeArrowheads="1"/>
            </p:cNvSpPr>
            <p:nvPr/>
          </p:nvSpPr>
          <p:spPr bwMode="auto">
            <a:xfrm>
              <a:off x="4428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电气班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85" name="Rectangle 53"/>
            <p:cNvSpPr>
              <a:spLocks noChangeArrowheads="1"/>
            </p:cNvSpPr>
            <p:nvPr/>
          </p:nvSpPr>
          <p:spPr bwMode="auto">
            <a:xfrm>
              <a:off x="4762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试验班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86" name="Rectangle 54"/>
            <p:cNvSpPr>
              <a:spLocks noChangeArrowheads="1"/>
            </p:cNvSpPr>
            <p:nvPr/>
          </p:nvSpPr>
          <p:spPr bwMode="auto">
            <a:xfrm>
              <a:off x="1373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charset="0"/>
                  <a:ea typeface="楷体_GB2312" charset="-122"/>
                </a:rPr>
                <a:t>人事组</a:t>
              </a:r>
              <a:endParaRPr lang="zh-CN" altLang="en-US" sz="1800">
                <a:solidFill>
                  <a:schemeClr val="tx1"/>
                </a:solidFill>
                <a:latin typeface="Times New Roman" panose="02020603050405020304" charset="0"/>
                <a:ea typeface="楷体_GB2312" charset="-122"/>
              </a:endParaRPr>
            </a:p>
          </p:txBody>
        </p:sp>
        <p:sp>
          <p:nvSpPr>
            <p:cNvPr id="18487" name="Line 55"/>
            <p:cNvSpPr>
              <a:spLocks noChangeShapeType="1"/>
            </p:cNvSpPr>
            <p:nvPr/>
          </p:nvSpPr>
          <p:spPr bwMode="auto">
            <a:xfrm>
              <a:off x="2256" y="1680"/>
              <a:ext cx="148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Rectangle 56"/>
            <p:cNvSpPr>
              <a:spLocks noChangeArrowheads="1"/>
            </p:cNvSpPr>
            <p:nvPr/>
          </p:nvSpPr>
          <p:spPr bwMode="auto">
            <a:xfrm>
              <a:off x="1488" y="1536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总工</a:t>
              </a:r>
              <a:endParaRPr kumimoji="1" lang="zh-CN" altLang="en-US" sz="180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cs typeface="楷体_GB2312" charset="-122"/>
              </a:endParaRPr>
            </a:p>
          </p:txBody>
        </p:sp>
        <p:sp>
          <p:nvSpPr>
            <p:cNvPr id="18489" name="Rectangle 57"/>
            <p:cNvSpPr>
              <a:spLocks noChangeArrowheads="1"/>
            </p:cNvSpPr>
            <p:nvPr/>
          </p:nvSpPr>
          <p:spPr bwMode="auto">
            <a:xfrm>
              <a:off x="3744" y="1536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副厂长</a:t>
              </a:r>
              <a:endParaRPr kumimoji="1" lang="zh-CN" altLang="en-US" sz="180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cs typeface="楷体_GB2312" charset="-122"/>
              </a:endParaRPr>
            </a:p>
          </p:txBody>
        </p:sp>
        <p:sp>
          <p:nvSpPr>
            <p:cNvPr id="18490" name="Rectangle 58"/>
            <p:cNvSpPr>
              <a:spLocks noChangeArrowheads="1"/>
            </p:cNvSpPr>
            <p:nvPr/>
          </p:nvSpPr>
          <p:spPr bwMode="auto">
            <a:xfrm>
              <a:off x="3744" y="1920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厂长助理</a:t>
              </a:r>
              <a:endParaRPr kumimoji="1" lang="zh-CN" altLang="en-US" sz="180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cs typeface="楷体_GB2312" charset="-122"/>
              </a:endParaRPr>
            </a:p>
          </p:txBody>
        </p:sp>
        <p:sp>
          <p:nvSpPr>
            <p:cNvPr id="18491" name="Line 59"/>
            <p:cNvSpPr>
              <a:spLocks noChangeShapeType="1"/>
            </p:cNvSpPr>
            <p:nvPr/>
          </p:nvSpPr>
          <p:spPr bwMode="auto">
            <a:xfrm>
              <a:off x="3024" y="2064"/>
              <a:ext cx="72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6000" i="1">
                <a:solidFill>
                  <a:srgbClr val="800000"/>
                </a:solidFill>
              </a:rPr>
              <a:t>QUESTION?</a:t>
            </a:r>
            <a:endParaRPr lang="en-US" altLang="zh-CN" sz="6000" i="1">
              <a:solidFill>
                <a:srgbClr val="800000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OTI0OWQxZGJjNDE2MzIxNDlmMGQ4ZDUyYzcyZTE1MzkifQ=="/>
  <p:tag name="commondata" val="eyJoZGlkIjoiMDUyNTk2M2IyMzU4MzVkNTcwMTc5ZTNjMDhlZjc2NjkifQ=="/>
</p:tagLst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楷体"/>
        <a:ea typeface="楷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defRPr kumimoji="0" lang="en-US" sz="40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anose="020B0604020202020204" pitchFamily="34" charset="0"/>
            <a:ea typeface="楷体_GB2312"/>
            <a:cs typeface="楷体_GB231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defRPr kumimoji="0" lang="en-US" sz="40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anose="020B0604020202020204" pitchFamily="34" charset="0"/>
            <a:ea typeface="楷体_GB2312"/>
            <a:cs typeface="楷体_GB2312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演示</Application>
  <PresentationFormat>全屏显示(4:3)</PresentationFormat>
  <Paragraphs>517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楷体_GB2312</vt:lpstr>
      <vt:lpstr>新宋体</vt:lpstr>
      <vt:lpstr>楷体_GB2312</vt:lpstr>
      <vt:lpstr>Times</vt:lpstr>
      <vt:lpstr>楷体</vt:lpstr>
      <vt:lpstr>Times</vt:lpstr>
      <vt:lpstr>Times New Roman</vt:lpstr>
      <vt:lpstr>黑体</vt:lpstr>
      <vt:lpstr>仿宋_GB2312</vt:lpstr>
      <vt:lpstr>微软雅黑</vt:lpstr>
      <vt:lpstr>Arial Unicode MS</vt:lpstr>
      <vt:lpstr>仿宋</vt:lpstr>
      <vt:lpstr>Blank Presentation</vt:lpstr>
      <vt:lpstr>工程经济学  项目可行性研究: 组织、实施与进度安排</vt:lpstr>
      <vt:lpstr>可行性研究        工程经济学</vt:lpstr>
      <vt:lpstr>Project Phases</vt:lpstr>
      <vt:lpstr>Scheduling Techniques</vt:lpstr>
      <vt:lpstr>PowerPoint 演示文稿</vt:lpstr>
      <vt:lpstr>Critical Path Method</vt:lpstr>
      <vt:lpstr>Operation strategies</vt:lpstr>
      <vt:lpstr>企业组织和劳动定员</vt:lpstr>
      <vt:lpstr>PowerPoint 演示文稿</vt:lpstr>
      <vt:lpstr>三峡总公司</vt:lpstr>
      <vt:lpstr>PowerPoint 演示文稿</vt:lpstr>
      <vt:lpstr>PowerPoint 演示文稿</vt:lpstr>
      <vt:lpstr>PowerPoint 演示文稿</vt:lpstr>
      <vt:lpstr>PowerPoint 演示文稿</vt:lpstr>
    </vt:vector>
  </TitlesOfParts>
  <Company>KAGAN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飞光</cp:lastModifiedBy>
  <cp:revision>2381</cp:revision>
  <dcterms:created xsi:type="dcterms:W3CDTF">2006-03-30T18:33:00Z</dcterms:created>
  <dcterms:modified xsi:type="dcterms:W3CDTF">2023-11-22T11:32:44Z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9A168203BE144F8AB4C29ABEDB90710D</vt:lpwstr>
  </property>
  <property fmtid="{D5CDD505-2E9C-101B-9397-08002B2CF9AE}" pid="3" name="KSOProductBuildVer">
    <vt:lpwstr>2052-12.1.0.15712</vt:lpwstr>
  </property>
</Properties>
</file>