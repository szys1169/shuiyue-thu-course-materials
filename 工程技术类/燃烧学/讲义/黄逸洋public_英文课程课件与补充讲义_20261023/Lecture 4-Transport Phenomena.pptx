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1B0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1" autoAdjust="0"/>
    <p:restoredTop sz="94040" autoAdjust="0"/>
  </p:normalViewPr>
  <p:slideViewPr>
    <p:cSldViewPr>
      <p:cViewPr varScale="1">
        <p:scale>
          <a:sx n="108" d="100"/>
          <a:sy n="108" d="100"/>
        </p:scale>
        <p:origin x="171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0E10019-1B7C-4517-BA00-4B722064D50D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0FD9971-D844-4016-8828-13C7665F3D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12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1005DDC-C27D-4BF0-904F-6A22BE5228B6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CB84D6-73E4-40BF-A11C-8E209F4A3B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0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CB84D6-73E4-40BF-A11C-8E209F4A3BE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2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ED470-E00A-4B06-97D9-6AD06290731E}" type="datetimeFigureOut">
              <a:rPr lang="en-US" smtClean="0"/>
              <a:pPr/>
              <a:t>5/29/2019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F98E3-7BEE-4C0F-AD9D-CC6F94B2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Ch3. Transport Phenomena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9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Transport of </a:t>
            </a:r>
            <a:br>
              <a:rPr lang="en-US" dirty="0" smtClean="0"/>
            </a:br>
            <a:r>
              <a:rPr lang="en-US" dirty="0" smtClean="0"/>
              <a:t>Mass, Momentum and Energy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448175"/>
            <a:ext cx="371475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33528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1" y="2105025"/>
            <a:ext cx="448627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862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Mass, </a:t>
            </a:r>
            <a:r>
              <a:rPr lang="en-US" dirty="0" smtClean="0"/>
              <a:t>Momentum</a:t>
            </a:r>
            <a:r>
              <a:rPr lang="en-US" dirty="0"/>
              <a:t>, and </a:t>
            </a:r>
            <a:r>
              <a:rPr lang="en-US" dirty="0" smtClean="0"/>
              <a:t>Energy Flux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flux of a quantity,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, is defined as the amount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 across a unit area and unit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ΔΦ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Δ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 smtClean="0"/>
                  <a:t>Intensive quantities: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𝜙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Φ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M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𝜙</m:t>
                            </m:r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𝑚𝑎𝑠𝑠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𝑜𝑓</m:t>
                            </m:r>
                            <m:r>
                              <a:rPr lang="en-US" i="1">
                                <a:latin typeface="Cambria Math"/>
                              </a:rPr>
                              <m:t>  </m:t>
                            </m:r>
                            <m:r>
                              <a:rPr lang="en-US" i="1">
                                <a:latin typeface="Cambria Math"/>
                              </a:rPr>
                              <m:t>𝑡h𝑒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𝑖𝑡h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𝑠𝑝𝑒𝑐𝑖𝑒𝑠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𝜙</m:t>
                            </m:r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𝑉</m:t>
                                </m:r>
                              </m:e>
                            </m:acc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𝑚𝑜𝑚𝑒𝑛𝑡𝑢𝑚</m:t>
                            </m:r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𝜙</m:t>
                            </m:r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𝑒𝑛𝑒𝑟𝑔𝑦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2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Flux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Φ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𝑚</m:t>
                      </m:r>
                      <m:r>
                        <a:rPr lang="en-US" i="1">
                          <a:latin typeface="Cambria Math"/>
                        </a:rPr>
                        <m:t>𝜙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𝜌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i="1" dirty="0" smtClean="0"/>
                  <a:t>n:</a:t>
                </a:r>
                <a:r>
                  <a:rPr lang="en-US" dirty="0" smtClean="0"/>
                  <a:t> number </a:t>
                </a:r>
                <a:r>
                  <a:rPr lang="en-US" dirty="0"/>
                  <a:t>density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𝜌</m:t>
                    </m:r>
                  </m:oMath>
                </a14:m>
                <a:r>
                  <a:rPr lang="en-US" dirty="0" smtClean="0"/>
                  <a:t>:</a:t>
                </a:r>
                <a:r>
                  <a:rPr lang="en-US" dirty="0"/>
                  <a:t> </a:t>
                </a:r>
                <a:r>
                  <a:rPr lang="en-US" dirty="0" smtClean="0"/>
                  <a:t>density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𝑙</m:t>
                    </m:r>
                  </m:oMath>
                </a14:m>
                <a:r>
                  <a:rPr lang="en-US" dirty="0" smtClean="0"/>
                  <a:t>:</a:t>
                </a:r>
                <a:r>
                  <a:rPr lang="en-US" dirty="0"/>
                  <a:t> </a:t>
                </a:r>
                <a:r>
                  <a:rPr lang="en-US" dirty="0" smtClean="0"/>
                  <a:t>mean </a:t>
                </a:r>
                <a:r>
                  <a:rPr lang="en-US" dirty="0"/>
                  <a:t>free path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𝜙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dirty="0" smtClean="0"/>
                  <a:t>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𝜙</m:t>
                    </m:r>
                  </m:oMath>
                </a14:m>
                <a:r>
                  <a:rPr lang="en-US" dirty="0" smtClean="0"/>
                  <a:t>-dependent</a:t>
                </a:r>
                <a:br>
                  <a:rPr lang="en-US" dirty="0" smtClean="0"/>
                </a:br>
                <a:r>
                  <a:rPr lang="en-US" dirty="0" smtClean="0"/>
                  <a:t>constant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276600"/>
            <a:ext cx="5142391" cy="289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Transport </a:t>
            </a:r>
            <a:r>
              <a:rPr lang="en-US" dirty="0" smtClean="0"/>
              <a:t>Coefficients </a:t>
            </a:r>
            <a:r>
              <a:rPr lang="en-US" dirty="0"/>
              <a:t>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Molecular Collisions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05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33400"/>
                <a:ext cx="8229600" cy="55927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  <m:r>
                            <a:rPr lang="en-US" i="1">
                              <a:latin typeface="Cambria Math"/>
                            </a:rPr>
                            <m:t>𝜙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𝜙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𝜌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8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𝑙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binary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collision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latin typeface="Cambria Math"/>
                        </a:rPr>
                        <m:t>~</m:t>
                      </m:r>
                      <m:r>
                        <a:rPr lang="en-US" b="0" i="1" smtClean="0">
                          <a:latin typeface="Cambria Math"/>
                        </a:rPr>
                        <m:t>𝜌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~−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𝜙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</a:rPr>
                        <m:t>𝑇</m:t>
                      </m:r>
                      <m:r>
                        <a:rPr lang="en-US" b="0" i="1" smtClean="0">
                          <a:latin typeface="Cambria Math"/>
                        </a:rPr>
                        <m:t>) </m:t>
                      </m:r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33400"/>
                <a:ext cx="8229600" cy="55927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46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Laws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𝜙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e>
                    </m:acc>
                    <m:r>
                      <a:rPr lang="en-US" i="1">
                        <a:latin typeface="Cambria Math"/>
                      </a:rPr>
                      <m:t>~−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𝜙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  <m:r>
                      <a:rPr lang="en-US">
                        <a:latin typeface="Cambria Math"/>
                      </a:rPr>
                      <m:t>𝛻</m:t>
                    </m:r>
                    <m:r>
                      <a:rPr lang="en-US" i="1">
                        <a:latin typeface="Cambria Math"/>
                      </a:rPr>
                      <m:t>𝜙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Fick’s </a:t>
                </a:r>
                <a:r>
                  <a:rPr lang="en-US" dirty="0"/>
                  <a:t>Law: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𝛻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Newton’s Law: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u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𝜌𝜈</m:t>
                      </m:r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𝜇</m:t>
                      </m:r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Fourier’s Law: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e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𝑉𝑙</m:t>
                          </m:r>
                        </m:e>
                      </m:acc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𝑒</m:t>
                      </m:r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𝜌𝛼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𝜆</m:t>
                      </m:r>
                      <m:r>
                        <a:rPr lang="en-US">
                          <a:latin typeface="Cambria Math"/>
                        </a:rPr>
                        <m:t>𝛻</m:t>
                      </m:r>
                      <m:r>
                        <a:rPr lang="en-US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62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Dimensionless Numbers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𝑆𝑐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i="1">
                                <a:latin typeface="Cambria Math"/>
                              </a:rPr>
                              <m:t>𝑚𝑖𝑑𝑡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𝑛𝑢𝑚𝑏𝑒𝑟</m:t>
                            </m:r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𝑆𝑐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𝐷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𝑃𝑟𝑎𝑛𝑑𝑡𝑙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𝑛𝑢𝑚𝑏𝑒𝑟</m:t>
                            </m:r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𝑃𝑟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𝜈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𝐿𝑒𝑤𝑖𝑠</m:t>
                            </m:r>
                            <m:r>
                              <a:rPr lang="en-US" i="1">
                                <a:latin typeface="Cambria Math"/>
                              </a:rPr>
                              <m:t> </m:t>
                            </m:r>
                            <m:r>
                              <a:rPr lang="en-US" i="1">
                                <a:latin typeface="Cambria Math"/>
                              </a:rPr>
                              <m:t>𝑛𝑢𝑚𝑒𝑟</m:t>
                            </m:r>
                            <m:r>
                              <a:rPr lang="en-US" i="1">
                                <a:latin typeface="Cambria Math"/>
                              </a:rPr>
                              <m:t>: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𝐿𝑒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=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𝐷</m:t>
                                </m:r>
                              </m:den>
                            </m:f>
                          </m:e>
                        </m:mr>
                      </m:m>
                      <m:r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678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/>
              <a:t>Fuel Vaporization and Stefan Flow (1/2)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371600"/>
                <a:ext cx="4495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1-D steady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r>
                  <a:rPr lang="en-US" sz="2800" dirty="0" smtClean="0"/>
                  <a:t>Continuity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𝜌</m:t>
                      </m:r>
                      <m:r>
                        <a:rPr lang="en-US" sz="2400" b="0" i="1" smtClean="0">
                          <a:latin typeface="Cambria Math"/>
                        </a:rPr>
                        <m:t>𝑢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𝑐𝑜𝑛𝑠𝑡</m:t>
                      </m:r>
                    </m:oMath>
                  </m:oMathPara>
                </a14:m>
                <a:endParaRPr lang="en-US" sz="2400" dirty="0" smtClean="0"/>
              </a:p>
              <a:p>
                <a:r>
                  <a:rPr lang="en-US" sz="2800" dirty="0" smtClean="0"/>
                  <a:t>Species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𝜌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𝐷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 smtClean="0"/>
              </a:p>
              <a:p>
                <a:r>
                  <a:rPr lang="en-US" sz="2800" dirty="0" smtClean="0"/>
                  <a:t>Integrate once</a:t>
                </a: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𝑓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</m:t>
                      </m:r>
                      <m:r>
                        <a:rPr lang="en-US" sz="2400" i="1">
                          <a:latin typeface="Cambria Math"/>
                        </a:rPr>
                        <m:t>𝜌</m:t>
                      </m:r>
                      <m:r>
                        <a:rPr lang="en-US" sz="2400" i="1">
                          <a:latin typeface="Cambria Math"/>
                        </a:rPr>
                        <m:t>𝐷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 smtClean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,  </m:t>
                      </m:r>
                      <m:r>
                        <a:rPr lang="en-US" sz="2400" b="0" i="1" smtClean="0">
                          <a:latin typeface="Cambria Math"/>
                        </a:rPr>
                        <m:t>𝑖𝑓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𝑖</m:t>
                      </m:r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r>
                        <a:rPr lang="en-US" sz="2400" b="0" i="1" smtClean="0">
                          <a:latin typeface="Cambria Math"/>
                        </a:rPr>
                        <m:t>𝑓𝑢𝑒𝑙</m:t>
                      </m:r>
                    </m:oMath>
                  </m:oMathPara>
                </a14:m>
                <a:endParaRPr lang="en-US" sz="2400" b="0" dirty="0" smtClean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=0,  </m:t>
                      </m:r>
                      <m:r>
                        <a:rPr lang="en-US" sz="2400" b="0" i="1" smtClean="0">
                          <a:latin typeface="Cambria Math"/>
                        </a:rPr>
                        <m:t>𝑜𝑡h𝑒𝑟𝑤𝑖𝑠𝑒</m:t>
                      </m:r>
                    </m:oMath>
                  </m:oMathPara>
                </a14:m>
                <a:endParaRPr lang="en-US" sz="2400" dirty="0"/>
              </a:p>
              <a:p>
                <a:endParaRPr lang="en-US" sz="2800" dirty="0" smtClean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371600"/>
                <a:ext cx="4495800" cy="5257800"/>
              </a:xfrm>
              <a:blipFill>
                <a:blip r:embed="rId2"/>
                <a:stretch>
                  <a:fillRect l="-2442" t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07355"/>
            <a:ext cx="4069267" cy="315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38800" y="4876800"/>
                <a:ext cx="2472665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𝜌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876800"/>
                <a:ext cx="2472665" cy="66851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58293" y="5791200"/>
                <a:ext cx="2076018" cy="744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293" y="5791200"/>
                <a:ext cx="2076018" cy="7440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97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/>
              <a:t>Fuel Vaporization and Stefan Flow (2/2)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371600"/>
                <a:ext cx="4495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Energy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𝑑𝑇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𝜆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/>
                                </a:rPr>
                                <m:t>𝑑𝑇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 smtClean="0"/>
              </a:p>
              <a:p>
                <a:r>
                  <a:rPr lang="en-US" sz="2800" dirty="0" smtClean="0"/>
                  <a:t>Integrate once</a:t>
                </a:r>
                <a:endParaRPr lang="en-US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𝑓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r>
                        <a:rPr lang="en-US" sz="2400" i="1">
                          <a:latin typeface="Cambria Math"/>
                        </a:rPr>
                        <m:t>−</m:t>
                      </m:r>
                      <m:r>
                        <a:rPr lang="en-US" sz="2400" b="0" i="1" smtClean="0">
                          <a:latin typeface="Cambria Math"/>
                        </a:rPr>
                        <m:t>𝜆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𝑇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𝑐𝑜𝑛𝑠𝑡</m:t>
                      </m:r>
                    </m:oMath>
                  </m:oMathPara>
                </a14:m>
                <a:endParaRPr lang="en-US" sz="2400" dirty="0" smtClean="0"/>
              </a:p>
              <a:p>
                <a:r>
                  <a:rPr lang="en-US" sz="2800" dirty="0" smtClean="0"/>
                  <a:t>At liquid surface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𝜆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𝑑𝑇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en-US" altLang="zh-CN" sz="2400" baseline="-25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𝑓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is</m:t>
                      </m:r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the</m:t>
                      </m:r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latent</m:t>
                      </m:r>
                      <m:r>
                        <m:rPr>
                          <m:nor/>
                        </m:rPr>
                        <a:rPr lang="en-US" sz="2800" dirty="0"/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heat</m:t>
                      </m:r>
                    </m:oMath>
                  </m:oMathPara>
                </a14:m>
                <a:endParaRPr lang="en-US" sz="2800" dirty="0" smtClean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371600"/>
                <a:ext cx="4495800" cy="5257800"/>
              </a:xfrm>
              <a:blipFill>
                <a:blip r:embed="rId2"/>
                <a:stretch>
                  <a:fillRect l="-2442" t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07355"/>
            <a:ext cx="4069267" cy="315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886417" y="4802075"/>
                <a:ext cx="2476768" cy="762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𝜆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417" y="4802075"/>
                <a:ext cx="2476768" cy="762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953000" y="5627153"/>
                <a:ext cx="2177116" cy="7493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5627153"/>
                <a:ext cx="2177116" cy="7493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23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</p:spPr>
            <p:txBody>
              <a:bodyPr/>
              <a:lstStyle/>
              <a:p>
                <a:r>
                  <a:rPr lang="en-US" dirty="0" smtClean="0"/>
                  <a:t>Compare the solutions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𝐿𝑒</m:t>
                    </m:r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To 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1,0</m:t>
                        </m:r>
                      </m:sub>
                    </m:sSub>
                  </m:oMath>
                </a14:m>
                <a:r>
                  <a:rPr lang="en-US" dirty="0" smtClean="0"/>
                  <a:t> , can solve (1) with </a:t>
                </a:r>
                <a:r>
                  <a:rPr lang="en-US" dirty="0" err="1" smtClean="0"/>
                  <a:t>Clausius-Clapeyron</a:t>
                </a:r>
                <a:r>
                  <a:rPr lang="en-US" dirty="0" smtClean="0"/>
                  <a:t> equation.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  <a:blipFill rotWithShape="1">
                <a:blip r:embed="rId2"/>
                <a:stretch>
                  <a:fillRect l="-1630" t="-1361" b="-2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43000" y="990600"/>
                <a:ext cx="2472665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𝜌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𝐷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990600"/>
                <a:ext cx="2472665" cy="6685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62493" y="1905000"/>
                <a:ext cx="2076018" cy="744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93" y="1905000"/>
                <a:ext cx="2076018" cy="7440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15000" y="990600"/>
                <a:ext cx="2476768" cy="762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𝜆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990600"/>
                <a:ext cx="2476768" cy="76258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12781" y="1941845"/>
                <a:ext cx="2230674" cy="749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81" y="1941845"/>
                <a:ext cx="2230674" cy="7493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29014" y="3429000"/>
                <a:ext cx="1499000" cy="4135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h</m:t>
                          </m:r>
                          <m:r>
                            <a:rPr lang="en-US" sz="2000" i="1">
                              <a:latin typeface="Cambria Math"/>
                            </a:rPr>
                            <m:t>,</m:t>
                          </m:r>
                          <m:r>
                            <a:rPr lang="en-US" sz="2000" i="1">
                              <a:latin typeface="Cambria Math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014" y="3429000"/>
                <a:ext cx="1499000" cy="41351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529014" y="4038600"/>
                <a:ext cx="2625270" cy="704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014" y="4038600"/>
                <a:ext cx="2625270" cy="704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880738" y="4069238"/>
                <a:ext cx="1912318" cy="6789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1.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738" y="4069238"/>
                <a:ext cx="1912318" cy="6789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050822" y="419992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51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Wet-Bulb Temperature, T</a:t>
            </a:r>
            <a:r>
              <a:rPr lang="en-US" baseline="-25000" dirty="0" smtClean="0"/>
              <a:t>0</a:t>
            </a:r>
            <a:endParaRPr lang="en-US" baseline="-250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00633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3886200"/>
            <a:ext cx="7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36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Droplet Vaporization (1/2)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66999"/>
                <a:ext cx="6324600" cy="4063349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1-D steady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r>
                  <a:rPr lang="en-US" sz="2800" dirty="0" smtClean="0"/>
                  <a:t>Continuity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/>
                                </a:rPr>
                                <m:t>𝜌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𝑑𝑟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=0, </m:t>
                      </m:r>
                      <m:r>
                        <a:rPr lang="en-US" sz="2000" b="0" i="1" smtClean="0">
                          <a:latin typeface="Cambria Math"/>
                        </a:rPr>
                        <m:t>𝑜𝑟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=4</m:t>
                      </m:r>
                      <m:r>
                        <a:rPr lang="en-US" sz="2000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𝜌</m:t>
                      </m:r>
                      <m:r>
                        <a:rPr lang="en-US" sz="2000" i="1">
                          <a:latin typeface="Cambria Math"/>
                        </a:rPr>
                        <m:t>𝑢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𝜌</m:t>
                      </m:r>
                      <m:r>
                        <a:rPr lang="en-US" sz="2000" i="1">
                          <a:latin typeface="Cambria Math"/>
                        </a:rPr>
                        <m:t>𝑢𝐴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800" dirty="0" smtClean="0"/>
                  <a:t>Species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𝑑𝑟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𝜌</m:t>
                          </m:r>
                          <m:r>
                            <a:rPr lang="en-US" sz="2000" i="1">
                              <a:latin typeface="Cambria Math"/>
                            </a:rPr>
                            <m:t>𝑢𝐴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𝜌</m:t>
                          </m:r>
                          <m:r>
                            <a:rPr lang="en-US" sz="2000" i="1">
                              <a:latin typeface="Cambria Math"/>
                            </a:rPr>
                            <m:t>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 i="1">
                              <a:latin typeface="Cambria Math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𝑑𝑟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2800" dirty="0" smtClean="0"/>
                  <a:t>Integrate once: </a:t>
                </a:r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66999"/>
                <a:ext cx="6324600" cy="4063349"/>
              </a:xfrm>
              <a:blipFill>
                <a:blip r:embed="rId2"/>
                <a:stretch>
                  <a:fillRect l="-1734" t="-1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641" y="1066800"/>
            <a:ext cx="5120795" cy="2779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90600" y="6024123"/>
                <a:ext cx="3048000" cy="6182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𝜌</m:t>
                      </m:r>
                      <m:r>
                        <a:rPr lang="en-US" i="1">
                          <a:latin typeface="Cambria Math"/>
                        </a:rPr>
                        <m:t>𝐷</m:t>
                      </m:r>
                      <m:r>
                        <a:rPr lang="en-US" b="0" i="1" smtClean="0">
                          <a:latin typeface="Cambria Math"/>
                        </a:rPr>
                        <m:t>4</m:t>
                      </m:r>
                      <m:r>
                        <a:rPr lang="en-US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𝑑𝑟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6024123"/>
                <a:ext cx="3048000" cy="61824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410200" y="5447122"/>
                <a:ext cx="3048000" cy="404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𝜋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5447122"/>
                <a:ext cx="3048000" cy="404983"/>
              </a:xfrm>
              <a:prstGeom prst="rect">
                <a:avLst/>
              </a:prstGeom>
              <a:blipFill rotWithShape="1"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257800" y="6047635"/>
                <a:ext cx="3048000" cy="678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6047635"/>
                <a:ext cx="3048000" cy="6789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23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Droplet Vaporization (2/2)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1"/>
                <a:ext cx="6324600" cy="543494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Work on the energy equation</a:t>
                </a:r>
              </a:p>
              <a:p>
                <a:endParaRPr lang="en-US" sz="2800" dirty="0"/>
              </a:p>
              <a:p>
                <a:endParaRPr lang="en-US" sz="2800" dirty="0" smtClean="0"/>
              </a:p>
              <a:p>
                <a:endParaRPr lang="en-US" sz="2800" dirty="0"/>
              </a:p>
              <a:p>
                <a:r>
                  <a:rPr lang="en-US" sz="2800" dirty="0" smtClean="0"/>
                  <a:t>Compare the solutions,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𝐿𝑒</m:t>
                    </m:r>
                    <m:r>
                      <a:rPr lang="en-US" sz="2800" b="0" i="1" smtClean="0">
                        <a:latin typeface="Cambria Math"/>
                      </a:rPr>
                      <m:t>=1</m:t>
                    </m:r>
                  </m:oMath>
                </a14:m>
                <a:endParaRPr lang="en-US" sz="2800" dirty="0" smtClean="0"/>
              </a:p>
              <a:p>
                <a:endParaRPr lang="en-US" sz="2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1"/>
                <a:ext cx="6324600" cy="5434948"/>
              </a:xfrm>
              <a:blipFill rotWithShape="1">
                <a:blip r:embed="rId2"/>
                <a:stretch>
                  <a:fillRect l="-1638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819400" y="2033745"/>
                <a:ext cx="3048000" cy="404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𝜋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033745"/>
                <a:ext cx="3048000" cy="404983"/>
              </a:xfrm>
              <a:prstGeom prst="rect">
                <a:avLst/>
              </a:prstGeom>
              <a:blipFill rotWithShape="1"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057400" y="4114800"/>
                <a:ext cx="5029200" cy="704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  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114800"/>
                <a:ext cx="5029200" cy="704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8"/>
              <p:cNvSpPr/>
              <p:nvPr/>
            </p:nvSpPr>
            <p:spPr>
              <a:xfrm>
                <a:off x="2819400" y="2572404"/>
                <a:ext cx="3048000" cy="704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572404"/>
                <a:ext cx="3048000" cy="704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082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The d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-Law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1"/>
                <a:ext cx="8153400" cy="543494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800" dirty="0" smtClean="0"/>
                  <a:t> is from vaporization of the liquid phase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b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4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𝜋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𝑠</m:t>
                          </m:r>
                        </m:sub>
                      </m:sSub>
                      <m:func>
                        <m:func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i="1" smtClean="0">
                              <a:latin typeface="Cambria Math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/>
                        </a:rPr>
                        <m:t>𝐷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𝑐𝑜𝑛𝑠𝑡</m:t>
                      </m:r>
                    </m:oMath>
                  </m:oMathPara>
                </a14:m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1"/>
                <a:ext cx="8153400" cy="5434948"/>
              </a:xfrm>
              <a:blipFill rotWithShape="1">
                <a:blip r:embed="rId2"/>
                <a:stretch>
                  <a:fillRect l="-1271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76600"/>
            <a:ext cx="6472918" cy="329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782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134</Words>
  <Application>Microsoft Office PowerPoint</Application>
  <PresentationFormat>全屏显示(4:3)</PresentationFormat>
  <Paragraphs>97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宋体</vt:lpstr>
      <vt:lpstr>Arial</vt:lpstr>
      <vt:lpstr>Calibri</vt:lpstr>
      <vt:lpstr>Cambria Math</vt:lpstr>
      <vt:lpstr>Office Theme</vt:lpstr>
      <vt:lpstr>Ch3. Transport Phenomena</vt:lpstr>
      <vt:lpstr>Transport of  Mass, Momentum and Energy</vt:lpstr>
      <vt:lpstr>Mass, Momentum, and Energy Flux</vt:lpstr>
      <vt:lpstr>Transport Coefficients and  Molecular Collisions</vt:lpstr>
      <vt:lpstr>PowerPoint 演示文稿</vt:lpstr>
      <vt:lpstr>Transport Laws</vt:lpstr>
      <vt:lpstr>Dimensionless Numbers</vt:lpstr>
      <vt:lpstr>Fuel Vaporization and Stefan Flow (1/2)</vt:lpstr>
      <vt:lpstr>Fuel Vaporization and Stefan Flow (2/2)</vt:lpstr>
      <vt:lpstr>PowerPoint 演示文稿</vt:lpstr>
      <vt:lpstr>The Wet-Bulb Temperature, T0</vt:lpstr>
      <vt:lpstr>Droplet Vaporization (1/2)</vt:lpstr>
      <vt:lpstr>Droplet Vaporization (2/2)</vt:lpstr>
      <vt:lpstr>The d2-Law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3239: Combustion and Air Pollution Spring 2009</dc:title>
  <dc:creator>Tianfeng Lu</dc:creator>
  <cp:lastModifiedBy>龚 雪</cp:lastModifiedBy>
  <cp:revision>152</cp:revision>
  <dcterms:created xsi:type="dcterms:W3CDTF">2009-01-21T02:29:58Z</dcterms:created>
  <dcterms:modified xsi:type="dcterms:W3CDTF">2019-05-29T09:38:15Z</dcterms:modified>
</cp:coreProperties>
</file>