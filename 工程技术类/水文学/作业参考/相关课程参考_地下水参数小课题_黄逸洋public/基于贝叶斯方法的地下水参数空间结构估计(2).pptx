
<file path=[Content_Types].xml><?xml version="1.0" encoding="utf-8"?>
<Types xmlns="http://schemas.openxmlformats.org/package/2006/content-types">
  <Default Extension="xml" ContentType="application/xml"/>
  <Default Extension="jpeg" ContentType="image/jpeg"/>
  <Default Extension="png" ContentType="image/png"/>
  <Default Extension="tmp"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3.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Override PartName="/ppt/diagrams/data4.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6"/>
  </p:notesMasterIdLst>
  <p:sldIdLst>
    <p:sldId id="256" r:id="rId2"/>
    <p:sldId id="392" r:id="rId3"/>
    <p:sldId id="419" r:id="rId4"/>
    <p:sldId id="406" r:id="rId5"/>
    <p:sldId id="405" r:id="rId6"/>
    <p:sldId id="420" r:id="rId7"/>
    <p:sldId id="427" r:id="rId8"/>
    <p:sldId id="426" r:id="rId9"/>
    <p:sldId id="430" r:id="rId10"/>
    <p:sldId id="421" r:id="rId11"/>
    <p:sldId id="429" r:id="rId12"/>
    <p:sldId id="428" r:id="rId13"/>
    <p:sldId id="388" r:id="rId14"/>
    <p:sldId id="425"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FB7"/>
    <a:srgbClr val="45C1A4"/>
    <a:srgbClr val="4BACC6"/>
    <a:srgbClr val="B9D5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94" autoAdjust="0"/>
    <p:restoredTop sz="91182" autoAdjust="0"/>
  </p:normalViewPr>
  <p:slideViewPr>
    <p:cSldViewPr>
      <p:cViewPr>
        <p:scale>
          <a:sx n="126" d="100"/>
          <a:sy n="126" d="100"/>
        </p:scale>
        <p:origin x="1024" y="144"/>
      </p:cViewPr>
      <p:guideLst>
        <p:guide orient="horz" pos="1484"/>
        <p:guide pos="2880"/>
      </p:guideLst>
    </p:cSldViewPr>
  </p:slideViewPr>
  <p:notesTextViewPr>
    <p:cViewPr>
      <p:scale>
        <a:sx n="1" d="1"/>
        <a:sy n="1" d="1"/>
      </p:scale>
      <p:origin x="0" y="-264"/>
    </p:cViewPr>
  </p:notesTextViewPr>
  <p:sorterViewPr>
    <p:cViewPr>
      <p:scale>
        <a:sx n="95" d="100"/>
        <a:sy n="95" d="100"/>
      </p:scale>
      <p:origin x="0" y="99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3" Type="http://schemas.openxmlformats.org/officeDocument/2006/relationships/image" Target="../media/image70.png"/><Relationship Id="rId4" Type="http://schemas.openxmlformats.org/officeDocument/2006/relationships/image" Target="../media/image80.png"/><Relationship Id="rId5" Type="http://schemas.openxmlformats.org/officeDocument/2006/relationships/image" Target="../media/image90.png"/><Relationship Id="rId1" Type="http://schemas.openxmlformats.org/officeDocument/2006/relationships/image" Target="../media/image50.png"/><Relationship Id="rId2" Type="http://schemas.openxmlformats.org/officeDocument/2006/relationships/image" Target="../media/image6.png"/></Relationships>
</file>

<file path=ppt/diagrams/_rels/data4.xml.rels><?xml version="1.0" encoding="UTF-8" standalone="yes"?>
<Relationships xmlns="http://schemas.openxmlformats.org/package/2006/relationships"><Relationship Id="rId1" Type="http://schemas.openxmlformats.org/officeDocument/2006/relationships/image" Target="../media/image10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805CB2-8C59-9B4B-BB3B-32409E475F63}" type="doc">
      <dgm:prSet loTypeId="urn:microsoft.com/office/officeart/2005/8/layout/process2" loCatId="" qsTypeId="urn:microsoft.com/office/officeart/2005/8/quickstyle/simple4" qsCatId="simple" csTypeId="urn:microsoft.com/office/officeart/2005/8/colors/accent1_2" csCatId="accent1" phldr="1"/>
      <dgm:spPr/>
    </dgm:pt>
    <mc:AlternateContent xmlns:mc="http://schemas.openxmlformats.org/markup-compatibility/2006" xmlns:a14="http://schemas.microsoft.com/office/drawing/2010/main">
      <mc:Choice Requires="a14">
        <dgm:pt modelId="{007481D5-3900-1A40-B1C2-6375BB5D900F}">
          <dgm:prSet phldrT="[文本]" custT="1"/>
          <dgm:spPr>
            <a:noFill/>
            <a:ln>
              <a:solidFill>
                <a:schemeClr val="tx1"/>
              </a:solidFill>
            </a:ln>
          </dgm:spPr>
          <dgm:t>
            <a:bodyPr/>
            <a:lstStyle/>
            <a:p>
              <a:r>
                <a:rPr lang="zh-CN" altLang="en-US" sz="1100" dirty="0" smtClean="0">
                  <a:solidFill>
                    <a:schemeClr val="tx1"/>
                  </a:solidFill>
                </a:rPr>
                <a:t>给定方差</a:t>
              </a:r>
              <a14:m>
                <m:oMath xmlns:m="http://schemas.openxmlformats.org/officeDocument/2006/math">
                  <m:r>
                    <a:rPr lang="zh-CN" altLang="en-US" sz="1100" i="1">
                      <a:solidFill>
                        <a:schemeClr val="tx1"/>
                      </a:solidFill>
                      <a:latin typeface="Cambria Math" charset="0"/>
                    </a:rPr>
                    <m:t>𝑉</m:t>
                  </m:r>
                  <m:r>
                    <a:rPr lang="en-US" altLang="zh-CN" sz="1100" i="1">
                      <a:solidFill>
                        <a:schemeClr val="tx1"/>
                      </a:solidFill>
                      <a:latin typeface="Cambria Math" charset="0"/>
                    </a:rPr>
                    <m:t>=</m:t>
                  </m:r>
                  <m:r>
                    <a:rPr lang="zh-CN" altLang="en-US" sz="1100" i="1">
                      <a:solidFill>
                        <a:schemeClr val="tx1"/>
                      </a:solidFill>
                      <a:latin typeface="Cambria Math" charset="0"/>
                    </a:rPr>
                    <m:t>𝑣</m:t>
                  </m:r>
                </m:oMath>
              </a14:m>
              <a:r>
                <a:rPr lang="zh-CN" altLang="en-US" sz="1100" dirty="0">
                  <a:solidFill>
                    <a:schemeClr val="tx1"/>
                  </a:solidFill>
                </a:rPr>
                <a:t>，积分尺度</a:t>
              </a:r>
              <a14:m>
                <m:oMath xmlns:m="http://schemas.openxmlformats.org/officeDocument/2006/math">
                  <m:r>
                    <a:rPr lang="zh-CN" altLang="en-US" sz="1100" i="1">
                      <a:solidFill>
                        <a:schemeClr val="tx1"/>
                      </a:solidFill>
                      <a:latin typeface="Cambria Math" charset="0"/>
                    </a:rPr>
                    <m:t>𝐼</m:t>
                  </m:r>
                  <m:r>
                    <a:rPr lang="en-US" altLang="zh-CN" sz="1100" i="1">
                      <a:solidFill>
                        <a:schemeClr val="tx1"/>
                      </a:solidFill>
                      <a:latin typeface="Cambria Math" charset="0"/>
                    </a:rPr>
                    <m:t>=</m:t>
                  </m:r>
                  <m:r>
                    <a:rPr lang="zh-CN" altLang="en-US" sz="1100" i="1">
                      <a:solidFill>
                        <a:schemeClr val="tx1"/>
                      </a:solidFill>
                      <a:latin typeface="Cambria Math" charset="0"/>
                    </a:rPr>
                    <m:t>𝑖</m:t>
                  </m:r>
                </m:oMath>
              </a14:m>
              <a:r>
                <a:rPr lang="zh-CN" altLang="en-US" sz="1100" dirty="0">
                  <a:solidFill>
                    <a:schemeClr val="tx1"/>
                  </a:solidFill>
                </a:rPr>
                <a:t>：</a:t>
              </a:r>
            </a:p>
          </dgm:t>
        </dgm:pt>
      </mc:Choice>
      <mc:Fallback xmlns="">
        <dgm:pt modelId="{007481D5-3900-1A40-B1C2-6375BB5D900F}">
          <dgm:prSet phldrT="[文本]" custT="1"/>
          <dgm:spPr>
            <a:noFill/>
            <a:ln>
              <a:solidFill>
                <a:schemeClr val="tx1"/>
              </a:solidFill>
            </a:ln>
          </dgm:spPr>
          <dgm:t>
            <a:bodyPr/>
            <a:lstStyle/>
            <a:p>
              <a:r>
                <a:rPr lang="zh-CN" altLang="en-US" sz="1100" dirty="0" smtClean="0">
                  <a:solidFill>
                    <a:schemeClr val="tx1"/>
                  </a:solidFill>
                </a:rPr>
                <a:t>给定方差</a:t>
              </a:r>
              <a:r>
                <a:rPr lang="zh-CN" altLang="en-US" sz="1100" i="0">
                  <a:solidFill>
                    <a:schemeClr val="tx1"/>
                  </a:solidFill>
                </a:rPr>
                <a:t>𝑉</a:t>
              </a:r>
              <a:r>
                <a:rPr lang="en-US" altLang="zh-CN" sz="1100" i="0">
                  <a:solidFill>
                    <a:schemeClr val="tx1"/>
                  </a:solidFill>
                </a:rPr>
                <a:t>=</a:t>
              </a:r>
              <a:r>
                <a:rPr lang="zh-CN" altLang="en-US" sz="1100" i="0">
                  <a:solidFill>
                    <a:schemeClr val="tx1"/>
                  </a:solidFill>
                </a:rPr>
                <a:t>𝑣</a:t>
              </a:r>
              <a:r>
                <a:rPr lang="zh-CN" altLang="en-US" sz="1100" dirty="0">
                  <a:solidFill>
                    <a:schemeClr val="tx1"/>
                  </a:solidFill>
                </a:rPr>
                <a:t>，积分尺度</a:t>
              </a:r>
              <a:r>
                <a:rPr lang="zh-CN" altLang="en-US" sz="1100" i="0">
                  <a:solidFill>
                    <a:schemeClr val="tx1"/>
                  </a:solidFill>
                </a:rPr>
                <a:t>𝐼</a:t>
              </a:r>
              <a:r>
                <a:rPr lang="en-US" altLang="zh-CN" sz="1100" i="0">
                  <a:solidFill>
                    <a:schemeClr val="tx1"/>
                  </a:solidFill>
                </a:rPr>
                <a:t>=</a:t>
              </a:r>
              <a:r>
                <a:rPr lang="zh-CN" altLang="en-US" sz="1100" i="0">
                  <a:solidFill>
                    <a:schemeClr val="tx1"/>
                  </a:solidFill>
                </a:rPr>
                <a:t>𝑖</a:t>
              </a:r>
              <a:r>
                <a:rPr lang="zh-CN" altLang="en-US" sz="1100" dirty="0">
                  <a:solidFill>
                    <a:schemeClr val="tx1"/>
                  </a:solidFill>
                </a:rPr>
                <a:t>：</a:t>
              </a:r>
            </a:p>
          </dgm:t>
        </dgm:pt>
      </mc:Fallback>
    </mc:AlternateContent>
    <dgm:pt modelId="{06714BD0-0968-2A43-BCC8-28795A1AFEF4}" type="parTrans" cxnId="{9664A296-A5D6-5F49-9613-DCD62FAE7848}">
      <dgm:prSet/>
      <dgm:spPr/>
      <dgm:t>
        <a:bodyPr/>
        <a:lstStyle/>
        <a:p>
          <a:endParaRPr lang="zh-CN" altLang="en-US"/>
        </a:p>
      </dgm:t>
    </dgm:pt>
    <dgm:pt modelId="{3588B1CB-8CB7-914B-A77C-F88398347303}" type="sibTrans" cxnId="{9664A296-A5D6-5F49-9613-DCD62FAE7848}">
      <dgm:prSet/>
      <dgm:spPr>
        <a:noFill/>
        <a:ln>
          <a:solidFill>
            <a:schemeClr val="tx1"/>
          </a:solidFill>
        </a:ln>
      </dgm:spPr>
      <dgm:t>
        <a:bodyPr/>
        <a:lstStyle/>
        <a:p>
          <a:endParaRPr lang="zh-CN" altLang="en-US"/>
        </a:p>
      </dgm:t>
    </dgm:pt>
    <mc:AlternateContent xmlns:mc="http://schemas.openxmlformats.org/markup-compatibility/2006" xmlns:a14="http://schemas.microsoft.com/office/drawing/2010/main">
      <mc:Choice Requires="a14">
        <dgm:pt modelId="{0ABFC839-7222-8845-84F9-1FF9085EC070}">
          <dgm:prSet phldrT="[文本]" custT="1"/>
          <dgm:spPr>
            <a:noFill/>
            <a:ln>
              <a:solidFill>
                <a:schemeClr val="tx1"/>
              </a:solidFill>
            </a:ln>
          </dgm:spPr>
          <dgm:t>
            <a:bodyPr/>
            <a:lstStyle/>
            <a:p>
              <a:r>
                <a:rPr lang="zh-CN" sz="1100" dirty="0" smtClean="0">
                  <a:solidFill>
                    <a:schemeClr val="tx1"/>
                  </a:solidFill>
                </a:rPr>
                <a:t>构造</a:t>
              </a:r>
              <a14:m>
                <m:oMath xmlns:m="http://schemas.openxmlformats.org/officeDocument/2006/math">
                  <m:r>
                    <a:rPr lang="en-US" altLang="zh-CN" sz="1100" b="0" i="1" smtClean="0">
                      <a:solidFill>
                        <a:schemeClr val="tx1"/>
                      </a:solidFill>
                      <a:latin typeface="Cambria Math" charset="0"/>
                    </a:rPr>
                    <m:t>𝑙𝑛𝑇</m:t>
                  </m:r>
                </m:oMath>
              </a14:m>
              <a:r>
                <a:rPr lang="zh-CN" sz="1100" dirty="0" smtClean="0">
                  <a:solidFill>
                    <a:schemeClr val="tx1"/>
                  </a:solidFill>
                </a:rPr>
                <a:t>服从上述分布</a:t>
              </a:r>
              <a:endParaRPr lang="zh-CN" altLang="en-US" sz="1100" dirty="0">
                <a:solidFill>
                  <a:schemeClr val="tx1"/>
                </a:solidFill>
              </a:endParaRPr>
            </a:p>
          </dgm:t>
        </dgm:pt>
      </mc:Choice>
      <mc:Fallback xmlns="">
        <dgm:pt modelId="{0ABFC839-7222-8845-84F9-1FF9085EC070}">
          <dgm:prSet phldrT="[文本]" custT="1"/>
          <dgm:spPr>
            <a:noFill/>
            <a:ln>
              <a:solidFill>
                <a:schemeClr val="tx1"/>
              </a:solidFill>
            </a:ln>
          </dgm:spPr>
          <dgm:t>
            <a:bodyPr/>
            <a:lstStyle/>
            <a:p>
              <a:r>
                <a:rPr lang="zh-CN" sz="1100" dirty="0" smtClean="0">
                  <a:solidFill>
                    <a:schemeClr val="tx1"/>
                  </a:solidFill>
                </a:rPr>
                <a:t>构造</a:t>
              </a:r>
              <a:r>
                <a:rPr lang="en-US" altLang="zh-CN" sz="1100" b="0" i="0" smtClean="0">
                  <a:solidFill>
                    <a:schemeClr val="tx1"/>
                  </a:solidFill>
                  <a:latin typeface="Cambria Math" charset="0"/>
                </a:rPr>
                <a:t>𝑙𝑛𝑇</a:t>
              </a:r>
              <a:r>
                <a:rPr lang="zh-CN" sz="1100" dirty="0" smtClean="0">
                  <a:solidFill>
                    <a:schemeClr val="tx1"/>
                  </a:solidFill>
                </a:rPr>
                <a:t>服从上述分布</a:t>
              </a:r>
              <a:endParaRPr lang="zh-CN" altLang="en-US" sz="1100" dirty="0">
                <a:solidFill>
                  <a:schemeClr val="tx1"/>
                </a:solidFill>
              </a:endParaRPr>
            </a:p>
          </dgm:t>
        </dgm:pt>
      </mc:Fallback>
    </mc:AlternateContent>
    <dgm:pt modelId="{D610D2C2-440B-0B4A-AD74-BFFE5CA6F379}" type="parTrans" cxnId="{9C891A88-8D59-F142-948D-346E1D4C89EE}">
      <dgm:prSet/>
      <dgm:spPr/>
      <dgm:t>
        <a:bodyPr/>
        <a:lstStyle/>
        <a:p>
          <a:endParaRPr lang="zh-CN" altLang="en-US"/>
        </a:p>
      </dgm:t>
    </dgm:pt>
    <dgm:pt modelId="{93B206C5-14DF-1F48-BD92-E543C7D22776}" type="sibTrans" cxnId="{9C891A88-8D59-F142-948D-346E1D4C89EE}">
      <dgm:prSet/>
      <dgm:spPr>
        <a:noFill/>
        <a:ln>
          <a:solidFill>
            <a:schemeClr val="tx1"/>
          </a:solidFill>
        </a:ln>
      </dgm:spPr>
      <dgm:t>
        <a:bodyPr/>
        <a:lstStyle/>
        <a:p>
          <a:endParaRPr lang="zh-CN" altLang="en-US"/>
        </a:p>
      </dgm:t>
    </dgm:pt>
    <mc:AlternateContent xmlns:mc="http://schemas.openxmlformats.org/markup-compatibility/2006" xmlns:a14="http://schemas.microsoft.com/office/drawing/2010/main">
      <mc:Choice Requires="a14">
        <dgm:pt modelId="{FECFA1FE-6C55-0647-8E60-AEF07A9974FD}">
          <dgm:prSet phldrT="[文本]" custT="1"/>
          <dgm:spPr>
            <a:noFill/>
            <a:ln>
              <a:solidFill>
                <a:schemeClr val="tx1"/>
              </a:solidFill>
            </a:ln>
          </dgm:spPr>
          <dgm:t>
            <a:bodyPr/>
            <a:lstStyle/>
            <a:p>
              <a:r>
                <a:rPr lang="zh-CN" altLang="en-US" sz="1100" dirty="0" smtClean="0">
                  <a:solidFill>
                    <a:schemeClr val="tx1"/>
                  </a:solidFill>
                </a:rPr>
                <a:t>计算</a:t>
              </a:r>
              <a14:m>
                <m:oMath xmlns:m="http://schemas.openxmlformats.org/officeDocument/2006/math">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sub>
                  </m:sSub>
                  <m:r>
                    <a:rPr lang="en-US" altLang="zh-CN" sz="1100" i="1">
                      <a:solidFill>
                        <a:schemeClr val="tx1"/>
                      </a:solidFill>
                      <a:latin typeface="Cambria Math" charset="0"/>
                    </a:rPr>
                    <m:t>(</m:t>
                  </m:r>
                  <m:r>
                    <a:rPr lang="zh-CN" altLang="en-US" sz="1100" i="1">
                      <a:solidFill>
                        <a:schemeClr val="tx1"/>
                      </a:solidFill>
                      <a:latin typeface="Cambria Math" charset="0"/>
                    </a:rPr>
                    <m:t>𝑟</m:t>
                  </m:r>
                  <m:r>
                    <a:rPr lang="en-US" altLang="zh-CN" sz="1100" i="1">
                      <a:solidFill>
                        <a:schemeClr val="tx1"/>
                      </a:solidFill>
                      <a:latin typeface="Cambria Math" charset="0"/>
                    </a:rPr>
                    <m:t>)=</m:t>
                  </m:r>
                  <m:r>
                    <m:rPr>
                      <m:sty m:val="p"/>
                    </m:rPr>
                    <a:rPr lang="en-US" altLang="zh-CN" sz="1100">
                      <a:solidFill>
                        <a:schemeClr val="tx1"/>
                      </a:solidFill>
                      <a:latin typeface="Cambria Math" charset="0"/>
                    </a:rPr>
                    <m:t>exp</m:t>
                  </m:r>
                  <m:r>
                    <a:rPr lang="en-US" altLang="zh-CN" sz="1100" i="1">
                      <a:solidFill>
                        <a:schemeClr val="tx1"/>
                      </a:solidFill>
                      <a:latin typeface="Cambria Math" charset="0"/>
                    </a:rPr>
                    <m:t>[</m:t>
                  </m:r>
                  <m:sSubSup>
                    <m:sSubSupPr>
                      <m:ctrlPr>
                        <a:rPr lang="zh-CN" altLang="en-US" sz="1100" i="1">
                          <a:solidFill>
                            <a:schemeClr val="tx1"/>
                          </a:solidFill>
                          <a:latin typeface="Cambria Math" charset="0"/>
                        </a:rPr>
                      </m:ctrlPr>
                    </m:sSubSupPr>
                    <m:e>
                      <m:r>
                        <a:rPr lang="zh-CN" altLang="en-US" sz="1100" i="1">
                          <a:solidFill>
                            <a:schemeClr val="tx1"/>
                          </a:solidFill>
                          <a:latin typeface="Cambria Math" charset="0"/>
                        </a:rPr>
                        <m:t>∫</m:t>
                      </m:r>
                    </m:e>
                    <m:sub>
                      <m:r>
                        <a:rPr lang="zh-CN" altLang="en-US" sz="1100" i="1">
                          <a:solidFill>
                            <a:schemeClr val="tx1"/>
                          </a:solidFill>
                          <a:latin typeface="Cambria Math" charset="0"/>
                        </a:rPr>
                        <m:t>𝑟</m:t>
                      </m:r>
                      <m:r>
                        <a:rPr lang="en-US" altLang="zh-CN" sz="1100" i="1">
                          <a:solidFill>
                            <a:schemeClr val="tx1"/>
                          </a:solidFill>
                          <a:latin typeface="Cambria Math" charset="0"/>
                        </a:rPr>
                        <m:t>=0</m:t>
                      </m:r>
                    </m:sub>
                    <m:sup>
                      <m:r>
                        <a:rPr lang="zh-CN" altLang="en-US" sz="1100" i="1">
                          <a:solidFill>
                            <a:schemeClr val="tx1"/>
                          </a:solidFill>
                          <a:latin typeface="Cambria Math" charset="0"/>
                        </a:rPr>
                        <m:t>𝑟</m:t>
                      </m:r>
                    </m:sup>
                  </m:sSubSup>
                  <m:r>
                    <m:rPr>
                      <m:sty m:val="p"/>
                    </m:rPr>
                    <a:rPr lang="en-US" altLang="zh-CN" sz="1100">
                      <a:solidFill>
                        <a:schemeClr val="tx1"/>
                      </a:solidFill>
                      <a:latin typeface="Cambria Math" charset="0"/>
                    </a:rPr>
                    <m:t>ln</m:t>
                  </m:r>
                  <m:r>
                    <a:rPr lang="en-US" altLang="zh-CN" sz="1100" i="1">
                      <a:solidFill>
                        <a:schemeClr val="tx1"/>
                      </a:solidFill>
                      <a:latin typeface="Cambria Math" charset="0"/>
                    </a:rPr>
                    <m:t>(</m:t>
                  </m:r>
                  <m:r>
                    <a:rPr lang="zh-CN" altLang="en-US" sz="1100" i="1">
                      <a:solidFill>
                        <a:schemeClr val="tx1"/>
                      </a:solidFill>
                      <a:latin typeface="Cambria Math" charset="0"/>
                    </a:rPr>
                    <m:t>𝑇</m:t>
                  </m:r>
                  <m:r>
                    <a:rPr lang="en-US" altLang="zh-CN" sz="1100" i="1">
                      <a:solidFill>
                        <a:schemeClr val="tx1"/>
                      </a:solidFill>
                      <a:latin typeface="Cambria Math" charset="0"/>
                    </a:rPr>
                    <m:t>)</m:t>
                  </m:r>
                  <m:r>
                    <a:rPr lang="zh-CN" altLang="en-US" sz="1100" i="1">
                      <a:solidFill>
                        <a:schemeClr val="tx1"/>
                      </a:solidFill>
                      <a:latin typeface="Cambria Math" charset="0"/>
                    </a:rPr>
                    <m:t>𝑑𝐴</m:t>
                  </m:r>
                  <m:r>
                    <a:rPr lang="en-US" altLang="zh-CN" sz="1100" i="1">
                      <a:solidFill>
                        <a:schemeClr val="tx1"/>
                      </a:solidFill>
                      <a:latin typeface="Cambria Math" charset="0"/>
                    </a:rPr>
                    <m:t>]</m:t>
                  </m:r>
                </m:oMath>
              </a14:m>
              <a:endParaRPr lang="zh-CN" altLang="en-US" sz="1100" dirty="0">
                <a:solidFill>
                  <a:schemeClr val="tx1"/>
                </a:solidFill>
              </a:endParaRPr>
            </a:p>
          </dgm:t>
        </dgm:pt>
      </mc:Choice>
      <mc:Fallback xmlns="">
        <dgm:pt modelId="{FECFA1FE-6C55-0647-8E60-AEF07A9974FD}">
          <dgm:prSet phldrT="[文本]" custT="1"/>
          <dgm:spPr>
            <a:noFill/>
            <a:ln>
              <a:solidFill>
                <a:schemeClr val="tx1"/>
              </a:solidFill>
            </a:ln>
          </dgm:spPr>
          <dgm:t>
            <a:bodyPr/>
            <a:lstStyle/>
            <a:p>
              <a:r>
                <a:rPr lang="zh-CN" altLang="en-US" sz="1100" dirty="0" smtClean="0">
                  <a:solidFill>
                    <a:schemeClr val="tx1"/>
                  </a:solidFill>
                </a:rPr>
                <a:t>计算</a:t>
              </a:r>
              <a:r>
                <a:rPr lang="zh-CN" altLang="en-US" sz="1100" i="0">
                  <a:solidFill>
                    <a:schemeClr val="tx1"/>
                  </a:solidFill>
                </a:rPr>
                <a:t>𝑇_𝑔</a:t>
              </a:r>
              <a:r>
                <a:rPr lang="en-US" altLang="zh-CN" sz="1100" i="0">
                  <a:solidFill>
                    <a:schemeClr val="tx1"/>
                  </a:solidFill>
                </a:rPr>
                <a:t> (</a:t>
              </a:r>
              <a:r>
                <a:rPr lang="zh-CN" altLang="en-US" sz="1100" i="0">
                  <a:solidFill>
                    <a:schemeClr val="tx1"/>
                  </a:solidFill>
                </a:rPr>
                <a:t>𝑟</a:t>
              </a:r>
              <a:r>
                <a:rPr lang="en-US" altLang="zh-CN" sz="1100" i="0">
                  <a:solidFill>
                    <a:schemeClr val="tx1"/>
                  </a:solidFill>
                </a:rPr>
                <a:t>)=exp[</a:t>
              </a:r>
              <a:r>
                <a:rPr lang="zh-CN" altLang="en-US" sz="1100" i="0">
                  <a:solidFill>
                    <a:schemeClr val="tx1"/>
                  </a:solidFill>
                </a:rPr>
                <a:t>∫_(𝑟</a:t>
              </a:r>
              <a:r>
                <a:rPr lang="en-US" altLang="zh-CN" sz="1100" i="0">
                  <a:solidFill>
                    <a:schemeClr val="tx1"/>
                  </a:solidFill>
                </a:rPr>
                <a:t>=0</a:t>
              </a:r>
              <a:r>
                <a:rPr lang="zh-CN" altLang="en-US" sz="1100" i="0">
                  <a:solidFill>
                    <a:schemeClr val="tx1"/>
                  </a:solidFill>
                </a:rPr>
                <a:t>)</a:t>
              </a:r>
              <a:r>
                <a:rPr lang="en-US" altLang="zh-CN" sz="1100" i="0">
                  <a:solidFill>
                    <a:schemeClr val="tx1"/>
                  </a:solidFill>
                </a:rPr>
                <a:t>^</a:t>
              </a:r>
              <a:r>
                <a:rPr lang="zh-CN" altLang="en-US" sz="1100" i="0">
                  <a:solidFill>
                    <a:schemeClr val="tx1"/>
                  </a:solidFill>
                </a:rPr>
                <a:t>𝑟</a:t>
              </a:r>
              <a:r>
                <a:rPr lang="en-US" altLang="zh-CN" sz="1100" i="0">
                  <a:solidFill>
                    <a:schemeClr val="tx1"/>
                  </a:solidFill>
                </a:rPr>
                <a:t> ln(</a:t>
              </a:r>
              <a:r>
                <a:rPr lang="zh-CN" altLang="en-US" sz="1100" i="0">
                  <a:solidFill>
                    <a:schemeClr val="tx1"/>
                  </a:solidFill>
                </a:rPr>
                <a:t>𝑇</a:t>
              </a:r>
              <a:r>
                <a:rPr lang="en-US" altLang="zh-CN" sz="1100" i="0">
                  <a:solidFill>
                    <a:schemeClr val="tx1"/>
                  </a:solidFill>
                </a:rPr>
                <a:t>)</a:t>
              </a:r>
              <a:r>
                <a:rPr lang="zh-CN" altLang="en-US" sz="1100" i="0">
                  <a:solidFill>
                    <a:schemeClr val="tx1"/>
                  </a:solidFill>
                </a:rPr>
                <a:t>𝑑𝐴</a:t>
              </a:r>
              <a:r>
                <a:rPr lang="en-US" altLang="zh-CN" sz="1100" i="0">
                  <a:solidFill>
                    <a:schemeClr val="tx1"/>
                  </a:solidFill>
                </a:rPr>
                <a:t>]</a:t>
              </a:r>
              <a:endParaRPr lang="zh-CN" altLang="en-US" sz="1100" dirty="0">
                <a:solidFill>
                  <a:schemeClr val="tx1"/>
                </a:solidFill>
              </a:endParaRPr>
            </a:p>
          </dgm:t>
        </dgm:pt>
      </mc:Fallback>
    </mc:AlternateContent>
    <dgm:pt modelId="{83487C20-1B60-7F41-8682-FF922D1C1A64}" type="parTrans" cxnId="{24920D63-6C81-8447-969B-B4A1424AAAD5}">
      <dgm:prSet/>
      <dgm:spPr/>
      <dgm:t>
        <a:bodyPr/>
        <a:lstStyle/>
        <a:p>
          <a:endParaRPr lang="zh-CN" altLang="en-US"/>
        </a:p>
      </dgm:t>
    </dgm:pt>
    <dgm:pt modelId="{0562AFB7-84CD-AA49-8C87-12BCBCC658E1}" type="sibTrans" cxnId="{24920D63-6C81-8447-969B-B4A1424AAAD5}">
      <dgm:prSet/>
      <dgm:spPr>
        <a:noFill/>
        <a:ln>
          <a:solidFill>
            <a:schemeClr val="tx1"/>
          </a:solidFill>
        </a:ln>
      </dgm:spPr>
      <dgm:t>
        <a:bodyPr/>
        <a:lstStyle/>
        <a:p>
          <a:endParaRPr lang="zh-CN" altLang="en-US">
            <a:solidFill>
              <a:schemeClr val="tx1"/>
            </a:solidFill>
          </a:endParaRPr>
        </a:p>
      </dgm:t>
    </dgm:pt>
    <mc:AlternateContent xmlns:mc="http://schemas.openxmlformats.org/markup-compatibility/2006" xmlns:a14="http://schemas.microsoft.com/office/drawing/2010/main">
      <mc:Choice Requires="a14">
        <dgm:pt modelId="{FE4679A8-3715-AF45-B31E-B12A37863C9B}">
          <dgm:prSet custT="1"/>
          <dgm:spPr>
            <a:noFill/>
            <a:ln>
              <a:solidFill>
                <a:schemeClr val="tx1"/>
              </a:solidFill>
            </a:ln>
          </dgm:spPr>
          <dgm:t>
            <a:bodyPr/>
            <a:lstStyle/>
            <a:p>
              <a:r>
                <a:rPr lang="zh-CN" altLang="en-US" sz="1100" dirty="0" smtClean="0">
                  <a:solidFill>
                    <a:schemeClr val="tx1"/>
                  </a:solidFill>
                </a:rPr>
                <a:t>作</a:t>
              </a:r>
              <a14:m>
                <m:oMath xmlns:m="http://schemas.openxmlformats.org/officeDocument/2006/math">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sub>
                  </m:sSub>
                  <m:r>
                    <a:rPr lang="en-US" altLang="zh-CN" sz="1100" i="1">
                      <a:solidFill>
                        <a:schemeClr val="tx1"/>
                      </a:solidFill>
                      <a:latin typeface="Cambria Math" charset="0"/>
                    </a:rPr>
                    <m:t>(</m:t>
                  </m:r>
                  <m:r>
                    <a:rPr lang="zh-CN" altLang="en-US" sz="1100" i="1">
                      <a:solidFill>
                        <a:schemeClr val="tx1"/>
                      </a:solidFill>
                      <a:latin typeface="Cambria Math" charset="0"/>
                    </a:rPr>
                    <m:t>𝑟</m:t>
                  </m:r>
                  <m:r>
                    <a:rPr lang="en-US" altLang="zh-CN" sz="1100" i="1">
                      <a:solidFill>
                        <a:schemeClr val="tx1"/>
                      </a:solidFill>
                      <a:latin typeface="Cambria Math" charset="0"/>
                    </a:rPr>
                    <m:t>)/</m:t>
                  </m:r>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r>
                        <a:rPr lang="en-US" altLang="zh-CN" sz="1100" i="1">
                          <a:solidFill>
                            <a:schemeClr val="tx1"/>
                          </a:solidFill>
                          <a:latin typeface="Cambria Math" charset="0"/>
                        </a:rPr>
                        <m:t>,0</m:t>
                      </m:r>
                    </m:sub>
                  </m:sSub>
                  <m:r>
                    <a:rPr lang="zh-CN" altLang="en-US" sz="1100" i="1">
                      <a:solidFill>
                        <a:schemeClr val="tx1"/>
                      </a:solidFill>
                      <a:latin typeface="Cambria Math" charset="0"/>
                    </a:rPr>
                    <m:t>−</m:t>
                  </m:r>
                  <m:r>
                    <a:rPr lang="zh-CN" altLang="en-US" sz="1100" i="1">
                      <a:solidFill>
                        <a:schemeClr val="tx1"/>
                      </a:solidFill>
                      <a:latin typeface="Cambria Math" charset="0"/>
                    </a:rPr>
                    <m:t>𝑟</m:t>
                  </m:r>
                  <m:r>
                    <a:rPr lang="en-US" altLang="zh-CN" sz="1100" i="1">
                      <a:solidFill>
                        <a:schemeClr val="tx1"/>
                      </a:solidFill>
                      <a:latin typeface="Cambria Math" charset="0"/>
                    </a:rPr>
                    <m:t>/</m:t>
                  </m:r>
                  <m:r>
                    <a:rPr lang="zh-CN" altLang="en-US" sz="1100" i="1">
                      <a:solidFill>
                        <a:schemeClr val="tx1"/>
                      </a:solidFill>
                      <a:latin typeface="Cambria Math" charset="0"/>
                    </a:rPr>
                    <m:t>𝐼</m:t>
                  </m:r>
                </m:oMath>
              </a14:m>
              <a:r>
                <a:rPr lang="zh-CN" altLang="en-US" sz="1100" dirty="0">
                  <a:solidFill>
                    <a:schemeClr val="tx1"/>
                  </a:solidFill>
                </a:rPr>
                <a:t> 图像</a:t>
              </a:r>
              <a:r>
                <a:rPr lang="zh-CN" altLang="en-US" sz="1100" dirty="0" smtClean="0">
                  <a:solidFill>
                    <a:schemeClr val="tx1"/>
                  </a:solidFill>
                </a:rPr>
                <a:t>，记为</a:t>
              </a:r>
              <a14:m>
                <m:oMath xmlns:m="http://schemas.openxmlformats.org/officeDocument/2006/math">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𝑆𝑒𝑡</m:t>
                      </m:r>
                    </m:e>
                    <m:sub>
                      <m:r>
                        <a:rPr lang="zh-CN" altLang="en-US" sz="1100" i="1">
                          <a:solidFill>
                            <a:schemeClr val="tx1"/>
                          </a:solidFill>
                          <a:latin typeface="Cambria Math" charset="0"/>
                        </a:rPr>
                        <m:t>𝑣</m:t>
                      </m:r>
                      <m:r>
                        <a:rPr lang="en-US" altLang="zh-CN" sz="1100" i="1">
                          <a:solidFill>
                            <a:schemeClr val="tx1"/>
                          </a:solidFill>
                          <a:latin typeface="Cambria Math" charset="0"/>
                        </a:rPr>
                        <m:t>,</m:t>
                      </m:r>
                      <m:r>
                        <a:rPr lang="zh-CN" altLang="en-US" sz="1100" i="1">
                          <a:solidFill>
                            <a:schemeClr val="tx1"/>
                          </a:solidFill>
                          <a:latin typeface="Cambria Math" charset="0"/>
                        </a:rPr>
                        <m:t>𝑖</m:t>
                      </m:r>
                    </m:sub>
                  </m:sSub>
                </m:oMath>
              </a14:m>
              <a:endParaRPr lang="zh-CN" altLang="en-US" sz="1100" dirty="0">
                <a:solidFill>
                  <a:schemeClr val="tx1"/>
                </a:solidFill>
              </a:endParaRPr>
            </a:p>
          </dgm:t>
        </dgm:pt>
      </mc:Choice>
      <mc:Fallback xmlns="">
        <dgm:pt modelId="{FE4679A8-3715-AF45-B31E-B12A37863C9B}">
          <dgm:prSet custT="1"/>
          <dgm:spPr>
            <a:noFill/>
            <a:ln>
              <a:solidFill>
                <a:schemeClr val="tx1"/>
              </a:solidFill>
            </a:ln>
          </dgm:spPr>
          <dgm:t>
            <a:bodyPr/>
            <a:lstStyle/>
            <a:p>
              <a:r>
                <a:rPr lang="zh-CN" altLang="en-US" sz="1100" dirty="0" smtClean="0">
                  <a:solidFill>
                    <a:schemeClr val="tx1"/>
                  </a:solidFill>
                </a:rPr>
                <a:t>作</a:t>
              </a:r>
              <a:r>
                <a:rPr lang="zh-CN" altLang="en-US" sz="1100" i="0">
                  <a:solidFill>
                    <a:schemeClr val="tx1"/>
                  </a:solidFill>
                </a:rPr>
                <a:t>𝑇_𝑔</a:t>
              </a:r>
              <a:r>
                <a:rPr lang="en-US" altLang="zh-CN" sz="1100" i="0">
                  <a:solidFill>
                    <a:schemeClr val="tx1"/>
                  </a:solidFill>
                </a:rPr>
                <a:t> (</a:t>
              </a:r>
              <a:r>
                <a:rPr lang="zh-CN" altLang="en-US" sz="1100" i="0">
                  <a:solidFill>
                    <a:schemeClr val="tx1"/>
                  </a:solidFill>
                </a:rPr>
                <a:t>𝑟</a:t>
              </a:r>
              <a:r>
                <a:rPr lang="en-US" altLang="zh-CN" sz="1100" i="0">
                  <a:solidFill>
                    <a:schemeClr val="tx1"/>
                  </a:solidFill>
                </a:rPr>
                <a:t>)/</a:t>
              </a:r>
              <a:r>
                <a:rPr lang="zh-CN" altLang="en-US" sz="1100" i="0">
                  <a:solidFill>
                    <a:schemeClr val="tx1"/>
                  </a:solidFill>
                </a:rPr>
                <a:t>𝑇_(𝑔</a:t>
              </a:r>
              <a:r>
                <a:rPr lang="en-US" altLang="zh-CN" sz="1100" i="0">
                  <a:solidFill>
                    <a:schemeClr val="tx1"/>
                  </a:solidFill>
                </a:rPr>
                <a:t>,0</a:t>
              </a:r>
              <a:r>
                <a:rPr lang="zh-CN" altLang="en-US" sz="1100" i="0">
                  <a:solidFill>
                    <a:schemeClr val="tx1"/>
                  </a:solidFill>
                </a:rPr>
                <a:t>)−𝑟</a:t>
              </a:r>
              <a:r>
                <a:rPr lang="en-US" altLang="zh-CN" sz="1100" i="0">
                  <a:solidFill>
                    <a:schemeClr val="tx1"/>
                  </a:solidFill>
                </a:rPr>
                <a:t>/</a:t>
              </a:r>
              <a:r>
                <a:rPr lang="zh-CN" altLang="en-US" sz="1100" i="0">
                  <a:solidFill>
                    <a:schemeClr val="tx1"/>
                  </a:solidFill>
                </a:rPr>
                <a:t>𝐼</a:t>
              </a:r>
              <a:r>
                <a:rPr lang="zh-CN" altLang="en-US" sz="1100" dirty="0">
                  <a:solidFill>
                    <a:schemeClr val="tx1"/>
                  </a:solidFill>
                </a:rPr>
                <a:t> 图像</a:t>
              </a:r>
              <a:r>
                <a:rPr lang="zh-CN" altLang="en-US" sz="1100" dirty="0" smtClean="0">
                  <a:solidFill>
                    <a:schemeClr val="tx1"/>
                  </a:solidFill>
                </a:rPr>
                <a:t>，记为</a:t>
              </a:r>
              <a:r>
                <a:rPr lang="zh-CN" altLang="en-US" sz="1100" i="0">
                  <a:solidFill>
                    <a:schemeClr val="tx1"/>
                  </a:solidFill>
                </a:rPr>
                <a:t>〖𝑆𝑒𝑡〗_(𝑣</a:t>
              </a:r>
              <a:r>
                <a:rPr lang="en-US" altLang="zh-CN" sz="1100" i="0">
                  <a:solidFill>
                    <a:schemeClr val="tx1"/>
                  </a:solidFill>
                </a:rPr>
                <a:t>,</a:t>
              </a:r>
              <a:r>
                <a:rPr lang="zh-CN" altLang="en-US" sz="1100" i="0">
                  <a:solidFill>
                    <a:schemeClr val="tx1"/>
                  </a:solidFill>
                </a:rPr>
                <a:t>𝑖)</a:t>
              </a:r>
              <a:endParaRPr lang="zh-CN" altLang="en-US" sz="1100" dirty="0">
                <a:solidFill>
                  <a:schemeClr val="tx1"/>
                </a:solidFill>
              </a:endParaRPr>
            </a:p>
          </dgm:t>
        </dgm:pt>
      </mc:Fallback>
    </mc:AlternateContent>
    <dgm:pt modelId="{68A952A0-6F93-CB48-A5B0-77799AEC6678}" type="parTrans" cxnId="{94A9C78D-89A5-554E-A0BB-D499B26CE2EB}">
      <dgm:prSet/>
      <dgm:spPr/>
      <dgm:t>
        <a:bodyPr/>
        <a:lstStyle/>
        <a:p>
          <a:endParaRPr lang="zh-CN" altLang="en-US"/>
        </a:p>
      </dgm:t>
    </dgm:pt>
    <dgm:pt modelId="{E442906E-16EF-574C-AB97-AC9892D4F8F4}" type="sibTrans" cxnId="{94A9C78D-89A5-554E-A0BB-D499B26CE2EB}">
      <dgm:prSet/>
      <dgm:spPr>
        <a:noFill/>
        <a:ln>
          <a:solidFill>
            <a:schemeClr val="tx1"/>
          </a:solidFill>
        </a:ln>
      </dgm:spPr>
      <dgm:t>
        <a:bodyPr/>
        <a:lstStyle/>
        <a:p>
          <a:endParaRPr lang="zh-CN" altLang="en-US">
            <a:solidFill>
              <a:schemeClr val="tx1"/>
            </a:solidFill>
          </a:endParaRPr>
        </a:p>
      </dgm:t>
    </dgm:pt>
    <mc:AlternateContent xmlns:mc="http://schemas.openxmlformats.org/markup-compatibility/2006" xmlns:a14="http://schemas.microsoft.com/office/drawing/2010/main">
      <mc:Choice Requires="a14">
        <dgm:pt modelId="{A66D51AB-040C-984F-B13E-D31665717BD1}">
          <dgm:prSet custT="1"/>
          <dgm:spPr>
            <a:noFill/>
            <a:ln>
              <a:solidFill>
                <a:schemeClr val="tx1"/>
              </a:solidFill>
            </a:ln>
          </dgm:spPr>
          <dgm:t>
            <a:bodyPr/>
            <a:lstStyle/>
            <a:p>
              <a:r>
                <a:rPr lang="zh-CN" altLang="en-US" sz="1100" dirty="0" smtClean="0">
                  <a:solidFill>
                    <a:schemeClr val="tx1"/>
                  </a:solidFill>
                </a:rPr>
                <a:t>确定</a:t>
              </a:r>
              <a14:m>
                <m:oMath xmlns:m="http://schemas.openxmlformats.org/officeDocument/2006/math">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𝑓</m:t>
                      </m:r>
                    </m:e>
                    <m:sub>
                      <m:r>
                        <a:rPr lang="zh-CN" altLang="en-US" sz="1100" i="1">
                          <a:solidFill>
                            <a:schemeClr val="tx1"/>
                          </a:solidFill>
                          <a:latin typeface="Cambria Math" charset="0"/>
                        </a:rPr>
                        <m:t>𝑇</m:t>
                      </m:r>
                    </m:sub>
                  </m:sSub>
                  <m:r>
                    <a:rPr lang="en-US" altLang="zh-CN" sz="1100" i="1">
                      <a:solidFill>
                        <a:schemeClr val="tx1"/>
                      </a:solidFill>
                      <a:latin typeface="Cambria Math" charset="0"/>
                    </a:rPr>
                    <m:t>(</m:t>
                  </m:r>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r>
                        <a:rPr lang="en-US" altLang="zh-CN" sz="1100" i="1">
                          <a:solidFill>
                            <a:schemeClr val="tx1"/>
                          </a:solidFill>
                          <a:latin typeface="Cambria Math" charset="0"/>
                        </a:rPr>
                        <m:t>,1</m:t>
                      </m:r>
                    </m:sub>
                  </m:sSub>
                  <m:r>
                    <a:rPr lang="en-US" altLang="zh-CN" sz="1100" i="1">
                      <a:solidFill>
                        <a:schemeClr val="tx1"/>
                      </a:solidFill>
                      <a:latin typeface="Cambria Math" charset="0"/>
                    </a:rPr>
                    <m:t>,…,</m:t>
                  </m:r>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r>
                        <a:rPr lang="en-US" altLang="zh-CN" sz="1100" i="1">
                          <a:solidFill>
                            <a:schemeClr val="tx1"/>
                          </a:solidFill>
                          <a:latin typeface="Cambria Math" charset="0"/>
                        </a:rPr>
                        <m:t>,</m:t>
                      </m:r>
                      <m:r>
                        <a:rPr lang="zh-CN" altLang="en-US" sz="1100" i="1">
                          <a:solidFill>
                            <a:schemeClr val="tx1"/>
                          </a:solidFill>
                          <a:latin typeface="Cambria Math" charset="0"/>
                        </a:rPr>
                        <m:t>𝑁</m:t>
                      </m:r>
                    </m:sub>
                  </m:sSub>
                  <m:r>
                    <a:rPr lang="en-US" altLang="zh-CN" sz="1100" i="1">
                      <a:solidFill>
                        <a:schemeClr val="tx1"/>
                      </a:solidFill>
                      <a:latin typeface="Cambria Math" charset="0"/>
                    </a:rPr>
                    <m:t>|</m:t>
                  </m:r>
                  <m:r>
                    <a:rPr lang="zh-CN" altLang="en-US" sz="1100" i="1">
                      <a:solidFill>
                        <a:schemeClr val="tx1"/>
                      </a:solidFill>
                      <a:latin typeface="Cambria Math" charset="0"/>
                    </a:rPr>
                    <m:t>𝑣</m:t>
                  </m:r>
                  <m:r>
                    <a:rPr lang="en-US" altLang="zh-CN" sz="1100" i="1">
                      <a:solidFill>
                        <a:schemeClr val="tx1"/>
                      </a:solidFill>
                      <a:latin typeface="Cambria Math" charset="0"/>
                    </a:rPr>
                    <m:t>,</m:t>
                  </m:r>
                  <m:r>
                    <a:rPr lang="zh-CN" altLang="en-US" sz="1100" i="1">
                      <a:solidFill>
                        <a:schemeClr val="tx1"/>
                      </a:solidFill>
                      <a:latin typeface="Cambria Math" charset="0"/>
                    </a:rPr>
                    <m:t>𝑖</m:t>
                  </m:r>
                  <m:r>
                    <a:rPr lang="en-US" altLang="zh-CN" sz="1100" i="1">
                      <a:solidFill>
                        <a:schemeClr val="tx1"/>
                      </a:solidFill>
                      <a:latin typeface="Cambria Math" charset="0"/>
                    </a:rPr>
                    <m:t>)=</m:t>
                  </m:r>
                  <m:limUpp>
                    <m:limUppPr>
                      <m:ctrlPr>
                        <a:rPr lang="zh-CN" altLang="en-US" sz="1100" i="1">
                          <a:solidFill>
                            <a:schemeClr val="tx1"/>
                          </a:solidFill>
                          <a:latin typeface="Cambria Math" charset="0"/>
                        </a:rPr>
                      </m:ctrlPr>
                    </m:limUppPr>
                    <m:e>
                      <m:limLow>
                        <m:limLowPr>
                          <m:ctrlPr>
                            <a:rPr lang="zh-CN" altLang="en-US" sz="1100" i="1">
                              <a:solidFill>
                                <a:schemeClr val="tx1"/>
                              </a:solidFill>
                              <a:latin typeface="Cambria Math" charset="0"/>
                            </a:rPr>
                          </m:ctrlPr>
                        </m:limLowPr>
                        <m:e>
                          <m:r>
                            <a:rPr lang="zh-CN" altLang="en-US" sz="1100" i="1">
                              <a:solidFill>
                                <a:schemeClr val="tx1"/>
                              </a:solidFill>
                              <a:latin typeface="Cambria Math" charset="0"/>
                            </a:rPr>
                            <m:t>∏</m:t>
                          </m:r>
                        </m:e>
                        <m:lim>
                          <m:r>
                            <a:rPr lang="zh-CN" altLang="en-US" sz="1100" i="1">
                              <a:solidFill>
                                <a:schemeClr val="tx1"/>
                              </a:solidFill>
                              <a:latin typeface="Cambria Math" charset="0"/>
                            </a:rPr>
                            <m:t>𝑖</m:t>
                          </m:r>
                          <m:r>
                            <a:rPr lang="en-US" altLang="zh-CN" sz="1100" i="1">
                              <a:solidFill>
                                <a:schemeClr val="tx1"/>
                              </a:solidFill>
                              <a:latin typeface="Cambria Math" charset="0"/>
                            </a:rPr>
                            <m:t>=1</m:t>
                          </m:r>
                        </m:lim>
                      </m:limLow>
                    </m:e>
                    <m:lim>
                      <m:r>
                        <a:rPr lang="zh-CN" altLang="en-US" sz="1100" i="1">
                          <a:solidFill>
                            <a:schemeClr val="tx1"/>
                          </a:solidFill>
                          <a:latin typeface="Cambria Math" charset="0"/>
                        </a:rPr>
                        <m:t>𝑁</m:t>
                      </m:r>
                    </m:lim>
                  </m:limUpp>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𝑓</m:t>
                      </m:r>
                    </m:e>
                    <m:sub>
                      <m:r>
                        <a:rPr lang="zh-CN" altLang="en-US" sz="1100" i="1">
                          <a:solidFill>
                            <a:schemeClr val="tx1"/>
                          </a:solidFill>
                          <a:latin typeface="Cambria Math" charset="0"/>
                        </a:rPr>
                        <m:t>𝑇</m:t>
                      </m:r>
                    </m:sub>
                  </m:sSub>
                  <m:r>
                    <a:rPr lang="en-US" altLang="zh-CN" sz="1100" i="1">
                      <a:solidFill>
                        <a:schemeClr val="tx1"/>
                      </a:solidFill>
                      <a:latin typeface="Cambria Math" charset="0"/>
                    </a:rPr>
                    <m:t>(</m:t>
                  </m:r>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r>
                        <a:rPr lang="en-US" altLang="zh-CN" sz="1100" i="1">
                          <a:solidFill>
                            <a:schemeClr val="tx1"/>
                          </a:solidFill>
                          <a:latin typeface="Cambria Math" charset="0"/>
                        </a:rPr>
                        <m:t>,</m:t>
                      </m:r>
                      <m:r>
                        <a:rPr lang="zh-CN" altLang="en-US" sz="1100" i="1">
                          <a:solidFill>
                            <a:schemeClr val="tx1"/>
                          </a:solidFill>
                          <a:latin typeface="Cambria Math" charset="0"/>
                        </a:rPr>
                        <m:t>𝑖</m:t>
                      </m:r>
                    </m:sub>
                  </m:sSub>
                  <m:r>
                    <a:rPr lang="en-US" altLang="zh-CN" sz="1100" i="1">
                      <a:solidFill>
                        <a:schemeClr val="tx1"/>
                      </a:solidFill>
                      <a:latin typeface="Cambria Math" charset="0"/>
                    </a:rPr>
                    <m:t>|</m:t>
                  </m:r>
                  <m:r>
                    <a:rPr lang="zh-CN" altLang="en-US" sz="1100" i="1">
                      <a:solidFill>
                        <a:schemeClr val="tx1"/>
                      </a:solidFill>
                      <a:latin typeface="Cambria Math" charset="0"/>
                    </a:rPr>
                    <m:t>𝑣</m:t>
                  </m:r>
                  <m:r>
                    <a:rPr lang="en-US" altLang="zh-CN" sz="1100" i="1">
                      <a:solidFill>
                        <a:schemeClr val="tx1"/>
                      </a:solidFill>
                      <a:latin typeface="Cambria Math" charset="0"/>
                    </a:rPr>
                    <m:t>,</m:t>
                  </m:r>
                  <m:r>
                    <a:rPr lang="zh-CN" altLang="en-US" sz="1100" i="1">
                      <a:solidFill>
                        <a:schemeClr val="tx1"/>
                      </a:solidFill>
                      <a:latin typeface="Cambria Math" charset="0"/>
                    </a:rPr>
                    <m:t>𝑖</m:t>
                  </m:r>
                  <m:r>
                    <a:rPr lang="en-US" altLang="zh-CN" sz="1100" i="1">
                      <a:solidFill>
                        <a:schemeClr val="tx1"/>
                      </a:solidFill>
                      <a:latin typeface="Cambria Math" charset="0"/>
                    </a:rPr>
                    <m:t>)</m:t>
                  </m:r>
                </m:oMath>
              </a14:m>
              <a:endParaRPr lang="zh-CN" altLang="en-US" sz="1100" dirty="0">
                <a:solidFill>
                  <a:schemeClr val="tx1"/>
                </a:solidFill>
              </a:endParaRPr>
            </a:p>
          </dgm:t>
        </dgm:pt>
      </mc:Choice>
      <mc:Fallback xmlns="">
        <dgm:pt modelId="{A66D51AB-040C-984F-B13E-D31665717BD1}">
          <dgm:prSet custT="1"/>
          <dgm:spPr>
            <a:noFill/>
            <a:ln>
              <a:solidFill>
                <a:schemeClr val="tx1"/>
              </a:solidFill>
            </a:ln>
          </dgm:spPr>
          <dgm:t>
            <a:bodyPr/>
            <a:lstStyle/>
            <a:p>
              <a:r>
                <a:rPr lang="zh-CN" altLang="en-US" sz="1100" dirty="0" smtClean="0">
                  <a:solidFill>
                    <a:schemeClr val="tx1"/>
                  </a:solidFill>
                </a:rPr>
                <a:t>确定</a:t>
              </a:r>
              <a:r>
                <a:rPr lang="zh-CN" altLang="en-US" sz="1100" i="0">
                  <a:solidFill>
                    <a:schemeClr val="tx1"/>
                  </a:solidFill>
                </a:rPr>
                <a:t>𝑓_𝑇</a:t>
              </a:r>
              <a:r>
                <a:rPr lang="en-US" altLang="zh-CN" sz="1100" i="0">
                  <a:solidFill>
                    <a:schemeClr val="tx1"/>
                  </a:solidFill>
                </a:rPr>
                <a:t> (</a:t>
              </a:r>
              <a:r>
                <a:rPr lang="zh-CN" altLang="en-US" sz="1100" i="0">
                  <a:solidFill>
                    <a:schemeClr val="tx1"/>
                  </a:solidFill>
                </a:rPr>
                <a:t>𝑇_(𝑔</a:t>
              </a:r>
              <a:r>
                <a:rPr lang="en-US" altLang="zh-CN" sz="1100" i="0">
                  <a:solidFill>
                    <a:schemeClr val="tx1"/>
                  </a:solidFill>
                </a:rPr>
                <a:t>,1</a:t>
              </a:r>
              <a:r>
                <a:rPr lang="zh-CN" altLang="en-US" sz="1100" i="0">
                  <a:solidFill>
                    <a:schemeClr val="tx1"/>
                  </a:solidFill>
                </a:rPr>
                <a:t>)</a:t>
              </a:r>
              <a:r>
                <a:rPr lang="en-US" altLang="zh-CN" sz="1100" i="0">
                  <a:solidFill>
                    <a:schemeClr val="tx1"/>
                  </a:solidFill>
                </a:rPr>
                <a:t>,…,</a:t>
              </a:r>
              <a:r>
                <a:rPr lang="zh-CN" altLang="en-US" sz="1100" i="0">
                  <a:solidFill>
                    <a:schemeClr val="tx1"/>
                  </a:solidFill>
                </a:rPr>
                <a:t>𝑇_(𝑔</a:t>
              </a:r>
              <a:r>
                <a:rPr lang="en-US" altLang="zh-CN" sz="1100" i="0">
                  <a:solidFill>
                    <a:schemeClr val="tx1"/>
                  </a:solidFill>
                </a:rPr>
                <a:t>,</a:t>
              </a:r>
              <a:r>
                <a:rPr lang="zh-CN" altLang="en-US" sz="1100" i="0">
                  <a:solidFill>
                    <a:schemeClr val="tx1"/>
                  </a:solidFill>
                </a:rPr>
                <a:t>𝑁)</a:t>
              </a:r>
              <a:r>
                <a:rPr lang="en-US" altLang="zh-CN" sz="1100" i="0">
                  <a:solidFill>
                    <a:schemeClr val="tx1"/>
                  </a:solidFill>
                </a:rPr>
                <a:t> |</a:t>
              </a:r>
              <a:r>
                <a:rPr lang="zh-CN" altLang="en-US" sz="1100" i="0">
                  <a:solidFill>
                    <a:schemeClr val="tx1"/>
                  </a:solidFill>
                </a:rPr>
                <a:t>𝑣</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=1</a:t>
              </a:r>
              <a:r>
                <a:rPr lang="zh-CN" altLang="en-US" sz="1100" i="0">
                  <a:solidFill>
                    <a:schemeClr val="tx1"/>
                  </a:solidFill>
                </a:rPr>
                <a:t>))┴𝑁 𝑓_𝑇</a:t>
              </a:r>
              <a:r>
                <a:rPr lang="en-US" altLang="zh-CN" sz="1100" i="0">
                  <a:solidFill>
                    <a:schemeClr val="tx1"/>
                  </a:solidFill>
                </a:rPr>
                <a:t> (</a:t>
              </a:r>
              <a:r>
                <a:rPr lang="zh-CN" altLang="en-US" sz="1100" i="0">
                  <a:solidFill>
                    <a:schemeClr val="tx1"/>
                  </a:solidFill>
                </a:rPr>
                <a:t>𝑇_(𝑔</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 |</a:t>
              </a:r>
              <a:r>
                <a:rPr lang="zh-CN" altLang="en-US" sz="1100" i="0">
                  <a:solidFill>
                    <a:schemeClr val="tx1"/>
                  </a:solidFill>
                </a:rPr>
                <a:t>𝑣</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a:t>
              </a:r>
              <a:endParaRPr lang="zh-CN" altLang="en-US" sz="1100" dirty="0">
                <a:solidFill>
                  <a:schemeClr val="tx1"/>
                </a:solidFill>
              </a:endParaRPr>
            </a:p>
          </dgm:t>
        </dgm:pt>
      </mc:Fallback>
    </mc:AlternateContent>
    <dgm:pt modelId="{4CF2A866-7A9C-D340-8F42-2982999DA51A}" type="parTrans" cxnId="{DB03C50E-8E97-0E41-BA3A-7381327822C4}">
      <dgm:prSet/>
      <dgm:spPr/>
      <dgm:t>
        <a:bodyPr/>
        <a:lstStyle/>
        <a:p>
          <a:endParaRPr lang="zh-CN" altLang="en-US"/>
        </a:p>
      </dgm:t>
    </dgm:pt>
    <dgm:pt modelId="{3BBB4015-14F4-7342-A77B-63B058D999DF}" type="sibTrans" cxnId="{DB03C50E-8E97-0E41-BA3A-7381327822C4}">
      <dgm:prSet/>
      <dgm:spPr/>
      <dgm:t>
        <a:bodyPr/>
        <a:lstStyle/>
        <a:p>
          <a:endParaRPr lang="zh-CN" altLang="en-US"/>
        </a:p>
      </dgm:t>
    </dgm:pt>
    <dgm:pt modelId="{7A20F356-8F10-4340-9793-FDB82FE71038}" type="pres">
      <dgm:prSet presAssocID="{88805CB2-8C59-9B4B-BB3B-32409E475F63}" presName="linearFlow" presStyleCnt="0">
        <dgm:presLayoutVars>
          <dgm:resizeHandles val="exact"/>
        </dgm:presLayoutVars>
      </dgm:prSet>
      <dgm:spPr/>
    </dgm:pt>
    <dgm:pt modelId="{AB0C0822-6612-8D4C-9182-0D383C17FF7F}" type="pres">
      <dgm:prSet presAssocID="{007481D5-3900-1A40-B1C2-6375BB5D900F}" presName="node" presStyleLbl="node1" presStyleIdx="0" presStyleCnt="5" custScaleX="63717" custScaleY="31828" custLinFactNeighborX="1399" custLinFactNeighborY="21813">
        <dgm:presLayoutVars>
          <dgm:bulletEnabled val="1"/>
        </dgm:presLayoutVars>
      </dgm:prSet>
      <dgm:spPr/>
      <dgm:t>
        <a:bodyPr/>
        <a:lstStyle/>
        <a:p>
          <a:endParaRPr lang="zh-CN" altLang="en-US"/>
        </a:p>
      </dgm:t>
    </dgm:pt>
    <dgm:pt modelId="{76C3F6CF-B78B-0549-9441-D8DF2602BBD8}" type="pres">
      <dgm:prSet presAssocID="{3588B1CB-8CB7-914B-A77C-F88398347303}" presName="sibTrans" presStyleLbl="sibTrans2D1" presStyleIdx="0" presStyleCnt="4" custScaleX="50924" custScaleY="35364"/>
      <dgm:spPr/>
      <dgm:t>
        <a:bodyPr/>
        <a:lstStyle/>
        <a:p>
          <a:endParaRPr lang="zh-CN" altLang="en-US"/>
        </a:p>
      </dgm:t>
    </dgm:pt>
    <dgm:pt modelId="{438C02FC-D58A-1140-85B1-F7315A785FA1}" type="pres">
      <dgm:prSet presAssocID="{3588B1CB-8CB7-914B-A77C-F88398347303}" presName="connectorText" presStyleLbl="sibTrans2D1" presStyleIdx="0" presStyleCnt="4"/>
      <dgm:spPr/>
      <dgm:t>
        <a:bodyPr/>
        <a:lstStyle/>
        <a:p>
          <a:endParaRPr lang="zh-CN" altLang="en-US"/>
        </a:p>
      </dgm:t>
    </dgm:pt>
    <dgm:pt modelId="{8EA8C3D2-1B23-B348-A6F3-925343A387CC}" type="pres">
      <dgm:prSet presAssocID="{0ABFC839-7222-8845-84F9-1FF9085EC070}" presName="node" presStyleLbl="node1" presStyleIdx="1" presStyleCnt="5" custScaleX="63717" custScaleY="31828" custLinFactNeighborX="1745" custLinFactNeighborY="7124">
        <dgm:presLayoutVars>
          <dgm:bulletEnabled val="1"/>
        </dgm:presLayoutVars>
      </dgm:prSet>
      <dgm:spPr/>
      <dgm:t>
        <a:bodyPr/>
        <a:lstStyle/>
        <a:p>
          <a:endParaRPr lang="zh-CN" altLang="en-US"/>
        </a:p>
      </dgm:t>
    </dgm:pt>
    <dgm:pt modelId="{28C23893-EC00-8642-8F62-233D2AB8055F}" type="pres">
      <dgm:prSet presAssocID="{93B206C5-14DF-1F48-BD92-E543C7D22776}" presName="sibTrans" presStyleLbl="sibTrans2D1" presStyleIdx="1" presStyleCnt="4" custScaleX="50924" custScaleY="35364"/>
      <dgm:spPr/>
      <dgm:t>
        <a:bodyPr/>
        <a:lstStyle/>
        <a:p>
          <a:endParaRPr lang="zh-CN" altLang="en-US"/>
        </a:p>
      </dgm:t>
    </dgm:pt>
    <dgm:pt modelId="{6ED95FE6-3B56-CE48-A1BC-D36A850EAB01}" type="pres">
      <dgm:prSet presAssocID="{93B206C5-14DF-1F48-BD92-E543C7D22776}" presName="connectorText" presStyleLbl="sibTrans2D1" presStyleIdx="1" presStyleCnt="4"/>
      <dgm:spPr/>
      <dgm:t>
        <a:bodyPr/>
        <a:lstStyle/>
        <a:p>
          <a:endParaRPr lang="zh-CN" altLang="en-US"/>
        </a:p>
      </dgm:t>
    </dgm:pt>
    <dgm:pt modelId="{CAAA9A89-08F7-F044-A46F-D1B42B882703}" type="pres">
      <dgm:prSet presAssocID="{FECFA1FE-6C55-0647-8E60-AEF07A9974FD}" presName="node" presStyleLbl="node1" presStyleIdx="2" presStyleCnt="5" custScaleX="63717" custScaleY="31828" custLinFactNeighborX="1399" custLinFactNeighborY="-9891">
        <dgm:presLayoutVars>
          <dgm:bulletEnabled val="1"/>
        </dgm:presLayoutVars>
      </dgm:prSet>
      <dgm:spPr/>
      <dgm:t>
        <a:bodyPr/>
        <a:lstStyle/>
        <a:p>
          <a:endParaRPr lang="zh-CN" altLang="en-US"/>
        </a:p>
      </dgm:t>
    </dgm:pt>
    <dgm:pt modelId="{6AE8B266-9FD4-BE4E-83AF-BB365D630344}" type="pres">
      <dgm:prSet presAssocID="{0562AFB7-84CD-AA49-8C87-12BCBCC658E1}" presName="sibTrans" presStyleLbl="sibTrans2D1" presStyleIdx="2" presStyleCnt="4" custScaleX="50924" custScaleY="35364"/>
      <dgm:spPr/>
      <dgm:t>
        <a:bodyPr/>
        <a:lstStyle/>
        <a:p>
          <a:endParaRPr lang="zh-CN" altLang="en-US"/>
        </a:p>
      </dgm:t>
    </dgm:pt>
    <dgm:pt modelId="{8332C5A3-EB22-1747-9724-BF7805CDD962}" type="pres">
      <dgm:prSet presAssocID="{0562AFB7-84CD-AA49-8C87-12BCBCC658E1}" presName="connectorText" presStyleLbl="sibTrans2D1" presStyleIdx="2" presStyleCnt="4"/>
      <dgm:spPr/>
      <dgm:t>
        <a:bodyPr/>
        <a:lstStyle/>
        <a:p>
          <a:endParaRPr lang="zh-CN" altLang="en-US"/>
        </a:p>
      </dgm:t>
    </dgm:pt>
    <dgm:pt modelId="{DCE4BE14-89D5-634E-8217-BC3E62EE8270}" type="pres">
      <dgm:prSet presAssocID="{FE4679A8-3715-AF45-B31E-B12A37863C9B}" presName="node" presStyleLbl="node1" presStyleIdx="3" presStyleCnt="5" custScaleX="63717" custScaleY="31828" custLinFactNeighborX="1399" custLinFactNeighborY="-24106">
        <dgm:presLayoutVars>
          <dgm:bulletEnabled val="1"/>
        </dgm:presLayoutVars>
      </dgm:prSet>
      <dgm:spPr/>
      <dgm:t>
        <a:bodyPr/>
        <a:lstStyle/>
        <a:p>
          <a:endParaRPr lang="zh-CN" altLang="en-US"/>
        </a:p>
      </dgm:t>
    </dgm:pt>
    <dgm:pt modelId="{A45316A7-ECB8-DF44-BF45-3B35A243DB0A}" type="pres">
      <dgm:prSet presAssocID="{E442906E-16EF-574C-AB97-AC9892D4F8F4}" presName="sibTrans" presStyleLbl="sibTrans2D1" presStyleIdx="3" presStyleCnt="4" custScaleX="50924" custScaleY="35364" custLinFactNeighborX="11676"/>
      <dgm:spPr/>
      <dgm:t>
        <a:bodyPr/>
        <a:lstStyle/>
        <a:p>
          <a:endParaRPr lang="zh-CN" altLang="en-US"/>
        </a:p>
      </dgm:t>
    </dgm:pt>
    <dgm:pt modelId="{DBD1B736-2482-A54A-B021-F3493C5DEDE0}" type="pres">
      <dgm:prSet presAssocID="{E442906E-16EF-574C-AB97-AC9892D4F8F4}" presName="connectorText" presStyleLbl="sibTrans2D1" presStyleIdx="3" presStyleCnt="4"/>
      <dgm:spPr/>
      <dgm:t>
        <a:bodyPr/>
        <a:lstStyle/>
        <a:p>
          <a:endParaRPr lang="zh-CN" altLang="en-US"/>
        </a:p>
      </dgm:t>
    </dgm:pt>
    <dgm:pt modelId="{98DEBAF7-2DBE-0A44-94FC-93060BF0FB5B}" type="pres">
      <dgm:prSet presAssocID="{A66D51AB-040C-984F-B13E-D31665717BD1}" presName="node" presStyleLbl="node1" presStyleIdx="4" presStyleCnt="5" custScaleX="63717" custScaleY="31828" custLinFactNeighborX="1745" custLinFactNeighborY="-40244">
        <dgm:presLayoutVars>
          <dgm:bulletEnabled val="1"/>
        </dgm:presLayoutVars>
      </dgm:prSet>
      <dgm:spPr/>
      <dgm:t>
        <a:bodyPr/>
        <a:lstStyle/>
        <a:p>
          <a:endParaRPr lang="zh-CN" altLang="en-US"/>
        </a:p>
      </dgm:t>
    </dgm:pt>
  </dgm:ptLst>
  <dgm:cxnLst>
    <dgm:cxn modelId="{536BF0F6-F92B-3D4D-B3F1-B0E1412646F3}" type="presOf" srcId="{93B206C5-14DF-1F48-BD92-E543C7D22776}" destId="{28C23893-EC00-8642-8F62-233D2AB8055F}" srcOrd="0" destOrd="0" presId="urn:microsoft.com/office/officeart/2005/8/layout/process2"/>
    <dgm:cxn modelId="{6A7F5D63-752A-CF49-B7F5-7992F2522568}" type="presOf" srcId="{0562AFB7-84CD-AA49-8C87-12BCBCC658E1}" destId="{6AE8B266-9FD4-BE4E-83AF-BB365D630344}" srcOrd="0" destOrd="0" presId="urn:microsoft.com/office/officeart/2005/8/layout/process2"/>
    <dgm:cxn modelId="{4F02A70F-D651-2844-ACB7-F9185247F4EC}" type="presOf" srcId="{E442906E-16EF-574C-AB97-AC9892D4F8F4}" destId="{A45316A7-ECB8-DF44-BF45-3B35A243DB0A}" srcOrd="0" destOrd="0" presId="urn:microsoft.com/office/officeart/2005/8/layout/process2"/>
    <dgm:cxn modelId="{7C57C5E3-231F-2E40-A462-101C22048222}" type="presOf" srcId="{A66D51AB-040C-984F-B13E-D31665717BD1}" destId="{98DEBAF7-2DBE-0A44-94FC-93060BF0FB5B}" srcOrd="0" destOrd="0" presId="urn:microsoft.com/office/officeart/2005/8/layout/process2"/>
    <dgm:cxn modelId="{94A9C78D-89A5-554E-A0BB-D499B26CE2EB}" srcId="{88805CB2-8C59-9B4B-BB3B-32409E475F63}" destId="{FE4679A8-3715-AF45-B31E-B12A37863C9B}" srcOrd="3" destOrd="0" parTransId="{68A952A0-6F93-CB48-A5B0-77799AEC6678}" sibTransId="{E442906E-16EF-574C-AB97-AC9892D4F8F4}"/>
    <dgm:cxn modelId="{A626AA6E-7C32-0C41-8893-CCF5EB68762B}" type="presOf" srcId="{E442906E-16EF-574C-AB97-AC9892D4F8F4}" destId="{DBD1B736-2482-A54A-B021-F3493C5DEDE0}" srcOrd="1" destOrd="0" presId="urn:microsoft.com/office/officeart/2005/8/layout/process2"/>
    <dgm:cxn modelId="{9664A296-A5D6-5F49-9613-DCD62FAE7848}" srcId="{88805CB2-8C59-9B4B-BB3B-32409E475F63}" destId="{007481D5-3900-1A40-B1C2-6375BB5D900F}" srcOrd="0" destOrd="0" parTransId="{06714BD0-0968-2A43-BCC8-28795A1AFEF4}" sibTransId="{3588B1CB-8CB7-914B-A77C-F88398347303}"/>
    <dgm:cxn modelId="{31DB3F8B-1927-F949-BAC8-2D12A088391C}" type="presOf" srcId="{0ABFC839-7222-8845-84F9-1FF9085EC070}" destId="{8EA8C3D2-1B23-B348-A6F3-925343A387CC}" srcOrd="0" destOrd="0" presId="urn:microsoft.com/office/officeart/2005/8/layout/process2"/>
    <dgm:cxn modelId="{ECC678F3-544F-3645-9442-6FC885F20CA5}" type="presOf" srcId="{0562AFB7-84CD-AA49-8C87-12BCBCC658E1}" destId="{8332C5A3-EB22-1747-9724-BF7805CDD962}" srcOrd="1" destOrd="0" presId="urn:microsoft.com/office/officeart/2005/8/layout/process2"/>
    <dgm:cxn modelId="{FE48FE29-AA86-DF40-8911-97CAAC61F132}" type="presOf" srcId="{93B206C5-14DF-1F48-BD92-E543C7D22776}" destId="{6ED95FE6-3B56-CE48-A1BC-D36A850EAB01}" srcOrd="1" destOrd="0" presId="urn:microsoft.com/office/officeart/2005/8/layout/process2"/>
    <dgm:cxn modelId="{24920D63-6C81-8447-969B-B4A1424AAAD5}" srcId="{88805CB2-8C59-9B4B-BB3B-32409E475F63}" destId="{FECFA1FE-6C55-0647-8E60-AEF07A9974FD}" srcOrd="2" destOrd="0" parTransId="{83487C20-1B60-7F41-8682-FF922D1C1A64}" sibTransId="{0562AFB7-84CD-AA49-8C87-12BCBCC658E1}"/>
    <dgm:cxn modelId="{CB178239-BB3F-6345-81AB-C490F08CA081}" type="presOf" srcId="{FE4679A8-3715-AF45-B31E-B12A37863C9B}" destId="{DCE4BE14-89D5-634E-8217-BC3E62EE8270}" srcOrd="0" destOrd="0" presId="urn:microsoft.com/office/officeart/2005/8/layout/process2"/>
    <dgm:cxn modelId="{3AF108E8-7FA5-594F-A116-787896BD7407}" type="presOf" srcId="{3588B1CB-8CB7-914B-A77C-F88398347303}" destId="{76C3F6CF-B78B-0549-9441-D8DF2602BBD8}" srcOrd="0" destOrd="0" presId="urn:microsoft.com/office/officeart/2005/8/layout/process2"/>
    <dgm:cxn modelId="{9C891A88-8D59-F142-948D-346E1D4C89EE}" srcId="{88805CB2-8C59-9B4B-BB3B-32409E475F63}" destId="{0ABFC839-7222-8845-84F9-1FF9085EC070}" srcOrd="1" destOrd="0" parTransId="{D610D2C2-440B-0B4A-AD74-BFFE5CA6F379}" sibTransId="{93B206C5-14DF-1F48-BD92-E543C7D22776}"/>
    <dgm:cxn modelId="{DB03C50E-8E97-0E41-BA3A-7381327822C4}" srcId="{88805CB2-8C59-9B4B-BB3B-32409E475F63}" destId="{A66D51AB-040C-984F-B13E-D31665717BD1}" srcOrd="4" destOrd="0" parTransId="{4CF2A866-7A9C-D340-8F42-2982999DA51A}" sibTransId="{3BBB4015-14F4-7342-A77B-63B058D999DF}"/>
    <dgm:cxn modelId="{A601A58F-2A25-0748-947B-471CA530B1BE}" type="presOf" srcId="{FECFA1FE-6C55-0647-8E60-AEF07A9974FD}" destId="{CAAA9A89-08F7-F044-A46F-D1B42B882703}" srcOrd="0" destOrd="0" presId="urn:microsoft.com/office/officeart/2005/8/layout/process2"/>
    <dgm:cxn modelId="{69C1A88F-C80E-D046-87C6-EEA6D38A0DDB}" type="presOf" srcId="{88805CB2-8C59-9B4B-BB3B-32409E475F63}" destId="{7A20F356-8F10-4340-9793-FDB82FE71038}" srcOrd="0" destOrd="0" presId="urn:microsoft.com/office/officeart/2005/8/layout/process2"/>
    <dgm:cxn modelId="{6DD135B7-9047-A043-BCC2-C30153EC61CC}" type="presOf" srcId="{007481D5-3900-1A40-B1C2-6375BB5D900F}" destId="{AB0C0822-6612-8D4C-9182-0D383C17FF7F}" srcOrd="0" destOrd="0" presId="urn:microsoft.com/office/officeart/2005/8/layout/process2"/>
    <dgm:cxn modelId="{1033BAFC-4E32-BD40-ACAF-215E0F08F669}" type="presOf" srcId="{3588B1CB-8CB7-914B-A77C-F88398347303}" destId="{438C02FC-D58A-1140-85B1-F7315A785FA1}" srcOrd="1" destOrd="0" presId="urn:microsoft.com/office/officeart/2005/8/layout/process2"/>
    <dgm:cxn modelId="{C772BC1D-3A10-EC41-9FDF-A9A05E5B40A2}" type="presParOf" srcId="{7A20F356-8F10-4340-9793-FDB82FE71038}" destId="{AB0C0822-6612-8D4C-9182-0D383C17FF7F}" srcOrd="0" destOrd="0" presId="urn:microsoft.com/office/officeart/2005/8/layout/process2"/>
    <dgm:cxn modelId="{F161933E-99BB-E94F-A8E3-BDE303CE8A84}" type="presParOf" srcId="{7A20F356-8F10-4340-9793-FDB82FE71038}" destId="{76C3F6CF-B78B-0549-9441-D8DF2602BBD8}" srcOrd="1" destOrd="0" presId="urn:microsoft.com/office/officeart/2005/8/layout/process2"/>
    <dgm:cxn modelId="{5B73E6D0-05E8-9043-A298-DEECCB76C053}" type="presParOf" srcId="{76C3F6CF-B78B-0549-9441-D8DF2602BBD8}" destId="{438C02FC-D58A-1140-85B1-F7315A785FA1}" srcOrd="0" destOrd="0" presId="urn:microsoft.com/office/officeart/2005/8/layout/process2"/>
    <dgm:cxn modelId="{6F6732F9-9294-A342-8B35-CF2237DAA236}" type="presParOf" srcId="{7A20F356-8F10-4340-9793-FDB82FE71038}" destId="{8EA8C3D2-1B23-B348-A6F3-925343A387CC}" srcOrd="2" destOrd="0" presId="urn:microsoft.com/office/officeart/2005/8/layout/process2"/>
    <dgm:cxn modelId="{0E514514-49ED-1243-87D7-6DB6C8B5444C}" type="presParOf" srcId="{7A20F356-8F10-4340-9793-FDB82FE71038}" destId="{28C23893-EC00-8642-8F62-233D2AB8055F}" srcOrd="3" destOrd="0" presId="urn:microsoft.com/office/officeart/2005/8/layout/process2"/>
    <dgm:cxn modelId="{AB5EF6FE-FBDB-994A-8B7D-1955CA3C49DD}" type="presParOf" srcId="{28C23893-EC00-8642-8F62-233D2AB8055F}" destId="{6ED95FE6-3B56-CE48-A1BC-D36A850EAB01}" srcOrd="0" destOrd="0" presId="urn:microsoft.com/office/officeart/2005/8/layout/process2"/>
    <dgm:cxn modelId="{49A367EC-B2AE-4B4D-9776-6322759533A3}" type="presParOf" srcId="{7A20F356-8F10-4340-9793-FDB82FE71038}" destId="{CAAA9A89-08F7-F044-A46F-D1B42B882703}" srcOrd="4" destOrd="0" presId="urn:microsoft.com/office/officeart/2005/8/layout/process2"/>
    <dgm:cxn modelId="{67CB6459-8D25-0C42-9DC1-565C78062949}" type="presParOf" srcId="{7A20F356-8F10-4340-9793-FDB82FE71038}" destId="{6AE8B266-9FD4-BE4E-83AF-BB365D630344}" srcOrd="5" destOrd="0" presId="urn:microsoft.com/office/officeart/2005/8/layout/process2"/>
    <dgm:cxn modelId="{9E3A1C21-B7D5-3C4F-B335-FD1777990D0F}" type="presParOf" srcId="{6AE8B266-9FD4-BE4E-83AF-BB365D630344}" destId="{8332C5A3-EB22-1747-9724-BF7805CDD962}" srcOrd="0" destOrd="0" presId="urn:microsoft.com/office/officeart/2005/8/layout/process2"/>
    <dgm:cxn modelId="{88DA491C-9928-7249-91FA-A64FF575C603}" type="presParOf" srcId="{7A20F356-8F10-4340-9793-FDB82FE71038}" destId="{DCE4BE14-89D5-634E-8217-BC3E62EE8270}" srcOrd="6" destOrd="0" presId="urn:microsoft.com/office/officeart/2005/8/layout/process2"/>
    <dgm:cxn modelId="{42BDECB5-BE92-C841-A84D-1DBDA4104950}" type="presParOf" srcId="{7A20F356-8F10-4340-9793-FDB82FE71038}" destId="{A45316A7-ECB8-DF44-BF45-3B35A243DB0A}" srcOrd="7" destOrd="0" presId="urn:microsoft.com/office/officeart/2005/8/layout/process2"/>
    <dgm:cxn modelId="{F3FAFD11-3A59-4141-84CD-73709C35AA93}" type="presParOf" srcId="{A45316A7-ECB8-DF44-BF45-3B35A243DB0A}" destId="{DBD1B736-2482-A54A-B021-F3493C5DEDE0}" srcOrd="0" destOrd="0" presId="urn:microsoft.com/office/officeart/2005/8/layout/process2"/>
    <dgm:cxn modelId="{82334267-4BA6-FD4A-B116-D2412C9224D8}" type="presParOf" srcId="{7A20F356-8F10-4340-9793-FDB82FE71038}" destId="{98DEBAF7-2DBE-0A44-94FC-93060BF0FB5B}" srcOrd="8"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805CB2-8C59-9B4B-BB3B-32409E475F63}" type="doc">
      <dgm:prSet loTypeId="urn:microsoft.com/office/officeart/2005/8/layout/process2" loCatId="" qsTypeId="urn:microsoft.com/office/officeart/2005/8/quickstyle/simple4" qsCatId="simple" csTypeId="urn:microsoft.com/office/officeart/2005/8/colors/accent1_2" csCatId="accent1" phldr="1"/>
      <dgm:spPr/>
    </dgm:pt>
    <dgm:pt modelId="{007481D5-3900-1A40-B1C2-6375BB5D900F}">
      <dgm:prSet phldrT="[文本]" custT="1"/>
      <dgm:spPr>
        <a:blipFill rotWithShape="0">
          <a:blip xmlns:r="http://schemas.openxmlformats.org/officeDocument/2006/relationships" r:embed="rId1"/>
          <a:stretch>
            <a:fillRect/>
          </a:stretch>
        </a:blipFill>
        <a:ln>
          <a:solidFill>
            <a:schemeClr val="tx1"/>
          </a:solidFill>
        </a:ln>
      </dgm:spPr>
      <dgm:t>
        <a:bodyPr/>
        <a:lstStyle/>
        <a:p>
          <a:r>
            <a:rPr lang="zh-CN" altLang="en-US">
              <a:noFill/>
            </a:rPr>
            <a:t> </a:t>
          </a:r>
        </a:p>
      </dgm:t>
    </dgm:pt>
    <dgm:pt modelId="{06714BD0-0968-2A43-BCC8-28795A1AFEF4}" type="parTrans" cxnId="{9664A296-A5D6-5F49-9613-DCD62FAE7848}">
      <dgm:prSet/>
      <dgm:spPr/>
      <dgm:t>
        <a:bodyPr/>
        <a:lstStyle/>
        <a:p>
          <a:endParaRPr lang="zh-CN" altLang="en-US"/>
        </a:p>
      </dgm:t>
    </dgm:pt>
    <dgm:pt modelId="{3588B1CB-8CB7-914B-A77C-F88398347303}" type="sibTrans" cxnId="{9664A296-A5D6-5F49-9613-DCD62FAE7848}">
      <dgm:prSet/>
      <dgm:spPr>
        <a:noFill/>
        <a:ln>
          <a:solidFill>
            <a:schemeClr val="tx1"/>
          </a:solidFill>
        </a:ln>
      </dgm:spPr>
      <dgm:t>
        <a:bodyPr/>
        <a:lstStyle/>
        <a:p>
          <a:endParaRPr lang="zh-CN" altLang="en-US"/>
        </a:p>
      </dgm:t>
    </dgm:pt>
    <dgm:pt modelId="{0ABFC839-7222-8845-84F9-1FF9085EC070}">
      <dgm:prSet phldrT="[文本]" custT="1"/>
      <dgm:spPr>
        <a:blipFill rotWithShape="0">
          <a:blip xmlns:r="http://schemas.openxmlformats.org/officeDocument/2006/relationships" r:embed="rId2"/>
          <a:stretch>
            <a:fillRect/>
          </a:stretch>
        </a:blipFill>
        <a:ln>
          <a:solidFill>
            <a:schemeClr val="tx1"/>
          </a:solidFill>
        </a:ln>
      </dgm:spPr>
      <dgm:t>
        <a:bodyPr/>
        <a:lstStyle/>
        <a:p>
          <a:r>
            <a:rPr lang="zh-CN" altLang="en-US">
              <a:noFill/>
            </a:rPr>
            <a:t> </a:t>
          </a:r>
        </a:p>
      </dgm:t>
    </dgm:pt>
    <dgm:pt modelId="{D610D2C2-440B-0B4A-AD74-BFFE5CA6F379}" type="parTrans" cxnId="{9C891A88-8D59-F142-948D-346E1D4C89EE}">
      <dgm:prSet/>
      <dgm:spPr/>
      <dgm:t>
        <a:bodyPr/>
        <a:lstStyle/>
        <a:p>
          <a:endParaRPr lang="zh-CN" altLang="en-US"/>
        </a:p>
      </dgm:t>
    </dgm:pt>
    <dgm:pt modelId="{93B206C5-14DF-1F48-BD92-E543C7D22776}" type="sibTrans" cxnId="{9C891A88-8D59-F142-948D-346E1D4C89EE}">
      <dgm:prSet/>
      <dgm:spPr>
        <a:noFill/>
        <a:ln>
          <a:solidFill>
            <a:schemeClr val="tx1"/>
          </a:solidFill>
        </a:ln>
      </dgm:spPr>
      <dgm:t>
        <a:bodyPr/>
        <a:lstStyle/>
        <a:p>
          <a:endParaRPr lang="zh-CN" altLang="en-US"/>
        </a:p>
      </dgm:t>
    </dgm:pt>
    <dgm:pt modelId="{FECFA1FE-6C55-0647-8E60-AEF07A9974FD}">
      <dgm:prSet phldrT="[文本]" custT="1"/>
      <dgm:spPr>
        <a:blipFill rotWithShape="0">
          <a:blip xmlns:r="http://schemas.openxmlformats.org/officeDocument/2006/relationships" r:embed="rId3"/>
          <a:stretch>
            <a:fillRect/>
          </a:stretch>
        </a:blipFill>
        <a:ln>
          <a:solidFill>
            <a:schemeClr val="tx1"/>
          </a:solidFill>
        </a:ln>
      </dgm:spPr>
      <dgm:t>
        <a:bodyPr/>
        <a:lstStyle/>
        <a:p>
          <a:r>
            <a:rPr lang="zh-CN" altLang="en-US">
              <a:noFill/>
            </a:rPr>
            <a:t> </a:t>
          </a:r>
        </a:p>
      </dgm:t>
    </dgm:pt>
    <dgm:pt modelId="{83487C20-1B60-7F41-8682-FF922D1C1A64}" type="parTrans" cxnId="{24920D63-6C81-8447-969B-B4A1424AAAD5}">
      <dgm:prSet/>
      <dgm:spPr/>
      <dgm:t>
        <a:bodyPr/>
        <a:lstStyle/>
        <a:p>
          <a:endParaRPr lang="zh-CN" altLang="en-US"/>
        </a:p>
      </dgm:t>
    </dgm:pt>
    <dgm:pt modelId="{0562AFB7-84CD-AA49-8C87-12BCBCC658E1}" type="sibTrans" cxnId="{24920D63-6C81-8447-969B-B4A1424AAAD5}">
      <dgm:prSet/>
      <dgm:spPr>
        <a:noFill/>
        <a:ln>
          <a:solidFill>
            <a:schemeClr val="tx1"/>
          </a:solidFill>
        </a:ln>
      </dgm:spPr>
      <dgm:t>
        <a:bodyPr/>
        <a:lstStyle/>
        <a:p>
          <a:endParaRPr lang="zh-CN" altLang="en-US">
            <a:solidFill>
              <a:schemeClr val="tx1"/>
            </a:solidFill>
          </a:endParaRPr>
        </a:p>
      </dgm:t>
    </dgm:pt>
    <dgm:pt modelId="{FE4679A8-3715-AF45-B31E-B12A37863C9B}">
      <dgm:prSet custT="1"/>
      <dgm:spPr>
        <a:blipFill rotWithShape="0">
          <a:blip xmlns:r="http://schemas.openxmlformats.org/officeDocument/2006/relationships" r:embed="rId4"/>
          <a:stretch>
            <a:fillRect/>
          </a:stretch>
        </a:blipFill>
        <a:ln>
          <a:solidFill>
            <a:schemeClr val="tx1"/>
          </a:solidFill>
        </a:ln>
      </dgm:spPr>
      <dgm:t>
        <a:bodyPr/>
        <a:lstStyle/>
        <a:p>
          <a:r>
            <a:rPr lang="zh-CN" altLang="en-US">
              <a:noFill/>
            </a:rPr>
            <a:t> </a:t>
          </a:r>
        </a:p>
      </dgm:t>
    </dgm:pt>
    <dgm:pt modelId="{68A952A0-6F93-CB48-A5B0-77799AEC6678}" type="parTrans" cxnId="{94A9C78D-89A5-554E-A0BB-D499B26CE2EB}">
      <dgm:prSet/>
      <dgm:spPr/>
      <dgm:t>
        <a:bodyPr/>
        <a:lstStyle/>
        <a:p>
          <a:endParaRPr lang="zh-CN" altLang="en-US"/>
        </a:p>
      </dgm:t>
    </dgm:pt>
    <dgm:pt modelId="{E442906E-16EF-574C-AB97-AC9892D4F8F4}" type="sibTrans" cxnId="{94A9C78D-89A5-554E-A0BB-D499B26CE2EB}">
      <dgm:prSet/>
      <dgm:spPr>
        <a:noFill/>
        <a:ln>
          <a:solidFill>
            <a:schemeClr val="tx1"/>
          </a:solidFill>
        </a:ln>
      </dgm:spPr>
      <dgm:t>
        <a:bodyPr/>
        <a:lstStyle/>
        <a:p>
          <a:endParaRPr lang="zh-CN" altLang="en-US">
            <a:solidFill>
              <a:schemeClr val="tx1"/>
            </a:solidFill>
          </a:endParaRPr>
        </a:p>
      </dgm:t>
    </dgm:pt>
    <dgm:pt modelId="{A66D51AB-040C-984F-B13E-D31665717BD1}">
      <dgm:prSet custT="1"/>
      <dgm:spPr>
        <a:blipFill rotWithShape="0">
          <a:blip xmlns:r="http://schemas.openxmlformats.org/officeDocument/2006/relationships" r:embed="rId5"/>
          <a:stretch>
            <a:fillRect b="-3279"/>
          </a:stretch>
        </a:blipFill>
        <a:ln>
          <a:solidFill>
            <a:schemeClr val="tx1"/>
          </a:solidFill>
        </a:ln>
      </dgm:spPr>
      <dgm:t>
        <a:bodyPr/>
        <a:lstStyle/>
        <a:p>
          <a:r>
            <a:rPr lang="zh-CN" altLang="en-US">
              <a:noFill/>
            </a:rPr>
            <a:t> </a:t>
          </a:r>
        </a:p>
      </dgm:t>
    </dgm:pt>
    <dgm:pt modelId="{4CF2A866-7A9C-D340-8F42-2982999DA51A}" type="parTrans" cxnId="{DB03C50E-8E97-0E41-BA3A-7381327822C4}">
      <dgm:prSet/>
      <dgm:spPr/>
      <dgm:t>
        <a:bodyPr/>
        <a:lstStyle/>
        <a:p>
          <a:endParaRPr lang="zh-CN" altLang="en-US"/>
        </a:p>
      </dgm:t>
    </dgm:pt>
    <dgm:pt modelId="{3BBB4015-14F4-7342-A77B-63B058D999DF}" type="sibTrans" cxnId="{DB03C50E-8E97-0E41-BA3A-7381327822C4}">
      <dgm:prSet/>
      <dgm:spPr/>
      <dgm:t>
        <a:bodyPr/>
        <a:lstStyle/>
        <a:p>
          <a:endParaRPr lang="zh-CN" altLang="en-US"/>
        </a:p>
      </dgm:t>
    </dgm:pt>
    <dgm:pt modelId="{7A20F356-8F10-4340-9793-FDB82FE71038}" type="pres">
      <dgm:prSet presAssocID="{88805CB2-8C59-9B4B-BB3B-32409E475F63}" presName="linearFlow" presStyleCnt="0">
        <dgm:presLayoutVars>
          <dgm:resizeHandles val="exact"/>
        </dgm:presLayoutVars>
      </dgm:prSet>
      <dgm:spPr/>
    </dgm:pt>
    <dgm:pt modelId="{AB0C0822-6612-8D4C-9182-0D383C17FF7F}" type="pres">
      <dgm:prSet presAssocID="{007481D5-3900-1A40-B1C2-6375BB5D900F}" presName="node" presStyleLbl="node1" presStyleIdx="0" presStyleCnt="5" custScaleX="63717" custScaleY="31828" custLinFactNeighborX="1399" custLinFactNeighborY="21813">
        <dgm:presLayoutVars>
          <dgm:bulletEnabled val="1"/>
        </dgm:presLayoutVars>
      </dgm:prSet>
      <dgm:spPr/>
      <dgm:t>
        <a:bodyPr/>
        <a:lstStyle/>
        <a:p>
          <a:endParaRPr lang="zh-CN" altLang="en-US"/>
        </a:p>
      </dgm:t>
    </dgm:pt>
    <dgm:pt modelId="{76C3F6CF-B78B-0549-9441-D8DF2602BBD8}" type="pres">
      <dgm:prSet presAssocID="{3588B1CB-8CB7-914B-A77C-F88398347303}" presName="sibTrans" presStyleLbl="sibTrans2D1" presStyleIdx="0" presStyleCnt="4" custScaleX="50924" custScaleY="35364"/>
      <dgm:spPr/>
    </dgm:pt>
    <dgm:pt modelId="{438C02FC-D58A-1140-85B1-F7315A785FA1}" type="pres">
      <dgm:prSet presAssocID="{3588B1CB-8CB7-914B-A77C-F88398347303}" presName="connectorText" presStyleLbl="sibTrans2D1" presStyleIdx="0" presStyleCnt="4"/>
      <dgm:spPr/>
    </dgm:pt>
    <dgm:pt modelId="{8EA8C3D2-1B23-B348-A6F3-925343A387CC}" type="pres">
      <dgm:prSet presAssocID="{0ABFC839-7222-8845-84F9-1FF9085EC070}" presName="node" presStyleLbl="node1" presStyleIdx="1" presStyleCnt="5" custScaleX="63717" custScaleY="31828" custLinFactNeighborX="1745" custLinFactNeighborY="7124">
        <dgm:presLayoutVars>
          <dgm:bulletEnabled val="1"/>
        </dgm:presLayoutVars>
      </dgm:prSet>
      <dgm:spPr/>
      <dgm:t>
        <a:bodyPr/>
        <a:lstStyle/>
        <a:p>
          <a:endParaRPr lang="zh-CN" altLang="en-US"/>
        </a:p>
      </dgm:t>
    </dgm:pt>
    <dgm:pt modelId="{28C23893-EC00-8642-8F62-233D2AB8055F}" type="pres">
      <dgm:prSet presAssocID="{93B206C5-14DF-1F48-BD92-E543C7D22776}" presName="sibTrans" presStyleLbl="sibTrans2D1" presStyleIdx="1" presStyleCnt="4" custScaleX="50924" custScaleY="35364"/>
      <dgm:spPr/>
    </dgm:pt>
    <dgm:pt modelId="{6ED95FE6-3B56-CE48-A1BC-D36A850EAB01}" type="pres">
      <dgm:prSet presAssocID="{93B206C5-14DF-1F48-BD92-E543C7D22776}" presName="connectorText" presStyleLbl="sibTrans2D1" presStyleIdx="1" presStyleCnt="4"/>
      <dgm:spPr/>
    </dgm:pt>
    <dgm:pt modelId="{CAAA9A89-08F7-F044-A46F-D1B42B882703}" type="pres">
      <dgm:prSet presAssocID="{FECFA1FE-6C55-0647-8E60-AEF07A9974FD}" presName="node" presStyleLbl="node1" presStyleIdx="2" presStyleCnt="5" custScaleX="63717" custScaleY="31828" custLinFactNeighborX="1399" custLinFactNeighborY="-9891">
        <dgm:presLayoutVars>
          <dgm:bulletEnabled val="1"/>
        </dgm:presLayoutVars>
      </dgm:prSet>
      <dgm:spPr/>
      <dgm:t>
        <a:bodyPr/>
        <a:lstStyle/>
        <a:p>
          <a:endParaRPr lang="zh-CN" altLang="en-US"/>
        </a:p>
      </dgm:t>
    </dgm:pt>
    <dgm:pt modelId="{6AE8B266-9FD4-BE4E-83AF-BB365D630344}" type="pres">
      <dgm:prSet presAssocID="{0562AFB7-84CD-AA49-8C87-12BCBCC658E1}" presName="sibTrans" presStyleLbl="sibTrans2D1" presStyleIdx="2" presStyleCnt="4" custScaleX="50924" custScaleY="35364"/>
      <dgm:spPr/>
    </dgm:pt>
    <dgm:pt modelId="{8332C5A3-EB22-1747-9724-BF7805CDD962}" type="pres">
      <dgm:prSet presAssocID="{0562AFB7-84CD-AA49-8C87-12BCBCC658E1}" presName="connectorText" presStyleLbl="sibTrans2D1" presStyleIdx="2" presStyleCnt="4"/>
      <dgm:spPr/>
    </dgm:pt>
    <dgm:pt modelId="{DCE4BE14-89D5-634E-8217-BC3E62EE8270}" type="pres">
      <dgm:prSet presAssocID="{FE4679A8-3715-AF45-B31E-B12A37863C9B}" presName="node" presStyleLbl="node1" presStyleIdx="3" presStyleCnt="5" custScaleX="63717" custScaleY="31828" custLinFactNeighborX="1399" custLinFactNeighborY="-24106">
        <dgm:presLayoutVars>
          <dgm:bulletEnabled val="1"/>
        </dgm:presLayoutVars>
      </dgm:prSet>
      <dgm:spPr/>
      <dgm:t>
        <a:bodyPr/>
        <a:lstStyle/>
        <a:p>
          <a:endParaRPr lang="zh-CN" altLang="en-US"/>
        </a:p>
      </dgm:t>
    </dgm:pt>
    <dgm:pt modelId="{A45316A7-ECB8-DF44-BF45-3B35A243DB0A}" type="pres">
      <dgm:prSet presAssocID="{E442906E-16EF-574C-AB97-AC9892D4F8F4}" presName="sibTrans" presStyleLbl="sibTrans2D1" presStyleIdx="3" presStyleCnt="4" custScaleX="50924" custScaleY="35364" custLinFactNeighborX="11676"/>
      <dgm:spPr/>
    </dgm:pt>
    <dgm:pt modelId="{DBD1B736-2482-A54A-B021-F3493C5DEDE0}" type="pres">
      <dgm:prSet presAssocID="{E442906E-16EF-574C-AB97-AC9892D4F8F4}" presName="connectorText" presStyleLbl="sibTrans2D1" presStyleIdx="3" presStyleCnt="4"/>
      <dgm:spPr/>
    </dgm:pt>
    <dgm:pt modelId="{98DEBAF7-2DBE-0A44-94FC-93060BF0FB5B}" type="pres">
      <dgm:prSet presAssocID="{A66D51AB-040C-984F-B13E-D31665717BD1}" presName="node" presStyleLbl="node1" presStyleIdx="4" presStyleCnt="5" custScaleX="63717" custScaleY="31828" custLinFactNeighborX="1745" custLinFactNeighborY="-40244">
        <dgm:presLayoutVars>
          <dgm:bulletEnabled val="1"/>
        </dgm:presLayoutVars>
      </dgm:prSet>
      <dgm:spPr/>
      <dgm:t>
        <a:bodyPr/>
        <a:lstStyle/>
        <a:p>
          <a:endParaRPr lang="zh-CN" altLang="en-US"/>
        </a:p>
      </dgm:t>
    </dgm:pt>
  </dgm:ptLst>
  <dgm:cxnLst>
    <dgm:cxn modelId="{A626AA6E-7C32-0C41-8893-CCF5EB68762B}" type="presOf" srcId="{E442906E-16EF-574C-AB97-AC9892D4F8F4}" destId="{DBD1B736-2482-A54A-B021-F3493C5DEDE0}" srcOrd="1" destOrd="0" presId="urn:microsoft.com/office/officeart/2005/8/layout/process2"/>
    <dgm:cxn modelId="{1033BAFC-4E32-BD40-ACAF-215E0F08F669}" type="presOf" srcId="{3588B1CB-8CB7-914B-A77C-F88398347303}" destId="{438C02FC-D58A-1140-85B1-F7315A785FA1}" srcOrd="1" destOrd="0" presId="urn:microsoft.com/office/officeart/2005/8/layout/process2"/>
    <dgm:cxn modelId="{DB03C50E-8E97-0E41-BA3A-7381327822C4}" srcId="{88805CB2-8C59-9B4B-BB3B-32409E475F63}" destId="{A66D51AB-040C-984F-B13E-D31665717BD1}" srcOrd="4" destOrd="0" parTransId="{4CF2A866-7A9C-D340-8F42-2982999DA51A}" sibTransId="{3BBB4015-14F4-7342-A77B-63B058D999DF}"/>
    <dgm:cxn modelId="{6A7F5D63-752A-CF49-B7F5-7992F2522568}" type="presOf" srcId="{0562AFB7-84CD-AA49-8C87-12BCBCC658E1}" destId="{6AE8B266-9FD4-BE4E-83AF-BB365D630344}" srcOrd="0" destOrd="0" presId="urn:microsoft.com/office/officeart/2005/8/layout/process2"/>
    <dgm:cxn modelId="{7C57C5E3-231F-2E40-A462-101C22048222}" type="presOf" srcId="{A66D51AB-040C-984F-B13E-D31665717BD1}" destId="{98DEBAF7-2DBE-0A44-94FC-93060BF0FB5B}" srcOrd="0" destOrd="0" presId="urn:microsoft.com/office/officeart/2005/8/layout/process2"/>
    <dgm:cxn modelId="{4F02A70F-D651-2844-ACB7-F9185247F4EC}" type="presOf" srcId="{E442906E-16EF-574C-AB97-AC9892D4F8F4}" destId="{A45316A7-ECB8-DF44-BF45-3B35A243DB0A}" srcOrd="0" destOrd="0" presId="urn:microsoft.com/office/officeart/2005/8/layout/process2"/>
    <dgm:cxn modelId="{94A9C78D-89A5-554E-A0BB-D499B26CE2EB}" srcId="{88805CB2-8C59-9B4B-BB3B-32409E475F63}" destId="{FE4679A8-3715-AF45-B31E-B12A37863C9B}" srcOrd="3" destOrd="0" parTransId="{68A952A0-6F93-CB48-A5B0-77799AEC6678}" sibTransId="{E442906E-16EF-574C-AB97-AC9892D4F8F4}"/>
    <dgm:cxn modelId="{3AF108E8-7FA5-594F-A116-787896BD7407}" type="presOf" srcId="{3588B1CB-8CB7-914B-A77C-F88398347303}" destId="{76C3F6CF-B78B-0549-9441-D8DF2602BBD8}" srcOrd="0" destOrd="0" presId="urn:microsoft.com/office/officeart/2005/8/layout/process2"/>
    <dgm:cxn modelId="{6DD135B7-9047-A043-BCC2-C30153EC61CC}" type="presOf" srcId="{007481D5-3900-1A40-B1C2-6375BB5D900F}" destId="{AB0C0822-6612-8D4C-9182-0D383C17FF7F}" srcOrd="0" destOrd="0" presId="urn:microsoft.com/office/officeart/2005/8/layout/process2"/>
    <dgm:cxn modelId="{24920D63-6C81-8447-969B-B4A1424AAAD5}" srcId="{88805CB2-8C59-9B4B-BB3B-32409E475F63}" destId="{FECFA1FE-6C55-0647-8E60-AEF07A9974FD}" srcOrd="2" destOrd="0" parTransId="{83487C20-1B60-7F41-8682-FF922D1C1A64}" sibTransId="{0562AFB7-84CD-AA49-8C87-12BCBCC658E1}"/>
    <dgm:cxn modelId="{31DB3F8B-1927-F949-BAC8-2D12A088391C}" type="presOf" srcId="{0ABFC839-7222-8845-84F9-1FF9085EC070}" destId="{8EA8C3D2-1B23-B348-A6F3-925343A387CC}" srcOrd="0" destOrd="0" presId="urn:microsoft.com/office/officeart/2005/8/layout/process2"/>
    <dgm:cxn modelId="{ECC678F3-544F-3645-9442-6FC885F20CA5}" type="presOf" srcId="{0562AFB7-84CD-AA49-8C87-12BCBCC658E1}" destId="{8332C5A3-EB22-1747-9724-BF7805CDD962}" srcOrd="1" destOrd="0" presId="urn:microsoft.com/office/officeart/2005/8/layout/process2"/>
    <dgm:cxn modelId="{536BF0F6-F92B-3D4D-B3F1-B0E1412646F3}" type="presOf" srcId="{93B206C5-14DF-1F48-BD92-E543C7D22776}" destId="{28C23893-EC00-8642-8F62-233D2AB8055F}" srcOrd="0" destOrd="0" presId="urn:microsoft.com/office/officeart/2005/8/layout/process2"/>
    <dgm:cxn modelId="{9C891A88-8D59-F142-948D-346E1D4C89EE}" srcId="{88805CB2-8C59-9B4B-BB3B-32409E475F63}" destId="{0ABFC839-7222-8845-84F9-1FF9085EC070}" srcOrd="1" destOrd="0" parTransId="{D610D2C2-440B-0B4A-AD74-BFFE5CA6F379}" sibTransId="{93B206C5-14DF-1F48-BD92-E543C7D22776}"/>
    <dgm:cxn modelId="{69C1A88F-C80E-D046-87C6-EEA6D38A0DDB}" type="presOf" srcId="{88805CB2-8C59-9B4B-BB3B-32409E475F63}" destId="{7A20F356-8F10-4340-9793-FDB82FE71038}" srcOrd="0" destOrd="0" presId="urn:microsoft.com/office/officeart/2005/8/layout/process2"/>
    <dgm:cxn modelId="{A601A58F-2A25-0748-947B-471CA530B1BE}" type="presOf" srcId="{FECFA1FE-6C55-0647-8E60-AEF07A9974FD}" destId="{CAAA9A89-08F7-F044-A46F-D1B42B882703}" srcOrd="0" destOrd="0" presId="urn:microsoft.com/office/officeart/2005/8/layout/process2"/>
    <dgm:cxn modelId="{CB178239-BB3F-6345-81AB-C490F08CA081}" type="presOf" srcId="{FE4679A8-3715-AF45-B31E-B12A37863C9B}" destId="{DCE4BE14-89D5-634E-8217-BC3E62EE8270}" srcOrd="0" destOrd="0" presId="urn:microsoft.com/office/officeart/2005/8/layout/process2"/>
    <dgm:cxn modelId="{9664A296-A5D6-5F49-9613-DCD62FAE7848}" srcId="{88805CB2-8C59-9B4B-BB3B-32409E475F63}" destId="{007481D5-3900-1A40-B1C2-6375BB5D900F}" srcOrd="0" destOrd="0" parTransId="{06714BD0-0968-2A43-BCC8-28795A1AFEF4}" sibTransId="{3588B1CB-8CB7-914B-A77C-F88398347303}"/>
    <dgm:cxn modelId="{FE48FE29-AA86-DF40-8911-97CAAC61F132}" type="presOf" srcId="{93B206C5-14DF-1F48-BD92-E543C7D22776}" destId="{6ED95FE6-3B56-CE48-A1BC-D36A850EAB01}" srcOrd="1" destOrd="0" presId="urn:microsoft.com/office/officeart/2005/8/layout/process2"/>
    <dgm:cxn modelId="{C772BC1D-3A10-EC41-9FDF-A9A05E5B40A2}" type="presParOf" srcId="{7A20F356-8F10-4340-9793-FDB82FE71038}" destId="{AB0C0822-6612-8D4C-9182-0D383C17FF7F}" srcOrd="0" destOrd="0" presId="urn:microsoft.com/office/officeart/2005/8/layout/process2"/>
    <dgm:cxn modelId="{F161933E-99BB-E94F-A8E3-BDE303CE8A84}" type="presParOf" srcId="{7A20F356-8F10-4340-9793-FDB82FE71038}" destId="{76C3F6CF-B78B-0549-9441-D8DF2602BBD8}" srcOrd="1" destOrd="0" presId="urn:microsoft.com/office/officeart/2005/8/layout/process2"/>
    <dgm:cxn modelId="{5B73E6D0-05E8-9043-A298-DEECCB76C053}" type="presParOf" srcId="{76C3F6CF-B78B-0549-9441-D8DF2602BBD8}" destId="{438C02FC-D58A-1140-85B1-F7315A785FA1}" srcOrd="0" destOrd="0" presId="urn:microsoft.com/office/officeart/2005/8/layout/process2"/>
    <dgm:cxn modelId="{6F6732F9-9294-A342-8B35-CF2237DAA236}" type="presParOf" srcId="{7A20F356-8F10-4340-9793-FDB82FE71038}" destId="{8EA8C3D2-1B23-B348-A6F3-925343A387CC}" srcOrd="2" destOrd="0" presId="urn:microsoft.com/office/officeart/2005/8/layout/process2"/>
    <dgm:cxn modelId="{0E514514-49ED-1243-87D7-6DB6C8B5444C}" type="presParOf" srcId="{7A20F356-8F10-4340-9793-FDB82FE71038}" destId="{28C23893-EC00-8642-8F62-233D2AB8055F}" srcOrd="3" destOrd="0" presId="urn:microsoft.com/office/officeart/2005/8/layout/process2"/>
    <dgm:cxn modelId="{AB5EF6FE-FBDB-994A-8B7D-1955CA3C49DD}" type="presParOf" srcId="{28C23893-EC00-8642-8F62-233D2AB8055F}" destId="{6ED95FE6-3B56-CE48-A1BC-D36A850EAB01}" srcOrd="0" destOrd="0" presId="urn:microsoft.com/office/officeart/2005/8/layout/process2"/>
    <dgm:cxn modelId="{49A367EC-B2AE-4B4D-9776-6322759533A3}" type="presParOf" srcId="{7A20F356-8F10-4340-9793-FDB82FE71038}" destId="{CAAA9A89-08F7-F044-A46F-D1B42B882703}" srcOrd="4" destOrd="0" presId="urn:microsoft.com/office/officeart/2005/8/layout/process2"/>
    <dgm:cxn modelId="{67CB6459-8D25-0C42-9DC1-565C78062949}" type="presParOf" srcId="{7A20F356-8F10-4340-9793-FDB82FE71038}" destId="{6AE8B266-9FD4-BE4E-83AF-BB365D630344}" srcOrd="5" destOrd="0" presId="urn:microsoft.com/office/officeart/2005/8/layout/process2"/>
    <dgm:cxn modelId="{9E3A1C21-B7D5-3C4F-B335-FD1777990D0F}" type="presParOf" srcId="{6AE8B266-9FD4-BE4E-83AF-BB365D630344}" destId="{8332C5A3-EB22-1747-9724-BF7805CDD962}" srcOrd="0" destOrd="0" presId="urn:microsoft.com/office/officeart/2005/8/layout/process2"/>
    <dgm:cxn modelId="{88DA491C-9928-7249-91FA-A64FF575C603}" type="presParOf" srcId="{7A20F356-8F10-4340-9793-FDB82FE71038}" destId="{DCE4BE14-89D5-634E-8217-BC3E62EE8270}" srcOrd="6" destOrd="0" presId="urn:microsoft.com/office/officeart/2005/8/layout/process2"/>
    <dgm:cxn modelId="{42BDECB5-BE92-C841-A84D-1DBDA4104950}" type="presParOf" srcId="{7A20F356-8F10-4340-9793-FDB82FE71038}" destId="{A45316A7-ECB8-DF44-BF45-3B35A243DB0A}" srcOrd="7" destOrd="0" presId="urn:microsoft.com/office/officeart/2005/8/layout/process2"/>
    <dgm:cxn modelId="{F3FAFD11-3A59-4141-84CD-73709C35AA93}" type="presParOf" srcId="{A45316A7-ECB8-DF44-BF45-3B35A243DB0A}" destId="{DBD1B736-2482-A54A-B021-F3493C5DEDE0}" srcOrd="0" destOrd="0" presId="urn:microsoft.com/office/officeart/2005/8/layout/process2"/>
    <dgm:cxn modelId="{82334267-4BA6-FD4A-B116-D2412C9224D8}" type="presParOf" srcId="{7A20F356-8F10-4340-9793-FDB82FE71038}" destId="{98DEBAF7-2DBE-0A44-94FC-93060BF0FB5B}" srcOrd="8"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805CB2-8C59-9B4B-BB3B-32409E475F63}" type="doc">
      <dgm:prSet loTypeId="urn:microsoft.com/office/officeart/2005/8/layout/process2" loCatId="" qsTypeId="urn:microsoft.com/office/officeart/2005/8/quickstyle/simple4" qsCatId="simple" csTypeId="urn:microsoft.com/office/officeart/2005/8/colors/accent1_2" csCatId="accent1" phldr="1"/>
      <dgm:spPr/>
    </dgm:pt>
    <mc:AlternateContent xmlns:mc="http://schemas.openxmlformats.org/markup-compatibility/2006" xmlns:a14="http://schemas.microsoft.com/office/drawing/2010/main">
      <mc:Choice Requires="a14">
        <dgm:pt modelId="{007481D5-3900-1A40-B1C2-6375BB5D900F}">
          <dgm:prSet phldrT="[文本]" custT="1"/>
          <dgm:spPr>
            <a:noFill/>
            <a:ln>
              <a:solidFill>
                <a:schemeClr val="tx1"/>
              </a:solidFill>
            </a:ln>
          </dgm:spPr>
          <dgm:t>
            <a:bodyPr/>
            <a:lstStyle/>
            <a:p>
              <a:r>
                <a:rPr lang="zh-CN" sz="1100" dirty="0" smtClean="0">
                  <a:solidFill>
                    <a:schemeClr val="tx1"/>
                  </a:solidFill>
                </a:rPr>
                <a:t>变动</a:t>
              </a:r>
              <a14:m>
                <m:oMath xmlns:m="http://schemas.openxmlformats.org/officeDocument/2006/math">
                  <m:r>
                    <a:rPr lang="zh-CN" altLang="en-US" sz="1100" i="1">
                      <a:solidFill>
                        <a:schemeClr val="tx1"/>
                      </a:solidFill>
                      <a:latin typeface="Cambria Math" charset="0"/>
                    </a:rPr>
                    <m:t>𝑉</m:t>
                  </m:r>
                  <m:r>
                    <a:rPr lang="zh-CN" sz="1100" i="1">
                      <a:solidFill>
                        <a:schemeClr val="tx1"/>
                      </a:solidFill>
                      <a:latin typeface="Cambria Math" charset="0"/>
                    </a:rPr>
                    <m:t>,</m:t>
                  </m:r>
                  <m:r>
                    <a:rPr lang="zh-CN" altLang="en-US" sz="1100" i="1">
                      <a:solidFill>
                        <a:schemeClr val="tx1"/>
                      </a:solidFill>
                      <a:latin typeface="Cambria Math" charset="0"/>
                    </a:rPr>
                    <m:t>𝐼</m:t>
                  </m:r>
                </m:oMath>
              </a14:m>
              <a:r>
                <a:rPr lang="zh-CN" sz="1100" dirty="0">
                  <a:solidFill>
                    <a:schemeClr val="tx1"/>
                  </a:solidFill>
                </a:rPr>
                <a:t>，可得到不同结果集</a:t>
              </a:r>
              <a14:m>
                <m:oMath xmlns:m="http://schemas.openxmlformats.org/officeDocument/2006/math">
                  <m:sSub>
                    <m:sSubPr>
                      <m:ctrlPr>
                        <a:rPr lang="zh-CN" sz="1100" i="1">
                          <a:solidFill>
                            <a:schemeClr val="tx1"/>
                          </a:solidFill>
                          <a:latin typeface="Cambria Math" charset="0"/>
                        </a:rPr>
                      </m:ctrlPr>
                    </m:sSubPr>
                    <m:e>
                      <m:r>
                        <a:rPr lang="zh-CN" altLang="en-US" sz="1100" i="1">
                          <a:solidFill>
                            <a:schemeClr val="tx1"/>
                          </a:solidFill>
                          <a:latin typeface="Cambria Math" charset="0"/>
                        </a:rPr>
                        <m:t>𝑆𝑒𝑡</m:t>
                      </m:r>
                    </m:e>
                    <m:sub>
                      <m:r>
                        <a:rPr lang="zh-CN" altLang="en-US" sz="1100" i="1">
                          <a:solidFill>
                            <a:schemeClr val="tx1"/>
                          </a:solidFill>
                          <a:latin typeface="Cambria Math" charset="0"/>
                        </a:rPr>
                        <m:t>𝑣</m:t>
                      </m:r>
                      <m:r>
                        <a:rPr lang="zh-CN" sz="1100" i="1">
                          <a:solidFill>
                            <a:schemeClr val="tx1"/>
                          </a:solidFill>
                          <a:latin typeface="Cambria Math" charset="0"/>
                        </a:rPr>
                        <m:t>,</m:t>
                      </m:r>
                      <m:r>
                        <a:rPr lang="zh-CN" altLang="en-US" sz="1100" i="1">
                          <a:solidFill>
                            <a:schemeClr val="tx1"/>
                          </a:solidFill>
                          <a:latin typeface="Cambria Math" charset="0"/>
                        </a:rPr>
                        <m:t>𝑖</m:t>
                      </m:r>
                    </m:sub>
                  </m:sSub>
                </m:oMath>
              </a14:m>
              <a:r>
                <a:rPr lang="zh-CN" sz="1100" dirty="0" smtClean="0">
                  <a:solidFill>
                    <a:schemeClr val="tx1"/>
                  </a:solidFill>
                </a:rPr>
                <a:t>，</a:t>
              </a:r>
              <a:endParaRPr lang="zh-CN" altLang="en-US" sz="1100" dirty="0" smtClean="0">
                <a:solidFill>
                  <a:schemeClr val="tx1"/>
                </a:solidFill>
              </a:endParaRPr>
            </a:p>
            <a:p>
              <a:r>
                <a:rPr lang="zh-CN" sz="1100" dirty="0" smtClean="0">
                  <a:solidFill>
                    <a:schemeClr val="tx1"/>
                  </a:solidFill>
                </a:rPr>
                <a:t>记</a:t>
              </a:r>
              <a:r>
                <a:rPr lang="zh-CN" sz="1100" dirty="0">
                  <a:solidFill>
                    <a:schemeClr val="tx1"/>
                  </a:solidFill>
                </a:rPr>
                <a:t>之为</a:t>
              </a:r>
              <a14:m>
                <m:oMath xmlns:m="http://schemas.openxmlformats.org/officeDocument/2006/math">
                  <m:sSub>
                    <m:sSubPr>
                      <m:ctrlPr>
                        <a:rPr lang="zh-CN" sz="1100" i="1">
                          <a:solidFill>
                            <a:schemeClr val="tx1"/>
                          </a:solidFill>
                          <a:latin typeface="Cambria Math" charset="0"/>
                        </a:rPr>
                      </m:ctrlPr>
                    </m:sSubPr>
                    <m:e>
                      <m:r>
                        <a:rPr lang="zh-CN" altLang="en-US" sz="1100" i="1">
                          <a:solidFill>
                            <a:schemeClr val="tx1"/>
                          </a:solidFill>
                          <a:latin typeface="Cambria Math" charset="0"/>
                        </a:rPr>
                        <m:t>𝑠𝑒𝑡</m:t>
                      </m:r>
                    </m:e>
                    <m:sub>
                      <m:r>
                        <a:rPr lang="zh-CN" altLang="en-US" sz="1100" i="1">
                          <a:solidFill>
                            <a:schemeClr val="tx1"/>
                          </a:solidFill>
                          <a:latin typeface="Cambria Math" charset="0"/>
                        </a:rPr>
                        <m:t>𝑉</m:t>
                      </m:r>
                      <m:r>
                        <a:rPr lang="zh-CN" sz="1100" i="1">
                          <a:solidFill>
                            <a:schemeClr val="tx1"/>
                          </a:solidFill>
                          <a:latin typeface="Cambria Math" charset="0"/>
                        </a:rPr>
                        <m:t>,</m:t>
                      </m:r>
                      <m:r>
                        <a:rPr lang="zh-CN" altLang="en-US" sz="1100" i="1">
                          <a:solidFill>
                            <a:schemeClr val="tx1"/>
                          </a:solidFill>
                          <a:latin typeface="Cambria Math" charset="0"/>
                        </a:rPr>
                        <m:t>𝐼</m:t>
                      </m:r>
                    </m:sub>
                  </m:sSub>
                  <m:r>
                    <a:rPr lang="en-US" altLang="zh-CN" sz="1100" i="1" smtClean="0">
                      <a:solidFill>
                        <a:schemeClr val="tx1"/>
                      </a:solidFill>
                      <a:latin typeface="Cambria Math" charset="0"/>
                    </a:rPr>
                    <m:t>|</m:t>
                  </m:r>
                  <m:r>
                    <a:rPr lang="zh-CN" altLang="en-US" sz="1100" i="1">
                      <a:solidFill>
                        <a:schemeClr val="tx1"/>
                      </a:solidFill>
                      <a:latin typeface="Cambria Math" charset="0"/>
                    </a:rPr>
                    <m:t>𝑣</m:t>
                  </m:r>
                  <m:r>
                    <a:rPr lang="en-US" altLang="zh-CN" sz="1100" i="1">
                      <a:solidFill>
                        <a:schemeClr val="tx1"/>
                      </a:solidFill>
                      <a:latin typeface="Cambria Math" charset="0"/>
                    </a:rPr>
                    <m:t>,</m:t>
                  </m:r>
                  <m:r>
                    <a:rPr lang="zh-CN" altLang="en-US" sz="1100" i="1">
                      <a:solidFill>
                        <a:schemeClr val="tx1"/>
                      </a:solidFill>
                      <a:latin typeface="Cambria Math" charset="0"/>
                    </a:rPr>
                    <m:t>𝑖</m:t>
                  </m:r>
                  <m:r>
                    <a:rPr lang="en-US" altLang="zh-CN" sz="1100" i="1">
                      <a:solidFill>
                        <a:schemeClr val="tx1"/>
                      </a:solidFill>
                      <a:latin typeface="Cambria Math" charset="0"/>
                    </a:rPr>
                    <m:t>)=</m:t>
                  </m:r>
                  <m:limUpp>
                    <m:limUppPr>
                      <m:ctrlPr>
                        <a:rPr lang="zh-CN" altLang="en-US" sz="1100" i="1">
                          <a:solidFill>
                            <a:schemeClr val="tx1"/>
                          </a:solidFill>
                          <a:latin typeface="Cambria Math" charset="0"/>
                        </a:rPr>
                      </m:ctrlPr>
                    </m:limUppPr>
                    <m:e>
                      <m:limLow>
                        <m:limLowPr>
                          <m:ctrlPr>
                            <a:rPr lang="zh-CN" altLang="en-US" sz="1100" i="1">
                              <a:solidFill>
                                <a:schemeClr val="tx1"/>
                              </a:solidFill>
                              <a:latin typeface="Cambria Math" charset="0"/>
                            </a:rPr>
                          </m:ctrlPr>
                        </m:limLowPr>
                        <m:e>
                          <m:r>
                            <a:rPr lang="zh-CN" altLang="en-US" sz="1100" i="1">
                              <a:solidFill>
                                <a:schemeClr val="tx1"/>
                              </a:solidFill>
                              <a:latin typeface="Cambria Math" charset="0"/>
                            </a:rPr>
                            <m:t>∏</m:t>
                          </m:r>
                        </m:e>
                        <m:lim>
                          <m:r>
                            <a:rPr lang="zh-CN" altLang="en-US" sz="1100" i="1">
                              <a:solidFill>
                                <a:schemeClr val="tx1"/>
                              </a:solidFill>
                              <a:latin typeface="Cambria Math" charset="0"/>
                            </a:rPr>
                            <m:t>𝑖</m:t>
                          </m:r>
                          <m:r>
                            <a:rPr lang="en-US" altLang="zh-CN" sz="1100" i="1">
                              <a:solidFill>
                                <a:schemeClr val="tx1"/>
                              </a:solidFill>
                              <a:latin typeface="Cambria Math" charset="0"/>
                            </a:rPr>
                            <m:t>=1</m:t>
                          </m:r>
                        </m:lim>
                      </m:limLow>
                    </m:e>
                    <m:lim>
                      <m:r>
                        <a:rPr lang="zh-CN" altLang="en-US" sz="1100" i="1">
                          <a:solidFill>
                            <a:schemeClr val="tx1"/>
                          </a:solidFill>
                          <a:latin typeface="Cambria Math" charset="0"/>
                        </a:rPr>
                        <m:t>𝑁</m:t>
                      </m:r>
                    </m:lim>
                  </m:limUpp>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𝑓</m:t>
                      </m:r>
                    </m:e>
                    <m:sub>
                      <m:r>
                        <a:rPr lang="zh-CN" altLang="en-US" sz="1100" i="1">
                          <a:solidFill>
                            <a:schemeClr val="tx1"/>
                          </a:solidFill>
                          <a:latin typeface="Cambria Math" charset="0"/>
                        </a:rPr>
                        <m:t>𝑇</m:t>
                      </m:r>
                    </m:sub>
                  </m:sSub>
                  <m:r>
                    <a:rPr lang="en-US" altLang="zh-CN" sz="1100" i="1">
                      <a:solidFill>
                        <a:schemeClr val="tx1"/>
                      </a:solidFill>
                      <a:latin typeface="Cambria Math" charset="0"/>
                    </a:rPr>
                    <m:t>(</m:t>
                  </m:r>
                  <m:sSub>
                    <m:sSubPr>
                      <m:ctrlPr>
                        <a:rPr lang="zh-CN" altLang="en-US" sz="1100" i="1">
                          <a:solidFill>
                            <a:schemeClr val="tx1"/>
                          </a:solidFill>
                          <a:latin typeface="Cambria Math" charset="0"/>
                        </a:rPr>
                      </m:ctrlPr>
                    </m:sSubPr>
                    <m:e>
                      <m:r>
                        <a:rPr lang="zh-CN" altLang="en-US" sz="1100" i="1">
                          <a:solidFill>
                            <a:schemeClr val="tx1"/>
                          </a:solidFill>
                          <a:latin typeface="Cambria Math" charset="0"/>
                        </a:rPr>
                        <m:t>𝑇</m:t>
                      </m:r>
                    </m:e>
                    <m:sub>
                      <m:r>
                        <a:rPr lang="zh-CN" altLang="en-US" sz="1100" i="1">
                          <a:solidFill>
                            <a:schemeClr val="tx1"/>
                          </a:solidFill>
                          <a:latin typeface="Cambria Math" charset="0"/>
                        </a:rPr>
                        <m:t>𝑔</m:t>
                      </m:r>
                      <m:r>
                        <a:rPr lang="en-US" altLang="zh-CN" sz="1100" i="1">
                          <a:solidFill>
                            <a:schemeClr val="tx1"/>
                          </a:solidFill>
                          <a:latin typeface="Cambria Math" charset="0"/>
                        </a:rPr>
                        <m:t>,</m:t>
                      </m:r>
                      <m:r>
                        <a:rPr lang="zh-CN" altLang="en-US" sz="1100" i="1">
                          <a:solidFill>
                            <a:schemeClr val="tx1"/>
                          </a:solidFill>
                          <a:latin typeface="Cambria Math" charset="0"/>
                        </a:rPr>
                        <m:t>𝑖</m:t>
                      </m:r>
                    </m:sub>
                  </m:sSub>
                  <m:r>
                    <a:rPr lang="en-US" altLang="zh-CN" sz="1100" i="1">
                      <a:solidFill>
                        <a:schemeClr val="tx1"/>
                      </a:solidFill>
                      <a:latin typeface="Cambria Math" charset="0"/>
                    </a:rPr>
                    <m:t>|</m:t>
                  </m:r>
                  <m:r>
                    <a:rPr lang="zh-CN" altLang="en-US" sz="1100" i="1">
                      <a:solidFill>
                        <a:schemeClr val="tx1"/>
                      </a:solidFill>
                      <a:latin typeface="Cambria Math" charset="0"/>
                    </a:rPr>
                    <m:t>𝑣</m:t>
                  </m:r>
                  <m:r>
                    <a:rPr lang="en-US" altLang="zh-CN" sz="1100" i="1">
                      <a:solidFill>
                        <a:schemeClr val="tx1"/>
                      </a:solidFill>
                      <a:latin typeface="Cambria Math" charset="0"/>
                    </a:rPr>
                    <m:t>,</m:t>
                  </m:r>
                  <m:r>
                    <a:rPr lang="zh-CN" altLang="en-US" sz="1100" i="1">
                      <a:solidFill>
                        <a:schemeClr val="tx1"/>
                      </a:solidFill>
                      <a:latin typeface="Cambria Math" charset="0"/>
                    </a:rPr>
                    <m:t>𝑖</m:t>
                  </m:r>
                  <m:r>
                    <a:rPr lang="en-US" altLang="zh-CN" sz="1100" i="1">
                      <a:solidFill>
                        <a:schemeClr val="tx1"/>
                      </a:solidFill>
                      <a:latin typeface="Cambria Math" charset="0"/>
                    </a:rPr>
                    <m:t>)</m:t>
                  </m:r>
                </m:oMath>
              </a14:m>
              <a:endParaRPr lang="zh-CN" altLang="en-US" sz="1100" dirty="0">
                <a:solidFill>
                  <a:schemeClr val="tx1"/>
                </a:solidFill>
              </a:endParaRPr>
            </a:p>
          </dgm:t>
        </dgm:pt>
      </mc:Choice>
      <mc:Fallback xmlns="">
        <dgm:pt modelId="{007481D5-3900-1A40-B1C2-6375BB5D900F}">
          <dgm:prSet phldrT="[文本]" custT="1"/>
          <dgm:spPr>
            <a:noFill/>
            <a:ln>
              <a:solidFill>
                <a:schemeClr val="tx1"/>
              </a:solidFill>
            </a:ln>
          </dgm:spPr>
          <dgm:t>
            <a:bodyPr/>
            <a:lstStyle/>
            <a:p>
              <a:r>
                <a:rPr lang="zh-CN" sz="1100" dirty="0" smtClean="0">
                  <a:solidFill>
                    <a:schemeClr val="tx1"/>
                  </a:solidFill>
                </a:rPr>
                <a:t>变动</a:t>
              </a:r>
              <a:r>
                <a:rPr lang="zh-CN" altLang="en-US" sz="1100" i="0">
                  <a:solidFill>
                    <a:schemeClr val="tx1"/>
                  </a:solidFill>
                </a:rPr>
                <a:t>𝑉</a:t>
              </a:r>
              <a:r>
                <a:rPr lang="zh-CN" sz="1100" i="0">
                  <a:solidFill>
                    <a:schemeClr val="tx1"/>
                  </a:solidFill>
                </a:rPr>
                <a:t>,</a:t>
              </a:r>
              <a:r>
                <a:rPr lang="zh-CN" altLang="en-US" sz="1100" i="0">
                  <a:solidFill>
                    <a:schemeClr val="tx1"/>
                  </a:solidFill>
                </a:rPr>
                <a:t>𝐼</a:t>
              </a:r>
              <a:r>
                <a:rPr lang="zh-CN" sz="1100" dirty="0">
                  <a:solidFill>
                    <a:schemeClr val="tx1"/>
                  </a:solidFill>
                </a:rPr>
                <a:t>，可得到不同结果集</a:t>
              </a:r>
              <a:r>
                <a:rPr lang="en-US" altLang="zh-CN" sz="1100" i="0">
                  <a:solidFill>
                    <a:schemeClr val="tx1"/>
                  </a:solidFill>
                </a:rPr>
                <a:t>〖</a:t>
              </a:r>
              <a:r>
                <a:rPr lang="zh-CN" altLang="en-US" sz="1100" i="0">
                  <a:solidFill>
                    <a:schemeClr val="tx1"/>
                  </a:solidFill>
                </a:rPr>
                <a:t>𝑆𝑒𝑡</a:t>
              </a:r>
              <a:r>
                <a:rPr lang="en-US" altLang="zh-CN" sz="1100" i="0">
                  <a:solidFill>
                    <a:schemeClr val="tx1"/>
                  </a:solidFill>
                </a:rPr>
                <a:t>〗_(</a:t>
              </a:r>
              <a:r>
                <a:rPr lang="zh-CN" altLang="en-US" sz="1100" i="0">
                  <a:solidFill>
                    <a:schemeClr val="tx1"/>
                  </a:solidFill>
                </a:rPr>
                <a:t>𝑣</a:t>
              </a:r>
              <a:r>
                <a:rPr lang="zh-CN" sz="1100" i="0">
                  <a:solidFill>
                    <a:schemeClr val="tx1"/>
                  </a:solidFill>
                </a:rPr>
                <a:t>,</a:t>
              </a:r>
              <a:r>
                <a:rPr lang="zh-CN" altLang="en-US" sz="1100" i="0">
                  <a:solidFill>
                    <a:schemeClr val="tx1"/>
                  </a:solidFill>
                </a:rPr>
                <a:t>𝑖</a:t>
              </a:r>
              <a:r>
                <a:rPr lang="en-US" altLang="zh-CN" sz="1100" i="0">
                  <a:solidFill>
                    <a:schemeClr val="tx1"/>
                  </a:solidFill>
                </a:rPr>
                <a:t>)</a:t>
              </a:r>
              <a:r>
                <a:rPr lang="zh-CN" sz="1100" dirty="0" smtClean="0">
                  <a:solidFill>
                    <a:schemeClr val="tx1"/>
                  </a:solidFill>
                </a:rPr>
                <a:t>，</a:t>
              </a:r>
              <a:endParaRPr lang="zh-CN" altLang="en-US" sz="1100" dirty="0" smtClean="0">
                <a:solidFill>
                  <a:schemeClr val="tx1"/>
                </a:solidFill>
              </a:endParaRPr>
            </a:p>
            <a:p>
              <a:r>
                <a:rPr lang="zh-CN" sz="1100" dirty="0" smtClean="0">
                  <a:solidFill>
                    <a:schemeClr val="tx1"/>
                  </a:solidFill>
                </a:rPr>
                <a:t>记</a:t>
              </a:r>
              <a:r>
                <a:rPr lang="zh-CN" sz="1100" dirty="0">
                  <a:solidFill>
                    <a:schemeClr val="tx1"/>
                  </a:solidFill>
                </a:rPr>
                <a:t>之为</a:t>
              </a:r>
              <a:r>
                <a:rPr lang="en-US" altLang="zh-CN" sz="1100" i="0">
                  <a:solidFill>
                    <a:schemeClr val="tx1"/>
                  </a:solidFill>
                </a:rPr>
                <a:t>〖</a:t>
              </a:r>
              <a:r>
                <a:rPr lang="zh-CN" altLang="en-US" sz="1100" i="0">
                  <a:solidFill>
                    <a:schemeClr val="tx1"/>
                  </a:solidFill>
                </a:rPr>
                <a:t>𝑠𝑒𝑡</a:t>
              </a:r>
              <a:r>
                <a:rPr lang="en-US" altLang="zh-CN" sz="1100" i="0">
                  <a:solidFill>
                    <a:schemeClr val="tx1"/>
                  </a:solidFill>
                </a:rPr>
                <a:t>〗_(</a:t>
              </a:r>
              <a:r>
                <a:rPr lang="zh-CN" altLang="en-US" sz="1100" i="0">
                  <a:solidFill>
                    <a:schemeClr val="tx1"/>
                  </a:solidFill>
                </a:rPr>
                <a:t>𝑉</a:t>
              </a:r>
              <a:r>
                <a:rPr lang="zh-CN" sz="1100" i="0">
                  <a:solidFill>
                    <a:schemeClr val="tx1"/>
                  </a:solidFill>
                </a:rPr>
                <a:t>,</a:t>
              </a:r>
              <a:r>
                <a:rPr lang="zh-CN" altLang="en-US" sz="1100" i="0">
                  <a:solidFill>
                    <a:schemeClr val="tx1"/>
                  </a:solidFill>
                </a:rPr>
                <a:t>𝐼</a:t>
              </a:r>
              <a:r>
                <a:rPr lang="en-US" altLang="zh-CN" sz="1100" i="0">
                  <a:solidFill>
                    <a:schemeClr val="tx1"/>
                  </a:solidFill>
                </a:rPr>
                <a:t>)</a:t>
              </a:r>
              <a:r>
                <a:rPr lang="en-US" altLang="zh-CN" sz="1100" i="0" smtClean="0">
                  <a:solidFill>
                    <a:schemeClr val="tx1"/>
                  </a:solidFill>
                </a:rPr>
                <a:t> |</a:t>
              </a:r>
              <a:r>
                <a:rPr lang="zh-CN" altLang="en-US" sz="1100" i="0">
                  <a:solidFill>
                    <a:schemeClr val="tx1"/>
                  </a:solidFill>
                </a:rPr>
                <a:t>𝑣</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=1</a:t>
              </a:r>
              <a:r>
                <a:rPr lang="zh-CN" altLang="en-US" sz="1100" i="0">
                  <a:solidFill>
                    <a:schemeClr val="tx1"/>
                  </a:solidFill>
                </a:rPr>
                <a:t>))┴𝑁 𝑓_𝑇</a:t>
              </a:r>
              <a:r>
                <a:rPr lang="en-US" altLang="zh-CN" sz="1100" i="0">
                  <a:solidFill>
                    <a:schemeClr val="tx1"/>
                  </a:solidFill>
                </a:rPr>
                <a:t> (</a:t>
              </a:r>
              <a:r>
                <a:rPr lang="zh-CN" altLang="en-US" sz="1100" i="0">
                  <a:solidFill>
                    <a:schemeClr val="tx1"/>
                  </a:solidFill>
                </a:rPr>
                <a:t>𝑇_(𝑔</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 |</a:t>
              </a:r>
              <a:r>
                <a:rPr lang="zh-CN" altLang="en-US" sz="1100" i="0">
                  <a:solidFill>
                    <a:schemeClr val="tx1"/>
                  </a:solidFill>
                </a:rPr>
                <a:t>𝑣</a:t>
              </a:r>
              <a:r>
                <a:rPr lang="en-US" altLang="zh-CN" sz="1100" i="0">
                  <a:solidFill>
                    <a:schemeClr val="tx1"/>
                  </a:solidFill>
                </a:rPr>
                <a:t>,</a:t>
              </a:r>
              <a:r>
                <a:rPr lang="zh-CN" altLang="en-US" sz="1100" i="0">
                  <a:solidFill>
                    <a:schemeClr val="tx1"/>
                  </a:solidFill>
                </a:rPr>
                <a:t>𝑖</a:t>
              </a:r>
              <a:r>
                <a:rPr lang="en-US" altLang="zh-CN" sz="1100" i="0">
                  <a:solidFill>
                    <a:schemeClr val="tx1"/>
                  </a:solidFill>
                </a:rPr>
                <a:t>)</a:t>
              </a:r>
              <a:endParaRPr lang="zh-CN" altLang="en-US" sz="1100" dirty="0">
                <a:solidFill>
                  <a:schemeClr val="tx1"/>
                </a:solidFill>
              </a:endParaRPr>
            </a:p>
          </dgm:t>
        </dgm:pt>
      </mc:Fallback>
    </mc:AlternateContent>
    <dgm:pt modelId="{06714BD0-0968-2A43-BCC8-28795A1AFEF4}" type="parTrans" cxnId="{9664A296-A5D6-5F49-9613-DCD62FAE7848}">
      <dgm:prSet/>
      <dgm:spPr/>
      <dgm:t>
        <a:bodyPr/>
        <a:lstStyle/>
        <a:p>
          <a:endParaRPr lang="zh-CN" altLang="en-US"/>
        </a:p>
      </dgm:t>
    </dgm:pt>
    <dgm:pt modelId="{3588B1CB-8CB7-914B-A77C-F88398347303}" type="sibTrans" cxnId="{9664A296-A5D6-5F49-9613-DCD62FAE7848}">
      <dgm:prSet/>
      <dgm:spPr>
        <a:noFill/>
        <a:ln>
          <a:solidFill>
            <a:schemeClr val="tx1"/>
          </a:solidFill>
        </a:ln>
      </dgm:spPr>
      <dgm:t>
        <a:bodyPr/>
        <a:lstStyle/>
        <a:p>
          <a:endParaRPr lang="zh-CN" altLang="en-US"/>
        </a:p>
      </dgm:t>
    </dgm:pt>
    <dgm:pt modelId="{7A20F356-8F10-4340-9793-FDB82FE71038}" type="pres">
      <dgm:prSet presAssocID="{88805CB2-8C59-9B4B-BB3B-32409E475F63}" presName="linearFlow" presStyleCnt="0">
        <dgm:presLayoutVars>
          <dgm:resizeHandles val="exact"/>
        </dgm:presLayoutVars>
      </dgm:prSet>
      <dgm:spPr/>
    </dgm:pt>
    <dgm:pt modelId="{AB0C0822-6612-8D4C-9182-0D383C17FF7F}" type="pres">
      <dgm:prSet presAssocID="{007481D5-3900-1A40-B1C2-6375BB5D900F}" presName="node" presStyleLbl="node1" presStyleIdx="0" presStyleCnt="1" custScaleX="34449" custScaleY="26575" custLinFactNeighborX="6356" custLinFactNeighborY="-5113">
        <dgm:presLayoutVars>
          <dgm:bulletEnabled val="1"/>
        </dgm:presLayoutVars>
      </dgm:prSet>
      <dgm:spPr/>
      <dgm:t>
        <a:bodyPr/>
        <a:lstStyle/>
        <a:p>
          <a:endParaRPr lang="zh-CN" altLang="en-US"/>
        </a:p>
      </dgm:t>
    </dgm:pt>
  </dgm:ptLst>
  <dgm:cxnLst>
    <dgm:cxn modelId="{9664A296-A5D6-5F49-9613-DCD62FAE7848}" srcId="{88805CB2-8C59-9B4B-BB3B-32409E475F63}" destId="{007481D5-3900-1A40-B1C2-6375BB5D900F}" srcOrd="0" destOrd="0" parTransId="{06714BD0-0968-2A43-BCC8-28795A1AFEF4}" sibTransId="{3588B1CB-8CB7-914B-A77C-F88398347303}"/>
    <dgm:cxn modelId="{A412284D-F0F9-2F4D-8228-19E27F46BD66}" type="presOf" srcId="{88805CB2-8C59-9B4B-BB3B-32409E475F63}" destId="{7A20F356-8F10-4340-9793-FDB82FE71038}" srcOrd="0" destOrd="0" presId="urn:microsoft.com/office/officeart/2005/8/layout/process2"/>
    <dgm:cxn modelId="{1EE15741-379D-164C-AE98-615EA022BC1B}" type="presOf" srcId="{007481D5-3900-1A40-B1C2-6375BB5D900F}" destId="{AB0C0822-6612-8D4C-9182-0D383C17FF7F}" srcOrd="0" destOrd="0" presId="urn:microsoft.com/office/officeart/2005/8/layout/process2"/>
    <dgm:cxn modelId="{363509FD-80AB-5442-AE06-6B7E3152ECC7}" type="presParOf" srcId="{7A20F356-8F10-4340-9793-FDB82FE71038}" destId="{AB0C0822-6612-8D4C-9182-0D383C17FF7F}" srcOrd="0" destOrd="0" presId="urn:microsoft.com/office/officeart/2005/8/layout/process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8805CB2-8C59-9B4B-BB3B-32409E475F63}" type="doc">
      <dgm:prSet loTypeId="urn:microsoft.com/office/officeart/2005/8/layout/process2" loCatId="" qsTypeId="urn:microsoft.com/office/officeart/2005/8/quickstyle/simple4" qsCatId="simple" csTypeId="urn:microsoft.com/office/officeart/2005/8/colors/accent1_2" csCatId="accent1" phldr="1"/>
      <dgm:spPr/>
    </dgm:pt>
    <dgm:pt modelId="{007481D5-3900-1A40-B1C2-6375BB5D900F}">
      <dgm:prSet phldrT="[文本]" custT="1"/>
      <dgm:spPr>
        <a:blipFill rotWithShape="0">
          <a:blip xmlns:r="http://schemas.openxmlformats.org/officeDocument/2006/relationships" r:embed="rId1"/>
          <a:stretch>
            <a:fillRect/>
          </a:stretch>
        </a:blipFill>
        <a:ln>
          <a:solidFill>
            <a:schemeClr val="tx1"/>
          </a:solidFill>
        </a:ln>
      </dgm:spPr>
      <dgm:t>
        <a:bodyPr/>
        <a:lstStyle/>
        <a:p>
          <a:r>
            <a:rPr lang="zh-CN" altLang="en-US">
              <a:noFill/>
            </a:rPr>
            <a:t> </a:t>
          </a:r>
        </a:p>
      </dgm:t>
    </dgm:pt>
    <dgm:pt modelId="{06714BD0-0968-2A43-BCC8-28795A1AFEF4}" type="parTrans" cxnId="{9664A296-A5D6-5F49-9613-DCD62FAE7848}">
      <dgm:prSet/>
      <dgm:spPr/>
      <dgm:t>
        <a:bodyPr/>
        <a:lstStyle/>
        <a:p>
          <a:endParaRPr lang="zh-CN" altLang="en-US"/>
        </a:p>
      </dgm:t>
    </dgm:pt>
    <dgm:pt modelId="{3588B1CB-8CB7-914B-A77C-F88398347303}" type="sibTrans" cxnId="{9664A296-A5D6-5F49-9613-DCD62FAE7848}">
      <dgm:prSet/>
      <dgm:spPr>
        <a:noFill/>
        <a:ln>
          <a:solidFill>
            <a:schemeClr val="tx1"/>
          </a:solidFill>
        </a:ln>
      </dgm:spPr>
      <dgm:t>
        <a:bodyPr/>
        <a:lstStyle/>
        <a:p>
          <a:endParaRPr lang="zh-CN" altLang="en-US"/>
        </a:p>
      </dgm:t>
    </dgm:pt>
    <dgm:pt modelId="{7A20F356-8F10-4340-9793-FDB82FE71038}" type="pres">
      <dgm:prSet presAssocID="{88805CB2-8C59-9B4B-BB3B-32409E475F63}" presName="linearFlow" presStyleCnt="0">
        <dgm:presLayoutVars>
          <dgm:resizeHandles val="exact"/>
        </dgm:presLayoutVars>
      </dgm:prSet>
      <dgm:spPr/>
    </dgm:pt>
    <dgm:pt modelId="{AB0C0822-6612-8D4C-9182-0D383C17FF7F}" type="pres">
      <dgm:prSet presAssocID="{007481D5-3900-1A40-B1C2-6375BB5D900F}" presName="node" presStyleLbl="node1" presStyleIdx="0" presStyleCnt="1" custScaleX="34449" custScaleY="26575" custLinFactNeighborX="6356" custLinFactNeighborY="-5113">
        <dgm:presLayoutVars>
          <dgm:bulletEnabled val="1"/>
        </dgm:presLayoutVars>
      </dgm:prSet>
      <dgm:spPr/>
      <dgm:t>
        <a:bodyPr/>
        <a:lstStyle/>
        <a:p>
          <a:endParaRPr lang="zh-CN" altLang="en-US"/>
        </a:p>
      </dgm:t>
    </dgm:pt>
  </dgm:ptLst>
  <dgm:cxnLst>
    <dgm:cxn modelId="{A412284D-F0F9-2F4D-8228-19E27F46BD66}" type="presOf" srcId="{88805CB2-8C59-9B4B-BB3B-32409E475F63}" destId="{7A20F356-8F10-4340-9793-FDB82FE71038}" srcOrd="0" destOrd="0" presId="urn:microsoft.com/office/officeart/2005/8/layout/process2"/>
    <dgm:cxn modelId="{1EE15741-379D-164C-AE98-615EA022BC1B}" type="presOf" srcId="{007481D5-3900-1A40-B1C2-6375BB5D900F}" destId="{AB0C0822-6612-8D4C-9182-0D383C17FF7F}" srcOrd="0" destOrd="0" presId="urn:microsoft.com/office/officeart/2005/8/layout/process2"/>
    <dgm:cxn modelId="{9664A296-A5D6-5F49-9613-DCD62FAE7848}" srcId="{88805CB2-8C59-9B4B-BB3B-32409E475F63}" destId="{007481D5-3900-1A40-B1C2-6375BB5D900F}" srcOrd="0" destOrd="0" parTransId="{06714BD0-0968-2A43-BCC8-28795A1AFEF4}" sibTransId="{3588B1CB-8CB7-914B-A77C-F88398347303}"/>
    <dgm:cxn modelId="{363509FD-80AB-5442-AE06-6B7E3152ECC7}" type="presParOf" srcId="{7A20F356-8F10-4340-9793-FDB82FE71038}" destId="{AB0C0822-6612-8D4C-9182-0D383C17FF7F}" srcOrd="0" destOrd="0" presId="urn:microsoft.com/office/officeart/2005/8/layout/process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0C0822-6612-8D4C-9182-0D383C17FF7F}">
      <dsp:nvSpPr>
        <dsp:cNvPr id="0" name=""/>
        <dsp:cNvSpPr/>
      </dsp:nvSpPr>
      <dsp:spPr>
        <a:xfrm>
          <a:off x="1671243" y="351374"/>
          <a:ext cx="2879980" cy="359652"/>
        </a:xfrm>
        <a:prstGeom prst="roundRect">
          <a:avLst>
            <a:gd name="adj" fmla="val 1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altLang="en-US" sz="1100" kern="1200" dirty="0" smtClean="0">
              <a:solidFill>
                <a:schemeClr val="tx1"/>
              </a:solidFill>
            </a:rPr>
            <a:t>给定方差</a:t>
          </a:r>
          <a14:m xmlns:a14="http://schemas.microsoft.com/office/drawing/2010/main">
            <m:oMath xmlns:m="http://schemas.openxmlformats.org/officeDocument/2006/math">
              <m:r>
                <a:rPr lang="zh-CN" altLang="en-US" sz="1100" i="1" kern="1200">
                  <a:solidFill>
                    <a:schemeClr val="tx1"/>
                  </a:solidFill>
                  <a:latin typeface="Cambria Math" charset="0"/>
                </a:rPr>
                <m:t>𝑉</m:t>
              </m:r>
              <m:r>
                <a:rPr lang="en-US" altLang="zh-CN" sz="1100" i="1" kern="1200">
                  <a:solidFill>
                    <a:schemeClr val="tx1"/>
                  </a:solidFill>
                  <a:latin typeface="Cambria Math" charset="0"/>
                </a:rPr>
                <m:t>=</m:t>
              </m:r>
              <m:r>
                <a:rPr lang="zh-CN" altLang="en-US" sz="1100" i="1" kern="1200">
                  <a:solidFill>
                    <a:schemeClr val="tx1"/>
                  </a:solidFill>
                  <a:latin typeface="Cambria Math" charset="0"/>
                </a:rPr>
                <m:t>𝑣</m:t>
              </m:r>
            </m:oMath>
          </a14:m>
          <a:r>
            <a:rPr lang="zh-CN" altLang="en-US" sz="1100" kern="1200" dirty="0">
              <a:solidFill>
                <a:schemeClr val="tx1"/>
              </a:solidFill>
            </a:rPr>
            <a:t>，积分尺度</a:t>
          </a:r>
          <a14:m xmlns:a14="http://schemas.microsoft.com/office/drawing/2010/main">
            <m:oMath xmlns:m="http://schemas.openxmlformats.org/officeDocument/2006/math">
              <m:r>
                <a:rPr lang="zh-CN" altLang="en-US" sz="1100" i="1" kern="1200">
                  <a:solidFill>
                    <a:schemeClr val="tx1"/>
                  </a:solidFill>
                  <a:latin typeface="Cambria Math" charset="0"/>
                </a:rPr>
                <m:t>𝐼</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oMath>
          </a14:m>
          <a:r>
            <a:rPr lang="zh-CN" altLang="en-US" sz="1100" kern="1200" dirty="0">
              <a:solidFill>
                <a:schemeClr val="tx1"/>
              </a:solidFill>
            </a:rPr>
            <a:t>：</a:t>
          </a:r>
        </a:p>
      </dsp:txBody>
      <dsp:txXfrm>
        <a:off x="1681777" y="361908"/>
        <a:ext cx="2858912" cy="338584"/>
      </dsp:txXfrm>
    </dsp:sp>
    <dsp:sp modelId="{76C3F6CF-B78B-0549-9441-D8DF2602BBD8}">
      <dsp:nvSpPr>
        <dsp:cNvPr id="0" name=""/>
        <dsp:cNvSpPr/>
      </dsp:nvSpPr>
      <dsp:spPr>
        <a:xfrm rot="5322092">
          <a:off x="3055958" y="786273"/>
          <a:ext cx="126189" cy="179824"/>
        </a:xfrm>
        <a:prstGeom prst="rightArrow">
          <a:avLst>
            <a:gd name="adj1" fmla="val 60000"/>
            <a:gd name="adj2" fmla="val 5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rot="-5400000">
        <a:off x="3064677" y="813095"/>
        <a:ext cx="107894" cy="88332"/>
      </dsp:txXfrm>
    </dsp:sp>
    <dsp:sp modelId="{8EA8C3D2-1B23-B348-A6F3-925343A387CC}">
      <dsp:nvSpPr>
        <dsp:cNvPr id="0" name=""/>
        <dsp:cNvSpPr/>
      </dsp:nvSpPr>
      <dsp:spPr>
        <a:xfrm>
          <a:off x="1686882" y="1041342"/>
          <a:ext cx="2879980" cy="359652"/>
        </a:xfrm>
        <a:prstGeom prst="roundRect">
          <a:avLst>
            <a:gd name="adj" fmla="val 1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sz="1100" kern="1200" dirty="0" smtClean="0">
              <a:solidFill>
                <a:schemeClr val="tx1"/>
              </a:solidFill>
            </a:rPr>
            <a:t>构造</a:t>
          </a:r>
          <a14:m xmlns:a14="http://schemas.microsoft.com/office/drawing/2010/main">
            <m:oMath xmlns:m="http://schemas.openxmlformats.org/officeDocument/2006/math">
              <m:r>
                <a:rPr lang="en-US" altLang="zh-CN" sz="1100" b="0" i="1" kern="1200" smtClean="0">
                  <a:solidFill>
                    <a:schemeClr val="tx1"/>
                  </a:solidFill>
                  <a:latin typeface="Cambria Math" charset="0"/>
                </a:rPr>
                <m:t>𝑙𝑛𝑇</m:t>
              </m:r>
            </m:oMath>
          </a14:m>
          <a:r>
            <a:rPr lang="zh-CN" sz="1100" kern="1200" dirty="0" smtClean="0">
              <a:solidFill>
                <a:schemeClr val="tx1"/>
              </a:solidFill>
            </a:rPr>
            <a:t>服从上述分布</a:t>
          </a:r>
          <a:endParaRPr lang="zh-CN" altLang="en-US" sz="1100" kern="1200" dirty="0">
            <a:solidFill>
              <a:schemeClr val="tx1"/>
            </a:solidFill>
          </a:endParaRPr>
        </a:p>
      </dsp:txBody>
      <dsp:txXfrm>
        <a:off x="1697416" y="1051876"/>
        <a:ext cx="2858912" cy="338584"/>
      </dsp:txXfrm>
    </dsp:sp>
    <dsp:sp modelId="{28C23893-EC00-8642-8F62-233D2AB8055F}">
      <dsp:nvSpPr>
        <dsp:cNvPr id="0" name=""/>
        <dsp:cNvSpPr/>
      </dsp:nvSpPr>
      <dsp:spPr>
        <a:xfrm rot="5482341">
          <a:off x="3063055" y="1457660"/>
          <a:ext cx="111996" cy="179824"/>
        </a:xfrm>
        <a:prstGeom prst="rightArrow">
          <a:avLst>
            <a:gd name="adj1" fmla="val 60000"/>
            <a:gd name="adj2" fmla="val 5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p>
      </dsp:txBody>
      <dsp:txXfrm rot="-5400000">
        <a:off x="3065509" y="1491578"/>
        <a:ext cx="107894" cy="78397"/>
      </dsp:txXfrm>
    </dsp:sp>
    <dsp:sp modelId="{CAAA9A89-08F7-F044-A46F-D1B42B882703}">
      <dsp:nvSpPr>
        <dsp:cNvPr id="0" name=""/>
        <dsp:cNvSpPr/>
      </dsp:nvSpPr>
      <dsp:spPr>
        <a:xfrm>
          <a:off x="1671243" y="1694149"/>
          <a:ext cx="2879980" cy="359652"/>
        </a:xfrm>
        <a:prstGeom prst="roundRect">
          <a:avLst>
            <a:gd name="adj" fmla="val 1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altLang="en-US" sz="1100" kern="1200" dirty="0" smtClean="0">
              <a:solidFill>
                <a:schemeClr val="tx1"/>
              </a:solidFill>
            </a:rPr>
            <a:t>计算</a:t>
          </a:r>
          <a14:m xmlns:a14="http://schemas.microsoft.com/office/drawing/2010/main">
            <m:oMath xmlns:m="http://schemas.openxmlformats.org/officeDocument/2006/math">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sub>
              </m:sSub>
              <m:r>
                <a:rPr lang="en-US" altLang="zh-CN" sz="1100" i="1" kern="1200">
                  <a:solidFill>
                    <a:schemeClr val="tx1"/>
                  </a:solidFill>
                  <a:latin typeface="Cambria Math" charset="0"/>
                </a:rPr>
                <m:t>(</m:t>
              </m:r>
              <m:r>
                <a:rPr lang="zh-CN" altLang="en-US" sz="1100" i="1" kern="1200">
                  <a:solidFill>
                    <a:schemeClr val="tx1"/>
                  </a:solidFill>
                  <a:latin typeface="Cambria Math" charset="0"/>
                </a:rPr>
                <m:t>𝑟</m:t>
              </m:r>
              <m:r>
                <a:rPr lang="en-US" altLang="zh-CN" sz="1100" i="1" kern="1200">
                  <a:solidFill>
                    <a:schemeClr val="tx1"/>
                  </a:solidFill>
                  <a:latin typeface="Cambria Math" charset="0"/>
                </a:rPr>
                <m:t>)=</m:t>
              </m:r>
              <m:r>
                <m:rPr>
                  <m:sty m:val="p"/>
                </m:rPr>
                <a:rPr lang="en-US" altLang="zh-CN" sz="1100" kern="1200">
                  <a:solidFill>
                    <a:schemeClr val="tx1"/>
                  </a:solidFill>
                  <a:latin typeface="Cambria Math" charset="0"/>
                </a:rPr>
                <m:t>exp</m:t>
              </m:r>
              <m:r>
                <a:rPr lang="en-US" altLang="zh-CN" sz="1100" i="1" kern="1200">
                  <a:solidFill>
                    <a:schemeClr val="tx1"/>
                  </a:solidFill>
                  <a:latin typeface="Cambria Math" charset="0"/>
                </a:rPr>
                <m:t>[</m:t>
              </m:r>
              <m:sSubSup>
                <m:sSubSupPr>
                  <m:ctrlPr>
                    <a:rPr lang="zh-CN" altLang="en-US" sz="1100" i="1" kern="1200">
                      <a:solidFill>
                        <a:schemeClr val="tx1"/>
                      </a:solidFill>
                      <a:latin typeface="Cambria Math" charset="0"/>
                    </a:rPr>
                  </m:ctrlPr>
                </m:sSubSupPr>
                <m:e>
                  <m:r>
                    <a:rPr lang="zh-CN" altLang="en-US" sz="1100" i="1" kern="1200">
                      <a:solidFill>
                        <a:schemeClr val="tx1"/>
                      </a:solidFill>
                      <a:latin typeface="Cambria Math" charset="0"/>
                    </a:rPr>
                    <m:t>∫</m:t>
                  </m:r>
                </m:e>
                <m:sub>
                  <m:r>
                    <a:rPr lang="zh-CN" altLang="en-US" sz="1100" i="1" kern="1200">
                      <a:solidFill>
                        <a:schemeClr val="tx1"/>
                      </a:solidFill>
                      <a:latin typeface="Cambria Math" charset="0"/>
                    </a:rPr>
                    <m:t>𝑟</m:t>
                  </m:r>
                  <m:r>
                    <a:rPr lang="en-US" altLang="zh-CN" sz="1100" i="1" kern="1200">
                      <a:solidFill>
                        <a:schemeClr val="tx1"/>
                      </a:solidFill>
                      <a:latin typeface="Cambria Math" charset="0"/>
                    </a:rPr>
                    <m:t>=0</m:t>
                  </m:r>
                </m:sub>
                <m:sup>
                  <m:r>
                    <a:rPr lang="zh-CN" altLang="en-US" sz="1100" i="1" kern="1200">
                      <a:solidFill>
                        <a:schemeClr val="tx1"/>
                      </a:solidFill>
                      <a:latin typeface="Cambria Math" charset="0"/>
                    </a:rPr>
                    <m:t>𝑟</m:t>
                  </m:r>
                </m:sup>
              </m:sSubSup>
              <m:r>
                <m:rPr>
                  <m:sty m:val="p"/>
                </m:rPr>
                <a:rPr lang="en-US" altLang="zh-CN" sz="1100" kern="1200">
                  <a:solidFill>
                    <a:schemeClr val="tx1"/>
                  </a:solidFill>
                  <a:latin typeface="Cambria Math" charset="0"/>
                </a:rPr>
                <m:t>ln</m:t>
              </m:r>
              <m:r>
                <a:rPr lang="en-US" altLang="zh-CN" sz="1100" i="1" kern="1200">
                  <a:solidFill>
                    <a:schemeClr val="tx1"/>
                  </a:solidFill>
                  <a:latin typeface="Cambria Math" charset="0"/>
                </a:rPr>
                <m:t>(</m:t>
              </m:r>
              <m:r>
                <a:rPr lang="zh-CN" altLang="en-US" sz="1100" i="1" kern="1200">
                  <a:solidFill>
                    <a:schemeClr val="tx1"/>
                  </a:solidFill>
                  <a:latin typeface="Cambria Math" charset="0"/>
                </a:rPr>
                <m:t>𝑇</m:t>
              </m:r>
              <m:r>
                <a:rPr lang="en-US" altLang="zh-CN" sz="1100" i="1" kern="1200">
                  <a:solidFill>
                    <a:schemeClr val="tx1"/>
                  </a:solidFill>
                  <a:latin typeface="Cambria Math" charset="0"/>
                </a:rPr>
                <m:t>)</m:t>
              </m:r>
              <m:r>
                <a:rPr lang="zh-CN" altLang="en-US" sz="1100" i="1" kern="1200">
                  <a:solidFill>
                    <a:schemeClr val="tx1"/>
                  </a:solidFill>
                  <a:latin typeface="Cambria Math" charset="0"/>
                </a:rPr>
                <m:t>𝑑𝐴</m:t>
              </m:r>
              <m:r>
                <a:rPr lang="en-US" altLang="zh-CN" sz="1100" i="1" kern="1200">
                  <a:solidFill>
                    <a:schemeClr val="tx1"/>
                  </a:solidFill>
                  <a:latin typeface="Cambria Math" charset="0"/>
                </a:rPr>
                <m:t>]</m:t>
              </m:r>
            </m:oMath>
          </a14:m>
          <a:endParaRPr lang="zh-CN" altLang="en-US" sz="1100" kern="1200" dirty="0">
            <a:solidFill>
              <a:schemeClr val="tx1"/>
            </a:solidFill>
          </a:endParaRPr>
        </a:p>
      </dsp:txBody>
      <dsp:txXfrm>
        <a:off x="1681777" y="1704683"/>
        <a:ext cx="2858912" cy="338584"/>
      </dsp:txXfrm>
    </dsp:sp>
    <dsp:sp modelId="{6AE8B266-9FD4-BE4E-83AF-BB365D630344}">
      <dsp:nvSpPr>
        <dsp:cNvPr id="0" name=""/>
        <dsp:cNvSpPr/>
      </dsp:nvSpPr>
      <dsp:spPr>
        <a:xfrm rot="5400000">
          <a:off x="3046709" y="2132834"/>
          <a:ext cx="129049" cy="179824"/>
        </a:xfrm>
        <a:prstGeom prst="rightArrow">
          <a:avLst>
            <a:gd name="adj1" fmla="val 60000"/>
            <a:gd name="adj2" fmla="val 5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solidFill>
              <a:schemeClr val="tx1"/>
            </a:solidFill>
          </a:endParaRPr>
        </a:p>
      </dsp:txBody>
      <dsp:txXfrm rot="-5400000">
        <a:off x="3057287" y="2158222"/>
        <a:ext cx="107894" cy="90334"/>
      </dsp:txXfrm>
    </dsp:sp>
    <dsp:sp modelId="{DCE4BE14-89D5-634E-8217-BC3E62EE8270}">
      <dsp:nvSpPr>
        <dsp:cNvPr id="0" name=""/>
        <dsp:cNvSpPr/>
      </dsp:nvSpPr>
      <dsp:spPr>
        <a:xfrm>
          <a:off x="1671243" y="2391690"/>
          <a:ext cx="2879980" cy="359652"/>
        </a:xfrm>
        <a:prstGeom prst="roundRect">
          <a:avLst>
            <a:gd name="adj" fmla="val 1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altLang="en-US" sz="1100" kern="1200" dirty="0" smtClean="0">
              <a:solidFill>
                <a:schemeClr val="tx1"/>
              </a:solidFill>
            </a:rPr>
            <a:t>作</a:t>
          </a:r>
          <a14:m xmlns:a14="http://schemas.microsoft.com/office/drawing/2010/main">
            <m:oMath xmlns:m="http://schemas.openxmlformats.org/officeDocument/2006/math">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sub>
              </m:sSub>
              <m:r>
                <a:rPr lang="en-US" altLang="zh-CN" sz="1100" i="1" kern="1200">
                  <a:solidFill>
                    <a:schemeClr val="tx1"/>
                  </a:solidFill>
                  <a:latin typeface="Cambria Math" charset="0"/>
                </a:rPr>
                <m:t>(</m:t>
              </m:r>
              <m:r>
                <a:rPr lang="zh-CN" altLang="en-US" sz="1100" i="1" kern="1200">
                  <a:solidFill>
                    <a:schemeClr val="tx1"/>
                  </a:solidFill>
                  <a:latin typeface="Cambria Math" charset="0"/>
                </a:rPr>
                <m:t>𝑟</m:t>
              </m:r>
              <m:r>
                <a:rPr lang="en-US" altLang="zh-CN" sz="1100" i="1" kern="1200">
                  <a:solidFill>
                    <a:schemeClr val="tx1"/>
                  </a:solidFill>
                  <a:latin typeface="Cambria Math" charset="0"/>
                </a:rPr>
                <m:t>)/</m:t>
              </m:r>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r>
                    <a:rPr lang="en-US" altLang="zh-CN" sz="1100" i="1" kern="1200">
                      <a:solidFill>
                        <a:schemeClr val="tx1"/>
                      </a:solidFill>
                      <a:latin typeface="Cambria Math" charset="0"/>
                    </a:rPr>
                    <m:t>,0</m:t>
                  </m:r>
                </m:sub>
              </m:sSub>
              <m:r>
                <a:rPr lang="zh-CN" altLang="en-US" sz="1100" i="1" kern="1200">
                  <a:solidFill>
                    <a:schemeClr val="tx1"/>
                  </a:solidFill>
                  <a:latin typeface="Cambria Math" charset="0"/>
                </a:rPr>
                <m:t>−</m:t>
              </m:r>
              <m:r>
                <a:rPr lang="zh-CN" altLang="en-US" sz="1100" i="1" kern="1200">
                  <a:solidFill>
                    <a:schemeClr val="tx1"/>
                  </a:solidFill>
                  <a:latin typeface="Cambria Math" charset="0"/>
                </a:rPr>
                <m:t>𝑟</m:t>
              </m:r>
              <m:r>
                <a:rPr lang="en-US" altLang="zh-CN" sz="1100" i="1" kern="1200">
                  <a:solidFill>
                    <a:schemeClr val="tx1"/>
                  </a:solidFill>
                  <a:latin typeface="Cambria Math" charset="0"/>
                </a:rPr>
                <m:t>/</m:t>
              </m:r>
              <m:r>
                <a:rPr lang="zh-CN" altLang="en-US" sz="1100" i="1" kern="1200">
                  <a:solidFill>
                    <a:schemeClr val="tx1"/>
                  </a:solidFill>
                  <a:latin typeface="Cambria Math" charset="0"/>
                </a:rPr>
                <m:t>𝐼</m:t>
              </m:r>
            </m:oMath>
          </a14:m>
          <a:r>
            <a:rPr lang="zh-CN" altLang="en-US" sz="1100" kern="1200" dirty="0">
              <a:solidFill>
                <a:schemeClr val="tx1"/>
              </a:solidFill>
            </a:rPr>
            <a:t> 图像</a:t>
          </a:r>
          <a:r>
            <a:rPr lang="zh-CN" altLang="en-US" sz="1100" kern="1200" dirty="0" smtClean="0">
              <a:solidFill>
                <a:schemeClr val="tx1"/>
              </a:solidFill>
            </a:rPr>
            <a:t>，记为</a:t>
          </a:r>
          <a14:m xmlns:a14="http://schemas.microsoft.com/office/drawing/2010/main">
            <m:oMath xmlns:m="http://schemas.openxmlformats.org/officeDocument/2006/math">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𝑆𝑒𝑡</m:t>
                  </m:r>
                </m:e>
                <m:sub>
                  <m:r>
                    <a:rPr lang="zh-CN" altLang="en-US" sz="1100" i="1" kern="1200">
                      <a:solidFill>
                        <a:schemeClr val="tx1"/>
                      </a:solidFill>
                      <a:latin typeface="Cambria Math" charset="0"/>
                    </a:rPr>
                    <m:t>𝑣</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sub>
              </m:sSub>
            </m:oMath>
          </a14:m>
          <a:endParaRPr lang="zh-CN" altLang="en-US" sz="1100" kern="1200" dirty="0">
            <a:solidFill>
              <a:schemeClr val="tx1"/>
            </a:solidFill>
          </a:endParaRPr>
        </a:p>
      </dsp:txBody>
      <dsp:txXfrm>
        <a:off x="1681777" y="2402224"/>
        <a:ext cx="2858912" cy="338584"/>
      </dsp:txXfrm>
    </dsp:sp>
    <dsp:sp modelId="{A45316A7-ECB8-DF44-BF45-3B35A243DB0A}">
      <dsp:nvSpPr>
        <dsp:cNvPr id="0" name=""/>
        <dsp:cNvSpPr/>
      </dsp:nvSpPr>
      <dsp:spPr>
        <a:xfrm rot="5319388">
          <a:off x="3087285" y="2815013"/>
          <a:ext cx="117347" cy="179824"/>
        </a:xfrm>
        <a:prstGeom prst="rightArrow">
          <a:avLst>
            <a:gd name="adj1" fmla="val 60000"/>
            <a:gd name="adj2" fmla="val 5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zh-CN" altLang="en-US" sz="600" kern="1200">
            <a:solidFill>
              <a:schemeClr val="tx1"/>
            </a:solidFill>
          </a:endParaRPr>
        </a:p>
      </dsp:txBody>
      <dsp:txXfrm rot="-5400000">
        <a:off x="3091599" y="2846256"/>
        <a:ext cx="107894" cy="82143"/>
      </dsp:txXfrm>
    </dsp:sp>
    <dsp:sp modelId="{98DEBAF7-2DBE-0A44-94FC-93060BF0FB5B}">
      <dsp:nvSpPr>
        <dsp:cNvPr id="0" name=""/>
        <dsp:cNvSpPr/>
      </dsp:nvSpPr>
      <dsp:spPr>
        <a:xfrm>
          <a:off x="1686882" y="3058508"/>
          <a:ext cx="2879980" cy="359652"/>
        </a:xfrm>
        <a:prstGeom prst="roundRect">
          <a:avLst>
            <a:gd name="adj" fmla="val 1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altLang="en-US" sz="1100" kern="1200" dirty="0" smtClean="0">
              <a:solidFill>
                <a:schemeClr val="tx1"/>
              </a:solidFill>
            </a:rPr>
            <a:t>确定</a:t>
          </a:r>
          <a14:m xmlns:a14="http://schemas.microsoft.com/office/drawing/2010/main">
            <m:oMath xmlns:m="http://schemas.openxmlformats.org/officeDocument/2006/math">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𝑓</m:t>
                  </m:r>
                </m:e>
                <m:sub>
                  <m:r>
                    <a:rPr lang="zh-CN" altLang="en-US" sz="1100" i="1" kern="1200">
                      <a:solidFill>
                        <a:schemeClr val="tx1"/>
                      </a:solidFill>
                      <a:latin typeface="Cambria Math" charset="0"/>
                    </a:rPr>
                    <m:t>𝑇</m:t>
                  </m:r>
                </m:sub>
              </m:sSub>
              <m:r>
                <a:rPr lang="en-US" altLang="zh-CN" sz="1100" i="1" kern="1200">
                  <a:solidFill>
                    <a:schemeClr val="tx1"/>
                  </a:solidFill>
                  <a:latin typeface="Cambria Math" charset="0"/>
                </a:rPr>
                <m:t>(</m:t>
              </m:r>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r>
                    <a:rPr lang="en-US" altLang="zh-CN" sz="1100" i="1" kern="1200">
                      <a:solidFill>
                        <a:schemeClr val="tx1"/>
                      </a:solidFill>
                      <a:latin typeface="Cambria Math" charset="0"/>
                    </a:rPr>
                    <m:t>,1</m:t>
                  </m:r>
                </m:sub>
              </m:sSub>
              <m:r>
                <a:rPr lang="en-US" altLang="zh-CN" sz="1100" i="1" kern="1200">
                  <a:solidFill>
                    <a:schemeClr val="tx1"/>
                  </a:solidFill>
                  <a:latin typeface="Cambria Math" charset="0"/>
                </a:rPr>
                <m:t>,…,</m:t>
              </m:r>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r>
                    <a:rPr lang="en-US" altLang="zh-CN" sz="1100" i="1" kern="1200">
                      <a:solidFill>
                        <a:schemeClr val="tx1"/>
                      </a:solidFill>
                      <a:latin typeface="Cambria Math" charset="0"/>
                    </a:rPr>
                    <m:t>,</m:t>
                  </m:r>
                  <m:r>
                    <a:rPr lang="zh-CN" altLang="en-US" sz="1100" i="1" kern="1200">
                      <a:solidFill>
                        <a:schemeClr val="tx1"/>
                      </a:solidFill>
                      <a:latin typeface="Cambria Math" charset="0"/>
                    </a:rPr>
                    <m:t>𝑁</m:t>
                  </m:r>
                </m:sub>
              </m:sSub>
              <m:r>
                <a:rPr lang="en-US" altLang="zh-CN" sz="1100" i="1" kern="1200">
                  <a:solidFill>
                    <a:schemeClr val="tx1"/>
                  </a:solidFill>
                  <a:latin typeface="Cambria Math" charset="0"/>
                </a:rPr>
                <m:t>|</m:t>
              </m:r>
              <m:r>
                <a:rPr lang="zh-CN" altLang="en-US" sz="1100" i="1" kern="1200">
                  <a:solidFill>
                    <a:schemeClr val="tx1"/>
                  </a:solidFill>
                  <a:latin typeface="Cambria Math" charset="0"/>
                </a:rPr>
                <m:t>𝑣</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r>
                <a:rPr lang="en-US" altLang="zh-CN" sz="1100" i="1" kern="1200">
                  <a:solidFill>
                    <a:schemeClr val="tx1"/>
                  </a:solidFill>
                  <a:latin typeface="Cambria Math" charset="0"/>
                </a:rPr>
                <m:t>)=</m:t>
              </m:r>
              <m:limUpp>
                <m:limUppPr>
                  <m:ctrlPr>
                    <a:rPr lang="zh-CN" altLang="en-US" sz="1100" i="1" kern="1200">
                      <a:solidFill>
                        <a:schemeClr val="tx1"/>
                      </a:solidFill>
                      <a:latin typeface="Cambria Math" charset="0"/>
                    </a:rPr>
                  </m:ctrlPr>
                </m:limUppPr>
                <m:e>
                  <m:limLow>
                    <m:limLowPr>
                      <m:ctrlPr>
                        <a:rPr lang="zh-CN" altLang="en-US" sz="1100" i="1" kern="1200">
                          <a:solidFill>
                            <a:schemeClr val="tx1"/>
                          </a:solidFill>
                          <a:latin typeface="Cambria Math" charset="0"/>
                        </a:rPr>
                      </m:ctrlPr>
                    </m:limLowPr>
                    <m:e>
                      <m:r>
                        <a:rPr lang="zh-CN" altLang="en-US" sz="1100" i="1" kern="1200">
                          <a:solidFill>
                            <a:schemeClr val="tx1"/>
                          </a:solidFill>
                          <a:latin typeface="Cambria Math" charset="0"/>
                        </a:rPr>
                        <m:t>∏</m:t>
                      </m:r>
                    </m:e>
                    <m:lim>
                      <m:r>
                        <a:rPr lang="zh-CN" altLang="en-US" sz="1100" i="1" kern="1200">
                          <a:solidFill>
                            <a:schemeClr val="tx1"/>
                          </a:solidFill>
                          <a:latin typeface="Cambria Math" charset="0"/>
                        </a:rPr>
                        <m:t>𝑖</m:t>
                      </m:r>
                      <m:r>
                        <a:rPr lang="en-US" altLang="zh-CN" sz="1100" i="1" kern="1200">
                          <a:solidFill>
                            <a:schemeClr val="tx1"/>
                          </a:solidFill>
                          <a:latin typeface="Cambria Math" charset="0"/>
                        </a:rPr>
                        <m:t>=1</m:t>
                      </m:r>
                    </m:lim>
                  </m:limLow>
                </m:e>
                <m:lim>
                  <m:r>
                    <a:rPr lang="zh-CN" altLang="en-US" sz="1100" i="1" kern="1200">
                      <a:solidFill>
                        <a:schemeClr val="tx1"/>
                      </a:solidFill>
                      <a:latin typeface="Cambria Math" charset="0"/>
                    </a:rPr>
                    <m:t>𝑁</m:t>
                  </m:r>
                </m:lim>
              </m:limUpp>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𝑓</m:t>
                  </m:r>
                </m:e>
                <m:sub>
                  <m:r>
                    <a:rPr lang="zh-CN" altLang="en-US" sz="1100" i="1" kern="1200">
                      <a:solidFill>
                        <a:schemeClr val="tx1"/>
                      </a:solidFill>
                      <a:latin typeface="Cambria Math" charset="0"/>
                    </a:rPr>
                    <m:t>𝑇</m:t>
                  </m:r>
                </m:sub>
              </m:sSub>
              <m:r>
                <a:rPr lang="en-US" altLang="zh-CN" sz="1100" i="1" kern="1200">
                  <a:solidFill>
                    <a:schemeClr val="tx1"/>
                  </a:solidFill>
                  <a:latin typeface="Cambria Math" charset="0"/>
                </a:rPr>
                <m:t>(</m:t>
              </m:r>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sub>
              </m:sSub>
              <m:r>
                <a:rPr lang="en-US" altLang="zh-CN" sz="1100" i="1" kern="1200">
                  <a:solidFill>
                    <a:schemeClr val="tx1"/>
                  </a:solidFill>
                  <a:latin typeface="Cambria Math" charset="0"/>
                </a:rPr>
                <m:t>|</m:t>
              </m:r>
              <m:r>
                <a:rPr lang="zh-CN" altLang="en-US" sz="1100" i="1" kern="1200">
                  <a:solidFill>
                    <a:schemeClr val="tx1"/>
                  </a:solidFill>
                  <a:latin typeface="Cambria Math" charset="0"/>
                </a:rPr>
                <m:t>𝑣</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r>
                <a:rPr lang="en-US" altLang="zh-CN" sz="1100" i="1" kern="1200">
                  <a:solidFill>
                    <a:schemeClr val="tx1"/>
                  </a:solidFill>
                  <a:latin typeface="Cambria Math" charset="0"/>
                </a:rPr>
                <m:t>)</m:t>
              </m:r>
            </m:oMath>
          </a14:m>
          <a:endParaRPr lang="zh-CN" altLang="en-US" sz="1100" kern="1200" dirty="0">
            <a:solidFill>
              <a:schemeClr val="tx1"/>
            </a:solidFill>
          </a:endParaRPr>
        </a:p>
      </dsp:txBody>
      <dsp:txXfrm>
        <a:off x="1697416" y="3069042"/>
        <a:ext cx="2858912" cy="3385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0C0822-6612-8D4C-9182-0D383C17FF7F}">
      <dsp:nvSpPr>
        <dsp:cNvPr id="0" name=""/>
        <dsp:cNvSpPr/>
      </dsp:nvSpPr>
      <dsp:spPr>
        <a:xfrm>
          <a:off x="2252947" y="1284203"/>
          <a:ext cx="2520013" cy="1080008"/>
        </a:xfrm>
        <a:prstGeom prst="roundRect">
          <a:avLst>
            <a:gd name="adj" fmla="val 10000"/>
          </a:avLst>
        </a:prstGeom>
        <a:noFill/>
        <a:ln>
          <a:solidFill>
            <a:schemeClr val="tx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zh-CN" sz="1100" kern="1200" dirty="0" smtClean="0">
              <a:solidFill>
                <a:schemeClr val="tx1"/>
              </a:solidFill>
            </a:rPr>
            <a:t>变动</a:t>
          </a:r>
          <a14:m xmlns:a14="http://schemas.microsoft.com/office/drawing/2010/main">
            <m:oMath xmlns:m="http://schemas.openxmlformats.org/officeDocument/2006/math">
              <m:r>
                <a:rPr lang="zh-CN" altLang="en-US" sz="1100" i="1" kern="1200">
                  <a:solidFill>
                    <a:schemeClr val="tx1"/>
                  </a:solidFill>
                  <a:latin typeface="Cambria Math" charset="0"/>
                </a:rPr>
                <m:t>𝑉</m:t>
              </m:r>
              <m:r>
                <a:rPr lang="zh-CN" sz="1100" i="1" kern="1200">
                  <a:solidFill>
                    <a:schemeClr val="tx1"/>
                  </a:solidFill>
                  <a:latin typeface="Cambria Math" charset="0"/>
                </a:rPr>
                <m:t>,</m:t>
              </m:r>
              <m:r>
                <a:rPr lang="zh-CN" altLang="en-US" sz="1100" i="1" kern="1200">
                  <a:solidFill>
                    <a:schemeClr val="tx1"/>
                  </a:solidFill>
                  <a:latin typeface="Cambria Math" charset="0"/>
                </a:rPr>
                <m:t>𝐼</m:t>
              </m:r>
            </m:oMath>
          </a14:m>
          <a:r>
            <a:rPr lang="zh-CN" sz="1100" kern="1200" dirty="0">
              <a:solidFill>
                <a:schemeClr val="tx1"/>
              </a:solidFill>
            </a:rPr>
            <a:t>，可得到不同结果集</a:t>
          </a:r>
          <a14:m xmlns:a14="http://schemas.microsoft.com/office/drawing/2010/main">
            <m:oMath xmlns:m="http://schemas.openxmlformats.org/officeDocument/2006/math">
              <m:sSub>
                <m:sSubPr>
                  <m:ctrlPr>
                    <a:rPr lang="zh-CN" sz="1100" i="1" kern="1200">
                      <a:solidFill>
                        <a:schemeClr val="tx1"/>
                      </a:solidFill>
                      <a:latin typeface="Cambria Math" charset="0"/>
                    </a:rPr>
                  </m:ctrlPr>
                </m:sSubPr>
                <m:e>
                  <m:r>
                    <a:rPr lang="zh-CN" altLang="en-US" sz="1100" i="1" kern="1200">
                      <a:solidFill>
                        <a:schemeClr val="tx1"/>
                      </a:solidFill>
                      <a:latin typeface="Cambria Math" charset="0"/>
                    </a:rPr>
                    <m:t>𝑆𝑒𝑡</m:t>
                  </m:r>
                </m:e>
                <m:sub>
                  <m:r>
                    <a:rPr lang="zh-CN" altLang="en-US" sz="1100" i="1" kern="1200">
                      <a:solidFill>
                        <a:schemeClr val="tx1"/>
                      </a:solidFill>
                      <a:latin typeface="Cambria Math" charset="0"/>
                    </a:rPr>
                    <m:t>𝑣</m:t>
                  </m:r>
                  <m:r>
                    <a:rPr lang="zh-CN" sz="1100" i="1" kern="1200">
                      <a:solidFill>
                        <a:schemeClr val="tx1"/>
                      </a:solidFill>
                      <a:latin typeface="Cambria Math" charset="0"/>
                    </a:rPr>
                    <m:t>,</m:t>
                  </m:r>
                  <m:r>
                    <a:rPr lang="zh-CN" altLang="en-US" sz="1100" i="1" kern="1200">
                      <a:solidFill>
                        <a:schemeClr val="tx1"/>
                      </a:solidFill>
                      <a:latin typeface="Cambria Math" charset="0"/>
                    </a:rPr>
                    <m:t>𝑖</m:t>
                  </m:r>
                </m:sub>
              </m:sSub>
            </m:oMath>
          </a14:m>
          <a:r>
            <a:rPr lang="zh-CN" sz="1100" kern="1200" dirty="0" smtClean="0">
              <a:solidFill>
                <a:schemeClr val="tx1"/>
              </a:solidFill>
            </a:rPr>
            <a:t>，</a:t>
          </a:r>
          <a:endParaRPr lang="zh-CN" altLang="en-US" sz="1100" kern="1200" dirty="0" smtClean="0">
            <a:solidFill>
              <a:schemeClr val="tx1"/>
            </a:solidFill>
          </a:endParaRPr>
        </a:p>
        <a:p>
          <a:pPr lvl="0" algn="ctr" defTabSz="488950">
            <a:lnSpc>
              <a:spcPct val="90000"/>
            </a:lnSpc>
            <a:spcBef>
              <a:spcPct val="0"/>
            </a:spcBef>
            <a:spcAft>
              <a:spcPct val="35000"/>
            </a:spcAft>
          </a:pPr>
          <a:r>
            <a:rPr lang="zh-CN" sz="1100" kern="1200" dirty="0" smtClean="0">
              <a:solidFill>
                <a:schemeClr val="tx1"/>
              </a:solidFill>
            </a:rPr>
            <a:t>记</a:t>
          </a:r>
          <a:r>
            <a:rPr lang="zh-CN" sz="1100" kern="1200" dirty="0">
              <a:solidFill>
                <a:schemeClr val="tx1"/>
              </a:solidFill>
            </a:rPr>
            <a:t>之为</a:t>
          </a:r>
          <a14:m xmlns:a14="http://schemas.microsoft.com/office/drawing/2010/main">
            <m:oMath xmlns:m="http://schemas.openxmlformats.org/officeDocument/2006/math">
              <m:sSub>
                <m:sSubPr>
                  <m:ctrlPr>
                    <a:rPr lang="zh-CN" sz="1100" i="1" kern="1200">
                      <a:solidFill>
                        <a:schemeClr val="tx1"/>
                      </a:solidFill>
                      <a:latin typeface="Cambria Math" charset="0"/>
                    </a:rPr>
                  </m:ctrlPr>
                </m:sSubPr>
                <m:e>
                  <m:r>
                    <a:rPr lang="zh-CN" altLang="en-US" sz="1100" i="1" kern="1200">
                      <a:solidFill>
                        <a:schemeClr val="tx1"/>
                      </a:solidFill>
                      <a:latin typeface="Cambria Math" charset="0"/>
                    </a:rPr>
                    <m:t>𝑠𝑒𝑡</m:t>
                  </m:r>
                </m:e>
                <m:sub>
                  <m:r>
                    <a:rPr lang="zh-CN" altLang="en-US" sz="1100" i="1" kern="1200">
                      <a:solidFill>
                        <a:schemeClr val="tx1"/>
                      </a:solidFill>
                      <a:latin typeface="Cambria Math" charset="0"/>
                    </a:rPr>
                    <m:t>𝑉</m:t>
                  </m:r>
                  <m:r>
                    <a:rPr lang="zh-CN" sz="1100" i="1" kern="1200">
                      <a:solidFill>
                        <a:schemeClr val="tx1"/>
                      </a:solidFill>
                      <a:latin typeface="Cambria Math" charset="0"/>
                    </a:rPr>
                    <m:t>,</m:t>
                  </m:r>
                  <m:r>
                    <a:rPr lang="zh-CN" altLang="en-US" sz="1100" i="1" kern="1200">
                      <a:solidFill>
                        <a:schemeClr val="tx1"/>
                      </a:solidFill>
                      <a:latin typeface="Cambria Math" charset="0"/>
                    </a:rPr>
                    <m:t>𝐼</m:t>
                  </m:r>
                </m:sub>
              </m:sSub>
              <m:r>
                <a:rPr lang="en-US" altLang="zh-CN" sz="1100" i="1" kern="1200" smtClean="0">
                  <a:solidFill>
                    <a:schemeClr val="tx1"/>
                  </a:solidFill>
                  <a:latin typeface="Cambria Math" charset="0"/>
                </a:rPr>
                <m:t>|</m:t>
              </m:r>
              <m:r>
                <a:rPr lang="zh-CN" altLang="en-US" sz="1100" i="1" kern="1200">
                  <a:solidFill>
                    <a:schemeClr val="tx1"/>
                  </a:solidFill>
                  <a:latin typeface="Cambria Math" charset="0"/>
                </a:rPr>
                <m:t>𝑣</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r>
                <a:rPr lang="en-US" altLang="zh-CN" sz="1100" i="1" kern="1200">
                  <a:solidFill>
                    <a:schemeClr val="tx1"/>
                  </a:solidFill>
                  <a:latin typeface="Cambria Math" charset="0"/>
                </a:rPr>
                <m:t>)=</m:t>
              </m:r>
              <m:limUpp>
                <m:limUppPr>
                  <m:ctrlPr>
                    <a:rPr lang="zh-CN" altLang="en-US" sz="1100" i="1" kern="1200">
                      <a:solidFill>
                        <a:schemeClr val="tx1"/>
                      </a:solidFill>
                      <a:latin typeface="Cambria Math" charset="0"/>
                    </a:rPr>
                  </m:ctrlPr>
                </m:limUppPr>
                <m:e>
                  <m:limLow>
                    <m:limLowPr>
                      <m:ctrlPr>
                        <a:rPr lang="zh-CN" altLang="en-US" sz="1100" i="1" kern="1200">
                          <a:solidFill>
                            <a:schemeClr val="tx1"/>
                          </a:solidFill>
                          <a:latin typeface="Cambria Math" charset="0"/>
                        </a:rPr>
                      </m:ctrlPr>
                    </m:limLowPr>
                    <m:e>
                      <m:r>
                        <a:rPr lang="zh-CN" altLang="en-US" sz="1100" i="1" kern="1200">
                          <a:solidFill>
                            <a:schemeClr val="tx1"/>
                          </a:solidFill>
                          <a:latin typeface="Cambria Math" charset="0"/>
                        </a:rPr>
                        <m:t>∏</m:t>
                      </m:r>
                    </m:e>
                    <m:lim>
                      <m:r>
                        <a:rPr lang="zh-CN" altLang="en-US" sz="1100" i="1" kern="1200">
                          <a:solidFill>
                            <a:schemeClr val="tx1"/>
                          </a:solidFill>
                          <a:latin typeface="Cambria Math" charset="0"/>
                        </a:rPr>
                        <m:t>𝑖</m:t>
                      </m:r>
                      <m:r>
                        <a:rPr lang="en-US" altLang="zh-CN" sz="1100" i="1" kern="1200">
                          <a:solidFill>
                            <a:schemeClr val="tx1"/>
                          </a:solidFill>
                          <a:latin typeface="Cambria Math" charset="0"/>
                        </a:rPr>
                        <m:t>=1</m:t>
                      </m:r>
                    </m:lim>
                  </m:limLow>
                </m:e>
                <m:lim>
                  <m:r>
                    <a:rPr lang="zh-CN" altLang="en-US" sz="1100" i="1" kern="1200">
                      <a:solidFill>
                        <a:schemeClr val="tx1"/>
                      </a:solidFill>
                      <a:latin typeface="Cambria Math" charset="0"/>
                    </a:rPr>
                    <m:t>𝑁</m:t>
                  </m:r>
                </m:lim>
              </m:limUpp>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𝑓</m:t>
                  </m:r>
                </m:e>
                <m:sub>
                  <m:r>
                    <a:rPr lang="zh-CN" altLang="en-US" sz="1100" i="1" kern="1200">
                      <a:solidFill>
                        <a:schemeClr val="tx1"/>
                      </a:solidFill>
                      <a:latin typeface="Cambria Math" charset="0"/>
                    </a:rPr>
                    <m:t>𝑇</m:t>
                  </m:r>
                </m:sub>
              </m:sSub>
              <m:r>
                <a:rPr lang="en-US" altLang="zh-CN" sz="1100" i="1" kern="1200">
                  <a:solidFill>
                    <a:schemeClr val="tx1"/>
                  </a:solidFill>
                  <a:latin typeface="Cambria Math" charset="0"/>
                </a:rPr>
                <m:t>(</m:t>
              </m:r>
              <m:sSub>
                <m:sSubPr>
                  <m:ctrlPr>
                    <a:rPr lang="zh-CN" altLang="en-US" sz="1100" i="1" kern="1200">
                      <a:solidFill>
                        <a:schemeClr val="tx1"/>
                      </a:solidFill>
                      <a:latin typeface="Cambria Math" charset="0"/>
                    </a:rPr>
                  </m:ctrlPr>
                </m:sSubPr>
                <m:e>
                  <m:r>
                    <a:rPr lang="zh-CN" altLang="en-US" sz="1100" i="1" kern="1200">
                      <a:solidFill>
                        <a:schemeClr val="tx1"/>
                      </a:solidFill>
                      <a:latin typeface="Cambria Math" charset="0"/>
                    </a:rPr>
                    <m:t>𝑇</m:t>
                  </m:r>
                </m:e>
                <m:sub>
                  <m:r>
                    <a:rPr lang="zh-CN" altLang="en-US" sz="1100" i="1" kern="1200">
                      <a:solidFill>
                        <a:schemeClr val="tx1"/>
                      </a:solidFill>
                      <a:latin typeface="Cambria Math" charset="0"/>
                    </a:rPr>
                    <m:t>𝑔</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sub>
              </m:sSub>
              <m:r>
                <a:rPr lang="en-US" altLang="zh-CN" sz="1100" i="1" kern="1200">
                  <a:solidFill>
                    <a:schemeClr val="tx1"/>
                  </a:solidFill>
                  <a:latin typeface="Cambria Math" charset="0"/>
                </a:rPr>
                <m:t>|</m:t>
              </m:r>
              <m:r>
                <a:rPr lang="zh-CN" altLang="en-US" sz="1100" i="1" kern="1200">
                  <a:solidFill>
                    <a:schemeClr val="tx1"/>
                  </a:solidFill>
                  <a:latin typeface="Cambria Math" charset="0"/>
                </a:rPr>
                <m:t>𝑣</m:t>
              </m:r>
              <m:r>
                <a:rPr lang="en-US" altLang="zh-CN" sz="1100" i="1" kern="1200">
                  <a:solidFill>
                    <a:schemeClr val="tx1"/>
                  </a:solidFill>
                  <a:latin typeface="Cambria Math" charset="0"/>
                </a:rPr>
                <m:t>,</m:t>
              </m:r>
              <m:r>
                <a:rPr lang="zh-CN" altLang="en-US" sz="1100" i="1" kern="1200">
                  <a:solidFill>
                    <a:schemeClr val="tx1"/>
                  </a:solidFill>
                  <a:latin typeface="Cambria Math" charset="0"/>
                </a:rPr>
                <m:t>𝑖</m:t>
              </m:r>
              <m:r>
                <a:rPr lang="en-US" altLang="zh-CN" sz="1100" i="1" kern="1200">
                  <a:solidFill>
                    <a:schemeClr val="tx1"/>
                  </a:solidFill>
                  <a:latin typeface="Cambria Math" charset="0"/>
                </a:rPr>
                <m:t>)</m:t>
              </m:r>
            </m:oMath>
          </a14:m>
          <a:endParaRPr lang="zh-CN" altLang="en-US" sz="1100" kern="1200" dirty="0">
            <a:solidFill>
              <a:schemeClr val="tx1"/>
            </a:solidFill>
          </a:endParaRPr>
        </a:p>
      </dsp:txBody>
      <dsp:txXfrm>
        <a:off x="2284579" y="1315835"/>
        <a:ext cx="2456749" cy="101674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47C87-C5D8-4AF4-AB76-964E69FF3B01}" type="datetimeFigureOut">
              <a:rPr lang="zh-CN" altLang="en-US" smtClean="0"/>
              <a:t>2018/6/5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799FA3-118A-4974-9F90-DC3A50DC61B0}" type="slidenum">
              <a:rPr lang="zh-CN" altLang="en-US" smtClean="0"/>
              <a:t>‹#›</a:t>
            </a:fld>
            <a:endParaRPr lang="zh-CN" altLang="en-US"/>
          </a:p>
        </p:txBody>
      </p:sp>
    </p:spTree>
    <p:extLst>
      <p:ext uri="{BB962C8B-B14F-4D97-AF65-F5344CB8AC3E}">
        <p14:creationId xmlns:p14="http://schemas.microsoft.com/office/powerpoint/2010/main" val="3718842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a:t>
            </a:fld>
            <a:endParaRPr lang="zh-CN" altLang="en-US"/>
          </a:p>
        </p:txBody>
      </p:sp>
    </p:spTree>
    <p:extLst>
      <p:ext uri="{BB962C8B-B14F-4D97-AF65-F5344CB8AC3E}">
        <p14:creationId xmlns:p14="http://schemas.microsoft.com/office/powerpoint/2010/main" val="1088830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799FA3-118A-4974-9F90-DC3A50DC61B0}" type="slidenum">
              <a:rPr lang="zh-CN" altLang="en-US" smtClean="0"/>
              <a:t>2</a:t>
            </a:fld>
            <a:endParaRPr lang="zh-CN" altLang="en-US"/>
          </a:p>
        </p:txBody>
      </p:sp>
    </p:spTree>
    <p:extLst>
      <p:ext uri="{BB962C8B-B14F-4D97-AF65-F5344CB8AC3E}">
        <p14:creationId xmlns:p14="http://schemas.microsoft.com/office/powerpoint/2010/main" val="1004090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传统的稳定流和非稳定流公式都都是在各向同性且均质的条件下推导出的</a:t>
            </a:r>
            <a:endParaRPr lang="en-US" altLang="zh-CN" dirty="0" smtClean="0"/>
          </a:p>
          <a:p>
            <a:r>
              <a:rPr lang="zh-CN" altLang="en-US" dirty="0" smtClean="0"/>
              <a:t>但是在现实情况下，我们的自然条件必定是不满足上述假定的</a:t>
            </a:r>
            <a:endParaRPr lang="en-US" altLang="zh-CN" dirty="0" smtClean="0"/>
          </a:p>
          <a:p>
            <a:r>
              <a:rPr lang="zh-CN" altLang="en-US" dirty="0" smtClean="0"/>
              <a:t>为了反映空间变异性</a:t>
            </a:r>
            <a:endParaRPr lang="en-US" altLang="zh-CN" dirty="0" smtClean="0"/>
          </a:p>
          <a:p>
            <a:r>
              <a:rPr lang="zh-CN" altLang="en-US" dirty="0" smtClean="0"/>
              <a:t>我们一般有两种思路：</a:t>
            </a:r>
            <a:endParaRPr lang="en-US" altLang="zh-CN" dirty="0" smtClean="0"/>
          </a:p>
          <a:p>
            <a:r>
              <a:rPr lang="zh-CN" altLang="en-US" dirty="0" smtClean="0"/>
              <a:t>第一，我们可以密集采样，要钱，要时间，要人力，不可行</a:t>
            </a:r>
            <a:endParaRPr lang="en-US" altLang="zh-CN" dirty="0" smtClean="0"/>
          </a:p>
          <a:p>
            <a:r>
              <a:rPr lang="zh-CN" altLang="en-US" dirty="0" smtClean="0"/>
              <a:t>第二，我们可以采用随机变量的观点去研究变异性，同时，相关研究证实如渗透系数等地下水参数在空间上满足如对数正态分布等经典分布形式，这些分布在空间上是平稳的，即</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3</a:t>
            </a:fld>
            <a:endParaRPr lang="zh-CN" altLang="en-US"/>
          </a:p>
        </p:txBody>
      </p:sp>
    </p:spTree>
    <p:extLst>
      <p:ext uri="{BB962C8B-B14F-4D97-AF65-F5344CB8AC3E}">
        <p14:creationId xmlns:p14="http://schemas.microsoft.com/office/powerpoint/2010/main" val="921428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首先我们回答上次由许晨提出的问题：为什么我们选用贝叶斯估计？为什么不能使用极大似然估计？</a:t>
            </a:r>
          </a:p>
          <a:p>
            <a:r>
              <a:rPr lang="zh-CN" altLang="en-US" dirty="0" smtClean="0"/>
              <a:t>首先，从贝叶斯估计的运算过程，我们可以看到，贝叶斯估计结合了由历史资料确定的先验分布和抽水试验，导出后验分布；</a:t>
            </a:r>
          </a:p>
          <a:p>
            <a:r>
              <a:rPr lang="zh-CN" altLang="en-US" dirty="0" smtClean="0"/>
              <a:t>其次，为什么我们不用极大似然估计呢？首先，我们看一道极大似然估计的典型练习，可以看出，极大似然估计是要最大化似然函数，而似然函数的确定需要一个总体分布，而当我们在水文模型等物理模型中进行参数估计时，不能简单地假定总体分布是高斯分布</a:t>
            </a:r>
            <a:r>
              <a:rPr lang="en-US" altLang="zh-CN" dirty="0" smtClean="0"/>
              <a:t>/</a:t>
            </a:r>
            <a:r>
              <a:rPr lang="zh-CN" altLang="en-US" dirty="0" smtClean="0"/>
              <a:t>或者我们上学期学的</a:t>
            </a:r>
            <a:r>
              <a:rPr lang="en-US" altLang="zh-CN" dirty="0" smtClean="0"/>
              <a:t>P-3</a:t>
            </a:r>
            <a:r>
              <a:rPr lang="zh-CN" altLang="en-US" dirty="0" smtClean="0"/>
              <a:t>型分布，因此似然函数是难以确定的，或者说难以确定一个显示的表达，因为这需要对物理模型的显式化；在缺乏显式化似然函数的情况下，更不用说最大化似然函数了，这也是为什么水文等物理模型参数不使用极大似然估计的重要原因。</a:t>
            </a:r>
          </a:p>
          <a:p>
            <a:r>
              <a:rPr lang="zh-CN" altLang="en-US" dirty="0" smtClean="0"/>
              <a:t>；而在贝叶斯估计中，我们用到的是关键部分同样是似然函数</a:t>
            </a:r>
            <a:r>
              <a:rPr lang="en-US" altLang="zh-CN" dirty="0" smtClean="0"/>
              <a:t>f(O|P)</a:t>
            </a:r>
            <a:r>
              <a:rPr lang="zh-CN" altLang="en-US" dirty="0" smtClean="0"/>
              <a:t>，但请大家注意，我们需要的不是最大化似然函数，我们只需要把它的值通过采样计算出来即可，这个只需要我们通过不断的变动参数、模型模拟生成即可，相较于极大似然估计，这是一个更易于操作的正问题。我们会在第三部分进行主要讲解。</a:t>
            </a:r>
            <a:endParaRPr lang="zh-CN" altLang="en-US" dirty="0"/>
          </a:p>
        </p:txBody>
      </p:sp>
      <p:sp>
        <p:nvSpPr>
          <p:cNvPr id="4" name="灯片编号占位符 3"/>
          <p:cNvSpPr>
            <a:spLocks noGrp="1"/>
          </p:cNvSpPr>
          <p:nvPr>
            <p:ph type="sldNum" sz="quarter" idx="10"/>
          </p:nvPr>
        </p:nvSpPr>
        <p:spPr/>
        <p:txBody>
          <a:bodyPr/>
          <a:lstStyle/>
          <a:p>
            <a:fld id="{2A799FA3-118A-4974-9F90-DC3A50DC61B0}" type="slidenum">
              <a:rPr lang="zh-CN" altLang="en-US" smtClean="0"/>
              <a:t>4</a:t>
            </a:fld>
            <a:endParaRPr lang="zh-CN" altLang="en-US"/>
          </a:p>
        </p:txBody>
      </p:sp>
    </p:spTree>
    <p:extLst>
      <p:ext uri="{BB962C8B-B14F-4D97-AF65-F5344CB8AC3E}">
        <p14:creationId xmlns:p14="http://schemas.microsoft.com/office/powerpoint/2010/main" val="1481895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上图是模型整体流程</a:t>
            </a:r>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5</a:t>
            </a:fld>
            <a:endParaRPr lang="zh-CN" altLang="en-US"/>
          </a:p>
        </p:txBody>
      </p:sp>
    </p:spTree>
    <p:extLst>
      <p:ext uri="{BB962C8B-B14F-4D97-AF65-F5344CB8AC3E}">
        <p14:creationId xmlns:p14="http://schemas.microsoft.com/office/powerpoint/2010/main" val="1821165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GMS</a:t>
            </a:r>
            <a:r>
              <a:rPr lang="zh-CN" altLang="en-US" dirty="0" smtClean="0"/>
              <a:t>是一款地下水模拟软件</a:t>
            </a:r>
            <a:endParaRPr lang="en-US" altLang="zh-CN" dirty="0" smtClean="0"/>
          </a:p>
          <a:p>
            <a:r>
              <a:rPr lang="zh-CN" altLang="en-US" dirty="0" smtClean="0"/>
              <a:t>打开软件后的界面如下，首先进行基本参数的设置</a:t>
            </a:r>
            <a:endParaRPr lang="en-US" altLang="zh-CN" dirty="0" smtClean="0"/>
          </a:p>
          <a:p>
            <a:r>
              <a:rPr lang="zh-CN" altLang="en-US" dirty="0" smtClean="0"/>
              <a:t>建立</a:t>
            </a:r>
            <a:r>
              <a:rPr lang="en-US" altLang="zh-CN" dirty="0" smtClean="0"/>
              <a:t>3D</a:t>
            </a:r>
            <a:r>
              <a:rPr lang="en-US" altLang="zh-CN" baseline="0" dirty="0" smtClean="0"/>
              <a:t> Grid</a:t>
            </a:r>
            <a:r>
              <a:rPr lang="zh-CN" altLang="en-US" baseline="0" dirty="0" smtClean="0"/>
              <a:t>模型后建立</a:t>
            </a:r>
            <a:r>
              <a:rPr lang="en-US" altLang="zh-CN" baseline="0" dirty="0" smtClean="0"/>
              <a:t>MODFLOW</a:t>
            </a:r>
          </a:p>
          <a:p>
            <a:r>
              <a:rPr lang="zh-CN" altLang="en-US" baseline="0" dirty="0" smtClean="0"/>
              <a:t>输入对应的水文参数</a:t>
            </a:r>
            <a:endParaRPr lang="en-US" altLang="zh-CN" baseline="0" dirty="0" smtClean="0"/>
          </a:p>
          <a:p>
            <a:r>
              <a:rPr lang="zh-CN" altLang="en-US" baseline="0" dirty="0" smtClean="0"/>
              <a:t>计算得到右图，其中包含各点的水头信息等</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6</a:t>
            </a:fld>
            <a:endParaRPr lang="zh-CN" altLang="en-US"/>
          </a:p>
        </p:txBody>
      </p:sp>
    </p:spTree>
    <p:extLst>
      <p:ext uri="{BB962C8B-B14F-4D97-AF65-F5344CB8AC3E}">
        <p14:creationId xmlns:p14="http://schemas.microsoft.com/office/powerpoint/2010/main" val="1974571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模型采用的参数如下</a:t>
            </a:r>
            <a:endParaRPr lang="en-US" altLang="zh-CN" dirty="0" smtClean="0"/>
          </a:p>
          <a:p>
            <a:r>
              <a:rPr lang="zh-CN" altLang="en-US" dirty="0" smtClean="0"/>
              <a:t>右图是水力传导系数的矩阵，满足正态分布</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7</a:t>
            </a:fld>
            <a:endParaRPr lang="zh-CN" altLang="en-US"/>
          </a:p>
        </p:txBody>
      </p:sp>
    </p:spTree>
    <p:extLst>
      <p:ext uri="{BB962C8B-B14F-4D97-AF65-F5344CB8AC3E}">
        <p14:creationId xmlns:p14="http://schemas.microsoft.com/office/powerpoint/2010/main" val="1209849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现在，我们再来回顾一下，</a:t>
            </a:r>
          </a:p>
          <a:p>
            <a:r>
              <a:rPr lang="zh-CN" altLang="en-US" dirty="0" smtClean="0"/>
              <a:t>我们在第二部分提到的计算似然函数值的过程，也就是说，我们要计算，在给定参数组合情况下，观测情况出现的概率。</a:t>
            </a:r>
          </a:p>
          <a:p>
            <a:r>
              <a:rPr lang="zh-CN" altLang="en-US" dirty="0" smtClean="0"/>
              <a:t>这相当于是已知数据散点，计算概率密度函数的过程</a:t>
            </a:r>
          </a:p>
          <a:p>
            <a:r>
              <a:rPr lang="zh-CN" altLang="en-US" dirty="0" smtClean="0"/>
              <a:t>计算概率密度函数，我们的第一反应往往是计算它的累积分布函数 大</a:t>
            </a:r>
            <a:r>
              <a:rPr lang="en-US" altLang="zh-CN" dirty="0" smtClean="0"/>
              <a:t>F(X)</a:t>
            </a:r>
            <a:r>
              <a:rPr lang="zh-CN" altLang="en-US" dirty="0" smtClean="0"/>
              <a:t>，然后对它求导得到概率密度函数 小</a:t>
            </a:r>
            <a:r>
              <a:rPr lang="en-US" altLang="zh-CN" dirty="0" smtClean="0"/>
              <a:t>f(X)</a:t>
            </a:r>
            <a:endParaRPr lang="zh-CN" altLang="en-US" dirty="0" smtClean="0"/>
          </a:p>
          <a:p>
            <a:r>
              <a:rPr lang="zh-CN" altLang="en-US" dirty="0" smtClean="0"/>
              <a:t>以一维情况为例</a:t>
            </a:r>
            <a:r>
              <a:rPr lang="zh-CN" altLang="en-US" dirty="0" smtClean="0"/>
              <a:t>，累积</a:t>
            </a:r>
            <a:r>
              <a:rPr lang="zh-CN" altLang="en-US" dirty="0" smtClean="0"/>
              <a:t>分布函数计算的是随机变量</a:t>
            </a:r>
            <a:r>
              <a:rPr lang="en-US" altLang="zh-CN" dirty="0" smtClean="0"/>
              <a:t>X</a:t>
            </a:r>
            <a:r>
              <a:rPr lang="zh-CN" altLang="en-US" dirty="0" smtClean="0"/>
              <a:t>小于某一值的概率，显然这基于数据是很好计算</a:t>
            </a:r>
            <a:r>
              <a:rPr lang="zh-CN" altLang="en-US" dirty="0" smtClean="0"/>
              <a:t>的</a:t>
            </a:r>
          </a:p>
        </p:txBody>
      </p:sp>
      <p:sp>
        <p:nvSpPr>
          <p:cNvPr id="4" name="灯片编号占位符 3"/>
          <p:cNvSpPr>
            <a:spLocks noGrp="1"/>
          </p:cNvSpPr>
          <p:nvPr>
            <p:ph type="sldNum" sz="quarter" idx="10"/>
          </p:nvPr>
        </p:nvSpPr>
        <p:spPr/>
        <p:txBody>
          <a:bodyPr/>
          <a:lstStyle/>
          <a:p>
            <a:fld id="{2A799FA3-118A-4974-9F90-DC3A50DC61B0}" type="slidenum">
              <a:rPr lang="zh-CN" altLang="en-US" smtClean="0"/>
              <a:t>8</a:t>
            </a:fld>
            <a:endParaRPr lang="zh-CN" altLang="en-US"/>
          </a:p>
        </p:txBody>
      </p:sp>
    </p:spTree>
    <p:extLst>
      <p:ext uri="{BB962C8B-B14F-4D97-AF65-F5344CB8AC3E}">
        <p14:creationId xmlns:p14="http://schemas.microsoft.com/office/powerpoint/2010/main" val="925890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那得到散点之后呢，</a:t>
            </a:r>
          </a:p>
          <a:p>
            <a:r>
              <a:rPr lang="zh-CN" altLang="en-US" dirty="0" smtClean="0"/>
              <a:t>考虑到我们后续可能还需要求导</a:t>
            </a:r>
            <a:endParaRPr lang="zh-CN" altLang="en-US" dirty="0" smtClean="0"/>
          </a:p>
          <a:p>
            <a:r>
              <a:rPr lang="zh-CN" altLang="en-US" dirty="0" smtClean="0"/>
              <a:t>为了得到一个连续曲线</a:t>
            </a:r>
          </a:p>
          <a:p>
            <a:r>
              <a:rPr lang="zh-CN" altLang="en-US" dirty="0" smtClean="0"/>
              <a:t>我们需要对散点进行插值拟合，常用的是多项式插值，即在两点之间考虑到连续性等要求，通过多项式进行插值</a:t>
            </a:r>
          </a:p>
          <a:p>
            <a:r>
              <a:rPr lang="zh-CN" altLang="en-US" dirty="0" smtClean="0"/>
              <a:t>但多项式插值不好直观地把握我们究竟要用多少次多项式进行拟合，次数过低，拟合效果不好；次数过高，拟合出来的函数波动性较强</a:t>
            </a:r>
          </a:p>
          <a:p>
            <a:r>
              <a:rPr lang="zh-CN" altLang="en-US" dirty="0" smtClean="0"/>
              <a:t>文中采取二次多项式进行拟合，得到累积分布曲线，求导得到图示的概率密度函数，可以看出两点之间都是直线</a:t>
            </a:r>
            <a:endParaRPr lang="zh-CN" altLang="en-US"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9</a:t>
            </a:fld>
            <a:endParaRPr lang="zh-CN" altLang="en-US"/>
          </a:p>
        </p:txBody>
      </p:sp>
    </p:spTree>
    <p:extLst>
      <p:ext uri="{BB962C8B-B14F-4D97-AF65-F5344CB8AC3E}">
        <p14:creationId xmlns:p14="http://schemas.microsoft.com/office/powerpoint/2010/main" val="1521766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但是，我们会想</a:t>
            </a:r>
          </a:p>
          <a:p>
            <a:r>
              <a:rPr lang="zh-CN" altLang="en-US" dirty="0" smtClean="0"/>
              <a:t>次数不好定，拟合出来的概率密度函数是锯齿状，这在数据量小的情况下，尤其明显</a:t>
            </a:r>
          </a:p>
          <a:p>
            <a:r>
              <a:rPr lang="zh-CN" altLang="en-US" dirty="0" smtClean="0"/>
              <a:t>那么是否存在更好的一种方法呢？</a:t>
            </a:r>
          </a:p>
        </p:txBody>
      </p:sp>
      <p:sp>
        <p:nvSpPr>
          <p:cNvPr id="4" name="灯片编号占位符 3"/>
          <p:cNvSpPr>
            <a:spLocks noGrp="1"/>
          </p:cNvSpPr>
          <p:nvPr>
            <p:ph type="sldNum" sz="quarter" idx="10"/>
          </p:nvPr>
        </p:nvSpPr>
        <p:spPr/>
        <p:txBody>
          <a:bodyPr/>
          <a:lstStyle/>
          <a:p>
            <a:fld id="{2A799FA3-118A-4974-9F90-DC3A50DC61B0}" type="slidenum">
              <a:rPr lang="zh-CN" altLang="en-US" smtClean="0"/>
              <a:t>10</a:t>
            </a:fld>
            <a:endParaRPr lang="zh-CN" altLang="en-US"/>
          </a:p>
        </p:txBody>
      </p:sp>
    </p:spTree>
    <p:extLst>
      <p:ext uri="{BB962C8B-B14F-4D97-AF65-F5344CB8AC3E}">
        <p14:creationId xmlns:p14="http://schemas.microsoft.com/office/powerpoint/2010/main" val="110485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我们想到了一种方法，叫做核密度估计</a:t>
            </a:r>
          </a:p>
          <a:p>
            <a:r>
              <a:rPr lang="zh-CN" altLang="en-US" dirty="0" smtClean="0"/>
              <a:t>我们同样是从我们最初讲的：累积密度函数</a:t>
            </a:r>
            <a:r>
              <a:rPr lang="en-US" altLang="zh-CN" dirty="0" smtClean="0"/>
              <a:t>(</a:t>
            </a:r>
            <a:r>
              <a:rPr lang="en-US" altLang="zh-CN" dirty="0" err="1" smtClean="0"/>
              <a:t>cdf</a:t>
            </a:r>
            <a:r>
              <a:rPr lang="en-US" altLang="zh-CN" dirty="0" smtClean="0"/>
              <a:t>)</a:t>
            </a:r>
            <a:r>
              <a:rPr lang="zh-CN" altLang="en-US" dirty="0" smtClean="0"/>
              <a:t>求导得到概率密度函数</a:t>
            </a:r>
            <a:r>
              <a:rPr lang="en-US" altLang="zh-CN" dirty="0" smtClean="0"/>
              <a:t>(pdf)</a:t>
            </a:r>
            <a:r>
              <a:rPr lang="zh-CN" altLang="en-US" dirty="0" smtClean="0"/>
              <a:t>出发</a:t>
            </a:r>
          </a:p>
          <a:p>
            <a:endParaRPr lang="en-US" altLang="zh-CN"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11</a:t>
            </a:fld>
            <a:endParaRPr lang="zh-CN" altLang="en-US"/>
          </a:p>
        </p:txBody>
      </p:sp>
    </p:spTree>
    <p:extLst>
      <p:ext uri="{BB962C8B-B14F-4D97-AF65-F5344CB8AC3E}">
        <p14:creationId xmlns:p14="http://schemas.microsoft.com/office/powerpoint/2010/main" val="2134049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但相比于之前讲的，我们要给拟合一个曲线出来</a:t>
            </a:r>
          </a:p>
          <a:p>
            <a:r>
              <a:rPr lang="zh-CN" altLang="en-US" dirty="0" smtClean="0"/>
              <a:t>核密度估计更多关注的是一个点的局部，</a:t>
            </a:r>
          </a:p>
          <a:p>
            <a:r>
              <a:rPr lang="zh-CN" altLang="en-US" dirty="0" smtClean="0"/>
              <a:t>假设我们希望计算一个点处的概率，由求导的定义知，（第一个式：极限）</a:t>
            </a:r>
          </a:p>
          <a:p>
            <a:r>
              <a:rPr lang="zh-CN" altLang="en-US" dirty="0" smtClean="0"/>
              <a:t>在实际计算过程中，我们往往取一个距离小量</a:t>
            </a:r>
            <a:r>
              <a:rPr lang="en-US" altLang="zh-CN" dirty="0" smtClean="0"/>
              <a:t>h</a:t>
            </a:r>
            <a:r>
              <a:rPr lang="zh-CN" altLang="en-US" dirty="0" smtClean="0"/>
              <a:t>，进行计算，在这里，累积分布函数的计算采取一种示性函数的方式，即若有数据点落在</a:t>
            </a:r>
            <a:r>
              <a:rPr lang="en-US" altLang="zh-CN" dirty="0" smtClean="0"/>
              <a:t>[x-h,</a:t>
            </a:r>
            <a:r>
              <a:rPr lang="zh-CN" altLang="en-US" dirty="0" smtClean="0"/>
              <a:t> </a:t>
            </a:r>
            <a:r>
              <a:rPr lang="en-US" altLang="zh-CN" dirty="0" err="1" smtClean="0"/>
              <a:t>x+h</a:t>
            </a:r>
            <a:r>
              <a:rPr lang="en-US" altLang="zh-CN" dirty="0" smtClean="0"/>
              <a:t>]</a:t>
            </a:r>
            <a:r>
              <a:rPr lang="zh-CN" altLang="en-US" dirty="0" smtClean="0"/>
              <a:t>范围内，对分子加</a:t>
            </a:r>
            <a:r>
              <a:rPr lang="en-US" altLang="zh-CN" dirty="0" smtClean="0"/>
              <a:t>1</a:t>
            </a:r>
            <a:r>
              <a:rPr lang="zh-CN" altLang="en-US" dirty="0" smtClean="0"/>
              <a:t>，分母取所有的观测点</a:t>
            </a:r>
          </a:p>
          <a:p>
            <a:r>
              <a:rPr lang="zh-CN" altLang="en-US" dirty="0" smtClean="0"/>
              <a:t>核密度函数的想法是：通过如高斯函数、二次函数等以</a:t>
            </a:r>
            <a:r>
              <a:rPr lang="en-US" altLang="zh-CN" dirty="0" smtClean="0"/>
              <a:t>x</a:t>
            </a:r>
            <a:r>
              <a:rPr lang="zh-CN" altLang="en-US" dirty="0" smtClean="0"/>
              <a:t>为中心的函数，反映距离的权重影响，在满足对概率密度函数全局积分为</a:t>
            </a:r>
            <a:r>
              <a:rPr lang="en-US" altLang="zh-CN" dirty="0" smtClean="0"/>
              <a:t>1</a:t>
            </a:r>
            <a:r>
              <a:rPr lang="zh-CN" altLang="en-US" dirty="0" smtClean="0"/>
              <a:t>的前提下，给出具体函数的表达式，进行</a:t>
            </a:r>
            <a:r>
              <a:rPr lang="zh-CN" altLang="en-US" smtClean="0"/>
              <a:t>概率密度计算</a:t>
            </a:r>
            <a:endParaRPr lang="zh-CN" altLang="en-US" dirty="0" smtClean="0"/>
          </a:p>
        </p:txBody>
      </p:sp>
      <p:sp>
        <p:nvSpPr>
          <p:cNvPr id="4" name="灯片编号占位符 3"/>
          <p:cNvSpPr>
            <a:spLocks noGrp="1"/>
          </p:cNvSpPr>
          <p:nvPr>
            <p:ph type="sldNum" sz="quarter" idx="10"/>
          </p:nvPr>
        </p:nvSpPr>
        <p:spPr/>
        <p:txBody>
          <a:bodyPr/>
          <a:lstStyle/>
          <a:p>
            <a:fld id="{2A799FA3-118A-4974-9F90-DC3A50DC61B0}" type="slidenum">
              <a:rPr lang="zh-CN" altLang="en-US" smtClean="0"/>
              <a:t>12</a:t>
            </a:fld>
            <a:endParaRPr lang="zh-CN" altLang="en-US"/>
          </a:p>
        </p:txBody>
      </p:sp>
    </p:spTree>
    <p:extLst>
      <p:ext uri="{BB962C8B-B14F-4D97-AF65-F5344CB8AC3E}">
        <p14:creationId xmlns:p14="http://schemas.microsoft.com/office/powerpoint/2010/main" val="128562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31805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32657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2412683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1225606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29150" y="1878806"/>
            <a:ext cx="3887391" cy="2763441"/>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r>
              <a:rPr lang="en-US" altLang="zh-CN" smtClean="0"/>
              <a:t>1</a:t>
            </a:r>
            <a:endParaRPr lang="zh-CN" altLang="en-US"/>
          </a:p>
        </p:txBody>
      </p:sp>
      <p:sp>
        <p:nvSpPr>
          <p:cNvPr id="9" name="灯片编号占位符 8"/>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220110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1</a:t>
            </a:r>
            <a:endParaRPr lang="zh-CN" altLang="en-US"/>
          </a:p>
        </p:txBody>
      </p:sp>
      <p:sp>
        <p:nvSpPr>
          <p:cNvPr id="5" name="灯片编号占位符 4"/>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25309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en-US" altLang="zh-CN" smtClean="0"/>
              <a:t>1</a:t>
            </a:r>
            <a:endParaRPr lang="zh-CN" altLang="en-US"/>
          </a:p>
        </p:txBody>
      </p:sp>
      <p:sp>
        <p:nvSpPr>
          <p:cNvPr id="4" name="灯片编号占位符 3"/>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636547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292803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en-US" altLang="zh-CN" smtClean="0"/>
              <a:t>1</a:t>
            </a:r>
            <a:endParaRPr lang="zh-CN" altLang="en-US"/>
          </a:p>
        </p:txBody>
      </p:sp>
      <p:sp>
        <p:nvSpPr>
          <p:cNvPr id="7" name="灯片编号占位符 6"/>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121034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3657246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r>
              <a:rPr lang="en-US" altLang="zh-CN" smtClean="0"/>
              <a:t>1</a:t>
            </a:r>
            <a:endParaRPr lang="zh-CN" altLang="en-US"/>
          </a:p>
        </p:txBody>
      </p:sp>
      <p:sp>
        <p:nvSpPr>
          <p:cNvPr id="6" name="灯片编号占位符 5"/>
          <p:cNvSpPr>
            <a:spLocks noGrp="1"/>
          </p:cNvSpPr>
          <p:nvPr>
            <p:ph type="sldNum" sz="quarter" idx="12"/>
          </p:nvPr>
        </p:nvSpPr>
        <p:spPr/>
        <p:txBody>
          <a:bodyPr/>
          <a:lstStyle/>
          <a:p>
            <a:fld id="{95CF4CD4-F5A4-4E64-AC35-A97AD4A95E66}" type="slidenum">
              <a:rPr lang="zh-CN" altLang="en-US" smtClean="0"/>
              <a:t>‹#›</a:t>
            </a:fld>
            <a:endParaRPr lang="zh-CN" altLang="en-US"/>
          </a:p>
        </p:txBody>
      </p:sp>
    </p:spTree>
    <p:extLst>
      <p:ext uri="{BB962C8B-B14F-4D97-AF65-F5344CB8AC3E}">
        <p14:creationId xmlns:p14="http://schemas.microsoft.com/office/powerpoint/2010/main" val="660019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52622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zh-CN" smtClean="0"/>
              <a:t>1</a:t>
            </a:r>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5CF4CD4-F5A4-4E64-AC35-A97AD4A95E66}" type="slidenum">
              <a:rPr lang="zh-CN" altLang="en-US" smtClean="0"/>
              <a:pPr/>
              <a:t>‹#›</a:t>
            </a:fld>
            <a:r>
              <a:rPr lang="en-US" altLang="zh-CN" dirty="0" smtClean="0"/>
              <a:t>/17</a:t>
            </a:r>
            <a:endParaRPr lang="zh-CN" altLang="en-US" dirty="0"/>
          </a:p>
        </p:txBody>
      </p:sp>
    </p:spTree>
    <p:extLst>
      <p:ext uri="{BB962C8B-B14F-4D97-AF65-F5344CB8AC3E}">
        <p14:creationId xmlns:p14="http://schemas.microsoft.com/office/powerpoint/2010/main" val="28009203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9" Type="http://schemas.openxmlformats.org/officeDocument/2006/relationships/diagramData" Target="../diagrams/data2.xml"/><Relationship Id="rId20" Type="http://schemas.openxmlformats.org/officeDocument/2006/relationships/diagramQuickStyle" Target="../diagrams/quickStyle2.xml"/><Relationship Id="rId21" Type="http://schemas.openxmlformats.org/officeDocument/2006/relationships/diagramColors" Target="../diagrams/colors2.xml"/><Relationship Id="rId10" Type="http://schemas.openxmlformats.org/officeDocument/2006/relationships/diagramLayout" Target="../diagrams/layout1.xml"/><Relationship Id="rId11" Type="http://schemas.openxmlformats.org/officeDocument/2006/relationships/diagramQuickStyle" Target="../diagrams/quickStyle1.xml"/><Relationship Id="rId12" Type="http://schemas.openxmlformats.org/officeDocument/2006/relationships/diagramColors" Target="../diagrams/colors1.xml"/><Relationship Id="rId13" Type="http://schemas.openxmlformats.org/officeDocument/2006/relationships/diagramData" Target="../diagrams/data3.xml"/><Relationship Id="rId14" Type="http://schemas.openxmlformats.org/officeDocument/2006/relationships/diagramLayout" Target="../diagrams/layout2.xml"/><Relationship Id="rId15" Type="http://schemas.openxmlformats.org/officeDocument/2006/relationships/diagramQuickStyle" Target="../diagrams/quickStyle2.xml"/><Relationship Id="rId16" Type="http://schemas.openxmlformats.org/officeDocument/2006/relationships/diagramColors" Target="../diagrams/colors2.xml"/><Relationship Id="rId17" Type="http://schemas.microsoft.com/office/2007/relationships/diagramDrawing" Target="../diagrams/drawing2.xml"/><Relationship Id="rId18" Type="http://schemas.openxmlformats.org/officeDocument/2006/relationships/diagramData" Target="../diagrams/data4.xml"/><Relationship Id="rId19" Type="http://schemas.openxmlformats.org/officeDocument/2006/relationships/diagramLayout" Target="../diagrams/layout2.xml"/><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6.tmp"/><Relationship Id="rId5" Type="http://schemas.openxmlformats.org/officeDocument/2006/relationships/image" Target="../media/image7.png"/><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8.tmp"/><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91.png"/><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4.png"/><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5967" y="2493191"/>
            <a:ext cx="8054641" cy="646331"/>
          </a:xfrm>
          <a:prstGeom prst="rect">
            <a:avLst/>
          </a:prstGeom>
        </p:spPr>
        <p:txBody>
          <a:bodyPr wrap="square">
            <a:spAutoFit/>
          </a:bodyPr>
          <a:lstStyle/>
          <a:p>
            <a:pPr fontAlgn="auto">
              <a:spcBef>
                <a:spcPts val="0"/>
              </a:spcBef>
              <a:spcAft>
                <a:spcPts val="0"/>
              </a:spcAft>
              <a:defRPr/>
            </a:pPr>
            <a:r>
              <a:rPr lang="en-US" altLang="zh-CN" b="1" dirty="0" smtClean="0">
                <a:latin typeface="微软雅黑" panose="020B0503020204020204" pitchFamily="34" charset="-122"/>
                <a:ea typeface="微软雅黑" panose="020B0503020204020204" pitchFamily="34" charset="-122"/>
              </a:rPr>
              <a:t>Estimation</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on</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the</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spatial</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structure</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of</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groundwater</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parameters</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through</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Bayesian</a:t>
            </a:r>
            <a:r>
              <a:rPr lang="zh-CN" altLang="en-US" b="1" dirty="0" smtClean="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method</a:t>
            </a:r>
            <a:endParaRPr lang="en-US" dirty="0">
              <a:latin typeface="微软雅黑" panose="020B0503020204020204" pitchFamily="34" charset="-122"/>
              <a:ea typeface="微软雅黑" panose="020B0503020204020204" pitchFamily="34" charset="-122"/>
              <a:cs typeface="Open Sans Light" pitchFamily="34" charset="0"/>
            </a:endParaRPr>
          </a:p>
        </p:txBody>
      </p:sp>
      <p:sp>
        <p:nvSpPr>
          <p:cNvPr id="6" name="Rectangle 5"/>
          <p:cNvSpPr/>
          <p:nvPr/>
        </p:nvSpPr>
        <p:spPr>
          <a:xfrm>
            <a:off x="2699792" y="3579862"/>
            <a:ext cx="4083169" cy="338554"/>
          </a:xfrm>
          <a:prstGeom prst="rect">
            <a:avLst/>
          </a:prstGeom>
        </p:spPr>
        <p:txBody>
          <a:bodyPr wrap="none">
            <a:spAutoFit/>
          </a:bodyPr>
          <a:lstStyle/>
          <a:p>
            <a:pPr fontAlgn="auto">
              <a:spcBef>
                <a:spcPts val="0"/>
              </a:spcBef>
              <a:spcAft>
                <a:spcPts val="0"/>
              </a:spcAft>
              <a:defRPr/>
            </a:pPr>
            <a:r>
              <a:rPr lang="zh-CN" altLang="en-US" sz="1600" dirty="0" smtClean="0">
                <a:latin typeface="楷体" panose="02010609060101010101" pitchFamily="49" charset="-122"/>
                <a:ea typeface="楷体" panose="02010609060101010101" pitchFamily="49" charset="-122"/>
                <a:cs typeface="Open Sans Light" pitchFamily="34" charset="0"/>
              </a:rPr>
              <a:t>小组成员：黄科翰、马泽维、李瑞栋、王昭</a:t>
            </a:r>
            <a:endParaRPr lang="en-US" sz="1600" dirty="0">
              <a:latin typeface="楷体" panose="02010609060101010101" pitchFamily="49" charset="-122"/>
              <a:ea typeface="楷体" panose="02010609060101010101" pitchFamily="49" charset="-122"/>
              <a:cs typeface="Open Sans Light" pitchFamily="34" charset="0"/>
            </a:endParaRPr>
          </a:p>
        </p:txBody>
      </p:sp>
      <p:sp>
        <p:nvSpPr>
          <p:cNvPr id="8" name="Rectangle 4"/>
          <p:cNvSpPr/>
          <p:nvPr/>
        </p:nvSpPr>
        <p:spPr>
          <a:xfrm>
            <a:off x="835968" y="1860054"/>
            <a:ext cx="8054641" cy="584775"/>
          </a:xfrm>
          <a:prstGeom prst="rect">
            <a:avLst/>
          </a:prstGeom>
        </p:spPr>
        <p:txBody>
          <a:bodyPr wrap="none">
            <a:spAutoFit/>
          </a:bodyPr>
          <a:lstStyle/>
          <a:p>
            <a:pPr fontAlgn="auto">
              <a:spcBef>
                <a:spcPts val="0"/>
              </a:spcBef>
              <a:spcAft>
                <a:spcPts val="0"/>
              </a:spcAft>
              <a:defRPr/>
            </a:pPr>
            <a:r>
              <a:rPr lang="zh-CN" altLang="en-US" sz="3200" b="1" dirty="0" smtClean="0">
                <a:latin typeface="微软雅黑" panose="020B0503020204020204" pitchFamily="34" charset="-122"/>
                <a:ea typeface="微软雅黑" panose="020B0503020204020204" pitchFamily="34" charset="-122"/>
              </a:rPr>
              <a:t>基于贝叶斯方法的地下水参数空间结构估计</a:t>
            </a:r>
            <a:endParaRPr lang="en-US" sz="3200" dirty="0">
              <a:latin typeface="微软雅黑" panose="020B0503020204020204" pitchFamily="34" charset="-122"/>
              <a:ea typeface="微软雅黑" panose="020B0503020204020204" pitchFamily="34" charset="-122"/>
              <a:cs typeface="Open Sans Light" pitchFamily="34" charset="0"/>
            </a:endParaRPr>
          </a:p>
        </p:txBody>
      </p:sp>
    </p:spTree>
    <p:extLst>
      <p:ext uri="{BB962C8B-B14F-4D97-AF65-F5344CB8AC3E}">
        <p14:creationId xmlns:p14="http://schemas.microsoft.com/office/powerpoint/2010/main" val="1718991807"/>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2700039" y="1042928"/>
            <a:ext cx="4680520" cy="50405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800" b="1" kern="0" dirty="0" smtClean="0">
                <a:latin typeface="Microsoft YaHei UI" panose="020B0503020204020204" pitchFamily="34" charset="-122"/>
                <a:ea typeface="Microsoft YaHei UI" panose="020B0503020204020204" pitchFamily="34" charset="-122"/>
              </a:rPr>
              <a:t>研究回顾</a:t>
            </a:r>
            <a:endParaRPr lang="en-US" altLang="zh-CN" sz="1800" b="1"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800" b="1"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2" name="Rectangle 3"/>
          <p:cNvSpPr txBox="1">
            <a:spLocks noChangeArrowheads="1"/>
          </p:cNvSpPr>
          <p:nvPr/>
        </p:nvSpPr>
        <p:spPr>
          <a:xfrm>
            <a:off x="2700039" y="1723878"/>
            <a:ext cx="4680520" cy="50405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800" b="1" kern="0" dirty="0" smtClean="0">
                <a:latin typeface="Microsoft YaHei UI" panose="020B0503020204020204" pitchFamily="34" charset="-122"/>
                <a:ea typeface="Microsoft YaHei UI" panose="020B0503020204020204" pitchFamily="34" charset="-122"/>
              </a:rPr>
              <a:t>工作简述</a:t>
            </a:r>
            <a:endParaRPr lang="en-US" altLang="zh-CN" sz="1800" b="1"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3" name="Rectangle 3"/>
          <p:cNvSpPr txBox="1">
            <a:spLocks noChangeArrowheads="1"/>
          </p:cNvSpPr>
          <p:nvPr/>
        </p:nvSpPr>
        <p:spPr>
          <a:xfrm>
            <a:off x="3069316" y="2156666"/>
            <a:ext cx="8424936" cy="91914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贝叶斯估计的优势</a:t>
            </a:r>
          </a:p>
          <a:p>
            <a:pPr lvl="1" eaLnBrk="1" hangingPunct="1">
              <a:defRPr/>
            </a:pPr>
            <a:r>
              <a:rPr lang="zh-CN" altLang="en-US" sz="1400" kern="0" dirty="0" smtClean="0">
                <a:latin typeface="Microsoft YaHei UI" panose="020B0503020204020204" pitchFamily="34" charset="-122"/>
                <a:ea typeface="Microsoft YaHei UI" panose="020B0503020204020204" pitchFamily="34" charset="-122"/>
              </a:rPr>
              <a:t>抽水试验估计 </a:t>
            </a:r>
            <a:r>
              <a:rPr lang="en-US" altLang="zh-CN" sz="1400" kern="0" dirty="0" smtClean="0">
                <a:latin typeface="Microsoft YaHei UI" panose="020B0503020204020204" pitchFamily="34" charset="-122"/>
                <a:ea typeface="Microsoft YaHei UI" panose="020B0503020204020204" pitchFamily="34" charset="-122"/>
              </a:rPr>
              <a:t>T</a:t>
            </a:r>
            <a:r>
              <a:rPr lang="zh-CN" altLang="en-US" sz="1400" kern="0" dirty="0" smtClean="0">
                <a:latin typeface="Microsoft YaHei UI" panose="020B0503020204020204" pitchFamily="34" charset="-122"/>
                <a:ea typeface="Microsoft YaHei UI" panose="020B0503020204020204" pitchFamily="34" charset="-122"/>
              </a:rPr>
              <a:t> 的空间变异性</a:t>
            </a:r>
          </a:p>
          <a:p>
            <a:pPr lvl="1" eaLnBrk="1" hangingPunct="1">
              <a:defRPr/>
            </a:pPr>
            <a:r>
              <a:rPr lang="en-US" altLang="zh-CN" sz="1400" kern="0" dirty="0" smtClean="0">
                <a:latin typeface="Microsoft YaHei UI" panose="020B0503020204020204" pitchFamily="34" charset="-122"/>
                <a:ea typeface="Microsoft YaHei UI" panose="020B0503020204020204" pitchFamily="34" charset="-122"/>
              </a:rPr>
              <a:t>GMS</a:t>
            </a:r>
            <a:r>
              <a:rPr lang="zh-CN" altLang="en-US" sz="1400" kern="0" dirty="0" smtClean="0">
                <a:latin typeface="Microsoft YaHei UI" panose="020B0503020204020204" pitchFamily="34" charset="-122"/>
                <a:ea typeface="Microsoft YaHei UI" panose="020B0503020204020204" pitchFamily="34" charset="-122"/>
              </a:rPr>
              <a:t>抽水试验</a:t>
            </a:r>
          </a:p>
          <a:p>
            <a:pPr lvl="1" eaLnBrk="1" hangingPunct="1">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700039" y="3181432"/>
            <a:ext cx="4680520" cy="50405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800" b="1" kern="0" dirty="0" smtClean="0">
                <a:latin typeface="Microsoft YaHei UI" panose="020B0503020204020204" pitchFamily="34" charset="-122"/>
                <a:ea typeface="Microsoft YaHei UI" panose="020B0503020204020204" pitchFamily="34" charset="-122"/>
              </a:rPr>
              <a:t>文章内容</a:t>
            </a:r>
            <a:endParaRPr lang="en-US" altLang="zh-CN" sz="1800" b="1"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8593065"/>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研究回顾</a:t>
            </a:r>
            <a:endParaRPr lang="zh-CN" altLang="en-US" sz="1600" b="1" dirty="0">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工作简述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文章内容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3" name="文本框 2"/>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1</a:t>
            </a:r>
            <a:endParaRPr lang="zh-CN" altLang="en-US" sz="1200" dirty="0">
              <a:latin typeface="Times New Roman" panose="02020603050405020304" pitchFamily="18" charset="0"/>
              <a:cs typeface="Times New Roman" panose="02020603050405020304" pitchFamily="18" charset="0"/>
            </a:endParaRPr>
          </a:p>
        </p:txBody>
      </p:sp>
      <p:sp>
        <p:nvSpPr>
          <p:cNvPr id="12" name="Rectangle 3"/>
          <p:cNvSpPr txBox="1">
            <a:spLocks noChangeArrowheads="1"/>
          </p:cNvSpPr>
          <p:nvPr/>
        </p:nvSpPr>
        <p:spPr>
          <a:xfrm>
            <a:off x="251520" y="3877913"/>
            <a:ext cx="7344816" cy="91951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marL="457200" lvl="1" indent="0" eaLnBrk="1" hangingPunct="1">
              <a:lnSpc>
                <a:spcPts val="2000"/>
              </a:lnSpc>
              <a:buNone/>
              <a:defRPr/>
            </a:pPr>
            <a:endParaRPr lang="zh-CN" altLang="en-US" sz="1200" b="1" kern="0" dirty="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r>
              <a:rPr lang="zh-CN" altLang="en-US" sz="1200" b="1" kern="0" dirty="0" smtClean="0">
                <a:latin typeface="Microsoft YaHei UI" panose="020B0503020204020204" pitchFamily="34" charset="-122"/>
                <a:ea typeface="Microsoft YaHei UI" panose="020B0503020204020204" pitchFamily="34" charset="-122"/>
              </a:rPr>
              <a:t>物理方程中的参数联系</a:t>
            </a:r>
          </a:p>
          <a:p>
            <a:pPr marL="457200" lvl="1" indent="0" eaLnBrk="1" hangingPunct="1">
              <a:lnSpc>
                <a:spcPts val="2000"/>
              </a:lnSpc>
              <a:buNone/>
              <a:defRPr/>
            </a:pPr>
            <a:r>
              <a:rPr lang="zh-CN" altLang="en-US" sz="1200" b="1" kern="0" dirty="0" smtClean="0">
                <a:latin typeface="Microsoft YaHei UI" panose="020B0503020204020204" pitchFamily="34" charset="-122"/>
                <a:ea typeface="Microsoft YaHei UI" panose="020B0503020204020204" pitchFamily="34" charset="-122"/>
              </a:rPr>
              <a:t>	稳定流：</a:t>
            </a:r>
            <a:r>
              <a:rPr lang="en-US" altLang="zh-CN" sz="1200" b="1" kern="0" dirty="0" err="1" smtClean="0">
                <a:latin typeface="Microsoft YaHei UI" panose="020B0503020204020204" pitchFamily="34" charset="-122"/>
                <a:ea typeface="Microsoft YaHei UI" panose="020B0503020204020204" pitchFamily="34" charset="-122"/>
              </a:rPr>
              <a:t>Dupuit-Thiem</a:t>
            </a:r>
            <a:r>
              <a:rPr lang="zh-CN" altLang="en-US" sz="1200" b="1" kern="0" dirty="0">
                <a:latin typeface="Microsoft YaHei UI" panose="020B0503020204020204" pitchFamily="34" charset="-122"/>
                <a:ea typeface="Microsoft YaHei UI" panose="020B0503020204020204" pitchFamily="34" charset="-122"/>
              </a:rPr>
              <a:t>公式；非稳定流：</a:t>
            </a:r>
            <a:r>
              <a:rPr lang="en-US" altLang="zh-CN" sz="1200" b="1" kern="0" dirty="0" err="1">
                <a:latin typeface="Microsoft YaHei UI" panose="020B0503020204020204" pitchFamily="34" charset="-122"/>
                <a:ea typeface="Microsoft YaHei UI" panose="020B0503020204020204" pitchFamily="34" charset="-122"/>
              </a:rPr>
              <a:t>Theis</a:t>
            </a:r>
            <a:r>
              <a:rPr lang="zh-CN" altLang="en-US" sz="1200" b="1" kern="0" dirty="0">
                <a:latin typeface="Microsoft YaHei UI" panose="020B0503020204020204" pitchFamily="34" charset="-122"/>
                <a:ea typeface="Microsoft YaHei UI" panose="020B0503020204020204" pitchFamily="34" charset="-122"/>
              </a:rPr>
              <a:t>公式</a:t>
            </a:r>
            <a:r>
              <a:rPr lang="en-US" altLang="zh-CN" sz="1200" b="1" kern="0" dirty="0">
                <a:latin typeface="Microsoft YaHei UI" panose="020B0503020204020204" pitchFamily="34" charset="-122"/>
                <a:ea typeface="Microsoft YaHei UI" panose="020B0503020204020204" pitchFamily="34" charset="-122"/>
              </a:rPr>
              <a:t>/Jacob</a:t>
            </a:r>
            <a:r>
              <a:rPr lang="zh-CN" altLang="en-US" sz="1200" b="1" kern="0" dirty="0">
                <a:latin typeface="Microsoft YaHei UI" panose="020B0503020204020204" pitchFamily="34" charset="-122"/>
                <a:ea typeface="Microsoft YaHei UI" panose="020B0503020204020204" pitchFamily="34" charset="-122"/>
              </a:rPr>
              <a:t>公式</a:t>
            </a:r>
            <a:endParaRPr lang="en-US" altLang="zh-CN" sz="1200" b="1" kern="0" dirty="0">
              <a:solidFill>
                <a:srgbClr val="FF0000"/>
              </a:solidFill>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en-US" altLang="zh-CN" sz="12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2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2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2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r>
              <a:rPr lang="en-US" altLang="zh-CN" sz="1200" b="1" kern="0" dirty="0">
                <a:latin typeface="Microsoft YaHei UI" panose="020B0503020204020204" pitchFamily="34" charset="-122"/>
                <a:ea typeface="Microsoft YaHei UI" panose="020B0503020204020204" pitchFamily="34" charset="-122"/>
              </a:rPr>
              <a:t> </a:t>
            </a:r>
            <a:r>
              <a:rPr lang="en-US" altLang="zh-CN" sz="1200" b="1"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200" kern="0" dirty="0" smtClean="0">
              <a:latin typeface="Microsoft YaHei UI" panose="020B0503020204020204" pitchFamily="34" charset="-122"/>
              <a:ea typeface="Microsoft YaHei UI" panose="020B0503020204020204" pitchFamily="34" charset="-122"/>
            </a:endParaRPr>
          </a:p>
        </p:txBody>
      </p:sp>
      <p:grpSp>
        <p:nvGrpSpPr>
          <p:cNvPr id="18" name="组 17"/>
          <p:cNvGrpSpPr/>
          <p:nvPr/>
        </p:nvGrpSpPr>
        <p:grpSpPr>
          <a:xfrm>
            <a:off x="251520" y="935988"/>
            <a:ext cx="8830562" cy="4139643"/>
            <a:chOff x="251520" y="973650"/>
            <a:chExt cx="8830562" cy="4139643"/>
          </a:xfrm>
        </p:grpSpPr>
        <p:sp>
          <p:nvSpPr>
            <p:cNvPr id="23" name="文本框 22"/>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24"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先验分布：从零起步</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25" name="Rectangle 3"/>
            <p:cNvSpPr txBox="1">
              <a:spLocks noChangeArrowheads="1"/>
            </p:cNvSpPr>
            <p:nvPr/>
          </p:nvSpPr>
          <p:spPr>
            <a:xfrm>
              <a:off x="251520" y="1873421"/>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似然函数：采样</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26" name="Rectangle 3"/>
            <p:cNvSpPr txBox="1">
              <a:spLocks noChangeArrowheads="1"/>
            </p:cNvSpPr>
            <p:nvPr/>
          </p:nvSpPr>
          <p:spPr>
            <a:xfrm>
              <a:off x="251520" y="3033602"/>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后验分布：结果输出</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27" name="Rectangle 3"/>
            <p:cNvSpPr txBox="1">
              <a:spLocks noChangeArrowheads="1"/>
            </p:cNvSpPr>
            <p:nvPr/>
          </p:nvSpPr>
          <p:spPr>
            <a:xfrm>
              <a:off x="251520" y="1368475"/>
              <a:ext cx="504056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均匀分布、相似区域、历史资料</a:t>
              </a:r>
              <a:r>
                <a:rPr lang="en-US" altLang="zh-CN" sz="1600" kern="0" dirty="0" smtClean="0">
                  <a:latin typeface="Microsoft YaHei UI" panose="020B0503020204020204" pitchFamily="34" charset="-122"/>
                  <a:ea typeface="Microsoft YaHei UI" panose="020B0503020204020204" pitchFamily="34" charset="-122"/>
                </a:rPr>
                <a:t>……</a:t>
              </a: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28" name="Rectangle 3"/>
                <p:cNvSpPr txBox="1">
                  <a:spLocks noChangeArrowheads="1"/>
                </p:cNvSpPr>
                <p:nvPr/>
              </p:nvSpPr>
              <p:spPr>
                <a:xfrm>
                  <a:off x="269280" y="2271451"/>
                  <a:ext cx="8089044" cy="501741"/>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en-US" altLang="zh-CN" sz="1600" kern="0" dirty="0">
                      <a:latin typeface="Microsoft YaHei UI" panose="020B0503020204020204" pitchFamily="34" charset="-122"/>
                      <a:ea typeface="Microsoft YaHei UI" panose="020B0503020204020204" pitchFamily="34" charset="-122"/>
                    </a:rPr>
                    <a:t>GMS</a:t>
                  </a:r>
                  <a:r>
                    <a:rPr lang="zh-CN" altLang="en-US" sz="1600" kern="0" dirty="0">
                      <a:latin typeface="Microsoft YaHei UI" panose="020B0503020204020204" pitchFamily="34" charset="-122"/>
                      <a:ea typeface="Microsoft YaHei UI" panose="020B0503020204020204" pitchFamily="34" charset="-122"/>
                    </a:rPr>
                    <a:t>模拟地下水抽水试验，获得</a:t>
                  </a:r>
                  <a14:m>
                    <m:oMath xmlns:m="http://schemas.openxmlformats.org/officeDocument/2006/math">
                      <m:r>
                        <a:rPr lang="en-US" altLang="zh-CN" sz="1600" kern="0">
                          <a:latin typeface="Cambria Math" charset="0"/>
                          <a:ea typeface="Microsoft YaHei UI" panose="020B0503020204020204" pitchFamily="34" charset="-122"/>
                        </a:rPr>
                        <m:t>𝐻</m:t>
                      </m:r>
                      <m:r>
                        <a:rPr lang="en-US" altLang="zh-CN" sz="1600" kern="0">
                          <a:latin typeface="Cambria Math" charset="0"/>
                          <a:ea typeface="Microsoft YaHei UI" panose="020B0503020204020204" pitchFamily="34" charset="-122"/>
                        </a:rPr>
                        <m:t>~</m:t>
                      </m:r>
                      <m:r>
                        <a:rPr lang="en-US" altLang="zh-CN" sz="1600" kern="0">
                          <a:latin typeface="Cambria Math" charset="0"/>
                          <a:ea typeface="Microsoft YaHei UI" panose="020B0503020204020204" pitchFamily="34" charset="-122"/>
                        </a:rPr>
                        <m:t>𝑡</m:t>
                      </m:r>
                    </m:oMath>
                  </a14:m>
                  <a:r>
                    <a:rPr lang="zh-CN" altLang="en-US" sz="1600" kern="0" dirty="0" smtClean="0">
                      <a:latin typeface="Microsoft YaHei UI" panose="020B0503020204020204" pitchFamily="34" charset="-122"/>
                      <a:ea typeface="Microsoft YaHei UI" panose="020B0503020204020204" pitchFamily="34" charset="-122"/>
                    </a:rPr>
                    <a:t>曲线</a:t>
                  </a:r>
                  <a:endParaRPr lang="zh-CN" altLang="en-US" sz="1600" kern="0" dirty="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r>
                    <a:rPr lang="zh-CN" altLang="en-US" sz="1600" kern="0" dirty="0">
                      <a:latin typeface="Microsoft YaHei UI" panose="020B0503020204020204" pitchFamily="34" charset="-122"/>
                      <a:ea typeface="Microsoft YaHei UI" panose="020B0503020204020204" pitchFamily="34" charset="-122"/>
                    </a:rPr>
                    <a:t>得到</a:t>
                  </a:r>
                  <a14:m>
                    <m:oMath xmlns:m="http://schemas.openxmlformats.org/officeDocument/2006/math">
                      <m:sSub>
                        <m:sSubPr>
                          <m:ctrlPr>
                            <a:rPr lang="en-US" altLang="zh-CN" sz="1600" i="1" kern="0">
                              <a:latin typeface="Cambria Math" charset="0"/>
                              <a:ea typeface="Microsoft YaHei UI" panose="020B0503020204020204" pitchFamily="34" charset="-122"/>
                            </a:rPr>
                          </m:ctrlPr>
                        </m:sSubPr>
                        <m:e>
                          <m:r>
                            <a:rPr lang="en-US" altLang="zh-CN" sz="1600" kern="0">
                              <a:latin typeface="Cambria Math" charset="0"/>
                              <a:ea typeface="Microsoft YaHei UI" panose="020B0503020204020204" pitchFamily="34" charset="-122"/>
                            </a:rPr>
                            <m:t>𝑻</m:t>
                          </m:r>
                        </m:e>
                        <m:sub>
                          <m:r>
                            <a:rPr lang="en-US" altLang="zh-CN" sz="1600" kern="0">
                              <a:latin typeface="Cambria Math" charset="0"/>
                              <a:ea typeface="Microsoft YaHei UI" panose="020B0503020204020204" pitchFamily="34" charset="-122"/>
                            </a:rPr>
                            <m:t>𝒈</m:t>
                          </m:r>
                        </m:sub>
                      </m:sSub>
                      <m:r>
                        <a:rPr lang="en-US" altLang="zh-CN" sz="1600" kern="0">
                          <a:latin typeface="Cambria Math" charset="0"/>
                          <a:ea typeface="Microsoft YaHei UI" panose="020B0503020204020204" pitchFamily="34" charset="-122"/>
                        </a:rPr>
                        <m:t>(</m:t>
                      </m:r>
                      <m:r>
                        <a:rPr lang="en-US" altLang="zh-CN" sz="1600" kern="0">
                          <a:latin typeface="Cambria Math" charset="0"/>
                          <a:ea typeface="Microsoft YaHei UI" panose="020B0503020204020204" pitchFamily="34" charset="-122"/>
                        </a:rPr>
                        <m:t>𝒓</m:t>
                      </m:r>
                      <m:r>
                        <a:rPr lang="en-US" altLang="zh-CN" sz="1600" kern="0">
                          <a:latin typeface="Cambria Math" charset="0"/>
                          <a:ea typeface="Microsoft YaHei UI" panose="020B0503020204020204" pitchFamily="34" charset="-122"/>
                        </a:rPr>
                        <m:t>)~</m:t>
                      </m:r>
                      <m:r>
                        <a:rPr lang="en-US" altLang="zh-CN" sz="1600" kern="0">
                          <a:latin typeface="Cambria Math" charset="0"/>
                          <a:ea typeface="Microsoft YaHei UI" panose="020B0503020204020204" pitchFamily="34" charset="-122"/>
                        </a:rPr>
                        <m:t>𝒓</m:t>
                      </m:r>
                    </m:oMath>
                  </a14:m>
                  <a:r>
                    <a:rPr lang="zh-CN" altLang="en-US" sz="1600" kern="0" dirty="0">
                      <a:latin typeface="Microsoft YaHei UI" panose="020B0503020204020204" pitchFamily="34" charset="-122"/>
                      <a:ea typeface="Microsoft YaHei UI" panose="020B0503020204020204" pitchFamily="34" charset="-122"/>
                    </a:rPr>
                    <a:t>的先验</a:t>
                  </a:r>
                  <a:r>
                    <a:rPr lang="zh-CN" altLang="en-US" sz="1600" kern="0" dirty="0" smtClean="0">
                      <a:latin typeface="Microsoft YaHei UI" panose="020B0503020204020204" pitchFamily="34" charset="-122"/>
                      <a:ea typeface="Microsoft YaHei UI" panose="020B0503020204020204" pitchFamily="34" charset="-122"/>
                    </a:rPr>
                    <a:t>分布</a:t>
                  </a:r>
                  <a:endParaRPr lang="en-US" altLang="zh-CN" sz="1600" b="1"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xmlns="">
            <p:sp>
              <p:nvSpPr>
                <p:cNvPr id="28" name="Rectangle 3"/>
                <p:cNvSpPr txBox="1">
                  <a:spLocks noRot="1" noChangeAspect="1" noMove="1" noResize="1" noEditPoints="1" noAdjustHandles="1" noChangeArrowheads="1" noChangeShapeType="1" noTextEdit="1"/>
                </p:cNvSpPr>
                <p:nvPr/>
              </p:nvSpPr>
              <p:spPr>
                <a:xfrm>
                  <a:off x="269280" y="2271451"/>
                  <a:ext cx="8089044" cy="501741"/>
                </a:xfrm>
                <a:prstGeom prst="rect">
                  <a:avLst/>
                </a:prstGeom>
                <a:blipFill rotWithShape="0">
                  <a:blip r:embed="rId4"/>
                  <a:stretch>
                    <a:fillRect t="-4819" b="-40964"/>
                  </a:stretch>
                </a:blipFill>
              </p:spPr>
              <p:txBody>
                <a:bodyPr/>
                <a:lstStyle/>
                <a:p>
                  <a:r>
                    <a:rPr lang="zh-CN" altLang="en-US">
                      <a:noFill/>
                    </a:rPr>
                    <a:t> </a:t>
                  </a:r>
                </a:p>
              </p:txBody>
            </p:sp>
          </mc:Fallback>
        </mc:AlternateContent>
        <p:sp>
          <p:nvSpPr>
            <p:cNvPr id="29" name="Rectangle 3"/>
            <p:cNvSpPr txBox="1">
              <a:spLocks noChangeArrowheads="1"/>
            </p:cNvSpPr>
            <p:nvPr/>
          </p:nvSpPr>
          <p:spPr>
            <a:xfrm>
              <a:off x="251520" y="3428427"/>
              <a:ext cx="5760640" cy="325087"/>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kern="0" dirty="0" smtClean="0">
                  <a:latin typeface="Microsoft YaHei UI" panose="020B0503020204020204" pitchFamily="34" charset="-122"/>
                  <a:ea typeface="Microsoft YaHei UI" panose="020B0503020204020204" pitchFamily="34" charset="-122"/>
                </a:rPr>
                <a:t>贝叶斯公式迭代</a:t>
              </a:r>
              <a:endParaRPr lang="zh-CN" altLang="en-US" sz="1400" kern="0" dirty="0" smtClean="0">
                <a:latin typeface="Microsoft YaHei UI" panose="020B0503020204020204" pitchFamily="34" charset="-122"/>
                <a:ea typeface="Microsoft YaHei UI" panose="020B0503020204020204" pitchFamily="34" charset="-122"/>
              </a:endParaRPr>
            </a:p>
          </p:txBody>
        </p:sp>
      </p:grpSp>
    </p:spTree>
    <p:extLst>
      <p:ext uri="{BB962C8B-B14F-4D97-AF65-F5344CB8AC3E}">
        <p14:creationId xmlns:p14="http://schemas.microsoft.com/office/powerpoint/2010/main" val="910183105"/>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贝叶斯估计的优势</a:t>
            </a: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1" name="矩形 20"/>
          <p:cNvSpPr/>
          <p:nvPr/>
        </p:nvSpPr>
        <p:spPr>
          <a:xfrm>
            <a:off x="1539356" y="473690"/>
            <a:ext cx="1919115" cy="276999"/>
          </a:xfrm>
          <a:prstGeom prst="rect">
            <a:avLst/>
          </a:prstGeom>
        </p:spPr>
        <p:txBody>
          <a:bodyPr wrap="none">
            <a:spAutoFit/>
          </a:bodyPr>
          <a:lstStyle/>
          <a:p>
            <a:pPr lvl="1">
              <a:defRPr/>
            </a:pPr>
            <a:r>
              <a:rPr lang="zh-CN" altLang="zh-CN" sz="1200" b="1" dirty="0"/>
              <a:t>贝叶斯估计的优势</a:t>
            </a:r>
            <a:r>
              <a:rPr lang="zh-CN" altLang="zh-CN" sz="1200" dirty="0"/>
              <a:t> </a:t>
            </a:r>
            <a:endParaRPr lang="zh-CN" altLang="en-US" sz="1200" dirty="0">
              <a:latin typeface="Microsoft YaHei UI" panose="020B0503020204020204" pitchFamily="34" charset="-122"/>
              <a:ea typeface="Microsoft YaHei UI" panose="020B0503020204020204" pitchFamily="34" charset="-122"/>
            </a:endParaRPr>
          </a:p>
        </p:txBody>
      </p:sp>
      <p:sp>
        <p:nvSpPr>
          <p:cNvPr id="22" name="矩形 21"/>
          <p:cNvSpPr/>
          <p:nvPr/>
        </p:nvSpPr>
        <p:spPr>
          <a:xfrm>
            <a:off x="3650412" y="470302"/>
            <a:ext cx="2427268" cy="276999"/>
          </a:xfrm>
          <a:prstGeom prst="rect">
            <a:avLst/>
          </a:prstGeom>
        </p:spPr>
        <p:txBody>
          <a:bodyPr wrap="none">
            <a:spAutoFit/>
          </a:bodyPr>
          <a:lstStyle/>
          <a:p>
            <a:pPr lvl="1">
              <a:defRPr/>
            </a:pPr>
            <a:r>
              <a:rPr lang="zh-CN"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抽水</a:t>
            </a:r>
            <a:r>
              <a:rPr lang="zh-CN" altLang="zh-CN" sz="1200" dirty="0">
                <a:solidFill>
                  <a:schemeClr val="tx1">
                    <a:alpha val="30000"/>
                  </a:schemeClr>
                </a:solidFill>
                <a:latin typeface="Microsoft YaHei UI" panose="020B0503020204020204" pitchFamily="34" charset="-122"/>
                <a:ea typeface="Microsoft YaHei UI" panose="020B0503020204020204" pitchFamily="34" charset="-122"/>
              </a:rPr>
              <a:t>试验</a:t>
            </a:r>
            <a:r>
              <a:rPr lang="zh-CN"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估计</a:t>
            </a:r>
            <a:r>
              <a:rPr lang="en-US"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T</a:t>
            </a:r>
            <a:r>
              <a:rPr lang="zh-CN" altLang="zh-CN" sz="1200" dirty="0">
                <a:solidFill>
                  <a:schemeClr val="tx1">
                    <a:alpha val="30000"/>
                  </a:schemeClr>
                </a:solidFill>
                <a:latin typeface="Microsoft YaHei UI" panose="020B0503020204020204" pitchFamily="34" charset="-122"/>
                <a:ea typeface="Microsoft YaHei UI" panose="020B0503020204020204" pitchFamily="34" charset="-122"/>
              </a:rPr>
              <a:t>空间</a:t>
            </a:r>
            <a:r>
              <a:rPr lang="zh-CN"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变异性</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3" name="文本框 22"/>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3</a:t>
            </a:r>
            <a:endParaRPr lang="zh-CN" altLang="en-US" sz="1200" dirty="0">
              <a:latin typeface="Times New Roman" panose="02020603050405020304" pitchFamily="18" charset="0"/>
              <a:cs typeface="Times New Roman" panose="02020603050405020304" pitchFamily="18" charset="0"/>
            </a:endParaRPr>
          </a:p>
        </p:txBody>
      </p:sp>
      <p:sp>
        <p:nvSpPr>
          <p:cNvPr id="24" name="矩形 23"/>
          <p:cNvSpPr/>
          <p:nvPr/>
        </p:nvSpPr>
        <p:spPr>
          <a:xfrm>
            <a:off x="5726351" y="469329"/>
            <a:ext cx="1614545" cy="276999"/>
          </a:xfrm>
          <a:prstGeom prst="rect">
            <a:avLst/>
          </a:prstGeom>
        </p:spPr>
        <p:txBody>
          <a:bodyPr wrap="none">
            <a:spAutoFit/>
          </a:bodyPr>
          <a:lstStyle/>
          <a:p>
            <a:pPr lvl="1">
              <a:defRPr/>
            </a:pPr>
            <a:r>
              <a:rPr lang="en-US"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GMS</a:t>
            </a: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抽水试验</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5" name="矩形 24"/>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矩形 25"/>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工作简述</a:t>
            </a:r>
            <a:endParaRPr lang="zh-CN" altLang="en-US" sz="1600" b="1" dirty="0">
              <a:latin typeface="Microsoft YaHei UI" panose="020B0503020204020204" pitchFamily="34" charset="-122"/>
              <a:ea typeface="Microsoft YaHei UI" panose="020B0503020204020204" pitchFamily="34" charset="-122"/>
            </a:endParaRPr>
          </a:p>
        </p:txBody>
      </p:sp>
      <p:sp>
        <p:nvSpPr>
          <p:cNvPr id="28" name="矩形 27"/>
          <p:cNvSpPr/>
          <p:nvPr/>
        </p:nvSpPr>
        <p:spPr>
          <a:xfrm>
            <a:off x="6156176"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文章内容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14" name="Rectangle 3"/>
              <p:cNvSpPr txBox="1">
                <a:spLocks noChangeArrowheads="1"/>
              </p:cNvSpPr>
              <p:nvPr/>
            </p:nvSpPr>
            <p:spPr>
              <a:xfrm>
                <a:off x="251520" y="2685372"/>
                <a:ext cx="7920880"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zh-CN" sz="1600" kern="0" dirty="0" smtClean="0">
                    <a:latin typeface="Microsoft YaHei UI" panose="020B0503020204020204" pitchFamily="34" charset="-122"/>
                    <a:ea typeface="Microsoft YaHei UI" panose="020B0503020204020204" pitchFamily="34" charset="-122"/>
                  </a:rPr>
                  <a:t>贝叶斯</a:t>
                </a:r>
                <a:r>
                  <a:rPr lang="zh-CN" altLang="zh-CN" sz="1600" kern="0" dirty="0">
                    <a:latin typeface="Microsoft YaHei UI" panose="020B0503020204020204" pitchFamily="34" charset="-122"/>
                    <a:ea typeface="Microsoft YaHei UI" panose="020B0503020204020204" pitchFamily="34" charset="-122"/>
                  </a:rPr>
                  <a:t>估计高效地结合了抽水试验等观测资料与历史</a:t>
                </a:r>
                <a:r>
                  <a:rPr lang="zh-CN" altLang="zh-CN" sz="1600" kern="0" dirty="0" smtClean="0">
                    <a:latin typeface="Microsoft YaHei UI" panose="020B0503020204020204" pitchFamily="34" charset="-122"/>
                    <a:ea typeface="Microsoft YaHei UI" panose="020B0503020204020204" pitchFamily="34" charset="-122"/>
                  </a:rPr>
                  <a:t>资料</a:t>
                </a:r>
                <a:endParaRPr lang="zh-CN" altLang="en-US" sz="1600" kern="0" dirty="0" smtClean="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zh-CN" altLang="en-US" sz="1600" kern="0" dirty="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r>
                  <a:rPr lang="zh-CN" altLang="zh-CN" sz="1600" kern="0" dirty="0" smtClean="0">
                    <a:latin typeface="Microsoft YaHei UI" panose="020B0503020204020204" pitchFamily="34" charset="-122"/>
                    <a:ea typeface="Microsoft YaHei UI" panose="020B0503020204020204" pitchFamily="34" charset="-122"/>
                  </a:rPr>
                  <a:t>贝叶斯</a:t>
                </a:r>
                <a:r>
                  <a:rPr lang="zh-CN" altLang="zh-CN" sz="1600" kern="0" dirty="0">
                    <a:latin typeface="Microsoft YaHei UI" panose="020B0503020204020204" pitchFamily="34" charset="-122"/>
                    <a:ea typeface="Microsoft YaHei UI" panose="020B0503020204020204" pitchFamily="34" charset="-122"/>
                  </a:rPr>
                  <a:t>估计是从正面解决参数估计问题；如果使用极大似然估计，无法得到似然函数具体形式</a:t>
                </a:r>
                <a:r>
                  <a:rPr lang="zh-CN" altLang="zh-CN" sz="1600" kern="0" dirty="0" smtClean="0">
                    <a:latin typeface="Microsoft YaHei UI" panose="020B0503020204020204" pitchFamily="34" charset="-122"/>
                    <a:ea typeface="Microsoft YaHei UI" panose="020B0503020204020204" pitchFamily="34" charset="-122"/>
                  </a:rPr>
                  <a:t>。</a:t>
                </a:r>
                <a:r>
                  <a:rPr lang="zh-CN" altLang="en-US" sz="1600" kern="0" dirty="0" smtClean="0">
                    <a:latin typeface="Microsoft YaHei UI" panose="020B0503020204020204" pitchFamily="34" charset="-122"/>
                    <a:ea typeface="Microsoft YaHei UI" panose="020B0503020204020204" pitchFamily="34" charset="-122"/>
                  </a:rPr>
                  <a:t>我们容易获得</a:t>
                </a:r>
                <a14:m>
                  <m:oMath xmlns:m="http://schemas.openxmlformats.org/officeDocument/2006/math">
                    <m:r>
                      <a:rPr lang="en-US" altLang="zh-CN" sz="1600" b="0" i="1" kern="0" smtClean="0">
                        <a:latin typeface="Cambria Math" charset="0"/>
                        <a:ea typeface="Microsoft YaHei UI" panose="020B0503020204020204" pitchFamily="34" charset="-122"/>
                      </a:rPr>
                      <m:t>𝑓</m:t>
                    </m:r>
                    <m:d>
                      <m:dPr>
                        <m:ctrlPr>
                          <a:rPr lang="en-US" altLang="zh-CN" sz="1600" b="0" i="1" kern="0" smtClean="0">
                            <a:latin typeface="Cambria Math" charset="0"/>
                            <a:ea typeface="Microsoft YaHei UI" panose="020B0503020204020204" pitchFamily="34" charset="-122"/>
                          </a:rPr>
                        </m:ctrlPr>
                      </m:dPr>
                      <m:e>
                        <m:r>
                          <a:rPr lang="en-US" altLang="zh-CN" sz="1600" b="0" i="1" kern="0" smtClean="0">
                            <a:latin typeface="Cambria Math" charset="0"/>
                            <a:ea typeface="Microsoft YaHei UI" panose="020B0503020204020204" pitchFamily="34" charset="-122"/>
                          </a:rPr>
                          <m:t>𝑂</m:t>
                        </m:r>
                      </m:e>
                      <m:e>
                        <m:r>
                          <a:rPr lang="en-US" altLang="zh-CN" sz="1600" b="0" i="1" kern="0" smtClean="0">
                            <a:latin typeface="Cambria Math" charset="0"/>
                            <a:ea typeface="Microsoft YaHei UI" panose="020B0503020204020204" pitchFamily="34" charset="-122"/>
                          </a:rPr>
                          <m:t>𝑃</m:t>
                        </m:r>
                      </m:e>
                    </m:d>
                  </m:oMath>
                </a14:m>
                <a:r>
                  <a:rPr lang="zh-CN" altLang="en-US" sz="1600" kern="0" dirty="0" smtClean="0">
                    <a:latin typeface="Microsoft YaHei UI" panose="020B0503020204020204" pitchFamily="34" charset="-122"/>
                    <a:ea typeface="Microsoft YaHei UI" panose="020B0503020204020204" pitchFamily="34" charset="-122"/>
                  </a:rPr>
                  <a:t>，通过贝叶斯估计算出</a:t>
                </a:r>
                <a14:m>
                  <m:oMath xmlns:m="http://schemas.openxmlformats.org/officeDocument/2006/math">
                    <m:r>
                      <a:rPr lang="en-US" altLang="zh-CN" sz="1600" b="0" i="1" kern="0" smtClean="0">
                        <a:latin typeface="Cambria Math" charset="0"/>
                        <a:ea typeface="Microsoft YaHei UI" panose="020B0503020204020204" pitchFamily="34" charset="-122"/>
                      </a:rPr>
                      <m:t>𝑓</m:t>
                    </m:r>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𝑃</m:t>
                    </m:r>
                    <m:r>
                      <a:rPr lang="en-US" altLang="zh-CN" sz="1600" b="0" i="1" kern="0" smtClean="0">
                        <a:latin typeface="Cambria Math" charset="0"/>
                        <a:ea typeface="Microsoft YaHei UI" panose="020B0503020204020204" pitchFamily="34" charset="-122"/>
                      </a:rPr>
                      <m:t>|</m:t>
                    </m:r>
                    <m:r>
                      <a:rPr lang="en-US" altLang="zh-CN" sz="1600" b="0" i="1" kern="0" smtClean="0">
                        <a:latin typeface="Cambria Math" charset="0"/>
                        <a:ea typeface="Microsoft YaHei UI" panose="020B0503020204020204" pitchFamily="34" charset="-122"/>
                      </a:rPr>
                      <m:t>𝑂</m:t>
                    </m:r>
                    <m:r>
                      <a:rPr lang="en-US" altLang="zh-CN" sz="1600" b="0" i="1" kern="0" smtClean="0">
                        <a:latin typeface="Cambria Math" charset="0"/>
                        <a:ea typeface="Microsoft YaHei UI" panose="020B0503020204020204" pitchFamily="34" charset="-122"/>
                      </a:rPr>
                      <m:t>)</m:t>
                    </m:r>
                  </m:oMath>
                </a14:m>
                <a:r>
                  <a:rPr lang="en-US" altLang="zh-CN" sz="1600" kern="0" dirty="0" smtClean="0">
                    <a:latin typeface="Microsoft YaHei UI" panose="020B0503020204020204" pitchFamily="34" charset="-122"/>
                    <a:ea typeface="Microsoft YaHei UI" panose="020B0503020204020204" pitchFamily="34" charset="-122"/>
                  </a:rPr>
                  <a:t>.</a:t>
                </a:r>
                <a:r>
                  <a:rPr lang="zh-CN" altLang="en-US" sz="1600" kern="0" dirty="0" smtClean="0">
                    <a:latin typeface="Microsoft YaHei UI" panose="020B0503020204020204" pitchFamily="34" charset="-122"/>
                    <a:ea typeface="Microsoft YaHei UI" panose="020B0503020204020204" pitchFamily="34" charset="-122"/>
                  </a:rPr>
                  <a:t> 如果是极大似然估计，应该直接获得</a:t>
                </a:r>
                <a14:m>
                  <m:oMath xmlns:m="http://schemas.openxmlformats.org/officeDocument/2006/math">
                    <m:r>
                      <a:rPr lang="en-US" altLang="zh-CN" sz="1600" i="1" kern="0">
                        <a:latin typeface="Cambria Math" charset="0"/>
                        <a:ea typeface="Microsoft YaHei UI" panose="020B0503020204020204" pitchFamily="34" charset="-122"/>
                      </a:rPr>
                      <m:t>𝑓</m:t>
                    </m:r>
                    <m:r>
                      <a:rPr lang="en-US" altLang="zh-CN" sz="1600" i="1" kern="0">
                        <a:latin typeface="Cambria Math" charset="0"/>
                        <a:ea typeface="Microsoft YaHei UI" panose="020B0503020204020204" pitchFamily="34" charset="-122"/>
                      </a:rPr>
                      <m:t>(</m:t>
                    </m:r>
                    <m:r>
                      <a:rPr lang="en-US" altLang="zh-CN" sz="1600" i="1" kern="0">
                        <a:latin typeface="Cambria Math" charset="0"/>
                        <a:ea typeface="Microsoft YaHei UI" panose="020B0503020204020204" pitchFamily="34" charset="-122"/>
                      </a:rPr>
                      <m:t>𝑃</m:t>
                    </m:r>
                    <m:r>
                      <a:rPr lang="en-US" altLang="zh-CN" sz="1600" i="1" kern="0">
                        <a:latin typeface="Cambria Math" charset="0"/>
                        <a:ea typeface="Microsoft YaHei UI" panose="020B0503020204020204" pitchFamily="34" charset="-122"/>
                      </a:rPr>
                      <m:t>|</m:t>
                    </m:r>
                    <m:r>
                      <a:rPr lang="en-US" altLang="zh-CN" sz="1600" i="1" kern="0">
                        <a:latin typeface="Cambria Math" charset="0"/>
                        <a:ea typeface="Microsoft YaHei UI" panose="020B0503020204020204" pitchFamily="34" charset="-122"/>
                      </a:rPr>
                      <m:t>𝑂</m:t>
                    </m:r>
                    <m:r>
                      <a:rPr lang="en-US" altLang="zh-CN" sz="1600" i="1" kern="0">
                        <a:latin typeface="Cambria Math" charset="0"/>
                        <a:ea typeface="Microsoft YaHei UI" panose="020B0503020204020204" pitchFamily="34" charset="-122"/>
                      </a:rPr>
                      <m:t>)</m:t>
                    </m:r>
                  </m:oMath>
                </a14:m>
                <a:r>
                  <a:rPr lang="zh-CN" altLang="en-US" sz="1600" kern="0" dirty="0" smtClean="0">
                    <a:latin typeface="Microsoft YaHei UI" panose="020B0503020204020204" pitchFamily="34" charset="-122"/>
                    <a:ea typeface="Microsoft YaHei UI" panose="020B0503020204020204" pitchFamily="34" charset="-122"/>
                  </a:rPr>
                  <a:t>，但是并不容易获得</a:t>
                </a:r>
                <a:r>
                  <a:rPr lang="en-US" altLang="zh-CN" sz="1600" kern="0" dirty="0" smtClean="0">
                    <a:latin typeface="Microsoft YaHei UI" panose="020B0503020204020204" pitchFamily="34" charset="-122"/>
                    <a:ea typeface="Microsoft YaHei UI" panose="020B0503020204020204" pitchFamily="34" charset="-122"/>
                  </a:rPr>
                  <a:t>.</a:t>
                </a:r>
                <a:r>
                  <a:rPr lang="zh-CN" altLang="en-US" sz="16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buNone/>
                  <a:defRPr/>
                </a:pPr>
                <a:endParaRPr lang="zh-CN" altLang="zh-CN" sz="1600" kern="0" dirty="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en-US" altLang="zh-CN" sz="16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Choice>
        <mc:Fallback xmlns="">
          <p:sp>
            <p:nvSpPr>
              <p:cNvPr id="14" name="Rectangle 3"/>
              <p:cNvSpPr txBox="1">
                <a:spLocks noRot="1" noChangeAspect="1" noMove="1" noResize="1" noEditPoints="1" noAdjustHandles="1" noChangeArrowheads="1" noChangeShapeType="1" noTextEdit="1"/>
              </p:cNvSpPr>
              <p:nvPr/>
            </p:nvSpPr>
            <p:spPr>
              <a:xfrm>
                <a:off x="251520" y="2685372"/>
                <a:ext cx="7920880" cy="487462"/>
              </a:xfrm>
              <a:prstGeom prst="rect">
                <a:avLst/>
              </a:prstGeom>
              <a:blipFill rotWithShape="0">
                <a:blip r:embed="rId4"/>
                <a:stretch>
                  <a:fillRect t="-5063" b="-2164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935596" y="1591436"/>
                <a:ext cx="3528392" cy="1059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e>
                          <m:r>
                            <a:rPr lang="en-US" altLang="zh-CN" sz="1600" b="0" i="1" smtClean="0">
                              <a:latin typeface="Cambria Math" panose="02040503050406030204" pitchFamily="18" charset="0"/>
                            </a:rPr>
                            <m:t>𝑂</m:t>
                          </m:r>
                        </m:e>
                      </m:d>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num>
                        <m:den>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den>
                      </m:f>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num>
                        <m:den>
                          <m:nary>
                            <m:naryPr>
                              <m:limLoc m:val="undOvr"/>
                              <m:subHide m:val="on"/>
                              <m:supHide m:val="on"/>
                              <m:ctrlPr>
                                <a:rPr lang="en-US" altLang="zh-CN" sz="1600" b="0" i="1" smtClean="0">
                                  <a:latin typeface="Cambria Math" charset="0"/>
                                </a:rPr>
                              </m:ctrlPr>
                            </m:naryPr>
                            <m:sub/>
                            <m:sup/>
                            <m:e>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𝑑</m:t>
                              </m:r>
                              <m:r>
                                <m:rPr>
                                  <m:sty m:val="p"/>
                                </m:rPr>
                                <a:rPr lang="en-US" altLang="zh-CN" sz="1600" i="1">
                                  <a:latin typeface="Cambria Math" panose="02040503050406030204" pitchFamily="18" charset="0"/>
                                </a:rPr>
                                <m:t>p</m:t>
                              </m:r>
                            </m:e>
                          </m:nary>
                        </m:den>
                      </m:f>
                    </m:oMath>
                  </m:oMathPara>
                </a14:m>
                <a:endParaRPr lang="en-US" altLang="zh-CN" sz="1600" b="0" dirty="0" smtClean="0"/>
              </a:p>
              <a:p>
                <a:r>
                  <a:rPr lang="en-US" altLang="zh-CN" sz="1600" dirty="0" smtClean="0"/>
                  <a:t>				</a:t>
                </a:r>
                <a:endParaRPr lang="zh-CN" altLang="en-US" sz="1600" i="1" dirty="0">
                  <a:latin typeface="Cambria Math" panose="02040503050406030204" pitchFamily="18"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935596" y="1591436"/>
                <a:ext cx="3528392" cy="1059777"/>
              </a:xfrm>
              <a:prstGeom prst="rect">
                <a:avLst/>
              </a:prstGeom>
              <a:blipFill rotWithShape="0">
                <a:blip r:embed="rId5"/>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6351" y="832396"/>
            <a:ext cx="2742504" cy="1804810"/>
          </a:xfrm>
          <a:prstGeom prst="rect">
            <a:avLst/>
          </a:prstGeom>
        </p:spPr>
      </p:pic>
      <p:sp>
        <p:nvSpPr>
          <p:cNvPr id="18" name="Rectangle 3"/>
          <p:cNvSpPr txBox="1">
            <a:spLocks noChangeArrowheads="1"/>
          </p:cNvSpPr>
          <p:nvPr/>
        </p:nvSpPr>
        <p:spPr>
          <a:xfrm>
            <a:off x="3526529" y="910007"/>
            <a:ext cx="2232248" cy="415753"/>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b="1" kern="0" dirty="0" smtClean="0">
                <a:solidFill>
                  <a:srgbClr val="FF0000"/>
                </a:solidFill>
                <a:latin typeface="Microsoft YaHei UI" panose="020B0503020204020204" pitchFamily="34" charset="-122"/>
                <a:ea typeface="Microsoft YaHei UI" panose="020B0503020204020204" pitchFamily="34" charset="-122"/>
              </a:rPr>
              <a:t>极大似然估计</a:t>
            </a:r>
          </a:p>
          <a:p>
            <a:pPr marL="457200" lvl="1" indent="0" eaLnBrk="1" hangingPunct="1">
              <a:lnSpc>
                <a:spcPts val="2000"/>
              </a:lnSpc>
              <a:buNone/>
              <a:defRPr/>
            </a:pPr>
            <a:r>
              <a:rPr lang="zh-CN" altLang="en-US" sz="1600" b="1" kern="0" dirty="0" smtClean="0">
                <a:solidFill>
                  <a:srgbClr val="FF0000"/>
                </a:solidFill>
                <a:latin typeface="Microsoft YaHei UI" panose="020B0503020204020204" pitchFamily="34" charset="-122"/>
                <a:ea typeface="Microsoft YaHei UI" panose="020B0503020204020204" pitchFamily="34" charset="-122"/>
              </a:rPr>
              <a:t>     典型练习 </a:t>
            </a:r>
          </a:p>
          <a:p>
            <a:pPr marL="457200" lvl="1" indent="0" eaLnBrk="1" hangingPunct="1">
              <a:lnSpc>
                <a:spcPts val="2000"/>
              </a:lnSpc>
              <a:buNone/>
              <a:defRPr/>
            </a:pPr>
            <a:endParaRPr lang="zh-CN" altLang="zh-CN" sz="1600" kern="0" dirty="0">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en-US" altLang="zh-CN" sz="16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spcAft>
                <a:spcPts val="1200"/>
              </a:spcAft>
              <a:buNone/>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4" name="矩形 3"/>
          <p:cNvSpPr/>
          <p:nvPr/>
        </p:nvSpPr>
        <p:spPr>
          <a:xfrm>
            <a:off x="5859721" y="1031784"/>
            <a:ext cx="2600711" cy="5318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 name="直线箭头连接符 5"/>
          <p:cNvCxnSpPr/>
          <p:nvPr/>
        </p:nvCxnSpPr>
        <p:spPr>
          <a:xfrm flipV="1">
            <a:off x="4355976" y="1591436"/>
            <a:ext cx="1503745" cy="227645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554757"/>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工作简述</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文章内容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4</a:t>
            </a:r>
            <a:endParaRPr lang="zh-CN" altLang="en-US" sz="1200" dirty="0">
              <a:latin typeface="Times New Roman" panose="02020603050405020304" pitchFamily="18" charset="0"/>
              <a:cs typeface="Times New Roman" panose="02020603050405020304" pitchFamily="18" charset="0"/>
            </a:endParaRPr>
          </a:p>
        </p:txBody>
      </p:sp>
      <p:sp>
        <p:nvSpPr>
          <p:cNvPr id="23" name="矩形 22"/>
          <p:cNvSpPr/>
          <p:nvPr/>
        </p:nvSpPr>
        <p:spPr>
          <a:xfrm>
            <a:off x="1539356" y="473690"/>
            <a:ext cx="1877437"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贝叶斯估计的优势</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2427268" cy="276999"/>
          </a:xfrm>
          <a:prstGeom prst="rect">
            <a:avLst/>
          </a:prstGeom>
        </p:spPr>
        <p:txBody>
          <a:bodyPr wrap="none">
            <a:spAutoFit/>
          </a:bodyPr>
          <a:lstStyle/>
          <a:p>
            <a:pPr lvl="1">
              <a:defRPr/>
            </a:pPr>
            <a:r>
              <a:rPr lang="zh-CN" altLang="en-US" sz="1200" dirty="0" smtClean="0">
                <a:latin typeface="Microsoft YaHei UI" panose="020B0503020204020204" pitchFamily="34" charset="-122"/>
                <a:ea typeface="Microsoft YaHei UI" panose="020B0503020204020204" pitchFamily="34" charset="-122"/>
              </a:rPr>
              <a:t>抽水试验估计</a:t>
            </a:r>
            <a:r>
              <a:rPr lang="en-US" altLang="zh-CN" sz="1200" dirty="0" smtClean="0">
                <a:latin typeface="Microsoft YaHei UI" panose="020B0503020204020204" pitchFamily="34" charset="-122"/>
                <a:ea typeface="Microsoft YaHei UI" panose="020B0503020204020204" pitchFamily="34" charset="-122"/>
              </a:rPr>
              <a:t>T</a:t>
            </a:r>
            <a:r>
              <a:rPr lang="zh-CN" altLang="en-US" sz="1200" dirty="0" smtClean="0">
                <a:latin typeface="Microsoft YaHei UI" panose="020B0503020204020204" pitchFamily="34" charset="-122"/>
                <a:ea typeface="Microsoft YaHei UI" panose="020B0503020204020204" pitchFamily="34" charset="-122"/>
              </a:rPr>
              <a:t>空间变异性</a:t>
            </a:r>
            <a:endParaRPr lang="en-US" altLang="zh-CN" sz="1200" dirty="0">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614545" cy="276999"/>
          </a:xfrm>
          <a:prstGeom prst="rect">
            <a:avLst/>
          </a:prstGeom>
        </p:spPr>
        <p:txBody>
          <a:bodyPr wrap="none">
            <a:spAutoFit/>
          </a:bodyPr>
          <a:lstStyle/>
          <a:p>
            <a:pPr lvl="1">
              <a:defRPr/>
            </a:pPr>
            <a:r>
              <a:rPr lang="en-US"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GMS</a:t>
            </a: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抽水试验</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graphicFrame>
            <p:nvGraphicFramePr>
              <p:cNvPr id="3" name="图表 2"/>
              <p:cNvGraphicFramePr/>
              <p:nvPr>
                <p:extLst>
                  <p:ext uri="{D42A27DB-BD31-4B8C-83A1-F6EECF244321}">
                    <p14:modId xmlns:p14="http://schemas.microsoft.com/office/powerpoint/2010/main" val="1820217703"/>
                  </p:ext>
                </p:extLst>
              </p:nvPr>
            </p:nvGraphicFramePr>
            <p:xfrm>
              <a:off x="-537660" y="973286"/>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xmlns="">
          <p:graphicFrame>
            <p:nvGraphicFramePr>
              <p:cNvPr id="3" name="图表 2"/>
              <p:cNvGraphicFramePr/>
              <p:nvPr>
                <p:extLst>
                  <p:ext uri="{D42A27DB-BD31-4B8C-83A1-F6EECF244321}">
                    <p14:modId xmlns:p14="http://schemas.microsoft.com/office/powerpoint/2010/main" val="1820217703"/>
                  </p:ext>
                </p:extLst>
              </p:nvPr>
            </p:nvGraphicFramePr>
            <p:xfrm>
              <a:off x="-537660" y="973286"/>
              <a:ext cx="6096000" cy="40640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Fallback>
      </mc:AlternateContent>
      <mc:AlternateContent xmlns:mc="http://schemas.openxmlformats.org/markup-compatibility/2006" xmlns:a14="http://schemas.microsoft.com/office/drawing/2010/main">
        <mc:Choice Requires="a14">
          <p:graphicFrame>
            <p:nvGraphicFramePr>
              <p:cNvPr id="18" name="图表 17"/>
              <p:cNvGraphicFramePr/>
              <p:nvPr>
                <p:extLst>
                  <p:ext uri="{D42A27DB-BD31-4B8C-83A1-F6EECF244321}">
                    <p14:modId xmlns:p14="http://schemas.microsoft.com/office/powerpoint/2010/main" val="1563601936"/>
                  </p:ext>
                </p:extLst>
              </p:nvPr>
            </p:nvGraphicFramePr>
            <p:xfrm>
              <a:off x="3416793" y="985824"/>
              <a:ext cx="6096000" cy="40640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Choice>
        <mc:Fallback xmlns="">
          <p:graphicFrame>
            <p:nvGraphicFramePr>
              <p:cNvPr id="18" name="图表 17"/>
              <p:cNvGraphicFramePr/>
              <p:nvPr>
                <p:extLst>
                  <p:ext uri="{D42A27DB-BD31-4B8C-83A1-F6EECF244321}">
                    <p14:modId xmlns:p14="http://schemas.microsoft.com/office/powerpoint/2010/main" val="1563601936"/>
                  </p:ext>
                </p:extLst>
              </p:nvPr>
            </p:nvGraphicFramePr>
            <p:xfrm>
              <a:off x="3416793" y="985824"/>
              <a:ext cx="6096000" cy="40640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mc:Fallback>
      </mc:AlternateContent>
      <p:sp>
        <p:nvSpPr>
          <p:cNvPr id="21" name="上箭头 20"/>
          <p:cNvSpPr/>
          <p:nvPr/>
        </p:nvSpPr>
        <p:spPr>
          <a:xfrm rot="16200000">
            <a:off x="5462965" y="168617"/>
            <a:ext cx="216000" cy="2718009"/>
          </a:xfrm>
          <a:prstGeom prst="upArrow">
            <a:avLst>
              <a:gd name="adj1" fmla="val 43333"/>
              <a:gd name="adj2" fmla="val 50000"/>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4283968" y="4011910"/>
            <a:ext cx="2646000" cy="1080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a:spLocks noChangeAspect="1"/>
          </p:cNvSpPr>
          <p:nvPr/>
        </p:nvSpPr>
        <p:spPr>
          <a:xfrm flipH="1" flipV="1">
            <a:off x="6985201" y="4170000"/>
            <a:ext cx="87613" cy="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p:cNvSpPr/>
          <p:nvPr/>
        </p:nvSpPr>
        <p:spPr>
          <a:xfrm rot="5400000">
            <a:off x="6598800" y="1788342"/>
            <a:ext cx="540000" cy="1080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p:cNvSpPr>
            <a:spLocks noChangeAspect="1"/>
          </p:cNvSpPr>
          <p:nvPr/>
        </p:nvSpPr>
        <p:spPr>
          <a:xfrm flipH="1" flipV="1">
            <a:off x="6822607" y="1513977"/>
            <a:ext cx="87613" cy="8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上箭头 33"/>
          <p:cNvSpPr/>
          <p:nvPr/>
        </p:nvSpPr>
        <p:spPr>
          <a:xfrm>
            <a:off x="6771600" y="3441552"/>
            <a:ext cx="216000" cy="678358"/>
          </a:xfrm>
          <a:prstGeom prst="upArrow">
            <a:avLst>
              <a:gd name="adj1" fmla="val 43333"/>
              <a:gd name="adj2" fmla="val 50000"/>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p:cNvSpPr>
            <a:spLocks noChangeAspect="1"/>
          </p:cNvSpPr>
          <p:nvPr/>
        </p:nvSpPr>
        <p:spPr>
          <a:xfrm flipH="1" flipV="1">
            <a:off x="6825600" y="4017600"/>
            <a:ext cx="94915" cy="93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05876491"/>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工作回顾</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文章内容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3" name="矩形 22"/>
          <p:cNvSpPr/>
          <p:nvPr/>
        </p:nvSpPr>
        <p:spPr>
          <a:xfrm>
            <a:off x="1539356" y="473690"/>
            <a:ext cx="1943096"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贝叶斯估计的优势</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2427268"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抽水试验估计</a:t>
            </a:r>
            <a:r>
              <a:rPr lang="en-US"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T</a:t>
            </a: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空间变异性</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614545" cy="276999"/>
          </a:xfrm>
          <a:prstGeom prst="rect">
            <a:avLst/>
          </a:prstGeom>
        </p:spPr>
        <p:txBody>
          <a:bodyPr wrap="none">
            <a:spAutoFit/>
          </a:bodyPr>
          <a:lstStyle/>
          <a:p>
            <a:pPr lvl="1">
              <a:defRPr/>
            </a:pPr>
            <a:r>
              <a:rPr lang="en-US" altLang="zh-CN" sz="1200" dirty="0" smtClean="0">
                <a:latin typeface="Microsoft YaHei UI" panose="020B0503020204020204" pitchFamily="34" charset="-122"/>
                <a:ea typeface="Microsoft YaHei UI" panose="020B0503020204020204" pitchFamily="34" charset="-122"/>
              </a:rPr>
              <a:t>GMS</a:t>
            </a:r>
            <a:r>
              <a:rPr lang="zh-CN" altLang="en-US" sz="1200" smtClean="0">
                <a:latin typeface="Microsoft YaHei UI" panose="020B0503020204020204" pitchFamily="34" charset="-122"/>
                <a:ea typeface="Microsoft YaHei UI" panose="020B0503020204020204" pitchFamily="34" charset="-122"/>
              </a:rPr>
              <a:t>抽水试验</a:t>
            </a:r>
            <a:endParaRPr lang="en-US" altLang="zh-CN" sz="1200" dirty="0">
              <a:latin typeface="Microsoft YaHei UI" panose="020B0503020204020204" pitchFamily="34" charset="-122"/>
              <a:ea typeface="Microsoft YaHei UI" panose="020B0503020204020204" pitchFamily="34" charset="-122"/>
            </a:endParaRPr>
          </a:p>
        </p:txBody>
      </p:sp>
      <p:sp>
        <p:nvSpPr>
          <p:cNvPr id="24" name="Rectangle 3"/>
          <p:cNvSpPr txBox="1">
            <a:spLocks noChangeArrowheads="1"/>
          </p:cNvSpPr>
          <p:nvPr/>
        </p:nvSpPr>
        <p:spPr>
          <a:xfrm>
            <a:off x="-286982" y="1197727"/>
            <a:ext cx="5472608" cy="1552353"/>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设置基本参数如单位</a:t>
            </a:r>
            <a:r>
              <a:rPr lang="en-US" altLang="zh-CN" sz="1600" b="1" kern="0" dirty="0" smtClean="0">
                <a:latin typeface="Microsoft YaHei UI" panose="020B0503020204020204" pitchFamily="34" charset="-122"/>
                <a:ea typeface="Microsoft YaHei UI" panose="020B0503020204020204" pitchFamily="34" charset="-122"/>
              </a:rPr>
              <a:t>(Units)</a:t>
            </a:r>
            <a:r>
              <a:rPr lang="zh-CN" altLang="en-US" sz="1600" b="1" kern="0" dirty="0" smtClean="0">
                <a:latin typeface="Microsoft YaHei UI" panose="020B0503020204020204" pitchFamily="34" charset="-122"/>
                <a:ea typeface="Microsoft YaHei UI" panose="020B0503020204020204" pitchFamily="34" charset="-122"/>
              </a:rPr>
              <a:t>、时间</a:t>
            </a:r>
            <a:r>
              <a:rPr lang="en-US" altLang="zh-CN" sz="1600" b="1" kern="0" dirty="0" smtClean="0">
                <a:latin typeface="Microsoft YaHei UI" panose="020B0503020204020204" pitchFamily="34" charset="-122"/>
                <a:ea typeface="Microsoft YaHei UI" panose="020B0503020204020204" pitchFamily="34" charset="-122"/>
              </a:rPr>
              <a:t>(Time)</a:t>
            </a:r>
            <a:r>
              <a:rPr lang="zh-CN" altLang="en-US" sz="1600" b="1" kern="0" dirty="0" smtClean="0">
                <a:latin typeface="Microsoft YaHei UI" panose="020B0503020204020204" pitchFamily="34" charset="-122"/>
                <a:ea typeface="Microsoft YaHei UI" panose="020B0503020204020204" pitchFamily="34" charset="-122"/>
              </a:rPr>
              <a:t>等</a:t>
            </a:r>
            <a:endParaRPr lang="en-US" altLang="zh-CN" sz="1600" b="1" kern="0" dirty="0" smtClean="0">
              <a:latin typeface="Microsoft YaHei UI" panose="020B0503020204020204" pitchFamily="34" charset="-122"/>
              <a:ea typeface="Microsoft YaHei UI" panose="020B0503020204020204" pitchFamily="34" charset="-122"/>
            </a:endParaRPr>
          </a:p>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建立</a:t>
            </a:r>
            <a:r>
              <a:rPr lang="en-US" altLang="zh-CN" sz="1600" b="1" kern="0" dirty="0" smtClean="0">
                <a:latin typeface="Microsoft YaHei UI" panose="020B0503020204020204" pitchFamily="34" charset="-122"/>
                <a:ea typeface="Microsoft YaHei UI" panose="020B0503020204020204" pitchFamily="34" charset="-122"/>
              </a:rPr>
              <a:t>3D Grid</a:t>
            </a:r>
            <a:r>
              <a:rPr lang="zh-CN" altLang="en-US" sz="1600" b="1" kern="0" dirty="0" smtClean="0">
                <a:latin typeface="Microsoft YaHei UI" panose="020B0503020204020204" pitchFamily="34" charset="-122"/>
                <a:ea typeface="Microsoft YaHei UI" panose="020B0503020204020204" pitchFamily="34" charset="-122"/>
              </a:rPr>
              <a:t>模型，并建立</a:t>
            </a:r>
            <a:r>
              <a:rPr lang="en-US" altLang="zh-CN" sz="1600" b="1" kern="0" dirty="0" smtClean="0">
                <a:latin typeface="Microsoft YaHei UI" panose="020B0503020204020204" pitchFamily="34" charset="-122"/>
                <a:ea typeface="Microsoft YaHei UI" panose="020B0503020204020204" pitchFamily="34" charset="-122"/>
              </a:rPr>
              <a:t>MODFLOW</a:t>
            </a:r>
          </a:p>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输入对应的水文参数</a:t>
            </a:r>
            <a:endParaRPr lang="en-US" altLang="zh-CN" sz="1600" b="1" kern="0" dirty="0" smtClean="0">
              <a:latin typeface="Microsoft YaHei UI" panose="020B0503020204020204" pitchFamily="34" charset="-122"/>
              <a:ea typeface="Microsoft YaHei UI" panose="020B0503020204020204" pitchFamily="34" charset="-122"/>
            </a:endParaRPr>
          </a:p>
          <a:p>
            <a:pPr lvl="1" eaLnBrk="1" hangingPunct="1">
              <a:lnSpc>
                <a:spcPts val="2000"/>
              </a:lnSpc>
              <a:spcAft>
                <a:spcPts val="1200"/>
              </a:spcAft>
              <a:defRPr/>
            </a:pPr>
            <a:r>
              <a:rPr lang="zh-CN" altLang="en-US" sz="1600" b="1" kern="0" dirty="0" smtClean="0">
                <a:latin typeface="Microsoft YaHei UI" panose="020B0503020204020204" pitchFamily="34" charset="-122"/>
                <a:ea typeface="Microsoft YaHei UI" panose="020B0503020204020204" pitchFamily="34" charset="-122"/>
              </a:rPr>
              <a:t>输出观测井的结果</a:t>
            </a: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p>
          <a:p>
            <a:pPr marL="457200" lvl="1" indent="0" eaLnBrk="1" hangingPunct="1">
              <a:lnSpc>
                <a:spcPts val="2000"/>
              </a:lnSpc>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pic>
        <p:nvPicPr>
          <p:cNvPr id="25" name="图片 24" descr="屏幕剪辑"/>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76015" y="871764"/>
            <a:ext cx="2664296" cy="2390084"/>
          </a:xfrm>
          <a:prstGeom prst="rect">
            <a:avLst/>
          </a:prstGeom>
        </p:spPr>
      </p:pic>
      <p:grpSp>
        <p:nvGrpSpPr>
          <p:cNvPr id="29" name="组合 7"/>
          <p:cNvGrpSpPr/>
          <p:nvPr/>
        </p:nvGrpSpPr>
        <p:grpSpPr>
          <a:xfrm>
            <a:off x="2510904" y="2571750"/>
            <a:ext cx="4034832" cy="2163496"/>
            <a:chOff x="5109168" y="818084"/>
            <a:chExt cx="4034832" cy="2163496"/>
          </a:xfrm>
        </p:grpSpPr>
        <p:pic>
          <p:nvPicPr>
            <p:cNvPr id="30" name="图片 29" descr="屏幕剪辑"/>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09168" y="818084"/>
              <a:ext cx="4034832" cy="2163496"/>
            </a:xfrm>
            <a:prstGeom prst="rect">
              <a:avLst/>
            </a:prstGeom>
          </p:spPr>
        </p:pic>
        <p:sp>
          <p:nvSpPr>
            <p:cNvPr id="31" name="文本框 30"/>
            <p:cNvSpPr txBox="1"/>
            <p:nvPr/>
          </p:nvSpPr>
          <p:spPr>
            <a:xfrm>
              <a:off x="6630870" y="1619490"/>
              <a:ext cx="1306862" cy="369332"/>
            </a:xfrm>
            <a:prstGeom prst="rect">
              <a:avLst/>
            </a:prstGeom>
            <a:noFill/>
          </p:spPr>
          <p:txBody>
            <a:bodyPr wrap="square" rtlCol="0">
              <a:spAutoFit/>
            </a:bodyPr>
            <a:lstStyle/>
            <a:p>
              <a:r>
                <a:rPr lang="zh-CN" altLang="en-US" dirty="0" smtClean="0">
                  <a:solidFill>
                    <a:srgbClr val="FF0000"/>
                  </a:solidFill>
                </a:rPr>
                <a:t>工作界面</a:t>
              </a:r>
              <a:endParaRPr lang="zh-CN" altLang="en-US" dirty="0">
                <a:solidFill>
                  <a:srgbClr val="FF0000"/>
                </a:solidFill>
              </a:endParaRPr>
            </a:p>
          </p:txBody>
        </p:sp>
      </p:grpSp>
    </p:spTree>
    <p:extLst>
      <p:ext uri="{BB962C8B-B14F-4D97-AF65-F5344CB8AC3E}">
        <p14:creationId xmlns:p14="http://schemas.microsoft.com/office/powerpoint/2010/main" val="91101240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工作回顾</a:t>
            </a:r>
            <a:endParaRPr lang="zh-CN" altLang="en-US" sz="1600" b="1" dirty="0">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文章内容</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3" name="矩形 22"/>
          <p:cNvSpPr/>
          <p:nvPr/>
        </p:nvSpPr>
        <p:spPr>
          <a:xfrm>
            <a:off x="1539356" y="473690"/>
            <a:ext cx="1943096"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贝叶斯估计的优势</a:t>
            </a:r>
            <a:endParaRPr lang="zh-CN" altLang="en-US"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7" name="矩形 26"/>
          <p:cNvSpPr/>
          <p:nvPr/>
        </p:nvSpPr>
        <p:spPr>
          <a:xfrm>
            <a:off x="3650412" y="470302"/>
            <a:ext cx="2427268" cy="276999"/>
          </a:xfrm>
          <a:prstGeom prst="rect">
            <a:avLst/>
          </a:prstGeom>
        </p:spPr>
        <p:txBody>
          <a:bodyPr wrap="none">
            <a:spAutoFit/>
          </a:bodyPr>
          <a:lstStyle/>
          <a:p>
            <a:pPr lvl="1">
              <a:defRPr/>
            </a:pP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抽水试验估计</a:t>
            </a:r>
            <a:r>
              <a:rPr lang="en-US" altLang="zh-CN" sz="1200" dirty="0" smtClean="0">
                <a:solidFill>
                  <a:schemeClr val="tx1">
                    <a:alpha val="30000"/>
                  </a:schemeClr>
                </a:solidFill>
                <a:latin typeface="Microsoft YaHei UI" panose="020B0503020204020204" pitchFamily="34" charset="-122"/>
                <a:ea typeface="Microsoft YaHei UI" panose="020B0503020204020204" pitchFamily="34" charset="-122"/>
              </a:rPr>
              <a:t>T</a:t>
            </a:r>
            <a:r>
              <a:rPr lang="zh-CN" altLang="en-US" sz="1200" dirty="0" smtClean="0">
                <a:solidFill>
                  <a:schemeClr val="tx1">
                    <a:alpha val="30000"/>
                  </a:schemeClr>
                </a:solidFill>
                <a:latin typeface="Microsoft YaHei UI" panose="020B0503020204020204" pitchFamily="34" charset="-122"/>
                <a:ea typeface="Microsoft YaHei UI" panose="020B0503020204020204" pitchFamily="34" charset="-122"/>
              </a:rPr>
              <a:t>空间变异性</a:t>
            </a:r>
            <a:endParaRPr lang="en-US" altLang="zh-CN" sz="1200"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28" name="矩形 27"/>
          <p:cNvSpPr/>
          <p:nvPr/>
        </p:nvSpPr>
        <p:spPr>
          <a:xfrm>
            <a:off x="5669756" y="456683"/>
            <a:ext cx="1614545" cy="276999"/>
          </a:xfrm>
          <a:prstGeom prst="rect">
            <a:avLst/>
          </a:prstGeom>
        </p:spPr>
        <p:txBody>
          <a:bodyPr wrap="none">
            <a:spAutoFit/>
          </a:bodyPr>
          <a:lstStyle/>
          <a:p>
            <a:pPr lvl="1">
              <a:defRPr/>
            </a:pPr>
            <a:r>
              <a:rPr lang="en-US" altLang="zh-CN" sz="1200" dirty="0" smtClean="0">
                <a:latin typeface="Microsoft YaHei UI" panose="020B0503020204020204" pitchFamily="34" charset="-122"/>
                <a:ea typeface="Microsoft YaHei UI" panose="020B0503020204020204" pitchFamily="34" charset="-122"/>
              </a:rPr>
              <a:t>GMS</a:t>
            </a:r>
            <a:r>
              <a:rPr lang="zh-CN" altLang="en-US" sz="1200" smtClean="0">
                <a:latin typeface="Microsoft YaHei UI" panose="020B0503020204020204" pitchFamily="34" charset="-122"/>
                <a:ea typeface="Microsoft YaHei UI" panose="020B0503020204020204" pitchFamily="34" charset="-122"/>
              </a:rPr>
              <a:t>抽水试验</a:t>
            </a:r>
            <a:endParaRPr lang="en-US" altLang="zh-CN" sz="1200" dirty="0">
              <a:latin typeface="Microsoft YaHei UI" panose="020B0503020204020204" pitchFamily="34" charset="-122"/>
              <a:ea typeface="Microsoft YaHei UI" panose="020B0503020204020204" pitchFamily="34" charset="-122"/>
            </a:endParaRPr>
          </a:p>
        </p:txBody>
      </p:sp>
      <p:sp>
        <p:nvSpPr>
          <p:cNvPr id="16" name="Rectangle 3"/>
          <p:cNvSpPr txBox="1">
            <a:spLocks noChangeArrowheads="1"/>
          </p:cNvSpPr>
          <p:nvPr/>
        </p:nvSpPr>
        <p:spPr>
          <a:xfrm>
            <a:off x="-180528" y="975710"/>
            <a:ext cx="5850284" cy="120564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r>
              <a:rPr lang="zh-CN" altLang="en-US" sz="1600" b="1" kern="0" dirty="0">
                <a:latin typeface="Microsoft YaHei UI" panose="020B0503020204020204" pitchFamily="34" charset="-122"/>
                <a:ea typeface="Microsoft YaHei UI" panose="020B0503020204020204" pitchFamily="34" charset="-122"/>
              </a:rPr>
              <a:t>模型采用的参数如下</a:t>
            </a:r>
            <a:r>
              <a:rPr lang="zh-CN" altLang="en-US" sz="1600" b="1" kern="0" dirty="0" smtClean="0">
                <a:latin typeface="Microsoft YaHei UI" panose="020B0503020204020204" pitchFamily="34" charset="-122"/>
                <a:ea typeface="Microsoft YaHei UI" panose="020B0503020204020204" pitchFamily="34" charset="-122"/>
              </a:rPr>
              <a:t>：</a:t>
            </a: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600" b="1" kern="0" dirty="0">
                <a:latin typeface="Microsoft YaHei UI" panose="020B0503020204020204" pitchFamily="34" charset="-122"/>
                <a:ea typeface="Microsoft YaHei UI" panose="020B0503020204020204" pitchFamily="34" charset="-122"/>
              </a:rPr>
              <a:t>	</a:t>
            </a:r>
            <a:r>
              <a:rPr lang="en-US" altLang="zh-CN" sz="1600" b="1" kern="0" dirty="0" smtClean="0">
                <a:latin typeface="Microsoft YaHei UI" panose="020B0503020204020204" pitchFamily="34" charset="-122"/>
                <a:ea typeface="Microsoft YaHei UI" panose="020B0503020204020204" pitchFamily="34" charset="-122"/>
              </a:rPr>
              <a:t>[x, y, z]=[100, 100, 10] (m)</a:t>
            </a:r>
          </a:p>
          <a:p>
            <a:pPr marL="457200" lvl="1" indent="0" eaLnBrk="1" hangingPunct="1">
              <a:lnSpc>
                <a:spcPts val="2000"/>
              </a:lnSpc>
              <a:buNone/>
              <a:defRPr/>
            </a:pPr>
            <a:r>
              <a:rPr lang="en-US" altLang="zh-CN" sz="1600" b="1" kern="0" dirty="0">
                <a:latin typeface="Microsoft YaHei UI" panose="020B0503020204020204" pitchFamily="34" charset="-122"/>
                <a:ea typeface="Microsoft YaHei UI" panose="020B0503020204020204" pitchFamily="34" charset="-122"/>
              </a:rPr>
              <a:t>	</a:t>
            </a:r>
            <a:r>
              <a:rPr lang="zh-CN" altLang="en-US" sz="1600" b="1" kern="0" dirty="0" smtClean="0">
                <a:latin typeface="Microsoft YaHei UI" panose="020B0503020204020204" pitchFamily="34" charset="-122"/>
                <a:ea typeface="Microsoft YaHei UI" panose="020B0503020204020204" pitchFamily="34" charset="-122"/>
              </a:rPr>
              <a:t>初始水头</a:t>
            </a:r>
            <a:r>
              <a:rPr lang="en-US" altLang="zh-CN" sz="1600" b="1" kern="0" dirty="0" smtClean="0">
                <a:latin typeface="Microsoft YaHei UI" panose="020B0503020204020204" pitchFamily="34" charset="-122"/>
                <a:ea typeface="Microsoft YaHei UI" panose="020B0503020204020204" pitchFamily="34" charset="-122"/>
              </a:rPr>
              <a:t>(Starting Heads)=10m</a:t>
            </a:r>
          </a:p>
          <a:p>
            <a:pPr marL="457200" lvl="1" indent="0" eaLnBrk="1" hangingPunct="1">
              <a:lnSpc>
                <a:spcPts val="2000"/>
              </a:lnSpc>
              <a:buNone/>
              <a:defRPr/>
            </a:pPr>
            <a:r>
              <a:rPr lang="en-US" altLang="zh-CN" sz="1600" b="1" kern="0" dirty="0">
                <a:latin typeface="Microsoft YaHei UI" panose="020B0503020204020204" pitchFamily="34" charset="-122"/>
                <a:ea typeface="Microsoft YaHei UI" panose="020B0503020204020204" pitchFamily="34" charset="-122"/>
              </a:rPr>
              <a:t>	</a:t>
            </a:r>
            <a:r>
              <a:rPr lang="zh-CN" altLang="en-US" sz="1600" b="1" kern="0" dirty="0" smtClean="0">
                <a:latin typeface="Microsoft YaHei UI" panose="020B0503020204020204" pitchFamily="34" charset="-122"/>
                <a:ea typeface="Microsoft YaHei UI" panose="020B0503020204020204" pitchFamily="34" charset="-122"/>
              </a:rPr>
              <a:t>水力传导系数矩阵</a:t>
            </a:r>
            <a:r>
              <a:rPr lang="en-US" altLang="zh-CN" sz="1600" b="1" kern="0" dirty="0">
                <a:latin typeface="Microsoft YaHei UI" panose="020B0503020204020204" pitchFamily="34" charset="-122"/>
                <a:ea typeface="Microsoft YaHei UI" panose="020B0503020204020204" pitchFamily="34" charset="-122"/>
              </a:rPr>
              <a:t>(50×50)，</a:t>
            </a:r>
            <a:r>
              <a:rPr lang="zh-CN" altLang="en-US" sz="1600" b="1" kern="0" dirty="0">
                <a:latin typeface="Microsoft YaHei UI" panose="020B0503020204020204" pitchFamily="34" charset="-122"/>
                <a:ea typeface="Microsoft YaHei UI" panose="020B0503020204020204" pitchFamily="34" charset="-122"/>
              </a:rPr>
              <a:t>满足</a:t>
            </a:r>
            <a:r>
              <a:rPr lang="zh-CN" altLang="en-US" sz="1600" b="1" kern="0" dirty="0" smtClean="0">
                <a:latin typeface="Microsoft YaHei UI" panose="020B0503020204020204" pitchFamily="34" charset="-122"/>
                <a:ea typeface="Microsoft YaHei UI" panose="020B0503020204020204" pitchFamily="34" charset="-122"/>
              </a:rPr>
              <a:t>正态分布：</a:t>
            </a:r>
            <a:endParaRPr lang="en-US" altLang="zh-CN" sz="1600" b="1"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600" kern="0" dirty="0">
                <a:latin typeface="Microsoft YaHei UI" panose="020B0503020204020204" pitchFamily="34" charset="-122"/>
                <a:ea typeface="Microsoft YaHei UI" panose="020B0503020204020204" pitchFamily="34" charset="-122"/>
              </a:rPr>
              <a:t>	</a:t>
            </a:r>
            <a:r>
              <a:rPr lang="en-US" altLang="zh-CN" sz="1600" kern="0" dirty="0" smtClean="0">
                <a:latin typeface="Microsoft YaHei UI" panose="020B0503020204020204" pitchFamily="34" charset="-122"/>
                <a:ea typeface="Microsoft YaHei UI" panose="020B0503020204020204" pitchFamily="34" charset="-122"/>
              </a:rPr>
              <a:t>      </a:t>
            </a:r>
            <a:endParaRPr lang="en-US" altLang="zh-CN" sz="1600" kern="0" dirty="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zh-CN" altLang="en-US" sz="140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grpSp>
        <p:nvGrpSpPr>
          <p:cNvPr id="18" name="组合 13"/>
          <p:cNvGrpSpPr/>
          <p:nvPr/>
        </p:nvGrpSpPr>
        <p:grpSpPr>
          <a:xfrm>
            <a:off x="827584" y="2211710"/>
            <a:ext cx="3888432" cy="1440160"/>
            <a:chOff x="827584" y="2211710"/>
            <a:chExt cx="3888432" cy="1440160"/>
          </a:xfrm>
        </p:grpSpPr>
        <p:sp>
          <p:nvSpPr>
            <p:cNvPr id="21" name="双括号 1"/>
            <p:cNvSpPr/>
            <p:nvPr/>
          </p:nvSpPr>
          <p:spPr>
            <a:xfrm>
              <a:off x="827584" y="2211710"/>
              <a:ext cx="3888432" cy="1440160"/>
            </a:xfrm>
            <a:prstGeom prst="bracket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b="1" dirty="0"/>
            </a:p>
          </p:txBody>
        </p:sp>
        <p:sp>
          <p:nvSpPr>
            <p:cNvPr id="22" name="文本框 21"/>
            <p:cNvSpPr txBox="1"/>
            <p:nvPr/>
          </p:nvSpPr>
          <p:spPr>
            <a:xfrm>
              <a:off x="971600" y="2283718"/>
              <a:ext cx="1512168" cy="369332"/>
            </a:xfrm>
            <a:prstGeom prst="rect">
              <a:avLst/>
            </a:prstGeom>
            <a:noFill/>
          </p:spPr>
          <p:txBody>
            <a:bodyPr wrap="square" rtlCol="0">
              <a:spAutoFit/>
            </a:bodyPr>
            <a:lstStyle/>
            <a:p>
              <a:r>
                <a:rPr lang="en-US" altLang="zh-CN" b="1" dirty="0"/>
                <a:t>2.568650795</a:t>
              </a:r>
              <a:endParaRPr lang="zh-CN" altLang="en-US" b="1" dirty="0"/>
            </a:p>
          </p:txBody>
        </p:sp>
        <p:sp>
          <p:nvSpPr>
            <p:cNvPr id="26" name="矩形 25"/>
            <p:cNvSpPr/>
            <p:nvPr/>
          </p:nvSpPr>
          <p:spPr>
            <a:xfrm>
              <a:off x="971600" y="3147814"/>
              <a:ext cx="1523174" cy="369332"/>
            </a:xfrm>
            <a:prstGeom prst="rect">
              <a:avLst/>
            </a:prstGeom>
          </p:spPr>
          <p:txBody>
            <a:bodyPr wrap="none">
              <a:spAutoFit/>
            </a:bodyPr>
            <a:lstStyle/>
            <a:p>
              <a:r>
                <a:rPr lang="zh-CN" altLang="en-US" b="1" dirty="0"/>
                <a:t>0.803201826</a:t>
              </a:r>
            </a:p>
          </p:txBody>
        </p:sp>
        <p:sp>
          <p:nvSpPr>
            <p:cNvPr id="32" name="矩形 31"/>
            <p:cNvSpPr/>
            <p:nvPr/>
          </p:nvSpPr>
          <p:spPr>
            <a:xfrm>
              <a:off x="3117756" y="3147814"/>
              <a:ext cx="1523174" cy="369332"/>
            </a:xfrm>
            <a:prstGeom prst="rect">
              <a:avLst/>
            </a:prstGeom>
          </p:spPr>
          <p:txBody>
            <a:bodyPr wrap="none">
              <a:spAutoFit/>
            </a:bodyPr>
            <a:lstStyle/>
            <a:p>
              <a:r>
                <a:rPr lang="zh-CN" altLang="en-US" b="1"/>
                <a:t>0.613206338</a:t>
              </a:r>
            </a:p>
          </p:txBody>
        </p:sp>
        <p:sp>
          <p:nvSpPr>
            <p:cNvPr id="33" name="矩形 32"/>
            <p:cNvSpPr/>
            <p:nvPr/>
          </p:nvSpPr>
          <p:spPr>
            <a:xfrm>
              <a:off x="3117756" y="2283718"/>
              <a:ext cx="1523174" cy="369332"/>
            </a:xfrm>
            <a:prstGeom prst="rect">
              <a:avLst/>
            </a:prstGeom>
          </p:spPr>
          <p:txBody>
            <a:bodyPr wrap="none">
              <a:spAutoFit/>
            </a:bodyPr>
            <a:lstStyle/>
            <a:p>
              <a:r>
                <a:rPr lang="zh-CN" altLang="en-US" b="1" dirty="0"/>
                <a:t>0.723612954</a:t>
              </a:r>
            </a:p>
          </p:txBody>
        </p:sp>
        <p:sp>
          <p:nvSpPr>
            <p:cNvPr id="34" name="文本框 33"/>
            <p:cNvSpPr txBox="1"/>
            <p:nvPr/>
          </p:nvSpPr>
          <p:spPr>
            <a:xfrm>
              <a:off x="2586938" y="2336022"/>
              <a:ext cx="427647" cy="369332"/>
            </a:xfrm>
            <a:prstGeom prst="rect">
              <a:avLst/>
            </a:prstGeom>
            <a:noFill/>
          </p:spPr>
          <p:txBody>
            <a:bodyPr wrap="square" rtlCol="0">
              <a:spAutoFit/>
            </a:bodyPr>
            <a:lstStyle/>
            <a:p>
              <a:r>
                <a:rPr lang="en-US" altLang="zh-CN" b="1" dirty="0" smtClean="0"/>
                <a:t>…</a:t>
              </a:r>
              <a:endParaRPr lang="zh-CN" altLang="en-US" b="1" dirty="0"/>
            </a:p>
          </p:txBody>
        </p:sp>
        <p:sp>
          <p:nvSpPr>
            <p:cNvPr id="35" name="文本框 34"/>
            <p:cNvSpPr txBox="1"/>
            <p:nvPr/>
          </p:nvSpPr>
          <p:spPr>
            <a:xfrm>
              <a:off x="2586938" y="3147814"/>
              <a:ext cx="427647" cy="369332"/>
            </a:xfrm>
            <a:prstGeom prst="rect">
              <a:avLst/>
            </a:prstGeom>
            <a:noFill/>
          </p:spPr>
          <p:txBody>
            <a:bodyPr wrap="square" rtlCol="0">
              <a:spAutoFit/>
            </a:bodyPr>
            <a:lstStyle/>
            <a:p>
              <a:r>
                <a:rPr lang="en-US" altLang="zh-CN" b="1" dirty="0" smtClean="0"/>
                <a:t>…</a:t>
              </a:r>
              <a:endParaRPr lang="zh-CN" altLang="en-US" b="1" dirty="0"/>
            </a:p>
          </p:txBody>
        </p:sp>
        <p:sp>
          <p:nvSpPr>
            <p:cNvPr id="36" name="文本框 35"/>
            <p:cNvSpPr txBox="1"/>
            <p:nvPr/>
          </p:nvSpPr>
          <p:spPr>
            <a:xfrm>
              <a:off x="1237057" y="2818129"/>
              <a:ext cx="461665" cy="227322"/>
            </a:xfrm>
            <a:prstGeom prst="rect">
              <a:avLst/>
            </a:prstGeom>
            <a:noFill/>
          </p:spPr>
          <p:txBody>
            <a:bodyPr vert="eaVert" wrap="square" rtlCol="0">
              <a:spAutoFit/>
            </a:bodyPr>
            <a:lstStyle/>
            <a:p>
              <a:r>
                <a:rPr lang="en-US" altLang="zh-CN" b="1" dirty="0" smtClean="0"/>
                <a:t>…</a:t>
              </a:r>
              <a:endParaRPr lang="zh-CN" altLang="en-US" b="1" dirty="0"/>
            </a:p>
          </p:txBody>
        </p:sp>
        <p:sp>
          <p:nvSpPr>
            <p:cNvPr id="37" name="文本框 36"/>
            <p:cNvSpPr txBox="1"/>
            <p:nvPr/>
          </p:nvSpPr>
          <p:spPr>
            <a:xfrm>
              <a:off x="3614045" y="2818129"/>
              <a:ext cx="461665" cy="227322"/>
            </a:xfrm>
            <a:prstGeom prst="rect">
              <a:avLst/>
            </a:prstGeom>
            <a:noFill/>
          </p:spPr>
          <p:txBody>
            <a:bodyPr vert="eaVert" wrap="square" rtlCol="0">
              <a:spAutoFit/>
            </a:bodyPr>
            <a:lstStyle/>
            <a:p>
              <a:r>
                <a:rPr lang="en-US" altLang="zh-CN" b="1" dirty="0" smtClean="0"/>
                <a:t>…</a:t>
              </a:r>
              <a:endParaRPr lang="zh-CN" altLang="en-US" b="1" dirty="0"/>
            </a:p>
          </p:txBody>
        </p:sp>
      </p:grpSp>
      <p:sp>
        <p:nvSpPr>
          <p:cNvPr id="38" name="文本框 37"/>
          <p:cNvSpPr txBox="1"/>
          <p:nvPr/>
        </p:nvSpPr>
        <p:spPr>
          <a:xfrm>
            <a:off x="730012" y="3776182"/>
            <a:ext cx="2014602" cy="830997"/>
          </a:xfrm>
          <a:prstGeom prst="rect">
            <a:avLst/>
          </a:prstGeom>
          <a:noFill/>
        </p:spPr>
        <p:txBody>
          <a:bodyPr wrap="square" rtlCol="0">
            <a:spAutoFit/>
          </a:bodyPr>
          <a:lstStyle/>
          <a:p>
            <a:r>
              <a:rPr lang="zh-CN" altLang="en-US" sz="1600" b="1" kern="0" dirty="0">
                <a:latin typeface="Microsoft YaHei UI" panose="020B0503020204020204" pitchFamily="34" charset="-122"/>
                <a:ea typeface="Microsoft YaHei UI" panose="020B0503020204020204" pitchFamily="34" charset="-122"/>
              </a:rPr>
              <a:t>边界为定</a:t>
            </a:r>
            <a:r>
              <a:rPr lang="zh-CN" altLang="en-US" sz="1600" b="1" kern="0" dirty="0" smtClean="0">
                <a:latin typeface="Microsoft YaHei UI" panose="020B0503020204020204" pitchFamily="34" charset="-122"/>
                <a:ea typeface="Microsoft YaHei UI" panose="020B0503020204020204" pitchFamily="34" charset="-122"/>
              </a:rPr>
              <a:t>水头</a:t>
            </a:r>
            <a:endParaRPr lang="en-US" altLang="zh-CN" sz="1600" b="1" kern="0" dirty="0" smtClean="0">
              <a:latin typeface="Microsoft YaHei UI" panose="020B0503020204020204" pitchFamily="34" charset="-122"/>
              <a:ea typeface="Microsoft YaHei UI" panose="020B0503020204020204" pitchFamily="34" charset="-122"/>
            </a:endParaRPr>
          </a:p>
          <a:p>
            <a:r>
              <a:rPr lang="zh-CN" altLang="en-US" sz="1600" b="1" kern="0" dirty="0" smtClean="0">
                <a:latin typeface="Microsoft YaHei UI" panose="020B0503020204020204" pitchFamily="34" charset="-122"/>
                <a:ea typeface="Microsoft YaHei UI" panose="020B0503020204020204" pitchFamily="34" charset="-122"/>
              </a:rPr>
              <a:t>时间步长为</a:t>
            </a:r>
            <a:r>
              <a:rPr lang="en-US" altLang="zh-CN" sz="1600" b="1" kern="0" dirty="0" smtClean="0">
                <a:latin typeface="Microsoft YaHei UI" panose="020B0503020204020204" pitchFamily="34" charset="-122"/>
                <a:ea typeface="Microsoft YaHei UI" panose="020B0503020204020204" pitchFamily="34" charset="-122"/>
              </a:rPr>
              <a:t>0.2d</a:t>
            </a:r>
          </a:p>
          <a:p>
            <a:r>
              <a:rPr lang="zh-CN" altLang="en-US" sz="1600" b="1" kern="0" dirty="0" smtClean="0">
                <a:latin typeface="Microsoft YaHei UI" panose="020B0503020204020204" pitchFamily="34" charset="-122"/>
                <a:ea typeface="Microsoft YaHei UI" panose="020B0503020204020204" pitchFamily="34" charset="-122"/>
              </a:rPr>
              <a:t>抽水井</a:t>
            </a:r>
            <a:r>
              <a:rPr lang="en-US" altLang="zh-CN" sz="1600" b="1" kern="0" dirty="0" smtClean="0">
                <a:latin typeface="Microsoft YaHei UI" panose="020B0503020204020204" pitchFamily="34" charset="-122"/>
                <a:ea typeface="Microsoft YaHei UI" panose="020B0503020204020204" pitchFamily="34" charset="-122"/>
              </a:rPr>
              <a:t>Q=-10m³/d</a:t>
            </a:r>
            <a:endParaRPr lang="zh-CN" altLang="en-US" sz="1600" b="1" kern="0" dirty="0">
              <a:latin typeface="Microsoft YaHei UI" panose="020B0503020204020204" pitchFamily="34" charset="-122"/>
              <a:ea typeface="Microsoft YaHei UI" panose="020B0503020204020204" pitchFamily="34" charset="-122"/>
            </a:endParaRPr>
          </a:p>
        </p:txBody>
      </p:sp>
      <p:pic>
        <p:nvPicPr>
          <p:cNvPr id="39" name="图片 38"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96" y="982658"/>
            <a:ext cx="3123007" cy="2859782"/>
          </a:xfrm>
          <a:prstGeom prst="rect">
            <a:avLst/>
          </a:prstGeom>
        </p:spPr>
      </p:pic>
    </p:spTree>
    <p:extLst>
      <p:ext uri="{BB962C8B-B14F-4D97-AF65-F5344CB8AC3E}">
        <p14:creationId xmlns:p14="http://schemas.microsoft.com/office/powerpoint/2010/main" val="209465754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工作简述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文章内容</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14" name="Rectangle 3"/>
          <p:cNvSpPr txBox="1">
            <a:spLocks noChangeArrowheads="1"/>
          </p:cNvSpPr>
          <p:nvPr/>
        </p:nvSpPr>
        <p:spPr>
          <a:xfrm>
            <a:off x="251520" y="1330813"/>
            <a:ext cx="7992888"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endParaRPr lang="zh-CN" altLang="en-US" dirty="0" smtClean="0"/>
          </a:p>
          <a:p>
            <a:pPr lvl="1" eaLnBrk="1" hangingPunct="1">
              <a:lnSpc>
                <a:spcPts val="2000"/>
              </a:lnSpc>
              <a:buFont typeface="Wingdings" panose="05000000000000000000" pitchFamily="2" charset="2"/>
              <a:buChar char="l"/>
              <a:defRPr/>
            </a:pPr>
            <a:r>
              <a:rPr lang="zh-CN" altLang="zh-CN" dirty="0" smtClean="0"/>
              <a:t>文中</a:t>
            </a:r>
            <a:r>
              <a:rPr lang="zh-CN" altLang="zh-CN" dirty="0"/>
              <a:t>的做法是：利用有限次模拟结果得到的散点，两两之间通过二次曲线连接，对累积分布函数求导，得到概率密度</a:t>
            </a:r>
            <a:r>
              <a:rPr lang="zh-CN" altLang="zh-CN" dirty="0" smtClean="0"/>
              <a:t>函数</a:t>
            </a:r>
            <a:endParaRPr lang="zh-CN" altLang="en-US" sz="1800" dirty="0"/>
          </a:p>
          <a:p>
            <a:pPr lvl="1" eaLnBrk="1" hangingPunct="1">
              <a:lnSpc>
                <a:spcPts val="2000"/>
              </a:lnSpc>
              <a:buFont typeface="Wingdings" panose="05000000000000000000" pitchFamily="2" charset="2"/>
              <a:buChar char="l"/>
              <a:defRPr/>
            </a:pPr>
            <a:r>
              <a:rPr lang="zh-CN" altLang="zh-CN" dirty="0" smtClean="0"/>
              <a:t>但</a:t>
            </a:r>
            <a:r>
              <a:rPr lang="zh-CN" altLang="zh-CN" dirty="0"/>
              <a:t>在该操作下的概率密度函数会出现明显的</a:t>
            </a:r>
            <a:r>
              <a:rPr lang="zh-CN" altLang="zh-CN" dirty="0" smtClean="0"/>
              <a:t>折线形</a:t>
            </a:r>
            <a:endParaRPr lang="zh-CN" altLang="en-US" dirty="0" smtClean="0"/>
          </a:p>
          <a:p>
            <a:pPr marL="457200" lvl="1" indent="0" eaLnBrk="1" hangingPunct="1">
              <a:lnSpc>
                <a:spcPts val="2000"/>
              </a:lnSpc>
              <a:buNone/>
              <a:defRPr/>
            </a:pPr>
            <a:endParaRPr lang="zh-CN" altLang="en-US" sz="1800" dirty="0"/>
          </a:p>
          <a:p>
            <a:pPr lvl="1" eaLnBrk="1" hangingPunct="1">
              <a:lnSpc>
                <a:spcPts val="2000"/>
              </a:lnSpc>
              <a:buFont typeface="Wingdings" panose="05000000000000000000" pitchFamily="2" charset="2"/>
              <a:buChar char="l"/>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5"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a:t>
            </a:r>
            <a:r>
              <a:rPr lang="en-US" altLang="zh-CN" b="1" kern="0" dirty="0" smtClean="0">
                <a:latin typeface="Microsoft YaHei UI" panose="020B0503020204020204" pitchFamily="34" charset="-122"/>
                <a:ea typeface="Microsoft YaHei UI" panose="020B0503020204020204" pitchFamily="34" charset="-122"/>
              </a:rPr>
              <a:t>f(O|P)</a:t>
            </a: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16" name="文本框 15"/>
              <p:cNvSpPr txBox="1"/>
              <p:nvPr/>
            </p:nvSpPr>
            <p:spPr>
              <a:xfrm>
                <a:off x="3275856" y="901642"/>
                <a:ext cx="3528392" cy="1059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e>
                          <m:r>
                            <a:rPr lang="en-US" altLang="zh-CN" sz="1600" b="0" i="1" smtClean="0">
                              <a:latin typeface="Cambria Math" panose="02040503050406030204" pitchFamily="18" charset="0"/>
                            </a:rPr>
                            <m:t>𝑂</m:t>
                          </m:r>
                        </m:e>
                      </m:d>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num>
                        <m:den>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den>
                      </m:f>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num>
                        <m:den>
                          <m:nary>
                            <m:naryPr>
                              <m:limLoc m:val="undOvr"/>
                              <m:subHide m:val="on"/>
                              <m:supHide m:val="on"/>
                              <m:ctrlPr>
                                <a:rPr lang="en-US" altLang="zh-CN" sz="1600" b="0" i="1" smtClean="0">
                                  <a:latin typeface="Cambria Math" charset="0"/>
                                </a:rPr>
                              </m:ctrlPr>
                            </m:naryPr>
                            <m:sub/>
                            <m:sup/>
                            <m:e>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𝑑</m:t>
                              </m:r>
                              <m:r>
                                <m:rPr>
                                  <m:sty m:val="p"/>
                                </m:rPr>
                                <a:rPr lang="en-US" altLang="zh-CN" sz="1600" i="1">
                                  <a:latin typeface="Cambria Math" panose="02040503050406030204" pitchFamily="18" charset="0"/>
                                </a:rPr>
                                <m:t>p</m:t>
                              </m:r>
                            </m:e>
                          </m:nary>
                        </m:den>
                      </m:f>
                    </m:oMath>
                  </m:oMathPara>
                </a14:m>
                <a:endParaRPr lang="en-US" altLang="zh-CN" sz="1600" b="0" dirty="0" smtClean="0"/>
              </a:p>
              <a:p>
                <a:r>
                  <a:rPr lang="en-US" altLang="zh-CN" sz="1600" dirty="0" smtClean="0"/>
                  <a:t>				</a:t>
                </a:r>
                <a:endParaRPr lang="zh-CN" altLang="en-US" sz="1600" i="1" dirty="0">
                  <a:latin typeface="Cambria Math" panose="02040503050406030204" pitchFamily="18"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3275856" y="901642"/>
                <a:ext cx="3528392" cy="1059777"/>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043608" y="2661091"/>
                <a:ext cx="4572000" cy="646331"/>
              </a:xfrm>
              <a:prstGeom prst="rect">
                <a:avLst/>
              </a:prstGeom>
            </p:spPr>
            <p:txBody>
              <a:bodyPr>
                <a:spAutoFit/>
              </a:bodyPr>
              <a:lstStyle/>
              <a:p>
                <a14:m>
                  <m:oMath xmlns:m="http://schemas.openxmlformats.org/officeDocument/2006/math">
                    <m:r>
                      <a:rPr kumimoji="1" lang="en-US" altLang="zh-CN" i="1">
                        <a:latin typeface="Cambria Math" charset="0"/>
                      </a:rPr>
                      <m:t>𝑓</m:t>
                    </m:r>
                    <m:d>
                      <m:dPr>
                        <m:ctrlPr>
                          <a:rPr kumimoji="1" lang="en-US" altLang="zh-CN" i="1">
                            <a:latin typeface="Cambria Math" charset="0"/>
                          </a:rPr>
                        </m:ctrlPr>
                      </m:dPr>
                      <m:e>
                        <m:r>
                          <a:rPr kumimoji="1" lang="en-US" altLang="zh-CN" i="1">
                            <a:latin typeface="Cambria Math" charset="0"/>
                          </a:rPr>
                          <m:t>𝑥</m:t>
                        </m:r>
                      </m:e>
                    </m:d>
                    <m:r>
                      <a:rPr kumimoji="1" lang="en-US" altLang="zh-CN" i="1">
                        <a:latin typeface="Cambria Math" charset="0"/>
                      </a:rPr>
                      <m:t>=</m:t>
                    </m:r>
                    <m:sSup>
                      <m:sSupPr>
                        <m:ctrlPr>
                          <a:rPr kumimoji="1" lang="en-US" altLang="zh-CN" i="1">
                            <a:latin typeface="Cambria Math" charset="0"/>
                          </a:rPr>
                        </m:ctrlPr>
                      </m:sSupPr>
                      <m:e>
                        <m:r>
                          <a:rPr kumimoji="1" lang="en-US" altLang="zh-CN" i="1">
                            <a:latin typeface="Cambria Math" charset="0"/>
                          </a:rPr>
                          <m:t>𝐹</m:t>
                        </m:r>
                      </m:e>
                      <m:sup>
                        <m:r>
                          <a:rPr kumimoji="1" lang="en-US" altLang="zh-CN" i="1">
                            <a:latin typeface="Cambria Math" charset="0"/>
                          </a:rPr>
                          <m:t>′</m:t>
                        </m:r>
                      </m:sup>
                    </m:sSup>
                    <m:d>
                      <m:dPr>
                        <m:ctrlPr>
                          <a:rPr kumimoji="1" lang="en-US" altLang="zh-CN" i="1">
                            <a:latin typeface="Cambria Math" charset="0"/>
                          </a:rPr>
                        </m:ctrlPr>
                      </m:dPr>
                      <m:e>
                        <m:r>
                          <a:rPr kumimoji="1" lang="en-US" altLang="zh-CN" i="1">
                            <a:latin typeface="Cambria Math" charset="0"/>
                          </a:rPr>
                          <m:t>𝑥</m:t>
                        </m:r>
                      </m:e>
                    </m:d>
                    <m:r>
                      <a:rPr kumimoji="1" lang="en-US" altLang="zh-CN">
                        <a:latin typeface="Cambria Math" charset="0"/>
                      </a:rPr>
                      <m:t>,</m:t>
                    </m:r>
                  </m:oMath>
                </a14:m>
                <a:r>
                  <a:rPr kumimoji="1" lang="en-US" altLang="zh-CN" dirty="0"/>
                  <a:t> </a:t>
                </a:r>
                <a:endParaRPr kumimoji="1" lang="zh-CN" altLang="en-US" dirty="0"/>
              </a:p>
              <a:p>
                <a:r>
                  <a:rPr kumimoji="1" lang="zh-CN" altLang="en-US" dirty="0"/>
                  <a:t>其中</a:t>
                </a:r>
                <a14:m>
                  <m:oMath xmlns:m="http://schemas.openxmlformats.org/officeDocument/2006/math">
                    <m:r>
                      <a:rPr kumimoji="1" lang="en-US" altLang="zh-CN" i="1">
                        <a:latin typeface="Cambria Math" charset="0"/>
                      </a:rPr>
                      <m:t>𝐹</m:t>
                    </m:r>
                    <m:d>
                      <m:dPr>
                        <m:ctrlPr>
                          <a:rPr kumimoji="1" lang="en-US" altLang="zh-CN" i="1">
                            <a:latin typeface="Cambria Math" charset="0"/>
                          </a:rPr>
                        </m:ctrlPr>
                      </m:dPr>
                      <m:e>
                        <m:r>
                          <a:rPr kumimoji="1" lang="en-US" altLang="zh-CN" i="1">
                            <a:latin typeface="Cambria Math" charset="0"/>
                          </a:rPr>
                          <m:t>𝑥</m:t>
                        </m:r>
                      </m:e>
                    </m:d>
                    <m:r>
                      <a:rPr kumimoji="1" lang="en-US" altLang="zh-CN" i="1">
                        <a:latin typeface="Cambria Math" charset="0"/>
                      </a:rPr>
                      <m:t>=</m:t>
                    </m:r>
                    <m:r>
                      <a:rPr kumimoji="1" lang="en-US" altLang="zh-CN" i="1">
                        <a:latin typeface="Cambria Math" charset="0"/>
                      </a:rPr>
                      <m:t>𝑃</m:t>
                    </m:r>
                    <m:r>
                      <a:rPr kumimoji="1" lang="en-US" altLang="zh-CN" i="1">
                        <a:latin typeface="Cambria Math" charset="0"/>
                      </a:rPr>
                      <m:t>(</m:t>
                    </m:r>
                    <m:r>
                      <a:rPr kumimoji="1" lang="en-US" altLang="zh-CN" i="1">
                        <a:latin typeface="Cambria Math" charset="0"/>
                      </a:rPr>
                      <m:t>𝑥</m:t>
                    </m:r>
                    <m:r>
                      <a:rPr kumimoji="1" lang="en-US" altLang="zh-CN" i="1">
                        <a:latin typeface="Cambria Math" charset="0"/>
                        <a:ea typeface="Cambria Math" charset="0"/>
                        <a:cs typeface="Cambria Math" charset="0"/>
                      </a:rPr>
                      <m:t>≤</m:t>
                    </m:r>
                    <m:r>
                      <a:rPr kumimoji="1" lang="en-US" altLang="zh-CN" i="1">
                        <a:latin typeface="Cambria Math" charset="0"/>
                        <a:ea typeface="Cambria Math" charset="0"/>
                        <a:cs typeface="Cambria Math" charset="0"/>
                      </a:rPr>
                      <m:t>𝜒</m:t>
                    </m:r>
                    <m:r>
                      <a:rPr kumimoji="1" lang="en-US" altLang="zh-CN" i="1">
                        <a:latin typeface="Cambria Math" charset="0"/>
                      </a:rPr>
                      <m:t>)</m:t>
                    </m:r>
                  </m:oMath>
                </a14:m>
                <a:endParaRPr kumimoji="1"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043608" y="2661091"/>
                <a:ext cx="4572000" cy="646331"/>
              </a:xfrm>
              <a:prstGeom prst="rect">
                <a:avLst/>
              </a:prstGeom>
              <a:blipFill rotWithShape="0">
                <a:blip r:embed="rId5"/>
                <a:stretch>
                  <a:fillRect l="-106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45936267"/>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工作简述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文章内容</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14" name="Rectangle 3"/>
          <p:cNvSpPr txBox="1">
            <a:spLocks noChangeArrowheads="1"/>
          </p:cNvSpPr>
          <p:nvPr/>
        </p:nvSpPr>
        <p:spPr>
          <a:xfrm>
            <a:off x="251520" y="1330813"/>
            <a:ext cx="7992888"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endParaRPr lang="zh-CN" altLang="en-US" dirty="0" smtClean="0"/>
          </a:p>
          <a:p>
            <a:pPr lvl="1" eaLnBrk="1" hangingPunct="1">
              <a:lnSpc>
                <a:spcPts val="2000"/>
              </a:lnSpc>
              <a:buFont typeface="Wingdings" panose="05000000000000000000" pitchFamily="2" charset="2"/>
              <a:buChar char="l"/>
              <a:defRPr/>
            </a:pPr>
            <a:r>
              <a:rPr lang="zh-CN" altLang="zh-CN" dirty="0" smtClean="0"/>
              <a:t>文中</a:t>
            </a:r>
            <a:r>
              <a:rPr lang="zh-CN" altLang="zh-CN" dirty="0"/>
              <a:t>的做法是：利用有限次模拟结果得到的散点，两两之间通过二次曲线连接，对累积分布函数求导，得到概率密度</a:t>
            </a:r>
            <a:r>
              <a:rPr lang="zh-CN" altLang="zh-CN" dirty="0" smtClean="0"/>
              <a:t>函数</a:t>
            </a:r>
            <a:endParaRPr lang="zh-CN" altLang="en-US" sz="1800" dirty="0"/>
          </a:p>
          <a:p>
            <a:pPr lvl="1" eaLnBrk="1" hangingPunct="1">
              <a:lnSpc>
                <a:spcPts val="2000"/>
              </a:lnSpc>
              <a:buFont typeface="Wingdings" panose="05000000000000000000" pitchFamily="2" charset="2"/>
              <a:buChar char="l"/>
              <a:defRPr/>
            </a:pPr>
            <a:r>
              <a:rPr lang="zh-CN" altLang="zh-CN" dirty="0" smtClean="0"/>
              <a:t>但</a:t>
            </a:r>
            <a:r>
              <a:rPr lang="zh-CN" altLang="zh-CN" dirty="0"/>
              <a:t>在该操作下的概率密度函数会出现明显的</a:t>
            </a:r>
            <a:r>
              <a:rPr lang="zh-CN" altLang="zh-CN" dirty="0" smtClean="0"/>
              <a:t>折线形</a:t>
            </a:r>
            <a:endParaRPr lang="zh-CN" altLang="en-US" dirty="0" smtClean="0"/>
          </a:p>
          <a:p>
            <a:pPr marL="457200" lvl="1" indent="0" eaLnBrk="1" hangingPunct="1">
              <a:lnSpc>
                <a:spcPts val="2000"/>
              </a:lnSpc>
              <a:buNone/>
              <a:defRPr/>
            </a:pPr>
            <a:endParaRPr lang="zh-CN" altLang="en-US" sz="1800" dirty="0"/>
          </a:p>
          <a:p>
            <a:pPr lvl="1" eaLnBrk="1" hangingPunct="1">
              <a:lnSpc>
                <a:spcPts val="2000"/>
              </a:lnSpc>
              <a:buFont typeface="Wingdings" panose="05000000000000000000" pitchFamily="2" charset="2"/>
              <a:buChar char="l"/>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4" y="3768526"/>
            <a:ext cx="3764093" cy="1072694"/>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2040" y="2537157"/>
            <a:ext cx="3145283" cy="2466410"/>
          </a:xfrm>
          <a:prstGeom prst="rect">
            <a:avLst/>
          </a:prstGeom>
        </p:spPr>
      </p:pic>
      <p:sp>
        <p:nvSpPr>
          <p:cNvPr id="15"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a:t>
            </a:r>
            <a:r>
              <a:rPr lang="en-US" altLang="zh-CN" b="1" kern="0" dirty="0" smtClean="0">
                <a:latin typeface="Microsoft YaHei UI" panose="020B0503020204020204" pitchFamily="34" charset="-122"/>
                <a:ea typeface="Microsoft YaHei UI" panose="020B0503020204020204" pitchFamily="34" charset="-122"/>
              </a:rPr>
              <a:t>f(O|P)</a:t>
            </a: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16" name="文本框 15"/>
              <p:cNvSpPr txBox="1"/>
              <p:nvPr/>
            </p:nvSpPr>
            <p:spPr>
              <a:xfrm>
                <a:off x="3275856" y="901642"/>
                <a:ext cx="3528392" cy="1059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e>
                          <m:r>
                            <a:rPr lang="en-US" altLang="zh-CN" sz="1600" b="0" i="1" smtClean="0">
                              <a:latin typeface="Cambria Math" panose="02040503050406030204" pitchFamily="18" charset="0"/>
                            </a:rPr>
                            <m:t>𝑂</m:t>
                          </m:r>
                        </m:e>
                      </m:d>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num>
                        <m:den>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den>
                      </m:f>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num>
                        <m:den>
                          <m:nary>
                            <m:naryPr>
                              <m:limLoc m:val="undOvr"/>
                              <m:subHide m:val="on"/>
                              <m:supHide m:val="on"/>
                              <m:ctrlPr>
                                <a:rPr lang="en-US" altLang="zh-CN" sz="1600" b="0" i="1" smtClean="0">
                                  <a:latin typeface="Cambria Math" charset="0"/>
                                </a:rPr>
                              </m:ctrlPr>
                            </m:naryPr>
                            <m:sub/>
                            <m:sup/>
                            <m:e>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𝑑</m:t>
                              </m:r>
                              <m:r>
                                <m:rPr>
                                  <m:sty m:val="p"/>
                                </m:rPr>
                                <a:rPr lang="en-US" altLang="zh-CN" sz="1600" i="1">
                                  <a:latin typeface="Cambria Math" panose="02040503050406030204" pitchFamily="18" charset="0"/>
                                </a:rPr>
                                <m:t>p</m:t>
                              </m:r>
                            </m:e>
                          </m:nary>
                        </m:den>
                      </m:f>
                    </m:oMath>
                  </m:oMathPara>
                </a14:m>
                <a:endParaRPr lang="en-US" altLang="zh-CN" sz="1600" b="0" dirty="0" smtClean="0"/>
              </a:p>
              <a:p>
                <a:r>
                  <a:rPr lang="en-US" altLang="zh-CN" sz="1600" dirty="0" smtClean="0"/>
                  <a:t>				</a:t>
                </a:r>
                <a:endParaRPr lang="zh-CN" altLang="en-US" sz="1600" i="1" dirty="0">
                  <a:latin typeface="Cambria Math" panose="02040503050406030204" pitchFamily="18"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3275856" y="901642"/>
                <a:ext cx="3528392" cy="1059777"/>
              </a:xfrm>
              <a:prstGeom prst="rect">
                <a:avLst/>
              </a:prstGeom>
              <a:blipFill rotWithShape="0">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043608" y="2661091"/>
                <a:ext cx="4572000" cy="646331"/>
              </a:xfrm>
              <a:prstGeom prst="rect">
                <a:avLst/>
              </a:prstGeom>
            </p:spPr>
            <p:txBody>
              <a:bodyPr>
                <a:spAutoFit/>
              </a:bodyPr>
              <a:lstStyle/>
              <a:p>
                <a14:m>
                  <m:oMath xmlns:m="http://schemas.openxmlformats.org/officeDocument/2006/math">
                    <m:r>
                      <a:rPr kumimoji="1" lang="en-US" altLang="zh-CN" i="1">
                        <a:latin typeface="Cambria Math" charset="0"/>
                      </a:rPr>
                      <m:t>𝑓</m:t>
                    </m:r>
                    <m:d>
                      <m:dPr>
                        <m:ctrlPr>
                          <a:rPr kumimoji="1" lang="en-US" altLang="zh-CN" i="1">
                            <a:latin typeface="Cambria Math" charset="0"/>
                          </a:rPr>
                        </m:ctrlPr>
                      </m:dPr>
                      <m:e>
                        <m:r>
                          <a:rPr kumimoji="1" lang="en-US" altLang="zh-CN" i="1">
                            <a:latin typeface="Cambria Math" charset="0"/>
                          </a:rPr>
                          <m:t>𝑥</m:t>
                        </m:r>
                      </m:e>
                    </m:d>
                    <m:r>
                      <a:rPr kumimoji="1" lang="en-US" altLang="zh-CN" i="1">
                        <a:latin typeface="Cambria Math" charset="0"/>
                      </a:rPr>
                      <m:t>=</m:t>
                    </m:r>
                    <m:sSup>
                      <m:sSupPr>
                        <m:ctrlPr>
                          <a:rPr kumimoji="1" lang="en-US" altLang="zh-CN" i="1">
                            <a:latin typeface="Cambria Math" charset="0"/>
                          </a:rPr>
                        </m:ctrlPr>
                      </m:sSupPr>
                      <m:e>
                        <m:r>
                          <a:rPr kumimoji="1" lang="en-US" altLang="zh-CN" i="1">
                            <a:latin typeface="Cambria Math" charset="0"/>
                          </a:rPr>
                          <m:t>𝐹</m:t>
                        </m:r>
                      </m:e>
                      <m:sup>
                        <m:r>
                          <a:rPr kumimoji="1" lang="en-US" altLang="zh-CN" i="1">
                            <a:latin typeface="Cambria Math" charset="0"/>
                          </a:rPr>
                          <m:t>′</m:t>
                        </m:r>
                      </m:sup>
                    </m:sSup>
                    <m:d>
                      <m:dPr>
                        <m:ctrlPr>
                          <a:rPr kumimoji="1" lang="en-US" altLang="zh-CN" i="1">
                            <a:latin typeface="Cambria Math" charset="0"/>
                          </a:rPr>
                        </m:ctrlPr>
                      </m:dPr>
                      <m:e>
                        <m:r>
                          <a:rPr kumimoji="1" lang="en-US" altLang="zh-CN" i="1">
                            <a:latin typeface="Cambria Math" charset="0"/>
                          </a:rPr>
                          <m:t>𝑥</m:t>
                        </m:r>
                      </m:e>
                    </m:d>
                    <m:r>
                      <a:rPr kumimoji="1" lang="en-US" altLang="zh-CN">
                        <a:latin typeface="Cambria Math" charset="0"/>
                      </a:rPr>
                      <m:t>,</m:t>
                    </m:r>
                  </m:oMath>
                </a14:m>
                <a:r>
                  <a:rPr kumimoji="1" lang="en-US" altLang="zh-CN" dirty="0"/>
                  <a:t> </a:t>
                </a:r>
                <a:endParaRPr kumimoji="1" lang="zh-CN" altLang="en-US" dirty="0"/>
              </a:p>
              <a:p>
                <a:r>
                  <a:rPr kumimoji="1" lang="zh-CN" altLang="en-US" dirty="0"/>
                  <a:t>其中</a:t>
                </a:r>
                <a14:m>
                  <m:oMath xmlns:m="http://schemas.openxmlformats.org/officeDocument/2006/math">
                    <m:r>
                      <a:rPr kumimoji="1" lang="en-US" altLang="zh-CN" i="1">
                        <a:latin typeface="Cambria Math" charset="0"/>
                      </a:rPr>
                      <m:t>𝐹</m:t>
                    </m:r>
                    <m:d>
                      <m:dPr>
                        <m:ctrlPr>
                          <a:rPr kumimoji="1" lang="en-US" altLang="zh-CN" i="1">
                            <a:latin typeface="Cambria Math" charset="0"/>
                          </a:rPr>
                        </m:ctrlPr>
                      </m:dPr>
                      <m:e>
                        <m:r>
                          <a:rPr kumimoji="1" lang="en-US" altLang="zh-CN" i="1">
                            <a:latin typeface="Cambria Math" charset="0"/>
                          </a:rPr>
                          <m:t>𝑥</m:t>
                        </m:r>
                      </m:e>
                    </m:d>
                    <m:r>
                      <a:rPr kumimoji="1" lang="en-US" altLang="zh-CN" i="1">
                        <a:latin typeface="Cambria Math" charset="0"/>
                      </a:rPr>
                      <m:t>=</m:t>
                    </m:r>
                    <m:r>
                      <a:rPr kumimoji="1" lang="en-US" altLang="zh-CN" i="1">
                        <a:latin typeface="Cambria Math" charset="0"/>
                      </a:rPr>
                      <m:t>𝑃</m:t>
                    </m:r>
                    <m:r>
                      <a:rPr kumimoji="1" lang="en-US" altLang="zh-CN" i="1">
                        <a:latin typeface="Cambria Math" charset="0"/>
                      </a:rPr>
                      <m:t>(</m:t>
                    </m:r>
                    <m:r>
                      <a:rPr kumimoji="1" lang="en-US" altLang="zh-CN" i="1">
                        <a:latin typeface="Cambria Math" charset="0"/>
                      </a:rPr>
                      <m:t>𝑥</m:t>
                    </m:r>
                    <m:r>
                      <a:rPr kumimoji="1" lang="en-US" altLang="zh-CN" i="1">
                        <a:latin typeface="Cambria Math" charset="0"/>
                        <a:ea typeface="Cambria Math" charset="0"/>
                        <a:cs typeface="Cambria Math" charset="0"/>
                      </a:rPr>
                      <m:t>≤</m:t>
                    </m:r>
                    <m:r>
                      <a:rPr kumimoji="1" lang="en-US" altLang="zh-CN" i="1">
                        <a:latin typeface="Cambria Math" charset="0"/>
                        <a:ea typeface="Cambria Math" charset="0"/>
                        <a:cs typeface="Cambria Math" charset="0"/>
                      </a:rPr>
                      <m:t>𝜒</m:t>
                    </m:r>
                    <m:r>
                      <a:rPr kumimoji="1" lang="en-US" altLang="zh-CN" i="1">
                        <a:latin typeface="Cambria Math" charset="0"/>
                      </a:rPr>
                      <m:t>)</m:t>
                    </m:r>
                  </m:oMath>
                </a14:m>
                <a:endParaRPr kumimoji="1"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043608" y="2661091"/>
                <a:ext cx="4572000" cy="646331"/>
              </a:xfrm>
              <a:prstGeom prst="rect">
                <a:avLst/>
              </a:prstGeom>
              <a:blipFill rotWithShape="0">
                <a:blip r:embed="rId7"/>
                <a:stretch>
                  <a:fillRect l="-106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0327409"/>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工作简述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文章内容</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似然函数</a:t>
            </a:r>
            <a:r>
              <a:rPr lang="en-US" altLang="zh-CN" b="1" kern="0" dirty="0" smtClean="0">
                <a:latin typeface="Microsoft YaHei UI" panose="020B0503020204020204" pitchFamily="34" charset="-122"/>
                <a:ea typeface="Microsoft YaHei UI" panose="020B0503020204020204" pitchFamily="34" charset="-122"/>
              </a:rPr>
              <a:t>f(O|P)</a:t>
            </a:r>
            <a:r>
              <a:rPr lang="en-US" altLang="zh-CN" sz="1200" kern="0" dirty="0" smtClean="0">
                <a:latin typeface="Microsoft YaHei UI" panose="020B0503020204020204" pitchFamily="34" charset="-122"/>
                <a:ea typeface="Microsoft YaHei UI" panose="020B0503020204020204" pitchFamily="34" charset="-122"/>
              </a:rPr>
              <a:t> </a:t>
            </a:r>
            <a:r>
              <a:rPr lang="zh-CN" altLang="en-US" sz="1200" kern="0" dirty="0" smtClean="0">
                <a:latin typeface="Microsoft YaHei UI" panose="020B0503020204020204" pitchFamily="34" charset="-122"/>
                <a:ea typeface="Microsoft YaHei UI" panose="020B0503020204020204" pitchFamily="34" charset="-122"/>
              </a:rPr>
              <a:t> </a:t>
            </a:r>
            <a:endParaRPr lang="en-US" altLang="zh-CN" sz="12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r>
              <a:rPr lang="en-US" altLang="zh-CN" sz="1200" kern="0" dirty="0">
                <a:latin typeface="Microsoft YaHei UI" panose="020B0503020204020204" pitchFamily="34" charset="-122"/>
                <a:ea typeface="Microsoft YaHei UI" panose="020B0503020204020204" pitchFamily="34" charset="-122"/>
              </a:rPr>
              <a:t> </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None/>
              <a:defRPr/>
            </a:pPr>
            <a:endParaRPr lang="zh-CN" altLang="en-US" sz="14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1330813"/>
            <a:ext cx="7992888"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endParaRPr lang="zh-CN" altLang="en-US" dirty="0" smtClean="0"/>
          </a:p>
          <a:p>
            <a:pPr lvl="1" eaLnBrk="1" hangingPunct="1">
              <a:lnSpc>
                <a:spcPts val="2000"/>
              </a:lnSpc>
              <a:buFont typeface="Wingdings" panose="05000000000000000000" pitchFamily="2" charset="2"/>
              <a:buChar char="l"/>
              <a:defRPr/>
            </a:pPr>
            <a:r>
              <a:rPr lang="zh-CN" altLang="zh-CN" dirty="0" smtClean="0"/>
              <a:t>文中</a:t>
            </a:r>
            <a:r>
              <a:rPr lang="zh-CN" altLang="zh-CN" dirty="0"/>
              <a:t>的做法是：利用有限次模拟结果得到的散点，两两之间通过二次曲线连接，对累积分布函数求导，得到概率密度</a:t>
            </a:r>
            <a:r>
              <a:rPr lang="zh-CN" altLang="zh-CN" dirty="0" smtClean="0"/>
              <a:t>函数</a:t>
            </a:r>
            <a:endParaRPr lang="zh-CN" altLang="en-US" sz="1800" dirty="0"/>
          </a:p>
          <a:p>
            <a:pPr lvl="1" eaLnBrk="1" hangingPunct="1">
              <a:lnSpc>
                <a:spcPts val="2000"/>
              </a:lnSpc>
              <a:buFont typeface="Wingdings" panose="05000000000000000000" pitchFamily="2" charset="2"/>
              <a:buChar char="l"/>
              <a:defRPr/>
            </a:pPr>
            <a:r>
              <a:rPr lang="zh-CN" altLang="zh-CN" dirty="0" smtClean="0"/>
              <a:t>但</a:t>
            </a:r>
            <a:r>
              <a:rPr lang="zh-CN" altLang="zh-CN" dirty="0"/>
              <a:t>在该操作下的概率密度函数会出现明显的</a:t>
            </a:r>
            <a:r>
              <a:rPr lang="zh-CN" altLang="zh-CN" dirty="0" smtClean="0"/>
              <a:t>折线形</a:t>
            </a:r>
            <a:endParaRPr lang="zh-CN" altLang="en-US" sz="1800" dirty="0"/>
          </a:p>
          <a:p>
            <a:pPr lvl="1" eaLnBrk="1" hangingPunct="1">
              <a:lnSpc>
                <a:spcPts val="2000"/>
              </a:lnSpc>
              <a:buFont typeface="Wingdings" panose="05000000000000000000" pitchFamily="2" charset="2"/>
              <a:buChar char="l"/>
              <a:defRPr/>
            </a:pPr>
            <a:endParaRPr lang="zh-CN" altLang="en-US" b="1" dirty="0" smtClean="0"/>
          </a:p>
          <a:p>
            <a:pPr lvl="1" eaLnBrk="1" hangingPunct="1">
              <a:lnSpc>
                <a:spcPts val="2000"/>
              </a:lnSpc>
              <a:buFont typeface="Wingdings" panose="05000000000000000000" pitchFamily="2" charset="2"/>
              <a:buChar char="l"/>
              <a:defRPr/>
            </a:pPr>
            <a:r>
              <a:rPr lang="zh-CN" altLang="zh-CN" b="1" dirty="0" smtClean="0"/>
              <a:t>是否</a:t>
            </a:r>
            <a:r>
              <a:rPr lang="zh-CN" altLang="zh-CN" b="1" dirty="0"/>
              <a:t>存在更好地导出（估计）概率密度函数的方式？</a:t>
            </a:r>
            <a:endParaRPr lang="zh-CN" altLang="zh-CN" sz="1800" dirty="0"/>
          </a:p>
          <a:p>
            <a:pPr lvl="1" eaLnBrk="1" hangingPunct="1">
              <a:lnSpc>
                <a:spcPts val="2000"/>
              </a:lnSpc>
              <a:buFont typeface="Wingdings" panose="05000000000000000000" pitchFamily="2" charset="2"/>
              <a:buChar char="l"/>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mc:AlternateContent xmlns:mc="http://schemas.openxmlformats.org/markup-compatibility/2006" xmlns:a14="http://schemas.microsoft.com/office/drawing/2010/main">
        <mc:Choice Requires="a14">
          <p:sp>
            <p:nvSpPr>
              <p:cNvPr id="11" name="文本框 10"/>
              <p:cNvSpPr txBox="1"/>
              <p:nvPr/>
            </p:nvSpPr>
            <p:spPr>
              <a:xfrm>
                <a:off x="3275856" y="901642"/>
                <a:ext cx="3528392" cy="1059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e>
                          <m:r>
                            <a:rPr lang="en-US" altLang="zh-CN" sz="1600" b="0" i="1" smtClean="0">
                              <a:latin typeface="Cambria Math" panose="02040503050406030204" pitchFamily="18" charset="0"/>
                            </a:rPr>
                            <m:t>𝑂</m:t>
                          </m:r>
                        </m:e>
                      </m:d>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num>
                        <m:den>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𝑂</m:t>
                          </m:r>
                          <m:r>
                            <a:rPr lang="en-US" altLang="zh-CN" sz="1600" b="0" i="1" smtClean="0">
                              <a:latin typeface="Cambria Math" panose="02040503050406030204" pitchFamily="18" charset="0"/>
                            </a:rPr>
                            <m:t>)</m:t>
                          </m:r>
                        </m:den>
                      </m:f>
                      <m:r>
                        <a:rPr lang="en-US" altLang="zh-CN" sz="1600" b="0" i="1" smtClean="0">
                          <a:latin typeface="Cambria Math" panose="02040503050406030204" pitchFamily="18" charset="0"/>
                        </a:rPr>
                        <m:t>=</m:t>
                      </m:r>
                      <m:f>
                        <m:fPr>
                          <m:ctrlPr>
                            <a:rPr lang="en-US" altLang="zh-CN" sz="1600" b="0" i="1" smtClean="0">
                              <a:latin typeface="Cambria Math" charset="0"/>
                            </a:rPr>
                          </m:ctrlPr>
                        </m:fPr>
                        <m:num>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𝑃</m:t>
                          </m:r>
                          <m:r>
                            <a:rPr lang="en-US" altLang="zh-CN" sz="1600" b="0" i="1" smtClean="0">
                              <a:latin typeface="Cambria Math" panose="02040503050406030204" pitchFamily="18" charset="0"/>
                            </a:rPr>
                            <m:t>)</m:t>
                          </m:r>
                        </m:num>
                        <m:den>
                          <m:nary>
                            <m:naryPr>
                              <m:limLoc m:val="undOvr"/>
                              <m:subHide m:val="on"/>
                              <m:supHide m:val="on"/>
                              <m:ctrlPr>
                                <a:rPr lang="en-US" altLang="zh-CN" sz="1600" b="0" i="1" smtClean="0">
                                  <a:latin typeface="Cambria Math" charset="0"/>
                                </a:rPr>
                              </m:ctrlPr>
                            </m:naryPr>
                            <m:sub/>
                            <m:sup/>
                            <m:e>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𝑂</m:t>
                                  </m:r>
                                </m:e>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𝑓</m:t>
                              </m:r>
                              <m:d>
                                <m:dPr>
                                  <m:ctrlPr>
                                    <a:rPr lang="en-US" altLang="zh-CN" sz="1600" b="0" i="1" smtClean="0">
                                      <a:latin typeface="Cambria Math" charset="0"/>
                                    </a:rPr>
                                  </m:ctrlPr>
                                </m:dPr>
                                <m:e>
                                  <m:r>
                                    <a:rPr lang="en-US" altLang="zh-CN" sz="1600" b="0" i="1" smtClean="0">
                                      <a:latin typeface="Cambria Math" panose="02040503050406030204" pitchFamily="18" charset="0"/>
                                    </a:rPr>
                                    <m:t>𝑃</m:t>
                                  </m:r>
                                </m:e>
                              </m:d>
                              <m:r>
                                <a:rPr lang="en-US" altLang="zh-CN" sz="1600" b="0" i="1" smtClean="0">
                                  <a:latin typeface="Cambria Math" panose="02040503050406030204" pitchFamily="18" charset="0"/>
                                </a:rPr>
                                <m:t>𝑑</m:t>
                              </m:r>
                              <m:r>
                                <m:rPr>
                                  <m:sty m:val="p"/>
                                </m:rPr>
                                <a:rPr lang="en-US" altLang="zh-CN" sz="1600" i="1">
                                  <a:latin typeface="Cambria Math" panose="02040503050406030204" pitchFamily="18" charset="0"/>
                                </a:rPr>
                                <m:t>p</m:t>
                              </m:r>
                            </m:e>
                          </m:nary>
                        </m:den>
                      </m:f>
                    </m:oMath>
                  </m:oMathPara>
                </a14:m>
                <a:endParaRPr lang="en-US" altLang="zh-CN" sz="1600" b="0" dirty="0" smtClean="0"/>
              </a:p>
              <a:p>
                <a:r>
                  <a:rPr lang="en-US" altLang="zh-CN" sz="1600" dirty="0" smtClean="0"/>
                  <a:t>				</a:t>
                </a:r>
                <a:endParaRPr lang="zh-CN" altLang="en-US" sz="1600" i="1" dirty="0">
                  <a:latin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275856" y="901642"/>
                <a:ext cx="3528392" cy="1059777"/>
              </a:xfrm>
              <a:prstGeom prst="rect">
                <a:avLst/>
              </a:prstGeom>
              <a:blipFill rotWithShape="0">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3867479"/>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工作简述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文章内容</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核密度估计</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1330813"/>
            <a:ext cx="7992888"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endParaRPr lang="zh-CN" altLang="en-US" dirty="0" smtClean="0"/>
          </a:p>
          <a:p>
            <a:pPr lvl="1" eaLnBrk="1" hangingPunct="1">
              <a:lnSpc>
                <a:spcPts val="2000"/>
              </a:lnSpc>
              <a:buFont typeface="Wingdings" panose="05000000000000000000" pitchFamily="2" charset="2"/>
              <a:buChar char="l"/>
              <a:defRPr/>
            </a:pPr>
            <a:endParaRPr lang="zh-CN" altLang="en-US" sz="1600" kern="0" dirty="0" smtClean="0">
              <a:solidFill>
                <a:srgbClr val="FF0000"/>
              </a:solidFill>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zh-CN" altLang="en-US" sz="1600" kern="0" dirty="0">
              <a:solidFill>
                <a:srgbClr val="FF0000"/>
              </a:solidFill>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1920" y="1150949"/>
            <a:ext cx="4786808" cy="3685345"/>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971600" y="1210767"/>
                <a:ext cx="2398413" cy="2585323"/>
              </a:xfrm>
              <a:prstGeom prst="rect">
                <a:avLst/>
              </a:prstGeom>
              <a:noFill/>
            </p:spPr>
            <p:txBody>
              <a:bodyPr wrap="none" rtlCol="0">
                <a:spAutoFit/>
              </a:bodyPr>
              <a:lstStyle/>
              <a:p>
                <a:pPr lvl="1"/>
                <a:endParaRPr kumimoji="1" lang="zh-CN" altLang="en-US" b="0" i="1" dirty="0" smtClean="0">
                  <a:latin typeface="Cambria Math" charset="0"/>
                </a:endParaRPr>
              </a:p>
              <a:p>
                <a:endParaRPr kumimoji="1" lang="zh-CN" altLang="en-US" dirty="0" smtClean="0"/>
              </a:p>
              <a:p>
                <a:endParaRPr kumimoji="1" lang="zh-CN" altLang="en-US" dirty="0" smtClean="0"/>
              </a:p>
              <a:p>
                <a:pPr/>
                <a14:m>
                  <m:oMathPara xmlns:m="http://schemas.openxmlformats.org/officeDocument/2006/math">
                    <m:oMathParaPr>
                      <m:jc m:val="left"/>
                    </m:oMathParaPr>
                    <m:oMath xmlns:m="http://schemas.openxmlformats.org/officeDocument/2006/math">
                      <m:r>
                        <m:rPr>
                          <m:nor/>
                        </m:rPr>
                        <a:rPr kumimoji="1" lang="zh-CN" altLang="en-US" dirty="0"/>
                        <m:t>累积密度函数（</m:t>
                      </m:r>
                      <m:r>
                        <m:rPr>
                          <m:nor/>
                        </m:rPr>
                        <a:rPr kumimoji="1" lang="en-US" altLang="zh-CN" dirty="0"/>
                        <m:t>cdf</m:t>
                      </m:r>
                      <m:r>
                        <m:rPr>
                          <m:nor/>
                        </m:rPr>
                        <a:rPr kumimoji="1" lang="zh-CN" altLang="en-US" dirty="0"/>
                        <m:t>）</m:t>
                      </m:r>
                    </m:oMath>
                  </m:oMathPara>
                </a14:m>
                <a:endParaRPr kumimoji="1" lang="zh-CN" altLang="en-US" dirty="0"/>
              </a:p>
              <a:p>
                <a:endParaRPr kumimoji="1" lang="zh-CN" altLang="en-US" dirty="0" smtClean="0"/>
              </a:p>
              <a:p>
                <a:endParaRPr kumimoji="1" lang="zh-CN" altLang="en-US" dirty="0" smtClean="0"/>
              </a:p>
              <a:p>
                <a:r>
                  <a:rPr kumimoji="1" lang="zh-CN" altLang="en-US" dirty="0" smtClean="0"/>
                  <a:t>概率</a:t>
                </a:r>
                <a:r>
                  <a:rPr kumimoji="1" lang="zh-CN" altLang="en-US" dirty="0"/>
                  <a:t>密度函数（</a:t>
                </a:r>
                <a:r>
                  <a:rPr kumimoji="1" lang="en-US" altLang="zh-CN" dirty="0"/>
                  <a:t>pdf</a:t>
                </a:r>
                <a:r>
                  <a:rPr kumimoji="1" lang="zh-CN" altLang="en-US" dirty="0"/>
                  <a:t>）</a:t>
                </a:r>
              </a:p>
              <a:p>
                <a:endParaRPr kumimoji="1" lang="zh-CN" altLang="en-US" dirty="0" smtClean="0"/>
              </a:p>
              <a:p>
                <a:endParaRPr kumimoji="1"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971600" y="1210767"/>
                <a:ext cx="2398413" cy="2585323"/>
              </a:xfrm>
              <a:prstGeom prst="rect">
                <a:avLst/>
              </a:prstGeom>
              <a:blipFill rotWithShape="0">
                <a:blip r:embed="rId5"/>
                <a:stretch>
                  <a:fillRect l="-2030" r="-508"/>
                </a:stretch>
              </a:blipFill>
            </p:spPr>
            <p:txBody>
              <a:bodyPr/>
              <a:lstStyle/>
              <a:p>
                <a:r>
                  <a:rPr lang="zh-CN" altLang="en-US">
                    <a:noFill/>
                  </a:rPr>
                  <a:t> </a:t>
                </a:r>
              </a:p>
            </p:txBody>
          </p:sp>
        </mc:Fallback>
      </mc:AlternateContent>
      <p:cxnSp>
        <p:nvCxnSpPr>
          <p:cNvPr id="42" name="直线箭头连接符 41"/>
          <p:cNvCxnSpPr/>
          <p:nvPr/>
        </p:nvCxnSpPr>
        <p:spPr>
          <a:xfrm>
            <a:off x="1822584" y="2391010"/>
            <a:ext cx="0" cy="468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835696" y="2440730"/>
            <a:ext cx="922991" cy="338554"/>
          </a:xfrm>
          <a:prstGeom prst="rect">
            <a:avLst/>
          </a:prstGeom>
          <a:noFill/>
        </p:spPr>
        <p:txBody>
          <a:bodyPr wrap="square" rtlCol="0">
            <a:spAutoFit/>
          </a:bodyPr>
          <a:lstStyle/>
          <a:p>
            <a:r>
              <a:rPr kumimoji="1" lang="zh-CN" altLang="en-US" sz="1600" dirty="0" smtClean="0"/>
              <a:t> 求导</a:t>
            </a:r>
            <a:endParaRPr kumimoji="1" lang="zh-CN" altLang="en-US" sz="1600" dirty="0"/>
          </a:p>
        </p:txBody>
      </p:sp>
      <p:sp>
        <p:nvSpPr>
          <p:cNvPr id="48" name="矩形 47"/>
          <p:cNvSpPr/>
          <p:nvPr/>
        </p:nvSpPr>
        <p:spPr>
          <a:xfrm>
            <a:off x="1899913" y="2449004"/>
            <a:ext cx="549842" cy="2773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759738462"/>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483518"/>
            <a:ext cx="9144000" cy="22732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127000" dist="38100" dir="5400000" algn="t"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20" name="矩形 19"/>
          <p:cNvSpPr/>
          <p:nvPr/>
        </p:nvSpPr>
        <p:spPr>
          <a:xfrm>
            <a:off x="1978020" y="7295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研究回顾</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47" name="矩形 46"/>
          <p:cNvSpPr/>
          <p:nvPr/>
        </p:nvSpPr>
        <p:spPr>
          <a:xfrm>
            <a:off x="4139952" y="62566"/>
            <a:ext cx="1005403" cy="338554"/>
          </a:xfrm>
          <a:prstGeom prst="rect">
            <a:avLst/>
          </a:prstGeom>
        </p:spPr>
        <p:txBody>
          <a:bodyPr wrap="none">
            <a:spAutoFit/>
          </a:bodyPr>
          <a:lstStyle/>
          <a:p>
            <a:pPr>
              <a:defRPr/>
            </a:pPr>
            <a:r>
              <a:rPr lang="zh-CN" altLang="en-US" sz="1600" b="1" dirty="0" smtClean="0">
                <a:solidFill>
                  <a:schemeClr val="tx1">
                    <a:alpha val="30000"/>
                  </a:schemeClr>
                </a:solidFill>
                <a:latin typeface="Microsoft YaHei UI" panose="020B0503020204020204" pitchFamily="34" charset="-122"/>
                <a:ea typeface="Microsoft YaHei UI" panose="020B0503020204020204" pitchFamily="34" charset="-122"/>
              </a:rPr>
              <a:t>工作简述</a:t>
            </a:r>
            <a:endParaRPr lang="zh-CN" altLang="en-US" sz="1600" b="1" dirty="0">
              <a:solidFill>
                <a:schemeClr val="tx1">
                  <a:alpha val="30000"/>
                </a:schemeClr>
              </a:solidFill>
              <a:latin typeface="Microsoft YaHei UI" panose="020B0503020204020204" pitchFamily="34" charset="-122"/>
              <a:ea typeface="Microsoft YaHei UI" panose="020B0503020204020204" pitchFamily="34" charset="-122"/>
            </a:endParaRPr>
          </a:p>
        </p:txBody>
      </p:sp>
      <p:sp>
        <p:nvSpPr>
          <p:cNvPr id="13" name="矩形 12"/>
          <p:cNvSpPr/>
          <p:nvPr/>
        </p:nvSpPr>
        <p:spPr>
          <a:xfrm>
            <a:off x="6156176" y="72956"/>
            <a:ext cx="1005403" cy="338554"/>
          </a:xfrm>
          <a:prstGeom prst="rect">
            <a:avLst/>
          </a:prstGeom>
        </p:spPr>
        <p:txBody>
          <a:bodyPr wrap="none">
            <a:spAutoFit/>
          </a:bodyPr>
          <a:lstStyle/>
          <a:p>
            <a:pPr>
              <a:defRPr/>
            </a:pPr>
            <a:r>
              <a:rPr lang="zh-CN" altLang="en-US" sz="1600" b="1" dirty="0" smtClean="0">
                <a:latin typeface="Microsoft YaHei UI" panose="020B0503020204020204" pitchFamily="34" charset="-122"/>
                <a:ea typeface="Microsoft YaHei UI" panose="020B0503020204020204" pitchFamily="34" charset="-122"/>
              </a:rPr>
              <a:t>文章内容</a:t>
            </a:r>
            <a:endParaRPr lang="zh-CN" altLang="en-US" sz="1600" b="1" dirty="0">
              <a:latin typeface="Microsoft YaHei UI" panose="020B0503020204020204" pitchFamily="34" charset="-122"/>
              <a:ea typeface="Microsoft YaHei UI" panose="020B0503020204020204" pitchFamily="34" charset="-122"/>
            </a:endParaRPr>
          </a:p>
        </p:txBody>
      </p:sp>
      <p:sp>
        <p:nvSpPr>
          <p:cNvPr id="26" name="文本框 25"/>
          <p:cNvSpPr txBox="1"/>
          <p:nvPr/>
        </p:nvSpPr>
        <p:spPr>
          <a:xfrm>
            <a:off x="8820472" y="4836294"/>
            <a:ext cx="261610" cy="276999"/>
          </a:xfrm>
          <a:prstGeom prst="rect">
            <a:avLst/>
          </a:prstGeom>
          <a:noFill/>
        </p:spPr>
        <p:txBody>
          <a:bodyPr wrap="none" rtlCol="0">
            <a:spAutoFit/>
          </a:bodyPr>
          <a:lstStyle/>
          <a:p>
            <a:r>
              <a:rPr lang="en-US" altLang="zh-CN" sz="1200" dirty="0" smtClean="0">
                <a:latin typeface="Times New Roman" panose="02020603050405020304" pitchFamily="18" charset="0"/>
                <a:cs typeface="Times New Roman" panose="02020603050405020304" pitchFamily="18" charset="0"/>
              </a:rPr>
              <a:t>6</a:t>
            </a:r>
            <a:endParaRPr lang="zh-CN" altLang="en-US" sz="1200" dirty="0">
              <a:latin typeface="Times New Roman" panose="02020603050405020304" pitchFamily="18" charset="0"/>
              <a:cs typeface="Times New Roman" panose="02020603050405020304" pitchFamily="18" charset="0"/>
            </a:endParaRPr>
          </a:p>
        </p:txBody>
      </p:sp>
      <p:sp>
        <p:nvSpPr>
          <p:cNvPr id="12" name="Rectangle 3"/>
          <p:cNvSpPr txBox="1">
            <a:spLocks noChangeArrowheads="1"/>
          </p:cNvSpPr>
          <p:nvPr/>
        </p:nvSpPr>
        <p:spPr>
          <a:xfrm>
            <a:off x="251520" y="973650"/>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b="1" kern="0" dirty="0" smtClean="0">
                <a:latin typeface="Microsoft YaHei UI" panose="020B0503020204020204" pitchFamily="34" charset="-122"/>
                <a:ea typeface="Microsoft YaHei UI" panose="020B0503020204020204" pitchFamily="34" charset="-122"/>
              </a:rPr>
              <a:t>核密度估计</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
        <p:nvSpPr>
          <p:cNvPr id="14" name="Rectangle 3"/>
          <p:cNvSpPr txBox="1">
            <a:spLocks noChangeArrowheads="1"/>
          </p:cNvSpPr>
          <p:nvPr/>
        </p:nvSpPr>
        <p:spPr>
          <a:xfrm>
            <a:off x="251520" y="1330813"/>
            <a:ext cx="7992888" cy="487462"/>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lnSpc>
                <a:spcPts val="2000"/>
              </a:lnSpc>
              <a:buFont typeface="Wingdings" panose="05000000000000000000" pitchFamily="2" charset="2"/>
              <a:buChar char="l"/>
              <a:defRPr/>
            </a:pPr>
            <a:endParaRPr lang="zh-CN" altLang="en-US" dirty="0" smtClean="0"/>
          </a:p>
          <a:p>
            <a:pPr lvl="1" eaLnBrk="1" hangingPunct="1">
              <a:lnSpc>
                <a:spcPts val="2000"/>
              </a:lnSpc>
              <a:buFont typeface="Wingdings" panose="05000000000000000000" pitchFamily="2" charset="2"/>
              <a:buChar char="l"/>
              <a:defRPr/>
            </a:pPr>
            <a:endParaRPr lang="zh-CN" altLang="en-US" sz="1600" kern="0" dirty="0" smtClean="0">
              <a:solidFill>
                <a:srgbClr val="FF0000"/>
              </a:solidFill>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zh-CN" altLang="en-US" sz="1600" kern="0" dirty="0">
              <a:solidFill>
                <a:srgbClr val="FF0000"/>
              </a:solidFill>
              <a:latin typeface="Microsoft YaHei UI" panose="020B0503020204020204" pitchFamily="34" charset="-122"/>
              <a:ea typeface="Microsoft YaHei UI" panose="020B0503020204020204" pitchFamily="34" charset="-122"/>
            </a:endParaRPr>
          </a:p>
          <a:p>
            <a:pPr lvl="1" eaLnBrk="1" hangingPunct="1">
              <a:lnSpc>
                <a:spcPts val="2000"/>
              </a:lnSpc>
              <a:buFont typeface="Wingdings" panose="05000000000000000000" pitchFamily="2" charset="2"/>
              <a:buChar char="l"/>
              <a:defRPr/>
            </a:pPr>
            <a:endParaRPr lang="en-US" altLang="zh-CN" sz="1600" kern="0" dirty="0" smtClean="0">
              <a:solidFill>
                <a:srgbClr val="FF0000"/>
              </a:solidFill>
              <a:latin typeface="Microsoft YaHei UI" panose="020B0503020204020204" pitchFamily="34" charset="-122"/>
              <a:ea typeface="Microsoft YaHei UI" panose="020B0503020204020204" pitchFamily="34" charset="-122"/>
            </a:endParaRPr>
          </a:p>
          <a:p>
            <a:pPr marL="457200" lvl="1" indent="0" eaLnBrk="1" hangingPunct="1">
              <a:lnSpc>
                <a:spcPts val="2000"/>
              </a:lnSpc>
              <a:buNone/>
              <a:defRPr/>
            </a:pP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050" kern="0" dirty="0" smtClean="0">
              <a:latin typeface="Microsoft YaHei UI" panose="020B0503020204020204" pitchFamily="34" charset="-122"/>
              <a:ea typeface="Microsoft YaHei UI" panose="020B0503020204020204" pitchFamily="34" charset="-122"/>
            </a:endParaRPr>
          </a:p>
          <a:p>
            <a:pPr marL="457200" lvl="1" indent="0" eaLnBrk="1" hangingPunct="1">
              <a:lnSpc>
                <a:spcPts val="2000"/>
              </a:lnSpc>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1840" y="814332"/>
            <a:ext cx="5544616" cy="4121661"/>
          </a:xfrm>
          <a:prstGeom prst="rect">
            <a:avLst/>
          </a:prstGeom>
        </p:spPr>
      </p:pic>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r="65135"/>
          <a:stretch/>
        </p:blipFill>
        <p:spPr>
          <a:xfrm>
            <a:off x="336520" y="2752355"/>
            <a:ext cx="2507288" cy="600185"/>
          </a:xfrm>
          <a:prstGeom prst="rect">
            <a:avLst/>
          </a:prstGeom>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6012" y="2202969"/>
            <a:ext cx="2671812" cy="506238"/>
          </a:xfrm>
          <a:prstGeom prst="rect">
            <a:avLst/>
          </a:prstGeom>
        </p:spPr>
      </p:pic>
      <p:pic>
        <p:nvPicPr>
          <p:cNvPr id="6" name="图片 5"/>
          <p:cNvPicPr>
            <a:picLocks noChangeAspect="1"/>
          </p:cNvPicPr>
          <p:nvPr/>
        </p:nvPicPr>
        <p:blipFill rotWithShape="1">
          <a:blip r:embed="rId7">
            <a:extLst>
              <a:ext uri="{28A0092B-C50C-407E-A947-70E740481C1C}">
                <a14:useLocalDpi xmlns:a14="http://schemas.microsoft.com/office/drawing/2010/main" val="0"/>
              </a:ext>
            </a:extLst>
          </a:blip>
          <a:srcRect t="9028"/>
          <a:stretch/>
        </p:blipFill>
        <p:spPr>
          <a:xfrm>
            <a:off x="336520" y="3395688"/>
            <a:ext cx="2507288" cy="616222"/>
          </a:xfrm>
          <a:prstGeom prst="rect">
            <a:avLst/>
          </a:prstGeom>
        </p:spPr>
      </p:pic>
      <p:sp>
        <p:nvSpPr>
          <p:cNvPr id="15" name="Rectangle 3"/>
          <p:cNvSpPr txBox="1">
            <a:spLocks noChangeArrowheads="1"/>
          </p:cNvSpPr>
          <p:nvPr/>
        </p:nvSpPr>
        <p:spPr>
          <a:xfrm>
            <a:off x="539552" y="1466598"/>
            <a:ext cx="8280920" cy="39482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lvl="1" eaLnBrk="1" hangingPunct="1">
              <a:defRPr/>
            </a:pPr>
            <a:r>
              <a:rPr lang="zh-CN" altLang="en-US" sz="1200" kern="0" dirty="0" smtClean="0">
                <a:latin typeface="Microsoft YaHei UI" panose="020B0503020204020204" pitchFamily="34" charset="-122"/>
                <a:ea typeface="Microsoft YaHei UI" panose="020B0503020204020204" pitchFamily="34" charset="-122"/>
              </a:rPr>
              <a:t>经验分布函数</a:t>
            </a:r>
          </a:p>
          <a:p>
            <a:pPr lvl="1" eaLnBrk="1" hangingPunct="1">
              <a:defRPr/>
            </a:pPr>
            <a:r>
              <a:rPr lang="zh-CN" altLang="en-US" sz="1200" kern="0" dirty="0" smtClean="0">
                <a:latin typeface="Microsoft YaHei UI" panose="020B0503020204020204" pitchFamily="34" charset="-122"/>
                <a:ea typeface="Microsoft YaHei UI" panose="020B0503020204020204" pitchFamily="34" charset="-122"/>
              </a:rPr>
              <a:t>按距离分配权重</a:t>
            </a:r>
            <a:r>
              <a:rPr lang="en-US" altLang="zh-CN" sz="1200" kern="0" dirty="0" smtClean="0">
                <a:latin typeface="Microsoft YaHei UI" panose="020B0503020204020204" pitchFamily="34" charset="-122"/>
                <a:ea typeface="Microsoft YaHei UI" panose="020B0503020204020204" pitchFamily="34" charset="-122"/>
              </a:rPr>
              <a:t>       </a:t>
            </a:r>
            <a:endParaRPr lang="en-US" altLang="zh-CN" sz="1400" kern="0" dirty="0" smtClean="0">
              <a:latin typeface="Microsoft YaHei UI" panose="020B0503020204020204" pitchFamily="34" charset="-122"/>
              <a:ea typeface="Microsoft YaHei UI" panose="020B0503020204020204" pitchFamily="34" charset="-122"/>
            </a:endParaRPr>
          </a:p>
          <a:p>
            <a:pPr marL="457200" lvl="1" indent="0" eaLnBrk="1" hangingPunct="1">
              <a:buNone/>
              <a:defRPr/>
            </a:pPr>
            <a:endParaRPr lang="en-US" altLang="zh-CN" sz="1200" kern="0" dirty="0">
              <a:latin typeface="Microsoft YaHei UI" panose="020B0503020204020204" pitchFamily="34" charset="-122"/>
              <a:ea typeface="Microsoft YaHei UI" panose="020B0503020204020204" pitchFamily="34" charset="-122"/>
            </a:endParaRPr>
          </a:p>
          <a:p>
            <a:pPr marL="457200" lvl="1" indent="0" eaLnBrk="1" hangingPunct="1">
              <a:buFont typeface="Wingdings" panose="05000000000000000000" pitchFamily="2" charset="2"/>
              <a:buNone/>
              <a:defRPr/>
            </a:pPr>
            <a:endParaRPr lang="en-US" altLang="zh-CN" sz="1800" kern="0" dirty="0" smtClean="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2152940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7"/>
          <p:cNvSpPr txBox="1">
            <a:spLocks noChangeArrowheads="1"/>
          </p:cNvSpPr>
          <p:nvPr/>
        </p:nvSpPr>
        <p:spPr bwMode="auto">
          <a:xfrm>
            <a:off x="1350137" y="3248367"/>
            <a:ext cx="895744" cy="323165"/>
          </a:xfrm>
          <a:prstGeom prst="rect">
            <a:avLst/>
          </a:prstGeom>
          <a:noFill/>
          <a:ln w="9525">
            <a:noFill/>
            <a:miter lim="800000"/>
            <a:headEnd/>
            <a:tailEnd/>
          </a:ln>
        </p:spPr>
        <p:txBody>
          <a:bodyPr wrap="square" lIns="45720" tIns="22860" rIns="45720" bIns="22860">
            <a:spAutoFit/>
          </a:bodyPr>
          <a:lstStyle/>
          <a:p>
            <a:pPr algn="ctr" defTabSz="1088232"/>
            <a:r>
              <a:rPr lang="en-CA" b="1" spc="-150">
                <a:solidFill>
                  <a:schemeClr val="bg1"/>
                </a:solidFill>
                <a:latin typeface="Open Sans" pitchFamily="34" charset="0"/>
                <a:ea typeface="Open Sans" pitchFamily="34" charset="0"/>
                <a:cs typeface="Open Sans" pitchFamily="34" charset="0"/>
              </a:rPr>
              <a:t>Training</a:t>
            </a:r>
          </a:p>
        </p:txBody>
      </p:sp>
      <p:sp>
        <p:nvSpPr>
          <p:cNvPr id="29" name="矩形 28"/>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13" name="Text Box 10"/>
          <p:cNvSpPr txBox="1">
            <a:spLocks noChangeArrowheads="1"/>
          </p:cNvSpPr>
          <p:nvPr/>
        </p:nvSpPr>
        <p:spPr bwMode="auto">
          <a:xfrm>
            <a:off x="3563888" y="2171267"/>
            <a:ext cx="2538422" cy="877163"/>
          </a:xfrm>
          <a:prstGeom prst="rect">
            <a:avLst/>
          </a:prstGeom>
          <a:noFill/>
          <a:ln w="9525">
            <a:noFill/>
            <a:miter lim="800000"/>
            <a:headEnd/>
            <a:tailEnd/>
          </a:ln>
        </p:spPr>
        <p:txBody>
          <a:bodyPr wrap="square" lIns="45720" tIns="22860" rIns="45720" bIns="22860">
            <a:spAutoFit/>
          </a:bodyPr>
          <a:lstStyle/>
          <a:p>
            <a:pPr defTabSz="1088232"/>
            <a:r>
              <a:rPr lang="en-US" sz="5400" dirty="0">
                <a:solidFill>
                  <a:schemeClr val="bg1"/>
                </a:solidFill>
                <a:latin typeface="Times New Roman" panose="02020603050405020304" pitchFamily="18" charset="0"/>
                <a:ea typeface="Open Sans Light" pitchFamily="34" charset="0"/>
                <a:cs typeface="Times New Roman" panose="02020603050405020304" pitchFamily="18" charset="0"/>
              </a:rPr>
              <a:t>Thanks</a:t>
            </a:r>
            <a:endParaRPr lang="en-US" sz="5400" i="1" dirty="0">
              <a:solidFill>
                <a:schemeClr val="bg1"/>
              </a:solidFill>
              <a:latin typeface="Times New Roman" panose="02020603050405020304" pitchFamily="18" charset="0"/>
              <a:ea typeface="Open Sans Light" pitchFamily="34" charset="0"/>
              <a:cs typeface="Times New Roman" panose="02020603050405020304" pitchFamily="18" charset="0"/>
            </a:endParaRPr>
          </a:p>
        </p:txBody>
      </p:sp>
      <p:sp>
        <p:nvSpPr>
          <p:cNvPr id="9" name="矩形 8"/>
          <p:cNvSpPr/>
          <p:nvPr/>
        </p:nvSpPr>
        <p:spPr>
          <a:xfrm>
            <a:off x="251520" y="710656"/>
            <a:ext cx="1005403" cy="338554"/>
          </a:xfrm>
          <a:prstGeom prst="rect">
            <a:avLst/>
          </a:prstGeom>
        </p:spPr>
        <p:txBody>
          <a:bodyPr wrap="none">
            <a:spAutoFit/>
          </a:bodyPr>
          <a:lstStyle/>
          <a:p>
            <a:pPr fontAlgn="auto">
              <a:spcBef>
                <a:spcPts val="0"/>
              </a:spcBef>
              <a:spcAft>
                <a:spcPts val="0"/>
              </a:spcAft>
              <a:defRPr/>
            </a:pPr>
            <a:r>
              <a:rPr lang="zh-CN" altLang="en-US" sz="1600" b="1" dirty="0" smtClean="0">
                <a:latin typeface="微软雅黑" panose="020B0503020204020204" pitchFamily="34" charset="-122"/>
                <a:ea typeface="微软雅黑" panose="020B0503020204020204" pitchFamily="34" charset="-122"/>
              </a:rPr>
              <a:t>参考文献</a:t>
            </a:r>
            <a:endParaRPr lang="en-US" altLang="zh-CN" sz="1600" b="1" dirty="0" smtClean="0">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a:xfrm>
            <a:off x="0" y="1480476"/>
            <a:ext cx="8640960" cy="3179506"/>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u"/>
              <a:defRPr sz="20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a:solidFill>
                  <a:schemeClr val="tx1"/>
                </a:solidFill>
                <a:latin typeface="+mn-lt"/>
                <a:ea typeface="+mn-ea"/>
              </a:defRPr>
            </a:lvl9pPr>
          </a:lstStyle>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[1] Hubbard S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S</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Rubin Y. Hydrogeological parameter estimation using geophysical data: a review of selected techniques[J]. Journal of Contaminant Hydrology, 2000, 45(1–2):3-34. </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[2]Mehmet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Taner</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Demir,Nadim</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K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Copty,Paolo</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a:t>
            </a:r>
            <a:r>
              <a:rPr lang="en-US" altLang="zh-CN" sz="1200" kern="0" dirty="0" err="1">
                <a:latin typeface="Arial" panose="020B0604020202020204" pitchFamily="34" charset="0"/>
                <a:ea typeface="Microsoft YaHei UI" panose="020B0503020204020204" pitchFamily="34" charset="-122"/>
                <a:cs typeface="Arial" panose="020B0604020202020204" pitchFamily="34" charset="0"/>
              </a:rPr>
              <a:t>Trinchero,Xavier</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Sanchez-Vila. Bayesian Estimation of the Transmissivity Spatial Structure from Pumping Test Data[J]. Advances in Water Resources,2017.</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[3]</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秦甜甜</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丁国辉</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基于抽水试验的水文地质参数计算方法研究</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[J].</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水资源开发与管理</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,2018(01):69-73.</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[4]</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林琳</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史良胜</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宋雪航</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地下水参数反演的确定性集合卡尔曼滤波方法</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[J].</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武汉大学学报</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工学版</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),2016,49(02):161-167+172.</a:t>
            </a:r>
          </a:p>
          <a:p>
            <a:pPr marL="457200" lvl="1" indent="0" eaLnBrk="1" hangingPunct="1">
              <a:lnSpc>
                <a:spcPts val="2000"/>
              </a:lnSpc>
              <a:spcAft>
                <a:spcPts val="1200"/>
              </a:spcAft>
              <a:buNone/>
              <a:defRPr/>
            </a:pP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[5]</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杨金忠</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地下水运动数学模型</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[M]. </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北京</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a:t>
            </a:r>
            <a:r>
              <a:rPr lang="zh-CN" altLang="en-US" sz="1200" kern="0" dirty="0">
                <a:latin typeface="Arial" panose="020B0604020202020204" pitchFamily="34" charset="0"/>
                <a:ea typeface="Microsoft YaHei UI" panose="020B0503020204020204" pitchFamily="34" charset="-122"/>
                <a:cs typeface="Arial" panose="020B0604020202020204" pitchFamily="34" charset="0"/>
              </a:rPr>
              <a:t>北京科学出版社</a:t>
            </a:r>
            <a:r>
              <a:rPr lang="en-US" altLang="zh-CN" sz="1200" kern="0" dirty="0">
                <a:latin typeface="Arial" panose="020B0604020202020204" pitchFamily="34" charset="0"/>
                <a:ea typeface="Microsoft YaHei UI" panose="020B0503020204020204" pitchFamily="34" charset="-122"/>
                <a:cs typeface="Arial" panose="020B0604020202020204" pitchFamily="34" charset="0"/>
              </a:rPr>
              <a:t>, 2009. 208-224</a:t>
            </a:r>
          </a:p>
          <a:p>
            <a:pPr marL="457200" lvl="1" indent="0" eaLnBrk="1" hangingPunct="1">
              <a:lnSpc>
                <a:spcPts val="2000"/>
              </a:lnSpc>
              <a:buFont typeface="Wingdings" panose="05000000000000000000" pitchFamily="2" charset="2"/>
              <a:buNone/>
              <a:defRPr/>
            </a:pPr>
            <a:endParaRPr lang="zh-CN" altLang="en-US" sz="1400" kern="0" dirty="0">
              <a:latin typeface="Arial" panose="020B0604020202020204" pitchFamily="34" charset="0"/>
              <a:ea typeface="Microsoft YaHei UI" panose="020B0503020204020204" pitchFamily="34" charset="-122"/>
              <a:cs typeface="Arial" panose="020B0604020202020204" pitchFamily="34" charset="0"/>
            </a:endParaRPr>
          </a:p>
          <a:p>
            <a:pPr marL="457200" lvl="1" indent="0" eaLnBrk="1" hangingPunct="1">
              <a:lnSpc>
                <a:spcPts val="2000"/>
              </a:lnSpc>
              <a:buNone/>
              <a:defRPr/>
            </a:pPr>
            <a:endParaRPr lang="en-US" altLang="zh-CN" sz="1050" kern="0" dirty="0" smtClean="0">
              <a:latin typeface="Arial" panose="020B0604020202020204" pitchFamily="34" charset="0"/>
              <a:ea typeface="Microsoft YaHei UI" panose="020B0503020204020204" pitchFamily="34" charset="-122"/>
              <a:cs typeface="Arial" panose="020B0604020202020204" pitchFamily="34" charset="0"/>
            </a:endParaRPr>
          </a:p>
          <a:p>
            <a:pPr marL="457200" lvl="1" indent="0" eaLnBrk="1" hangingPunct="1">
              <a:lnSpc>
                <a:spcPts val="2000"/>
              </a:lnSpc>
              <a:buFont typeface="Wingdings" panose="05000000000000000000" pitchFamily="2" charset="2"/>
              <a:buNone/>
              <a:defRPr/>
            </a:pPr>
            <a:endParaRPr lang="en-US" altLang="zh-CN" sz="1800" kern="0" dirty="0" smtClean="0">
              <a:latin typeface="Arial" panose="020B0604020202020204" pitchFamily="34" charset="0"/>
              <a:ea typeface="Microsoft YaHei UI" panose="020B0503020204020204" pitchFamily="34" charset="-122"/>
              <a:cs typeface="Arial" panose="020B0604020202020204" pitchFamily="34" charset="0"/>
            </a:endParaRPr>
          </a:p>
        </p:txBody>
      </p:sp>
    </p:spTree>
    <p:extLst>
      <p:ext uri="{BB962C8B-B14F-4D97-AF65-F5344CB8AC3E}">
        <p14:creationId xmlns:p14="http://schemas.microsoft.com/office/powerpoint/2010/main" val="3435442048"/>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7"/>
          <p:cNvSpPr txBox="1">
            <a:spLocks noChangeArrowheads="1"/>
          </p:cNvSpPr>
          <p:nvPr/>
        </p:nvSpPr>
        <p:spPr bwMode="auto">
          <a:xfrm>
            <a:off x="1350137" y="3248367"/>
            <a:ext cx="895744" cy="323165"/>
          </a:xfrm>
          <a:prstGeom prst="rect">
            <a:avLst/>
          </a:prstGeom>
          <a:noFill/>
          <a:ln w="9525">
            <a:noFill/>
            <a:miter lim="800000"/>
            <a:headEnd/>
            <a:tailEnd/>
          </a:ln>
        </p:spPr>
        <p:txBody>
          <a:bodyPr wrap="square" lIns="45720" tIns="22860" rIns="45720" bIns="22860">
            <a:spAutoFit/>
          </a:bodyPr>
          <a:lstStyle/>
          <a:p>
            <a:pPr algn="ctr" defTabSz="1088232"/>
            <a:r>
              <a:rPr lang="en-CA" b="1" spc="-150">
                <a:solidFill>
                  <a:schemeClr val="bg1"/>
                </a:solidFill>
                <a:latin typeface="Open Sans" pitchFamily="34" charset="0"/>
                <a:ea typeface="Open Sans" pitchFamily="34" charset="0"/>
                <a:cs typeface="Open Sans" pitchFamily="34" charset="0"/>
              </a:rPr>
              <a:t>Training</a:t>
            </a:r>
          </a:p>
        </p:txBody>
      </p:sp>
      <p:sp>
        <p:nvSpPr>
          <p:cNvPr id="29" name="矩形 28"/>
          <p:cNvSpPr/>
          <p:nvPr/>
        </p:nvSpPr>
        <p:spPr>
          <a:xfrm>
            <a:off x="0" y="-6614"/>
            <a:ext cx="9144000" cy="490132"/>
          </a:xfrm>
          <a:prstGeom prst="rect">
            <a:avLst/>
          </a:prstGeom>
          <a:gradFill flip="none" rotWithShape="1">
            <a:gsLst>
              <a:gs pos="0">
                <a:schemeClr val="bg1">
                  <a:lumMod val="100000"/>
                </a:schemeClr>
              </a:gs>
              <a:gs pos="100000">
                <a:schemeClr val="bg1">
                  <a:lumMod val="85000"/>
                </a:schemeClr>
              </a:gs>
              <a:gs pos="99000">
                <a:schemeClr val="bg1">
                  <a:lumMod val="93000"/>
                </a:schemeClr>
              </a:gs>
            </a:gsLst>
            <a:lin ang="16200000" scaled="1"/>
            <a:tileRect/>
          </a:gradFill>
          <a:ln w="19050" cmpd="sng">
            <a:gradFill flip="none" rotWithShape="1">
              <a:gsLst>
                <a:gs pos="0">
                  <a:schemeClr val="bg1">
                    <a:lumMod val="91000"/>
                  </a:schemeClr>
                </a:gs>
                <a:gs pos="73000">
                  <a:schemeClr val="bg1">
                    <a:lumMod val="85000"/>
                  </a:schemeClr>
                </a:gs>
                <a:gs pos="100000">
                  <a:schemeClr val="bg1">
                    <a:lumMod val="85000"/>
                  </a:schemeClr>
                </a:gs>
              </a:gsLst>
              <a:path path="circle">
                <a:fillToRect l="50000" t="50000" r="50000" b="50000"/>
              </a:path>
              <a:tileRect/>
            </a:gradFill>
          </a:ln>
          <a:effectLst>
            <a:outerShdw blurRad="215900" dist="38100" dir="5400000" sx="99000" sy="99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3264"/>
            <a:ext cx="1368152" cy="460254"/>
          </a:xfrm>
          <a:prstGeom prst="rect">
            <a:avLst/>
          </a:prstGeom>
        </p:spPr>
      </p:pic>
      <p:sp>
        <p:nvSpPr>
          <p:cNvPr id="10" name="Oval 1"/>
          <p:cNvSpPr/>
          <p:nvPr/>
        </p:nvSpPr>
        <p:spPr>
          <a:xfrm>
            <a:off x="3238500" y="1276349"/>
            <a:ext cx="2667000" cy="2667000"/>
          </a:xfrm>
          <a:prstGeom prst="ellipse">
            <a:avLst/>
          </a:prstGeom>
          <a:solidFill>
            <a:srgbClr val="45C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0"/>
          <p:cNvSpPr txBox="1">
            <a:spLocks noChangeArrowheads="1"/>
          </p:cNvSpPr>
          <p:nvPr/>
        </p:nvSpPr>
        <p:spPr bwMode="auto">
          <a:xfrm>
            <a:off x="3563888" y="2171267"/>
            <a:ext cx="2538422" cy="877163"/>
          </a:xfrm>
          <a:prstGeom prst="rect">
            <a:avLst/>
          </a:prstGeom>
          <a:noFill/>
          <a:ln w="9525">
            <a:noFill/>
            <a:miter lim="800000"/>
            <a:headEnd/>
            <a:tailEnd/>
          </a:ln>
        </p:spPr>
        <p:txBody>
          <a:bodyPr wrap="square" lIns="45720" tIns="22860" rIns="45720" bIns="22860">
            <a:spAutoFit/>
          </a:bodyPr>
          <a:lstStyle/>
          <a:p>
            <a:pPr defTabSz="1088232"/>
            <a:r>
              <a:rPr lang="en-US" sz="5400" dirty="0">
                <a:solidFill>
                  <a:schemeClr val="bg1"/>
                </a:solidFill>
                <a:latin typeface="Times New Roman" panose="02020603050405020304" pitchFamily="18" charset="0"/>
                <a:ea typeface="Open Sans Light" pitchFamily="34" charset="0"/>
                <a:cs typeface="Times New Roman" panose="02020603050405020304" pitchFamily="18" charset="0"/>
              </a:rPr>
              <a:t>Thanks</a:t>
            </a:r>
            <a:endParaRPr lang="en-US" sz="5400" i="1" dirty="0">
              <a:solidFill>
                <a:schemeClr val="bg1"/>
              </a:solidFill>
              <a:latin typeface="Times New Roman" panose="02020603050405020304" pitchFamily="18" charset="0"/>
              <a:ea typeface="Open Sans Light" pitchFamily="34" charset="0"/>
              <a:cs typeface="Times New Roman" panose="02020603050405020304" pitchFamily="18" charset="0"/>
            </a:endParaRPr>
          </a:p>
        </p:txBody>
      </p:sp>
      <p:sp>
        <p:nvSpPr>
          <p:cNvPr id="9" name="矩形 8"/>
          <p:cNvSpPr/>
          <p:nvPr/>
        </p:nvSpPr>
        <p:spPr>
          <a:xfrm>
            <a:off x="2735600" y="69175"/>
            <a:ext cx="4058740" cy="338554"/>
          </a:xfrm>
          <a:prstGeom prst="rect">
            <a:avLst/>
          </a:prstGeom>
        </p:spPr>
        <p:txBody>
          <a:bodyPr wrap="none">
            <a:spAutoFit/>
          </a:bodyPr>
          <a:lstStyle/>
          <a:p>
            <a:pPr fontAlgn="auto">
              <a:spcBef>
                <a:spcPts val="0"/>
              </a:spcBef>
              <a:spcAft>
                <a:spcPts val="0"/>
              </a:spcAft>
              <a:defRPr/>
            </a:pPr>
            <a:r>
              <a:rPr lang="zh-CN" altLang="en-US" sz="1600" b="1" dirty="0" smtClean="0">
                <a:latin typeface="微软雅黑" panose="020B0503020204020204" pitchFamily="34" charset="-122"/>
                <a:ea typeface="微软雅黑" panose="020B0503020204020204" pitchFamily="34" charset="-122"/>
              </a:rPr>
              <a:t>基于贝叶斯方法的地下水参数空间结构估计</a:t>
            </a:r>
            <a:endParaRPr lang="en-US" altLang="zh-CN" sz="1600" dirty="0">
              <a:latin typeface="微软雅黑" panose="020B0503020204020204" pitchFamily="34" charset="-122"/>
              <a:ea typeface="微软雅黑" panose="020B0503020204020204" pitchFamily="34" charset="-122"/>
              <a:cs typeface="Open Sans Light" pitchFamily="34" charset="0"/>
            </a:endParaRPr>
          </a:p>
        </p:txBody>
      </p:sp>
    </p:spTree>
    <p:extLst>
      <p:ext uri="{BB962C8B-B14F-4D97-AF65-F5344CB8AC3E}">
        <p14:creationId xmlns:p14="http://schemas.microsoft.com/office/powerpoint/2010/main" val="1711869646"/>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9096</TotalTime>
  <Words>1884</Words>
  <Application>Microsoft Macintosh PowerPoint</Application>
  <PresentationFormat>全屏显示(16:9)</PresentationFormat>
  <Paragraphs>276</Paragraphs>
  <Slides>14</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Calibri</vt:lpstr>
      <vt:lpstr>Cambria Math</vt:lpstr>
      <vt:lpstr>Microsoft YaHei UI</vt:lpstr>
      <vt:lpstr>Open Sans</vt:lpstr>
      <vt:lpstr>Open Sans Light</vt:lpstr>
      <vt:lpstr>Times New Roman</vt:lpstr>
      <vt:lpstr>Wingdings</vt:lpstr>
      <vt:lpstr>等线</vt:lpstr>
      <vt:lpstr>等线 Light</vt:lpstr>
      <vt:lpstr>楷体</vt:lpstr>
      <vt:lpstr>宋体</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锐旗设计；https://9ppt.taobao.com</dc:title>
  <dc:subject/>
  <dc:creator>锐旗设计;https://9ppt.taobao.com</dc:creator>
  <cp:keywords>锐旗设计；https:/9ppt.taobao.com</cp:keywords>
  <dc:description/>
  <cp:lastModifiedBy>Microsoft Office 用户</cp:lastModifiedBy>
  <cp:revision>1177</cp:revision>
  <dcterms:created xsi:type="dcterms:W3CDTF">2014-02-01T22:43:10Z</dcterms:created>
  <dcterms:modified xsi:type="dcterms:W3CDTF">2018-06-05T00:23:16Z</dcterms:modified>
  <cp:category>锐旗设计；https://9ppt.taobao.com</cp:category>
</cp:coreProperties>
</file>