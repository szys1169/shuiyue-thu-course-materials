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handoutMasterIdLst>
    <p:handoutMasterId r:id="rId27"/>
  </p:handoutMasterIdLst>
  <p:sldIdLst>
    <p:sldId id="256" r:id="rId2"/>
    <p:sldId id="259" r:id="rId3"/>
    <p:sldId id="292" r:id="rId4"/>
    <p:sldId id="267" r:id="rId5"/>
    <p:sldId id="293" r:id="rId6"/>
    <p:sldId id="268" r:id="rId7"/>
    <p:sldId id="286" r:id="rId8"/>
    <p:sldId id="294" r:id="rId9"/>
    <p:sldId id="295" r:id="rId10"/>
    <p:sldId id="284" r:id="rId11"/>
    <p:sldId id="289" r:id="rId12"/>
    <p:sldId id="290" r:id="rId13"/>
    <p:sldId id="291" r:id="rId14"/>
    <p:sldId id="287" r:id="rId15"/>
    <p:sldId id="288" r:id="rId16"/>
    <p:sldId id="296" r:id="rId17"/>
    <p:sldId id="297" r:id="rId18"/>
    <p:sldId id="298" r:id="rId19"/>
    <p:sldId id="299" r:id="rId20"/>
    <p:sldId id="300" r:id="rId21"/>
    <p:sldId id="301" r:id="rId22"/>
    <p:sldId id="302" r:id="rId23"/>
    <p:sldId id="303" r:id="rId24"/>
    <p:sldId id="304" r:id="rId25"/>
  </p:sldIdLst>
  <p:sldSz cx="9144000" cy="5143500" type="screen16x9"/>
  <p:notesSz cx="6858000" cy="9144000"/>
  <p:defaultText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4367"/>
    <a:srgbClr val="1D4865"/>
    <a:srgbClr val="1D4971"/>
    <a:srgbClr val="51B3CD"/>
    <a:srgbClr val="83C2DB"/>
    <a:srgbClr val="2980B4"/>
    <a:srgbClr val="4287C6"/>
    <a:srgbClr val="2780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0026" autoAdjust="0"/>
  </p:normalViewPr>
  <p:slideViewPr>
    <p:cSldViewPr snapToGrid="0">
      <p:cViewPr varScale="1">
        <p:scale>
          <a:sx n="76" d="100"/>
          <a:sy n="76" d="100"/>
        </p:scale>
        <p:origin x="360" y="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2019/12/25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2019/12/25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zh-CN" sz="900" kern="1200" dirty="0">
                <a:solidFill>
                  <a:schemeClr val="tx1"/>
                </a:solidFill>
                <a:effectLst/>
                <a:latin typeface="+mn-lt"/>
                <a:ea typeface="+mn-ea"/>
                <a:cs typeface="+mn-cs"/>
              </a:rPr>
              <a:t>开始介绍之前，我们来看一下现在常用的锂离子电池的结构以及反应方程</a:t>
            </a:r>
          </a:p>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4166798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kern="1200" dirty="0">
                <a:solidFill>
                  <a:schemeClr val="tx1"/>
                </a:solidFill>
                <a:effectLst/>
                <a:latin typeface="+mn-lt"/>
                <a:ea typeface="+mn-ea"/>
                <a:cs typeface="+mn-cs"/>
              </a:rPr>
              <a:t>1976</a:t>
            </a:r>
            <a:r>
              <a:rPr lang="zh-CN" altLang="zh-CN" sz="900" kern="1200" dirty="0">
                <a:solidFill>
                  <a:schemeClr val="tx1"/>
                </a:solidFill>
                <a:effectLst/>
                <a:latin typeface="+mn-lt"/>
                <a:ea typeface="+mn-ea"/>
                <a:cs typeface="+mn-cs"/>
              </a:rPr>
              <a:t>年，英国科学家</a:t>
            </a:r>
            <a:r>
              <a:rPr lang="en-US" altLang="zh-CN" sz="900" kern="1200" dirty="0">
                <a:solidFill>
                  <a:schemeClr val="tx1"/>
                </a:solidFill>
                <a:effectLst/>
                <a:latin typeface="+mn-lt"/>
                <a:ea typeface="+mn-ea"/>
                <a:cs typeface="+mn-cs"/>
              </a:rPr>
              <a:t>Whittingham</a:t>
            </a:r>
            <a:r>
              <a:rPr lang="zh-CN" altLang="zh-CN" sz="900" kern="1200" dirty="0">
                <a:solidFill>
                  <a:schemeClr val="tx1"/>
                </a:solidFill>
                <a:effectLst/>
                <a:latin typeface="+mn-lt"/>
                <a:ea typeface="+mn-ea"/>
                <a:cs typeface="+mn-cs"/>
              </a:rPr>
              <a:t>发现了</a:t>
            </a:r>
            <a:r>
              <a:rPr lang="en-US" altLang="zh-CN" sz="900" kern="1200" dirty="0">
                <a:solidFill>
                  <a:schemeClr val="tx1"/>
                </a:solidFill>
                <a:effectLst/>
                <a:latin typeface="+mn-lt"/>
                <a:ea typeface="+mn-ea"/>
                <a:cs typeface="+mn-cs"/>
              </a:rPr>
              <a:t>Li</a:t>
            </a:r>
            <a:r>
              <a:rPr lang="en-US" altLang="zh-CN" sz="900" kern="1200" baseline="-25000" dirty="0">
                <a:solidFill>
                  <a:schemeClr val="tx1"/>
                </a:solidFill>
                <a:effectLst/>
                <a:latin typeface="+mn-lt"/>
                <a:ea typeface="+mn-ea"/>
                <a:cs typeface="+mn-cs"/>
              </a:rPr>
              <a:t>x</a:t>
            </a:r>
            <a:r>
              <a:rPr lang="en-US" altLang="zh-CN" sz="900" kern="1200" dirty="0">
                <a:solidFill>
                  <a:schemeClr val="tx1"/>
                </a:solidFill>
                <a:effectLst/>
                <a:latin typeface="+mn-lt"/>
                <a:ea typeface="+mn-ea"/>
                <a:cs typeface="+mn-cs"/>
              </a:rPr>
              <a:t>TiS</a:t>
            </a:r>
            <a:r>
              <a:rPr lang="en-US" altLang="zh-CN" sz="900" kern="1200" baseline="-25000" dirty="0">
                <a:solidFill>
                  <a:schemeClr val="tx1"/>
                </a:solidFill>
                <a:effectLst/>
                <a:latin typeface="+mn-lt"/>
                <a:ea typeface="+mn-ea"/>
                <a:cs typeface="+mn-cs"/>
              </a:rPr>
              <a:t>2</a:t>
            </a:r>
            <a:r>
              <a:rPr lang="en-US" altLang="zh-CN" sz="900" kern="1200" dirty="0">
                <a:solidFill>
                  <a:schemeClr val="tx1"/>
                </a:solidFill>
                <a:effectLst/>
                <a:latin typeface="+mn-lt"/>
                <a:ea typeface="+mn-ea"/>
                <a:cs typeface="+mn-cs"/>
              </a:rPr>
              <a:t>/Li</a:t>
            </a:r>
            <a:r>
              <a:rPr lang="zh-CN" altLang="zh-CN" sz="900" kern="1200" dirty="0">
                <a:solidFill>
                  <a:schemeClr val="tx1"/>
                </a:solidFill>
                <a:effectLst/>
                <a:latin typeface="+mn-lt"/>
                <a:ea typeface="+mn-ea"/>
                <a:cs typeface="+mn-cs"/>
              </a:rPr>
              <a:t>电池，实现在</a:t>
            </a:r>
            <a:r>
              <a:rPr lang="en-US" altLang="zh-CN" sz="900" kern="1200" dirty="0">
                <a:solidFill>
                  <a:schemeClr val="tx1"/>
                </a:solidFill>
                <a:effectLst/>
                <a:latin typeface="+mn-lt"/>
                <a:ea typeface="+mn-ea"/>
                <a:cs typeface="+mn-cs"/>
              </a:rPr>
              <a:t>0</a:t>
            </a:r>
            <a:r>
              <a:rPr lang="zh-CN" altLang="zh-CN" sz="900" kern="1200" dirty="0">
                <a:solidFill>
                  <a:schemeClr val="tx1"/>
                </a:solidFill>
                <a:effectLst/>
                <a:latin typeface="+mn-lt"/>
                <a:ea typeface="+mn-ea"/>
                <a:cs typeface="+mn-cs"/>
              </a:rPr>
              <a:t>≤</a:t>
            </a:r>
            <a:r>
              <a:rPr lang="en-US" altLang="zh-CN" sz="900" kern="1200" dirty="0">
                <a:solidFill>
                  <a:schemeClr val="tx1"/>
                </a:solidFill>
                <a:effectLst/>
                <a:latin typeface="+mn-lt"/>
                <a:ea typeface="+mn-ea"/>
                <a:cs typeface="+mn-cs"/>
              </a:rPr>
              <a:t>x</a:t>
            </a:r>
            <a:r>
              <a:rPr lang="zh-CN" altLang="zh-CN" sz="900" kern="1200" dirty="0">
                <a:solidFill>
                  <a:schemeClr val="tx1"/>
                </a:solidFill>
                <a:effectLst/>
                <a:latin typeface="+mn-lt"/>
                <a:ea typeface="+mn-ea"/>
                <a:cs typeface="+mn-cs"/>
              </a:rPr>
              <a:t>≤</a:t>
            </a:r>
            <a:r>
              <a:rPr lang="en-US" altLang="zh-CN" sz="900" kern="1200" dirty="0">
                <a:solidFill>
                  <a:schemeClr val="tx1"/>
                </a:solidFill>
                <a:effectLst/>
                <a:latin typeface="+mn-lt"/>
                <a:ea typeface="+mn-ea"/>
                <a:cs typeface="+mn-cs"/>
              </a:rPr>
              <a:t>1</a:t>
            </a:r>
            <a:r>
              <a:rPr lang="zh-CN" altLang="zh-CN" sz="900" kern="1200" dirty="0">
                <a:solidFill>
                  <a:schemeClr val="tx1"/>
                </a:solidFill>
                <a:effectLst/>
                <a:latin typeface="+mn-lt"/>
                <a:ea typeface="+mn-ea"/>
                <a:cs typeface="+mn-cs"/>
              </a:rPr>
              <a:t>范围内在</a:t>
            </a:r>
            <a:r>
              <a:rPr lang="en-US" altLang="zh-CN" sz="900" kern="1200" dirty="0">
                <a:solidFill>
                  <a:schemeClr val="tx1"/>
                </a:solidFill>
                <a:effectLst/>
                <a:latin typeface="+mn-lt"/>
                <a:ea typeface="+mn-ea"/>
                <a:cs typeface="+mn-cs"/>
              </a:rPr>
              <a:t>Li</a:t>
            </a:r>
            <a:r>
              <a:rPr lang="en-US" altLang="zh-CN" sz="900" kern="1200" baseline="-25000" dirty="0">
                <a:solidFill>
                  <a:schemeClr val="tx1"/>
                </a:solidFill>
                <a:effectLst/>
                <a:latin typeface="+mn-lt"/>
                <a:ea typeface="+mn-ea"/>
                <a:cs typeface="+mn-cs"/>
              </a:rPr>
              <a:t>x</a:t>
            </a:r>
            <a:r>
              <a:rPr lang="en-US" altLang="zh-CN" sz="900" kern="1200" dirty="0">
                <a:solidFill>
                  <a:schemeClr val="tx1"/>
                </a:solidFill>
                <a:effectLst/>
                <a:latin typeface="+mn-lt"/>
                <a:ea typeface="+mn-ea"/>
                <a:cs typeface="+mn-cs"/>
              </a:rPr>
              <a:t>TiS</a:t>
            </a:r>
            <a:r>
              <a:rPr lang="en-US" altLang="zh-CN" sz="900" kern="1200" baseline="-250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内可逆的嵌入和锂离子，电池在大部分时间内，电池电压均可保持在</a:t>
            </a:r>
            <a:r>
              <a:rPr lang="en-US" altLang="zh-CN" sz="900" kern="1200" dirty="0">
                <a:solidFill>
                  <a:schemeClr val="tx1"/>
                </a:solidFill>
                <a:effectLst/>
                <a:latin typeface="+mn-lt"/>
                <a:ea typeface="+mn-ea"/>
                <a:cs typeface="+mn-cs"/>
              </a:rPr>
              <a:t>2V</a:t>
            </a:r>
            <a:r>
              <a:rPr lang="zh-CN" altLang="zh-CN" sz="900" kern="1200" dirty="0">
                <a:solidFill>
                  <a:schemeClr val="tx1"/>
                </a:solidFill>
                <a:effectLst/>
                <a:latin typeface="+mn-lt"/>
                <a:ea typeface="+mn-ea"/>
                <a:cs typeface="+mn-cs"/>
              </a:rPr>
              <a:t>以上，电流密度为</a:t>
            </a:r>
            <a:r>
              <a:rPr lang="en-US" altLang="zh-CN" sz="900" kern="1200" dirty="0">
                <a:solidFill>
                  <a:schemeClr val="tx1"/>
                </a:solidFill>
                <a:effectLst/>
                <a:latin typeface="+mn-lt"/>
                <a:ea typeface="+mn-ea"/>
                <a:cs typeface="+mn-cs"/>
              </a:rPr>
              <a:t>1-10mA/cm</a:t>
            </a:r>
            <a:r>
              <a:rPr lang="en-US" altLang="zh-CN" sz="900" kern="1200" baseline="300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，但存在电解质和锂负极的可逆沉积，限制了电池的便携使用，同时锂负极的改变也会降低电池电压。为了找到更好的正极材料，</a:t>
            </a:r>
            <a:r>
              <a:rPr lang="en-US" altLang="zh-CN" sz="900" kern="1200" dirty="0">
                <a:solidFill>
                  <a:schemeClr val="tx1"/>
                </a:solidFill>
                <a:effectLst/>
                <a:latin typeface="+mn-lt"/>
                <a:ea typeface="+mn-ea"/>
                <a:cs typeface="+mn-cs"/>
              </a:rPr>
              <a:t>Goodenough</a:t>
            </a:r>
            <a:r>
              <a:rPr lang="zh-CN" altLang="zh-CN" sz="900" kern="1200" dirty="0">
                <a:solidFill>
                  <a:schemeClr val="tx1"/>
                </a:solidFill>
                <a:effectLst/>
                <a:latin typeface="+mn-lt"/>
                <a:ea typeface="+mn-ea"/>
                <a:cs typeface="+mn-cs"/>
              </a:rPr>
              <a:t>根据自己多年对金属氧化物的研究，从母体</a:t>
            </a:r>
            <a:r>
              <a:rPr lang="en-US" altLang="zh-CN" sz="900" kern="1200" dirty="0">
                <a:solidFill>
                  <a:schemeClr val="tx1"/>
                </a:solidFill>
                <a:effectLst/>
                <a:latin typeface="+mn-lt"/>
                <a:ea typeface="+mn-ea"/>
                <a:cs typeface="+mn-cs"/>
              </a:rPr>
              <a:t>LiCoO</a:t>
            </a:r>
            <a:r>
              <a:rPr lang="en-US" altLang="zh-CN" sz="900" kern="1200" baseline="-250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有序岩盐结构中电化学提取锂，制备了</a:t>
            </a:r>
            <a:r>
              <a:rPr lang="en-US" altLang="zh-CN" sz="900" kern="1200" dirty="0">
                <a:solidFill>
                  <a:schemeClr val="tx1"/>
                </a:solidFill>
                <a:effectLst/>
                <a:latin typeface="+mn-lt"/>
                <a:ea typeface="+mn-ea"/>
                <a:cs typeface="+mn-cs"/>
              </a:rPr>
              <a:t>Li</a:t>
            </a:r>
            <a:r>
              <a:rPr lang="en-US" altLang="zh-CN" sz="900" kern="1200" baseline="-25000" dirty="0">
                <a:solidFill>
                  <a:schemeClr val="tx1"/>
                </a:solidFill>
                <a:effectLst/>
                <a:latin typeface="+mn-lt"/>
                <a:ea typeface="+mn-ea"/>
                <a:cs typeface="+mn-cs"/>
              </a:rPr>
              <a:t>x</a:t>
            </a:r>
            <a:r>
              <a:rPr lang="en-US" altLang="zh-CN" sz="900" kern="1200" dirty="0">
                <a:solidFill>
                  <a:schemeClr val="tx1"/>
                </a:solidFill>
                <a:effectLst/>
                <a:latin typeface="+mn-lt"/>
                <a:ea typeface="+mn-ea"/>
                <a:cs typeface="+mn-cs"/>
              </a:rPr>
              <a:t>CoO</a:t>
            </a:r>
            <a:r>
              <a:rPr lang="en-US" altLang="zh-CN" sz="900" kern="1200" baseline="-250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a:t>
            </a:r>
            <a:r>
              <a:rPr lang="en-US" altLang="zh-CN" sz="900" kern="1200" dirty="0">
                <a:solidFill>
                  <a:schemeClr val="tx1"/>
                </a:solidFill>
                <a:effectLst/>
                <a:latin typeface="+mn-lt"/>
                <a:ea typeface="+mn-ea"/>
                <a:cs typeface="+mn-cs"/>
              </a:rPr>
              <a:t>0&lt;x</a:t>
            </a:r>
            <a:r>
              <a:rPr lang="zh-CN" altLang="zh-CN" sz="900" kern="1200" dirty="0">
                <a:solidFill>
                  <a:schemeClr val="tx1"/>
                </a:solidFill>
                <a:effectLst/>
                <a:latin typeface="+mn-lt"/>
                <a:ea typeface="+mn-ea"/>
                <a:cs typeface="+mn-cs"/>
              </a:rPr>
              <a:t>≤</a:t>
            </a:r>
            <a:r>
              <a:rPr lang="en-US" altLang="zh-CN" sz="900" kern="1200" dirty="0">
                <a:solidFill>
                  <a:schemeClr val="tx1"/>
                </a:solidFill>
                <a:effectLst/>
                <a:latin typeface="+mn-lt"/>
                <a:ea typeface="+mn-ea"/>
                <a:cs typeface="+mn-cs"/>
              </a:rPr>
              <a:t>l</a:t>
            </a:r>
            <a:r>
              <a:rPr lang="zh-CN" altLang="zh-CN" sz="900" kern="1200" dirty="0">
                <a:solidFill>
                  <a:schemeClr val="tx1"/>
                </a:solidFill>
                <a:effectLst/>
                <a:latin typeface="+mn-lt"/>
                <a:ea typeface="+mn-ea"/>
                <a:cs typeface="+mn-cs"/>
              </a:rPr>
              <a:t>）新体系。测量的相对于</a:t>
            </a:r>
            <a:r>
              <a:rPr lang="en-US" altLang="zh-CN" sz="900" kern="1200" dirty="0">
                <a:solidFill>
                  <a:schemeClr val="tx1"/>
                </a:solidFill>
                <a:effectLst/>
                <a:latin typeface="+mn-lt"/>
                <a:ea typeface="+mn-ea"/>
                <a:cs typeface="+mn-cs"/>
              </a:rPr>
              <a:t>Li</a:t>
            </a:r>
            <a:r>
              <a:rPr lang="zh-CN" altLang="zh-CN" sz="900" kern="1200" dirty="0">
                <a:solidFill>
                  <a:schemeClr val="tx1"/>
                </a:solidFill>
                <a:effectLst/>
                <a:latin typeface="+mn-lt"/>
                <a:ea typeface="+mn-ea"/>
                <a:cs typeface="+mn-cs"/>
              </a:rPr>
              <a:t>金属的开路电压约为</a:t>
            </a:r>
            <a:r>
              <a:rPr lang="en-US" altLang="zh-CN" sz="900" kern="1200" dirty="0">
                <a:solidFill>
                  <a:schemeClr val="tx1"/>
                </a:solidFill>
                <a:effectLst/>
                <a:latin typeface="+mn-lt"/>
                <a:ea typeface="+mn-ea"/>
                <a:cs typeface="+mn-cs"/>
              </a:rPr>
              <a:t>Li</a:t>
            </a:r>
            <a:r>
              <a:rPr lang="en-US" altLang="zh-CN" sz="900" kern="1200" baseline="-25000" dirty="0">
                <a:solidFill>
                  <a:schemeClr val="tx1"/>
                </a:solidFill>
                <a:effectLst/>
                <a:latin typeface="+mn-lt"/>
                <a:ea typeface="+mn-ea"/>
                <a:cs typeface="+mn-cs"/>
              </a:rPr>
              <a:t>x</a:t>
            </a:r>
            <a:r>
              <a:rPr lang="en-US" altLang="zh-CN" sz="900" kern="1200" dirty="0">
                <a:solidFill>
                  <a:schemeClr val="tx1"/>
                </a:solidFill>
                <a:effectLst/>
                <a:latin typeface="+mn-lt"/>
                <a:ea typeface="+mn-ea"/>
                <a:cs typeface="+mn-cs"/>
              </a:rPr>
              <a:t>TiS</a:t>
            </a:r>
            <a:r>
              <a:rPr lang="en-US" altLang="zh-CN" sz="900" kern="1200" baseline="-250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a:t>
            </a:r>
            <a:r>
              <a:rPr lang="en-US" altLang="zh-CN" sz="900" kern="1200" dirty="0">
                <a:solidFill>
                  <a:schemeClr val="tx1"/>
                </a:solidFill>
                <a:effectLst/>
                <a:latin typeface="+mn-lt"/>
                <a:ea typeface="+mn-ea"/>
                <a:cs typeface="+mn-cs"/>
              </a:rPr>
              <a:t>0</a:t>
            </a:r>
            <a:r>
              <a:rPr lang="zh-CN" altLang="zh-CN" sz="900" kern="1200" dirty="0">
                <a:solidFill>
                  <a:schemeClr val="tx1"/>
                </a:solidFill>
                <a:effectLst/>
                <a:latin typeface="+mn-lt"/>
                <a:ea typeface="+mn-ea"/>
                <a:cs typeface="+mn-cs"/>
              </a:rPr>
              <a:t>≤</a:t>
            </a:r>
            <a:r>
              <a:rPr lang="en-US" altLang="zh-CN" sz="900" kern="1200" dirty="0">
                <a:solidFill>
                  <a:schemeClr val="tx1"/>
                </a:solidFill>
                <a:effectLst/>
                <a:latin typeface="+mn-lt"/>
                <a:ea typeface="+mn-ea"/>
                <a:cs typeface="+mn-cs"/>
              </a:rPr>
              <a:t>x</a:t>
            </a:r>
            <a:r>
              <a:rPr lang="zh-CN" altLang="zh-CN" sz="900" kern="1200" dirty="0">
                <a:solidFill>
                  <a:schemeClr val="tx1"/>
                </a:solidFill>
                <a:effectLst/>
                <a:latin typeface="+mn-lt"/>
                <a:ea typeface="+mn-ea"/>
                <a:cs typeface="+mn-cs"/>
              </a:rPr>
              <a:t>≤</a:t>
            </a:r>
            <a:r>
              <a:rPr lang="en-US" altLang="zh-CN" sz="900" kern="1200" dirty="0">
                <a:solidFill>
                  <a:schemeClr val="tx1"/>
                </a:solidFill>
                <a:effectLst/>
                <a:latin typeface="+mn-lt"/>
                <a:ea typeface="+mn-ea"/>
                <a:cs typeface="+mn-cs"/>
              </a:rPr>
              <a:t>1</a:t>
            </a:r>
            <a:r>
              <a:rPr lang="zh-CN" altLang="zh-CN" sz="900" kern="1200" dirty="0">
                <a:solidFill>
                  <a:schemeClr val="tx1"/>
                </a:solidFill>
                <a:effectLst/>
                <a:latin typeface="+mn-lt"/>
                <a:ea typeface="+mn-ea"/>
                <a:cs typeface="+mn-cs"/>
              </a:rPr>
              <a:t>）的两倍，计算</a:t>
            </a:r>
            <a:r>
              <a:rPr lang="en-US" altLang="zh-CN" sz="900" kern="1200" dirty="0">
                <a:solidFill>
                  <a:schemeClr val="tx1"/>
                </a:solidFill>
                <a:effectLst/>
                <a:latin typeface="+mn-lt"/>
                <a:ea typeface="+mn-ea"/>
                <a:cs typeface="+mn-cs"/>
              </a:rPr>
              <a:t>Li</a:t>
            </a:r>
            <a:r>
              <a:rPr lang="en-US" altLang="zh-CN" sz="900" kern="1200" baseline="-25000" dirty="0">
                <a:solidFill>
                  <a:schemeClr val="tx1"/>
                </a:solidFill>
                <a:effectLst/>
                <a:latin typeface="+mn-lt"/>
                <a:ea typeface="+mn-ea"/>
                <a:cs typeface="+mn-cs"/>
              </a:rPr>
              <a:t>x</a:t>
            </a:r>
            <a:r>
              <a:rPr lang="en-US" altLang="zh-CN" sz="900" kern="1200" dirty="0">
                <a:solidFill>
                  <a:schemeClr val="tx1"/>
                </a:solidFill>
                <a:effectLst/>
                <a:latin typeface="+mn-lt"/>
                <a:ea typeface="+mn-ea"/>
                <a:cs typeface="+mn-cs"/>
              </a:rPr>
              <a:t>CoO</a:t>
            </a:r>
            <a:r>
              <a:rPr lang="en-US" altLang="zh-CN" sz="900" kern="1200" baseline="-25000" dirty="0">
                <a:solidFill>
                  <a:schemeClr val="tx1"/>
                </a:solidFill>
                <a:effectLst/>
                <a:latin typeface="+mn-lt"/>
                <a:ea typeface="+mn-ea"/>
                <a:cs typeface="+mn-cs"/>
              </a:rPr>
              <a:t>2</a:t>
            </a:r>
            <a:r>
              <a:rPr lang="en-US" altLang="zh-CN" sz="900" kern="1200" dirty="0">
                <a:solidFill>
                  <a:schemeClr val="tx1"/>
                </a:solidFill>
                <a:effectLst/>
                <a:latin typeface="+mn-lt"/>
                <a:ea typeface="+mn-ea"/>
                <a:cs typeface="+mn-cs"/>
              </a:rPr>
              <a:t>/Li</a:t>
            </a:r>
            <a:r>
              <a:rPr lang="zh-CN" altLang="zh-CN" sz="900" kern="1200" dirty="0">
                <a:solidFill>
                  <a:schemeClr val="tx1"/>
                </a:solidFill>
                <a:effectLst/>
                <a:latin typeface="+mn-lt"/>
                <a:ea typeface="+mn-ea"/>
                <a:cs typeface="+mn-cs"/>
              </a:rPr>
              <a:t>的理论能量密度为</a:t>
            </a:r>
            <a:r>
              <a:rPr lang="en-US" altLang="zh-CN" sz="900" kern="1200" dirty="0">
                <a:solidFill>
                  <a:schemeClr val="tx1"/>
                </a:solidFill>
                <a:effectLst/>
                <a:latin typeface="+mn-lt"/>
                <a:ea typeface="+mn-ea"/>
                <a:cs typeface="+mn-cs"/>
              </a:rPr>
              <a:t>1.1kWh/kg</a:t>
            </a:r>
            <a:r>
              <a:rPr lang="zh-CN" altLang="zh-CN" sz="900" kern="1200" dirty="0">
                <a:solidFill>
                  <a:schemeClr val="tx1"/>
                </a:solidFill>
                <a:effectLst/>
                <a:latin typeface="+mn-lt"/>
                <a:ea typeface="+mn-ea"/>
                <a:cs typeface="+mn-cs"/>
              </a:rPr>
              <a:t>。同时在大范围</a:t>
            </a:r>
            <a:r>
              <a:rPr lang="en-US" altLang="zh-CN" sz="900" kern="1200" dirty="0">
                <a:solidFill>
                  <a:schemeClr val="tx1"/>
                </a:solidFill>
                <a:effectLst/>
                <a:latin typeface="+mn-lt"/>
                <a:ea typeface="+mn-ea"/>
                <a:cs typeface="+mn-cs"/>
              </a:rPr>
              <a:t>x</a:t>
            </a:r>
            <a:r>
              <a:rPr lang="zh-CN" altLang="zh-CN" sz="900" kern="1200" dirty="0">
                <a:solidFill>
                  <a:schemeClr val="tx1"/>
                </a:solidFill>
                <a:effectLst/>
                <a:latin typeface="+mn-lt"/>
                <a:ea typeface="+mn-ea"/>
                <a:cs typeface="+mn-cs"/>
              </a:rPr>
              <a:t>时，电流密度高达</a:t>
            </a:r>
            <a:r>
              <a:rPr lang="en-US" altLang="zh-CN" sz="900" kern="1200" dirty="0">
                <a:solidFill>
                  <a:schemeClr val="tx1"/>
                </a:solidFill>
                <a:effectLst/>
                <a:latin typeface="+mn-lt"/>
                <a:ea typeface="+mn-ea"/>
                <a:cs typeface="+mn-cs"/>
              </a:rPr>
              <a:t>4mA/cm</a:t>
            </a:r>
            <a:r>
              <a:rPr lang="en-US" altLang="zh-CN" sz="900" kern="1200" baseline="300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时，过电位低，电池可逆性好。</a:t>
            </a:r>
          </a:p>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zh-CN" sz="900" kern="1200" dirty="0">
                <a:solidFill>
                  <a:schemeClr val="tx1"/>
                </a:solidFill>
                <a:effectLst/>
                <a:latin typeface="+mn-lt"/>
                <a:ea typeface="+mn-ea"/>
                <a:cs typeface="+mn-cs"/>
              </a:rPr>
              <a:t>使用</a:t>
            </a:r>
            <a:r>
              <a:rPr lang="en-US" altLang="zh-CN" sz="900" kern="1200" dirty="0">
                <a:solidFill>
                  <a:schemeClr val="tx1"/>
                </a:solidFill>
                <a:effectLst/>
                <a:latin typeface="+mn-lt"/>
                <a:ea typeface="+mn-ea"/>
                <a:cs typeface="+mn-cs"/>
              </a:rPr>
              <a:t>LiCoO</a:t>
            </a:r>
            <a:r>
              <a:rPr lang="en-US" altLang="zh-CN" sz="900" kern="1200" baseline="-250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组成电化学电池：阴极</a:t>
            </a:r>
            <a:r>
              <a:rPr lang="en-US" altLang="zh-CN" sz="900" kern="1200" dirty="0">
                <a:solidFill>
                  <a:schemeClr val="tx1"/>
                </a:solidFill>
                <a:effectLst/>
                <a:latin typeface="+mn-lt"/>
                <a:ea typeface="+mn-ea"/>
                <a:cs typeface="+mn-cs"/>
              </a:rPr>
              <a:t>LiCoO</a:t>
            </a:r>
            <a:r>
              <a:rPr lang="en-US" altLang="zh-CN" sz="900" kern="1200" baseline="-250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粉末压在直径</a:t>
            </a:r>
            <a:r>
              <a:rPr lang="en-US" altLang="zh-CN" sz="900" kern="1200" dirty="0">
                <a:solidFill>
                  <a:schemeClr val="tx1"/>
                </a:solidFill>
                <a:effectLst/>
                <a:latin typeface="+mn-lt"/>
                <a:ea typeface="+mn-ea"/>
                <a:cs typeface="+mn-cs"/>
              </a:rPr>
              <a:t>1</a:t>
            </a:r>
            <a:r>
              <a:rPr lang="zh-CN" altLang="zh-CN" sz="900" kern="1200" dirty="0">
                <a:solidFill>
                  <a:schemeClr val="tx1"/>
                </a:solidFill>
                <a:effectLst/>
                <a:latin typeface="+mn-lt"/>
                <a:ea typeface="+mn-ea"/>
                <a:cs typeface="+mn-cs"/>
              </a:rPr>
              <a:t>厘米的不锈钢网片上。电解液为</a:t>
            </a:r>
            <a:r>
              <a:rPr lang="en-US" altLang="zh-CN" sz="900" kern="1200" dirty="0">
                <a:solidFill>
                  <a:schemeClr val="tx1"/>
                </a:solidFill>
                <a:effectLst/>
                <a:latin typeface="+mn-lt"/>
                <a:ea typeface="+mn-ea"/>
                <a:cs typeface="+mn-cs"/>
              </a:rPr>
              <a:t>I M-LiBF</a:t>
            </a:r>
            <a:r>
              <a:rPr lang="en-US" altLang="zh-CN" sz="900" kern="1200" baseline="-250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碳酸丙烯酯溶液，起初，锂金属作为参考电极和对电极，当测量到的开电池电压超过</a:t>
            </a:r>
            <a:r>
              <a:rPr lang="en-US" altLang="zh-CN" sz="900" kern="1200" dirty="0">
                <a:solidFill>
                  <a:schemeClr val="tx1"/>
                </a:solidFill>
                <a:effectLst/>
                <a:latin typeface="+mn-lt"/>
                <a:ea typeface="+mn-ea"/>
                <a:cs typeface="+mn-cs"/>
              </a:rPr>
              <a:t>4V</a:t>
            </a:r>
            <a:r>
              <a:rPr lang="zh-CN" altLang="zh-CN" sz="900" kern="1200" dirty="0">
                <a:solidFill>
                  <a:schemeClr val="tx1"/>
                </a:solidFill>
                <a:effectLst/>
                <a:latin typeface="+mn-lt"/>
                <a:ea typeface="+mn-ea"/>
                <a:cs typeface="+mn-cs"/>
              </a:rPr>
              <a:t>时，有电解液击穿的危险</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1768797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zh-CN" sz="900" kern="1200" dirty="0">
                <a:solidFill>
                  <a:schemeClr val="tx1"/>
                </a:solidFill>
                <a:effectLst/>
                <a:latin typeface="+mn-lt"/>
                <a:ea typeface="+mn-ea"/>
                <a:cs typeface="+mn-cs"/>
              </a:rPr>
              <a:t>改进后，使用了</a:t>
            </a:r>
            <a:r>
              <a:rPr lang="en-US" altLang="zh-CN" sz="900" kern="1200" dirty="0">
                <a:solidFill>
                  <a:schemeClr val="tx1"/>
                </a:solidFill>
                <a:effectLst/>
                <a:latin typeface="+mn-lt"/>
                <a:ea typeface="+mn-ea"/>
                <a:cs typeface="+mn-cs"/>
              </a:rPr>
              <a:t>Li</a:t>
            </a:r>
            <a:r>
              <a:rPr lang="en-US" altLang="zh-CN" sz="900" kern="1200" baseline="-25000" dirty="0">
                <a:solidFill>
                  <a:schemeClr val="tx1"/>
                </a:solidFill>
                <a:effectLst/>
                <a:latin typeface="+mn-lt"/>
                <a:ea typeface="+mn-ea"/>
                <a:cs typeface="+mn-cs"/>
              </a:rPr>
              <a:t>0.1</a:t>
            </a:r>
            <a:r>
              <a:rPr lang="en-US" altLang="zh-CN" sz="900" kern="1200" dirty="0">
                <a:solidFill>
                  <a:schemeClr val="tx1"/>
                </a:solidFill>
                <a:effectLst/>
                <a:latin typeface="+mn-lt"/>
                <a:ea typeface="+mn-ea"/>
                <a:cs typeface="+mn-cs"/>
              </a:rPr>
              <a:t>V</a:t>
            </a:r>
            <a:r>
              <a:rPr lang="en-US" altLang="zh-CN" sz="900" kern="1200" baseline="-25000" dirty="0">
                <a:solidFill>
                  <a:schemeClr val="tx1"/>
                </a:solidFill>
                <a:effectLst/>
                <a:latin typeface="+mn-lt"/>
                <a:ea typeface="+mn-ea"/>
                <a:cs typeface="+mn-cs"/>
              </a:rPr>
              <a:t>2</a:t>
            </a:r>
            <a:r>
              <a:rPr lang="en-US" altLang="zh-CN" sz="900" kern="1200" dirty="0">
                <a:solidFill>
                  <a:schemeClr val="tx1"/>
                </a:solidFill>
                <a:effectLst/>
                <a:latin typeface="+mn-lt"/>
                <a:ea typeface="+mn-ea"/>
                <a:cs typeface="+mn-cs"/>
              </a:rPr>
              <a:t>0</a:t>
            </a:r>
            <a:r>
              <a:rPr lang="en-US" altLang="zh-CN" sz="900" kern="1200" baseline="-25000" dirty="0">
                <a:solidFill>
                  <a:schemeClr val="tx1"/>
                </a:solidFill>
                <a:effectLst/>
                <a:latin typeface="+mn-lt"/>
                <a:ea typeface="+mn-ea"/>
                <a:cs typeface="+mn-cs"/>
              </a:rPr>
              <a:t>5</a:t>
            </a:r>
            <a:r>
              <a:rPr lang="zh-CN" altLang="zh-CN" sz="900" kern="1200" dirty="0">
                <a:solidFill>
                  <a:schemeClr val="tx1"/>
                </a:solidFill>
                <a:effectLst/>
                <a:latin typeface="+mn-lt"/>
                <a:ea typeface="+mn-ea"/>
                <a:cs typeface="+mn-cs"/>
              </a:rPr>
              <a:t>作为对电极和参比电极，使测量的电压保持在</a:t>
            </a:r>
            <a:r>
              <a:rPr lang="en-US" altLang="zh-CN" sz="900" kern="1200" dirty="0">
                <a:solidFill>
                  <a:schemeClr val="tx1"/>
                </a:solidFill>
                <a:effectLst/>
                <a:latin typeface="+mn-lt"/>
                <a:ea typeface="+mn-ea"/>
                <a:cs typeface="+mn-cs"/>
              </a:rPr>
              <a:t>1.5V</a:t>
            </a:r>
            <a:r>
              <a:rPr lang="zh-CN" altLang="zh-CN" sz="900" kern="1200" dirty="0">
                <a:solidFill>
                  <a:schemeClr val="tx1"/>
                </a:solidFill>
                <a:effectLst/>
                <a:latin typeface="+mn-lt"/>
                <a:ea typeface="+mn-ea"/>
                <a:cs typeface="+mn-cs"/>
              </a:rPr>
              <a:t>以下。在极低电流密度测定的成分表明，锂几乎可以完全脱出。实验测得的图</a:t>
            </a:r>
            <a:r>
              <a:rPr lang="en-US" altLang="zh-CN" sz="900" kern="12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所示的开路电压</a:t>
            </a:r>
            <a:r>
              <a:rPr lang="en-US" altLang="zh-CN" sz="900" kern="1200" dirty="0">
                <a:solidFill>
                  <a:schemeClr val="tx1"/>
                </a:solidFill>
                <a:effectLst/>
                <a:latin typeface="+mn-lt"/>
                <a:ea typeface="+mn-ea"/>
                <a:cs typeface="+mn-cs"/>
              </a:rPr>
              <a:t>-X</a:t>
            </a:r>
            <a:r>
              <a:rPr lang="zh-CN" altLang="zh-CN" sz="900" kern="1200" dirty="0">
                <a:solidFill>
                  <a:schemeClr val="tx1"/>
                </a:solidFill>
                <a:effectLst/>
                <a:latin typeface="+mn-lt"/>
                <a:ea typeface="+mn-ea"/>
                <a:cs typeface="+mn-cs"/>
              </a:rPr>
              <a:t>曲线是可重复的，没有电解液分解的迹象。</a:t>
            </a:r>
            <a:r>
              <a:rPr lang="en-US" altLang="zh-CN" sz="900" kern="1200" dirty="0">
                <a:solidFill>
                  <a:schemeClr val="tx1"/>
                </a:solidFill>
                <a:effectLst/>
                <a:latin typeface="+mn-lt"/>
                <a:ea typeface="+mn-ea"/>
                <a:cs typeface="+mn-cs"/>
              </a:rPr>
              <a:t>E vs x</a:t>
            </a:r>
            <a:r>
              <a:rPr lang="zh-CN" altLang="zh-CN" sz="900" kern="1200" dirty="0">
                <a:solidFill>
                  <a:schemeClr val="tx1"/>
                </a:solidFill>
                <a:effectLst/>
                <a:latin typeface="+mn-lt"/>
                <a:ea typeface="+mn-ea"/>
                <a:cs typeface="+mn-cs"/>
              </a:rPr>
              <a:t>曲线对应于反应</a:t>
            </a:r>
            <a:r>
              <a:rPr lang="en-US" altLang="zh-CN" sz="900" kern="1200" dirty="0">
                <a:solidFill>
                  <a:schemeClr val="tx1"/>
                </a:solidFill>
                <a:effectLst/>
                <a:latin typeface="+mn-lt"/>
                <a:ea typeface="+mn-ea"/>
                <a:cs typeface="+mn-cs"/>
              </a:rPr>
              <a:t>0.923Li+Li0.067Co1.0102=Li0.99Co1.01O2</a:t>
            </a:r>
            <a:r>
              <a:rPr lang="zh-CN" altLang="zh-CN" sz="900" kern="1200" dirty="0">
                <a:solidFill>
                  <a:schemeClr val="tx1"/>
                </a:solidFill>
                <a:effectLst/>
                <a:latin typeface="+mn-lt"/>
                <a:ea typeface="+mn-ea"/>
                <a:cs typeface="+mn-cs"/>
              </a:rPr>
              <a:t>的理论能量密度</a:t>
            </a:r>
            <a:r>
              <a:rPr lang="en-US" altLang="zh-CN" sz="900" kern="1200" dirty="0">
                <a:solidFill>
                  <a:schemeClr val="tx1"/>
                </a:solidFill>
                <a:effectLst/>
                <a:latin typeface="+mn-lt"/>
                <a:ea typeface="+mn-ea"/>
                <a:cs typeface="+mn-cs"/>
              </a:rPr>
              <a:t>1.11 kWh/kg</a:t>
            </a:r>
            <a:endParaRPr lang="zh-CN" altLang="zh-CN" sz="9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19201951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900" u="sng" kern="1200" dirty="0">
                <a:solidFill>
                  <a:schemeClr val="tx1"/>
                </a:solidFill>
                <a:effectLst/>
                <a:latin typeface="+mn-lt"/>
                <a:ea typeface="+mn-ea"/>
                <a:cs typeface="+mn-cs"/>
              </a:rPr>
              <a:t>这篇文章最后给了几个结论</a:t>
            </a:r>
            <a:endParaRPr lang="zh-CN" altLang="zh-CN" sz="900" kern="1200" dirty="0">
              <a:solidFill>
                <a:schemeClr val="tx1"/>
              </a:solidFill>
              <a:effectLst/>
              <a:latin typeface="+mn-lt"/>
              <a:ea typeface="+mn-ea"/>
              <a:cs typeface="+mn-cs"/>
            </a:endParaRPr>
          </a:p>
          <a:p>
            <a:r>
              <a:rPr lang="zh-CN" altLang="zh-CN" sz="900" kern="1200" dirty="0">
                <a:solidFill>
                  <a:schemeClr val="tx1"/>
                </a:solidFill>
                <a:effectLst/>
                <a:latin typeface="+mn-lt"/>
                <a:ea typeface="+mn-ea"/>
                <a:cs typeface="+mn-cs"/>
              </a:rPr>
              <a:t>对于</a:t>
            </a:r>
            <a:r>
              <a:rPr lang="en-US" altLang="zh-CN" sz="900" kern="1200" dirty="0">
                <a:solidFill>
                  <a:schemeClr val="tx1"/>
                </a:solidFill>
                <a:effectLst/>
                <a:latin typeface="+mn-lt"/>
                <a:ea typeface="+mn-ea"/>
                <a:cs typeface="+mn-cs"/>
              </a:rPr>
              <a:t>Li</a:t>
            </a:r>
            <a:r>
              <a:rPr lang="en-US" altLang="zh-CN" sz="900" kern="1200" baseline="-25000" dirty="0">
                <a:solidFill>
                  <a:schemeClr val="tx1"/>
                </a:solidFill>
                <a:effectLst/>
                <a:latin typeface="+mn-lt"/>
                <a:ea typeface="+mn-ea"/>
                <a:cs typeface="+mn-cs"/>
              </a:rPr>
              <a:t>x</a:t>
            </a:r>
            <a:r>
              <a:rPr lang="en-US" altLang="zh-CN" sz="900" kern="1200" dirty="0">
                <a:solidFill>
                  <a:schemeClr val="tx1"/>
                </a:solidFill>
                <a:effectLst/>
                <a:latin typeface="+mn-lt"/>
                <a:ea typeface="+mn-ea"/>
                <a:cs typeface="+mn-cs"/>
              </a:rPr>
              <a:t>CoO</a:t>
            </a:r>
            <a:r>
              <a:rPr lang="en-US" altLang="zh-CN" sz="900" kern="1200" baseline="-25000" dirty="0">
                <a:solidFill>
                  <a:schemeClr val="tx1"/>
                </a:solidFill>
                <a:effectLst/>
                <a:latin typeface="+mn-lt"/>
                <a:ea typeface="+mn-ea"/>
                <a:cs typeface="+mn-cs"/>
              </a:rPr>
              <a:t>2</a:t>
            </a:r>
            <a:r>
              <a:rPr lang="en-US" altLang="zh-CN" sz="900" kern="1200" dirty="0">
                <a:solidFill>
                  <a:schemeClr val="tx1"/>
                </a:solidFill>
                <a:effectLst/>
                <a:latin typeface="+mn-lt"/>
                <a:ea typeface="+mn-ea"/>
                <a:cs typeface="+mn-cs"/>
              </a:rPr>
              <a:t>/Li</a:t>
            </a:r>
            <a:r>
              <a:rPr lang="zh-CN" altLang="zh-CN" sz="900" kern="1200" dirty="0">
                <a:solidFill>
                  <a:schemeClr val="tx1"/>
                </a:solidFill>
                <a:effectLst/>
                <a:latin typeface="+mn-lt"/>
                <a:ea typeface="+mn-ea"/>
                <a:cs typeface="+mn-cs"/>
              </a:rPr>
              <a:t>电池，在大的</a:t>
            </a:r>
            <a:r>
              <a:rPr lang="en-US" altLang="zh-CN" sz="900" kern="1200" dirty="0">
                <a:solidFill>
                  <a:schemeClr val="tx1"/>
                </a:solidFill>
                <a:effectLst/>
                <a:latin typeface="+mn-lt"/>
                <a:ea typeface="+mn-ea"/>
                <a:cs typeface="+mn-cs"/>
              </a:rPr>
              <a:t>x</a:t>
            </a:r>
            <a:r>
              <a:rPr lang="zh-CN" altLang="zh-CN" sz="900" kern="1200" dirty="0">
                <a:solidFill>
                  <a:schemeClr val="tx1"/>
                </a:solidFill>
                <a:effectLst/>
                <a:latin typeface="+mn-lt"/>
                <a:ea typeface="+mn-ea"/>
                <a:cs typeface="+mn-cs"/>
              </a:rPr>
              <a:t>范围内保持在</a:t>
            </a:r>
            <a:r>
              <a:rPr lang="en-US" altLang="zh-CN" sz="900" kern="1200" dirty="0">
                <a:solidFill>
                  <a:schemeClr val="tx1"/>
                </a:solidFill>
                <a:effectLst/>
                <a:latin typeface="+mn-lt"/>
                <a:ea typeface="+mn-ea"/>
                <a:cs typeface="+mn-cs"/>
              </a:rPr>
              <a:t>4V</a:t>
            </a:r>
            <a:r>
              <a:rPr lang="zh-CN" altLang="zh-CN" sz="900" kern="1200" dirty="0">
                <a:solidFill>
                  <a:schemeClr val="tx1"/>
                </a:solidFill>
                <a:effectLst/>
                <a:latin typeface="+mn-lt"/>
                <a:ea typeface="+mn-ea"/>
                <a:cs typeface="+mn-cs"/>
              </a:rPr>
              <a:t>以上，于是高电压下允许考虑可交替的负极，使得两个电池配置成为可能的选择。</a:t>
            </a:r>
          </a:p>
          <a:p>
            <a:r>
              <a:rPr lang="en-US" altLang="zh-CN" sz="900" kern="1200" dirty="0">
                <a:solidFill>
                  <a:schemeClr val="tx1"/>
                </a:solidFill>
                <a:effectLst/>
                <a:latin typeface="+mn-lt"/>
                <a:ea typeface="+mn-ea"/>
                <a:cs typeface="+mn-cs"/>
              </a:rPr>
              <a:t>a</a:t>
            </a:r>
            <a:r>
              <a:rPr lang="zh-CN" altLang="zh-CN" sz="900" kern="1200" dirty="0">
                <a:solidFill>
                  <a:schemeClr val="tx1"/>
                </a:solidFill>
                <a:effectLst/>
                <a:latin typeface="+mn-lt"/>
                <a:ea typeface="+mn-ea"/>
                <a:cs typeface="+mn-cs"/>
              </a:rPr>
              <a:t>）对负极和液体电解质可以使用低功函数的可嵌入化合物。这种电池的开路电压较低，电压随充电状态的变化较大。</a:t>
            </a:r>
          </a:p>
          <a:p>
            <a:r>
              <a:rPr lang="en-US" altLang="zh-CN" sz="900" kern="1200" dirty="0">
                <a:solidFill>
                  <a:schemeClr val="tx1"/>
                </a:solidFill>
                <a:effectLst/>
                <a:latin typeface="+mn-lt"/>
                <a:ea typeface="+mn-ea"/>
                <a:cs typeface="+mn-cs"/>
              </a:rPr>
              <a:t>b</a:t>
            </a:r>
            <a:r>
              <a:rPr lang="zh-CN" altLang="zh-CN" sz="900" kern="1200" dirty="0">
                <a:solidFill>
                  <a:schemeClr val="tx1"/>
                </a:solidFill>
                <a:effectLst/>
                <a:latin typeface="+mn-lt"/>
                <a:ea typeface="+mn-ea"/>
                <a:cs typeface="+mn-cs"/>
              </a:rPr>
              <a:t>）使用大击穿电压的固体电解质，以使更多的势能密度得到利用。</a:t>
            </a:r>
          </a:p>
          <a:p>
            <a:r>
              <a:rPr lang="zh-CN" altLang="zh-CN" sz="900" kern="1200" dirty="0">
                <a:solidFill>
                  <a:schemeClr val="tx1"/>
                </a:solidFill>
                <a:effectLst/>
                <a:latin typeface="+mn-lt"/>
                <a:ea typeface="+mn-ea"/>
                <a:cs typeface="+mn-cs"/>
              </a:rPr>
              <a:t>最后我想说一点的是</a:t>
            </a:r>
            <a:r>
              <a:rPr lang="en-US" altLang="zh-CN" sz="900" kern="1200" dirty="0">
                <a:solidFill>
                  <a:schemeClr val="tx1"/>
                </a:solidFill>
                <a:effectLst/>
                <a:latin typeface="+mn-lt"/>
                <a:ea typeface="+mn-ea"/>
                <a:cs typeface="+mn-cs"/>
              </a:rPr>
              <a:t>Goodenough</a:t>
            </a:r>
            <a:r>
              <a:rPr lang="zh-CN" altLang="zh-CN" sz="900" kern="1200" dirty="0">
                <a:solidFill>
                  <a:schemeClr val="tx1"/>
                </a:solidFill>
                <a:effectLst/>
                <a:latin typeface="+mn-lt"/>
                <a:ea typeface="+mn-ea"/>
                <a:cs typeface="+mn-cs"/>
              </a:rPr>
              <a:t>对于新正极材料的发现使得锂离子电池可以做的非常便携，尽管锂离子电池在</a:t>
            </a:r>
            <a:r>
              <a:rPr lang="en-US" altLang="zh-CN" sz="900" kern="1200" dirty="0">
                <a:solidFill>
                  <a:schemeClr val="tx1"/>
                </a:solidFill>
                <a:effectLst/>
                <a:latin typeface="+mn-lt"/>
                <a:ea typeface="+mn-ea"/>
                <a:cs typeface="+mn-cs"/>
              </a:rPr>
              <a:t>90</a:t>
            </a:r>
            <a:r>
              <a:rPr lang="zh-CN" altLang="zh-CN" sz="900" kern="1200" dirty="0">
                <a:solidFill>
                  <a:schemeClr val="tx1"/>
                </a:solidFill>
                <a:effectLst/>
                <a:latin typeface="+mn-lt"/>
                <a:ea typeface="+mn-ea"/>
                <a:cs typeface="+mn-cs"/>
              </a:rPr>
              <a:t>年代年被索尼负责实现了商业化，但</a:t>
            </a:r>
            <a:r>
              <a:rPr lang="en-US" altLang="zh-CN" sz="900" kern="1200" dirty="0">
                <a:solidFill>
                  <a:schemeClr val="tx1"/>
                </a:solidFill>
                <a:effectLst/>
                <a:latin typeface="+mn-lt"/>
                <a:ea typeface="+mn-ea"/>
                <a:cs typeface="+mn-cs"/>
              </a:rPr>
              <a:t>Goodenough</a:t>
            </a:r>
            <a:r>
              <a:rPr lang="zh-CN" altLang="zh-CN" sz="900" kern="1200" dirty="0">
                <a:solidFill>
                  <a:schemeClr val="tx1"/>
                </a:solidFill>
                <a:effectLst/>
                <a:latin typeface="+mn-lt"/>
                <a:ea typeface="+mn-ea"/>
                <a:cs typeface="+mn-cs"/>
              </a:rPr>
              <a:t>被广泛认可为是锂离子电池的创始人，最终他获得了今年年的诺贝尔化学奖</a:t>
            </a:r>
          </a:p>
          <a:p>
            <a:r>
              <a:rPr lang="en-US" altLang="zh-CN" sz="900" kern="1200" dirty="0">
                <a:solidFill>
                  <a:schemeClr val="tx1"/>
                </a:solidFill>
                <a:effectLst/>
                <a:latin typeface="+mn-lt"/>
                <a:ea typeface="+mn-ea"/>
                <a:cs typeface="+mn-cs"/>
              </a:rPr>
              <a:t> </a:t>
            </a:r>
            <a:endParaRPr lang="zh-CN" altLang="zh-CN" sz="9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31943907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电子在简并轨道中的不对称占据会导致分子的几何构型发生畸变， 从而降低分子的对称性和轨道的简并度， 使体系的能量进一步下降， 这种效应称为姜－泰勒效应。</a:t>
            </a:r>
            <a:endParaRPr lang="en-US" altLang="zh-CN"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1137569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25469362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2347067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dirty="0"/>
                  <a:t>1.</a:t>
                </a:r>
                <a:r>
                  <a:rPr lang="zh-CN" altLang="en-US" dirty="0"/>
                  <a:t>将除了锂离子以外的离子从</a:t>
                </a:r>
                <a14:m>
                  <m:oMath xmlns:m="http://schemas.openxmlformats.org/officeDocument/2006/math">
                    <m:sSub>
                      <m:sSubPr>
                        <m:ctrlPr>
                          <a:rPr lang="en-US" altLang="zh-CN" sz="900" i="1" smtClean="0">
                            <a:latin typeface="Cambria Math" panose="02040503050406030204" pitchFamily="18" charset="0"/>
                          </a:rPr>
                        </m:ctrlPr>
                      </m:sSubPr>
                      <m:e>
                        <m:r>
                          <a:rPr lang="en-US" altLang="zh-CN" sz="900" b="0" i="1" smtClean="0">
                            <a:latin typeface="Cambria Math" panose="02040503050406030204" pitchFamily="18" charset="0"/>
                          </a:rPr>
                          <m:t>[</m:t>
                        </m:r>
                        <m:r>
                          <a:rPr lang="en-US" altLang="zh-CN" sz="900" b="0" i="1" smtClean="0">
                            <a:latin typeface="Cambria Math" panose="02040503050406030204" pitchFamily="18" charset="0"/>
                          </a:rPr>
                          <m:t>𝐵</m:t>
                        </m:r>
                      </m:e>
                      <m:sub>
                        <m:r>
                          <a:rPr lang="en-US" altLang="zh-CN" sz="900" b="0" i="1" smtClean="0">
                            <a:latin typeface="Cambria Math" panose="02040503050406030204" pitchFamily="18" charset="0"/>
                          </a:rPr>
                          <m:t>2</m:t>
                        </m:r>
                      </m:sub>
                    </m:sSub>
                    <m:r>
                      <a:rPr lang="en-US" altLang="zh-CN" sz="900" b="0" i="1" smtClean="0">
                        <a:latin typeface="Cambria Math" panose="02040503050406030204" pitchFamily="18" charset="0"/>
                      </a:rPr>
                      <m:t>]</m:t>
                    </m:r>
                    <m:sSub>
                      <m:sSubPr>
                        <m:ctrlPr>
                          <a:rPr lang="en-US" altLang="zh-CN" sz="900" b="0" i="1" smtClean="0">
                            <a:latin typeface="Cambria Math" panose="02040503050406030204" pitchFamily="18" charset="0"/>
                          </a:rPr>
                        </m:ctrlPr>
                      </m:sSubPr>
                      <m:e>
                        <m:r>
                          <a:rPr lang="en-US" altLang="zh-CN" sz="900" b="0" i="1" smtClean="0">
                            <a:latin typeface="Cambria Math" panose="02040503050406030204" pitchFamily="18" charset="0"/>
                          </a:rPr>
                          <m:t>𝑋</m:t>
                        </m:r>
                      </m:e>
                      <m:sub>
                        <m:r>
                          <a:rPr lang="en-US" altLang="zh-CN" sz="900" b="0" i="1" smtClean="0">
                            <a:latin typeface="Cambria Math" panose="02040503050406030204" pitchFamily="18" charset="0"/>
                          </a:rPr>
                          <m:t>4</m:t>
                        </m:r>
                      </m:sub>
                    </m:sSub>
                  </m:oMath>
                </a14:m>
                <a:r>
                  <a:rPr lang="zh-CN" altLang="en-US" dirty="0"/>
                  <a:t>结构中移除之后可以提高锂离子的电子迁移率。</a:t>
                </a:r>
                <a:endParaRPr lang="en-US" altLang="zh-CN" dirty="0"/>
              </a:p>
              <a:p>
                <a:endParaRPr lang="en-US" altLang="zh-CN" dirty="0"/>
              </a:p>
              <a:p>
                <a:r>
                  <a:rPr lang="en-US" altLang="zh-CN" dirty="0"/>
                  <a:t>2</a:t>
                </a:r>
                <a:r>
                  <a:rPr lang="zh-CN" altLang="en-US" dirty="0"/>
                  <a:t>在锂离子的跳跃点通过一个位点面时的</a:t>
                </a:r>
                <a:r>
                  <a:rPr lang="en-US" altLang="zh-CN" dirty="0" err="1"/>
                  <a:t>han</a:t>
                </a:r>
                <a:r>
                  <a:rPr lang="zh-CN" altLang="en-US" dirty="0"/>
                  <a:t>足够低的条件下，锂离子在</a:t>
                </a:r>
                <a:r>
                  <a:rPr lang="en-US" altLang="zh-CN" dirty="0"/>
                  <a:t>8a</a:t>
                </a:r>
                <a:r>
                  <a:rPr lang="zh-CN" altLang="en-US" dirty="0"/>
                  <a:t>和</a:t>
                </a:r>
                <a:r>
                  <a:rPr lang="en-US" altLang="zh-CN" dirty="0"/>
                  <a:t>16c</a:t>
                </a:r>
                <a:r>
                  <a:rPr lang="zh-CN" altLang="en-US" dirty="0"/>
                  <a:t>这两个位置的共存是通过提供位点面而不是位点边缘的连续扩散路径。 在这个基础上，可以将这些这些路径用来做离子对的相关运动，而且这些路径在</a:t>
                </a:r>
                <a:r>
                  <a:rPr lang="en-US" altLang="zh-CN" dirty="0"/>
                  <a:t>x</a:t>
                </a:r>
                <a:r>
                  <a:rPr lang="zh-CN" altLang="en-US" dirty="0"/>
                  <a:t>趋近于</a:t>
                </a:r>
                <a:r>
                  <a:rPr lang="en-US" altLang="zh-CN" dirty="0"/>
                  <a:t>1</a:t>
                </a:r>
                <a:r>
                  <a:rPr lang="zh-CN" altLang="en-US" dirty="0"/>
                  <a:t>的时候也不会完全浸透，依然是有效的。</a:t>
                </a:r>
                <a:endParaRPr lang="en-US" altLang="zh-CN" dirty="0"/>
              </a:p>
              <a:p>
                <a:r>
                  <a:rPr lang="en-US" altLang="zh-CN" dirty="0"/>
                  <a:t>3.</a:t>
                </a:r>
                <a:r>
                  <a:rPr lang="zh-CN" altLang="en-US" dirty="0"/>
                  <a:t>在立方晶相中，姜</a:t>
                </a:r>
                <a:r>
                  <a:rPr lang="en-US" altLang="zh-CN" dirty="0"/>
                  <a:t>-</a:t>
                </a:r>
                <a:r>
                  <a:rPr lang="zh-CN" altLang="en-US" dirty="0"/>
                  <a:t>泰勒效应在锂离子迁移遇到瓶颈的时候会提供有效的极化位点，从而提高离子迁移率。</a:t>
                </a:r>
                <a:endParaRPr lang="en-US" altLang="zh-CN" dirty="0"/>
              </a:p>
            </p:txBody>
          </p:sp>
        </mc:Choice>
        <mc:Fallback xmlns="">
          <p:sp>
            <p:nvSpPr>
              <p:cNvPr id="3" name="备注占位符 2"/>
              <p:cNvSpPr>
                <a:spLocks noGrp="1"/>
              </p:cNvSpPr>
              <p:nvPr>
                <p:ph type="body" idx="1"/>
              </p:nvPr>
            </p:nvSpPr>
            <p:spPr/>
            <p:txBody>
              <a:bodyPr/>
              <a:lstStyle/>
              <a:p>
                <a:r>
                  <a:rPr lang="en-US" altLang="zh-CN" dirty="0"/>
                  <a:t>1.</a:t>
                </a:r>
                <a:r>
                  <a:rPr lang="zh-CN" altLang="en-US" dirty="0"/>
                  <a:t>将除了锂离子以外的离子从</a:t>
                </a:r>
                <a:r>
                  <a:rPr lang="en-US" altLang="zh-CN" sz="900" i="0">
                    <a:latin typeface="Cambria Math" panose="02040503050406030204" pitchFamily="18" charset="0"/>
                  </a:rPr>
                  <a:t>〖</a:t>
                </a:r>
                <a:r>
                  <a:rPr lang="en-US" altLang="zh-CN" sz="900" b="0" i="0">
                    <a:latin typeface="Cambria Math" panose="02040503050406030204" pitchFamily="18" charset="0"/>
                  </a:rPr>
                  <a:t>[𝐵〗_2]𝑋_4</a:t>
                </a:r>
                <a:r>
                  <a:rPr lang="zh-CN" altLang="en-US" dirty="0"/>
                  <a:t>结构中移除之后可以提高锂离子的电子迁移率。</a:t>
                </a:r>
                <a:endParaRPr lang="en-US" altLang="zh-CN" dirty="0"/>
              </a:p>
              <a:p>
                <a:endParaRPr lang="en-US" altLang="zh-CN" dirty="0"/>
              </a:p>
              <a:p>
                <a:r>
                  <a:rPr lang="en-US" altLang="zh-CN" dirty="0"/>
                  <a:t>2</a:t>
                </a:r>
                <a:r>
                  <a:rPr lang="zh-CN" altLang="en-US" dirty="0"/>
                  <a:t>在锂离子的跳跃点通过一个位点面时的</a:t>
                </a:r>
                <a:r>
                  <a:rPr lang="en-US" altLang="zh-CN" dirty="0" err="1"/>
                  <a:t>han</a:t>
                </a:r>
                <a:r>
                  <a:rPr lang="zh-CN" altLang="en-US" dirty="0"/>
                  <a:t>足够低的条件下，锂离子在</a:t>
                </a:r>
                <a:r>
                  <a:rPr lang="en-US" altLang="zh-CN" dirty="0"/>
                  <a:t>8a</a:t>
                </a:r>
                <a:r>
                  <a:rPr lang="zh-CN" altLang="en-US" dirty="0"/>
                  <a:t>和</a:t>
                </a:r>
                <a:r>
                  <a:rPr lang="en-US" altLang="zh-CN" dirty="0"/>
                  <a:t>16c</a:t>
                </a:r>
                <a:r>
                  <a:rPr lang="zh-CN" altLang="en-US" dirty="0"/>
                  <a:t>这两个位置的共存是通过提供位点面而不是位点边缘的连续扩散路径。 在这个基础上，可以将这些这些路径用来做离子对的相关运动，而且这些路径在</a:t>
                </a:r>
                <a:r>
                  <a:rPr lang="en-US" altLang="zh-CN" dirty="0"/>
                  <a:t>x</a:t>
                </a:r>
                <a:r>
                  <a:rPr lang="zh-CN" altLang="en-US" dirty="0"/>
                  <a:t>趋近于</a:t>
                </a:r>
                <a:r>
                  <a:rPr lang="en-US" altLang="zh-CN" dirty="0"/>
                  <a:t>1</a:t>
                </a:r>
                <a:r>
                  <a:rPr lang="zh-CN" altLang="en-US" dirty="0"/>
                  <a:t>的时候也不会完全浸透，依然是有效的。</a:t>
                </a:r>
                <a:endParaRPr lang="en-US" altLang="zh-CN" dirty="0"/>
              </a:p>
              <a:p>
                <a:r>
                  <a:rPr lang="en-US" altLang="zh-CN" dirty="0"/>
                  <a:t>3.</a:t>
                </a:r>
                <a:r>
                  <a:rPr lang="zh-CN" altLang="en-US" dirty="0"/>
                  <a:t>在立方晶相中，姜</a:t>
                </a:r>
                <a:r>
                  <a:rPr lang="en-US" altLang="zh-CN" dirty="0"/>
                  <a:t>-</a:t>
                </a:r>
                <a:r>
                  <a:rPr lang="zh-CN" altLang="en-US" dirty="0"/>
                  <a:t>泰勒效应在锂离子迁移遇到瓶颈的时候会提供有效的极化位点，从而提高离子迁移率。</a:t>
                </a:r>
                <a:endParaRPr lang="en-US" altLang="zh-CN" dirty="0"/>
              </a:p>
            </p:txBody>
          </p:sp>
        </mc:Fallback>
      </mc:AlternateContent>
      <p:sp>
        <p:nvSpPr>
          <p:cNvPr id="4" name="灯片编号占位符 3"/>
          <p:cNvSpPr>
            <a:spLocks noGrp="1"/>
          </p:cNvSpPr>
          <p:nvPr>
            <p:ph type="sldNum" sz="quarter" idx="10"/>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31943907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锂在锰酸锂中的扩散伴随着四方相和立方相界面的均匀、单向运动。由于这两相界面不含应变能，因此他与其它马氏体相变一样，应具有高迁移率。因此我们的速率限制步骤应该是</a:t>
            </a:r>
            <a:r>
              <a:rPr lang="en-US" altLang="zh-CN" dirty="0"/>
              <a:t>Li+-</a:t>
            </a:r>
            <a:r>
              <a:rPr lang="en-US" altLang="zh-CN" dirty="0" err="1"/>
              <a:t>lon</a:t>
            </a:r>
            <a:r>
              <a:rPr lang="zh-CN" altLang="en-US" dirty="0"/>
              <a:t>在四方相和立方相。</a:t>
            </a:r>
            <a:endParaRPr lang="en-US" altLang="zh-CN" dirty="0"/>
          </a:p>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电子的迁移在混合价态的框架可以通过主框架上的固定电荷来阻止锂离子的捕获。这个事实可以说明在固溶体电极上相比于固体电极，锂离子的迁移率会更</a:t>
            </a:r>
            <a:r>
              <a:rPr lang="zh-CN" altLang="en-US"/>
              <a:t>高。也就是说这是在</a:t>
            </a:r>
            <a:r>
              <a:rPr lang="zh-CN" altLang="en-US" dirty="0"/>
              <a:t>晶体的等效位置上提供锂离子空位。</a:t>
            </a:r>
          </a:p>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10473927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zh-CN" sz="900" b="1" kern="1200" dirty="0">
                <a:solidFill>
                  <a:schemeClr val="tx1"/>
                </a:solidFill>
                <a:effectLst/>
                <a:latin typeface="+mn-lt"/>
                <a:ea typeface="+mn-ea"/>
                <a:cs typeface="+mn-cs"/>
              </a:rPr>
              <a:t>磷橄榄石作为可充电锂电池的正极材料</a:t>
            </a:r>
            <a:endParaRPr lang="zh-CN" altLang="zh-CN" sz="9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900" kern="1200" dirty="0">
                <a:solidFill>
                  <a:schemeClr val="tx1"/>
                </a:solidFill>
                <a:effectLst/>
                <a:latin typeface="+mn-lt"/>
                <a:ea typeface="+mn-ea"/>
                <a:cs typeface="+mn-cs"/>
              </a:rPr>
              <a:t>自从在</a:t>
            </a:r>
            <a:r>
              <a:rPr lang="en-US" altLang="zh-CN" sz="900" kern="1200" dirty="0">
                <a:solidFill>
                  <a:schemeClr val="tx1"/>
                </a:solidFill>
                <a:effectLst/>
                <a:latin typeface="+mn-lt"/>
                <a:ea typeface="+mn-ea"/>
                <a:cs typeface="+mn-cs"/>
              </a:rPr>
              <a:t>TiS</a:t>
            </a:r>
            <a:r>
              <a:rPr lang="en-US" altLang="zh-CN" sz="900" kern="1200" baseline="-250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层之间演示了可逆的锂插层后，人们花了相当大的精力来鉴别其他可作为二次锂电池正极的锂离子化合物。理想的材料在</a:t>
            </a:r>
            <a:r>
              <a:rPr lang="en-US" altLang="zh-CN" sz="900" kern="1200" dirty="0">
                <a:solidFill>
                  <a:schemeClr val="tx1"/>
                </a:solidFill>
                <a:effectLst/>
                <a:latin typeface="+mn-lt"/>
                <a:ea typeface="+mn-ea"/>
                <a:cs typeface="+mn-cs"/>
              </a:rPr>
              <a:t>2.5~4.0 V</a:t>
            </a:r>
            <a:r>
              <a:rPr lang="zh-CN" altLang="zh-CN" sz="900" kern="1200" dirty="0">
                <a:solidFill>
                  <a:schemeClr val="tx1"/>
                </a:solidFill>
                <a:effectLst/>
                <a:latin typeface="+mn-lt"/>
                <a:ea typeface="+mn-ea"/>
                <a:cs typeface="+mn-cs"/>
              </a:rPr>
              <a:t>电压范围内的大型锂固溶体上具有相对平坦的开路电压，而且价格便宜，易于制造，环保及操作安全。</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41667982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900" kern="1200" dirty="0">
                <a:solidFill>
                  <a:schemeClr val="tx1"/>
                </a:solidFill>
                <a:effectLst/>
                <a:latin typeface="+mn-lt"/>
                <a:ea typeface="+mn-ea"/>
                <a:cs typeface="+mn-cs"/>
              </a:rPr>
              <a:t>在已知的锂离子插入化合物中，层状岩盐体系</a:t>
            </a:r>
            <a:r>
              <a:rPr lang="en-US" altLang="zh-CN" sz="900" kern="1200" dirty="0">
                <a:solidFill>
                  <a:schemeClr val="tx1"/>
                </a:solidFill>
                <a:effectLst/>
                <a:latin typeface="+mn-lt"/>
                <a:ea typeface="+mn-ea"/>
                <a:cs typeface="+mn-cs"/>
              </a:rPr>
              <a:t>Li</a:t>
            </a:r>
            <a:r>
              <a:rPr lang="en-US" altLang="zh-CN" sz="900" kern="1200" baseline="-25000" dirty="0">
                <a:solidFill>
                  <a:schemeClr val="tx1"/>
                </a:solidFill>
                <a:effectLst/>
                <a:latin typeface="+mn-lt"/>
                <a:ea typeface="+mn-ea"/>
                <a:cs typeface="+mn-cs"/>
              </a:rPr>
              <a:t>1-x</a:t>
            </a:r>
            <a:r>
              <a:rPr lang="en-US" altLang="zh-CN" sz="900" kern="1200" dirty="0">
                <a:solidFill>
                  <a:schemeClr val="tx1"/>
                </a:solidFill>
                <a:effectLst/>
                <a:latin typeface="+mn-lt"/>
                <a:ea typeface="+mn-ea"/>
                <a:cs typeface="+mn-cs"/>
              </a:rPr>
              <a:t>CoO</a:t>
            </a:r>
            <a:r>
              <a:rPr lang="en-US" altLang="zh-CN" sz="900" kern="1200" baseline="-250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a:t>
            </a:r>
            <a:r>
              <a:rPr lang="en-US" altLang="zh-CN" sz="900" kern="1200" dirty="0">
                <a:solidFill>
                  <a:schemeClr val="tx1"/>
                </a:solidFill>
                <a:effectLst/>
                <a:latin typeface="+mn-lt"/>
                <a:ea typeface="+mn-ea"/>
                <a:cs typeface="+mn-cs"/>
              </a:rPr>
              <a:t>Li</a:t>
            </a:r>
            <a:r>
              <a:rPr lang="en-US" altLang="zh-CN" sz="900" kern="1200" baseline="-25000" dirty="0">
                <a:solidFill>
                  <a:schemeClr val="tx1"/>
                </a:solidFill>
                <a:effectLst/>
                <a:latin typeface="+mn-lt"/>
                <a:ea typeface="+mn-ea"/>
                <a:cs typeface="+mn-cs"/>
              </a:rPr>
              <a:t>1-x</a:t>
            </a:r>
            <a:r>
              <a:rPr lang="en-US" altLang="zh-CN" sz="900" kern="1200" dirty="0">
                <a:solidFill>
                  <a:schemeClr val="tx1"/>
                </a:solidFill>
                <a:effectLst/>
                <a:latin typeface="+mn-lt"/>
                <a:ea typeface="+mn-ea"/>
                <a:cs typeface="+mn-cs"/>
              </a:rPr>
              <a:t>NiO</a:t>
            </a:r>
            <a:r>
              <a:rPr lang="en-US" altLang="zh-CN" sz="900" kern="1200" baseline="-250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和锰尖晶石骨架体系</a:t>
            </a:r>
            <a:r>
              <a:rPr lang="en-US" altLang="zh-CN" sz="900" kern="1200" dirty="0">
                <a:solidFill>
                  <a:schemeClr val="tx1"/>
                </a:solidFill>
                <a:effectLst/>
                <a:latin typeface="+mn-lt"/>
                <a:ea typeface="+mn-ea"/>
                <a:cs typeface="+mn-cs"/>
              </a:rPr>
              <a:t>Li</a:t>
            </a:r>
            <a:r>
              <a:rPr lang="en-US" altLang="zh-CN" sz="900" kern="1200" baseline="-25000" dirty="0">
                <a:solidFill>
                  <a:schemeClr val="tx1"/>
                </a:solidFill>
                <a:effectLst/>
                <a:latin typeface="+mn-lt"/>
                <a:ea typeface="+mn-ea"/>
                <a:cs typeface="+mn-cs"/>
              </a:rPr>
              <a:t>1-x</a:t>
            </a:r>
            <a:r>
              <a:rPr lang="en-US" altLang="zh-CN" sz="900" kern="1200" dirty="0">
                <a:solidFill>
                  <a:schemeClr val="tx1"/>
                </a:solidFill>
                <a:effectLst/>
                <a:latin typeface="+mn-lt"/>
                <a:ea typeface="+mn-ea"/>
                <a:cs typeface="+mn-cs"/>
              </a:rPr>
              <a:t>[Mn</a:t>
            </a:r>
            <a:r>
              <a:rPr lang="en-US" altLang="zh-CN" sz="900" kern="1200" baseline="-25000" dirty="0">
                <a:solidFill>
                  <a:schemeClr val="tx1"/>
                </a:solidFill>
                <a:effectLst/>
                <a:latin typeface="+mn-lt"/>
                <a:ea typeface="+mn-ea"/>
                <a:cs typeface="+mn-cs"/>
              </a:rPr>
              <a:t>2</a:t>
            </a:r>
            <a:r>
              <a:rPr lang="en-US" altLang="zh-CN" sz="900" kern="1200" dirty="0">
                <a:solidFill>
                  <a:schemeClr val="tx1"/>
                </a:solidFill>
                <a:effectLst/>
                <a:latin typeface="+mn-lt"/>
                <a:ea typeface="+mn-ea"/>
                <a:cs typeface="+mn-cs"/>
              </a:rPr>
              <a:t>]O</a:t>
            </a:r>
            <a:r>
              <a:rPr lang="en-US" altLang="zh-CN" sz="900" kern="1200" baseline="-250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现在是商业上用作</a:t>
            </a:r>
            <a:r>
              <a:rPr lang="en-US" altLang="zh-CN" sz="900" kern="1200" dirty="0">
                <a:solidFill>
                  <a:schemeClr val="tx1"/>
                </a:solidFill>
                <a:effectLst/>
                <a:latin typeface="+mn-lt"/>
                <a:ea typeface="+mn-ea"/>
                <a:cs typeface="+mn-cs"/>
              </a:rPr>
              <a:t>4.0V</a:t>
            </a:r>
            <a:r>
              <a:rPr lang="zh-CN" altLang="zh-CN" sz="900" kern="1200" dirty="0">
                <a:solidFill>
                  <a:schemeClr val="tx1"/>
                </a:solidFill>
                <a:effectLst/>
                <a:latin typeface="+mn-lt"/>
                <a:ea typeface="+mn-ea"/>
                <a:cs typeface="+mn-cs"/>
              </a:rPr>
              <a:t>正极材料的可充电锂电池。</a:t>
            </a:r>
            <a:endParaRPr lang="en-US" altLang="zh-CN" sz="900" kern="1200" dirty="0">
              <a:solidFill>
                <a:schemeClr val="tx1"/>
              </a:solidFill>
              <a:effectLst/>
              <a:latin typeface="+mn-lt"/>
              <a:ea typeface="+mn-ea"/>
              <a:cs typeface="+mn-cs"/>
            </a:endParaRPr>
          </a:p>
          <a:p>
            <a:r>
              <a:rPr lang="zh-CN" altLang="zh-CN" sz="900" kern="1200" dirty="0">
                <a:solidFill>
                  <a:schemeClr val="tx1"/>
                </a:solidFill>
                <a:effectLst/>
                <a:latin typeface="+mn-lt"/>
                <a:ea typeface="+mn-ea"/>
                <a:cs typeface="+mn-cs"/>
              </a:rPr>
              <a:t>然而</a:t>
            </a:r>
            <a:r>
              <a:rPr lang="en-US" altLang="zh-CN" sz="900" kern="1200" dirty="0">
                <a:solidFill>
                  <a:schemeClr val="tx1"/>
                </a:solidFill>
                <a:effectLst/>
                <a:latin typeface="+mn-lt"/>
                <a:ea typeface="+mn-ea"/>
                <a:cs typeface="+mn-cs"/>
              </a:rPr>
              <a:t>,</a:t>
            </a:r>
            <a:r>
              <a:rPr lang="zh-CN" altLang="zh-CN" sz="900" kern="1200" dirty="0">
                <a:solidFill>
                  <a:schemeClr val="tx1"/>
                </a:solidFill>
                <a:effectLst/>
                <a:latin typeface="+mn-lt"/>
                <a:ea typeface="+mn-ea"/>
                <a:cs typeface="+mn-cs"/>
              </a:rPr>
              <a:t>在超过</a:t>
            </a:r>
            <a:r>
              <a:rPr lang="en-US" altLang="zh-CN" sz="900" kern="1200" dirty="0">
                <a:solidFill>
                  <a:schemeClr val="tx1"/>
                </a:solidFill>
                <a:effectLst/>
                <a:latin typeface="+mn-lt"/>
                <a:ea typeface="+mn-ea"/>
                <a:cs typeface="+mn-cs"/>
              </a:rPr>
              <a:t>4.0 V</a:t>
            </a:r>
            <a:r>
              <a:rPr lang="zh-CN" altLang="zh-CN" sz="900" kern="1200" dirty="0">
                <a:solidFill>
                  <a:schemeClr val="tx1"/>
                </a:solidFill>
                <a:effectLst/>
                <a:latin typeface="+mn-lt"/>
                <a:ea typeface="+mn-ea"/>
                <a:cs typeface="+mn-cs"/>
              </a:rPr>
              <a:t>的电压的更高负载条件的情况下，这些氧化物会导致电解质的分解。</a:t>
            </a:r>
            <a:endParaRPr lang="en-US" altLang="zh-CN" sz="900" kern="1200" dirty="0">
              <a:solidFill>
                <a:schemeClr val="tx1"/>
              </a:solidFill>
              <a:effectLst/>
              <a:latin typeface="+mn-lt"/>
              <a:ea typeface="+mn-ea"/>
              <a:cs typeface="+mn-cs"/>
            </a:endParaRPr>
          </a:p>
          <a:p>
            <a:r>
              <a:rPr lang="zh-CN" altLang="zh-CN" sz="900" kern="1200" dirty="0">
                <a:solidFill>
                  <a:schemeClr val="tx1"/>
                </a:solidFill>
                <a:effectLst/>
                <a:latin typeface="+mn-lt"/>
                <a:ea typeface="+mn-ea"/>
                <a:cs typeface="+mn-cs"/>
              </a:rPr>
              <a:t>完全充电的化合物处于亚稳态</a:t>
            </a:r>
            <a:r>
              <a:rPr lang="en-US" altLang="zh-CN" sz="900" kern="1200" dirty="0">
                <a:solidFill>
                  <a:schemeClr val="tx1"/>
                </a:solidFill>
                <a:effectLst/>
                <a:latin typeface="+mn-lt"/>
                <a:ea typeface="+mn-ea"/>
                <a:cs typeface="+mn-cs"/>
              </a:rPr>
              <a:t>: [Mn</a:t>
            </a:r>
            <a:r>
              <a:rPr lang="en-US" altLang="zh-CN" sz="900" kern="1200" baseline="-25000" dirty="0">
                <a:solidFill>
                  <a:schemeClr val="tx1"/>
                </a:solidFill>
                <a:effectLst/>
                <a:latin typeface="+mn-lt"/>
                <a:ea typeface="+mn-ea"/>
                <a:cs typeface="+mn-cs"/>
              </a:rPr>
              <a:t>2</a:t>
            </a:r>
            <a:r>
              <a:rPr lang="en-US" altLang="zh-CN" sz="900" kern="1200" dirty="0">
                <a:solidFill>
                  <a:schemeClr val="tx1"/>
                </a:solidFill>
                <a:effectLst/>
                <a:latin typeface="+mn-lt"/>
                <a:ea typeface="+mn-ea"/>
                <a:cs typeface="+mn-cs"/>
              </a:rPr>
              <a:t>]O</a:t>
            </a:r>
            <a:r>
              <a:rPr lang="en-US" altLang="zh-CN" sz="900" kern="1200" baseline="-250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在</a:t>
            </a:r>
            <a:r>
              <a:rPr lang="en-US" altLang="zh-CN" sz="900" kern="1200" dirty="0">
                <a:solidFill>
                  <a:schemeClr val="tx1"/>
                </a:solidFill>
                <a:effectLst/>
                <a:latin typeface="+mn-lt"/>
                <a:ea typeface="+mn-ea"/>
                <a:cs typeface="+mn-cs"/>
              </a:rPr>
              <a:t>190℃</a:t>
            </a:r>
            <a:r>
              <a:rPr lang="zh-CN" altLang="zh-CN" sz="900" kern="1200" dirty="0">
                <a:solidFill>
                  <a:schemeClr val="tx1"/>
                </a:solidFill>
                <a:effectLst/>
                <a:latin typeface="+mn-lt"/>
                <a:ea typeface="+mn-ea"/>
                <a:cs typeface="+mn-cs"/>
              </a:rPr>
              <a:t>转变为</a:t>
            </a:r>
            <a:r>
              <a:rPr lang="en-US" altLang="zh-CN" sz="900" kern="1200" dirty="0">
                <a:solidFill>
                  <a:schemeClr val="tx1"/>
                </a:solidFill>
                <a:effectLst/>
                <a:latin typeface="+mn-lt"/>
                <a:ea typeface="+mn-ea"/>
                <a:cs typeface="+mn-cs"/>
              </a:rPr>
              <a:t>e-MnO</a:t>
            </a:r>
            <a:r>
              <a:rPr lang="en-US" altLang="zh-CN" sz="900" kern="1200" baseline="-250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同时</a:t>
            </a:r>
            <a:r>
              <a:rPr lang="en-US" altLang="zh-CN" sz="900" kern="1200" dirty="0">
                <a:solidFill>
                  <a:schemeClr val="tx1"/>
                </a:solidFill>
                <a:effectLst/>
                <a:latin typeface="+mn-lt"/>
                <a:ea typeface="+mn-ea"/>
                <a:cs typeface="+mn-cs"/>
              </a:rPr>
              <a:t>Li</a:t>
            </a:r>
            <a:r>
              <a:rPr lang="en-US" altLang="zh-CN" sz="900" kern="1200" baseline="-25000" dirty="0">
                <a:solidFill>
                  <a:schemeClr val="tx1"/>
                </a:solidFill>
                <a:effectLst/>
                <a:latin typeface="+mn-lt"/>
                <a:ea typeface="+mn-ea"/>
                <a:cs typeface="+mn-cs"/>
              </a:rPr>
              <a:t>1-x</a:t>
            </a:r>
            <a:r>
              <a:rPr lang="en-US" altLang="zh-CN" sz="900" kern="1200" dirty="0">
                <a:solidFill>
                  <a:schemeClr val="tx1"/>
                </a:solidFill>
                <a:effectLst/>
                <a:latin typeface="+mn-lt"/>
                <a:ea typeface="+mn-ea"/>
                <a:cs typeface="+mn-cs"/>
              </a:rPr>
              <a:t>CoO</a:t>
            </a:r>
            <a:r>
              <a:rPr lang="en-US" altLang="zh-CN" sz="900" kern="1200" baseline="-250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和</a:t>
            </a:r>
            <a:r>
              <a:rPr lang="en-US" altLang="zh-CN" sz="900" kern="1200" dirty="0">
                <a:solidFill>
                  <a:schemeClr val="tx1"/>
                </a:solidFill>
                <a:effectLst/>
                <a:latin typeface="+mn-lt"/>
                <a:ea typeface="+mn-ea"/>
                <a:cs typeface="+mn-cs"/>
              </a:rPr>
              <a:t>Li</a:t>
            </a:r>
            <a:r>
              <a:rPr lang="en-US" altLang="zh-CN" sz="900" kern="1200" baseline="-25000" dirty="0">
                <a:solidFill>
                  <a:schemeClr val="tx1"/>
                </a:solidFill>
                <a:effectLst/>
                <a:latin typeface="+mn-lt"/>
                <a:ea typeface="+mn-ea"/>
                <a:cs typeface="+mn-cs"/>
              </a:rPr>
              <a:t>1-x</a:t>
            </a:r>
            <a:r>
              <a:rPr lang="en-US" altLang="zh-CN" sz="900" kern="1200" dirty="0">
                <a:solidFill>
                  <a:schemeClr val="tx1"/>
                </a:solidFill>
                <a:effectLst/>
                <a:latin typeface="+mn-lt"/>
                <a:ea typeface="+mn-ea"/>
                <a:cs typeface="+mn-cs"/>
              </a:rPr>
              <a:t>NiO</a:t>
            </a:r>
            <a:r>
              <a:rPr lang="en-US" altLang="zh-CN" sz="900" kern="1200" baseline="-250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的完全充电状态分别在</a:t>
            </a:r>
            <a:r>
              <a:rPr lang="en-US" altLang="zh-CN" sz="900" kern="1200" dirty="0">
                <a:solidFill>
                  <a:schemeClr val="tx1"/>
                </a:solidFill>
                <a:effectLst/>
                <a:latin typeface="+mn-lt"/>
                <a:ea typeface="+mn-ea"/>
                <a:cs typeface="+mn-cs"/>
              </a:rPr>
              <a:t>180℃</a:t>
            </a:r>
            <a:r>
              <a:rPr lang="zh-CN" altLang="zh-CN" sz="900" kern="1200" dirty="0">
                <a:solidFill>
                  <a:schemeClr val="tx1"/>
                </a:solidFill>
                <a:effectLst/>
                <a:latin typeface="+mn-lt"/>
                <a:ea typeface="+mn-ea"/>
                <a:cs typeface="+mn-cs"/>
              </a:rPr>
              <a:t>和</a:t>
            </a:r>
            <a:r>
              <a:rPr lang="en-US" altLang="zh-CN" sz="900" kern="1200" dirty="0">
                <a:solidFill>
                  <a:schemeClr val="tx1"/>
                </a:solidFill>
                <a:effectLst/>
                <a:latin typeface="+mn-lt"/>
                <a:ea typeface="+mn-ea"/>
                <a:cs typeface="+mn-cs"/>
              </a:rPr>
              <a:t>250℃</a:t>
            </a:r>
            <a:r>
              <a:rPr lang="zh-CN" altLang="zh-CN" sz="900" kern="1200" dirty="0">
                <a:solidFill>
                  <a:schemeClr val="tx1"/>
                </a:solidFill>
                <a:effectLst/>
                <a:latin typeface="+mn-lt"/>
                <a:ea typeface="+mn-ea"/>
                <a:cs typeface="+mn-cs"/>
              </a:rPr>
              <a:t>失去氧气。</a:t>
            </a:r>
            <a:endParaRPr lang="en-US" altLang="zh-CN" sz="900" kern="1200" dirty="0">
              <a:solidFill>
                <a:schemeClr val="tx1"/>
              </a:solidFill>
              <a:effectLst/>
              <a:latin typeface="+mn-lt"/>
              <a:ea typeface="+mn-ea"/>
              <a:cs typeface="+mn-cs"/>
            </a:endParaRPr>
          </a:p>
          <a:p>
            <a:r>
              <a:rPr lang="zh-CN" altLang="zh-CN" sz="900" kern="1200" dirty="0">
                <a:solidFill>
                  <a:schemeClr val="tx1"/>
                </a:solidFill>
                <a:effectLst/>
                <a:latin typeface="+mn-lt"/>
                <a:ea typeface="+mn-ea"/>
                <a:cs typeface="+mn-cs"/>
              </a:rPr>
              <a:t>此外，在</a:t>
            </a:r>
            <a:r>
              <a:rPr lang="en-US" altLang="zh-CN" sz="900" kern="1200" dirty="0">
                <a:solidFill>
                  <a:schemeClr val="tx1"/>
                </a:solidFill>
                <a:effectLst/>
                <a:latin typeface="+mn-lt"/>
                <a:ea typeface="+mn-ea"/>
                <a:cs typeface="+mn-cs"/>
              </a:rPr>
              <a:t>[Mn</a:t>
            </a:r>
            <a:r>
              <a:rPr lang="en-US" altLang="zh-CN" sz="900" kern="1200" baseline="-25000" dirty="0">
                <a:solidFill>
                  <a:schemeClr val="tx1"/>
                </a:solidFill>
                <a:effectLst/>
                <a:latin typeface="+mn-lt"/>
                <a:ea typeface="+mn-ea"/>
                <a:cs typeface="+mn-cs"/>
              </a:rPr>
              <a:t>2</a:t>
            </a:r>
            <a:r>
              <a:rPr lang="en-US" altLang="zh-CN" sz="900" kern="1200" dirty="0">
                <a:solidFill>
                  <a:schemeClr val="tx1"/>
                </a:solidFill>
                <a:effectLst/>
                <a:latin typeface="+mn-lt"/>
                <a:ea typeface="+mn-ea"/>
                <a:cs typeface="+mn-cs"/>
              </a:rPr>
              <a:t>]O</a:t>
            </a:r>
            <a:r>
              <a:rPr lang="en-US" altLang="zh-CN" sz="900" kern="1200" baseline="-250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尖晶石骨架内较低的锂迁移率限制了其功率能力。</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zh-CN" sz="900" kern="1200" dirty="0">
                <a:solidFill>
                  <a:schemeClr val="tx1"/>
                </a:solidFill>
                <a:effectLst/>
                <a:latin typeface="+mn-lt"/>
                <a:ea typeface="+mn-ea"/>
                <a:cs typeface="+mn-cs"/>
              </a:rPr>
              <a:t>此外，在这些化合物中使用的过渡金属的有效性和成本都是不利的，因为在电动汽车或负载均衡系统中使用的大电池中，</a:t>
            </a:r>
            <a:r>
              <a:rPr lang="en-US" altLang="zh-CN" sz="900" kern="1200" dirty="0" err="1">
                <a:solidFill>
                  <a:schemeClr val="tx1"/>
                </a:solidFill>
                <a:effectLst/>
                <a:latin typeface="+mn-lt"/>
                <a:ea typeface="+mn-ea"/>
                <a:cs typeface="+mn-cs"/>
              </a:rPr>
              <a:t>Wh</a:t>
            </a:r>
            <a:r>
              <a:rPr lang="en-US" altLang="zh-CN" sz="900" kern="1200" dirty="0">
                <a:solidFill>
                  <a:schemeClr val="tx1"/>
                </a:solidFill>
                <a:effectLst/>
                <a:latin typeface="+mn-lt"/>
                <a:ea typeface="+mn-ea"/>
                <a:cs typeface="+mn-cs"/>
              </a:rPr>
              <a:t>/$</a:t>
            </a:r>
            <a:r>
              <a:rPr lang="zh-CN" altLang="zh-CN" sz="900" kern="1200" dirty="0">
                <a:solidFill>
                  <a:schemeClr val="tx1"/>
                </a:solidFill>
                <a:effectLst/>
                <a:latin typeface="+mn-lt"/>
                <a:ea typeface="+mn-ea"/>
                <a:cs typeface="+mn-cs"/>
              </a:rPr>
              <a:t>是比</a:t>
            </a:r>
            <a:r>
              <a:rPr lang="en-US" altLang="zh-CN" sz="900" kern="1200" dirty="0" err="1">
                <a:solidFill>
                  <a:schemeClr val="tx1"/>
                </a:solidFill>
                <a:effectLst/>
                <a:latin typeface="+mn-lt"/>
                <a:ea typeface="+mn-ea"/>
                <a:cs typeface="+mn-cs"/>
              </a:rPr>
              <a:t>Wh</a:t>
            </a:r>
            <a:r>
              <a:rPr lang="en-US" altLang="zh-CN" sz="900" kern="1200" dirty="0">
                <a:solidFill>
                  <a:schemeClr val="tx1"/>
                </a:solidFill>
                <a:effectLst/>
                <a:latin typeface="+mn-lt"/>
                <a:ea typeface="+mn-ea"/>
                <a:cs typeface="+mn-cs"/>
              </a:rPr>
              <a:t>/g</a:t>
            </a:r>
            <a:r>
              <a:rPr lang="zh-CN" altLang="zh-CN" sz="900" kern="1200" dirty="0">
                <a:solidFill>
                  <a:schemeClr val="tx1"/>
                </a:solidFill>
                <a:effectLst/>
                <a:latin typeface="+mn-lt"/>
                <a:ea typeface="+mn-ea"/>
                <a:cs typeface="+mn-cs"/>
              </a:rPr>
              <a:t>更重要的数据。这些考虑推动了铁基氧化物的研究。</a:t>
            </a:r>
          </a:p>
          <a:p>
            <a:r>
              <a:rPr lang="zh-CN" altLang="en-US" dirty="0"/>
              <a:t>价格低、热稳定性好、理论容量较高和循环性能好等特点，近年来作为电池正极材料得到广泛的研究，特别是它具有的耐过充的性能，而成为应用于动力电池最有希望的正极材料</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17687976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LiFePO4</a:t>
            </a:r>
            <a:r>
              <a:rPr lang="zh-CN" altLang="en-US" dirty="0"/>
              <a:t>具有有序的橄榄石结构</a:t>
            </a:r>
            <a:r>
              <a:rPr lang="en-US" altLang="zh-CN" dirty="0"/>
              <a:t>, </a:t>
            </a:r>
            <a:r>
              <a:rPr lang="zh-CN" altLang="en-US" dirty="0"/>
              <a:t>属于正交晶系</a:t>
            </a:r>
            <a:r>
              <a:rPr lang="en-US" altLang="zh-CN" dirty="0"/>
              <a:t>, </a:t>
            </a:r>
            <a:r>
              <a:rPr lang="zh-CN" altLang="en-US" dirty="0"/>
              <a:t>其空间群为</a:t>
            </a:r>
            <a:r>
              <a:rPr lang="en-US" altLang="zh-CN" dirty="0" err="1"/>
              <a:t>Pnmb</a:t>
            </a:r>
            <a:r>
              <a:rPr lang="zh-CN" altLang="en-US" dirty="0"/>
              <a:t>。</a:t>
            </a:r>
            <a:endParaRPr lang="en-US" altLang="zh-CN" dirty="0"/>
          </a:p>
          <a:p>
            <a:r>
              <a:rPr lang="zh-CN" altLang="en-US" dirty="0"/>
              <a:t>     在</a:t>
            </a:r>
            <a:r>
              <a:rPr lang="en-US" altLang="zh-CN" dirty="0"/>
              <a:t>LiFePO4</a:t>
            </a:r>
            <a:r>
              <a:rPr lang="zh-CN" altLang="en-US" dirty="0"/>
              <a:t>结构中</a:t>
            </a:r>
            <a:r>
              <a:rPr lang="en-US" altLang="zh-CN" dirty="0"/>
              <a:t>, </a:t>
            </a:r>
            <a:r>
              <a:rPr lang="zh-CN" altLang="en-US" dirty="0"/>
              <a:t>氧原子近似于六方紧密堆积</a:t>
            </a:r>
            <a:r>
              <a:rPr lang="en-US" altLang="zh-CN" dirty="0"/>
              <a:t>, </a:t>
            </a:r>
            <a:r>
              <a:rPr lang="zh-CN" altLang="en-US" dirty="0"/>
              <a:t>磷原子在氧四面体的</a:t>
            </a:r>
            <a:r>
              <a:rPr lang="en-US" altLang="zh-CN" dirty="0"/>
              <a:t>4c</a:t>
            </a:r>
            <a:r>
              <a:rPr lang="zh-CN" altLang="en-US" dirty="0"/>
              <a:t>位</a:t>
            </a:r>
            <a:r>
              <a:rPr lang="en-US" altLang="zh-CN" dirty="0"/>
              <a:t>, </a:t>
            </a:r>
            <a:r>
              <a:rPr lang="zh-CN" altLang="en-US" dirty="0"/>
              <a:t>铁原子、锂原子分别在氧八面体的</a:t>
            </a:r>
            <a:r>
              <a:rPr lang="en-US" altLang="zh-CN" dirty="0"/>
              <a:t>4c</a:t>
            </a:r>
            <a:r>
              <a:rPr lang="zh-CN" altLang="en-US" dirty="0"/>
              <a:t>位和</a:t>
            </a:r>
            <a:r>
              <a:rPr lang="en-US" altLang="zh-CN" dirty="0"/>
              <a:t>4a</a:t>
            </a:r>
            <a:r>
              <a:rPr lang="zh-CN" altLang="en-US" dirty="0"/>
              <a:t>位</a:t>
            </a:r>
            <a:r>
              <a:rPr lang="en-US" altLang="zh-CN" dirty="0"/>
              <a:t>, </a:t>
            </a:r>
            <a:r>
              <a:rPr lang="zh-CN" altLang="en-US" dirty="0"/>
              <a:t>在</a:t>
            </a:r>
            <a:r>
              <a:rPr lang="en-US" altLang="zh-CN" dirty="0"/>
              <a:t>b-c</a:t>
            </a:r>
            <a:r>
              <a:rPr lang="zh-CN" altLang="en-US" dirty="0"/>
              <a:t>平面上</a:t>
            </a:r>
            <a:r>
              <a:rPr lang="en-US" altLang="zh-CN" dirty="0"/>
              <a:t>FeO6</a:t>
            </a:r>
            <a:r>
              <a:rPr lang="zh-CN" altLang="en-US" dirty="0"/>
              <a:t>八面体通过共点连结起来。一个</a:t>
            </a:r>
            <a:r>
              <a:rPr lang="en-US" altLang="zh-CN" dirty="0"/>
              <a:t>FeO6</a:t>
            </a:r>
            <a:r>
              <a:rPr lang="zh-CN" altLang="en-US" dirty="0"/>
              <a:t>八面体与两个</a:t>
            </a:r>
            <a:r>
              <a:rPr lang="en-US" altLang="zh-CN" dirty="0"/>
              <a:t>LiO6</a:t>
            </a:r>
            <a:r>
              <a:rPr lang="zh-CN" altLang="en-US" dirty="0"/>
              <a:t>八面体和一个</a:t>
            </a:r>
            <a:r>
              <a:rPr lang="en-US" altLang="zh-CN" dirty="0"/>
              <a:t>PO4</a:t>
            </a:r>
            <a:r>
              <a:rPr lang="zh-CN" altLang="en-US" dirty="0"/>
              <a:t>四面体共棱</a:t>
            </a:r>
            <a:r>
              <a:rPr lang="en-US" altLang="zh-CN" dirty="0"/>
              <a:t>, </a:t>
            </a:r>
            <a:r>
              <a:rPr lang="zh-CN" altLang="en-US" dirty="0"/>
              <a:t>而一个</a:t>
            </a:r>
            <a:r>
              <a:rPr lang="en-US" altLang="zh-CN" dirty="0"/>
              <a:t>PO4</a:t>
            </a:r>
            <a:r>
              <a:rPr lang="zh-CN" altLang="en-US" dirty="0"/>
              <a:t>四面体则与一个</a:t>
            </a:r>
            <a:r>
              <a:rPr lang="en-US" altLang="zh-CN" dirty="0"/>
              <a:t>FeO6</a:t>
            </a:r>
            <a:r>
              <a:rPr lang="zh-CN" altLang="en-US" dirty="0"/>
              <a:t>八面体和两个</a:t>
            </a:r>
            <a:r>
              <a:rPr lang="en-US" altLang="zh-CN" dirty="0"/>
              <a:t>LiO6</a:t>
            </a:r>
            <a:r>
              <a:rPr lang="zh-CN" altLang="en-US" dirty="0"/>
              <a:t>八面体共棱。锂离子在</a:t>
            </a:r>
            <a:r>
              <a:rPr lang="en-US" altLang="zh-CN" dirty="0"/>
              <a:t>4a</a:t>
            </a:r>
            <a:r>
              <a:rPr lang="zh-CN" altLang="en-US" dirty="0"/>
              <a:t>位形成共棱的连续直线链</a:t>
            </a:r>
            <a:r>
              <a:rPr lang="en-US" altLang="zh-CN" dirty="0"/>
              <a:t>, </a:t>
            </a:r>
            <a:r>
              <a:rPr lang="zh-CN" altLang="en-US" dirty="0"/>
              <a:t>并平行于</a:t>
            </a:r>
            <a:r>
              <a:rPr lang="en-US" altLang="zh-CN" dirty="0"/>
              <a:t>c</a:t>
            </a:r>
            <a:r>
              <a:rPr lang="zh-CN" altLang="en-US" dirty="0"/>
              <a:t>轴。</a:t>
            </a:r>
            <a:endParaRPr lang="en-US" altLang="zh-CN" dirty="0"/>
          </a:p>
          <a:p>
            <a:r>
              <a:rPr lang="en-US" altLang="zh-CN" sz="900" kern="1200" dirty="0">
                <a:solidFill>
                  <a:schemeClr val="tx1"/>
                </a:solidFill>
                <a:effectLst/>
                <a:latin typeface="+mn-lt"/>
                <a:ea typeface="+mn-ea"/>
                <a:cs typeface="+mn-cs"/>
              </a:rPr>
              <a:t>     </a:t>
            </a:r>
            <a:r>
              <a:rPr lang="zh-CN" altLang="zh-CN" sz="900" kern="1200" dirty="0">
                <a:solidFill>
                  <a:schemeClr val="tx1"/>
                </a:solidFill>
                <a:effectLst/>
                <a:latin typeface="+mn-lt"/>
                <a:ea typeface="+mn-ea"/>
                <a:cs typeface="+mn-cs"/>
              </a:rPr>
              <a:t>在</a:t>
            </a:r>
            <a:r>
              <a:rPr lang="en-US" altLang="zh-CN" sz="900" kern="1200" dirty="0">
                <a:solidFill>
                  <a:schemeClr val="tx1"/>
                </a:solidFill>
                <a:effectLst/>
                <a:latin typeface="+mn-lt"/>
                <a:ea typeface="+mn-ea"/>
                <a:cs typeface="+mn-cs"/>
              </a:rPr>
              <a:t>LiMPO</a:t>
            </a:r>
            <a:r>
              <a:rPr lang="en-US" altLang="zh-CN" sz="900" kern="1200" baseline="-25000" dirty="0">
                <a:solidFill>
                  <a:schemeClr val="tx1"/>
                </a:solidFill>
                <a:effectLst/>
                <a:latin typeface="+mn-lt"/>
                <a:ea typeface="+mn-ea"/>
                <a:cs typeface="+mn-cs"/>
              </a:rPr>
              <a:t>4</a:t>
            </a:r>
            <a:r>
              <a:rPr lang="en-US" altLang="zh-CN" sz="900" kern="1200" dirty="0">
                <a:solidFill>
                  <a:schemeClr val="tx1"/>
                </a:solidFill>
                <a:effectLst/>
                <a:latin typeface="+mn-lt"/>
                <a:ea typeface="+mn-ea"/>
                <a:cs typeface="+mn-cs"/>
              </a:rPr>
              <a:t> (M = Mn</a:t>
            </a:r>
            <a:r>
              <a:rPr lang="zh-CN" altLang="zh-CN" sz="900" kern="1200" dirty="0">
                <a:solidFill>
                  <a:schemeClr val="tx1"/>
                </a:solidFill>
                <a:effectLst/>
                <a:latin typeface="+mn-lt"/>
                <a:ea typeface="+mn-ea"/>
                <a:cs typeface="+mn-cs"/>
              </a:rPr>
              <a:t>、</a:t>
            </a:r>
            <a:r>
              <a:rPr lang="en-US" altLang="zh-CN" sz="900" kern="1200" dirty="0">
                <a:solidFill>
                  <a:schemeClr val="tx1"/>
                </a:solidFill>
                <a:effectLst/>
                <a:latin typeface="+mn-lt"/>
                <a:ea typeface="+mn-ea"/>
                <a:cs typeface="+mn-cs"/>
              </a:rPr>
              <a:t>Fe</a:t>
            </a:r>
            <a:r>
              <a:rPr lang="zh-CN" altLang="zh-CN" sz="900" kern="1200" dirty="0">
                <a:solidFill>
                  <a:schemeClr val="tx1"/>
                </a:solidFill>
                <a:effectLst/>
                <a:latin typeface="+mn-lt"/>
                <a:ea typeface="+mn-ea"/>
                <a:cs typeface="+mn-cs"/>
              </a:rPr>
              <a:t>、</a:t>
            </a:r>
            <a:r>
              <a:rPr lang="en-US" altLang="zh-CN" sz="900" kern="1200" dirty="0">
                <a:solidFill>
                  <a:schemeClr val="tx1"/>
                </a:solidFill>
                <a:effectLst/>
                <a:latin typeface="+mn-lt"/>
                <a:ea typeface="+mn-ea"/>
                <a:cs typeface="+mn-cs"/>
              </a:rPr>
              <a:t>Co</a:t>
            </a:r>
            <a:r>
              <a:rPr lang="zh-CN" altLang="zh-CN" sz="900" kern="1200" dirty="0">
                <a:solidFill>
                  <a:schemeClr val="tx1"/>
                </a:solidFill>
                <a:effectLst/>
                <a:latin typeface="+mn-lt"/>
                <a:ea typeface="+mn-ea"/>
                <a:cs typeface="+mn-cs"/>
              </a:rPr>
              <a:t>或</a:t>
            </a:r>
            <a:r>
              <a:rPr lang="en-US" altLang="zh-CN" sz="900" kern="1200" dirty="0">
                <a:solidFill>
                  <a:schemeClr val="tx1"/>
                </a:solidFill>
                <a:effectLst/>
                <a:latin typeface="+mn-lt"/>
                <a:ea typeface="+mn-ea"/>
                <a:cs typeface="+mn-cs"/>
              </a:rPr>
              <a:t>Ni)</a:t>
            </a:r>
            <a:r>
              <a:rPr lang="zh-CN" altLang="zh-CN" sz="900" kern="1200" dirty="0">
                <a:solidFill>
                  <a:schemeClr val="tx1"/>
                </a:solidFill>
                <a:effectLst/>
                <a:latin typeface="+mn-lt"/>
                <a:ea typeface="+mn-ea"/>
                <a:cs typeface="+mn-cs"/>
              </a:rPr>
              <a:t>化合物中，锂基占据</a:t>
            </a:r>
            <a:r>
              <a:rPr lang="en-US" altLang="zh-CN" sz="900" kern="1200" dirty="0">
                <a:solidFill>
                  <a:schemeClr val="tx1"/>
                </a:solidFill>
                <a:effectLst/>
                <a:latin typeface="+mn-lt"/>
                <a:ea typeface="+mn-ea"/>
                <a:cs typeface="+mn-cs"/>
              </a:rPr>
              <a:t>M(1)</a:t>
            </a:r>
            <a:r>
              <a:rPr lang="zh-CN" altLang="zh-CN" sz="900" kern="1200" dirty="0">
                <a:solidFill>
                  <a:schemeClr val="tx1"/>
                </a:solidFill>
                <a:effectLst/>
                <a:latin typeface="+mn-lt"/>
                <a:ea typeface="+mn-ea"/>
                <a:cs typeface="+mn-cs"/>
              </a:rPr>
              <a:t>位点，</a:t>
            </a:r>
            <a:r>
              <a:rPr lang="en-US" altLang="zh-CN" sz="900" kern="1200" dirty="0">
                <a:solidFill>
                  <a:schemeClr val="tx1"/>
                </a:solidFill>
                <a:effectLst/>
                <a:latin typeface="+mn-lt"/>
                <a:ea typeface="+mn-ea"/>
                <a:cs typeface="+mn-cs"/>
              </a:rPr>
              <a:t>M</a:t>
            </a:r>
            <a:r>
              <a:rPr lang="zh-CN" altLang="zh-CN" sz="900" kern="1200" dirty="0">
                <a:solidFill>
                  <a:schemeClr val="tx1"/>
                </a:solidFill>
                <a:effectLst/>
                <a:latin typeface="+mn-lt"/>
                <a:ea typeface="+mn-ea"/>
                <a:cs typeface="+mn-cs"/>
              </a:rPr>
              <a:t>原子占据</a:t>
            </a:r>
            <a:r>
              <a:rPr lang="en-US" altLang="zh-CN" sz="900" kern="1200" dirty="0">
                <a:solidFill>
                  <a:schemeClr val="tx1"/>
                </a:solidFill>
                <a:effectLst/>
                <a:latin typeface="+mn-lt"/>
                <a:ea typeface="+mn-ea"/>
                <a:cs typeface="+mn-cs"/>
              </a:rPr>
              <a:t>M(2)</a:t>
            </a:r>
            <a:r>
              <a:rPr lang="zh-CN" altLang="zh-CN" sz="900" kern="1200" dirty="0">
                <a:solidFill>
                  <a:schemeClr val="tx1"/>
                </a:solidFill>
                <a:effectLst/>
                <a:latin typeface="+mn-lt"/>
                <a:ea typeface="+mn-ea"/>
                <a:cs typeface="+mn-cs"/>
              </a:rPr>
              <a:t>位点。由于</a:t>
            </a:r>
            <a:r>
              <a:rPr lang="en-US" altLang="zh-CN" sz="900" kern="1200" dirty="0">
                <a:solidFill>
                  <a:schemeClr val="tx1"/>
                </a:solidFill>
                <a:effectLst/>
                <a:latin typeface="+mn-lt"/>
                <a:ea typeface="+mn-ea"/>
                <a:cs typeface="+mn-cs"/>
              </a:rPr>
              <a:t>Li</a:t>
            </a:r>
            <a:r>
              <a:rPr lang="zh-CN" altLang="zh-CN" sz="900" kern="1200" dirty="0">
                <a:solidFill>
                  <a:schemeClr val="tx1"/>
                </a:solidFill>
                <a:effectLst/>
                <a:latin typeface="+mn-lt"/>
                <a:ea typeface="+mn-ea"/>
                <a:cs typeface="+mn-cs"/>
              </a:rPr>
              <a:t>在交替的</a:t>
            </a:r>
            <a:r>
              <a:rPr lang="en-US" altLang="zh-CN" sz="900" kern="1200" dirty="0">
                <a:solidFill>
                  <a:schemeClr val="tx1"/>
                </a:solidFill>
                <a:effectLst/>
                <a:latin typeface="+mn-lt"/>
                <a:ea typeface="+mn-ea"/>
                <a:cs typeface="+mn-cs"/>
              </a:rPr>
              <a:t>a-c</a:t>
            </a:r>
            <a:r>
              <a:rPr lang="zh-CN" altLang="zh-CN" sz="900" kern="1200" dirty="0">
                <a:solidFill>
                  <a:schemeClr val="tx1"/>
                </a:solidFill>
                <a:effectLst/>
                <a:latin typeface="+mn-lt"/>
                <a:ea typeface="+mn-ea"/>
                <a:cs typeface="+mn-cs"/>
              </a:rPr>
              <a:t>平面上处于边共享八面体的连续链中，从这些链中提取</a:t>
            </a:r>
            <a:r>
              <a:rPr lang="en-US" altLang="zh-CN" sz="900" kern="1200" dirty="0">
                <a:solidFill>
                  <a:schemeClr val="tx1"/>
                </a:solidFill>
                <a:effectLst/>
                <a:latin typeface="+mn-lt"/>
                <a:ea typeface="+mn-ea"/>
                <a:cs typeface="+mn-cs"/>
              </a:rPr>
              <a:t>/</a:t>
            </a:r>
            <a:r>
              <a:rPr lang="zh-CN" altLang="zh-CN" sz="900" kern="1200" dirty="0">
                <a:solidFill>
                  <a:schemeClr val="tx1"/>
                </a:solidFill>
                <a:effectLst/>
                <a:latin typeface="+mn-lt"/>
                <a:ea typeface="+mn-ea"/>
                <a:cs typeface="+mn-cs"/>
              </a:rPr>
              <a:t>插入锂的可逆过程似乎类似于从</a:t>
            </a:r>
            <a:r>
              <a:rPr lang="en-US" altLang="zh-CN" sz="900" kern="1200" dirty="0">
                <a:solidFill>
                  <a:schemeClr val="tx1"/>
                </a:solidFill>
                <a:effectLst/>
                <a:latin typeface="+mn-lt"/>
                <a:ea typeface="+mn-ea"/>
                <a:cs typeface="+mn-cs"/>
              </a:rPr>
              <a:t>M = Co</a:t>
            </a:r>
            <a:r>
              <a:rPr lang="zh-CN" altLang="zh-CN" sz="900" kern="1200" dirty="0">
                <a:solidFill>
                  <a:schemeClr val="tx1"/>
                </a:solidFill>
                <a:effectLst/>
                <a:latin typeface="+mn-lt"/>
                <a:ea typeface="+mn-ea"/>
                <a:cs typeface="+mn-cs"/>
              </a:rPr>
              <a:t>或</a:t>
            </a:r>
            <a:r>
              <a:rPr lang="en-US" altLang="zh-CN" sz="900" kern="1200" dirty="0">
                <a:solidFill>
                  <a:schemeClr val="tx1"/>
                </a:solidFill>
                <a:effectLst/>
                <a:latin typeface="+mn-lt"/>
                <a:ea typeface="+mn-ea"/>
                <a:cs typeface="+mn-cs"/>
              </a:rPr>
              <a:t>Ni</a:t>
            </a:r>
            <a:r>
              <a:rPr lang="zh-CN" altLang="zh-CN" sz="900" kern="1200" dirty="0">
                <a:solidFill>
                  <a:schemeClr val="tx1"/>
                </a:solidFill>
                <a:effectLst/>
                <a:latin typeface="+mn-lt"/>
                <a:ea typeface="+mn-ea"/>
                <a:cs typeface="+mn-cs"/>
              </a:rPr>
              <a:t>的</a:t>
            </a:r>
            <a:r>
              <a:rPr lang="en-US" altLang="zh-CN" sz="900" kern="1200" dirty="0">
                <a:solidFill>
                  <a:schemeClr val="tx1"/>
                </a:solidFill>
                <a:effectLst/>
                <a:latin typeface="+mn-lt"/>
                <a:ea typeface="+mn-ea"/>
                <a:cs typeface="+mn-cs"/>
              </a:rPr>
              <a:t>LiMO</a:t>
            </a:r>
            <a:r>
              <a:rPr lang="en-US" altLang="zh-CN" sz="900" kern="1200" baseline="-250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层氧化物中提取或插入锂的二维过程。</a:t>
            </a:r>
            <a:r>
              <a:rPr lang="zh-CN" altLang="en-US" dirty="0"/>
              <a:t>从而</a:t>
            </a:r>
            <a:r>
              <a:rPr lang="zh-CN" altLang="en-US" b="1" i="0" u="sng" dirty="0"/>
              <a:t>锂离子具有二维可移动性</a:t>
            </a:r>
            <a:r>
              <a:rPr lang="en-US" altLang="zh-CN" b="1" i="0" u="sng" dirty="0"/>
              <a:t>, </a:t>
            </a:r>
            <a:r>
              <a:rPr lang="zh-CN" altLang="en-US" b="1" i="0" u="sng" dirty="0"/>
              <a:t>使之在充放电过程中可以脱出和嵌入，这就是</a:t>
            </a:r>
            <a:r>
              <a:rPr lang="en-US" altLang="zh-CN" b="1" i="0" u="sng" dirty="0"/>
              <a:t>LiFePO4</a:t>
            </a:r>
            <a:r>
              <a:rPr lang="zh-CN" altLang="en-US" b="1" i="0" u="sng" dirty="0"/>
              <a:t>可作为锂离子电池正极材料的理论依据</a:t>
            </a:r>
            <a:r>
              <a:rPr lang="zh-CN" altLang="en-US" dirty="0"/>
              <a:t>。</a:t>
            </a:r>
            <a:endParaRPr lang="en-US" altLang="zh-CN" dirty="0"/>
          </a:p>
          <a:p>
            <a:r>
              <a:rPr lang="en-US" altLang="zh-CN" dirty="0"/>
              <a:t>     LiFePO4</a:t>
            </a:r>
            <a:r>
              <a:rPr lang="zh-CN" altLang="en-US" dirty="0"/>
              <a:t>的脱锂产物为</a:t>
            </a:r>
            <a:r>
              <a:rPr lang="en-US" altLang="zh-CN" dirty="0"/>
              <a:t>FePO4</a:t>
            </a:r>
            <a:r>
              <a:rPr lang="zh-CN" altLang="en-US" dirty="0"/>
              <a:t>，实际的充放电过程是处于</a:t>
            </a:r>
            <a:r>
              <a:rPr lang="en-US" altLang="zh-CN" dirty="0"/>
              <a:t>FePO4/LiFePO4</a:t>
            </a:r>
            <a:r>
              <a:rPr lang="zh-CN" altLang="en-US" dirty="0"/>
              <a:t>两相共存状态的。</a:t>
            </a:r>
            <a:r>
              <a:rPr lang="en-US" altLang="zh-CN" dirty="0"/>
              <a:t>FePO4</a:t>
            </a:r>
            <a:r>
              <a:rPr lang="zh-CN" altLang="en-US" dirty="0"/>
              <a:t>与</a:t>
            </a:r>
            <a:r>
              <a:rPr lang="en-US" altLang="zh-CN" dirty="0"/>
              <a:t>LiFePO4</a:t>
            </a:r>
            <a:r>
              <a:rPr lang="zh-CN" altLang="en-US" dirty="0"/>
              <a:t>的结构极为相似</a:t>
            </a:r>
            <a:r>
              <a:rPr lang="en-US" altLang="zh-CN" dirty="0"/>
              <a:t>, </a:t>
            </a:r>
            <a:r>
              <a:rPr lang="zh-CN" altLang="en-US" dirty="0"/>
              <a:t>体积也较接近</a:t>
            </a:r>
            <a:r>
              <a:rPr lang="en-US" altLang="zh-CN" dirty="0"/>
              <a:t>, </a:t>
            </a:r>
            <a:r>
              <a:rPr lang="zh-CN" altLang="en-US" dirty="0"/>
              <a:t>相差</a:t>
            </a:r>
            <a:r>
              <a:rPr lang="en-US" altLang="zh-CN" dirty="0"/>
              <a:t>6.81%</a:t>
            </a:r>
            <a:r>
              <a:rPr lang="zh-CN" altLang="en-US" dirty="0"/>
              <a:t>。</a:t>
            </a:r>
            <a:endParaRPr lang="en-US" altLang="zh-CN" dirty="0"/>
          </a:p>
          <a:p>
            <a:r>
              <a:rPr lang="zh-CN" altLang="en-US" dirty="0"/>
              <a:t>     由于充放电过程中结构与体积变化很小</a:t>
            </a:r>
            <a:r>
              <a:rPr lang="en-US" altLang="zh-CN" dirty="0"/>
              <a:t>, </a:t>
            </a:r>
            <a:r>
              <a:rPr lang="zh-CN" altLang="en-US" dirty="0"/>
              <a:t>减小了由于结构变化过大甚至结构崩塌造成的容量损失，因此</a:t>
            </a:r>
            <a:r>
              <a:rPr lang="en-US" altLang="zh-CN" dirty="0"/>
              <a:t>LiFePO4</a:t>
            </a:r>
            <a:r>
              <a:rPr lang="zh-CN" altLang="en-US" dirty="0"/>
              <a:t>具有良好的循环性能。此外，强的</a:t>
            </a:r>
            <a:r>
              <a:rPr lang="en-US" altLang="zh-CN" dirty="0"/>
              <a:t>P-O</a:t>
            </a:r>
            <a:r>
              <a:rPr lang="zh-CN" altLang="en-US" dirty="0"/>
              <a:t>共价键形成离域的三维立体化学键使</a:t>
            </a:r>
            <a:r>
              <a:rPr lang="en-US" altLang="zh-CN" dirty="0"/>
              <a:t>LiFePO4</a:t>
            </a:r>
            <a:r>
              <a:rPr lang="zh-CN" altLang="en-US" dirty="0"/>
              <a:t>具有很高的热力学和动力学稳定性，保证了材料在高温条件下的安全性能。</a:t>
            </a:r>
            <a:endParaRPr lang="en-US" altLang="zh-CN" dirty="0"/>
          </a:p>
          <a:p>
            <a:r>
              <a:rPr lang="zh-CN" altLang="en-US" dirty="0"/>
              <a:t>     但是从结构上看</a:t>
            </a:r>
            <a:r>
              <a:rPr lang="en-US" altLang="zh-CN" dirty="0"/>
              <a:t>, PO4</a:t>
            </a:r>
            <a:r>
              <a:rPr lang="zh-CN" altLang="en-US" dirty="0"/>
              <a:t>四面体位于</a:t>
            </a:r>
            <a:r>
              <a:rPr lang="en-US" altLang="zh-CN" dirty="0"/>
              <a:t>FeO6</a:t>
            </a:r>
            <a:r>
              <a:rPr lang="zh-CN" altLang="en-US" dirty="0"/>
              <a:t>层之间，这在一定程度上阻碍了锂离子的扩散运动。此外</a:t>
            </a:r>
            <a:r>
              <a:rPr lang="en-US" altLang="zh-CN" dirty="0"/>
              <a:t>, </a:t>
            </a:r>
            <a:r>
              <a:rPr lang="zh-CN" altLang="en-US" dirty="0"/>
              <a:t>相邻的</a:t>
            </a:r>
            <a:r>
              <a:rPr lang="en-US" altLang="zh-CN" dirty="0"/>
              <a:t>FeO6</a:t>
            </a:r>
            <a:r>
              <a:rPr lang="zh-CN" altLang="en-US" dirty="0"/>
              <a:t>八面体通过共顶点链接</a:t>
            </a:r>
            <a:r>
              <a:rPr lang="en-US" altLang="zh-CN" dirty="0"/>
              <a:t>,</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19201951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900" kern="1200" dirty="0">
                <a:solidFill>
                  <a:schemeClr val="tx1"/>
                </a:solidFill>
                <a:effectLst/>
                <a:latin typeface="+mn-lt"/>
                <a:ea typeface="+mn-ea"/>
                <a:cs typeface="+mn-cs"/>
              </a:rPr>
              <a:t>LiFePO</a:t>
            </a:r>
            <a:r>
              <a:rPr lang="en-US" altLang="zh-CN" sz="900" kern="1200" baseline="-250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的电化学充放电曲线如图</a:t>
            </a:r>
            <a:r>
              <a:rPr lang="en-US" altLang="zh-CN" sz="900" kern="12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所示，在相对于锂的</a:t>
            </a:r>
            <a:r>
              <a:rPr lang="en-US" altLang="zh-CN" sz="900" kern="1200" dirty="0">
                <a:solidFill>
                  <a:schemeClr val="tx1"/>
                </a:solidFill>
                <a:effectLst/>
                <a:latin typeface="+mn-lt"/>
                <a:ea typeface="+mn-ea"/>
                <a:cs typeface="+mn-cs"/>
              </a:rPr>
              <a:t>3.5 V</a:t>
            </a:r>
            <a:r>
              <a:rPr lang="zh-CN" altLang="zh-CN" sz="900" kern="1200" dirty="0">
                <a:solidFill>
                  <a:schemeClr val="tx1"/>
                </a:solidFill>
                <a:effectLst/>
                <a:latin typeface="+mn-lt"/>
                <a:ea typeface="+mn-ea"/>
                <a:cs typeface="+mn-cs"/>
              </a:rPr>
              <a:t>的闭合电路电压下，每个公式单位大约可以提取</a:t>
            </a:r>
            <a:r>
              <a:rPr lang="en-US" altLang="zh-CN" sz="900" kern="1200" dirty="0">
                <a:solidFill>
                  <a:schemeClr val="tx1"/>
                </a:solidFill>
                <a:effectLst/>
                <a:latin typeface="+mn-lt"/>
                <a:ea typeface="+mn-ea"/>
                <a:cs typeface="+mn-cs"/>
              </a:rPr>
              <a:t>0.6</a:t>
            </a:r>
            <a:r>
              <a:rPr lang="zh-CN" altLang="zh-CN" sz="900" kern="1200" dirty="0">
                <a:solidFill>
                  <a:schemeClr val="tx1"/>
                </a:solidFill>
                <a:effectLst/>
                <a:latin typeface="+mn-lt"/>
                <a:ea typeface="+mn-ea"/>
                <a:cs typeface="+mn-cs"/>
              </a:rPr>
              <a:t>个锂原子，同样的数量可以在放电时可逆地插入到结构中。</a:t>
            </a:r>
            <a:endParaRPr lang="en-US" altLang="zh-CN" sz="900" kern="1200" dirty="0">
              <a:solidFill>
                <a:schemeClr val="tx1"/>
              </a:solidFill>
              <a:effectLst/>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zh-CN" altLang="zh-CN" sz="900" kern="1200" dirty="0">
                <a:solidFill>
                  <a:schemeClr val="tx1"/>
                </a:solidFill>
                <a:effectLst/>
                <a:latin typeface="+mn-lt"/>
                <a:ea typeface="+mn-ea"/>
                <a:cs typeface="+mn-cs"/>
              </a:rPr>
              <a:t>锂离子的提取和插入</a:t>
            </a:r>
            <a:r>
              <a:rPr lang="en-US" altLang="zh-CN" sz="900" kern="1200" dirty="0">
                <a:solidFill>
                  <a:schemeClr val="tx1"/>
                </a:solidFill>
                <a:effectLst/>
                <a:latin typeface="+mn-lt"/>
                <a:ea typeface="+mn-ea"/>
                <a:cs typeface="+mn-cs"/>
              </a:rPr>
              <a:t>LiFePO</a:t>
            </a:r>
            <a:r>
              <a:rPr lang="en-US" altLang="zh-CN" sz="900" kern="1200" baseline="-250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的结构不仅在重复循环中是可逆的</a:t>
            </a:r>
            <a:r>
              <a:rPr lang="en-US" altLang="zh-CN" sz="900" kern="1200" dirty="0">
                <a:solidFill>
                  <a:schemeClr val="tx1"/>
                </a:solidFill>
                <a:effectLst/>
                <a:latin typeface="+mn-lt"/>
                <a:ea typeface="+mn-ea"/>
                <a:cs typeface="+mn-cs"/>
              </a:rPr>
              <a:t>;</a:t>
            </a:r>
          </a:p>
          <a:p>
            <a:pPr marL="0" marR="0" lvl="0" indent="0" algn="l" defTabSz="685800" rtl="0" eaLnBrk="1" fontAlgn="auto" latinLnBrk="0" hangingPunct="1">
              <a:lnSpc>
                <a:spcPct val="100000"/>
              </a:lnSpc>
              <a:spcBef>
                <a:spcPts val="0"/>
              </a:spcBef>
              <a:spcAft>
                <a:spcPts val="0"/>
              </a:spcAft>
              <a:buClrTx/>
              <a:buSzTx/>
              <a:buFontTx/>
              <a:buNone/>
              <a:tabLst/>
              <a:defRPr/>
            </a:pPr>
            <a:r>
              <a:rPr lang="zh-CN" altLang="zh-CN" sz="900" kern="1200" dirty="0">
                <a:solidFill>
                  <a:schemeClr val="tx1"/>
                </a:solidFill>
                <a:effectLst/>
                <a:latin typeface="+mn-lt"/>
                <a:ea typeface="+mn-ea"/>
                <a:cs typeface="+mn-cs"/>
              </a:rPr>
              <a:t>容量在实际循环过程中略有增加。</a:t>
            </a:r>
          </a:p>
          <a:p>
            <a:pPr marL="0" marR="0" lvl="0" indent="0" algn="l" defTabSz="685800" rtl="0" eaLnBrk="1" fontAlgn="auto" latinLnBrk="0" hangingPunct="1">
              <a:lnSpc>
                <a:spcPct val="100000"/>
              </a:lnSpc>
              <a:spcBef>
                <a:spcPts val="0"/>
              </a:spcBef>
              <a:spcAft>
                <a:spcPts val="0"/>
              </a:spcAft>
              <a:buClrTx/>
              <a:buSzTx/>
              <a:buFontTx/>
              <a:buNone/>
              <a:tabLst/>
              <a:defRPr/>
            </a:pPr>
            <a:r>
              <a:rPr lang="zh-CN" altLang="zh-CN" sz="900" kern="1200" dirty="0">
                <a:solidFill>
                  <a:schemeClr val="tx1"/>
                </a:solidFill>
                <a:effectLst/>
                <a:latin typeface="+mn-lt"/>
                <a:ea typeface="+mn-ea"/>
                <a:cs typeface="+mn-cs"/>
              </a:rPr>
              <a:t>图</a:t>
            </a:r>
            <a:r>
              <a:rPr lang="en-US" altLang="zh-CN" sz="900" kern="1200" dirty="0">
                <a:solidFill>
                  <a:schemeClr val="tx1"/>
                </a:solidFill>
                <a:effectLst/>
                <a:latin typeface="+mn-lt"/>
                <a:ea typeface="+mn-ea"/>
                <a:cs typeface="+mn-cs"/>
              </a:rPr>
              <a:t>2</a:t>
            </a:r>
            <a:r>
              <a:rPr lang="zh-CN" altLang="zh-CN" sz="900" kern="1200" dirty="0">
                <a:solidFill>
                  <a:schemeClr val="tx1"/>
                </a:solidFill>
                <a:effectLst/>
                <a:latin typeface="+mn-lt"/>
                <a:ea typeface="+mn-ea"/>
                <a:cs typeface="+mn-cs"/>
              </a:rPr>
              <a:t>中</a:t>
            </a:r>
            <a:r>
              <a:rPr lang="en-US" altLang="zh-CN" sz="900" kern="1200" dirty="0">
                <a:solidFill>
                  <a:schemeClr val="tx1"/>
                </a:solidFill>
                <a:effectLst/>
                <a:latin typeface="+mn-lt"/>
                <a:ea typeface="+mn-ea"/>
                <a:cs typeface="+mn-cs"/>
              </a:rPr>
              <a:t>Li</a:t>
            </a:r>
            <a:r>
              <a:rPr lang="en-US" altLang="zh-CN" sz="900" kern="1200" baseline="-25000" dirty="0">
                <a:solidFill>
                  <a:schemeClr val="tx1"/>
                </a:solidFill>
                <a:effectLst/>
                <a:latin typeface="+mn-lt"/>
                <a:ea typeface="+mn-ea"/>
                <a:cs typeface="+mn-cs"/>
              </a:rPr>
              <a:t>1-x</a:t>
            </a:r>
            <a:r>
              <a:rPr lang="en-US" altLang="zh-CN" sz="900" kern="1200" dirty="0">
                <a:solidFill>
                  <a:schemeClr val="tx1"/>
                </a:solidFill>
                <a:effectLst/>
                <a:latin typeface="+mn-lt"/>
                <a:ea typeface="+mn-ea"/>
                <a:cs typeface="+mn-cs"/>
              </a:rPr>
              <a:t>PO</a:t>
            </a:r>
            <a:r>
              <a:rPr lang="en-US" altLang="zh-CN" sz="900" kern="1200" baseline="-250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的</a:t>
            </a:r>
            <a:r>
              <a:rPr lang="en-US" altLang="zh-CN" sz="900" kern="1200" dirty="0">
                <a:solidFill>
                  <a:schemeClr val="tx1"/>
                </a:solidFill>
                <a:effectLst/>
                <a:latin typeface="+mn-lt"/>
                <a:ea typeface="+mn-ea"/>
                <a:cs typeface="+mn-cs"/>
              </a:rPr>
              <a:t>V(x)</a:t>
            </a:r>
            <a:r>
              <a:rPr lang="zh-CN" altLang="zh-CN" sz="900" kern="1200" dirty="0">
                <a:solidFill>
                  <a:schemeClr val="tx1"/>
                </a:solidFill>
                <a:effectLst/>
                <a:latin typeface="+mn-lt"/>
                <a:ea typeface="+mn-ea"/>
                <a:cs typeface="+mn-cs"/>
              </a:rPr>
              <a:t>曲线显示，在</a:t>
            </a:r>
            <a:r>
              <a:rPr lang="en-US" altLang="zh-CN" sz="900" kern="1200" dirty="0">
                <a:solidFill>
                  <a:schemeClr val="tx1"/>
                </a:solidFill>
                <a:effectLst/>
                <a:latin typeface="+mn-lt"/>
                <a:ea typeface="+mn-ea"/>
                <a:cs typeface="+mn-cs"/>
              </a:rPr>
              <a:t>x</a:t>
            </a:r>
            <a:r>
              <a:rPr lang="zh-CN" altLang="zh-CN" sz="900" kern="1200" dirty="0">
                <a:solidFill>
                  <a:schemeClr val="tx1"/>
                </a:solidFill>
                <a:effectLst/>
                <a:latin typeface="+mn-lt"/>
                <a:ea typeface="+mn-ea"/>
                <a:cs typeface="+mn-cs"/>
              </a:rPr>
              <a:t>的大范围内，电压与</a:t>
            </a:r>
            <a:r>
              <a:rPr lang="en-US" altLang="zh-CN" sz="900" kern="1200" dirty="0">
                <a:solidFill>
                  <a:schemeClr val="tx1"/>
                </a:solidFill>
                <a:effectLst/>
                <a:latin typeface="+mn-lt"/>
                <a:ea typeface="+mn-ea"/>
                <a:cs typeface="+mn-cs"/>
              </a:rPr>
              <a:t>x</a:t>
            </a:r>
            <a:r>
              <a:rPr lang="zh-CN" altLang="zh-CN" sz="900" kern="1200" dirty="0">
                <a:solidFill>
                  <a:schemeClr val="tx1"/>
                </a:solidFill>
                <a:effectLst/>
                <a:latin typeface="+mn-lt"/>
                <a:ea typeface="+mn-ea"/>
                <a:cs typeface="+mn-cs"/>
              </a:rPr>
              <a:t>无关，这表明，根据吉布斯相位规则，提取</a:t>
            </a:r>
            <a:r>
              <a:rPr lang="en-US" altLang="zh-CN" sz="900" kern="1200" dirty="0">
                <a:solidFill>
                  <a:schemeClr val="tx1"/>
                </a:solidFill>
                <a:effectLst/>
                <a:latin typeface="+mn-lt"/>
                <a:ea typeface="+mn-ea"/>
                <a:cs typeface="+mn-cs"/>
              </a:rPr>
              <a:t>/</a:t>
            </a:r>
            <a:r>
              <a:rPr lang="zh-CN" altLang="zh-CN" sz="900" kern="1200" dirty="0">
                <a:solidFill>
                  <a:schemeClr val="tx1"/>
                </a:solidFill>
                <a:effectLst/>
                <a:latin typeface="+mn-lt"/>
                <a:ea typeface="+mn-ea"/>
                <a:cs typeface="+mn-cs"/>
              </a:rPr>
              <a:t>插入反应是通过两相界面的运动进行的。</a:t>
            </a:r>
            <a:endParaRPr lang="en-US" altLang="zh-CN" sz="900" kern="1200" dirty="0">
              <a:solidFill>
                <a:schemeClr val="tx1"/>
              </a:solidFill>
              <a:effectLst/>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zh-CN" altLang="zh-CN" sz="900" kern="1200" dirty="0">
                <a:solidFill>
                  <a:schemeClr val="tx1"/>
                </a:solidFill>
                <a:effectLst/>
                <a:latin typeface="+mn-lt"/>
                <a:ea typeface="+mn-ea"/>
                <a:cs typeface="+mn-cs"/>
              </a:rPr>
              <a:t>为了确定第二相的存在和结构，将</a:t>
            </a:r>
            <a:r>
              <a:rPr lang="en-US" altLang="zh-CN" sz="900" kern="1200" dirty="0">
                <a:solidFill>
                  <a:schemeClr val="tx1"/>
                </a:solidFill>
                <a:effectLst/>
                <a:latin typeface="+mn-lt"/>
                <a:ea typeface="+mn-ea"/>
                <a:cs typeface="+mn-cs"/>
              </a:rPr>
              <a:t>LiFePO</a:t>
            </a:r>
            <a:r>
              <a:rPr lang="en-US" altLang="zh-CN" sz="900" kern="1200" baseline="-250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与不同量的</a:t>
            </a:r>
            <a:r>
              <a:rPr lang="en-US" altLang="zh-CN" sz="900" kern="1200" dirty="0">
                <a:solidFill>
                  <a:schemeClr val="tx1"/>
                </a:solidFill>
                <a:effectLst/>
                <a:latin typeface="+mn-lt"/>
                <a:ea typeface="+mn-ea"/>
                <a:cs typeface="+mn-cs"/>
              </a:rPr>
              <a:t>N0</a:t>
            </a:r>
            <a:r>
              <a:rPr lang="en-US" altLang="zh-CN" sz="900" kern="1200" baseline="-25000" dirty="0">
                <a:solidFill>
                  <a:schemeClr val="tx1"/>
                </a:solidFill>
                <a:effectLst/>
                <a:latin typeface="+mn-lt"/>
                <a:ea typeface="+mn-ea"/>
                <a:cs typeface="+mn-cs"/>
              </a:rPr>
              <a:t>2</a:t>
            </a:r>
            <a:r>
              <a:rPr lang="en-US" altLang="zh-CN" sz="900" kern="1200" dirty="0">
                <a:solidFill>
                  <a:schemeClr val="tx1"/>
                </a:solidFill>
                <a:effectLst/>
                <a:latin typeface="+mn-lt"/>
                <a:ea typeface="+mn-ea"/>
                <a:cs typeface="+mn-cs"/>
              </a:rPr>
              <a:t>PF</a:t>
            </a:r>
            <a:r>
              <a:rPr lang="en-US" altLang="zh-CN" sz="900" kern="1200" baseline="-25000" dirty="0">
                <a:solidFill>
                  <a:schemeClr val="tx1"/>
                </a:solidFill>
                <a:effectLst/>
                <a:latin typeface="+mn-lt"/>
                <a:ea typeface="+mn-ea"/>
                <a:cs typeface="+mn-cs"/>
              </a:rPr>
              <a:t>6</a:t>
            </a:r>
            <a:r>
              <a:rPr lang="zh-CN" altLang="zh-CN" sz="900" kern="1200" dirty="0">
                <a:solidFill>
                  <a:schemeClr val="tx1"/>
                </a:solidFill>
                <a:effectLst/>
                <a:latin typeface="+mn-lt"/>
                <a:ea typeface="+mn-ea"/>
                <a:cs typeface="+mn-cs"/>
              </a:rPr>
              <a:t>在乙腈中反应，进行部分化学脱锂反应。化学脱锂反应可以在干净的样品上进行</a:t>
            </a:r>
            <a:r>
              <a:rPr lang="en-US" altLang="zh-CN" sz="900" kern="1200" dirty="0">
                <a:solidFill>
                  <a:schemeClr val="tx1"/>
                </a:solidFill>
                <a:effectLst/>
                <a:latin typeface="+mn-lt"/>
                <a:ea typeface="+mn-ea"/>
                <a:cs typeface="+mn-cs"/>
              </a:rPr>
              <a:t>XRD</a:t>
            </a:r>
            <a:r>
              <a:rPr lang="zh-CN" altLang="zh-CN" sz="900" kern="1200" dirty="0">
                <a:solidFill>
                  <a:schemeClr val="tx1"/>
                </a:solidFill>
                <a:effectLst/>
                <a:latin typeface="+mn-lt"/>
                <a:ea typeface="+mn-ea"/>
                <a:cs typeface="+mn-cs"/>
              </a:rPr>
              <a:t>图谱分析。</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21</a:t>
            </a:fld>
            <a:endParaRPr lang="zh-CN" altLang="en-US"/>
          </a:p>
        </p:txBody>
      </p:sp>
    </p:spTree>
    <p:extLst>
      <p:ext uri="{BB962C8B-B14F-4D97-AF65-F5344CB8AC3E}">
        <p14:creationId xmlns:p14="http://schemas.microsoft.com/office/powerpoint/2010/main" val="31943907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zh-CN" sz="900" kern="1200" dirty="0">
                <a:solidFill>
                  <a:schemeClr val="tx1"/>
                </a:solidFill>
                <a:effectLst/>
                <a:latin typeface="+mn-lt"/>
                <a:ea typeface="+mn-ea"/>
                <a:cs typeface="+mn-cs"/>
              </a:rPr>
              <a:t>从图</a:t>
            </a:r>
            <a:r>
              <a:rPr lang="en-US" altLang="zh-CN" sz="900" kern="1200" dirty="0">
                <a:solidFill>
                  <a:schemeClr val="tx1"/>
                </a:solidFill>
                <a:effectLst/>
                <a:latin typeface="+mn-lt"/>
                <a:ea typeface="+mn-ea"/>
                <a:cs typeface="+mn-cs"/>
              </a:rPr>
              <a:t>3</a:t>
            </a:r>
            <a:r>
              <a:rPr lang="zh-CN" altLang="zh-CN" sz="900" kern="1200" dirty="0">
                <a:solidFill>
                  <a:schemeClr val="tx1"/>
                </a:solidFill>
                <a:effectLst/>
                <a:latin typeface="+mn-lt"/>
                <a:ea typeface="+mn-ea"/>
                <a:cs typeface="+mn-cs"/>
              </a:rPr>
              <a:t>的</a:t>
            </a:r>
            <a:r>
              <a:rPr lang="en-US" altLang="zh-CN" sz="900" kern="1200" dirty="0">
                <a:solidFill>
                  <a:schemeClr val="tx1"/>
                </a:solidFill>
                <a:effectLst/>
                <a:latin typeface="+mn-lt"/>
                <a:ea typeface="+mn-ea"/>
                <a:cs typeface="+mn-cs"/>
              </a:rPr>
              <a:t>XRD</a:t>
            </a:r>
            <a:r>
              <a:rPr lang="zh-CN" altLang="zh-CN" sz="900" kern="1200" dirty="0">
                <a:solidFill>
                  <a:schemeClr val="tx1"/>
                </a:solidFill>
                <a:effectLst/>
                <a:latin typeface="+mn-lt"/>
                <a:ea typeface="+mn-ea"/>
                <a:cs typeface="+mn-cs"/>
              </a:rPr>
              <a:t>图谱可以看出，随着锂的提取越来越多，第二相的出现和生长是以</a:t>
            </a:r>
            <a:r>
              <a:rPr lang="en-US" altLang="zh-CN" sz="900" kern="1200" dirty="0">
                <a:solidFill>
                  <a:schemeClr val="tx1"/>
                </a:solidFill>
                <a:effectLst/>
                <a:latin typeface="+mn-lt"/>
                <a:ea typeface="+mn-ea"/>
                <a:cs typeface="+mn-cs"/>
              </a:rPr>
              <a:t>LiFePO</a:t>
            </a:r>
            <a:r>
              <a:rPr lang="en-US" altLang="zh-CN" sz="900" kern="1200" baseline="-250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的消耗为代价的。利用全化学脱锂，通过化学分析和对</a:t>
            </a:r>
            <a:r>
              <a:rPr lang="en-US" altLang="zh-CN" sz="900" kern="1200" dirty="0">
                <a:solidFill>
                  <a:schemeClr val="tx1"/>
                </a:solidFill>
                <a:effectLst/>
                <a:latin typeface="+mn-lt"/>
                <a:ea typeface="+mn-ea"/>
                <a:cs typeface="+mn-cs"/>
              </a:rPr>
              <a:t>XRD</a:t>
            </a:r>
            <a:r>
              <a:rPr lang="zh-CN" altLang="zh-CN" sz="900" kern="1200" dirty="0">
                <a:solidFill>
                  <a:schemeClr val="tx1"/>
                </a:solidFill>
                <a:effectLst/>
                <a:latin typeface="+mn-lt"/>
                <a:ea typeface="+mn-ea"/>
                <a:cs typeface="+mn-cs"/>
              </a:rPr>
              <a:t>数据的</a:t>
            </a:r>
            <a:r>
              <a:rPr lang="en-US" altLang="zh-CN" sz="900" kern="1200" dirty="0">
                <a:solidFill>
                  <a:schemeClr val="tx1"/>
                </a:solidFill>
                <a:effectLst/>
                <a:latin typeface="+mn-lt"/>
                <a:ea typeface="+mn-ea"/>
                <a:cs typeface="+mn-cs"/>
              </a:rPr>
              <a:t>Rietveld</a:t>
            </a:r>
            <a:r>
              <a:rPr lang="zh-CN" altLang="zh-CN" sz="900" kern="1200" dirty="0">
                <a:solidFill>
                  <a:schemeClr val="tx1"/>
                </a:solidFill>
                <a:effectLst/>
                <a:latin typeface="+mn-lt"/>
                <a:ea typeface="+mn-ea"/>
                <a:cs typeface="+mn-cs"/>
              </a:rPr>
              <a:t>拟合，可以确定第二相为</a:t>
            </a:r>
            <a:r>
              <a:rPr lang="en-US" altLang="zh-CN" sz="900" kern="1200" dirty="0">
                <a:solidFill>
                  <a:schemeClr val="tx1"/>
                </a:solidFill>
                <a:effectLst/>
                <a:latin typeface="+mn-lt"/>
                <a:ea typeface="+mn-ea"/>
                <a:cs typeface="+mn-cs"/>
              </a:rPr>
              <a:t>FePO</a:t>
            </a:r>
            <a:r>
              <a:rPr lang="en-US" altLang="zh-CN" sz="900" kern="1200" baseline="-250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a:t>
            </a:r>
            <a:r>
              <a:rPr lang="en-US" altLang="zh-CN" sz="900" kern="1200" dirty="0">
                <a:solidFill>
                  <a:schemeClr val="tx1"/>
                </a:solidFill>
                <a:effectLst/>
                <a:latin typeface="+mn-lt"/>
                <a:ea typeface="+mn-ea"/>
                <a:cs typeface="+mn-cs"/>
              </a:rPr>
              <a:t>FePO</a:t>
            </a:r>
            <a:r>
              <a:rPr lang="en-US" altLang="zh-CN" sz="900" kern="1200" baseline="-250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化学锂化的</a:t>
            </a:r>
            <a:r>
              <a:rPr lang="en-US" altLang="zh-CN" sz="900" kern="1200" dirty="0">
                <a:solidFill>
                  <a:schemeClr val="tx1"/>
                </a:solidFill>
                <a:effectLst/>
                <a:latin typeface="+mn-lt"/>
                <a:ea typeface="+mn-ea"/>
                <a:cs typeface="+mn-cs"/>
              </a:rPr>
              <a:t>XRD</a:t>
            </a:r>
            <a:r>
              <a:rPr lang="zh-CN" altLang="zh-CN" sz="900" kern="1200" dirty="0">
                <a:solidFill>
                  <a:schemeClr val="tx1"/>
                </a:solidFill>
                <a:effectLst/>
                <a:latin typeface="+mn-lt"/>
                <a:ea typeface="+mn-ea"/>
                <a:cs typeface="+mn-cs"/>
              </a:rPr>
              <a:t>图谱如图</a:t>
            </a:r>
            <a:r>
              <a:rPr lang="en-US" altLang="zh-CN" sz="900" kern="12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所示，显示了</a:t>
            </a:r>
            <a:r>
              <a:rPr lang="en-US" altLang="zh-CN" sz="900" kern="1200" dirty="0">
                <a:solidFill>
                  <a:schemeClr val="tx1"/>
                </a:solidFill>
                <a:effectLst/>
                <a:latin typeface="+mn-lt"/>
                <a:ea typeface="+mn-ea"/>
                <a:cs typeface="+mn-cs"/>
              </a:rPr>
              <a:t>LiFePO</a:t>
            </a:r>
            <a:r>
              <a:rPr lang="en-US" altLang="zh-CN" sz="900" kern="1200" baseline="-250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的出现和生长，而</a:t>
            </a:r>
            <a:r>
              <a:rPr lang="en-US" altLang="zh-CN" sz="900" kern="1200" dirty="0">
                <a:solidFill>
                  <a:schemeClr val="tx1"/>
                </a:solidFill>
                <a:effectLst/>
                <a:latin typeface="+mn-lt"/>
                <a:ea typeface="+mn-ea"/>
                <a:cs typeface="+mn-cs"/>
              </a:rPr>
              <a:t>FePO</a:t>
            </a:r>
            <a:r>
              <a:rPr lang="en-US" altLang="zh-CN" sz="900" kern="1200" baseline="-250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的出现和生长是以更多的锂化为代价的。</a:t>
            </a:r>
            <a:endParaRPr lang="en-US" altLang="zh-CN" sz="900" kern="1200" dirty="0">
              <a:solidFill>
                <a:schemeClr val="tx1"/>
              </a:solidFill>
              <a:effectLst/>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dirty="0"/>
              <a:t>lithiation</a:t>
            </a:r>
            <a:r>
              <a:rPr lang="en-US" altLang="zh-CN" dirty="0"/>
              <a:t>_——</a:t>
            </a:r>
            <a:r>
              <a:rPr lang="zh-CN" altLang="en-US" dirty="0"/>
              <a:t>锂化</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22</a:t>
            </a:fld>
            <a:endParaRPr lang="zh-CN" altLang="en-US"/>
          </a:p>
        </p:txBody>
      </p:sp>
    </p:spTree>
    <p:extLst>
      <p:ext uri="{BB962C8B-B14F-4D97-AF65-F5344CB8AC3E}">
        <p14:creationId xmlns:p14="http://schemas.microsoft.com/office/powerpoint/2010/main" val="32517332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dirty="0"/>
              <a:t>由此我们可以写出从</a:t>
            </a:r>
            <a:r>
              <a:rPr lang="en-US" altLang="zh-CN" dirty="0"/>
              <a:t>LiFePO4</a:t>
            </a:r>
            <a:r>
              <a:rPr lang="zh-CN" altLang="en-US" dirty="0"/>
              <a:t>中提取锂来给阴极充电可以写成：</a:t>
            </a:r>
            <a:endParaRPr lang="en-US" altLang="zh-CN" dirty="0"/>
          </a:p>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dirty="0"/>
              <a:t>以及放电时锂插入</a:t>
            </a:r>
            <a:r>
              <a:rPr lang="en-US" altLang="zh-CN" dirty="0"/>
              <a:t>FePO4</a:t>
            </a:r>
            <a:r>
              <a:rPr lang="zh-CN" altLang="en-US" dirty="0"/>
              <a:t>的反应</a:t>
            </a:r>
            <a:endParaRPr lang="en-US" altLang="zh-CN"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685800" rtl="0" eaLnBrk="1" fontAlgn="auto" latinLnBrk="0" hangingPunct="1">
              <a:lnSpc>
                <a:spcPct val="100000"/>
              </a:lnSpc>
              <a:spcBef>
                <a:spcPts val="0"/>
              </a:spcBef>
              <a:spcAft>
                <a:spcPts val="0"/>
              </a:spcAft>
              <a:buClrTx/>
              <a:buSzTx/>
              <a:buFontTx/>
              <a:buNone/>
              <a:tabLst/>
              <a:defRPr/>
            </a:pPr>
            <a:r>
              <a:rPr lang="zh-CN" altLang="zh-CN" sz="900" kern="1200" dirty="0">
                <a:solidFill>
                  <a:schemeClr val="tx1"/>
                </a:solidFill>
                <a:effectLst/>
                <a:latin typeface="+mn-lt"/>
                <a:ea typeface="+mn-ea"/>
                <a:cs typeface="+mn-cs"/>
              </a:rPr>
              <a:t>增加电流密度并不会降低开路电压</a:t>
            </a:r>
            <a:r>
              <a:rPr lang="en-US" altLang="zh-CN" sz="900" kern="1200" dirty="0">
                <a:solidFill>
                  <a:schemeClr val="tx1"/>
                </a:solidFill>
                <a:effectLst/>
                <a:latin typeface="+mn-lt"/>
                <a:ea typeface="+mn-ea"/>
                <a:cs typeface="+mn-cs"/>
              </a:rPr>
              <a:t>;</a:t>
            </a:r>
            <a:r>
              <a:rPr lang="zh-CN" altLang="zh-CN" sz="900" kern="1200" dirty="0">
                <a:solidFill>
                  <a:schemeClr val="tx1"/>
                </a:solidFill>
                <a:effectLst/>
                <a:latin typeface="+mn-lt"/>
                <a:ea typeface="+mn-ea"/>
                <a:cs typeface="+mn-cs"/>
              </a:rPr>
              <a:t>相反，它会可逆地降低电池容量。减小电流可恢复容量。这一观察结果表明，容量损失是一种扩散限制现象，与插入过程的两相特性有关。</a:t>
            </a:r>
            <a:endParaRPr lang="en-US" altLang="zh-CN" dirty="0"/>
          </a:p>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dirty="0"/>
              <a:t>        </a:t>
            </a:r>
          </a:p>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dirty="0"/>
              <a:t>在对锂离子脱</a:t>
            </a:r>
            <a:r>
              <a:rPr lang="en-US" altLang="zh-CN" dirty="0"/>
              <a:t>/</a:t>
            </a:r>
            <a:r>
              <a:rPr lang="zh-CN" altLang="en-US" dirty="0"/>
              <a:t>嵌机理进行的各种描述中，我们应用辐射迁移模型来解释：即脱嵌过程是从</a:t>
            </a:r>
            <a:r>
              <a:rPr lang="en-US" altLang="zh-CN" dirty="0"/>
              <a:t>LiFePO4</a:t>
            </a:r>
            <a:r>
              <a:rPr lang="zh-CN" altLang="en-US" dirty="0"/>
              <a:t>颗粒的表面经过两相界面</a:t>
            </a:r>
            <a:r>
              <a:rPr lang="en-US" altLang="zh-CN" dirty="0"/>
              <a:t>LiFePO4/FePO4</a:t>
            </a:r>
            <a:r>
              <a:rPr lang="zh-CN" altLang="en-US" dirty="0"/>
              <a:t>进行的。充电时，随着锂离子的迁出而形成的</a:t>
            </a:r>
            <a:r>
              <a:rPr lang="en-US" altLang="zh-CN" dirty="0"/>
              <a:t>FePO4</a:t>
            </a:r>
            <a:r>
              <a:rPr lang="zh-CN" altLang="en-US" dirty="0"/>
              <a:t>层逐渐向内核推进，则</a:t>
            </a:r>
            <a:r>
              <a:rPr lang="en-US" altLang="zh-CN" dirty="0"/>
              <a:t>LiFePO4/FePO4</a:t>
            </a:r>
            <a:r>
              <a:rPr lang="zh-CN" altLang="en-US" dirty="0"/>
              <a:t>界面会不断减小。在这个过程中，锂离子和电子必须通过新形成的</a:t>
            </a:r>
            <a:r>
              <a:rPr lang="en-US" altLang="zh-CN" dirty="0"/>
              <a:t>FePO4</a:t>
            </a:r>
            <a:r>
              <a:rPr lang="zh-CN" altLang="en-US" dirty="0"/>
              <a:t>层。但是锂离子的扩散速率在一定条件下为常数，党</a:t>
            </a:r>
            <a:r>
              <a:rPr lang="en-US" altLang="zh-CN" dirty="0"/>
              <a:t>LiFePO4/FePO4</a:t>
            </a:r>
            <a:r>
              <a:rPr lang="zh-CN" altLang="en-US" dirty="0"/>
              <a:t>界面继续减小到某一个临界值时，通过界面的锂离子扩散通量将不足以维持恒电流，此时位于颗粒核心的</a:t>
            </a:r>
            <a:r>
              <a:rPr lang="en-US" altLang="zh-CN" dirty="0"/>
              <a:t>LiFePO4</a:t>
            </a:r>
            <a:r>
              <a:rPr lang="zh-CN" altLang="en-US" dirty="0"/>
              <a:t>就不能得到利用，成为容量损失的来源。</a:t>
            </a:r>
            <a:endParaRPr lang="en-US" altLang="zh-CN" dirty="0"/>
          </a:p>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dirty="0"/>
              <a:t>放电时，锂离子嵌入的模式与此相同。脱嵌过程中，电流密度越大，未反应的</a:t>
            </a:r>
            <a:r>
              <a:rPr lang="en-US" altLang="zh-CN" dirty="0"/>
              <a:t>LiFePO4</a:t>
            </a:r>
            <a:r>
              <a:rPr lang="zh-CN" altLang="en-US" dirty="0"/>
              <a:t>占整个颗粒的体积越大，可利用部分减少，比容量下降。</a:t>
            </a:r>
            <a:endParaRPr lang="en-US" altLang="zh-CN" dirty="0"/>
          </a:p>
          <a:p>
            <a:pPr marL="0" marR="0" lvl="0" indent="0" algn="l" defTabSz="685800" rtl="0" eaLnBrk="1" fontAlgn="auto" latinLnBrk="0" hangingPunct="1">
              <a:lnSpc>
                <a:spcPct val="100000"/>
              </a:lnSpc>
              <a:spcBef>
                <a:spcPts val="0"/>
              </a:spcBef>
              <a:spcAft>
                <a:spcPts val="0"/>
              </a:spcAft>
              <a:buClrTx/>
              <a:buSzTx/>
              <a:buFontTx/>
              <a:buNone/>
              <a:tabLst/>
              <a:defRPr/>
            </a:pPr>
            <a:r>
              <a:rPr lang="zh-CN" altLang="zh-CN" sz="900" kern="1200" dirty="0">
                <a:solidFill>
                  <a:schemeClr val="tx1"/>
                </a:solidFill>
                <a:effectLst/>
                <a:latin typeface="+mn-lt"/>
                <a:ea typeface="+mn-ea"/>
                <a:cs typeface="+mn-cs"/>
              </a:rPr>
              <a:t>因此，电流越大，总临界界面面积越大，在电池性能受到扩散限制之前插入锂的浓度</a:t>
            </a:r>
            <a:r>
              <a:rPr lang="en-US" altLang="zh-CN" sz="900" kern="1200" dirty="0">
                <a:solidFill>
                  <a:schemeClr val="tx1"/>
                </a:solidFill>
                <a:effectLst/>
                <a:latin typeface="+mn-lt"/>
                <a:ea typeface="+mn-ea"/>
                <a:cs typeface="+mn-cs"/>
              </a:rPr>
              <a:t>x</a:t>
            </a:r>
            <a:r>
              <a:rPr lang="zh-CN" altLang="zh-CN" sz="900" kern="1200" dirty="0">
                <a:solidFill>
                  <a:schemeClr val="tx1"/>
                </a:solidFill>
                <a:effectLst/>
                <a:latin typeface="+mn-lt"/>
                <a:ea typeface="+mn-ea"/>
                <a:cs typeface="+mn-cs"/>
              </a:rPr>
              <a:t>越小。</a:t>
            </a:r>
            <a:r>
              <a:rPr lang="zh-CN" altLang="zh-CN" sz="900" b="1" u="sng" kern="1200" dirty="0">
                <a:solidFill>
                  <a:schemeClr val="tx1"/>
                </a:solidFill>
                <a:effectLst/>
                <a:latin typeface="+mn-lt"/>
                <a:ea typeface="+mn-ea"/>
                <a:cs typeface="+mn-cs"/>
              </a:rPr>
              <a:t>在锂的提取过程中，颗粒核心的母相向颗粒表面内方向生长，这就是为什么在重复循环中母相可以得到保留，电池电流密度降低时，容量损失是可逆的。</a:t>
            </a:r>
            <a:r>
              <a:rPr lang="zh-CN" altLang="zh-CN" sz="900" kern="1200" dirty="0">
                <a:solidFill>
                  <a:schemeClr val="tx1"/>
                </a:solidFill>
                <a:effectLst/>
                <a:latin typeface="+mn-lt"/>
                <a:ea typeface="+mn-ea"/>
                <a:cs typeface="+mn-cs"/>
              </a:rPr>
              <a:t>这种容量的损失不是由于体积变化造成的粒子间电接触的中断（这种过程通常是不可逆的）</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23</a:t>
            </a:fld>
            <a:endParaRPr lang="zh-CN" altLang="en-US"/>
          </a:p>
        </p:txBody>
      </p:sp>
    </p:spTree>
    <p:extLst>
      <p:ext uri="{BB962C8B-B14F-4D97-AF65-F5344CB8AC3E}">
        <p14:creationId xmlns:p14="http://schemas.microsoft.com/office/powerpoint/2010/main" val="7631521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zh-CN" sz="900" kern="1200" dirty="0">
                <a:solidFill>
                  <a:schemeClr val="tx1"/>
                </a:solidFill>
                <a:effectLst/>
                <a:latin typeface="+mn-lt"/>
                <a:ea typeface="+mn-ea"/>
                <a:cs typeface="+mn-cs"/>
              </a:rPr>
              <a:t>这种材料非常适合低功耗应用</a:t>
            </a:r>
            <a:r>
              <a:rPr lang="en-US" altLang="zh-CN" sz="900" kern="1200" dirty="0">
                <a:solidFill>
                  <a:schemeClr val="tx1"/>
                </a:solidFill>
                <a:effectLst/>
                <a:latin typeface="+mn-lt"/>
                <a:ea typeface="+mn-ea"/>
                <a:cs typeface="+mn-cs"/>
              </a:rPr>
              <a:t>;</a:t>
            </a:r>
            <a:r>
              <a:rPr lang="zh-CN" altLang="zh-CN" sz="900" kern="1200" dirty="0">
                <a:solidFill>
                  <a:schemeClr val="tx1"/>
                </a:solidFill>
                <a:effectLst/>
                <a:latin typeface="+mn-lt"/>
                <a:ea typeface="+mn-ea"/>
                <a:cs typeface="+mn-cs"/>
              </a:rPr>
              <a:t>我们认为，在较高的电流密度下，容量的可逆下降与两相界面的运动有关，这是阴极在放电循环中穿越两相组成域的一个特征。由于从</a:t>
            </a:r>
            <a:r>
              <a:rPr lang="en-US" altLang="zh-CN" sz="900" kern="1200" dirty="0">
                <a:solidFill>
                  <a:schemeClr val="tx1"/>
                </a:solidFill>
                <a:effectLst/>
                <a:latin typeface="+mn-lt"/>
                <a:ea typeface="+mn-ea"/>
                <a:cs typeface="+mn-cs"/>
              </a:rPr>
              <a:t>FePO</a:t>
            </a:r>
            <a:r>
              <a:rPr lang="en-US" altLang="zh-CN" sz="900" kern="1200" baseline="-250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开始可以得到相同的</a:t>
            </a:r>
            <a:r>
              <a:rPr lang="en-US" altLang="zh-CN" sz="900" kern="1200" dirty="0">
                <a:solidFill>
                  <a:schemeClr val="tx1"/>
                </a:solidFill>
                <a:effectLst/>
                <a:latin typeface="+mn-lt"/>
                <a:ea typeface="+mn-ea"/>
                <a:cs typeface="+mn-cs"/>
              </a:rPr>
              <a:t>V(x)</a:t>
            </a:r>
            <a:r>
              <a:rPr lang="zh-CN" altLang="zh-CN" sz="900" kern="1200" dirty="0">
                <a:solidFill>
                  <a:schemeClr val="tx1"/>
                </a:solidFill>
                <a:effectLst/>
                <a:latin typeface="+mn-lt"/>
                <a:ea typeface="+mn-ea"/>
                <a:cs typeface="+mn-cs"/>
              </a:rPr>
              <a:t>曲线，而且基本上所有的锂都可以通过化学方法从</a:t>
            </a:r>
            <a:r>
              <a:rPr lang="en-US" altLang="zh-CN" sz="900" kern="1200" dirty="0">
                <a:solidFill>
                  <a:schemeClr val="tx1"/>
                </a:solidFill>
                <a:effectLst/>
                <a:latin typeface="+mn-lt"/>
                <a:ea typeface="+mn-ea"/>
                <a:cs typeface="+mn-cs"/>
              </a:rPr>
              <a:t>LiFePO</a:t>
            </a:r>
            <a:r>
              <a:rPr lang="en-US" altLang="zh-CN" sz="900" kern="1200" baseline="-250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中提取出来，因此，</a:t>
            </a:r>
            <a:r>
              <a:rPr lang="en-US" altLang="zh-CN" sz="900" kern="1200" dirty="0">
                <a:solidFill>
                  <a:schemeClr val="tx1"/>
                </a:solidFill>
                <a:effectLst/>
                <a:latin typeface="+mn-lt"/>
                <a:ea typeface="+mn-ea"/>
                <a:cs typeface="+mn-cs"/>
              </a:rPr>
              <a:t>LiFePO</a:t>
            </a:r>
            <a:r>
              <a:rPr lang="en-US" altLang="zh-CN" sz="900" kern="1200" baseline="-25000" dirty="0">
                <a:solidFill>
                  <a:schemeClr val="tx1"/>
                </a:solidFill>
                <a:effectLst/>
                <a:latin typeface="+mn-lt"/>
                <a:ea typeface="+mn-ea"/>
                <a:cs typeface="+mn-cs"/>
              </a:rPr>
              <a:t>4</a:t>
            </a:r>
            <a:r>
              <a:rPr lang="zh-CN" altLang="zh-CN" sz="900" kern="1200" dirty="0">
                <a:solidFill>
                  <a:schemeClr val="tx1"/>
                </a:solidFill>
                <a:effectLst/>
                <a:latin typeface="+mn-lt"/>
                <a:ea typeface="+mn-ea"/>
                <a:cs typeface="+mn-cs"/>
              </a:rPr>
              <a:t>仅有</a:t>
            </a:r>
            <a:r>
              <a:rPr lang="en-US" altLang="zh-CN" sz="900" kern="1200" dirty="0">
                <a:solidFill>
                  <a:schemeClr val="tx1"/>
                </a:solidFill>
                <a:effectLst/>
                <a:latin typeface="+mn-lt"/>
                <a:ea typeface="+mn-ea"/>
                <a:cs typeface="+mn-cs"/>
              </a:rPr>
              <a:t>0.6</a:t>
            </a:r>
            <a:r>
              <a:rPr lang="zh-CN" altLang="zh-CN" sz="900" kern="1200" dirty="0">
                <a:solidFill>
                  <a:schemeClr val="tx1"/>
                </a:solidFill>
                <a:effectLst/>
                <a:latin typeface="+mn-lt"/>
                <a:ea typeface="+mn-ea"/>
                <a:cs typeface="+mn-cs"/>
              </a:rPr>
              <a:t>原子</a:t>
            </a:r>
            <a:r>
              <a:rPr lang="en-US" altLang="zh-CN" sz="900" kern="1200" dirty="0">
                <a:solidFill>
                  <a:schemeClr val="tx1"/>
                </a:solidFill>
                <a:effectLst/>
                <a:latin typeface="+mn-lt"/>
                <a:ea typeface="+mn-ea"/>
                <a:cs typeface="+mn-cs"/>
              </a:rPr>
              <a:t>/</a:t>
            </a:r>
            <a:r>
              <a:rPr lang="zh-CN" altLang="zh-CN" sz="900" kern="1200" dirty="0">
                <a:solidFill>
                  <a:schemeClr val="tx1"/>
                </a:solidFill>
                <a:effectLst/>
                <a:latin typeface="+mn-lt"/>
                <a:ea typeface="+mn-ea"/>
                <a:cs typeface="+mn-cs"/>
              </a:rPr>
              <a:t>公式单位</a:t>
            </a:r>
            <a:r>
              <a:rPr lang="en-US" altLang="zh-CN" sz="900" kern="1200" dirty="0">
                <a:solidFill>
                  <a:schemeClr val="tx1"/>
                </a:solidFill>
                <a:effectLst/>
                <a:latin typeface="+mn-lt"/>
                <a:ea typeface="+mn-ea"/>
                <a:cs typeface="+mn-cs"/>
              </a:rPr>
              <a:t>Li</a:t>
            </a:r>
            <a:r>
              <a:rPr lang="zh-CN" altLang="zh-CN" sz="900" kern="1200" dirty="0">
                <a:solidFill>
                  <a:schemeClr val="tx1"/>
                </a:solidFill>
                <a:effectLst/>
                <a:latin typeface="+mn-lt"/>
                <a:ea typeface="+mn-ea"/>
                <a:cs typeface="+mn-cs"/>
              </a:rPr>
              <a:t>的插入可能是一个外部问题。</a:t>
            </a:r>
            <a:endParaRPr lang="en-US" altLang="zh-CN" sz="900" kern="1200" dirty="0">
              <a:solidFill>
                <a:schemeClr val="tx1"/>
              </a:solidFill>
              <a:effectLst/>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altLang="zh-CN" sz="900" kern="1200" dirty="0">
              <a:solidFill>
                <a:schemeClr val="tx1"/>
              </a:solidFill>
              <a:effectLst/>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900" kern="1200" dirty="0">
                <a:solidFill>
                  <a:schemeClr val="tx1"/>
                </a:solidFill>
                <a:effectLst/>
                <a:latin typeface="+mn-lt"/>
                <a:ea typeface="+mn-ea"/>
                <a:cs typeface="+mn-cs"/>
              </a:rPr>
              <a:t>磷酸铁锂在纳米化以及材料加工方面继续进步</a:t>
            </a:r>
            <a:r>
              <a:rPr lang="en-US" altLang="zh-CN" sz="900" kern="1200" dirty="0">
                <a:solidFill>
                  <a:schemeClr val="tx1"/>
                </a:solidFill>
                <a:effectLst/>
                <a:latin typeface="+mn-lt"/>
                <a:ea typeface="+mn-ea"/>
                <a:cs typeface="+mn-cs"/>
              </a:rPr>
              <a:t>.</a:t>
            </a:r>
            <a:r>
              <a:rPr lang="zh-CN" altLang="en-US" sz="900" kern="1200" dirty="0">
                <a:solidFill>
                  <a:schemeClr val="tx1"/>
                </a:solidFill>
                <a:effectLst/>
                <a:latin typeface="+mn-lt"/>
                <a:ea typeface="+mn-ea"/>
                <a:cs typeface="+mn-cs"/>
              </a:rPr>
              <a:t>如何实现磷酸铁锂颗粒表面均匀的导电层包覆和实现合理的金属离子参杂，如何保证材料有良好的性能等也时研究者们值得注意的点。</a:t>
            </a:r>
            <a:endParaRPr lang="zh-CN" altLang="zh-CN" sz="900" kern="1200" dirty="0">
              <a:solidFill>
                <a:schemeClr val="tx1"/>
              </a:solidFill>
              <a:effectLst/>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dirty="0"/>
              <a:t>电池能承受电动车以及混合动力车所要求的或高或低的操作温度。锂嵌入</a:t>
            </a:r>
            <a:r>
              <a:rPr lang="en-US" altLang="zh-CN" dirty="0"/>
              <a:t>/</a:t>
            </a:r>
            <a:r>
              <a:rPr lang="zh-CN" altLang="en-US" dirty="0"/>
              <a:t>脱嵌机制的相关研究有利于更好的基本理解结构和电化学特性之间的关系，但电极与电解质之间强烈影响磷酸铁锂阴极材料循环性能的界面行为仍不清楚。为了广泛的工业化应用，情节、易控制的生产高品质磷酸铁锂材料的路线应该不断发展。</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24</a:t>
            </a:fld>
            <a:endParaRPr lang="zh-CN" altLang="en-US"/>
          </a:p>
        </p:txBody>
      </p:sp>
    </p:spTree>
    <p:extLst>
      <p:ext uri="{BB962C8B-B14F-4D97-AF65-F5344CB8AC3E}">
        <p14:creationId xmlns:p14="http://schemas.microsoft.com/office/powerpoint/2010/main" val="370394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2019/12/25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7" y="1282304"/>
            <a:ext cx="7886700" cy="2139553"/>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7"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2019/12/25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369218"/>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369218"/>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2019/12/25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p>
        </p:txBody>
      </p:sp>
      <p:sp>
        <p:nvSpPr>
          <p:cNvPr id="3" name="文本占位符 2"/>
          <p:cNvSpPr>
            <a:spLocks noGrp="1"/>
          </p:cNvSpPr>
          <p:nvPr>
            <p:ph type="body" idx="1"/>
          </p:nvPr>
        </p:nvSpPr>
        <p:spPr>
          <a:xfrm>
            <a:off x="890080" y="1333829"/>
            <a:ext cx="3655181"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a:r>
              <a:rPr lang="zh-CN" altLang="en-US"/>
              <a:t>单击此处编辑母版文本样式</a:t>
            </a:r>
          </a:p>
        </p:txBody>
      </p:sp>
      <p:sp>
        <p:nvSpPr>
          <p:cNvPr id="4" name="内容占位符 3"/>
          <p:cNvSpPr>
            <a:spLocks noGrp="1"/>
          </p:cNvSpPr>
          <p:nvPr>
            <p:ph sz="half" idx="2"/>
          </p:nvPr>
        </p:nvSpPr>
        <p:spPr>
          <a:xfrm>
            <a:off x="890080" y="1999034"/>
            <a:ext cx="3655181" cy="26432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333829"/>
            <a:ext cx="3673182"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a:r>
              <a:rPr lang="zh-CN" altLang="en-US"/>
              <a:t>单击此处编辑母版文本样式</a:t>
            </a:r>
          </a:p>
        </p:txBody>
      </p:sp>
      <p:sp>
        <p:nvSpPr>
          <p:cNvPr id="6" name="内容占位符 5"/>
          <p:cNvSpPr>
            <a:spLocks noGrp="1"/>
          </p:cNvSpPr>
          <p:nvPr>
            <p:ph sz="quarter" idx="4"/>
          </p:nvPr>
        </p:nvSpPr>
        <p:spPr>
          <a:xfrm>
            <a:off x="4692704" y="1999034"/>
            <a:ext cx="3673182" cy="26432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2019/12/25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2019/12/25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2019/12/25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3124012" cy="120015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342900"/>
            <a:ext cx="4629150" cy="4052888"/>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1543050"/>
            <a:ext cx="3124012" cy="2858691"/>
          </a:xfrm>
        </p:spPr>
        <p:txBody>
          <a:bodyPr/>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2019/12/25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3"/>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3"/>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2019/12/25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273843"/>
            <a:ext cx="7886700" cy="435887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2019/12/25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2"/>
          <p:cNvSpPr>
            <a:spLocks noGrp="1"/>
          </p:cNvSpPr>
          <p:nvPr>
            <p:ph type="dt" sz="half" idx="10"/>
          </p:nvPr>
        </p:nvSpPr>
        <p:spPr>
          <a:xfrm>
            <a:off x="628650" y="4767263"/>
            <a:ext cx="2057400" cy="273844"/>
          </a:xfrm>
        </p:spPr>
        <p:txBody>
          <a:bodyPr/>
          <a:lstStyle>
            <a:lvl1pPr>
              <a:defRPr/>
            </a:lvl1pPr>
          </a:lstStyle>
          <a:p>
            <a:fld id="{80F42DC0-2E3F-F440-A3AA-64F0AA1F84F2}" type="datetime1">
              <a:rPr lang="zh-CN" altLang="en-US"/>
              <a:t>2019/12/25</a:t>
            </a:fld>
            <a:endParaRPr lang="zh-CN" altLang="en-US" sz="1400">
              <a:solidFill>
                <a:schemeClr val="tx1"/>
              </a:solidFill>
            </a:endParaRPr>
          </a:p>
        </p:txBody>
      </p:sp>
      <p:sp>
        <p:nvSpPr>
          <p:cNvPr id="4" name="页脚占位符 3"/>
          <p:cNvSpPr>
            <a:spLocks noGrp="1"/>
          </p:cNvSpPr>
          <p:nvPr>
            <p:ph type="ftr" sz="quarter" idx="11"/>
          </p:nvPr>
        </p:nvSpPr>
        <p:spPr>
          <a:xfrm>
            <a:off x="3028950" y="4767263"/>
            <a:ext cx="3086100" cy="273844"/>
          </a:xfrm>
        </p:spPr>
        <p:txBody>
          <a:bodyPr/>
          <a:lstStyle>
            <a:lvl1pPr>
              <a:defRPr/>
            </a:lvl1pPr>
          </a:lstStyle>
          <a:p>
            <a:endParaRPr lang="zh-CN" altLang="zh-CN"/>
          </a:p>
        </p:txBody>
      </p:sp>
      <p:sp>
        <p:nvSpPr>
          <p:cNvPr id="5" name="幻灯片编号占位符 4"/>
          <p:cNvSpPr>
            <a:spLocks noGrp="1"/>
          </p:cNvSpPr>
          <p:nvPr>
            <p:ph type="sldNum" sz="quarter" idx="12"/>
          </p:nvPr>
        </p:nvSpPr>
        <p:spPr>
          <a:xfrm>
            <a:off x="6457950" y="4767263"/>
            <a:ext cx="2057400" cy="273844"/>
          </a:xfrm>
        </p:spPr>
        <p:txBody>
          <a:bodyPr/>
          <a:lstStyle>
            <a:lvl1pPr>
              <a:defRPr/>
            </a:lvl1pPr>
          </a:lstStyle>
          <a:p>
            <a:fld id="{C5FC99A0-26D8-5E4B-82FB-70809BCEE9F6}" type="slidenum">
              <a:rPr lang="zh-CN" altLang="en-US"/>
              <a:t>‹#›</a:t>
            </a:fld>
            <a:endParaRPr lang="zh-CN" altLang="en-US" sz="140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68580" tIns="34290" rIns="68580" bIns="3429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369218"/>
            <a:ext cx="7886700" cy="3263504"/>
          </a:xfrm>
          <a:prstGeom prst="rect">
            <a:avLst/>
          </a:prstGeom>
        </p:spPr>
        <p:txBody>
          <a:bodyPr vert="horz" lIns="68580" tIns="34290" rIns="68580" bIns="3429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4767263"/>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fld id="{82F288E0-7875-42C4-84C8-98DBBD3BF4D2}" type="datetimeFigureOut">
              <a:rPr lang="zh-CN" altLang="en-US" smtClean="0"/>
              <a:t>2019/12/25</a:t>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360035" y="1521011"/>
            <a:ext cx="6817128" cy="561692"/>
          </a:xfrm>
          <a:prstGeom prst="rect">
            <a:avLst/>
          </a:prstGeom>
          <a:noFill/>
        </p:spPr>
        <p:txBody>
          <a:bodyPr wrap="square" lIns="68580" tIns="34290" rIns="68580" bIns="34290" rtlCol="0">
            <a:spAutoFit/>
          </a:bodyPr>
          <a:lstStyle/>
          <a:p>
            <a:pPr algn="ctr"/>
            <a:r>
              <a:rPr lang="en-US" altLang="zh-CN" sz="3200" b="1" dirty="0">
                <a:solidFill>
                  <a:srgbClr val="1B4367"/>
                </a:solidFill>
                <a:cs typeface="+mn-ea"/>
                <a:sym typeface="+mn-lt"/>
              </a:rPr>
              <a:t>Goodenough Cathode Material</a:t>
            </a:r>
            <a:endParaRPr lang="zh-CN" altLang="en-US" sz="3200" b="1" dirty="0">
              <a:solidFill>
                <a:srgbClr val="1B4367"/>
              </a:solidFill>
              <a:cs typeface="+mn-ea"/>
              <a:sym typeface="+mn-lt"/>
            </a:endParaRPr>
          </a:p>
        </p:txBody>
      </p:sp>
      <p:sp>
        <p:nvSpPr>
          <p:cNvPr id="3" name="文本框 2">
            <a:extLst>
              <a:ext uri="{FF2B5EF4-FFF2-40B4-BE49-F238E27FC236}">
                <a16:creationId xmlns:a16="http://schemas.microsoft.com/office/drawing/2014/main" id="{8455F190-3787-47B2-970E-AC9BF1EEA5C5}"/>
              </a:ext>
            </a:extLst>
          </p:cNvPr>
          <p:cNvSpPr txBox="1"/>
          <p:nvPr/>
        </p:nvSpPr>
        <p:spPr>
          <a:xfrm>
            <a:off x="1163436" y="2474095"/>
            <a:ext cx="6817128" cy="2016321"/>
          </a:xfrm>
          <a:prstGeom prst="rect">
            <a:avLst/>
          </a:prstGeom>
          <a:noFill/>
        </p:spPr>
        <p:txBody>
          <a:bodyPr wrap="square" lIns="68580" tIns="34290" rIns="68580" bIns="34290" rtlCol="0">
            <a:spAutoFit/>
          </a:bodyPr>
          <a:lstStyle/>
          <a:p>
            <a:pPr algn="ctr">
              <a:lnSpc>
                <a:spcPct val="150000"/>
              </a:lnSpc>
            </a:pPr>
            <a:r>
              <a:rPr lang="en-US" altLang="zh-CN" sz="1200" b="1" dirty="0">
                <a:solidFill>
                  <a:srgbClr val="1B4367"/>
                </a:solidFill>
                <a:latin typeface="+mj-lt"/>
                <a:cs typeface="+mn-ea"/>
                <a:sym typeface="+mn-lt"/>
              </a:rPr>
              <a:t>Group member: Chao Zhao</a:t>
            </a:r>
          </a:p>
          <a:p>
            <a:pPr algn="ctr">
              <a:lnSpc>
                <a:spcPct val="150000"/>
              </a:lnSpc>
            </a:pPr>
            <a:r>
              <a:rPr lang="en-US" altLang="zh-CN" sz="1200" b="1" dirty="0">
                <a:solidFill>
                  <a:srgbClr val="1B4367"/>
                </a:solidFill>
                <a:latin typeface="+mj-lt"/>
                <a:cs typeface="+mn-ea"/>
                <a:sym typeface="+mn-lt"/>
              </a:rPr>
              <a:t>Hao Liu</a:t>
            </a:r>
          </a:p>
          <a:p>
            <a:pPr algn="ctr">
              <a:lnSpc>
                <a:spcPct val="150000"/>
              </a:lnSpc>
            </a:pPr>
            <a:r>
              <a:rPr lang="en-US" altLang="zh-CN" sz="1200" b="1" dirty="0" err="1">
                <a:solidFill>
                  <a:srgbClr val="1B4367"/>
                </a:solidFill>
                <a:latin typeface="+mj-lt"/>
                <a:cs typeface="+mn-ea"/>
                <a:sym typeface="+mn-lt"/>
              </a:rPr>
              <a:t>Yumu</a:t>
            </a:r>
            <a:r>
              <a:rPr lang="en-US" altLang="zh-CN" sz="1200" b="1" dirty="0">
                <a:solidFill>
                  <a:srgbClr val="1B4367"/>
                </a:solidFill>
                <a:latin typeface="+mj-lt"/>
                <a:cs typeface="+mn-ea"/>
                <a:sym typeface="+mn-lt"/>
              </a:rPr>
              <a:t> Deng</a:t>
            </a:r>
          </a:p>
          <a:p>
            <a:pPr algn="ctr">
              <a:lnSpc>
                <a:spcPct val="150000"/>
              </a:lnSpc>
            </a:pPr>
            <a:r>
              <a:rPr lang="en-US" altLang="zh-CN" sz="1200" b="1" dirty="0">
                <a:solidFill>
                  <a:srgbClr val="1B4367"/>
                </a:solidFill>
                <a:latin typeface="+mj-lt"/>
                <a:cs typeface="+mn-ea"/>
                <a:sym typeface="+mn-lt"/>
              </a:rPr>
              <a:t>Peng Xin</a:t>
            </a:r>
          </a:p>
          <a:p>
            <a:pPr algn="ctr">
              <a:lnSpc>
                <a:spcPct val="150000"/>
              </a:lnSpc>
            </a:pPr>
            <a:r>
              <a:rPr lang="en-US" altLang="zh-CN" sz="1200" b="1" dirty="0" err="1">
                <a:solidFill>
                  <a:srgbClr val="1B4367"/>
                </a:solidFill>
                <a:latin typeface="+mj-lt"/>
                <a:cs typeface="+mn-ea"/>
                <a:sym typeface="+mn-lt"/>
              </a:rPr>
              <a:t>Yingang</a:t>
            </a:r>
            <a:r>
              <a:rPr lang="en-US" altLang="zh-CN" sz="1200" b="1" dirty="0">
                <a:solidFill>
                  <a:srgbClr val="1B4367"/>
                </a:solidFill>
                <a:latin typeface="+mj-lt"/>
                <a:cs typeface="+mn-ea"/>
                <a:sym typeface="+mn-lt"/>
              </a:rPr>
              <a:t> Xu</a:t>
            </a:r>
          </a:p>
          <a:p>
            <a:pPr algn="ctr">
              <a:lnSpc>
                <a:spcPct val="150000"/>
              </a:lnSpc>
            </a:pPr>
            <a:r>
              <a:rPr lang="en-US" altLang="zh-CN" sz="1200" b="1" dirty="0" err="1">
                <a:solidFill>
                  <a:srgbClr val="1B4367"/>
                </a:solidFill>
                <a:latin typeface="+mj-lt"/>
                <a:cs typeface="+mn-ea"/>
                <a:sym typeface="+mn-lt"/>
              </a:rPr>
              <a:t>Yuguo</a:t>
            </a:r>
            <a:r>
              <a:rPr lang="en-US" altLang="zh-CN" sz="1200" b="1" dirty="0">
                <a:solidFill>
                  <a:srgbClr val="1B4367"/>
                </a:solidFill>
                <a:latin typeface="+mj-lt"/>
                <a:cs typeface="+mn-ea"/>
                <a:sym typeface="+mn-lt"/>
              </a:rPr>
              <a:t> Gan</a:t>
            </a:r>
          </a:p>
          <a:p>
            <a:pPr algn="ctr">
              <a:lnSpc>
                <a:spcPct val="150000"/>
              </a:lnSpc>
            </a:pPr>
            <a:r>
              <a:rPr lang="en-US" altLang="zh-CN" b="1" dirty="0">
                <a:solidFill>
                  <a:srgbClr val="1B4367"/>
                </a:solidFill>
                <a:latin typeface="+mj-lt"/>
                <a:cs typeface="+mn-ea"/>
                <a:sym typeface="+mn-lt"/>
              </a:rPr>
              <a:t>2019.12.25</a:t>
            </a:r>
            <a:endParaRPr lang="zh-CN" altLang="en-US" b="1" dirty="0">
              <a:solidFill>
                <a:srgbClr val="1B4367"/>
              </a:solidFill>
              <a:latin typeface="+mj-lt"/>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862004" y="1377153"/>
            <a:ext cx="2841729" cy="391597"/>
          </a:xfrm>
          <a:prstGeom prst="roundRect">
            <a:avLst/>
          </a:prstGeom>
          <a:solidFill>
            <a:srgbClr val="1B4367"/>
          </a:solidFill>
        </p:spPr>
        <p:txBody>
          <a:bodyPr wrap="square" rtlCol="0">
            <a:spAutoFit/>
          </a:bodyPr>
          <a:lstStyle/>
          <a:p>
            <a:r>
              <a:rPr lang="en-US" altLang="zh-CN" sz="1700" dirty="0">
                <a:solidFill>
                  <a:schemeClr val="bg1"/>
                </a:solidFill>
                <a:cs typeface="+mn-ea"/>
                <a:sym typeface="+mn-lt"/>
              </a:rPr>
              <a:t>A New Cathode Material</a:t>
            </a:r>
            <a:endParaRPr lang="zh-CN" altLang="en-US" sz="1700" dirty="0">
              <a:solidFill>
                <a:schemeClr val="bg1"/>
              </a:solidFill>
              <a:cs typeface="+mn-ea"/>
              <a:sym typeface="+mn-lt"/>
            </a:endParaRPr>
          </a:p>
        </p:txBody>
      </p:sp>
      <p:grpSp>
        <p:nvGrpSpPr>
          <p:cNvPr id="2" name="组合 1"/>
          <p:cNvGrpSpPr/>
          <p:nvPr/>
        </p:nvGrpSpPr>
        <p:grpSpPr>
          <a:xfrm>
            <a:off x="5352728" y="1357339"/>
            <a:ext cx="478533" cy="393570"/>
            <a:chOff x="5640108" y="966369"/>
            <a:chExt cx="476097" cy="391567"/>
          </a:xfrm>
        </p:grpSpPr>
        <p:sp>
          <p:nvSpPr>
            <p:cNvPr id="25" name="椭圆 24"/>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26" name="文本框 17"/>
            <p:cNvSpPr txBox="1"/>
            <p:nvPr/>
          </p:nvSpPr>
          <p:spPr>
            <a:xfrm>
              <a:off x="5640108" y="975817"/>
              <a:ext cx="476097" cy="367452"/>
            </a:xfrm>
            <a:prstGeom prst="rect">
              <a:avLst/>
            </a:prstGeom>
            <a:noFill/>
          </p:spPr>
          <p:txBody>
            <a:bodyPr wrap="square" rtlCol="0">
              <a:spAutoFit/>
            </a:bodyPr>
            <a:lstStyle/>
            <a:p>
              <a:pPr algn="ctr">
                <a:defRPr/>
              </a:pPr>
              <a:r>
                <a:rPr lang="en-US" altLang="zh-CN" sz="1800" dirty="0">
                  <a:solidFill>
                    <a:schemeClr val="bg1"/>
                  </a:solidFill>
                  <a:cs typeface="+mn-ea"/>
                  <a:sym typeface="+mn-lt"/>
                </a:rPr>
                <a:t>01</a:t>
              </a:r>
            </a:p>
          </p:txBody>
        </p:sp>
      </p:grpSp>
      <p:sp>
        <p:nvSpPr>
          <p:cNvPr id="3" name="文本框 2"/>
          <p:cNvSpPr txBox="1"/>
          <p:nvPr/>
        </p:nvSpPr>
        <p:spPr>
          <a:xfrm>
            <a:off x="2589119" y="2142693"/>
            <a:ext cx="2834611" cy="584775"/>
          </a:xfrm>
          <a:prstGeom prst="rect">
            <a:avLst/>
          </a:prstGeom>
          <a:noFill/>
        </p:spPr>
        <p:txBody>
          <a:bodyPr vert="horz" wrap="square" rtlCol="0">
            <a:spAutoFit/>
          </a:bodyPr>
          <a:lstStyle/>
          <a:p>
            <a:r>
              <a:rPr lang="en-US" altLang="zh-CN" sz="3200" b="1" dirty="0">
                <a:solidFill>
                  <a:srgbClr val="1B4367"/>
                </a:solidFill>
                <a:cs typeface="+mn-ea"/>
                <a:sym typeface="+mn-lt"/>
              </a:rPr>
              <a:t>CONTENTS</a:t>
            </a:r>
          </a:p>
        </p:txBody>
      </p:sp>
      <p:sp>
        <p:nvSpPr>
          <p:cNvPr id="79" name="文本框 10"/>
          <p:cNvSpPr txBox="1"/>
          <p:nvPr/>
        </p:nvSpPr>
        <p:spPr>
          <a:xfrm>
            <a:off x="5862005" y="2094697"/>
            <a:ext cx="2732865" cy="391597"/>
          </a:xfrm>
          <a:prstGeom prst="roundRect">
            <a:avLst/>
          </a:prstGeom>
          <a:solidFill>
            <a:srgbClr val="1B4367"/>
          </a:solidFill>
        </p:spPr>
        <p:txBody>
          <a:bodyPr wrap="square" rtlCol="0">
            <a:spAutoFit/>
          </a:bodyPr>
          <a:lstStyle/>
          <a:p>
            <a:r>
              <a:rPr lang="en-US" altLang="zh-CN" sz="1700" dirty="0">
                <a:solidFill>
                  <a:schemeClr val="bg1"/>
                </a:solidFill>
                <a:cs typeface="+mn-ea"/>
                <a:sym typeface="+mn-lt"/>
              </a:rPr>
              <a:t> Lithium Insertion </a:t>
            </a:r>
            <a:endParaRPr lang="zh-CN" altLang="en-US" sz="1700" dirty="0">
              <a:solidFill>
                <a:schemeClr val="bg1"/>
              </a:solidFill>
              <a:cs typeface="+mn-ea"/>
              <a:sym typeface="+mn-lt"/>
            </a:endParaRPr>
          </a:p>
        </p:txBody>
      </p:sp>
      <p:grpSp>
        <p:nvGrpSpPr>
          <p:cNvPr id="80" name="组合 79"/>
          <p:cNvGrpSpPr/>
          <p:nvPr/>
        </p:nvGrpSpPr>
        <p:grpSpPr>
          <a:xfrm>
            <a:off x="5352728" y="2074883"/>
            <a:ext cx="478533" cy="393570"/>
            <a:chOff x="5640108" y="966369"/>
            <a:chExt cx="476097" cy="391567"/>
          </a:xfrm>
        </p:grpSpPr>
        <p:sp>
          <p:nvSpPr>
            <p:cNvPr id="81" name="椭圆 80"/>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82" name="文本框 17"/>
            <p:cNvSpPr txBox="1"/>
            <p:nvPr/>
          </p:nvSpPr>
          <p:spPr>
            <a:xfrm>
              <a:off x="5640108" y="975817"/>
              <a:ext cx="476097" cy="367452"/>
            </a:xfrm>
            <a:prstGeom prst="rect">
              <a:avLst/>
            </a:prstGeom>
            <a:noFill/>
          </p:spPr>
          <p:txBody>
            <a:bodyPr wrap="square" rtlCol="0">
              <a:spAutoFit/>
            </a:bodyPr>
            <a:lstStyle/>
            <a:p>
              <a:pPr algn="ctr">
                <a:defRPr/>
              </a:pPr>
              <a:r>
                <a:rPr lang="en-US" altLang="zh-CN" sz="1800" dirty="0">
                  <a:solidFill>
                    <a:schemeClr val="bg1"/>
                  </a:solidFill>
                  <a:cs typeface="+mn-ea"/>
                  <a:sym typeface="+mn-lt"/>
                </a:rPr>
                <a:t>02</a:t>
              </a:r>
            </a:p>
          </p:txBody>
        </p:sp>
      </p:grpSp>
      <p:sp>
        <p:nvSpPr>
          <p:cNvPr id="83" name="文本框 10"/>
          <p:cNvSpPr txBox="1"/>
          <p:nvPr/>
        </p:nvSpPr>
        <p:spPr>
          <a:xfrm>
            <a:off x="5862005" y="2812241"/>
            <a:ext cx="2214693" cy="391597"/>
          </a:xfrm>
          <a:prstGeom prst="roundRect">
            <a:avLst/>
          </a:prstGeom>
          <a:solidFill>
            <a:srgbClr val="1B4367"/>
          </a:solidFill>
        </p:spPr>
        <p:txBody>
          <a:bodyPr wrap="square" rtlCol="0">
            <a:spAutoFit/>
          </a:bodyPr>
          <a:lstStyle/>
          <a:p>
            <a:r>
              <a:rPr lang="en-US" altLang="zh-CN" sz="1700" dirty="0">
                <a:solidFill>
                  <a:schemeClr val="bg1"/>
                </a:solidFill>
                <a:cs typeface="+mn-ea"/>
                <a:sym typeface="+mn-lt"/>
              </a:rPr>
              <a:t>Phospho-</a:t>
            </a:r>
            <a:r>
              <a:rPr lang="en-US" altLang="zh-CN" sz="1700" dirty="0" err="1">
                <a:solidFill>
                  <a:schemeClr val="bg1"/>
                </a:solidFill>
                <a:cs typeface="+mn-ea"/>
                <a:sym typeface="+mn-lt"/>
              </a:rPr>
              <a:t>olivines</a:t>
            </a:r>
            <a:endParaRPr lang="zh-CN" altLang="en-US" sz="1700" dirty="0">
              <a:solidFill>
                <a:schemeClr val="bg1"/>
              </a:solidFill>
              <a:cs typeface="+mn-ea"/>
              <a:sym typeface="+mn-lt"/>
            </a:endParaRPr>
          </a:p>
        </p:txBody>
      </p:sp>
      <p:grpSp>
        <p:nvGrpSpPr>
          <p:cNvPr id="84" name="组合 83"/>
          <p:cNvGrpSpPr/>
          <p:nvPr/>
        </p:nvGrpSpPr>
        <p:grpSpPr>
          <a:xfrm>
            <a:off x="5352728" y="2792427"/>
            <a:ext cx="478533" cy="393570"/>
            <a:chOff x="5640108" y="966369"/>
            <a:chExt cx="476097" cy="391567"/>
          </a:xfrm>
        </p:grpSpPr>
        <p:sp>
          <p:nvSpPr>
            <p:cNvPr id="85" name="椭圆 84"/>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86" name="文本框 17"/>
            <p:cNvSpPr txBox="1"/>
            <p:nvPr/>
          </p:nvSpPr>
          <p:spPr>
            <a:xfrm>
              <a:off x="5640108" y="975817"/>
              <a:ext cx="476097" cy="367452"/>
            </a:xfrm>
            <a:prstGeom prst="rect">
              <a:avLst/>
            </a:prstGeom>
            <a:noFill/>
          </p:spPr>
          <p:txBody>
            <a:bodyPr wrap="square" rtlCol="0">
              <a:spAutoFit/>
            </a:bodyPr>
            <a:lstStyle/>
            <a:p>
              <a:pPr algn="ctr">
                <a:defRPr/>
              </a:pPr>
              <a:r>
                <a:rPr lang="en-US" altLang="zh-CN" sz="1800" dirty="0">
                  <a:solidFill>
                    <a:schemeClr val="bg1"/>
                  </a:solidFill>
                  <a:cs typeface="+mn-ea"/>
                  <a:sym typeface="+mn-lt"/>
                </a:rPr>
                <a:t>03</a:t>
              </a:r>
            </a:p>
          </p:txBody>
        </p:sp>
      </p:grpSp>
      <p:sp>
        <p:nvSpPr>
          <p:cNvPr id="4" name="燕尾形 3"/>
          <p:cNvSpPr/>
          <p:nvPr/>
        </p:nvSpPr>
        <p:spPr>
          <a:xfrm>
            <a:off x="5020485" y="2183489"/>
            <a:ext cx="256853" cy="448435"/>
          </a:xfrm>
          <a:prstGeom prst="chevron">
            <a:avLst/>
          </a:prstGeom>
          <a:solidFill>
            <a:srgbClr val="1B43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3819635" y="1089058"/>
            <a:ext cx="1500028" cy="1500028"/>
          </a:xfrm>
          <a:prstGeom prst="ellipse">
            <a:avLst/>
          </a:prstGeom>
          <a:solidFill>
            <a:srgbClr val="1B43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1655479" y="2597704"/>
            <a:ext cx="5833041" cy="1177245"/>
          </a:xfrm>
          <a:prstGeom prst="rect">
            <a:avLst/>
          </a:prstGeom>
          <a:noFill/>
        </p:spPr>
        <p:txBody>
          <a:bodyPr wrap="square" lIns="68580" tIns="34290" rIns="68580" bIns="34290" rtlCol="0">
            <a:spAutoFit/>
          </a:bodyPr>
          <a:lstStyle/>
          <a:p>
            <a:pPr algn="ctr"/>
            <a:r>
              <a:rPr lang="en-US" altLang="zh-CN" b="1" dirty="0"/>
              <a:t>    </a:t>
            </a:r>
            <a:r>
              <a:rPr lang="en-US" altLang="zh-CN" sz="2400" b="1" dirty="0">
                <a:latin typeface="Calibri" panose="020F0502020204030204" pitchFamily="34" charset="0"/>
                <a:cs typeface="Calibri" panose="020F0502020204030204" pitchFamily="34" charset="0"/>
              </a:rPr>
              <a:t>Li</a:t>
            </a:r>
            <a:r>
              <a:rPr lang="en-US" altLang="zh-CN" b="1" dirty="0">
                <a:latin typeface="Calibri" panose="020F0502020204030204" pitchFamily="34" charset="0"/>
                <a:cs typeface="Calibri" panose="020F0502020204030204" pitchFamily="34" charset="0"/>
              </a:rPr>
              <a:t>x</a:t>
            </a:r>
            <a:r>
              <a:rPr lang="en-US" altLang="zh-CN" sz="2400" b="1" dirty="0">
                <a:latin typeface="Calibri" panose="020F0502020204030204" pitchFamily="34" charset="0"/>
                <a:cs typeface="Calibri" panose="020F0502020204030204" pitchFamily="34" charset="0"/>
              </a:rPr>
              <a:t>CoO</a:t>
            </a:r>
            <a:r>
              <a:rPr lang="en-US" altLang="zh-CN" b="1" dirty="0">
                <a:latin typeface="Calibri" panose="020F0502020204030204" pitchFamily="34" charset="0"/>
                <a:cs typeface="Calibri" panose="020F0502020204030204" pitchFamily="34" charset="0"/>
              </a:rPr>
              <a:t>2</a:t>
            </a:r>
            <a:r>
              <a:rPr lang="en-US" altLang="zh-CN" sz="2400" b="1" dirty="0">
                <a:latin typeface="Calibri" panose="020F0502020204030204" pitchFamily="34" charset="0"/>
                <a:cs typeface="Calibri" panose="020F0502020204030204" pitchFamily="34" charset="0"/>
              </a:rPr>
              <a:t>(0&lt;x</a:t>
            </a:r>
            <a:r>
              <a:rPr lang="zh-CN" altLang="en-US" sz="2400" b="1" dirty="0">
                <a:latin typeface="Calibri" panose="020F0502020204030204" pitchFamily="34" charset="0"/>
                <a:cs typeface="Calibri" panose="020F0502020204030204" pitchFamily="34" charset="0"/>
              </a:rPr>
              <a:t>≤</a:t>
            </a:r>
            <a:r>
              <a:rPr lang="en-US" altLang="zh-CN" sz="2400" b="1" dirty="0">
                <a:latin typeface="Calibri" panose="020F0502020204030204" pitchFamily="34" charset="0"/>
                <a:cs typeface="Calibri" panose="020F0502020204030204" pitchFamily="34" charset="0"/>
              </a:rPr>
              <a:t>1)</a:t>
            </a:r>
            <a:r>
              <a:rPr lang="zh-CN" altLang="en-US" sz="2400" b="1" dirty="0">
                <a:latin typeface="Calibri" panose="020F0502020204030204" pitchFamily="34" charset="0"/>
                <a:cs typeface="Calibri" panose="020F0502020204030204" pitchFamily="34" charset="0"/>
              </a:rPr>
              <a:t>：</a:t>
            </a:r>
            <a:endParaRPr lang="en-US" altLang="zh-CN" sz="2400" b="1" dirty="0">
              <a:latin typeface="Calibri" panose="020F0502020204030204" pitchFamily="34" charset="0"/>
              <a:cs typeface="Calibri" panose="020F0502020204030204" pitchFamily="34" charset="0"/>
            </a:endParaRPr>
          </a:p>
          <a:p>
            <a:pPr algn="ctr"/>
            <a:r>
              <a:rPr lang="en-US" altLang="zh-CN" sz="2400" dirty="0">
                <a:latin typeface="Calibri" panose="020F0502020204030204" pitchFamily="34" charset="0"/>
                <a:cs typeface="Calibri" panose="020F0502020204030204" pitchFamily="34" charset="0"/>
              </a:rPr>
              <a:t> A NEW CATHODE MATERIAL FOR BATTERIES OF HIGH ENERGY </a:t>
            </a:r>
            <a:endParaRPr lang="zh-CN" altLang="en-US" sz="4800" b="1" dirty="0">
              <a:solidFill>
                <a:srgbClr val="1B4367"/>
              </a:solidFill>
              <a:latin typeface="Calibri" panose="020F0502020204030204" pitchFamily="34" charset="0"/>
              <a:cs typeface="Calibri" panose="020F0502020204030204" pitchFamily="34" charset="0"/>
              <a:sym typeface="+mn-lt"/>
            </a:endParaRPr>
          </a:p>
        </p:txBody>
      </p:sp>
      <p:sp>
        <p:nvSpPr>
          <p:cNvPr id="95" name="文本框 11"/>
          <p:cNvSpPr txBox="1"/>
          <p:nvPr/>
        </p:nvSpPr>
        <p:spPr>
          <a:xfrm>
            <a:off x="3713476" y="1575042"/>
            <a:ext cx="1732894" cy="815736"/>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1</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p>
        </p:txBody>
      </p:sp>
      <p:sp>
        <p:nvSpPr>
          <p:cNvPr id="3" name="文本框 2">
            <a:extLst>
              <a:ext uri="{FF2B5EF4-FFF2-40B4-BE49-F238E27FC236}">
                <a16:creationId xmlns:a16="http://schemas.microsoft.com/office/drawing/2014/main" id="{24C7E343-0334-480E-84FB-1C2D8984F914}"/>
              </a:ext>
            </a:extLst>
          </p:cNvPr>
          <p:cNvSpPr txBox="1"/>
          <p:nvPr/>
        </p:nvSpPr>
        <p:spPr>
          <a:xfrm>
            <a:off x="5242560" y="3774949"/>
            <a:ext cx="2966720" cy="400110"/>
          </a:xfrm>
          <a:prstGeom prst="rect">
            <a:avLst/>
          </a:prstGeom>
          <a:noFill/>
        </p:spPr>
        <p:txBody>
          <a:bodyPr wrap="square" rtlCol="0">
            <a:spAutoFit/>
          </a:bodyPr>
          <a:lstStyle/>
          <a:p>
            <a:r>
              <a:rPr lang="en-US" altLang="zh-CN" sz="2000" dirty="0">
                <a:latin typeface="Calibri" panose="020F0502020204030204" pitchFamily="34" charset="0"/>
                <a:cs typeface="Calibri" panose="020F0502020204030204" pitchFamily="34" charset="0"/>
              </a:rPr>
              <a:t>——J.B.Goodenough</a:t>
            </a:r>
            <a:endParaRPr lang="zh-CN" altLang="en-US" sz="2000" dirty="0">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325949" y="1811111"/>
            <a:ext cx="1202531" cy="1202531"/>
            <a:chOff x="2361414" y="1854736"/>
            <a:chExt cx="1603375" cy="1603375"/>
          </a:xfrm>
          <a:solidFill>
            <a:srgbClr val="1B4367"/>
          </a:solidFill>
        </p:grpSpPr>
        <p:sp>
          <p:nvSpPr>
            <p:cNvPr id="20485" name="Rectangle 3"/>
            <p:cNvSpPr/>
            <p:nvPr/>
          </p:nvSpPr>
          <p:spPr>
            <a:xfrm>
              <a:off x="2361414" y="1854736"/>
              <a:ext cx="1603375" cy="1603375"/>
            </a:xfrm>
            <a:prstGeom prst="flowChartConnector">
              <a:avLst/>
            </a:prstGeom>
            <a:grpFill/>
            <a:ln w="9525">
              <a:noFill/>
              <a:miter/>
            </a:ln>
          </p:spPr>
          <p:txBody>
            <a:bodyPr anchor="ctr"/>
            <a:lstStyle/>
            <a:p>
              <a:pPr lvl="0" algn="ctr" eaLnBrk="1" hangingPunct="1"/>
              <a:endParaRPr lang="en-US" altLang="zh-CN" sz="1000" dirty="0">
                <a:solidFill>
                  <a:srgbClr val="FFFFFF"/>
                </a:solidFill>
                <a:cs typeface="+mn-ea"/>
                <a:sym typeface="+mn-lt"/>
              </a:endParaRPr>
            </a:p>
          </p:txBody>
        </p:sp>
        <p:sp>
          <p:nvSpPr>
            <p:cNvPr id="20490" name="Freeform 220"/>
            <p:cNvSpPr/>
            <p:nvPr/>
          </p:nvSpPr>
          <p:spPr>
            <a:xfrm>
              <a:off x="2770383" y="2305455"/>
              <a:ext cx="796514" cy="594622"/>
            </a:xfrm>
            <a:custGeom>
              <a:avLst/>
              <a:gdLst/>
              <a:ahLst/>
              <a:cxnLst>
                <a:cxn ang="0">
                  <a:pos x="384421" y="282893"/>
                </a:cxn>
                <a:cxn ang="0">
                  <a:pos x="384421" y="0"/>
                </a:cxn>
                <a:cxn ang="0">
                  <a:pos x="299800" y="0"/>
                </a:cxn>
                <a:cxn ang="0">
                  <a:pos x="299800" y="282893"/>
                </a:cxn>
                <a:cxn ang="0">
                  <a:pos x="251445" y="282893"/>
                </a:cxn>
                <a:cxn ang="0">
                  <a:pos x="251445" y="174088"/>
                </a:cxn>
                <a:cxn ang="0">
                  <a:pos x="166824" y="174088"/>
                </a:cxn>
                <a:cxn ang="0">
                  <a:pos x="166824" y="282893"/>
                </a:cxn>
                <a:cxn ang="0">
                  <a:pos x="120887" y="282893"/>
                </a:cxn>
                <a:cxn ang="0">
                  <a:pos x="120887" y="77372"/>
                </a:cxn>
                <a:cxn ang="0">
                  <a:pos x="36266" y="77372"/>
                </a:cxn>
                <a:cxn ang="0">
                  <a:pos x="36266" y="282893"/>
                </a:cxn>
                <a:cxn ang="0">
                  <a:pos x="0" y="282893"/>
                </a:cxn>
                <a:cxn ang="0">
                  <a:pos x="0" y="314325"/>
                </a:cxn>
                <a:cxn ang="0">
                  <a:pos x="420687" y="314325"/>
                </a:cxn>
                <a:cxn ang="0">
                  <a:pos x="420687" y="282893"/>
                </a:cxn>
                <a:cxn ang="0">
                  <a:pos x="384421" y="282893"/>
                </a:cxn>
              </a:cxnLst>
              <a:rect l="0" t="0" r="0" b="0"/>
              <a:pathLst>
                <a:path w="174" h="130">
                  <a:moveTo>
                    <a:pt x="159" y="117"/>
                  </a:moveTo>
                  <a:lnTo>
                    <a:pt x="159" y="0"/>
                  </a:lnTo>
                  <a:lnTo>
                    <a:pt x="124" y="0"/>
                  </a:lnTo>
                  <a:lnTo>
                    <a:pt x="124" y="117"/>
                  </a:lnTo>
                  <a:lnTo>
                    <a:pt x="104" y="117"/>
                  </a:lnTo>
                  <a:lnTo>
                    <a:pt x="104" y="72"/>
                  </a:lnTo>
                  <a:lnTo>
                    <a:pt x="69" y="72"/>
                  </a:lnTo>
                  <a:lnTo>
                    <a:pt x="69" y="117"/>
                  </a:lnTo>
                  <a:lnTo>
                    <a:pt x="50" y="117"/>
                  </a:lnTo>
                  <a:lnTo>
                    <a:pt x="50" y="32"/>
                  </a:lnTo>
                  <a:lnTo>
                    <a:pt x="15" y="32"/>
                  </a:lnTo>
                  <a:lnTo>
                    <a:pt x="15" y="117"/>
                  </a:lnTo>
                  <a:lnTo>
                    <a:pt x="0" y="117"/>
                  </a:lnTo>
                  <a:lnTo>
                    <a:pt x="0" y="130"/>
                  </a:lnTo>
                  <a:lnTo>
                    <a:pt x="174" y="130"/>
                  </a:lnTo>
                  <a:lnTo>
                    <a:pt x="174" y="117"/>
                  </a:lnTo>
                  <a:lnTo>
                    <a:pt x="159" y="117"/>
                  </a:lnTo>
                  <a:close/>
                </a:path>
              </a:pathLst>
            </a:custGeom>
            <a:solidFill>
              <a:schemeClr val="bg1"/>
            </a:solidFill>
            <a:ln w="9525">
              <a:noFill/>
            </a:ln>
          </p:spPr>
          <p:txBody>
            <a:bodyPr/>
            <a:lstStyle/>
            <a:p>
              <a:endParaRPr lang="zh-CN" altLang="en-US">
                <a:cs typeface="+mn-ea"/>
                <a:sym typeface="+mn-lt"/>
              </a:endParaRPr>
            </a:p>
          </p:txBody>
        </p:sp>
      </p:grpSp>
      <p:grpSp>
        <p:nvGrpSpPr>
          <p:cNvPr id="2" name="组合 1"/>
          <p:cNvGrpSpPr/>
          <p:nvPr/>
        </p:nvGrpSpPr>
        <p:grpSpPr>
          <a:xfrm>
            <a:off x="1325949" y="3496507"/>
            <a:ext cx="1181100" cy="1202531"/>
            <a:chOff x="8565208" y="1856641"/>
            <a:chExt cx="1574800" cy="1603375"/>
          </a:xfrm>
          <a:solidFill>
            <a:srgbClr val="1B4367"/>
          </a:solidFill>
        </p:grpSpPr>
        <p:sp>
          <p:nvSpPr>
            <p:cNvPr id="20488" name="Rectangle 7"/>
            <p:cNvSpPr/>
            <p:nvPr/>
          </p:nvSpPr>
          <p:spPr>
            <a:xfrm>
              <a:off x="8565208" y="1856641"/>
              <a:ext cx="1574800" cy="1603375"/>
            </a:xfrm>
            <a:prstGeom prst="flowChartConnector">
              <a:avLst/>
            </a:prstGeom>
            <a:grpFill/>
            <a:ln w="9525">
              <a:noFill/>
              <a:miter/>
            </a:ln>
          </p:spPr>
          <p:txBody>
            <a:bodyPr anchor="ctr"/>
            <a:lstStyle/>
            <a:p>
              <a:pPr lvl="0" algn="ctr" eaLnBrk="1" hangingPunct="1"/>
              <a:endParaRPr lang="en-US" altLang="zh-CN" sz="1000" dirty="0">
                <a:solidFill>
                  <a:srgbClr val="FFFFFF"/>
                </a:solidFill>
                <a:cs typeface="+mn-ea"/>
                <a:sym typeface="+mn-lt"/>
              </a:endParaRPr>
            </a:p>
          </p:txBody>
        </p:sp>
        <p:sp>
          <p:nvSpPr>
            <p:cNvPr id="20492" name="Freeform 289"/>
            <p:cNvSpPr>
              <a:spLocks noEditPoints="1"/>
            </p:cNvSpPr>
            <p:nvPr/>
          </p:nvSpPr>
          <p:spPr>
            <a:xfrm>
              <a:off x="9100279" y="2382692"/>
              <a:ext cx="557770" cy="565878"/>
            </a:xfrm>
            <a:custGeom>
              <a:avLst/>
              <a:gdLst/>
              <a:ahLst/>
              <a:cxnLst>
                <a:cxn ang="0">
                  <a:pos x="244146" y="20836"/>
                </a:cxn>
                <a:cxn ang="0">
                  <a:pos x="163149" y="0"/>
                </a:cxn>
                <a:cxn ang="0">
                  <a:pos x="0" y="0"/>
                </a:cxn>
                <a:cxn ang="0">
                  <a:pos x="0" y="77556"/>
                </a:cxn>
                <a:cxn ang="0">
                  <a:pos x="161992" y="77556"/>
                </a:cxn>
                <a:cxn ang="0">
                  <a:pos x="208276" y="90289"/>
                </a:cxn>
                <a:cxn ang="0">
                  <a:pos x="251088" y="167845"/>
                </a:cxn>
                <a:cxn ang="0">
                  <a:pos x="210590" y="243086"/>
                </a:cxn>
                <a:cxn ang="0">
                  <a:pos x="161992" y="255819"/>
                </a:cxn>
                <a:cxn ang="0">
                  <a:pos x="0" y="255819"/>
                </a:cxn>
                <a:cxn ang="0">
                  <a:pos x="0" y="333375"/>
                </a:cxn>
                <a:cxn ang="0">
                  <a:pos x="161992" y="333375"/>
                </a:cxn>
                <a:cxn ang="0">
                  <a:pos x="242988" y="313697"/>
                </a:cxn>
                <a:cxn ang="0">
                  <a:pos x="328613" y="167845"/>
                </a:cxn>
                <a:cxn ang="0">
                  <a:pos x="244146" y="20836"/>
                </a:cxn>
                <a:cxn ang="0">
                  <a:pos x="60169" y="57878"/>
                </a:cxn>
                <a:cxn ang="0">
                  <a:pos x="21985" y="57878"/>
                </a:cxn>
                <a:cxn ang="0">
                  <a:pos x="21985" y="19678"/>
                </a:cxn>
                <a:cxn ang="0">
                  <a:pos x="60169" y="19678"/>
                </a:cxn>
                <a:cxn ang="0">
                  <a:pos x="60169" y="57878"/>
                </a:cxn>
                <a:cxn ang="0">
                  <a:pos x="60169" y="314854"/>
                </a:cxn>
                <a:cxn ang="0">
                  <a:pos x="21985" y="314854"/>
                </a:cxn>
                <a:cxn ang="0">
                  <a:pos x="21985" y="275497"/>
                </a:cxn>
                <a:cxn ang="0">
                  <a:pos x="60169" y="275497"/>
                </a:cxn>
                <a:cxn ang="0">
                  <a:pos x="60169" y="314854"/>
                </a:cxn>
              </a:cxnLst>
              <a:rect l="0" t="0" r="0" b="0"/>
              <a:pathLst>
                <a:path w="284" h="288">
                  <a:moveTo>
                    <a:pt x="211" y="18"/>
                  </a:moveTo>
                  <a:cubicBezTo>
                    <a:pt x="177" y="1"/>
                    <a:pt x="144" y="0"/>
                    <a:pt x="141" y="0"/>
                  </a:cubicBezTo>
                  <a:cubicBezTo>
                    <a:pt x="0" y="0"/>
                    <a:pt x="0" y="0"/>
                    <a:pt x="0" y="0"/>
                  </a:cubicBezTo>
                  <a:cubicBezTo>
                    <a:pt x="0" y="67"/>
                    <a:pt x="0" y="67"/>
                    <a:pt x="0" y="67"/>
                  </a:cubicBezTo>
                  <a:cubicBezTo>
                    <a:pt x="140" y="67"/>
                    <a:pt x="140" y="67"/>
                    <a:pt x="140" y="67"/>
                  </a:cubicBezTo>
                  <a:cubicBezTo>
                    <a:pt x="141" y="67"/>
                    <a:pt x="161" y="68"/>
                    <a:pt x="180" y="78"/>
                  </a:cubicBezTo>
                  <a:cubicBezTo>
                    <a:pt x="205" y="91"/>
                    <a:pt x="217" y="112"/>
                    <a:pt x="217" y="145"/>
                  </a:cubicBezTo>
                  <a:cubicBezTo>
                    <a:pt x="217" y="177"/>
                    <a:pt x="206" y="198"/>
                    <a:pt x="182" y="210"/>
                  </a:cubicBezTo>
                  <a:cubicBezTo>
                    <a:pt x="162" y="221"/>
                    <a:pt x="140" y="221"/>
                    <a:pt x="140" y="221"/>
                  </a:cubicBezTo>
                  <a:cubicBezTo>
                    <a:pt x="0" y="221"/>
                    <a:pt x="0" y="221"/>
                    <a:pt x="0" y="221"/>
                  </a:cubicBezTo>
                  <a:cubicBezTo>
                    <a:pt x="0" y="288"/>
                    <a:pt x="0" y="288"/>
                    <a:pt x="0" y="288"/>
                  </a:cubicBezTo>
                  <a:cubicBezTo>
                    <a:pt x="140" y="288"/>
                    <a:pt x="140" y="288"/>
                    <a:pt x="140" y="288"/>
                  </a:cubicBezTo>
                  <a:cubicBezTo>
                    <a:pt x="144" y="288"/>
                    <a:pt x="177" y="288"/>
                    <a:pt x="210" y="271"/>
                  </a:cubicBezTo>
                  <a:cubicBezTo>
                    <a:pt x="258" y="247"/>
                    <a:pt x="284" y="203"/>
                    <a:pt x="284" y="145"/>
                  </a:cubicBezTo>
                  <a:cubicBezTo>
                    <a:pt x="284" y="87"/>
                    <a:pt x="258" y="42"/>
                    <a:pt x="211" y="18"/>
                  </a:cubicBezTo>
                  <a:close/>
                  <a:moveTo>
                    <a:pt x="52" y="50"/>
                  </a:moveTo>
                  <a:cubicBezTo>
                    <a:pt x="19" y="50"/>
                    <a:pt x="19" y="50"/>
                    <a:pt x="19" y="50"/>
                  </a:cubicBezTo>
                  <a:cubicBezTo>
                    <a:pt x="19" y="17"/>
                    <a:pt x="19" y="17"/>
                    <a:pt x="19" y="17"/>
                  </a:cubicBezTo>
                  <a:cubicBezTo>
                    <a:pt x="52" y="17"/>
                    <a:pt x="52" y="17"/>
                    <a:pt x="52" y="17"/>
                  </a:cubicBezTo>
                  <a:lnTo>
                    <a:pt x="52" y="50"/>
                  </a:lnTo>
                  <a:close/>
                  <a:moveTo>
                    <a:pt x="52" y="272"/>
                  </a:moveTo>
                  <a:cubicBezTo>
                    <a:pt x="19" y="272"/>
                    <a:pt x="19" y="272"/>
                    <a:pt x="19" y="272"/>
                  </a:cubicBezTo>
                  <a:cubicBezTo>
                    <a:pt x="19" y="238"/>
                    <a:pt x="19" y="238"/>
                    <a:pt x="19" y="238"/>
                  </a:cubicBezTo>
                  <a:cubicBezTo>
                    <a:pt x="52" y="238"/>
                    <a:pt x="52" y="238"/>
                    <a:pt x="52" y="238"/>
                  </a:cubicBezTo>
                  <a:lnTo>
                    <a:pt x="52" y="272"/>
                  </a:lnTo>
                  <a:close/>
                </a:path>
              </a:pathLst>
            </a:custGeom>
            <a:solidFill>
              <a:schemeClr val="bg1"/>
            </a:solidFill>
            <a:ln w="9525">
              <a:noFill/>
            </a:ln>
          </p:spPr>
          <p:txBody>
            <a:bodyPr/>
            <a:lstStyle/>
            <a:p>
              <a:endParaRPr lang="zh-CN" altLang="en-US">
                <a:cs typeface="+mn-ea"/>
                <a:sym typeface="+mn-lt"/>
              </a:endParaRPr>
            </a:p>
          </p:txBody>
        </p:sp>
      </p:grpSp>
      <p:sp>
        <p:nvSpPr>
          <p:cNvPr id="20493" name="TextBox 13"/>
          <p:cNvSpPr txBox="1"/>
          <p:nvPr/>
        </p:nvSpPr>
        <p:spPr>
          <a:xfrm>
            <a:off x="2683513" y="2119868"/>
            <a:ext cx="1401112" cy="246221"/>
          </a:xfrm>
          <a:prstGeom prst="rect">
            <a:avLst/>
          </a:prstGeom>
          <a:noFill/>
          <a:ln w="9525">
            <a:noFill/>
            <a:miter/>
          </a:ln>
        </p:spPr>
        <p:txBody>
          <a:bodyPr wrap="square" lIns="0" tIns="0" rIns="0" bIns="0">
            <a:spAutoFit/>
          </a:bodyPr>
          <a:lstStyle/>
          <a:p>
            <a:pPr defTabSz="683260">
              <a:spcBef>
                <a:spcPct val="20000"/>
              </a:spcBef>
            </a:pPr>
            <a:r>
              <a:rPr lang="en-US" altLang="zh-CN" sz="1600" b="1" dirty="0">
                <a:solidFill>
                  <a:srgbClr val="1B4367"/>
                </a:solidFill>
                <a:cs typeface="+mn-ea"/>
                <a:sym typeface="+mn-lt"/>
              </a:rPr>
              <a:t>Introduction</a:t>
            </a:r>
            <a:endParaRPr lang="zh-CN" altLang="en-US" sz="1600" b="1" dirty="0">
              <a:solidFill>
                <a:srgbClr val="1B4367"/>
              </a:solidFill>
              <a:cs typeface="+mn-ea"/>
              <a:sym typeface="+mn-lt"/>
            </a:endParaRPr>
          </a:p>
        </p:txBody>
      </p:sp>
      <p:sp>
        <p:nvSpPr>
          <p:cNvPr id="20494" name="TextBox 13"/>
          <p:cNvSpPr txBox="1"/>
          <p:nvPr/>
        </p:nvSpPr>
        <p:spPr>
          <a:xfrm>
            <a:off x="2683513" y="2394942"/>
            <a:ext cx="2157202" cy="367152"/>
          </a:xfrm>
          <a:prstGeom prst="rect">
            <a:avLst/>
          </a:prstGeom>
          <a:noFill/>
          <a:ln w="9525">
            <a:noFill/>
            <a:miter/>
          </a:ln>
        </p:spPr>
        <p:txBody>
          <a:bodyPr wrap="square" lIns="0" tIns="0" rIns="0" bIns="0">
            <a:spAutoFit/>
          </a:bodyPr>
          <a:lstStyle/>
          <a:p>
            <a:pPr>
              <a:lnSpc>
                <a:spcPts val="1500"/>
              </a:lnSpc>
            </a:pPr>
            <a:r>
              <a:rPr lang="en-US" altLang="zh-CN" sz="1000" dirty="0">
                <a:solidFill>
                  <a:schemeClr val="tx1">
                    <a:lumMod val="75000"/>
                    <a:lumOff val="25000"/>
                  </a:schemeClr>
                </a:solidFill>
                <a:cs typeface="+mn-ea"/>
                <a:sym typeface="+mn-lt"/>
              </a:rPr>
              <a:t>1.Background</a:t>
            </a:r>
          </a:p>
          <a:p>
            <a:pPr>
              <a:lnSpc>
                <a:spcPts val="1500"/>
              </a:lnSpc>
            </a:pPr>
            <a:r>
              <a:rPr lang="en-US" altLang="zh-CN" sz="1000" dirty="0">
                <a:solidFill>
                  <a:schemeClr val="tx1">
                    <a:lumMod val="75000"/>
                    <a:lumOff val="25000"/>
                  </a:schemeClr>
                </a:solidFill>
                <a:cs typeface="+mn-ea"/>
                <a:sym typeface="+mn-lt"/>
              </a:rPr>
              <a:t>2.How to find out</a:t>
            </a:r>
            <a:r>
              <a:rPr lang="zh-CN" altLang="en-US" sz="1000" dirty="0">
                <a:solidFill>
                  <a:schemeClr val="tx1">
                    <a:lumMod val="75000"/>
                    <a:lumOff val="25000"/>
                  </a:schemeClr>
                </a:solidFill>
                <a:cs typeface="+mn-ea"/>
                <a:sym typeface="+mn-lt"/>
              </a:rPr>
              <a:t>？</a:t>
            </a:r>
            <a:r>
              <a:rPr lang="en-US" altLang="zh-CN" sz="1000" dirty="0">
                <a:solidFill>
                  <a:schemeClr val="tx1">
                    <a:lumMod val="75000"/>
                    <a:lumOff val="25000"/>
                  </a:schemeClr>
                </a:solidFill>
                <a:cs typeface="+mn-ea"/>
                <a:sym typeface="+mn-lt"/>
              </a:rPr>
              <a:t> </a:t>
            </a:r>
            <a:endParaRPr lang="zh-CN" altLang="en-US" sz="1000" dirty="0">
              <a:solidFill>
                <a:schemeClr val="tx1">
                  <a:lumMod val="75000"/>
                  <a:lumOff val="25000"/>
                </a:schemeClr>
              </a:solidFill>
              <a:cs typeface="+mn-ea"/>
              <a:sym typeface="+mn-lt"/>
            </a:endParaRPr>
          </a:p>
        </p:txBody>
      </p:sp>
      <p:sp>
        <p:nvSpPr>
          <p:cNvPr id="24" name="文本框 15"/>
          <p:cNvSpPr txBox="1"/>
          <p:nvPr/>
        </p:nvSpPr>
        <p:spPr>
          <a:xfrm>
            <a:off x="689067" y="387038"/>
            <a:ext cx="8536214" cy="592470"/>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1  </a:t>
            </a:r>
            <a:r>
              <a:rPr lang="en-US" altLang="zh-CN" b="1" dirty="0">
                <a:solidFill>
                  <a:srgbClr val="1B4367"/>
                </a:solidFill>
                <a:cs typeface="+mn-ea"/>
              </a:rPr>
              <a:t>Li</a:t>
            </a:r>
            <a:r>
              <a:rPr lang="en-US" altLang="zh-CN" sz="1000" b="1" dirty="0">
                <a:solidFill>
                  <a:srgbClr val="1B4367"/>
                </a:solidFill>
                <a:cs typeface="+mn-ea"/>
              </a:rPr>
              <a:t>x</a:t>
            </a:r>
            <a:r>
              <a:rPr lang="en-US" altLang="zh-CN" b="1" dirty="0">
                <a:solidFill>
                  <a:srgbClr val="1B4367"/>
                </a:solidFill>
                <a:cs typeface="+mn-ea"/>
              </a:rPr>
              <a:t>CoO</a:t>
            </a:r>
            <a:r>
              <a:rPr lang="en-US" altLang="zh-CN" sz="1000" b="1" dirty="0">
                <a:solidFill>
                  <a:srgbClr val="1B4367"/>
                </a:solidFill>
                <a:cs typeface="+mn-ea"/>
              </a:rPr>
              <a:t>2</a:t>
            </a:r>
            <a:r>
              <a:rPr lang="en-US" altLang="zh-CN" b="1" dirty="0">
                <a:solidFill>
                  <a:srgbClr val="1B4367"/>
                </a:solidFill>
                <a:cs typeface="+mn-ea"/>
              </a:rPr>
              <a:t>(0&lt;x</a:t>
            </a:r>
            <a:r>
              <a:rPr lang="zh-CN" altLang="en-US" b="1" dirty="0">
                <a:solidFill>
                  <a:srgbClr val="1B4367"/>
                </a:solidFill>
                <a:cs typeface="+mn-ea"/>
              </a:rPr>
              <a:t>≤</a:t>
            </a:r>
            <a:r>
              <a:rPr lang="en-US" altLang="zh-CN" b="1" dirty="0">
                <a:solidFill>
                  <a:srgbClr val="1B4367"/>
                </a:solidFill>
                <a:cs typeface="+mn-ea"/>
              </a:rPr>
              <a:t>1)</a:t>
            </a:r>
            <a:r>
              <a:rPr lang="zh-CN" altLang="en-US" b="1" dirty="0">
                <a:solidFill>
                  <a:srgbClr val="1B4367"/>
                </a:solidFill>
                <a:cs typeface="+mn-ea"/>
              </a:rPr>
              <a:t>：</a:t>
            </a:r>
            <a:r>
              <a:rPr lang="en-US" altLang="zh-CN" b="1" dirty="0">
                <a:solidFill>
                  <a:srgbClr val="1B4367"/>
                </a:solidFill>
                <a:cs typeface="+mn-ea"/>
              </a:rPr>
              <a:t>A NEW CATHODE MATERIAL FOR BATTERIES OF HIGH ENERGY </a:t>
            </a:r>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p:cxnSp>
        <p:nvCxnSpPr>
          <p:cNvPr id="26" name="直接连接符 25"/>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9" name="TextBox 13"/>
          <p:cNvSpPr txBox="1"/>
          <p:nvPr/>
        </p:nvSpPr>
        <p:spPr>
          <a:xfrm>
            <a:off x="5822991" y="3225663"/>
            <a:ext cx="2667460" cy="541687"/>
          </a:xfrm>
          <a:prstGeom prst="rect">
            <a:avLst/>
          </a:prstGeom>
          <a:noFill/>
          <a:ln w="9525">
            <a:noFill/>
            <a:miter/>
          </a:ln>
        </p:spPr>
        <p:txBody>
          <a:bodyPr wrap="square" lIns="0" tIns="0" rIns="0" bIns="0">
            <a:spAutoFit/>
          </a:bodyPr>
          <a:lstStyle/>
          <a:p>
            <a:pPr defTabSz="683260">
              <a:spcBef>
                <a:spcPct val="20000"/>
              </a:spcBef>
            </a:pPr>
            <a:r>
              <a:rPr lang="en-US" altLang="zh-CN" sz="1600" b="1" dirty="0">
                <a:solidFill>
                  <a:srgbClr val="1B4367"/>
                </a:solidFill>
                <a:cs typeface="+mn-ea"/>
                <a:sym typeface="+mn-lt"/>
              </a:rPr>
              <a:t>Electrochemical Studies</a:t>
            </a:r>
          </a:p>
          <a:p>
            <a:pPr defTabSz="683260">
              <a:spcBef>
                <a:spcPct val="20000"/>
              </a:spcBef>
            </a:pPr>
            <a:endParaRPr lang="zh-CN" altLang="en-US" sz="1600" b="1" dirty="0">
              <a:solidFill>
                <a:srgbClr val="1B4367"/>
              </a:solidFill>
              <a:cs typeface="+mn-ea"/>
              <a:sym typeface="+mn-lt"/>
            </a:endParaRPr>
          </a:p>
        </p:txBody>
      </p:sp>
      <p:sp>
        <p:nvSpPr>
          <p:cNvPr id="33" name="TextBox 13"/>
          <p:cNvSpPr txBox="1"/>
          <p:nvPr/>
        </p:nvSpPr>
        <p:spPr>
          <a:xfrm>
            <a:off x="2656220" y="3974661"/>
            <a:ext cx="1401112" cy="246221"/>
          </a:xfrm>
          <a:prstGeom prst="rect">
            <a:avLst/>
          </a:prstGeom>
          <a:noFill/>
          <a:ln w="9525">
            <a:noFill/>
            <a:miter/>
          </a:ln>
        </p:spPr>
        <p:txBody>
          <a:bodyPr wrap="square" lIns="0" tIns="0" rIns="0" bIns="0">
            <a:spAutoFit/>
          </a:bodyPr>
          <a:lstStyle/>
          <a:p>
            <a:pPr defTabSz="683260">
              <a:spcBef>
                <a:spcPct val="20000"/>
              </a:spcBef>
            </a:pPr>
            <a:r>
              <a:rPr lang="en-US" altLang="zh-CN" sz="1600" b="1" dirty="0">
                <a:solidFill>
                  <a:srgbClr val="1B4367"/>
                </a:solidFill>
                <a:cs typeface="+mn-ea"/>
                <a:sym typeface="+mn-lt"/>
              </a:rPr>
              <a:t>Conclusion</a:t>
            </a:r>
            <a:endParaRPr lang="zh-CN" altLang="en-US" sz="1600" b="1" dirty="0">
              <a:solidFill>
                <a:srgbClr val="1B4367"/>
              </a:solidFill>
              <a:cs typeface="+mn-ea"/>
              <a:sym typeface="+mn-lt"/>
            </a:endParaRPr>
          </a:p>
        </p:txBody>
      </p:sp>
      <p:grpSp>
        <p:nvGrpSpPr>
          <p:cNvPr id="42" name="组合 41">
            <a:extLst>
              <a:ext uri="{FF2B5EF4-FFF2-40B4-BE49-F238E27FC236}">
                <a16:creationId xmlns:a16="http://schemas.microsoft.com/office/drawing/2014/main" id="{EE5D9FB1-1D13-420D-9A70-DAF942867AEA}"/>
              </a:ext>
            </a:extLst>
          </p:cNvPr>
          <p:cNvGrpSpPr/>
          <p:nvPr/>
        </p:nvGrpSpPr>
        <p:grpSpPr>
          <a:xfrm>
            <a:off x="4421879" y="1050731"/>
            <a:ext cx="1201103" cy="1202531"/>
            <a:chOff x="4856202" y="1222146"/>
            <a:chExt cx="1201103" cy="1202531"/>
          </a:xfrm>
          <a:solidFill>
            <a:srgbClr val="1B4367"/>
          </a:solidFill>
        </p:grpSpPr>
        <p:sp>
          <p:nvSpPr>
            <p:cNvPr id="43" name="Rectangle 6">
              <a:extLst>
                <a:ext uri="{FF2B5EF4-FFF2-40B4-BE49-F238E27FC236}">
                  <a16:creationId xmlns:a16="http://schemas.microsoft.com/office/drawing/2014/main" id="{2DCBAC17-5A49-4E9D-AF96-17FE3F9FE8A8}"/>
                </a:ext>
              </a:extLst>
            </p:cNvPr>
            <p:cNvSpPr/>
            <p:nvPr/>
          </p:nvSpPr>
          <p:spPr>
            <a:xfrm>
              <a:off x="4856202" y="1222146"/>
              <a:ext cx="1201103" cy="1202531"/>
            </a:xfrm>
            <a:prstGeom prst="flowChartConnector">
              <a:avLst/>
            </a:prstGeom>
            <a:grpFill/>
            <a:ln w="9525">
              <a:noFill/>
              <a:miter/>
            </a:ln>
          </p:spPr>
          <p:txBody>
            <a:bodyPr anchor="ctr"/>
            <a:lstStyle/>
            <a:p>
              <a:pPr lvl="0" algn="ctr" eaLnBrk="1" hangingPunct="1"/>
              <a:endParaRPr lang="en-US" altLang="zh-CN" sz="1000" dirty="0">
                <a:solidFill>
                  <a:srgbClr val="FFFFFF"/>
                </a:solidFill>
                <a:cs typeface="+mn-ea"/>
                <a:sym typeface="+mn-lt"/>
              </a:endParaRPr>
            </a:p>
          </p:txBody>
        </p:sp>
        <p:sp>
          <p:nvSpPr>
            <p:cNvPr id="44" name="KSO_Shape">
              <a:extLst>
                <a:ext uri="{FF2B5EF4-FFF2-40B4-BE49-F238E27FC236}">
                  <a16:creationId xmlns:a16="http://schemas.microsoft.com/office/drawing/2014/main" id="{93103285-F59E-4EB7-B643-520F43CBBB87}"/>
                </a:ext>
              </a:extLst>
            </p:cNvPr>
            <p:cNvSpPr/>
            <p:nvPr/>
          </p:nvSpPr>
          <p:spPr bwMode="auto">
            <a:xfrm>
              <a:off x="5275038" y="1500840"/>
              <a:ext cx="363431" cy="645143"/>
            </a:xfrm>
            <a:custGeom>
              <a:avLst/>
              <a:gdLst>
                <a:gd name="T0" fmla="*/ 2147483646 w 3056"/>
                <a:gd name="T1" fmla="*/ 2147483646 h 5429"/>
                <a:gd name="T2" fmla="*/ 2147483646 w 3056"/>
                <a:gd name="T3" fmla="*/ 2147483646 h 5429"/>
                <a:gd name="T4" fmla="*/ 2147483646 w 3056"/>
                <a:gd name="T5" fmla="*/ 388832290 h 5429"/>
                <a:gd name="T6" fmla="*/ 2147483646 w 3056"/>
                <a:gd name="T7" fmla="*/ 345615213 h 5429"/>
                <a:gd name="T8" fmla="*/ 2147483646 w 3056"/>
                <a:gd name="T9" fmla="*/ 2147483646 h 5429"/>
                <a:gd name="T10" fmla="*/ 2147483646 w 3056"/>
                <a:gd name="T11" fmla="*/ 2147483646 h 5429"/>
                <a:gd name="T12" fmla="*/ 2147483646 w 3056"/>
                <a:gd name="T13" fmla="*/ 2147483646 h 5429"/>
                <a:gd name="T14" fmla="*/ 2147483646 w 3056"/>
                <a:gd name="T15" fmla="*/ 2147483646 h 5429"/>
                <a:gd name="T16" fmla="*/ 2147483646 w 3056"/>
                <a:gd name="T17" fmla="*/ 2147483646 h 5429"/>
                <a:gd name="T18" fmla="*/ 2147483646 w 3056"/>
                <a:gd name="T19" fmla="*/ 2147483646 h 5429"/>
                <a:gd name="T20" fmla="*/ 475747481 w 3056"/>
                <a:gd name="T21" fmla="*/ 2147483646 h 5429"/>
                <a:gd name="T22" fmla="*/ 432463999 w 3056"/>
                <a:gd name="T23" fmla="*/ 2147483646 h 5429"/>
                <a:gd name="T24" fmla="*/ 2147483646 w 3056"/>
                <a:gd name="T25" fmla="*/ 2147483646 h 5429"/>
                <a:gd name="T26" fmla="*/ 2147483646 w 3056"/>
                <a:gd name="T27" fmla="*/ 2147483646 h 5429"/>
                <a:gd name="T28" fmla="*/ 2147483646 w 3056"/>
                <a:gd name="T29" fmla="*/ 2147483646 h 5429"/>
                <a:gd name="T30" fmla="*/ 2147483646 w 3056"/>
                <a:gd name="T31" fmla="*/ 2147483646 h 5429"/>
                <a:gd name="T32" fmla="*/ 2147483646 w 3056"/>
                <a:gd name="T33" fmla="*/ 2147483646 h 5429"/>
                <a:gd name="T34" fmla="*/ 2147483646 w 3056"/>
                <a:gd name="T35" fmla="*/ 2147483646 h 5429"/>
                <a:gd name="T36" fmla="*/ 2147483646 w 3056"/>
                <a:gd name="T37" fmla="*/ 2147483646 h 5429"/>
                <a:gd name="T38" fmla="*/ 2147483646 w 3056"/>
                <a:gd name="T39" fmla="*/ 2147483646 h 5429"/>
                <a:gd name="T40" fmla="*/ 2147483646 w 3056"/>
                <a:gd name="T41" fmla="*/ 2147483646 h 5429"/>
                <a:gd name="T42" fmla="*/ 2147483646 w 3056"/>
                <a:gd name="T43" fmla="*/ 2147483646 h 5429"/>
                <a:gd name="T44" fmla="*/ 2147483646 w 3056"/>
                <a:gd name="T45" fmla="*/ 2147483646 h 5429"/>
                <a:gd name="T46" fmla="*/ 2147483646 w 3056"/>
                <a:gd name="T47" fmla="*/ 2147483646 h 5429"/>
                <a:gd name="T48" fmla="*/ 2147483646 w 3056"/>
                <a:gd name="T49" fmla="*/ 2147483646 h 5429"/>
                <a:gd name="T50" fmla="*/ 2147483646 w 3056"/>
                <a:gd name="T51" fmla="*/ 2147483646 h 5429"/>
                <a:gd name="T52" fmla="*/ 2147483646 w 3056"/>
                <a:gd name="T53" fmla="*/ 2147483646 h 5429"/>
                <a:gd name="T54" fmla="*/ 2147483646 w 3056"/>
                <a:gd name="T55" fmla="*/ 2147483646 h 5429"/>
                <a:gd name="T56" fmla="*/ 2147483646 w 3056"/>
                <a:gd name="T57" fmla="*/ 2147483646 h 5429"/>
                <a:gd name="T58" fmla="*/ 2147483646 w 3056"/>
                <a:gd name="T59" fmla="*/ 2147483646 h 5429"/>
                <a:gd name="T60" fmla="*/ 2147483646 w 3056"/>
                <a:gd name="T61" fmla="*/ 2147483646 h 5429"/>
                <a:gd name="T62" fmla="*/ 2147483646 w 3056"/>
                <a:gd name="T63" fmla="*/ 2147483646 h 5429"/>
                <a:gd name="T64" fmla="*/ 2147483646 w 3056"/>
                <a:gd name="T65" fmla="*/ 2147483646 h 5429"/>
                <a:gd name="T66" fmla="*/ 2147483646 w 3056"/>
                <a:gd name="T67" fmla="*/ 2147483646 h 5429"/>
                <a:gd name="T68" fmla="*/ 2147483646 w 3056"/>
                <a:gd name="T69" fmla="*/ 2147483646 h 5429"/>
                <a:gd name="T70" fmla="*/ 2147483646 w 3056"/>
                <a:gd name="T71" fmla="*/ 2147483646 h 5429"/>
                <a:gd name="T72" fmla="*/ 2147483646 w 3056"/>
                <a:gd name="T73" fmla="*/ 2147483646 h 5429"/>
                <a:gd name="T74" fmla="*/ 2147483646 w 3056"/>
                <a:gd name="T75" fmla="*/ 2147483646 h 5429"/>
                <a:gd name="T76" fmla="*/ 2147483646 w 3056"/>
                <a:gd name="T77" fmla="*/ 2147483646 h 5429"/>
                <a:gd name="T78" fmla="*/ 2147483646 w 3056"/>
                <a:gd name="T79" fmla="*/ 2147483646 h 5429"/>
                <a:gd name="T80" fmla="*/ 2147483646 w 3056"/>
                <a:gd name="T81" fmla="*/ 2147483646 h 5429"/>
                <a:gd name="T82" fmla="*/ 2147483646 w 3056"/>
                <a:gd name="T83" fmla="*/ 2147483646 h 5429"/>
                <a:gd name="T84" fmla="*/ 2147483646 w 3056"/>
                <a:gd name="T85" fmla="*/ 2147483646 h 5429"/>
                <a:gd name="T86" fmla="*/ 2147483646 w 3056"/>
                <a:gd name="T87" fmla="*/ 2147483646 h 5429"/>
                <a:gd name="T88" fmla="*/ 2147483646 w 3056"/>
                <a:gd name="T89" fmla="*/ 2147483646 h 5429"/>
                <a:gd name="T90" fmla="*/ 2147483646 w 3056"/>
                <a:gd name="T91" fmla="*/ 2147483646 h 5429"/>
                <a:gd name="T92" fmla="*/ 2147483646 w 3056"/>
                <a:gd name="T93" fmla="*/ 2147483646 h 5429"/>
                <a:gd name="T94" fmla="*/ 2147483646 w 3056"/>
                <a:gd name="T95" fmla="*/ 2147483646 h 5429"/>
                <a:gd name="T96" fmla="*/ 2147483646 w 3056"/>
                <a:gd name="T97" fmla="*/ 2147483646 h 5429"/>
                <a:gd name="T98" fmla="*/ 2147483646 w 3056"/>
                <a:gd name="T99" fmla="*/ 2147483646 h 5429"/>
                <a:gd name="T100" fmla="*/ 2147483646 w 3056"/>
                <a:gd name="T101" fmla="*/ 2147483646 h 5429"/>
                <a:gd name="T102" fmla="*/ 2147483646 w 3056"/>
                <a:gd name="T103" fmla="*/ 2147483646 h 5429"/>
                <a:gd name="T104" fmla="*/ 2147483646 w 3056"/>
                <a:gd name="T105" fmla="*/ 2147483646 h 5429"/>
                <a:gd name="T106" fmla="*/ 2147483646 w 3056"/>
                <a:gd name="T107" fmla="*/ 2147483646 h 5429"/>
                <a:gd name="T108" fmla="*/ 2147483646 w 3056"/>
                <a:gd name="T109" fmla="*/ 2147483646 h 5429"/>
                <a:gd name="T110" fmla="*/ 2147483646 w 3056"/>
                <a:gd name="T111" fmla="*/ 2147483646 h 5429"/>
                <a:gd name="T112" fmla="*/ 2147483646 w 3056"/>
                <a:gd name="T113" fmla="*/ 2147483646 h 5429"/>
                <a:gd name="T114" fmla="*/ 2147483646 w 3056"/>
                <a:gd name="T115" fmla="*/ 2147483646 h 5429"/>
                <a:gd name="T116" fmla="*/ 2147483646 w 3056"/>
                <a:gd name="T117" fmla="*/ 2147483646 h 5429"/>
                <a:gd name="T118" fmla="*/ 2147483646 w 3056"/>
                <a:gd name="T119" fmla="*/ 2147483646 h 5429"/>
                <a:gd name="T120" fmla="*/ 2147483646 w 3056"/>
                <a:gd name="T121" fmla="*/ 2147483646 h 542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056" h="5429">
                  <a:moveTo>
                    <a:pt x="2609" y="448"/>
                  </a:moveTo>
                  <a:lnTo>
                    <a:pt x="2609" y="448"/>
                  </a:lnTo>
                  <a:lnTo>
                    <a:pt x="2575" y="415"/>
                  </a:lnTo>
                  <a:lnTo>
                    <a:pt x="2538" y="383"/>
                  </a:lnTo>
                  <a:lnTo>
                    <a:pt x="2503" y="352"/>
                  </a:lnTo>
                  <a:lnTo>
                    <a:pt x="2465" y="322"/>
                  </a:lnTo>
                  <a:lnTo>
                    <a:pt x="2426" y="293"/>
                  </a:lnTo>
                  <a:lnTo>
                    <a:pt x="2388" y="265"/>
                  </a:lnTo>
                  <a:lnTo>
                    <a:pt x="2348" y="239"/>
                  </a:lnTo>
                  <a:lnTo>
                    <a:pt x="2307" y="213"/>
                  </a:lnTo>
                  <a:lnTo>
                    <a:pt x="2266" y="190"/>
                  </a:lnTo>
                  <a:lnTo>
                    <a:pt x="2224" y="168"/>
                  </a:lnTo>
                  <a:lnTo>
                    <a:pt x="2182" y="146"/>
                  </a:lnTo>
                  <a:lnTo>
                    <a:pt x="2138" y="127"/>
                  </a:lnTo>
                  <a:lnTo>
                    <a:pt x="2095" y="108"/>
                  </a:lnTo>
                  <a:lnTo>
                    <a:pt x="2049" y="91"/>
                  </a:lnTo>
                  <a:lnTo>
                    <a:pt x="2005" y="75"/>
                  </a:lnTo>
                  <a:lnTo>
                    <a:pt x="1960" y="61"/>
                  </a:lnTo>
                  <a:lnTo>
                    <a:pt x="1907" y="46"/>
                  </a:lnTo>
                  <a:lnTo>
                    <a:pt x="1853" y="34"/>
                  </a:lnTo>
                  <a:lnTo>
                    <a:pt x="1800" y="24"/>
                  </a:lnTo>
                  <a:lnTo>
                    <a:pt x="1746" y="15"/>
                  </a:lnTo>
                  <a:lnTo>
                    <a:pt x="1692" y="9"/>
                  </a:lnTo>
                  <a:lnTo>
                    <a:pt x="1638" y="3"/>
                  </a:lnTo>
                  <a:lnTo>
                    <a:pt x="1582" y="1"/>
                  </a:lnTo>
                  <a:lnTo>
                    <a:pt x="1527" y="0"/>
                  </a:lnTo>
                  <a:lnTo>
                    <a:pt x="1490" y="0"/>
                  </a:lnTo>
                  <a:lnTo>
                    <a:pt x="1451" y="2"/>
                  </a:lnTo>
                  <a:lnTo>
                    <a:pt x="1413" y="4"/>
                  </a:lnTo>
                  <a:lnTo>
                    <a:pt x="1376" y="8"/>
                  </a:lnTo>
                  <a:lnTo>
                    <a:pt x="1338" y="11"/>
                  </a:lnTo>
                  <a:lnTo>
                    <a:pt x="1302" y="17"/>
                  </a:lnTo>
                  <a:lnTo>
                    <a:pt x="1264" y="22"/>
                  </a:lnTo>
                  <a:lnTo>
                    <a:pt x="1227" y="29"/>
                  </a:lnTo>
                  <a:lnTo>
                    <a:pt x="1191" y="36"/>
                  </a:lnTo>
                  <a:lnTo>
                    <a:pt x="1154" y="45"/>
                  </a:lnTo>
                  <a:lnTo>
                    <a:pt x="1118" y="55"/>
                  </a:lnTo>
                  <a:lnTo>
                    <a:pt x="1083" y="65"/>
                  </a:lnTo>
                  <a:lnTo>
                    <a:pt x="1047" y="76"/>
                  </a:lnTo>
                  <a:lnTo>
                    <a:pt x="1012" y="88"/>
                  </a:lnTo>
                  <a:lnTo>
                    <a:pt x="977" y="102"/>
                  </a:lnTo>
                  <a:lnTo>
                    <a:pt x="942" y="115"/>
                  </a:lnTo>
                  <a:lnTo>
                    <a:pt x="909" y="130"/>
                  </a:lnTo>
                  <a:lnTo>
                    <a:pt x="875" y="146"/>
                  </a:lnTo>
                  <a:lnTo>
                    <a:pt x="841" y="161"/>
                  </a:lnTo>
                  <a:lnTo>
                    <a:pt x="808" y="179"/>
                  </a:lnTo>
                  <a:lnTo>
                    <a:pt x="775" y="197"/>
                  </a:lnTo>
                  <a:lnTo>
                    <a:pt x="743" y="216"/>
                  </a:lnTo>
                  <a:lnTo>
                    <a:pt x="712" y="235"/>
                  </a:lnTo>
                  <a:lnTo>
                    <a:pt x="680" y="255"/>
                  </a:lnTo>
                  <a:lnTo>
                    <a:pt x="649" y="277"/>
                  </a:lnTo>
                  <a:lnTo>
                    <a:pt x="619" y="300"/>
                  </a:lnTo>
                  <a:lnTo>
                    <a:pt x="589" y="322"/>
                  </a:lnTo>
                  <a:lnTo>
                    <a:pt x="559" y="345"/>
                  </a:lnTo>
                  <a:lnTo>
                    <a:pt x="531" y="370"/>
                  </a:lnTo>
                  <a:lnTo>
                    <a:pt x="502" y="395"/>
                  </a:lnTo>
                  <a:lnTo>
                    <a:pt x="474" y="421"/>
                  </a:lnTo>
                  <a:lnTo>
                    <a:pt x="447" y="448"/>
                  </a:lnTo>
                  <a:lnTo>
                    <a:pt x="420" y="475"/>
                  </a:lnTo>
                  <a:lnTo>
                    <a:pt x="395" y="503"/>
                  </a:lnTo>
                  <a:lnTo>
                    <a:pt x="369" y="531"/>
                  </a:lnTo>
                  <a:lnTo>
                    <a:pt x="345" y="561"/>
                  </a:lnTo>
                  <a:lnTo>
                    <a:pt x="322" y="589"/>
                  </a:lnTo>
                  <a:lnTo>
                    <a:pt x="298" y="619"/>
                  </a:lnTo>
                  <a:lnTo>
                    <a:pt x="276" y="650"/>
                  </a:lnTo>
                  <a:lnTo>
                    <a:pt x="255" y="681"/>
                  </a:lnTo>
                  <a:lnTo>
                    <a:pt x="235" y="712"/>
                  </a:lnTo>
                  <a:lnTo>
                    <a:pt x="215" y="744"/>
                  </a:lnTo>
                  <a:lnTo>
                    <a:pt x="197" y="776"/>
                  </a:lnTo>
                  <a:lnTo>
                    <a:pt x="179" y="808"/>
                  </a:lnTo>
                  <a:lnTo>
                    <a:pt x="161" y="841"/>
                  </a:lnTo>
                  <a:lnTo>
                    <a:pt x="145" y="875"/>
                  </a:lnTo>
                  <a:lnTo>
                    <a:pt x="129" y="909"/>
                  </a:lnTo>
                  <a:lnTo>
                    <a:pt x="115" y="943"/>
                  </a:lnTo>
                  <a:lnTo>
                    <a:pt x="101" y="977"/>
                  </a:lnTo>
                  <a:lnTo>
                    <a:pt x="88" y="1012"/>
                  </a:lnTo>
                  <a:lnTo>
                    <a:pt x="76" y="1047"/>
                  </a:lnTo>
                  <a:lnTo>
                    <a:pt x="65" y="1082"/>
                  </a:lnTo>
                  <a:lnTo>
                    <a:pt x="55" y="1118"/>
                  </a:lnTo>
                  <a:lnTo>
                    <a:pt x="45" y="1154"/>
                  </a:lnTo>
                  <a:lnTo>
                    <a:pt x="36" y="1191"/>
                  </a:lnTo>
                  <a:lnTo>
                    <a:pt x="28" y="1227"/>
                  </a:lnTo>
                  <a:lnTo>
                    <a:pt x="22" y="1264"/>
                  </a:lnTo>
                  <a:lnTo>
                    <a:pt x="16" y="1301"/>
                  </a:lnTo>
                  <a:lnTo>
                    <a:pt x="11" y="1338"/>
                  </a:lnTo>
                  <a:lnTo>
                    <a:pt x="7" y="1376"/>
                  </a:lnTo>
                  <a:lnTo>
                    <a:pt x="4" y="1413"/>
                  </a:lnTo>
                  <a:lnTo>
                    <a:pt x="2" y="1452"/>
                  </a:lnTo>
                  <a:lnTo>
                    <a:pt x="0" y="1489"/>
                  </a:lnTo>
                  <a:lnTo>
                    <a:pt x="0" y="1527"/>
                  </a:lnTo>
                  <a:lnTo>
                    <a:pt x="6" y="1667"/>
                  </a:lnTo>
                  <a:lnTo>
                    <a:pt x="10" y="1707"/>
                  </a:lnTo>
                  <a:lnTo>
                    <a:pt x="15" y="1746"/>
                  </a:lnTo>
                  <a:lnTo>
                    <a:pt x="22" y="1785"/>
                  </a:lnTo>
                  <a:lnTo>
                    <a:pt x="28" y="1823"/>
                  </a:lnTo>
                  <a:lnTo>
                    <a:pt x="36" y="1862"/>
                  </a:lnTo>
                  <a:lnTo>
                    <a:pt x="45" y="1900"/>
                  </a:lnTo>
                  <a:lnTo>
                    <a:pt x="55" y="1937"/>
                  </a:lnTo>
                  <a:lnTo>
                    <a:pt x="66" y="1975"/>
                  </a:lnTo>
                  <a:lnTo>
                    <a:pt x="78" y="2012"/>
                  </a:lnTo>
                  <a:lnTo>
                    <a:pt x="92" y="2049"/>
                  </a:lnTo>
                  <a:lnTo>
                    <a:pt x="105" y="2085"/>
                  </a:lnTo>
                  <a:lnTo>
                    <a:pt x="119" y="2122"/>
                  </a:lnTo>
                  <a:lnTo>
                    <a:pt x="136" y="2157"/>
                  </a:lnTo>
                  <a:lnTo>
                    <a:pt x="152" y="2193"/>
                  </a:lnTo>
                  <a:lnTo>
                    <a:pt x="170" y="2228"/>
                  </a:lnTo>
                  <a:lnTo>
                    <a:pt x="189" y="2262"/>
                  </a:lnTo>
                  <a:lnTo>
                    <a:pt x="195" y="2277"/>
                  </a:lnTo>
                  <a:lnTo>
                    <a:pt x="213" y="2312"/>
                  </a:lnTo>
                  <a:lnTo>
                    <a:pt x="242" y="2366"/>
                  </a:lnTo>
                  <a:lnTo>
                    <a:pt x="278" y="2439"/>
                  </a:lnTo>
                  <a:lnTo>
                    <a:pt x="323" y="2528"/>
                  </a:lnTo>
                  <a:lnTo>
                    <a:pt x="371" y="2631"/>
                  </a:lnTo>
                  <a:lnTo>
                    <a:pt x="422" y="2743"/>
                  </a:lnTo>
                  <a:lnTo>
                    <a:pt x="450" y="2804"/>
                  </a:lnTo>
                  <a:lnTo>
                    <a:pt x="476" y="2867"/>
                  </a:lnTo>
                  <a:lnTo>
                    <a:pt x="503" y="2931"/>
                  </a:lnTo>
                  <a:lnTo>
                    <a:pt x="530" y="2998"/>
                  </a:lnTo>
                  <a:lnTo>
                    <a:pt x="556" y="3065"/>
                  </a:lnTo>
                  <a:lnTo>
                    <a:pt x="582" y="3134"/>
                  </a:lnTo>
                  <a:lnTo>
                    <a:pt x="607" y="3202"/>
                  </a:lnTo>
                  <a:lnTo>
                    <a:pt x="630" y="3273"/>
                  </a:lnTo>
                  <a:lnTo>
                    <a:pt x="653" y="3343"/>
                  </a:lnTo>
                  <a:lnTo>
                    <a:pt x="674" y="3413"/>
                  </a:lnTo>
                  <a:lnTo>
                    <a:pt x="693" y="3483"/>
                  </a:lnTo>
                  <a:lnTo>
                    <a:pt x="711" y="3553"/>
                  </a:lnTo>
                  <a:lnTo>
                    <a:pt x="726" y="3621"/>
                  </a:lnTo>
                  <a:lnTo>
                    <a:pt x="739" y="3690"/>
                  </a:lnTo>
                  <a:lnTo>
                    <a:pt x="750" y="3756"/>
                  </a:lnTo>
                  <a:lnTo>
                    <a:pt x="754" y="3788"/>
                  </a:lnTo>
                  <a:lnTo>
                    <a:pt x="757" y="3822"/>
                  </a:lnTo>
                  <a:lnTo>
                    <a:pt x="760" y="3854"/>
                  </a:lnTo>
                  <a:lnTo>
                    <a:pt x="762" y="3885"/>
                  </a:lnTo>
                  <a:lnTo>
                    <a:pt x="763" y="3915"/>
                  </a:lnTo>
                  <a:lnTo>
                    <a:pt x="764" y="3946"/>
                  </a:lnTo>
                  <a:lnTo>
                    <a:pt x="783" y="4137"/>
                  </a:lnTo>
                  <a:lnTo>
                    <a:pt x="789" y="4160"/>
                  </a:lnTo>
                  <a:lnTo>
                    <a:pt x="796" y="4181"/>
                  </a:lnTo>
                  <a:lnTo>
                    <a:pt x="804" y="4202"/>
                  </a:lnTo>
                  <a:lnTo>
                    <a:pt x="813" y="4220"/>
                  </a:lnTo>
                  <a:lnTo>
                    <a:pt x="823" y="4237"/>
                  </a:lnTo>
                  <a:lnTo>
                    <a:pt x="833" y="4253"/>
                  </a:lnTo>
                  <a:lnTo>
                    <a:pt x="844" y="4267"/>
                  </a:lnTo>
                  <a:lnTo>
                    <a:pt x="855" y="4280"/>
                  </a:lnTo>
                  <a:lnTo>
                    <a:pt x="867" y="4291"/>
                  </a:lnTo>
                  <a:lnTo>
                    <a:pt x="880" y="4301"/>
                  </a:lnTo>
                  <a:lnTo>
                    <a:pt x="895" y="4309"/>
                  </a:lnTo>
                  <a:lnTo>
                    <a:pt x="909" y="4316"/>
                  </a:lnTo>
                  <a:lnTo>
                    <a:pt x="924" y="4321"/>
                  </a:lnTo>
                  <a:lnTo>
                    <a:pt x="941" y="4325"/>
                  </a:lnTo>
                  <a:lnTo>
                    <a:pt x="959" y="4328"/>
                  </a:lnTo>
                  <a:lnTo>
                    <a:pt x="976" y="4328"/>
                  </a:lnTo>
                  <a:lnTo>
                    <a:pt x="2079" y="4328"/>
                  </a:lnTo>
                  <a:lnTo>
                    <a:pt x="2097" y="4328"/>
                  </a:lnTo>
                  <a:lnTo>
                    <a:pt x="2114" y="4325"/>
                  </a:lnTo>
                  <a:lnTo>
                    <a:pt x="2130" y="4321"/>
                  </a:lnTo>
                  <a:lnTo>
                    <a:pt x="2145" y="4316"/>
                  </a:lnTo>
                  <a:lnTo>
                    <a:pt x="2161" y="4309"/>
                  </a:lnTo>
                  <a:lnTo>
                    <a:pt x="2174" y="4301"/>
                  </a:lnTo>
                  <a:lnTo>
                    <a:pt x="2187" y="4291"/>
                  </a:lnTo>
                  <a:lnTo>
                    <a:pt x="2201" y="4280"/>
                  </a:lnTo>
                  <a:lnTo>
                    <a:pt x="2212" y="4267"/>
                  </a:lnTo>
                  <a:lnTo>
                    <a:pt x="2223" y="4253"/>
                  </a:lnTo>
                  <a:lnTo>
                    <a:pt x="2233" y="4237"/>
                  </a:lnTo>
                  <a:lnTo>
                    <a:pt x="2243" y="4220"/>
                  </a:lnTo>
                  <a:lnTo>
                    <a:pt x="2251" y="4202"/>
                  </a:lnTo>
                  <a:lnTo>
                    <a:pt x="2259" y="4181"/>
                  </a:lnTo>
                  <a:lnTo>
                    <a:pt x="2266" y="4160"/>
                  </a:lnTo>
                  <a:lnTo>
                    <a:pt x="2272" y="4137"/>
                  </a:lnTo>
                  <a:lnTo>
                    <a:pt x="2291" y="3946"/>
                  </a:lnTo>
                  <a:lnTo>
                    <a:pt x="2293" y="3915"/>
                  </a:lnTo>
                  <a:lnTo>
                    <a:pt x="2294" y="3885"/>
                  </a:lnTo>
                  <a:lnTo>
                    <a:pt x="2295" y="3854"/>
                  </a:lnTo>
                  <a:lnTo>
                    <a:pt x="2298" y="3822"/>
                  </a:lnTo>
                  <a:lnTo>
                    <a:pt x="2301" y="3788"/>
                  </a:lnTo>
                  <a:lnTo>
                    <a:pt x="2306" y="3756"/>
                  </a:lnTo>
                  <a:lnTo>
                    <a:pt x="2316" y="3690"/>
                  </a:lnTo>
                  <a:lnTo>
                    <a:pt x="2329" y="3621"/>
                  </a:lnTo>
                  <a:lnTo>
                    <a:pt x="2345" y="3553"/>
                  </a:lnTo>
                  <a:lnTo>
                    <a:pt x="2362" y="3483"/>
                  </a:lnTo>
                  <a:lnTo>
                    <a:pt x="2381" y="3413"/>
                  </a:lnTo>
                  <a:lnTo>
                    <a:pt x="2402" y="3343"/>
                  </a:lnTo>
                  <a:lnTo>
                    <a:pt x="2425" y="3273"/>
                  </a:lnTo>
                  <a:lnTo>
                    <a:pt x="2449" y="3202"/>
                  </a:lnTo>
                  <a:lnTo>
                    <a:pt x="2474" y="3134"/>
                  </a:lnTo>
                  <a:lnTo>
                    <a:pt x="2499" y="3065"/>
                  </a:lnTo>
                  <a:lnTo>
                    <a:pt x="2526" y="2998"/>
                  </a:lnTo>
                  <a:lnTo>
                    <a:pt x="2552" y="2931"/>
                  </a:lnTo>
                  <a:lnTo>
                    <a:pt x="2579" y="2867"/>
                  </a:lnTo>
                  <a:lnTo>
                    <a:pt x="2607" y="2804"/>
                  </a:lnTo>
                  <a:lnTo>
                    <a:pt x="2633" y="2743"/>
                  </a:lnTo>
                  <a:lnTo>
                    <a:pt x="2685" y="2631"/>
                  </a:lnTo>
                  <a:lnTo>
                    <a:pt x="2735" y="2528"/>
                  </a:lnTo>
                  <a:lnTo>
                    <a:pt x="2778" y="2439"/>
                  </a:lnTo>
                  <a:lnTo>
                    <a:pt x="2816" y="2366"/>
                  </a:lnTo>
                  <a:lnTo>
                    <a:pt x="2846" y="2312"/>
                  </a:lnTo>
                  <a:lnTo>
                    <a:pt x="2872" y="2262"/>
                  </a:lnTo>
                  <a:lnTo>
                    <a:pt x="2890" y="2228"/>
                  </a:lnTo>
                  <a:lnTo>
                    <a:pt x="2906" y="2193"/>
                  </a:lnTo>
                  <a:lnTo>
                    <a:pt x="2923" y="2157"/>
                  </a:lnTo>
                  <a:lnTo>
                    <a:pt x="2937" y="2122"/>
                  </a:lnTo>
                  <a:lnTo>
                    <a:pt x="2952" y="2085"/>
                  </a:lnTo>
                  <a:lnTo>
                    <a:pt x="2965" y="2049"/>
                  </a:lnTo>
                  <a:lnTo>
                    <a:pt x="2978" y="2012"/>
                  </a:lnTo>
                  <a:lnTo>
                    <a:pt x="2989" y="1975"/>
                  </a:lnTo>
                  <a:lnTo>
                    <a:pt x="3000" y="1937"/>
                  </a:lnTo>
                  <a:lnTo>
                    <a:pt x="3010" y="1900"/>
                  </a:lnTo>
                  <a:lnTo>
                    <a:pt x="3019" y="1862"/>
                  </a:lnTo>
                  <a:lnTo>
                    <a:pt x="3027" y="1823"/>
                  </a:lnTo>
                  <a:lnTo>
                    <a:pt x="3034" y="1785"/>
                  </a:lnTo>
                  <a:lnTo>
                    <a:pt x="3040" y="1746"/>
                  </a:lnTo>
                  <a:lnTo>
                    <a:pt x="3045" y="1707"/>
                  </a:lnTo>
                  <a:lnTo>
                    <a:pt x="3049" y="1667"/>
                  </a:lnTo>
                  <a:lnTo>
                    <a:pt x="3056" y="1527"/>
                  </a:lnTo>
                  <a:lnTo>
                    <a:pt x="3055" y="1489"/>
                  </a:lnTo>
                  <a:lnTo>
                    <a:pt x="3054" y="1452"/>
                  </a:lnTo>
                  <a:lnTo>
                    <a:pt x="3051" y="1413"/>
                  </a:lnTo>
                  <a:lnTo>
                    <a:pt x="3048" y="1376"/>
                  </a:lnTo>
                  <a:lnTo>
                    <a:pt x="3044" y="1338"/>
                  </a:lnTo>
                  <a:lnTo>
                    <a:pt x="3039" y="1301"/>
                  </a:lnTo>
                  <a:lnTo>
                    <a:pt x="3034" y="1264"/>
                  </a:lnTo>
                  <a:lnTo>
                    <a:pt x="3026" y="1227"/>
                  </a:lnTo>
                  <a:lnTo>
                    <a:pt x="3018" y="1191"/>
                  </a:lnTo>
                  <a:lnTo>
                    <a:pt x="3010" y="1154"/>
                  </a:lnTo>
                  <a:lnTo>
                    <a:pt x="3000" y="1118"/>
                  </a:lnTo>
                  <a:lnTo>
                    <a:pt x="2990" y="1082"/>
                  </a:lnTo>
                  <a:lnTo>
                    <a:pt x="2979" y="1047"/>
                  </a:lnTo>
                  <a:lnTo>
                    <a:pt x="2967" y="1012"/>
                  </a:lnTo>
                  <a:lnTo>
                    <a:pt x="2954" y="977"/>
                  </a:lnTo>
                  <a:lnTo>
                    <a:pt x="2941" y="943"/>
                  </a:lnTo>
                  <a:lnTo>
                    <a:pt x="2925" y="909"/>
                  </a:lnTo>
                  <a:lnTo>
                    <a:pt x="2910" y="875"/>
                  </a:lnTo>
                  <a:lnTo>
                    <a:pt x="2894" y="841"/>
                  </a:lnTo>
                  <a:lnTo>
                    <a:pt x="2877" y="808"/>
                  </a:lnTo>
                  <a:lnTo>
                    <a:pt x="2859" y="776"/>
                  </a:lnTo>
                  <a:lnTo>
                    <a:pt x="2840" y="744"/>
                  </a:lnTo>
                  <a:lnTo>
                    <a:pt x="2820" y="712"/>
                  </a:lnTo>
                  <a:lnTo>
                    <a:pt x="2800" y="681"/>
                  </a:lnTo>
                  <a:lnTo>
                    <a:pt x="2779" y="650"/>
                  </a:lnTo>
                  <a:lnTo>
                    <a:pt x="2757" y="619"/>
                  </a:lnTo>
                  <a:lnTo>
                    <a:pt x="2734" y="589"/>
                  </a:lnTo>
                  <a:lnTo>
                    <a:pt x="2711" y="561"/>
                  </a:lnTo>
                  <a:lnTo>
                    <a:pt x="2686" y="531"/>
                  </a:lnTo>
                  <a:lnTo>
                    <a:pt x="2661" y="503"/>
                  </a:lnTo>
                  <a:lnTo>
                    <a:pt x="2635" y="475"/>
                  </a:lnTo>
                  <a:lnTo>
                    <a:pt x="2609" y="448"/>
                  </a:lnTo>
                  <a:close/>
                  <a:moveTo>
                    <a:pt x="2661" y="1641"/>
                  </a:moveTo>
                  <a:lnTo>
                    <a:pt x="2661" y="1641"/>
                  </a:lnTo>
                  <a:lnTo>
                    <a:pt x="2658" y="1669"/>
                  </a:lnTo>
                  <a:lnTo>
                    <a:pt x="2654" y="1697"/>
                  </a:lnTo>
                  <a:lnTo>
                    <a:pt x="2650" y="1725"/>
                  </a:lnTo>
                  <a:lnTo>
                    <a:pt x="2644" y="1753"/>
                  </a:lnTo>
                  <a:lnTo>
                    <a:pt x="2639" y="1781"/>
                  </a:lnTo>
                  <a:lnTo>
                    <a:pt x="2632" y="1809"/>
                  </a:lnTo>
                  <a:lnTo>
                    <a:pt x="2624" y="1837"/>
                  </a:lnTo>
                  <a:lnTo>
                    <a:pt x="2617" y="1863"/>
                  </a:lnTo>
                  <a:lnTo>
                    <a:pt x="2608" y="1891"/>
                  </a:lnTo>
                  <a:lnTo>
                    <a:pt x="2599" y="1918"/>
                  </a:lnTo>
                  <a:lnTo>
                    <a:pt x="2589" y="1945"/>
                  </a:lnTo>
                  <a:lnTo>
                    <a:pt x="2579" y="1972"/>
                  </a:lnTo>
                  <a:lnTo>
                    <a:pt x="2567" y="1998"/>
                  </a:lnTo>
                  <a:lnTo>
                    <a:pt x="2556" y="2025"/>
                  </a:lnTo>
                  <a:lnTo>
                    <a:pt x="2543" y="2051"/>
                  </a:lnTo>
                  <a:lnTo>
                    <a:pt x="2529" y="2078"/>
                  </a:lnTo>
                  <a:lnTo>
                    <a:pt x="2485" y="2158"/>
                  </a:lnTo>
                  <a:lnTo>
                    <a:pt x="2450" y="2227"/>
                  </a:lnTo>
                  <a:lnTo>
                    <a:pt x="2408" y="2311"/>
                  </a:lnTo>
                  <a:lnTo>
                    <a:pt x="2359" y="2409"/>
                  </a:lnTo>
                  <a:lnTo>
                    <a:pt x="2307" y="2519"/>
                  </a:lnTo>
                  <a:lnTo>
                    <a:pt x="2253" y="2641"/>
                  </a:lnTo>
                  <a:lnTo>
                    <a:pt x="2225" y="2705"/>
                  </a:lnTo>
                  <a:lnTo>
                    <a:pt x="2197" y="2771"/>
                  </a:lnTo>
                  <a:lnTo>
                    <a:pt x="2170" y="2838"/>
                  </a:lnTo>
                  <a:lnTo>
                    <a:pt x="2142" y="2908"/>
                  </a:lnTo>
                  <a:lnTo>
                    <a:pt x="2116" y="2979"/>
                  </a:lnTo>
                  <a:lnTo>
                    <a:pt x="2090" y="3051"/>
                  </a:lnTo>
                  <a:lnTo>
                    <a:pt x="2065" y="3124"/>
                  </a:lnTo>
                  <a:lnTo>
                    <a:pt x="2040" y="3198"/>
                  </a:lnTo>
                  <a:lnTo>
                    <a:pt x="2018" y="3272"/>
                  </a:lnTo>
                  <a:lnTo>
                    <a:pt x="1996" y="3346"/>
                  </a:lnTo>
                  <a:lnTo>
                    <a:pt x="1977" y="3420"/>
                  </a:lnTo>
                  <a:lnTo>
                    <a:pt x="1960" y="3494"/>
                  </a:lnTo>
                  <a:lnTo>
                    <a:pt x="1944" y="3568"/>
                  </a:lnTo>
                  <a:lnTo>
                    <a:pt x="1930" y="3641"/>
                  </a:lnTo>
                  <a:lnTo>
                    <a:pt x="1919" y="3714"/>
                  </a:lnTo>
                  <a:lnTo>
                    <a:pt x="1911" y="3785"/>
                  </a:lnTo>
                  <a:lnTo>
                    <a:pt x="1908" y="3820"/>
                  </a:lnTo>
                  <a:lnTo>
                    <a:pt x="1905" y="3856"/>
                  </a:lnTo>
                  <a:lnTo>
                    <a:pt x="1903" y="3890"/>
                  </a:lnTo>
                  <a:lnTo>
                    <a:pt x="1902" y="3924"/>
                  </a:lnTo>
                  <a:lnTo>
                    <a:pt x="1901" y="3939"/>
                  </a:lnTo>
                  <a:lnTo>
                    <a:pt x="1722" y="3939"/>
                  </a:lnTo>
                  <a:lnTo>
                    <a:pt x="1722" y="3230"/>
                  </a:lnTo>
                  <a:lnTo>
                    <a:pt x="1333" y="3230"/>
                  </a:lnTo>
                  <a:lnTo>
                    <a:pt x="1333" y="3939"/>
                  </a:lnTo>
                  <a:lnTo>
                    <a:pt x="1154" y="3939"/>
                  </a:lnTo>
                  <a:lnTo>
                    <a:pt x="1152" y="3924"/>
                  </a:lnTo>
                  <a:lnTo>
                    <a:pt x="1151" y="3873"/>
                  </a:lnTo>
                  <a:lnTo>
                    <a:pt x="1148" y="3820"/>
                  </a:lnTo>
                  <a:lnTo>
                    <a:pt x="1142" y="3767"/>
                  </a:lnTo>
                  <a:lnTo>
                    <a:pt x="1136" y="3714"/>
                  </a:lnTo>
                  <a:lnTo>
                    <a:pt x="1128" y="3659"/>
                  </a:lnTo>
                  <a:lnTo>
                    <a:pt x="1118" y="3604"/>
                  </a:lnTo>
                  <a:lnTo>
                    <a:pt x="1108" y="3547"/>
                  </a:lnTo>
                  <a:lnTo>
                    <a:pt x="1096" y="3491"/>
                  </a:lnTo>
                  <a:lnTo>
                    <a:pt x="1081" y="3434"/>
                  </a:lnTo>
                  <a:lnTo>
                    <a:pt x="1067" y="3377"/>
                  </a:lnTo>
                  <a:lnTo>
                    <a:pt x="1052" y="3319"/>
                  </a:lnTo>
                  <a:lnTo>
                    <a:pt x="1035" y="3261"/>
                  </a:lnTo>
                  <a:lnTo>
                    <a:pt x="1016" y="3203"/>
                  </a:lnTo>
                  <a:lnTo>
                    <a:pt x="997" y="3145"/>
                  </a:lnTo>
                  <a:lnTo>
                    <a:pt x="977" y="3086"/>
                  </a:lnTo>
                  <a:lnTo>
                    <a:pt x="958" y="3029"/>
                  </a:lnTo>
                  <a:lnTo>
                    <a:pt x="937" y="2970"/>
                  </a:lnTo>
                  <a:lnTo>
                    <a:pt x="914" y="2911"/>
                  </a:lnTo>
                  <a:lnTo>
                    <a:pt x="868" y="2796"/>
                  </a:lnTo>
                  <a:lnTo>
                    <a:pt x="820" y="2681"/>
                  </a:lnTo>
                  <a:lnTo>
                    <a:pt x="771" y="2570"/>
                  </a:lnTo>
                  <a:lnTo>
                    <a:pt x="721" y="2459"/>
                  </a:lnTo>
                  <a:lnTo>
                    <a:pt x="669" y="2353"/>
                  </a:lnTo>
                  <a:lnTo>
                    <a:pt x="618" y="2249"/>
                  </a:lnTo>
                  <a:lnTo>
                    <a:pt x="568" y="2150"/>
                  </a:lnTo>
                  <a:lnTo>
                    <a:pt x="567" y="2144"/>
                  </a:lnTo>
                  <a:lnTo>
                    <a:pt x="530" y="2075"/>
                  </a:lnTo>
                  <a:lnTo>
                    <a:pt x="515" y="2050"/>
                  </a:lnTo>
                  <a:lnTo>
                    <a:pt x="503" y="2024"/>
                  </a:lnTo>
                  <a:lnTo>
                    <a:pt x="491" y="1998"/>
                  </a:lnTo>
                  <a:lnTo>
                    <a:pt x="479" y="1972"/>
                  </a:lnTo>
                  <a:lnTo>
                    <a:pt x="468" y="1945"/>
                  </a:lnTo>
                  <a:lnTo>
                    <a:pt x="458" y="1918"/>
                  </a:lnTo>
                  <a:lnTo>
                    <a:pt x="449" y="1892"/>
                  </a:lnTo>
                  <a:lnTo>
                    <a:pt x="440" y="1864"/>
                  </a:lnTo>
                  <a:lnTo>
                    <a:pt x="431" y="1838"/>
                  </a:lnTo>
                  <a:lnTo>
                    <a:pt x="424" y="1810"/>
                  </a:lnTo>
                  <a:lnTo>
                    <a:pt x="418" y="1782"/>
                  </a:lnTo>
                  <a:lnTo>
                    <a:pt x="411" y="1754"/>
                  </a:lnTo>
                  <a:lnTo>
                    <a:pt x="406" y="1726"/>
                  </a:lnTo>
                  <a:lnTo>
                    <a:pt x="401" y="1697"/>
                  </a:lnTo>
                  <a:lnTo>
                    <a:pt x="398" y="1670"/>
                  </a:lnTo>
                  <a:lnTo>
                    <a:pt x="395" y="1641"/>
                  </a:lnTo>
                  <a:lnTo>
                    <a:pt x="389" y="1519"/>
                  </a:lnTo>
                  <a:lnTo>
                    <a:pt x="389" y="1492"/>
                  </a:lnTo>
                  <a:lnTo>
                    <a:pt x="390" y="1463"/>
                  </a:lnTo>
                  <a:lnTo>
                    <a:pt x="392" y="1435"/>
                  </a:lnTo>
                  <a:lnTo>
                    <a:pt x="395" y="1408"/>
                  </a:lnTo>
                  <a:lnTo>
                    <a:pt x="398" y="1380"/>
                  </a:lnTo>
                  <a:lnTo>
                    <a:pt x="402" y="1352"/>
                  </a:lnTo>
                  <a:lnTo>
                    <a:pt x="407" y="1325"/>
                  </a:lnTo>
                  <a:lnTo>
                    <a:pt x="412" y="1298"/>
                  </a:lnTo>
                  <a:lnTo>
                    <a:pt x="418" y="1270"/>
                  </a:lnTo>
                  <a:lnTo>
                    <a:pt x="424" y="1244"/>
                  </a:lnTo>
                  <a:lnTo>
                    <a:pt x="431" y="1217"/>
                  </a:lnTo>
                  <a:lnTo>
                    <a:pt x="439" y="1191"/>
                  </a:lnTo>
                  <a:lnTo>
                    <a:pt x="448" y="1165"/>
                  </a:lnTo>
                  <a:lnTo>
                    <a:pt x="457" y="1139"/>
                  </a:lnTo>
                  <a:lnTo>
                    <a:pt x="466" y="1113"/>
                  </a:lnTo>
                  <a:lnTo>
                    <a:pt x="476" y="1088"/>
                  </a:lnTo>
                  <a:lnTo>
                    <a:pt x="487" y="1063"/>
                  </a:lnTo>
                  <a:lnTo>
                    <a:pt x="499" y="1038"/>
                  </a:lnTo>
                  <a:lnTo>
                    <a:pt x="511" y="1013"/>
                  </a:lnTo>
                  <a:lnTo>
                    <a:pt x="524" y="989"/>
                  </a:lnTo>
                  <a:lnTo>
                    <a:pt x="537" y="965"/>
                  </a:lnTo>
                  <a:lnTo>
                    <a:pt x="551" y="941"/>
                  </a:lnTo>
                  <a:lnTo>
                    <a:pt x="565" y="918"/>
                  </a:lnTo>
                  <a:lnTo>
                    <a:pt x="580" y="895"/>
                  </a:lnTo>
                  <a:lnTo>
                    <a:pt x="596" y="871"/>
                  </a:lnTo>
                  <a:lnTo>
                    <a:pt x="612" y="849"/>
                  </a:lnTo>
                  <a:lnTo>
                    <a:pt x="629" y="827"/>
                  </a:lnTo>
                  <a:lnTo>
                    <a:pt x="647" y="806"/>
                  </a:lnTo>
                  <a:lnTo>
                    <a:pt x="664" y="784"/>
                  </a:lnTo>
                  <a:lnTo>
                    <a:pt x="683" y="763"/>
                  </a:lnTo>
                  <a:lnTo>
                    <a:pt x="702" y="743"/>
                  </a:lnTo>
                  <a:lnTo>
                    <a:pt x="722" y="723"/>
                  </a:lnTo>
                  <a:lnTo>
                    <a:pt x="743" y="703"/>
                  </a:lnTo>
                  <a:lnTo>
                    <a:pt x="764" y="683"/>
                  </a:lnTo>
                  <a:lnTo>
                    <a:pt x="785" y="665"/>
                  </a:lnTo>
                  <a:lnTo>
                    <a:pt x="806" y="647"/>
                  </a:lnTo>
                  <a:lnTo>
                    <a:pt x="828" y="629"/>
                  </a:lnTo>
                  <a:lnTo>
                    <a:pt x="850" y="611"/>
                  </a:lnTo>
                  <a:lnTo>
                    <a:pt x="874" y="596"/>
                  </a:lnTo>
                  <a:lnTo>
                    <a:pt x="896" y="579"/>
                  </a:lnTo>
                  <a:lnTo>
                    <a:pt x="920" y="565"/>
                  </a:lnTo>
                  <a:lnTo>
                    <a:pt x="943" y="550"/>
                  </a:lnTo>
                  <a:lnTo>
                    <a:pt x="968" y="536"/>
                  </a:lnTo>
                  <a:lnTo>
                    <a:pt x="992" y="523"/>
                  </a:lnTo>
                  <a:lnTo>
                    <a:pt x="1016" y="510"/>
                  </a:lnTo>
                  <a:lnTo>
                    <a:pt x="1041" y="498"/>
                  </a:lnTo>
                  <a:lnTo>
                    <a:pt x="1066" y="486"/>
                  </a:lnTo>
                  <a:lnTo>
                    <a:pt x="1091" y="475"/>
                  </a:lnTo>
                  <a:lnTo>
                    <a:pt x="1117" y="464"/>
                  </a:lnTo>
                  <a:lnTo>
                    <a:pt x="1143" y="456"/>
                  </a:lnTo>
                  <a:lnTo>
                    <a:pt x="1170" y="446"/>
                  </a:lnTo>
                  <a:lnTo>
                    <a:pt x="1195" y="438"/>
                  </a:lnTo>
                  <a:lnTo>
                    <a:pt x="1223" y="430"/>
                  </a:lnTo>
                  <a:lnTo>
                    <a:pt x="1250" y="423"/>
                  </a:lnTo>
                  <a:lnTo>
                    <a:pt x="1276" y="417"/>
                  </a:lnTo>
                  <a:lnTo>
                    <a:pt x="1304" y="411"/>
                  </a:lnTo>
                  <a:lnTo>
                    <a:pt x="1331" y="406"/>
                  </a:lnTo>
                  <a:lnTo>
                    <a:pt x="1359" y="401"/>
                  </a:lnTo>
                  <a:lnTo>
                    <a:pt x="1387" y="398"/>
                  </a:lnTo>
                  <a:lnTo>
                    <a:pt x="1414" y="395"/>
                  </a:lnTo>
                  <a:lnTo>
                    <a:pt x="1443" y="392"/>
                  </a:lnTo>
                  <a:lnTo>
                    <a:pt x="1471" y="390"/>
                  </a:lnTo>
                  <a:lnTo>
                    <a:pt x="1500" y="389"/>
                  </a:lnTo>
                  <a:lnTo>
                    <a:pt x="1527" y="389"/>
                  </a:lnTo>
                  <a:lnTo>
                    <a:pt x="1569" y="389"/>
                  </a:lnTo>
                  <a:lnTo>
                    <a:pt x="1610" y="391"/>
                  </a:lnTo>
                  <a:lnTo>
                    <a:pt x="1651" y="396"/>
                  </a:lnTo>
                  <a:lnTo>
                    <a:pt x="1691" y="400"/>
                  </a:lnTo>
                  <a:lnTo>
                    <a:pt x="1732" y="407"/>
                  </a:lnTo>
                  <a:lnTo>
                    <a:pt x="1771" y="415"/>
                  </a:lnTo>
                  <a:lnTo>
                    <a:pt x="1810" y="423"/>
                  </a:lnTo>
                  <a:lnTo>
                    <a:pt x="1849" y="435"/>
                  </a:lnTo>
                  <a:lnTo>
                    <a:pt x="1882" y="444"/>
                  </a:lnTo>
                  <a:lnTo>
                    <a:pt x="1917" y="457"/>
                  </a:lnTo>
                  <a:lnTo>
                    <a:pt x="1950" y="470"/>
                  </a:lnTo>
                  <a:lnTo>
                    <a:pt x="1983" y="483"/>
                  </a:lnTo>
                  <a:lnTo>
                    <a:pt x="2015" y="498"/>
                  </a:lnTo>
                  <a:lnTo>
                    <a:pt x="2047" y="514"/>
                  </a:lnTo>
                  <a:lnTo>
                    <a:pt x="2078" y="531"/>
                  </a:lnTo>
                  <a:lnTo>
                    <a:pt x="2109" y="548"/>
                  </a:lnTo>
                  <a:lnTo>
                    <a:pt x="2139" y="567"/>
                  </a:lnTo>
                  <a:lnTo>
                    <a:pt x="2169" y="586"/>
                  </a:lnTo>
                  <a:lnTo>
                    <a:pt x="2197" y="607"/>
                  </a:lnTo>
                  <a:lnTo>
                    <a:pt x="2226" y="628"/>
                  </a:lnTo>
                  <a:lnTo>
                    <a:pt x="2254" y="650"/>
                  </a:lnTo>
                  <a:lnTo>
                    <a:pt x="2281" y="673"/>
                  </a:lnTo>
                  <a:lnTo>
                    <a:pt x="2308" y="698"/>
                  </a:lnTo>
                  <a:lnTo>
                    <a:pt x="2333" y="723"/>
                  </a:lnTo>
                  <a:lnTo>
                    <a:pt x="2353" y="743"/>
                  </a:lnTo>
                  <a:lnTo>
                    <a:pt x="2372" y="763"/>
                  </a:lnTo>
                  <a:lnTo>
                    <a:pt x="2391" y="784"/>
                  </a:lnTo>
                  <a:lnTo>
                    <a:pt x="2409" y="806"/>
                  </a:lnTo>
                  <a:lnTo>
                    <a:pt x="2426" y="827"/>
                  </a:lnTo>
                  <a:lnTo>
                    <a:pt x="2443" y="849"/>
                  </a:lnTo>
                  <a:lnTo>
                    <a:pt x="2460" y="872"/>
                  </a:lnTo>
                  <a:lnTo>
                    <a:pt x="2475" y="895"/>
                  </a:lnTo>
                  <a:lnTo>
                    <a:pt x="2489" y="918"/>
                  </a:lnTo>
                  <a:lnTo>
                    <a:pt x="2505" y="941"/>
                  </a:lnTo>
                  <a:lnTo>
                    <a:pt x="2518" y="965"/>
                  </a:lnTo>
                  <a:lnTo>
                    <a:pt x="2531" y="989"/>
                  </a:lnTo>
                  <a:lnTo>
                    <a:pt x="2545" y="1013"/>
                  </a:lnTo>
                  <a:lnTo>
                    <a:pt x="2557" y="1038"/>
                  </a:lnTo>
                  <a:lnTo>
                    <a:pt x="2568" y="1063"/>
                  </a:lnTo>
                  <a:lnTo>
                    <a:pt x="2579" y="1088"/>
                  </a:lnTo>
                  <a:lnTo>
                    <a:pt x="2589" y="1113"/>
                  </a:lnTo>
                  <a:lnTo>
                    <a:pt x="2599" y="1139"/>
                  </a:lnTo>
                  <a:lnTo>
                    <a:pt x="2608" y="1164"/>
                  </a:lnTo>
                  <a:lnTo>
                    <a:pt x="2617" y="1191"/>
                  </a:lnTo>
                  <a:lnTo>
                    <a:pt x="2624" y="1217"/>
                  </a:lnTo>
                  <a:lnTo>
                    <a:pt x="2631" y="1244"/>
                  </a:lnTo>
                  <a:lnTo>
                    <a:pt x="2638" y="1270"/>
                  </a:lnTo>
                  <a:lnTo>
                    <a:pt x="2643" y="1297"/>
                  </a:lnTo>
                  <a:lnTo>
                    <a:pt x="2649" y="1325"/>
                  </a:lnTo>
                  <a:lnTo>
                    <a:pt x="2653" y="1352"/>
                  </a:lnTo>
                  <a:lnTo>
                    <a:pt x="2658" y="1379"/>
                  </a:lnTo>
                  <a:lnTo>
                    <a:pt x="2660" y="1406"/>
                  </a:lnTo>
                  <a:lnTo>
                    <a:pt x="2663" y="1435"/>
                  </a:lnTo>
                  <a:lnTo>
                    <a:pt x="2664" y="1463"/>
                  </a:lnTo>
                  <a:lnTo>
                    <a:pt x="2666" y="1491"/>
                  </a:lnTo>
                  <a:lnTo>
                    <a:pt x="2666" y="1519"/>
                  </a:lnTo>
                  <a:lnTo>
                    <a:pt x="2661" y="1641"/>
                  </a:lnTo>
                  <a:close/>
                  <a:moveTo>
                    <a:pt x="907" y="4981"/>
                  </a:moveTo>
                  <a:lnTo>
                    <a:pt x="2149" y="4981"/>
                  </a:lnTo>
                  <a:lnTo>
                    <a:pt x="2149" y="4592"/>
                  </a:lnTo>
                  <a:lnTo>
                    <a:pt x="907" y="4592"/>
                  </a:lnTo>
                  <a:lnTo>
                    <a:pt x="907" y="4981"/>
                  </a:lnTo>
                  <a:close/>
                  <a:moveTo>
                    <a:pt x="1177" y="5429"/>
                  </a:moveTo>
                  <a:lnTo>
                    <a:pt x="1879" y="5429"/>
                  </a:lnTo>
                  <a:lnTo>
                    <a:pt x="1879" y="5209"/>
                  </a:lnTo>
                  <a:lnTo>
                    <a:pt x="1177" y="5209"/>
                  </a:lnTo>
                  <a:lnTo>
                    <a:pt x="1177" y="5429"/>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grpSp>
      <p:sp>
        <p:nvSpPr>
          <p:cNvPr id="45" name="TextBox 13">
            <a:extLst>
              <a:ext uri="{FF2B5EF4-FFF2-40B4-BE49-F238E27FC236}">
                <a16:creationId xmlns:a16="http://schemas.microsoft.com/office/drawing/2014/main" id="{FD2D03BF-FBE8-496D-819E-B84DF7DFD2C5}"/>
              </a:ext>
            </a:extLst>
          </p:cNvPr>
          <p:cNvSpPr txBox="1"/>
          <p:nvPr/>
        </p:nvSpPr>
        <p:spPr>
          <a:xfrm>
            <a:off x="5822991" y="1535115"/>
            <a:ext cx="2667460" cy="541687"/>
          </a:xfrm>
          <a:prstGeom prst="rect">
            <a:avLst/>
          </a:prstGeom>
          <a:noFill/>
          <a:ln w="9525">
            <a:noFill/>
            <a:miter/>
          </a:ln>
        </p:spPr>
        <p:txBody>
          <a:bodyPr wrap="square" lIns="0" tIns="0" rIns="0" bIns="0">
            <a:spAutoFit/>
          </a:bodyPr>
          <a:lstStyle/>
          <a:p>
            <a:pPr defTabSz="683260">
              <a:spcBef>
                <a:spcPct val="20000"/>
              </a:spcBef>
            </a:pPr>
            <a:r>
              <a:rPr lang="en-US" altLang="zh-CN" sz="1600" b="1" dirty="0">
                <a:solidFill>
                  <a:srgbClr val="1B4367"/>
                </a:solidFill>
                <a:cs typeface="+mn-ea"/>
                <a:sym typeface="+mn-lt"/>
              </a:rPr>
              <a:t>Overview</a:t>
            </a:r>
          </a:p>
          <a:p>
            <a:pPr defTabSz="683260">
              <a:spcBef>
                <a:spcPct val="20000"/>
              </a:spcBef>
            </a:pPr>
            <a:endParaRPr lang="zh-CN" altLang="en-US" sz="1600" b="1" dirty="0">
              <a:solidFill>
                <a:srgbClr val="1B4367"/>
              </a:solidFill>
              <a:cs typeface="+mn-ea"/>
              <a:sym typeface="+mn-lt"/>
            </a:endParaRPr>
          </a:p>
        </p:txBody>
      </p:sp>
      <p:grpSp>
        <p:nvGrpSpPr>
          <p:cNvPr id="21" name="组合 20">
            <a:extLst>
              <a:ext uri="{FF2B5EF4-FFF2-40B4-BE49-F238E27FC236}">
                <a16:creationId xmlns:a16="http://schemas.microsoft.com/office/drawing/2014/main" id="{B4653C82-4AA4-4704-8395-80A4495DC1EB}"/>
              </a:ext>
            </a:extLst>
          </p:cNvPr>
          <p:cNvGrpSpPr/>
          <p:nvPr/>
        </p:nvGrpSpPr>
        <p:grpSpPr>
          <a:xfrm>
            <a:off x="4420451" y="2790947"/>
            <a:ext cx="1202531" cy="1202531"/>
            <a:chOff x="2361414" y="1854736"/>
            <a:chExt cx="1603375" cy="1603375"/>
          </a:xfrm>
          <a:solidFill>
            <a:srgbClr val="1B4367"/>
          </a:solidFill>
        </p:grpSpPr>
        <p:sp>
          <p:nvSpPr>
            <p:cNvPr id="22" name="Rectangle 3">
              <a:extLst>
                <a:ext uri="{FF2B5EF4-FFF2-40B4-BE49-F238E27FC236}">
                  <a16:creationId xmlns:a16="http://schemas.microsoft.com/office/drawing/2014/main" id="{FA68E008-EC3C-4C51-A2DC-6BEBB110D61B}"/>
                </a:ext>
              </a:extLst>
            </p:cNvPr>
            <p:cNvSpPr/>
            <p:nvPr/>
          </p:nvSpPr>
          <p:spPr>
            <a:xfrm>
              <a:off x="2361414" y="1854736"/>
              <a:ext cx="1603375" cy="1603375"/>
            </a:xfrm>
            <a:prstGeom prst="flowChartConnector">
              <a:avLst/>
            </a:prstGeom>
            <a:grpFill/>
            <a:ln w="9525">
              <a:noFill/>
              <a:miter/>
            </a:ln>
          </p:spPr>
          <p:txBody>
            <a:bodyPr anchor="ctr"/>
            <a:lstStyle/>
            <a:p>
              <a:pPr lvl="0" algn="ctr" eaLnBrk="1" hangingPunct="1"/>
              <a:endParaRPr lang="en-US" altLang="zh-CN" sz="1000" dirty="0">
                <a:solidFill>
                  <a:srgbClr val="FFFFFF"/>
                </a:solidFill>
                <a:cs typeface="+mn-ea"/>
                <a:sym typeface="+mn-lt"/>
              </a:endParaRPr>
            </a:p>
          </p:txBody>
        </p:sp>
        <p:sp>
          <p:nvSpPr>
            <p:cNvPr id="23" name="Freeform 220">
              <a:extLst>
                <a:ext uri="{FF2B5EF4-FFF2-40B4-BE49-F238E27FC236}">
                  <a16:creationId xmlns:a16="http://schemas.microsoft.com/office/drawing/2014/main" id="{E10A2FD2-D71A-409C-8BE4-B9182DAB9849}"/>
                </a:ext>
              </a:extLst>
            </p:cNvPr>
            <p:cNvSpPr/>
            <p:nvPr/>
          </p:nvSpPr>
          <p:spPr>
            <a:xfrm>
              <a:off x="2770383" y="2305455"/>
              <a:ext cx="796514" cy="594622"/>
            </a:xfrm>
            <a:custGeom>
              <a:avLst/>
              <a:gdLst/>
              <a:ahLst/>
              <a:cxnLst>
                <a:cxn ang="0">
                  <a:pos x="384421" y="282893"/>
                </a:cxn>
                <a:cxn ang="0">
                  <a:pos x="384421" y="0"/>
                </a:cxn>
                <a:cxn ang="0">
                  <a:pos x="299800" y="0"/>
                </a:cxn>
                <a:cxn ang="0">
                  <a:pos x="299800" y="282893"/>
                </a:cxn>
                <a:cxn ang="0">
                  <a:pos x="251445" y="282893"/>
                </a:cxn>
                <a:cxn ang="0">
                  <a:pos x="251445" y="174088"/>
                </a:cxn>
                <a:cxn ang="0">
                  <a:pos x="166824" y="174088"/>
                </a:cxn>
                <a:cxn ang="0">
                  <a:pos x="166824" y="282893"/>
                </a:cxn>
                <a:cxn ang="0">
                  <a:pos x="120887" y="282893"/>
                </a:cxn>
                <a:cxn ang="0">
                  <a:pos x="120887" y="77372"/>
                </a:cxn>
                <a:cxn ang="0">
                  <a:pos x="36266" y="77372"/>
                </a:cxn>
                <a:cxn ang="0">
                  <a:pos x="36266" y="282893"/>
                </a:cxn>
                <a:cxn ang="0">
                  <a:pos x="0" y="282893"/>
                </a:cxn>
                <a:cxn ang="0">
                  <a:pos x="0" y="314325"/>
                </a:cxn>
                <a:cxn ang="0">
                  <a:pos x="420687" y="314325"/>
                </a:cxn>
                <a:cxn ang="0">
                  <a:pos x="420687" y="282893"/>
                </a:cxn>
                <a:cxn ang="0">
                  <a:pos x="384421" y="282893"/>
                </a:cxn>
              </a:cxnLst>
              <a:rect l="0" t="0" r="0" b="0"/>
              <a:pathLst>
                <a:path w="174" h="130">
                  <a:moveTo>
                    <a:pt x="159" y="117"/>
                  </a:moveTo>
                  <a:lnTo>
                    <a:pt x="159" y="0"/>
                  </a:lnTo>
                  <a:lnTo>
                    <a:pt x="124" y="0"/>
                  </a:lnTo>
                  <a:lnTo>
                    <a:pt x="124" y="117"/>
                  </a:lnTo>
                  <a:lnTo>
                    <a:pt x="104" y="117"/>
                  </a:lnTo>
                  <a:lnTo>
                    <a:pt x="104" y="72"/>
                  </a:lnTo>
                  <a:lnTo>
                    <a:pt x="69" y="72"/>
                  </a:lnTo>
                  <a:lnTo>
                    <a:pt x="69" y="117"/>
                  </a:lnTo>
                  <a:lnTo>
                    <a:pt x="50" y="117"/>
                  </a:lnTo>
                  <a:lnTo>
                    <a:pt x="50" y="32"/>
                  </a:lnTo>
                  <a:lnTo>
                    <a:pt x="15" y="32"/>
                  </a:lnTo>
                  <a:lnTo>
                    <a:pt x="15" y="117"/>
                  </a:lnTo>
                  <a:lnTo>
                    <a:pt x="0" y="117"/>
                  </a:lnTo>
                  <a:lnTo>
                    <a:pt x="0" y="130"/>
                  </a:lnTo>
                  <a:lnTo>
                    <a:pt x="174" y="130"/>
                  </a:lnTo>
                  <a:lnTo>
                    <a:pt x="174" y="117"/>
                  </a:lnTo>
                  <a:lnTo>
                    <a:pt x="159" y="117"/>
                  </a:lnTo>
                  <a:close/>
                </a:path>
              </a:pathLst>
            </a:custGeom>
            <a:solidFill>
              <a:schemeClr val="bg1"/>
            </a:solidFill>
            <a:ln w="9525">
              <a:noFill/>
            </a:ln>
          </p:spPr>
          <p:txBody>
            <a:bodyPr/>
            <a:lstStyle/>
            <a:p>
              <a:endParaRPr lang="zh-CN" alt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89067" y="387038"/>
            <a:ext cx="8536214" cy="592470"/>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1  Overview</a:t>
            </a:r>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p:sp>
        <p:nvSpPr>
          <p:cNvPr id="2" name="矩形 1">
            <a:extLst>
              <a:ext uri="{FF2B5EF4-FFF2-40B4-BE49-F238E27FC236}">
                <a16:creationId xmlns:a16="http://schemas.microsoft.com/office/drawing/2014/main" id="{1F54978A-4AC1-4841-A935-B6670DA305D3}"/>
              </a:ext>
            </a:extLst>
          </p:cNvPr>
          <p:cNvSpPr/>
          <p:nvPr/>
        </p:nvSpPr>
        <p:spPr>
          <a:xfrm>
            <a:off x="689067" y="986664"/>
            <a:ext cx="3355214" cy="307777"/>
          </a:xfrm>
          <a:prstGeom prst="rect">
            <a:avLst/>
          </a:prstGeom>
        </p:spPr>
        <p:txBody>
          <a:bodyPr wrap="none">
            <a:spAutoFit/>
          </a:bodyPr>
          <a:lstStyle/>
          <a:p>
            <a:r>
              <a:rPr lang="zh-CN" altLang="en-US" dirty="0"/>
              <a:t>Lithium-ion batteries currently in use</a:t>
            </a:r>
          </a:p>
        </p:txBody>
      </p:sp>
      <p:sp>
        <p:nvSpPr>
          <p:cNvPr id="3" name="文本框 2">
            <a:extLst>
              <a:ext uri="{FF2B5EF4-FFF2-40B4-BE49-F238E27FC236}">
                <a16:creationId xmlns:a16="http://schemas.microsoft.com/office/drawing/2014/main" id="{6209BB80-1CB8-4B67-84D7-92655E3A8C87}"/>
              </a:ext>
            </a:extLst>
          </p:cNvPr>
          <p:cNvSpPr txBox="1"/>
          <p:nvPr/>
        </p:nvSpPr>
        <p:spPr>
          <a:xfrm>
            <a:off x="4395893" y="2991263"/>
            <a:ext cx="5870162" cy="646331"/>
          </a:xfrm>
          <a:prstGeom prst="rect">
            <a:avLst/>
          </a:prstGeom>
          <a:noFill/>
        </p:spPr>
        <p:txBody>
          <a:bodyPr wrap="square" rtlCol="0">
            <a:spAutoFit/>
          </a:bodyPr>
          <a:lstStyle/>
          <a:p>
            <a:r>
              <a:rPr lang="en-US" altLang="zh-CN" sz="1800" dirty="0"/>
              <a:t>Cathode: Li</a:t>
            </a:r>
            <a:r>
              <a:rPr lang="en-US" altLang="zh-CN" sz="1800" baseline="-25000" dirty="0"/>
              <a:t>1-x</a:t>
            </a:r>
            <a:r>
              <a:rPr lang="en-US" altLang="zh-CN" sz="1800" dirty="0"/>
              <a:t>MO</a:t>
            </a:r>
            <a:r>
              <a:rPr lang="en-US" altLang="zh-CN" sz="1800" baseline="-25000" dirty="0"/>
              <a:t>2</a:t>
            </a:r>
            <a:r>
              <a:rPr lang="en-US" altLang="zh-CN" sz="1800" dirty="0"/>
              <a:t>+xLi</a:t>
            </a:r>
            <a:r>
              <a:rPr lang="en-US" altLang="zh-CN" sz="1800" baseline="30000" dirty="0"/>
              <a:t>+</a:t>
            </a:r>
            <a:r>
              <a:rPr lang="en-US" altLang="zh-CN" sz="1800" dirty="0"/>
              <a:t>+</a:t>
            </a:r>
            <a:r>
              <a:rPr lang="en-US" altLang="zh-CN" sz="1800" dirty="0" err="1"/>
              <a:t>xe</a:t>
            </a:r>
            <a:r>
              <a:rPr lang="en-US" altLang="zh-CN" sz="1800" baseline="30000" dirty="0"/>
              <a:t>-</a:t>
            </a:r>
            <a:r>
              <a:rPr lang="en-US" altLang="zh-CN" sz="1800" dirty="0"/>
              <a:t>=LiMO</a:t>
            </a:r>
            <a:r>
              <a:rPr lang="en-US" altLang="zh-CN" sz="1800" baseline="-25000" dirty="0"/>
              <a:t>2</a:t>
            </a:r>
            <a:endParaRPr lang="en-US" altLang="zh-CN" sz="1800" dirty="0"/>
          </a:p>
          <a:p>
            <a:r>
              <a:rPr lang="en-US" altLang="zh-CN" sz="1800" dirty="0"/>
              <a:t>Anode:    </a:t>
            </a:r>
            <a:r>
              <a:rPr lang="en-US" altLang="zh-CN" sz="1800" dirty="0" err="1"/>
              <a:t>Li</a:t>
            </a:r>
            <a:r>
              <a:rPr lang="en-US" altLang="zh-CN" sz="1800" baseline="-25000" dirty="0" err="1"/>
              <a:t>x</a:t>
            </a:r>
            <a:r>
              <a:rPr lang="en-US" altLang="zh-CN" sz="1800" dirty="0" err="1"/>
              <a:t>C</a:t>
            </a:r>
            <a:r>
              <a:rPr lang="en-US" altLang="zh-CN" sz="1800" dirty="0"/>
              <a:t>=</a:t>
            </a:r>
            <a:r>
              <a:rPr lang="en-US" altLang="zh-CN" sz="1800" dirty="0" err="1"/>
              <a:t>C+xLi</a:t>
            </a:r>
            <a:r>
              <a:rPr lang="en-US" altLang="zh-CN" sz="1800" baseline="30000" dirty="0"/>
              <a:t>+</a:t>
            </a:r>
            <a:r>
              <a:rPr lang="en-US" altLang="zh-CN" sz="1800" dirty="0"/>
              <a:t>+</a:t>
            </a:r>
            <a:r>
              <a:rPr lang="en-US" altLang="zh-CN" sz="1800" dirty="0" err="1"/>
              <a:t>xe</a:t>
            </a:r>
            <a:r>
              <a:rPr lang="en-US" altLang="zh-CN" sz="1800" baseline="30000" dirty="0"/>
              <a:t>-</a:t>
            </a:r>
            <a:endParaRPr lang="zh-CN" altLang="en-US" sz="1800" dirty="0"/>
          </a:p>
        </p:txBody>
      </p:sp>
      <p:pic>
        <p:nvPicPr>
          <p:cNvPr id="4" name="图片 3">
            <a:extLst>
              <a:ext uri="{FF2B5EF4-FFF2-40B4-BE49-F238E27FC236}">
                <a16:creationId xmlns:a16="http://schemas.microsoft.com/office/drawing/2014/main" id="{1BE72A75-D38C-4D81-86CB-6E031607F93A}"/>
              </a:ext>
            </a:extLst>
          </p:cNvPr>
          <p:cNvPicPr>
            <a:picLocks noChangeAspect="1"/>
          </p:cNvPicPr>
          <p:nvPr/>
        </p:nvPicPr>
        <p:blipFill rotWithShape="1">
          <a:blip r:embed="rId3"/>
          <a:srcRect t="1350"/>
          <a:stretch/>
        </p:blipFill>
        <p:spPr>
          <a:xfrm>
            <a:off x="528156" y="1483128"/>
            <a:ext cx="3343275" cy="3016270"/>
          </a:xfrm>
          <a:prstGeom prst="rect">
            <a:avLst/>
          </a:prstGeom>
        </p:spPr>
      </p:pic>
      <p:sp>
        <p:nvSpPr>
          <p:cNvPr id="8" name="文本框 7">
            <a:extLst>
              <a:ext uri="{FF2B5EF4-FFF2-40B4-BE49-F238E27FC236}">
                <a16:creationId xmlns:a16="http://schemas.microsoft.com/office/drawing/2014/main" id="{812F8179-5B07-4E6A-8B0C-5E8A07A4F1CD}"/>
              </a:ext>
            </a:extLst>
          </p:cNvPr>
          <p:cNvSpPr txBox="1"/>
          <p:nvPr/>
        </p:nvSpPr>
        <p:spPr>
          <a:xfrm>
            <a:off x="4173144" y="2512084"/>
            <a:ext cx="2348345" cy="369332"/>
          </a:xfrm>
          <a:prstGeom prst="rect">
            <a:avLst/>
          </a:prstGeom>
          <a:noFill/>
        </p:spPr>
        <p:txBody>
          <a:bodyPr wrap="square" rtlCol="0">
            <a:spAutoFit/>
          </a:bodyPr>
          <a:lstStyle/>
          <a:p>
            <a:r>
              <a:rPr lang="en-US" altLang="zh-CN" sz="1800" dirty="0"/>
              <a:t>Discharge  reaction:</a:t>
            </a:r>
            <a:endParaRPr lang="zh-CN" altLang="en-US" sz="1800" dirty="0"/>
          </a:p>
        </p:txBody>
      </p:sp>
    </p:spTree>
    <p:extLst>
      <p:ext uri="{BB962C8B-B14F-4D97-AF65-F5344CB8AC3E}">
        <p14:creationId xmlns:p14="http://schemas.microsoft.com/office/powerpoint/2010/main" val="1385610720"/>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89067" y="387038"/>
            <a:ext cx="8536214" cy="592470"/>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1  </a:t>
            </a:r>
            <a:r>
              <a:rPr lang="en-US" altLang="zh-CN" b="1" dirty="0">
                <a:solidFill>
                  <a:srgbClr val="1B4367"/>
                </a:solidFill>
                <a:cs typeface="+mn-ea"/>
              </a:rPr>
              <a:t>Introduction</a:t>
            </a:r>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p:sp>
        <p:nvSpPr>
          <p:cNvPr id="5" name="文本框 4">
            <a:extLst>
              <a:ext uri="{FF2B5EF4-FFF2-40B4-BE49-F238E27FC236}">
                <a16:creationId xmlns:a16="http://schemas.microsoft.com/office/drawing/2014/main" id="{09A3A618-3710-4EA8-A152-8E526C234E70}"/>
              </a:ext>
            </a:extLst>
          </p:cNvPr>
          <p:cNvSpPr txBox="1"/>
          <p:nvPr/>
        </p:nvSpPr>
        <p:spPr>
          <a:xfrm>
            <a:off x="774478" y="846667"/>
            <a:ext cx="6283335" cy="307777"/>
          </a:xfrm>
          <a:prstGeom prst="rect">
            <a:avLst/>
          </a:prstGeom>
          <a:noFill/>
        </p:spPr>
        <p:txBody>
          <a:bodyPr wrap="square" rtlCol="0">
            <a:spAutoFit/>
          </a:bodyPr>
          <a:lstStyle/>
          <a:p>
            <a:pPr marL="285750" indent="-285750">
              <a:buFont typeface="Wingdings" panose="05000000000000000000" pitchFamily="2" charset="2"/>
              <a:buChar char="u"/>
            </a:pPr>
            <a:r>
              <a:rPr lang="en-US" altLang="zh-CN" dirty="0"/>
              <a:t>Background</a:t>
            </a:r>
          </a:p>
        </p:txBody>
      </p:sp>
      <p:sp>
        <p:nvSpPr>
          <p:cNvPr id="6" name="文本框 5">
            <a:extLst>
              <a:ext uri="{FF2B5EF4-FFF2-40B4-BE49-F238E27FC236}">
                <a16:creationId xmlns:a16="http://schemas.microsoft.com/office/drawing/2014/main" id="{7B09EC4A-106E-47EC-A492-1DA3979EC565}"/>
              </a:ext>
            </a:extLst>
          </p:cNvPr>
          <p:cNvSpPr txBox="1"/>
          <p:nvPr/>
        </p:nvSpPr>
        <p:spPr>
          <a:xfrm>
            <a:off x="1110827" y="1306030"/>
            <a:ext cx="8656320" cy="1384995"/>
          </a:xfrm>
          <a:prstGeom prst="rect">
            <a:avLst/>
          </a:prstGeom>
          <a:noFill/>
        </p:spPr>
        <p:txBody>
          <a:bodyPr wrap="square" rtlCol="0">
            <a:spAutoFit/>
          </a:bodyPr>
          <a:lstStyle/>
          <a:p>
            <a:pPr marL="285750" indent="-285750">
              <a:buFont typeface="Wingdings" panose="05000000000000000000" pitchFamily="2" charset="2"/>
              <a:buChar char="l"/>
            </a:pPr>
            <a:r>
              <a:rPr lang="en-US" altLang="zh-CN" dirty="0"/>
              <a:t>1976, Stan Whittingham  proposed Li</a:t>
            </a:r>
            <a:r>
              <a:rPr lang="en-US" altLang="zh-CN" baseline="-25000" dirty="0"/>
              <a:t>x</a:t>
            </a:r>
            <a:r>
              <a:rPr lang="en-US" altLang="zh-CN" dirty="0"/>
              <a:t>TiS</a:t>
            </a:r>
            <a:r>
              <a:rPr lang="en-US" altLang="zh-CN" baseline="-25000" dirty="0"/>
              <a:t>2</a:t>
            </a:r>
            <a:r>
              <a:rPr lang="en-US" altLang="zh-CN" dirty="0"/>
              <a:t>/Li cell</a:t>
            </a:r>
          </a:p>
          <a:p>
            <a:pPr marL="285750" indent="-285750">
              <a:buFont typeface="Wingdings" panose="05000000000000000000" pitchFamily="2" charset="2"/>
              <a:buChar char="l"/>
            </a:pPr>
            <a:r>
              <a:rPr lang="en-US" altLang="zh-CN" dirty="0"/>
              <a:t>0</a:t>
            </a:r>
            <a:r>
              <a:rPr lang="zh-CN" altLang="en-US" dirty="0"/>
              <a:t>≤</a:t>
            </a:r>
            <a:r>
              <a:rPr lang="en-US" altLang="zh-CN" dirty="0"/>
              <a:t>x</a:t>
            </a:r>
            <a:r>
              <a:rPr lang="zh-CN" altLang="en-US" dirty="0"/>
              <a:t>≤</a:t>
            </a:r>
            <a:r>
              <a:rPr lang="en-US" altLang="zh-CN" dirty="0"/>
              <a:t>1, Realization of lithium insertion and extraction </a:t>
            </a:r>
          </a:p>
          <a:p>
            <a:pPr marL="285750" indent="-285750">
              <a:buFont typeface="Wingdings" panose="05000000000000000000" pitchFamily="2" charset="2"/>
              <a:buChar char="l"/>
            </a:pPr>
            <a:r>
              <a:rPr lang="en-US" altLang="zh-CN" dirty="0"/>
              <a:t>Stay above 2V most of the time, current density</a:t>
            </a:r>
            <a:r>
              <a:rPr lang="zh-CN" altLang="en-US" dirty="0"/>
              <a:t>：</a:t>
            </a:r>
            <a:r>
              <a:rPr lang="en-US" altLang="zh-CN" dirty="0"/>
              <a:t>1-10mA/cm</a:t>
            </a:r>
            <a:r>
              <a:rPr lang="en-US" altLang="zh-CN" baseline="30000" dirty="0"/>
              <a:t>2</a:t>
            </a:r>
            <a:endParaRPr lang="en-US" altLang="zh-CN" dirty="0"/>
          </a:p>
          <a:p>
            <a:pPr marL="285750" indent="-285750">
              <a:buFont typeface="Wingdings" panose="05000000000000000000" pitchFamily="2" charset="2"/>
              <a:buChar char="l"/>
            </a:pPr>
            <a:r>
              <a:rPr lang="en-US" altLang="zh-CN" dirty="0"/>
              <a:t>Main problems</a:t>
            </a:r>
            <a:r>
              <a:rPr lang="zh-CN" altLang="en-US" dirty="0"/>
              <a:t>：</a:t>
            </a:r>
            <a:r>
              <a:rPr lang="en-US" altLang="zh-CN" b="1" dirty="0"/>
              <a:t>poor stability, changes in lithium negative electrode reduce voltage</a:t>
            </a:r>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endParaRPr lang="en-US" altLang="zh-CN" dirty="0"/>
          </a:p>
        </p:txBody>
      </p:sp>
      <p:sp>
        <p:nvSpPr>
          <p:cNvPr id="38" name="文本框 37">
            <a:extLst>
              <a:ext uri="{FF2B5EF4-FFF2-40B4-BE49-F238E27FC236}">
                <a16:creationId xmlns:a16="http://schemas.microsoft.com/office/drawing/2014/main" id="{6035B945-E23D-4A41-9BE2-B5C66E2BA8C0}"/>
              </a:ext>
            </a:extLst>
          </p:cNvPr>
          <p:cNvSpPr txBox="1"/>
          <p:nvPr/>
        </p:nvSpPr>
        <p:spPr>
          <a:xfrm>
            <a:off x="774478" y="2434861"/>
            <a:ext cx="6283335" cy="307777"/>
          </a:xfrm>
          <a:prstGeom prst="rect">
            <a:avLst/>
          </a:prstGeom>
          <a:noFill/>
        </p:spPr>
        <p:txBody>
          <a:bodyPr wrap="square" rtlCol="0">
            <a:spAutoFit/>
          </a:bodyPr>
          <a:lstStyle/>
          <a:p>
            <a:pPr marL="285750" indent="-285750">
              <a:buFont typeface="Wingdings" panose="05000000000000000000" pitchFamily="2" charset="2"/>
              <a:buChar char="u"/>
            </a:pPr>
            <a:r>
              <a:rPr lang="en-US" altLang="zh-CN" dirty="0"/>
              <a:t>How to find out?</a:t>
            </a:r>
          </a:p>
        </p:txBody>
      </p:sp>
      <p:sp>
        <p:nvSpPr>
          <p:cNvPr id="39" name="文本框 38">
            <a:extLst>
              <a:ext uri="{FF2B5EF4-FFF2-40B4-BE49-F238E27FC236}">
                <a16:creationId xmlns:a16="http://schemas.microsoft.com/office/drawing/2014/main" id="{73D8B608-24AB-4C7D-A8C2-14082123204F}"/>
              </a:ext>
            </a:extLst>
          </p:cNvPr>
          <p:cNvSpPr txBox="1"/>
          <p:nvPr/>
        </p:nvSpPr>
        <p:spPr>
          <a:xfrm>
            <a:off x="1110827" y="2911838"/>
            <a:ext cx="7897706" cy="1600438"/>
          </a:xfrm>
          <a:prstGeom prst="rect">
            <a:avLst/>
          </a:prstGeom>
          <a:noFill/>
        </p:spPr>
        <p:txBody>
          <a:bodyPr wrap="square" rtlCol="0">
            <a:spAutoFit/>
          </a:bodyPr>
          <a:lstStyle/>
          <a:p>
            <a:pPr marL="285750" indent="-285750">
              <a:buFont typeface="Wingdings" panose="05000000000000000000" pitchFamily="2" charset="2"/>
              <a:buChar char="l"/>
            </a:pPr>
            <a:r>
              <a:rPr lang="en-US" altLang="zh-CN" dirty="0"/>
              <a:t>Goodenough according to research experience on transition metal oxide</a:t>
            </a:r>
          </a:p>
          <a:p>
            <a:pPr marL="285750" indent="-285750">
              <a:buFont typeface="Wingdings" panose="05000000000000000000" pitchFamily="2" charset="2"/>
              <a:buChar char="l"/>
            </a:pPr>
            <a:r>
              <a:rPr lang="en-US" altLang="zh-CN" dirty="0"/>
              <a:t>Focus on use metal oxides instead of titanium sulfide as battery cathode materials</a:t>
            </a:r>
          </a:p>
          <a:p>
            <a:pPr marL="285750" indent="-285750">
              <a:buFont typeface="Wingdings" panose="05000000000000000000" pitchFamily="2" charset="2"/>
              <a:buChar char="l"/>
            </a:pPr>
            <a:r>
              <a:rPr lang="en-US" altLang="zh-CN" dirty="0"/>
              <a:t>Discovered a new system: </a:t>
            </a:r>
            <a:r>
              <a:rPr lang="en-US" altLang="zh-CN" b="1" dirty="0">
                <a:solidFill>
                  <a:srgbClr val="FF0000"/>
                </a:solidFill>
              </a:rPr>
              <a:t>Li</a:t>
            </a:r>
            <a:r>
              <a:rPr lang="en-US" altLang="zh-CN" b="1" baseline="-25000" dirty="0">
                <a:solidFill>
                  <a:srgbClr val="FF0000"/>
                </a:solidFill>
              </a:rPr>
              <a:t>x</a:t>
            </a:r>
            <a:r>
              <a:rPr lang="en-US" altLang="zh-CN" b="1" dirty="0">
                <a:solidFill>
                  <a:srgbClr val="FF0000"/>
                </a:solidFill>
              </a:rPr>
              <a:t>CoO</a:t>
            </a:r>
            <a:r>
              <a:rPr lang="en-US" altLang="zh-CN" b="1" baseline="-25000" dirty="0">
                <a:solidFill>
                  <a:srgbClr val="FF0000"/>
                </a:solidFill>
              </a:rPr>
              <a:t>2 </a:t>
            </a:r>
            <a:r>
              <a:rPr lang="en-US" altLang="zh-CN" b="1" dirty="0">
                <a:solidFill>
                  <a:srgbClr val="FF0000"/>
                </a:solidFill>
              </a:rPr>
              <a:t>/Li cell</a:t>
            </a:r>
            <a:endParaRPr lang="en-US" altLang="zh-CN" b="1" baseline="-25000" dirty="0">
              <a:solidFill>
                <a:srgbClr val="FF0000"/>
              </a:solidFill>
            </a:endParaRPr>
          </a:p>
          <a:p>
            <a:pPr marL="285750" indent="-285750">
              <a:buFont typeface="Wingdings" panose="05000000000000000000" pitchFamily="2" charset="2"/>
              <a:buChar char="l"/>
            </a:pPr>
            <a:r>
              <a:rPr lang="en-US" altLang="zh-CN" dirty="0"/>
              <a:t>Open circuit voltage</a:t>
            </a:r>
            <a:r>
              <a:rPr lang="zh-CN" altLang="en-US" dirty="0"/>
              <a:t>：</a:t>
            </a:r>
            <a:r>
              <a:rPr lang="en-US" altLang="zh-CN" dirty="0"/>
              <a:t>twice as much as Li</a:t>
            </a:r>
            <a:r>
              <a:rPr lang="en-US" altLang="zh-CN" baseline="-25000" dirty="0"/>
              <a:t>x</a:t>
            </a:r>
            <a:r>
              <a:rPr lang="en-US" altLang="zh-CN" dirty="0"/>
              <a:t>TiS</a:t>
            </a:r>
            <a:r>
              <a:rPr lang="en-US" altLang="zh-CN" baseline="-25000" dirty="0"/>
              <a:t>2</a:t>
            </a:r>
            <a:r>
              <a:rPr lang="en-US" altLang="zh-CN" dirty="0"/>
              <a:t>/Li </a:t>
            </a:r>
          </a:p>
          <a:p>
            <a:pPr marL="285750" indent="-285750">
              <a:buFont typeface="Wingdings" panose="05000000000000000000" pitchFamily="2" charset="2"/>
              <a:buChar char="l"/>
            </a:pPr>
            <a:r>
              <a:rPr lang="en-US" altLang="zh-CN" dirty="0"/>
              <a:t>High theoretical energy density</a:t>
            </a:r>
            <a:r>
              <a:rPr lang="zh-CN" altLang="en-US" dirty="0"/>
              <a:t>：</a:t>
            </a:r>
            <a:r>
              <a:rPr lang="en-US" altLang="zh-CN" dirty="0"/>
              <a:t>1.1kWh/kg</a:t>
            </a:r>
          </a:p>
          <a:p>
            <a:pPr marL="285750" indent="-285750">
              <a:buFont typeface="Wingdings" panose="05000000000000000000" pitchFamily="2" charset="2"/>
              <a:buChar char="l"/>
            </a:pPr>
            <a:r>
              <a:rPr lang="en-US" altLang="zh-CN" dirty="0"/>
              <a:t>Wide range x</a:t>
            </a:r>
            <a:r>
              <a:rPr lang="zh-CN" altLang="en-US" dirty="0"/>
              <a:t>：</a:t>
            </a:r>
            <a:r>
              <a:rPr lang="en-US" altLang="zh-CN" dirty="0"/>
              <a:t>when the current density is as high as 4mA/cm</a:t>
            </a:r>
            <a:r>
              <a:rPr lang="en-US" altLang="zh-CN" baseline="30000" dirty="0"/>
              <a:t>2</a:t>
            </a:r>
            <a:r>
              <a:rPr lang="en-US" altLang="zh-CN" dirty="0"/>
              <a:t>, the overpotential is low and the battery is reversible.</a:t>
            </a:r>
          </a:p>
        </p:txBody>
      </p:sp>
    </p:spTree>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fade">
                                      <p:cBhvr>
                                        <p:cTn id="21" dur="1000"/>
                                        <p:tgtEl>
                                          <p:spTgt spid="6">
                                            <p:txEl>
                                              <p:pRg st="1" end="1"/>
                                            </p:txEl>
                                          </p:spTgt>
                                        </p:tgtEl>
                                      </p:cBhvr>
                                    </p:animEffect>
                                    <p:anim calcmode="lin" valueType="num">
                                      <p:cBhvr>
                                        <p:cTn id="22"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1" end="1"/>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1000"/>
                                        <p:tgtEl>
                                          <p:spTgt spid="6">
                                            <p:txEl>
                                              <p:pRg st="3" end="3"/>
                                            </p:txEl>
                                          </p:spTgt>
                                        </p:tgtEl>
                                      </p:cBhvr>
                                    </p:animEffect>
                                    <p:anim calcmode="lin" valueType="num">
                                      <p:cBhvr>
                                        <p:cTn id="34"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1000"/>
                                        <p:tgtEl>
                                          <p:spTgt spid="38"/>
                                        </p:tgtEl>
                                      </p:cBhvr>
                                    </p:animEffect>
                                    <p:anim calcmode="lin" valueType="num">
                                      <p:cBhvr>
                                        <p:cTn id="41" dur="1000" fill="hold"/>
                                        <p:tgtEl>
                                          <p:spTgt spid="38"/>
                                        </p:tgtEl>
                                        <p:attrNameLst>
                                          <p:attrName>ppt_x</p:attrName>
                                        </p:attrNameLst>
                                      </p:cBhvr>
                                      <p:tavLst>
                                        <p:tav tm="0">
                                          <p:val>
                                            <p:strVal val="#ppt_x"/>
                                          </p:val>
                                        </p:tav>
                                        <p:tav tm="100000">
                                          <p:val>
                                            <p:strVal val="#ppt_x"/>
                                          </p:val>
                                        </p:tav>
                                      </p:tavLst>
                                    </p:anim>
                                    <p:anim calcmode="lin" valueType="num">
                                      <p:cBhvr>
                                        <p:cTn id="42"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9">
                                            <p:txEl>
                                              <p:pRg st="0" end="0"/>
                                            </p:txEl>
                                          </p:spTgt>
                                        </p:tgtEl>
                                        <p:attrNameLst>
                                          <p:attrName>style.visibility</p:attrName>
                                        </p:attrNameLst>
                                      </p:cBhvr>
                                      <p:to>
                                        <p:strVal val="visible"/>
                                      </p:to>
                                    </p:set>
                                    <p:animEffect transition="in" filter="fade">
                                      <p:cBhvr>
                                        <p:cTn id="47" dur="1000"/>
                                        <p:tgtEl>
                                          <p:spTgt spid="39">
                                            <p:txEl>
                                              <p:pRg st="0" end="0"/>
                                            </p:txEl>
                                          </p:spTgt>
                                        </p:tgtEl>
                                      </p:cBhvr>
                                    </p:animEffect>
                                    <p:anim calcmode="lin" valueType="num">
                                      <p:cBhvr>
                                        <p:cTn id="48" dur="1000" fill="hold"/>
                                        <p:tgtEl>
                                          <p:spTgt spid="39">
                                            <p:txEl>
                                              <p:pRg st="0" end="0"/>
                                            </p:txEl>
                                          </p:spTgt>
                                        </p:tgtEl>
                                        <p:attrNameLst>
                                          <p:attrName>ppt_x</p:attrName>
                                        </p:attrNameLst>
                                      </p:cBhvr>
                                      <p:tavLst>
                                        <p:tav tm="0">
                                          <p:val>
                                            <p:strVal val="#ppt_x"/>
                                          </p:val>
                                        </p:tav>
                                        <p:tav tm="100000">
                                          <p:val>
                                            <p:strVal val="#ppt_x"/>
                                          </p:val>
                                        </p:tav>
                                      </p:tavLst>
                                    </p:anim>
                                    <p:anim calcmode="lin" valueType="num">
                                      <p:cBhvr>
                                        <p:cTn id="49" dur="1000" fill="hold"/>
                                        <p:tgtEl>
                                          <p:spTgt spid="39">
                                            <p:txEl>
                                              <p:pRg st="0" end="0"/>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9">
                                            <p:txEl>
                                              <p:pRg st="1" end="1"/>
                                            </p:txEl>
                                          </p:spTgt>
                                        </p:tgtEl>
                                        <p:attrNameLst>
                                          <p:attrName>style.visibility</p:attrName>
                                        </p:attrNameLst>
                                      </p:cBhvr>
                                      <p:to>
                                        <p:strVal val="visible"/>
                                      </p:to>
                                    </p:set>
                                    <p:animEffect transition="in" filter="fade">
                                      <p:cBhvr>
                                        <p:cTn id="52" dur="1000"/>
                                        <p:tgtEl>
                                          <p:spTgt spid="39">
                                            <p:txEl>
                                              <p:pRg st="1" end="1"/>
                                            </p:txEl>
                                          </p:spTgt>
                                        </p:tgtEl>
                                      </p:cBhvr>
                                    </p:animEffect>
                                    <p:anim calcmode="lin" valueType="num">
                                      <p:cBhvr>
                                        <p:cTn id="53" dur="1000" fill="hold"/>
                                        <p:tgtEl>
                                          <p:spTgt spid="39">
                                            <p:txEl>
                                              <p:pRg st="1" end="1"/>
                                            </p:txEl>
                                          </p:spTgt>
                                        </p:tgtEl>
                                        <p:attrNameLst>
                                          <p:attrName>ppt_x</p:attrName>
                                        </p:attrNameLst>
                                      </p:cBhvr>
                                      <p:tavLst>
                                        <p:tav tm="0">
                                          <p:val>
                                            <p:strVal val="#ppt_x"/>
                                          </p:val>
                                        </p:tav>
                                        <p:tav tm="100000">
                                          <p:val>
                                            <p:strVal val="#ppt_x"/>
                                          </p:val>
                                        </p:tav>
                                      </p:tavLst>
                                    </p:anim>
                                    <p:anim calcmode="lin" valueType="num">
                                      <p:cBhvr>
                                        <p:cTn id="54" dur="1000" fill="hold"/>
                                        <p:tgtEl>
                                          <p:spTgt spid="3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39">
                                            <p:txEl>
                                              <p:pRg st="2" end="2"/>
                                            </p:txEl>
                                          </p:spTgt>
                                        </p:tgtEl>
                                        <p:attrNameLst>
                                          <p:attrName>style.visibility</p:attrName>
                                        </p:attrNameLst>
                                      </p:cBhvr>
                                      <p:to>
                                        <p:strVal val="visible"/>
                                      </p:to>
                                    </p:set>
                                    <p:animEffect transition="in" filter="fade">
                                      <p:cBhvr>
                                        <p:cTn id="59" dur="1000"/>
                                        <p:tgtEl>
                                          <p:spTgt spid="39">
                                            <p:txEl>
                                              <p:pRg st="2" end="2"/>
                                            </p:txEl>
                                          </p:spTgt>
                                        </p:tgtEl>
                                      </p:cBhvr>
                                    </p:animEffect>
                                    <p:anim calcmode="lin" valueType="num">
                                      <p:cBhvr>
                                        <p:cTn id="60" dur="1000" fill="hold"/>
                                        <p:tgtEl>
                                          <p:spTgt spid="39">
                                            <p:txEl>
                                              <p:pRg st="2" end="2"/>
                                            </p:txEl>
                                          </p:spTgt>
                                        </p:tgtEl>
                                        <p:attrNameLst>
                                          <p:attrName>ppt_x</p:attrName>
                                        </p:attrNameLst>
                                      </p:cBhvr>
                                      <p:tavLst>
                                        <p:tav tm="0">
                                          <p:val>
                                            <p:strVal val="#ppt_x"/>
                                          </p:val>
                                        </p:tav>
                                        <p:tav tm="100000">
                                          <p:val>
                                            <p:strVal val="#ppt_x"/>
                                          </p:val>
                                        </p:tav>
                                      </p:tavLst>
                                    </p:anim>
                                    <p:anim calcmode="lin" valueType="num">
                                      <p:cBhvr>
                                        <p:cTn id="61" dur="1000" fill="hold"/>
                                        <p:tgtEl>
                                          <p:spTgt spid="3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39">
                                            <p:txEl>
                                              <p:pRg st="3" end="3"/>
                                            </p:txEl>
                                          </p:spTgt>
                                        </p:tgtEl>
                                        <p:attrNameLst>
                                          <p:attrName>style.visibility</p:attrName>
                                        </p:attrNameLst>
                                      </p:cBhvr>
                                      <p:to>
                                        <p:strVal val="visible"/>
                                      </p:to>
                                    </p:set>
                                    <p:animEffect transition="in" filter="fade">
                                      <p:cBhvr>
                                        <p:cTn id="66" dur="1000"/>
                                        <p:tgtEl>
                                          <p:spTgt spid="39">
                                            <p:txEl>
                                              <p:pRg st="3" end="3"/>
                                            </p:txEl>
                                          </p:spTgt>
                                        </p:tgtEl>
                                      </p:cBhvr>
                                    </p:animEffect>
                                    <p:anim calcmode="lin" valueType="num">
                                      <p:cBhvr>
                                        <p:cTn id="67" dur="1000" fill="hold"/>
                                        <p:tgtEl>
                                          <p:spTgt spid="39">
                                            <p:txEl>
                                              <p:pRg st="3" end="3"/>
                                            </p:txEl>
                                          </p:spTgt>
                                        </p:tgtEl>
                                        <p:attrNameLst>
                                          <p:attrName>ppt_x</p:attrName>
                                        </p:attrNameLst>
                                      </p:cBhvr>
                                      <p:tavLst>
                                        <p:tav tm="0">
                                          <p:val>
                                            <p:strVal val="#ppt_x"/>
                                          </p:val>
                                        </p:tav>
                                        <p:tav tm="100000">
                                          <p:val>
                                            <p:strVal val="#ppt_x"/>
                                          </p:val>
                                        </p:tav>
                                      </p:tavLst>
                                    </p:anim>
                                    <p:anim calcmode="lin" valueType="num">
                                      <p:cBhvr>
                                        <p:cTn id="68" dur="1000" fill="hold"/>
                                        <p:tgtEl>
                                          <p:spTgt spid="39">
                                            <p:txEl>
                                              <p:pRg st="3" end="3"/>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39">
                                            <p:txEl>
                                              <p:pRg st="4" end="4"/>
                                            </p:txEl>
                                          </p:spTgt>
                                        </p:tgtEl>
                                        <p:attrNameLst>
                                          <p:attrName>style.visibility</p:attrName>
                                        </p:attrNameLst>
                                      </p:cBhvr>
                                      <p:to>
                                        <p:strVal val="visible"/>
                                      </p:to>
                                    </p:set>
                                    <p:animEffect transition="in" filter="fade">
                                      <p:cBhvr>
                                        <p:cTn id="71" dur="1000"/>
                                        <p:tgtEl>
                                          <p:spTgt spid="39">
                                            <p:txEl>
                                              <p:pRg st="4" end="4"/>
                                            </p:txEl>
                                          </p:spTgt>
                                        </p:tgtEl>
                                      </p:cBhvr>
                                    </p:animEffect>
                                    <p:anim calcmode="lin" valueType="num">
                                      <p:cBhvr>
                                        <p:cTn id="72" dur="1000" fill="hold"/>
                                        <p:tgtEl>
                                          <p:spTgt spid="39">
                                            <p:txEl>
                                              <p:pRg st="4" end="4"/>
                                            </p:txEl>
                                          </p:spTgt>
                                        </p:tgtEl>
                                        <p:attrNameLst>
                                          <p:attrName>ppt_x</p:attrName>
                                        </p:attrNameLst>
                                      </p:cBhvr>
                                      <p:tavLst>
                                        <p:tav tm="0">
                                          <p:val>
                                            <p:strVal val="#ppt_x"/>
                                          </p:val>
                                        </p:tav>
                                        <p:tav tm="100000">
                                          <p:val>
                                            <p:strVal val="#ppt_x"/>
                                          </p:val>
                                        </p:tav>
                                      </p:tavLst>
                                    </p:anim>
                                    <p:anim calcmode="lin" valueType="num">
                                      <p:cBhvr>
                                        <p:cTn id="73" dur="1000" fill="hold"/>
                                        <p:tgtEl>
                                          <p:spTgt spid="39">
                                            <p:txEl>
                                              <p:pRg st="4" end="4"/>
                                            </p:txEl>
                                          </p:spTgt>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0"/>
                                  </p:stCondLst>
                                  <p:childTnLst>
                                    <p:set>
                                      <p:cBhvr>
                                        <p:cTn id="75" dur="1" fill="hold">
                                          <p:stCondLst>
                                            <p:cond delay="0"/>
                                          </p:stCondLst>
                                        </p:cTn>
                                        <p:tgtEl>
                                          <p:spTgt spid="39">
                                            <p:txEl>
                                              <p:pRg st="5" end="5"/>
                                            </p:txEl>
                                          </p:spTgt>
                                        </p:tgtEl>
                                        <p:attrNameLst>
                                          <p:attrName>style.visibility</p:attrName>
                                        </p:attrNameLst>
                                      </p:cBhvr>
                                      <p:to>
                                        <p:strVal val="visible"/>
                                      </p:to>
                                    </p:set>
                                    <p:animEffect transition="in" filter="fade">
                                      <p:cBhvr>
                                        <p:cTn id="76" dur="1000"/>
                                        <p:tgtEl>
                                          <p:spTgt spid="39">
                                            <p:txEl>
                                              <p:pRg st="5" end="5"/>
                                            </p:txEl>
                                          </p:spTgt>
                                        </p:tgtEl>
                                      </p:cBhvr>
                                    </p:animEffect>
                                    <p:anim calcmode="lin" valueType="num">
                                      <p:cBhvr>
                                        <p:cTn id="77" dur="1000" fill="hold"/>
                                        <p:tgtEl>
                                          <p:spTgt spid="39">
                                            <p:txEl>
                                              <p:pRg st="5" end="5"/>
                                            </p:txEl>
                                          </p:spTgt>
                                        </p:tgtEl>
                                        <p:attrNameLst>
                                          <p:attrName>ppt_x</p:attrName>
                                        </p:attrNameLst>
                                      </p:cBhvr>
                                      <p:tavLst>
                                        <p:tav tm="0">
                                          <p:val>
                                            <p:strVal val="#ppt_x"/>
                                          </p:val>
                                        </p:tav>
                                        <p:tav tm="100000">
                                          <p:val>
                                            <p:strVal val="#ppt_x"/>
                                          </p:val>
                                        </p:tav>
                                      </p:tavLst>
                                    </p:anim>
                                    <p:anim calcmode="lin" valueType="num">
                                      <p:cBhvr>
                                        <p:cTn id="78" dur="1000" fill="hold"/>
                                        <p:tgtEl>
                                          <p:spTgt spid="3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89067" y="387038"/>
            <a:ext cx="8536214" cy="838691"/>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1  Electrochemical Studies</a:t>
            </a:r>
          </a:p>
          <a:p>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p:sp>
        <p:nvSpPr>
          <p:cNvPr id="2" name="文本框 1">
            <a:extLst>
              <a:ext uri="{FF2B5EF4-FFF2-40B4-BE49-F238E27FC236}">
                <a16:creationId xmlns:a16="http://schemas.microsoft.com/office/drawing/2014/main" id="{83858360-AC33-49D0-A7B7-38C6DB1E5B69}"/>
              </a:ext>
            </a:extLst>
          </p:cNvPr>
          <p:cNvSpPr txBox="1"/>
          <p:nvPr/>
        </p:nvSpPr>
        <p:spPr>
          <a:xfrm>
            <a:off x="689067" y="792480"/>
            <a:ext cx="6720960" cy="523220"/>
          </a:xfrm>
          <a:prstGeom prst="rect">
            <a:avLst/>
          </a:prstGeom>
          <a:noFill/>
        </p:spPr>
        <p:txBody>
          <a:bodyPr wrap="square" rtlCol="0">
            <a:spAutoFit/>
          </a:bodyPr>
          <a:lstStyle/>
          <a:p>
            <a:r>
              <a:rPr lang="en-US" altLang="zh-CN" dirty="0"/>
              <a:t>Use LiCoO</a:t>
            </a:r>
            <a:r>
              <a:rPr lang="en-US" altLang="zh-CN" baseline="-25000" dirty="0"/>
              <a:t>2 </a:t>
            </a:r>
            <a:r>
              <a:rPr lang="en-US" altLang="zh-CN" dirty="0"/>
              <a:t>to make up an electrochemical cell as shown figure 1:</a:t>
            </a:r>
          </a:p>
          <a:p>
            <a:endParaRPr lang="zh-CN" altLang="en-US" dirty="0"/>
          </a:p>
        </p:txBody>
      </p:sp>
      <p:sp>
        <p:nvSpPr>
          <p:cNvPr id="4" name="文本框 3">
            <a:extLst>
              <a:ext uri="{FF2B5EF4-FFF2-40B4-BE49-F238E27FC236}">
                <a16:creationId xmlns:a16="http://schemas.microsoft.com/office/drawing/2014/main" id="{DBF24520-5EA6-4D71-88A8-3A69D17E4DF1}"/>
              </a:ext>
            </a:extLst>
          </p:cNvPr>
          <p:cNvSpPr txBox="1"/>
          <p:nvPr/>
        </p:nvSpPr>
        <p:spPr>
          <a:xfrm>
            <a:off x="5310294" y="2094696"/>
            <a:ext cx="3596640" cy="954107"/>
          </a:xfrm>
          <a:prstGeom prst="rect">
            <a:avLst/>
          </a:prstGeom>
          <a:noFill/>
        </p:spPr>
        <p:txBody>
          <a:bodyPr wrap="square" rtlCol="0">
            <a:spAutoFit/>
          </a:bodyPr>
          <a:lstStyle/>
          <a:p>
            <a:pPr algn="just"/>
            <a:r>
              <a:rPr lang="en-US" altLang="zh-CN" b="1" dirty="0"/>
              <a:t>Cathode</a:t>
            </a:r>
            <a:r>
              <a:rPr lang="zh-CN" altLang="en-US" dirty="0"/>
              <a:t>：</a:t>
            </a:r>
            <a:r>
              <a:rPr lang="en-US" altLang="zh-CN" dirty="0"/>
              <a:t>LiCoO</a:t>
            </a:r>
            <a:r>
              <a:rPr lang="en-US" altLang="zh-CN" baseline="-25000" dirty="0"/>
              <a:t>2</a:t>
            </a:r>
            <a:r>
              <a:rPr lang="en-US" altLang="zh-CN" dirty="0"/>
              <a:t> powder pressed onto a l-cm diameter </a:t>
            </a:r>
            <a:r>
              <a:rPr lang="en-US" altLang="zh-CN" dirty="0" err="1"/>
              <a:t>stainlesssteel</a:t>
            </a:r>
            <a:r>
              <a:rPr lang="en-US" altLang="zh-CN" dirty="0"/>
              <a:t> gauze disc</a:t>
            </a:r>
          </a:p>
          <a:p>
            <a:pPr algn="just"/>
            <a:r>
              <a:rPr lang="en-US" altLang="zh-CN" b="1" dirty="0"/>
              <a:t>Electrolyte</a:t>
            </a:r>
            <a:r>
              <a:rPr lang="zh-CN" altLang="en-US" dirty="0"/>
              <a:t>：</a:t>
            </a:r>
            <a:r>
              <a:rPr lang="en-US" altLang="zh-CN" dirty="0"/>
              <a:t>I M LiBF</a:t>
            </a:r>
            <a:r>
              <a:rPr lang="en-US" altLang="zh-CN" baseline="-25000" dirty="0"/>
              <a:t>4</a:t>
            </a:r>
            <a:r>
              <a:rPr lang="en-US" altLang="zh-CN" dirty="0"/>
              <a:t> solution</a:t>
            </a:r>
            <a:endParaRPr lang="zh-CN" altLang="en-US" dirty="0"/>
          </a:p>
        </p:txBody>
      </p:sp>
      <p:sp>
        <p:nvSpPr>
          <p:cNvPr id="7" name="文本框 6">
            <a:extLst>
              <a:ext uri="{FF2B5EF4-FFF2-40B4-BE49-F238E27FC236}">
                <a16:creationId xmlns:a16="http://schemas.microsoft.com/office/drawing/2014/main" id="{737F5D5D-F9E3-4D83-93A4-012E7C2A3960}"/>
              </a:ext>
            </a:extLst>
          </p:cNvPr>
          <p:cNvSpPr txBox="1"/>
          <p:nvPr/>
        </p:nvSpPr>
        <p:spPr>
          <a:xfrm>
            <a:off x="2289387" y="3232843"/>
            <a:ext cx="1977814" cy="307777"/>
          </a:xfrm>
          <a:prstGeom prst="rect">
            <a:avLst/>
          </a:prstGeom>
          <a:noFill/>
        </p:spPr>
        <p:txBody>
          <a:bodyPr wrap="square" rtlCol="0">
            <a:spAutoFit/>
          </a:bodyPr>
          <a:lstStyle/>
          <a:p>
            <a:r>
              <a:rPr lang="en-US" altLang="zh-CN" dirty="0"/>
              <a:t>Figure 1</a:t>
            </a:r>
            <a:endParaRPr lang="zh-CN" altLang="en-US" dirty="0"/>
          </a:p>
        </p:txBody>
      </p:sp>
      <p:pic>
        <p:nvPicPr>
          <p:cNvPr id="12" name="图片 11">
            <a:extLst>
              <a:ext uri="{FF2B5EF4-FFF2-40B4-BE49-F238E27FC236}">
                <a16:creationId xmlns:a16="http://schemas.microsoft.com/office/drawing/2014/main" id="{10276B31-C501-4921-B56A-873DF57A1C70}"/>
              </a:ext>
            </a:extLst>
          </p:cNvPr>
          <p:cNvPicPr>
            <a:picLocks noChangeAspect="1"/>
          </p:cNvPicPr>
          <p:nvPr/>
        </p:nvPicPr>
        <p:blipFill>
          <a:blip r:embed="rId3"/>
          <a:stretch>
            <a:fillRect/>
          </a:stretch>
        </p:blipFill>
        <p:spPr>
          <a:xfrm>
            <a:off x="774478" y="1313779"/>
            <a:ext cx="4285252" cy="1831014"/>
          </a:xfrm>
          <a:prstGeom prst="rect">
            <a:avLst/>
          </a:prstGeom>
        </p:spPr>
      </p:pic>
      <p:sp>
        <p:nvSpPr>
          <p:cNvPr id="8" name="文本框 7">
            <a:extLst>
              <a:ext uri="{FF2B5EF4-FFF2-40B4-BE49-F238E27FC236}">
                <a16:creationId xmlns:a16="http://schemas.microsoft.com/office/drawing/2014/main" id="{D3546256-A433-44FD-9D8E-0B718E619C47}"/>
              </a:ext>
            </a:extLst>
          </p:cNvPr>
          <p:cNvSpPr txBox="1"/>
          <p:nvPr/>
        </p:nvSpPr>
        <p:spPr>
          <a:xfrm>
            <a:off x="1014607" y="3725334"/>
            <a:ext cx="7606453" cy="738664"/>
          </a:xfrm>
          <a:prstGeom prst="rect">
            <a:avLst/>
          </a:prstGeom>
          <a:noFill/>
        </p:spPr>
        <p:txBody>
          <a:bodyPr wrap="square" rtlCol="0">
            <a:spAutoFit/>
          </a:bodyPr>
          <a:lstStyle/>
          <a:p>
            <a:pPr marL="285750" indent="-285750">
              <a:buFont typeface="Wingdings" panose="05000000000000000000" pitchFamily="2" charset="2"/>
              <a:buChar char="l"/>
            </a:pPr>
            <a:r>
              <a:rPr lang="en-US" altLang="zh-CN" dirty="0"/>
              <a:t>Initially, lithium metal was used as both reference and counter electrodes</a:t>
            </a:r>
          </a:p>
          <a:p>
            <a:pPr marL="285750" indent="-285750">
              <a:buFont typeface="Wingdings" panose="05000000000000000000" pitchFamily="2" charset="2"/>
              <a:buChar char="l"/>
            </a:pPr>
            <a:r>
              <a:rPr lang="en-US" altLang="zh-CN" dirty="0"/>
              <a:t>As the measured open-cell voltages were found to be in excess of 4 V, there was a risk of electrolyte breakdown</a:t>
            </a:r>
            <a:endParaRPr lang="zh-CN" altLang="en-US" dirty="0"/>
          </a:p>
        </p:txBody>
      </p:sp>
    </p:spTree>
    <p:extLst>
      <p:ext uri="{BB962C8B-B14F-4D97-AF65-F5344CB8AC3E}">
        <p14:creationId xmlns:p14="http://schemas.microsoft.com/office/powerpoint/2010/main" val="2976006603"/>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89067" y="387038"/>
            <a:ext cx="8536214" cy="838691"/>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1  Electrochemical Studies</a:t>
            </a:r>
          </a:p>
          <a:p>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p:sp>
        <p:nvSpPr>
          <p:cNvPr id="2" name="文本框 1">
            <a:extLst>
              <a:ext uri="{FF2B5EF4-FFF2-40B4-BE49-F238E27FC236}">
                <a16:creationId xmlns:a16="http://schemas.microsoft.com/office/drawing/2014/main" id="{83858360-AC33-49D0-A7B7-38C6DB1E5B69}"/>
              </a:ext>
            </a:extLst>
          </p:cNvPr>
          <p:cNvSpPr txBox="1"/>
          <p:nvPr/>
        </p:nvSpPr>
        <p:spPr>
          <a:xfrm>
            <a:off x="689067" y="792480"/>
            <a:ext cx="6720960" cy="307777"/>
          </a:xfrm>
          <a:prstGeom prst="rect">
            <a:avLst/>
          </a:prstGeom>
          <a:noFill/>
        </p:spPr>
        <p:txBody>
          <a:bodyPr wrap="square" rtlCol="0">
            <a:spAutoFit/>
          </a:bodyPr>
          <a:lstStyle/>
          <a:p>
            <a:r>
              <a:rPr lang="en-US" altLang="zh-CN" dirty="0"/>
              <a:t>After improvement: use Li</a:t>
            </a:r>
            <a:r>
              <a:rPr lang="en-US" altLang="zh-CN" baseline="-25000" dirty="0"/>
              <a:t>0.1</a:t>
            </a:r>
            <a:r>
              <a:rPr lang="en-US" altLang="zh-CN" dirty="0"/>
              <a:t>V</a:t>
            </a:r>
            <a:r>
              <a:rPr lang="en-US" altLang="zh-CN" baseline="-25000" dirty="0"/>
              <a:t>2</a:t>
            </a:r>
            <a:r>
              <a:rPr lang="en-US" altLang="zh-CN" dirty="0"/>
              <a:t>0</a:t>
            </a:r>
            <a:r>
              <a:rPr lang="en-US" altLang="zh-CN" baseline="-25000" dirty="0"/>
              <a:t>5</a:t>
            </a:r>
            <a:r>
              <a:rPr lang="en-US" altLang="zh-CN" dirty="0"/>
              <a:t> as reference and counter electrodes</a:t>
            </a:r>
            <a:endParaRPr lang="zh-CN" altLang="en-US" dirty="0"/>
          </a:p>
        </p:txBody>
      </p:sp>
      <p:sp>
        <p:nvSpPr>
          <p:cNvPr id="5" name="文本框 4">
            <a:extLst>
              <a:ext uri="{FF2B5EF4-FFF2-40B4-BE49-F238E27FC236}">
                <a16:creationId xmlns:a16="http://schemas.microsoft.com/office/drawing/2014/main" id="{95E445D0-9971-4E85-9BBA-247C42138CB0}"/>
              </a:ext>
            </a:extLst>
          </p:cNvPr>
          <p:cNvSpPr txBox="1"/>
          <p:nvPr/>
        </p:nvSpPr>
        <p:spPr>
          <a:xfrm>
            <a:off x="774479" y="1225729"/>
            <a:ext cx="7089361" cy="1169551"/>
          </a:xfrm>
          <a:prstGeom prst="rect">
            <a:avLst/>
          </a:prstGeom>
          <a:noFill/>
        </p:spPr>
        <p:txBody>
          <a:bodyPr wrap="square" rtlCol="0">
            <a:spAutoFit/>
          </a:bodyPr>
          <a:lstStyle/>
          <a:p>
            <a:pPr marL="285750" indent="-285750">
              <a:buFont typeface="Wingdings" panose="05000000000000000000" pitchFamily="2" charset="2"/>
              <a:buChar char="n"/>
            </a:pPr>
            <a:r>
              <a:rPr lang="en-US" altLang="zh-CN" dirty="0"/>
              <a:t>It  enabled measured voltages to be kept below 1.5 V . The compositions, as determined </a:t>
            </a:r>
            <a:r>
              <a:rPr lang="en-US" altLang="zh-CN" dirty="0" err="1"/>
              <a:t>coulometrically</a:t>
            </a:r>
            <a:r>
              <a:rPr lang="en-US" altLang="zh-CN" dirty="0"/>
              <a:t> at very low current density, indicated that lithium could be almost completely removed</a:t>
            </a:r>
          </a:p>
          <a:p>
            <a:pPr marL="285750" indent="-285750">
              <a:buFont typeface="Wingdings" panose="05000000000000000000" pitchFamily="2" charset="2"/>
              <a:buChar char="n"/>
            </a:pPr>
            <a:r>
              <a:rPr lang="en-US" altLang="zh-CN" dirty="0"/>
              <a:t>E-x curve as shown as figure 2</a:t>
            </a:r>
          </a:p>
          <a:p>
            <a:pPr marL="285750" indent="-285750">
              <a:buFont typeface="Wingdings" panose="05000000000000000000" pitchFamily="2" charset="2"/>
              <a:buChar char="n"/>
            </a:pPr>
            <a:endParaRPr lang="zh-CN" altLang="en-US" dirty="0"/>
          </a:p>
        </p:txBody>
      </p:sp>
      <p:pic>
        <p:nvPicPr>
          <p:cNvPr id="6" name="图片 5">
            <a:extLst>
              <a:ext uri="{FF2B5EF4-FFF2-40B4-BE49-F238E27FC236}">
                <a16:creationId xmlns:a16="http://schemas.microsoft.com/office/drawing/2014/main" id="{877E16CF-13A8-4241-8CA9-8FEC041EF2B6}"/>
              </a:ext>
            </a:extLst>
          </p:cNvPr>
          <p:cNvPicPr>
            <a:picLocks noChangeAspect="1"/>
          </p:cNvPicPr>
          <p:nvPr/>
        </p:nvPicPr>
        <p:blipFill>
          <a:blip r:embed="rId3"/>
          <a:stretch>
            <a:fillRect/>
          </a:stretch>
        </p:blipFill>
        <p:spPr>
          <a:xfrm>
            <a:off x="5052907" y="1785249"/>
            <a:ext cx="2600962" cy="2897444"/>
          </a:xfrm>
          <a:prstGeom prst="rect">
            <a:avLst/>
          </a:prstGeom>
        </p:spPr>
      </p:pic>
      <p:sp>
        <p:nvSpPr>
          <p:cNvPr id="8" name="文本框 7">
            <a:extLst>
              <a:ext uri="{FF2B5EF4-FFF2-40B4-BE49-F238E27FC236}">
                <a16:creationId xmlns:a16="http://schemas.microsoft.com/office/drawing/2014/main" id="{3EF124C6-48CC-4B8B-AA70-8E86A632E16B}"/>
              </a:ext>
            </a:extLst>
          </p:cNvPr>
          <p:cNvSpPr txBox="1"/>
          <p:nvPr/>
        </p:nvSpPr>
        <p:spPr>
          <a:xfrm>
            <a:off x="5858936" y="4682693"/>
            <a:ext cx="1794933" cy="307777"/>
          </a:xfrm>
          <a:prstGeom prst="rect">
            <a:avLst/>
          </a:prstGeom>
          <a:noFill/>
        </p:spPr>
        <p:txBody>
          <a:bodyPr wrap="square" rtlCol="0">
            <a:spAutoFit/>
          </a:bodyPr>
          <a:lstStyle/>
          <a:p>
            <a:r>
              <a:rPr lang="en-US" altLang="zh-CN" dirty="0"/>
              <a:t>Figure 2</a:t>
            </a:r>
            <a:endParaRPr lang="zh-CN" altLang="en-US" dirty="0"/>
          </a:p>
        </p:txBody>
      </p:sp>
      <p:sp>
        <p:nvSpPr>
          <p:cNvPr id="9" name="文本框 8">
            <a:extLst>
              <a:ext uri="{FF2B5EF4-FFF2-40B4-BE49-F238E27FC236}">
                <a16:creationId xmlns:a16="http://schemas.microsoft.com/office/drawing/2014/main" id="{396D0DBD-9FE9-4477-989B-DBCFA4EADA66}"/>
              </a:ext>
            </a:extLst>
          </p:cNvPr>
          <p:cNvSpPr txBox="1"/>
          <p:nvPr/>
        </p:nvSpPr>
        <p:spPr>
          <a:xfrm>
            <a:off x="689067" y="2748221"/>
            <a:ext cx="3882933" cy="1169551"/>
          </a:xfrm>
          <a:prstGeom prst="rect">
            <a:avLst/>
          </a:prstGeom>
          <a:noFill/>
        </p:spPr>
        <p:txBody>
          <a:bodyPr wrap="square" rtlCol="0">
            <a:spAutoFit/>
          </a:bodyPr>
          <a:lstStyle/>
          <a:p>
            <a:pPr algn="just"/>
            <a:r>
              <a:rPr lang="en-US" altLang="zh-CN" dirty="0"/>
              <a:t>The E vs x curve corresponds to a theoretical energy density of 1.1kWh/kg for the reaction:</a:t>
            </a:r>
          </a:p>
          <a:p>
            <a:pPr algn="just"/>
            <a:endParaRPr lang="en-US" altLang="zh-CN" dirty="0"/>
          </a:p>
          <a:p>
            <a:pPr algn="just"/>
            <a:r>
              <a:rPr lang="en-US" altLang="zh-CN" b="1" dirty="0"/>
              <a:t>0.923Li</a:t>
            </a:r>
            <a:r>
              <a:rPr lang="en-US" altLang="zh-CN" b="1" baseline="30000" dirty="0"/>
              <a:t>+</a:t>
            </a:r>
            <a:r>
              <a:rPr lang="en-US" altLang="zh-CN" b="1" dirty="0"/>
              <a:t>+ Li</a:t>
            </a:r>
            <a:r>
              <a:rPr lang="en-US" altLang="zh-CN" b="1" baseline="-25000" dirty="0"/>
              <a:t>0.067</a:t>
            </a:r>
            <a:r>
              <a:rPr lang="en-US" altLang="zh-CN" b="1" dirty="0"/>
              <a:t>Co</a:t>
            </a:r>
            <a:r>
              <a:rPr lang="en-US" altLang="zh-CN" b="1" baseline="-25000" dirty="0"/>
              <a:t>1.01</a:t>
            </a:r>
            <a:r>
              <a:rPr lang="en-US" altLang="zh-CN" b="1" dirty="0"/>
              <a:t>O</a:t>
            </a:r>
            <a:r>
              <a:rPr lang="en-US" altLang="zh-CN" b="1" baseline="-25000" dirty="0"/>
              <a:t>2</a:t>
            </a:r>
            <a:r>
              <a:rPr lang="en-US" altLang="zh-CN" b="1" dirty="0"/>
              <a:t> = Li</a:t>
            </a:r>
            <a:r>
              <a:rPr lang="en-US" altLang="zh-CN" b="1" baseline="-25000" dirty="0"/>
              <a:t>0.99</a:t>
            </a:r>
            <a:r>
              <a:rPr lang="en-US" altLang="zh-CN" b="1" dirty="0"/>
              <a:t>Co</a:t>
            </a:r>
            <a:r>
              <a:rPr lang="en-US" altLang="zh-CN" b="1" baseline="-25000" dirty="0"/>
              <a:t>1.01</a:t>
            </a:r>
            <a:r>
              <a:rPr lang="en-US" altLang="zh-CN" b="1" dirty="0"/>
              <a:t>O</a:t>
            </a:r>
            <a:r>
              <a:rPr lang="en-US" altLang="zh-CN" b="1" baseline="-25000" dirty="0"/>
              <a:t>2</a:t>
            </a:r>
            <a:endParaRPr lang="zh-CN" altLang="en-US" b="1" dirty="0"/>
          </a:p>
        </p:txBody>
      </p:sp>
    </p:spTree>
    <p:extLst>
      <p:ext uri="{BB962C8B-B14F-4D97-AF65-F5344CB8AC3E}">
        <p14:creationId xmlns:p14="http://schemas.microsoft.com/office/powerpoint/2010/main" val="17292634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1000"/>
                                        <p:tgtEl>
                                          <p:spTgt spid="5">
                                            <p:txEl>
                                              <p:pRg st="1" end="1"/>
                                            </p:txEl>
                                          </p:spTgt>
                                        </p:tgtEl>
                                      </p:cBhvr>
                                    </p:animEffect>
                                    <p:anim calcmode="lin" valueType="num">
                                      <p:cBhvr>
                                        <p:cTn id="22"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89067" y="387038"/>
            <a:ext cx="8536214" cy="592470"/>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1  Conclusion </a:t>
            </a:r>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p:sp>
        <p:nvSpPr>
          <p:cNvPr id="2" name="矩形 1">
            <a:extLst>
              <a:ext uri="{FF2B5EF4-FFF2-40B4-BE49-F238E27FC236}">
                <a16:creationId xmlns:a16="http://schemas.microsoft.com/office/drawing/2014/main" id="{39C2FCFB-192D-4C98-BA0C-72FA19EFF3F2}"/>
              </a:ext>
            </a:extLst>
          </p:cNvPr>
          <p:cNvSpPr/>
          <p:nvPr/>
        </p:nvSpPr>
        <p:spPr>
          <a:xfrm>
            <a:off x="689067" y="927797"/>
            <a:ext cx="3173946" cy="307777"/>
          </a:xfrm>
          <a:prstGeom prst="rect">
            <a:avLst/>
          </a:prstGeom>
        </p:spPr>
        <p:txBody>
          <a:bodyPr wrap="none">
            <a:spAutoFit/>
          </a:bodyPr>
          <a:lstStyle/>
          <a:p>
            <a:r>
              <a:rPr lang="zh-CN" altLang="en-US" dirty="0"/>
              <a:t>This article gives a few conclusions</a:t>
            </a:r>
          </a:p>
        </p:txBody>
      </p:sp>
      <p:sp>
        <p:nvSpPr>
          <p:cNvPr id="3" name="矩形 2">
            <a:extLst>
              <a:ext uri="{FF2B5EF4-FFF2-40B4-BE49-F238E27FC236}">
                <a16:creationId xmlns:a16="http://schemas.microsoft.com/office/drawing/2014/main" id="{2B3B8F0F-6806-4A6D-9EF4-9D3F5AE77086}"/>
              </a:ext>
            </a:extLst>
          </p:cNvPr>
          <p:cNvSpPr/>
          <p:nvPr/>
        </p:nvSpPr>
        <p:spPr>
          <a:xfrm>
            <a:off x="931332" y="1412235"/>
            <a:ext cx="7176347" cy="1018869"/>
          </a:xfrm>
          <a:prstGeom prst="rect">
            <a:avLst/>
          </a:prstGeom>
        </p:spPr>
        <p:txBody>
          <a:bodyPr wrap="square">
            <a:spAutoFit/>
          </a:bodyPr>
          <a:lstStyle/>
          <a:p>
            <a:pPr lvl="0" algn="just">
              <a:lnSpc>
                <a:spcPct val="115000"/>
              </a:lnSpc>
              <a:spcAft>
                <a:spcPts val="0"/>
              </a:spcAft>
            </a:pPr>
            <a:r>
              <a:rPr lang="en-US" altLang="zh-CN" kern="100" dirty="0">
                <a:latin typeface="Calibri" panose="020F0502020204030204" pitchFamily="34" charset="0"/>
                <a:ea typeface="宋体" panose="02010600030101010101" pitchFamily="2" charset="-122"/>
                <a:cs typeface="Times New Roman" panose="02020603050405020304" pitchFamily="18" charset="0"/>
              </a:rPr>
              <a:t>Open-circuit voltages of 4-5 V for LixCoO2/Li cells are consistent with the oxidizing power of the Co(IV)/Co(</a:t>
            </a:r>
            <a:r>
              <a:rPr lang="en-US" altLang="zh-CN" kern="100" dirty="0" err="1">
                <a:latin typeface="Calibri" panose="020F0502020204030204" pitchFamily="34" charset="0"/>
                <a:ea typeface="宋体" panose="02010600030101010101" pitchFamily="2" charset="-122"/>
                <a:cs typeface="Times New Roman" panose="02020603050405020304" pitchFamily="18" charset="0"/>
              </a:rPr>
              <a:t>lll</a:t>
            </a:r>
            <a:r>
              <a:rPr lang="en-US" altLang="zh-CN" kern="100" dirty="0">
                <a:latin typeface="Calibri" panose="020F0502020204030204" pitchFamily="34" charset="0"/>
                <a:ea typeface="宋体" panose="02010600030101010101" pitchFamily="2" charset="-122"/>
                <a:cs typeface="Times New Roman" panose="02020603050405020304" pitchFamily="18" charset="0"/>
              </a:rPr>
              <a:t>) couple. The high voltages permit consideration of alternate negative electrodes, and two cell configurations become possible options.</a:t>
            </a:r>
          </a:p>
          <a:p>
            <a:pPr lvl="0" algn="just">
              <a:lnSpc>
                <a:spcPct val="115000"/>
              </a:lnSpc>
              <a:spcAft>
                <a:spcPts val="0"/>
              </a:spcAft>
            </a:pP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67035DCE-45D2-413E-AA3E-3BABDD24A09A}"/>
              </a:ext>
            </a:extLst>
          </p:cNvPr>
          <p:cNvSpPr txBox="1"/>
          <p:nvPr/>
        </p:nvSpPr>
        <p:spPr>
          <a:xfrm>
            <a:off x="1268826" y="2450901"/>
            <a:ext cx="6800426" cy="1492716"/>
          </a:xfrm>
          <a:prstGeom prst="rect">
            <a:avLst/>
          </a:prstGeom>
          <a:noFill/>
        </p:spPr>
        <p:txBody>
          <a:bodyPr wrap="square" rtlCol="0">
            <a:spAutoFit/>
          </a:bodyPr>
          <a:lstStyle/>
          <a:p>
            <a:pPr marL="171450" indent="-171450" algn="just">
              <a:buFont typeface="Wingdings" panose="05000000000000000000" pitchFamily="2" charset="2"/>
              <a:buChar char="l"/>
            </a:pPr>
            <a:r>
              <a:rPr lang="en-US" altLang="zh-CN" sz="1100" dirty="0"/>
              <a:t>Use of an insertion compound of low work function for the negative electrode and a liquid electrolyte. Such a cell would have a lower open-circuit voltage and a larger variation in voltage with state of charge</a:t>
            </a:r>
          </a:p>
          <a:p>
            <a:pPr marL="171450" indent="-171450" algn="just">
              <a:buFont typeface="Wingdings" panose="05000000000000000000" pitchFamily="2" charset="2"/>
              <a:buChar char="l"/>
            </a:pPr>
            <a:endParaRPr lang="en-US" altLang="zh-CN" sz="1100" dirty="0"/>
          </a:p>
          <a:p>
            <a:pPr marL="171450" indent="-171450" algn="just">
              <a:buFont typeface="Wingdings" panose="05000000000000000000" pitchFamily="2" charset="2"/>
              <a:buChar char="l"/>
            </a:pPr>
            <a:r>
              <a:rPr lang="en-US" altLang="zh-CN" sz="1100" dirty="0"/>
              <a:t>Use of a solid electrolyte of large breakdown voltage to enable a greater fraction of the potential energy density to be utilized.</a:t>
            </a:r>
            <a:endParaRPr lang="zh-CN" altLang="zh-CN" sz="1100" dirty="0"/>
          </a:p>
          <a:p>
            <a:pPr algn="just"/>
            <a:r>
              <a:rPr lang="en-US" altLang="zh-CN" dirty="0"/>
              <a:t> </a:t>
            </a:r>
            <a:endParaRPr lang="zh-CN" altLang="zh-CN" dirty="0"/>
          </a:p>
          <a:p>
            <a:pPr marL="285750" indent="-285750" algn="just">
              <a:buFont typeface="Wingdings" panose="05000000000000000000" pitchFamily="2" charset="2"/>
              <a:buChar char="l"/>
            </a:pPr>
            <a:endParaRPr lang="zh-CN" altLang="zh-CN" sz="1100" dirty="0"/>
          </a:p>
        </p:txBody>
      </p:sp>
    </p:spTree>
    <p:extLst>
      <p:ext uri="{BB962C8B-B14F-4D97-AF65-F5344CB8AC3E}">
        <p14:creationId xmlns:p14="http://schemas.microsoft.com/office/powerpoint/2010/main" val="3862834462"/>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3819635" y="1089058"/>
            <a:ext cx="1500028" cy="1500028"/>
          </a:xfrm>
          <a:prstGeom prst="ellipse">
            <a:avLst/>
          </a:prstGeom>
          <a:solidFill>
            <a:srgbClr val="1B43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1655479" y="2597704"/>
            <a:ext cx="5833041" cy="1177245"/>
          </a:xfrm>
          <a:prstGeom prst="rect">
            <a:avLst/>
          </a:prstGeom>
          <a:noFill/>
        </p:spPr>
        <p:txBody>
          <a:bodyPr wrap="square" lIns="68580" tIns="34290" rIns="68580" bIns="34290" rtlCol="0">
            <a:spAutoFit/>
          </a:bodyPr>
          <a:lstStyle/>
          <a:p>
            <a:pPr algn="ctr"/>
            <a:r>
              <a:rPr lang="en-US" altLang="zh-CN" b="1" dirty="0"/>
              <a:t>    </a:t>
            </a:r>
            <a:r>
              <a:rPr lang="en-US" altLang="zh-CN" sz="2400" b="1" dirty="0">
                <a:latin typeface="Calibri" panose="020F0502020204030204" pitchFamily="34" charset="0"/>
                <a:cs typeface="Calibri" panose="020F0502020204030204" pitchFamily="34" charset="0"/>
              </a:rPr>
              <a:t>LiMn</a:t>
            </a:r>
            <a:r>
              <a:rPr lang="en-US" altLang="zh-CN" b="1" dirty="0">
                <a:latin typeface="Calibri" panose="020F0502020204030204" pitchFamily="34" charset="0"/>
                <a:cs typeface="Calibri" panose="020F0502020204030204" pitchFamily="34" charset="0"/>
              </a:rPr>
              <a:t>2</a:t>
            </a:r>
            <a:r>
              <a:rPr lang="en-US" altLang="zh-CN" sz="2400" b="1" dirty="0">
                <a:latin typeface="Calibri" panose="020F0502020204030204" pitchFamily="34" charset="0"/>
                <a:cs typeface="Calibri" panose="020F0502020204030204" pitchFamily="34" charset="0"/>
              </a:rPr>
              <a:t>O</a:t>
            </a:r>
            <a:r>
              <a:rPr lang="en-US" altLang="zh-CN" b="1" dirty="0">
                <a:latin typeface="Calibri" panose="020F0502020204030204" pitchFamily="34" charset="0"/>
                <a:cs typeface="Calibri" panose="020F0502020204030204" pitchFamily="34" charset="0"/>
              </a:rPr>
              <a:t>4</a:t>
            </a:r>
            <a:r>
              <a:rPr lang="zh-CN" altLang="en-US" sz="2400" b="1" dirty="0">
                <a:latin typeface="Calibri" panose="020F0502020204030204" pitchFamily="34" charset="0"/>
                <a:cs typeface="Calibri" panose="020F0502020204030204" pitchFamily="34" charset="0"/>
              </a:rPr>
              <a:t>：</a:t>
            </a:r>
            <a:endParaRPr lang="en-US" altLang="zh-CN" sz="2400" b="1" dirty="0">
              <a:latin typeface="Calibri" panose="020F0502020204030204" pitchFamily="34" charset="0"/>
              <a:cs typeface="Calibri" panose="020F0502020204030204" pitchFamily="34" charset="0"/>
            </a:endParaRPr>
          </a:p>
          <a:p>
            <a:pPr algn="ctr"/>
            <a:r>
              <a:rPr lang="en-US" altLang="zh-CN" sz="2400" dirty="0">
                <a:latin typeface="Calibri" panose="020F0502020204030204" pitchFamily="34" charset="0"/>
                <a:cs typeface="Calibri" panose="020F0502020204030204" pitchFamily="34" charset="0"/>
              </a:rPr>
              <a:t> LITHIUM INSERTION INTO MANGANESE SPINELS </a:t>
            </a:r>
            <a:endParaRPr lang="zh-CN" altLang="en-US" sz="4800" b="1" dirty="0">
              <a:solidFill>
                <a:srgbClr val="1B4367"/>
              </a:solidFill>
              <a:latin typeface="Calibri" panose="020F0502020204030204" pitchFamily="34" charset="0"/>
              <a:cs typeface="Calibri" panose="020F0502020204030204" pitchFamily="34" charset="0"/>
              <a:sym typeface="+mn-lt"/>
            </a:endParaRPr>
          </a:p>
        </p:txBody>
      </p:sp>
      <p:sp>
        <p:nvSpPr>
          <p:cNvPr id="95" name="文本框 11"/>
          <p:cNvSpPr txBox="1"/>
          <p:nvPr/>
        </p:nvSpPr>
        <p:spPr>
          <a:xfrm>
            <a:off x="3713476" y="1575042"/>
            <a:ext cx="1732894" cy="815736"/>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2</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p>
        </p:txBody>
      </p:sp>
      <p:sp>
        <p:nvSpPr>
          <p:cNvPr id="3" name="文本框 2">
            <a:extLst>
              <a:ext uri="{FF2B5EF4-FFF2-40B4-BE49-F238E27FC236}">
                <a16:creationId xmlns:a16="http://schemas.microsoft.com/office/drawing/2014/main" id="{24C7E343-0334-480E-84FB-1C2D8984F914}"/>
              </a:ext>
            </a:extLst>
          </p:cNvPr>
          <p:cNvSpPr txBox="1"/>
          <p:nvPr/>
        </p:nvSpPr>
        <p:spPr>
          <a:xfrm>
            <a:off x="5242560" y="3774949"/>
            <a:ext cx="2966720" cy="400110"/>
          </a:xfrm>
          <a:prstGeom prst="rect">
            <a:avLst/>
          </a:prstGeom>
          <a:noFill/>
        </p:spPr>
        <p:txBody>
          <a:bodyPr wrap="square" rtlCol="0">
            <a:spAutoFit/>
          </a:bodyPr>
          <a:lstStyle/>
          <a:p>
            <a:r>
              <a:rPr lang="en-US" altLang="zh-CN" sz="2000" dirty="0">
                <a:latin typeface="Calibri" panose="020F0502020204030204" pitchFamily="34" charset="0"/>
                <a:cs typeface="Calibri" panose="020F0502020204030204" pitchFamily="34" charset="0"/>
              </a:rPr>
              <a:t>——M.M. Thackeray</a:t>
            </a:r>
            <a:endParaRPr lang="zh-CN" altLang="en-US" sz="2000" dirty="0">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89067" y="387038"/>
            <a:ext cx="8536214" cy="592470"/>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2  Conception </a:t>
            </a:r>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p:sp>
        <p:nvSpPr>
          <p:cNvPr id="4" name="文本框 3">
            <a:extLst>
              <a:ext uri="{FF2B5EF4-FFF2-40B4-BE49-F238E27FC236}">
                <a16:creationId xmlns:a16="http://schemas.microsoft.com/office/drawing/2014/main" id="{67035DCE-45D2-413E-AA3E-3BABDD24A09A}"/>
              </a:ext>
            </a:extLst>
          </p:cNvPr>
          <p:cNvSpPr txBox="1"/>
          <p:nvPr/>
        </p:nvSpPr>
        <p:spPr>
          <a:xfrm>
            <a:off x="1254737" y="1362045"/>
            <a:ext cx="6800426" cy="2677656"/>
          </a:xfrm>
          <a:prstGeom prst="rect">
            <a:avLst/>
          </a:prstGeom>
          <a:noFill/>
        </p:spPr>
        <p:txBody>
          <a:bodyPr wrap="square" rtlCol="0">
            <a:spAutoFit/>
          </a:bodyPr>
          <a:lstStyle/>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r>
              <a:rPr lang="en-US" altLang="zh-CN" sz="1200" dirty="0"/>
              <a:t>Octahedral configuration complex</a:t>
            </a:r>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r>
              <a:rPr lang="en-US" altLang="zh-CN" sz="1200" dirty="0"/>
              <a:t>Jahn-Teller distortion </a:t>
            </a:r>
            <a:r>
              <a:rPr lang="zh-CN" altLang="en-US" sz="1200" dirty="0"/>
              <a:t>（姜</a:t>
            </a:r>
            <a:r>
              <a:rPr lang="en-US" altLang="zh-CN" sz="1200" dirty="0"/>
              <a:t>-</a:t>
            </a:r>
            <a:r>
              <a:rPr lang="zh-CN" altLang="en-US" sz="1200" dirty="0"/>
              <a:t>泰勒效应）</a:t>
            </a:r>
            <a:endParaRPr lang="en-US" altLang="zh-CN" sz="1200" dirty="0"/>
          </a:p>
          <a:p>
            <a:pPr algn="just"/>
            <a:endParaRPr lang="en-US" altLang="zh-CN" sz="1200" dirty="0"/>
          </a:p>
          <a:p>
            <a:pPr algn="just"/>
            <a:r>
              <a:rPr lang="en-US" altLang="zh-CN" sz="1200" dirty="0"/>
              <a:t>The asymmetric occupation of electrons in degenerate orbitals will lead to the distortion of the molecular geometry, thereby reducing the symmetry of molecules and the degeneracy of orbitals, and further reducing the energy of the system. This effect is called the Jahn-Teller effect.</a:t>
            </a:r>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endParaRPr lang="en-US" altLang="zh-CN" sz="1200" dirty="0"/>
          </a:p>
        </p:txBody>
      </p:sp>
      <p:pic>
        <p:nvPicPr>
          <p:cNvPr id="6" name="图片 5">
            <a:extLst>
              <a:ext uri="{FF2B5EF4-FFF2-40B4-BE49-F238E27FC236}">
                <a16:creationId xmlns:a16="http://schemas.microsoft.com/office/drawing/2014/main" id="{FF1A5DA1-EB90-4C98-AC24-EFB9F83752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93682" y="979508"/>
            <a:ext cx="1775248" cy="1821590"/>
          </a:xfrm>
          <a:prstGeom prst="rect">
            <a:avLst/>
          </a:prstGeom>
        </p:spPr>
      </p:pic>
    </p:spTree>
    <p:extLst>
      <p:ext uri="{BB962C8B-B14F-4D97-AF65-F5344CB8AC3E}">
        <p14:creationId xmlns:p14="http://schemas.microsoft.com/office/powerpoint/2010/main" val="32286323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89067" y="387038"/>
            <a:ext cx="8536214" cy="592470"/>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2  Conception </a:t>
            </a:r>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7035DCE-45D2-413E-AA3E-3BABDD24A09A}"/>
                  </a:ext>
                </a:extLst>
              </p:cNvPr>
              <p:cNvSpPr txBox="1"/>
              <p:nvPr/>
            </p:nvSpPr>
            <p:spPr>
              <a:xfrm>
                <a:off x="1254737" y="1362045"/>
                <a:ext cx="6800426" cy="3785652"/>
              </a:xfrm>
              <a:prstGeom prst="rect">
                <a:avLst/>
              </a:prstGeom>
              <a:noFill/>
            </p:spPr>
            <p:txBody>
              <a:bodyPr wrap="square" rtlCol="0">
                <a:spAutoFit/>
              </a:bodyPr>
              <a:lstStyle/>
              <a:p>
                <a:pPr marL="285750" indent="-285750" algn="just">
                  <a:buFont typeface="Wingdings" panose="05000000000000000000" pitchFamily="2" charset="2"/>
                  <a:buChar char="l"/>
                </a:pPr>
                <a:endParaRPr lang="en-US" altLang="zh-CN" sz="1200" dirty="0"/>
              </a:p>
              <a:p>
                <a:pPr algn="just"/>
                <a:endParaRPr lang="en-US" altLang="zh-CN" sz="1200" dirty="0"/>
              </a:p>
              <a:p>
                <a:pPr marL="285750" indent="-285750" algn="just">
                  <a:buFont typeface="Wingdings" panose="05000000000000000000" pitchFamily="2" charset="2"/>
                  <a:buChar char="l"/>
                </a:pPr>
                <a14:m>
                  <m:oMath xmlns:m="http://schemas.openxmlformats.org/officeDocument/2006/math">
                    <m:r>
                      <a:rPr lang="en-US" altLang="zh-CN" sz="1200" i="1">
                        <a:latin typeface="Cambria Math" panose="02040503050406030204" pitchFamily="18" charset="0"/>
                      </a:rPr>
                      <m:t>𝑠𝑝𝑖𝑛𝑒𝑙</m:t>
                    </m:r>
                    <m:r>
                      <a:rPr lang="en-US" altLang="zh-CN" sz="1200" b="0" i="1" smtClean="0">
                        <a:latin typeface="Cambria Math" panose="02040503050406030204" pitchFamily="18" charset="0"/>
                      </a:rPr>
                      <m:t> </m:t>
                    </m:r>
                    <m:r>
                      <a:rPr lang="en-US" altLang="zh-CN" sz="1200" i="1">
                        <a:latin typeface="Cambria Math" panose="02040503050406030204" pitchFamily="18" charset="0"/>
                      </a:rPr>
                      <m:t>𝐿𝑖𝑀</m:t>
                    </m:r>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𝑛</m:t>
                        </m:r>
                      </m:e>
                      <m:sub>
                        <m:r>
                          <a:rPr lang="en-US" altLang="zh-CN" sz="1200" b="0" i="1" smtClean="0">
                            <a:latin typeface="Cambria Math" panose="02040503050406030204" pitchFamily="18" charset="0"/>
                          </a:rPr>
                          <m:t>2</m:t>
                        </m:r>
                      </m:sub>
                    </m:sSub>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𝑂</m:t>
                        </m:r>
                      </m:e>
                      <m:sub>
                        <m:r>
                          <a:rPr lang="en-US" altLang="zh-CN" sz="1200" b="0" i="1" smtClean="0">
                            <a:latin typeface="Cambria Math" panose="02040503050406030204" pitchFamily="18" charset="0"/>
                          </a:rPr>
                          <m:t>4</m:t>
                        </m:r>
                      </m:sub>
                    </m:sSub>
                  </m:oMath>
                </a14:m>
                <a:r>
                  <a:rPr lang="en-US" altLang="zh-CN" sz="1200" dirty="0"/>
                  <a:t>(</a:t>
                </a:r>
                <a:r>
                  <a:rPr lang="zh-CN" altLang="en-US" sz="1200" dirty="0"/>
                  <a:t>尖晶石型锰酸锂）</a:t>
                </a:r>
                <a:endParaRPr lang="en-US" altLang="zh-CN" sz="1200" dirty="0"/>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endParaRPr lang="en-US" altLang="zh-CN" sz="1200" dirty="0"/>
              </a:p>
              <a:p>
                <a:pPr algn="just"/>
                <a:endParaRPr lang="en-US" altLang="zh-CN" sz="1200" dirty="0"/>
              </a:p>
              <a:p>
                <a:pPr marL="285750" indent="-285750" algn="just">
                  <a:buFont typeface="Wingdings" panose="05000000000000000000" pitchFamily="2" charset="2"/>
                  <a:buChar char="l"/>
                </a:pPr>
                <a:r>
                  <a:rPr lang="en-US" altLang="zh-CN" sz="1200" dirty="0"/>
                  <a:t>Lithium occupies 1/16 oxygen tetrahedral clearance in order and manganese occupies 1/2 oxygen octahedral clearance (V8) position. The unit lattice contains 56 atoms :8 lithium atoms, 16 manganese atoms, and 32 oxygen atoms, of which Mn3+ and Mn4+ account for 50% each. </a:t>
                </a:r>
              </a:p>
              <a:p>
                <a:pPr marL="285750" indent="-285750" algn="just">
                  <a:buFont typeface="Wingdings" panose="05000000000000000000" pitchFamily="2" charset="2"/>
                  <a:buChar char="l"/>
                </a:pPr>
                <a:r>
                  <a:rPr lang="en-US" altLang="zh-CN" sz="1200" dirty="0"/>
                  <a:t>The structure can be simply described as eight tetrahedral positions 8a are occupied by lithium ions, manganese at the 16d position is occupied by Mn3+ and Mn4+ in a 1:1 ratio, all vacancies at the 16c position of octahedron, and oxygen ions occupy the 32e position of octahedron</a:t>
                </a:r>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endParaRPr lang="en-US" altLang="zh-CN" sz="1200" dirty="0"/>
              </a:p>
            </p:txBody>
          </p:sp>
        </mc:Choice>
        <mc:Fallback xmlns="">
          <p:sp>
            <p:nvSpPr>
              <p:cNvPr id="4" name="文本框 3">
                <a:extLst>
                  <a:ext uri="{FF2B5EF4-FFF2-40B4-BE49-F238E27FC236}">
                    <a16:creationId xmlns:a16="http://schemas.microsoft.com/office/drawing/2014/main" id="{67035DCE-45D2-413E-AA3E-3BABDD24A09A}"/>
                  </a:ext>
                </a:extLst>
              </p:cNvPr>
              <p:cNvSpPr txBox="1">
                <a:spLocks noRot="1" noChangeAspect="1" noMove="1" noResize="1" noEditPoints="1" noAdjustHandles="1" noChangeArrowheads="1" noChangeShapeType="1" noTextEdit="1"/>
              </p:cNvSpPr>
              <p:nvPr/>
            </p:nvSpPr>
            <p:spPr>
              <a:xfrm>
                <a:off x="1254737" y="1362045"/>
                <a:ext cx="6800426" cy="3785652"/>
              </a:xfrm>
              <a:prstGeom prst="rect">
                <a:avLst/>
              </a:prstGeom>
              <a:blipFill>
                <a:blip r:embed="rId3"/>
                <a:stretch>
                  <a:fillRect/>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D09987B3-6F90-44A1-B760-90CBDCC374E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24004" y="892732"/>
            <a:ext cx="3431158" cy="1772217"/>
          </a:xfrm>
          <a:prstGeom prst="rect">
            <a:avLst/>
          </a:prstGeom>
        </p:spPr>
      </p:pic>
    </p:spTree>
    <p:extLst>
      <p:ext uri="{BB962C8B-B14F-4D97-AF65-F5344CB8AC3E}">
        <p14:creationId xmlns:p14="http://schemas.microsoft.com/office/powerpoint/2010/main" val="3343653942"/>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89067" y="387038"/>
            <a:ext cx="8536214" cy="592470"/>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2  Method</a:t>
            </a:r>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p:sp>
        <p:nvSpPr>
          <p:cNvPr id="4" name="文本框 3">
            <a:extLst>
              <a:ext uri="{FF2B5EF4-FFF2-40B4-BE49-F238E27FC236}">
                <a16:creationId xmlns:a16="http://schemas.microsoft.com/office/drawing/2014/main" id="{67035DCE-45D2-413E-AA3E-3BABDD24A09A}"/>
              </a:ext>
            </a:extLst>
          </p:cNvPr>
          <p:cNvSpPr txBox="1"/>
          <p:nvPr/>
        </p:nvSpPr>
        <p:spPr>
          <a:xfrm>
            <a:off x="1254737" y="1362045"/>
            <a:ext cx="8018110" cy="3785652"/>
          </a:xfrm>
          <a:prstGeom prst="rect">
            <a:avLst/>
          </a:prstGeom>
          <a:noFill/>
        </p:spPr>
        <p:txBody>
          <a:bodyPr wrap="square" rtlCol="0">
            <a:spAutoFit/>
          </a:bodyPr>
          <a:lstStyle/>
          <a:p>
            <a:pPr marL="285750" indent="-285750" algn="just">
              <a:buFont typeface="Wingdings" panose="05000000000000000000" pitchFamily="2" charset="2"/>
              <a:buChar char="l"/>
            </a:pPr>
            <a:endParaRPr lang="en-US" altLang="zh-CN" sz="1200" dirty="0"/>
          </a:p>
          <a:p>
            <a:pPr algn="just"/>
            <a:endParaRPr lang="en-US" altLang="zh-CN" sz="1200" dirty="0"/>
          </a:p>
          <a:p>
            <a:pPr marL="285750" indent="-285750" algn="just">
              <a:buFont typeface="Wingdings" panose="05000000000000000000" pitchFamily="2" charset="2"/>
              <a:buChar char="l"/>
            </a:pPr>
            <a:r>
              <a:rPr lang="en-US" altLang="zh-CN" sz="1200" dirty="0"/>
              <a:t>X-ray diffraction(X</a:t>
            </a:r>
            <a:r>
              <a:rPr lang="zh-CN" altLang="en-US" sz="1200" dirty="0"/>
              <a:t>射线衍射）</a:t>
            </a:r>
            <a:endParaRPr lang="en-US" altLang="zh-CN" sz="1200" dirty="0"/>
          </a:p>
          <a:p>
            <a:pPr algn="just"/>
            <a:endParaRPr lang="en-US" altLang="zh-CN" sz="1200" dirty="0"/>
          </a:p>
          <a:p>
            <a:pPr algn="just"/>
            <a:endParaRPr lang="en-US" altLang="zh-CN" sz="1200" dirty="0"/>
          </a:p>
          <a:p>
            <a:pPr marL="285750" indent="-285750" algn="just">
              <a:buFont typeface="Wingdings" panose="05000000000000000000" pitchFamily="2" charset="2"/>
              <a:buChar char="l"/>
            </a:pPr>
            <a:r>
              <a:rPr lang="en-US" altLang="zh-CN" sz="1200" dirty="0"/>
              <a:t>axial ratio x=c/a  (</a:t>
            </a:r>
            <a:r>
              <a:rPr lang="zh-CN" altLang="en-US" sz="1200" dirty="0"/>
              <a:t>轴比）</a:t>
            </a:r>
            <a:endParaRPr lang="en-US" altLang="zh-CN" sz="1200" dirty="0"/>
          </a:p>
          <a:p>
            <a:pPr marL="285750" indent="-285750" algn="just">
              <a:buFont typeface="Wingdings" panose="05000000000000000000" pitchFamily="2" charset="2"/>
              <a:buChar char="l"/>
            </a:pPr>
            <a:endParaRPr lang="en-US" altLang="zh-CN" sz="1200" dirty="0"/>
          </a:p>
          <a:p>
            <a:pPr algn="just"/>
            <a:endParaRPr lang="en-US" altLang="zh-CN" sz="1200" dirty="0"/>
          </a:p>
          <a:p>
            <a:pPr algn="just"/>
            <a:endParaRPr lang="en-US" altLang="zh-CN" sz="1200" dirty="0"/>
          </a:p>
          <a:p>
            <a:pPr algn="just"/>
            <a:endParaRPr lang="en-US" altLang="zh-CN" sz="1200" dirty="0"/>
          </a:p>
          <a:p>
            <a:pPr algn="just"/>
            <a:endParaRPr lang="en-US" altLang="zh-CN" sz="1200" dirty="0"/>
          </a:p>
          <a:p>
            <a:pPr algn="just"/>
            <a:r>
              <a:rPr lang="en-US" altLang="zh-CN" sz="1200" dirty="0"/>
              <a:t>   </a:t>
            </a:r>
          </a:p>
          <a:p>
            <a:pPr algn="just"/>
            <a:endParaRPr lang="en-US" altLang="zh-CN" sz="1200" dirty="0"/>
          </a:p>
          <a:p>
            <a:pPr algn="just"/>
            <a:endParaRPr lang="en-US" altLang="zh-CN" sz="1200" dirty="0"/>
          </a:p>
          <a:p>
            <a:pPr algn="just"/>
            <a:r>
              <a:rPr lang="en-US" altLang="zh-CN" sz="1200" dirty="0"/>
              <a:t>                                                                 Different material                              Different axial ratio</a:t>
            </a:r>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endParaRPr lang="en-US" altLang="zh-CN" sz="1200" dirty="0"/>
          </a:p>
          <a:p>
            <a:pPr algn="just"/>
            <a:endParaRPr lang="en-US" altLang="zh-CN" sz="1200" dirty="0"/>
          </a:p>
        </p:txBody>
      </p:sp>
      <p:pic>
        <p:nvPicPr>
          <p:cNvPr id="5" name="图片 4">
            <a:extLst>
              <a:ext uri="{FF2B5EF4-FFF2-40B4-BE49-F238E27FC236}">
                <a16:creationId xmlns:a16="http://schemas.microsoft.com/office/drawing/2014/main" id="{96CD889A-DBCA-4083-ADC8-9FE6F67257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56233" y="599765"/>
            <a:ext cx="2601882" cy="3321753"/>
          </a:xfrm>
          <a:prstGeom prst="rect">
            <a:avLst/>
          </a:prstGeom>
        </p:spPr>
      </p:pic>
      <p:pic>
        <p:nvPicPr>
          <p:cNvPr id="7" name="图片 6">
            <a:extLst>
              <a:ext uri="{FF2B5EF4-FFF2-40B4-BE49-F238E27FC236}">
                <a16:creationId xmlns:a16="http://schemas.microsoft.com/office/drawing/2014/main" id="{20B6CDF6-82BB-4409-8BE8-A51105C3524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55080" y="616771"/>
            <a:ext cx="2428154" cy="3287742"/>
          </a:xfrm>
          <a:prstGeom prst="rect">
            <a:avLst/>
          </a:prstGeom>
        </p:spPr>
      </p:pic>
    </p:spTree>
    <p:extLst>
      <p:ext uri="{BB962C8B-B14F-4D97-AF65-F5344CB8AC3E}">
        <p14:creationId xmlns:p14="http://schemas.microsoft.com/office/powerpoint/2010/main" val="34407779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89067" y="387038"/>
            <a:ext cx="8536214" cy="592470"/>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2  Conclusion </a:t>
            </a:r>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7035DCE-45D2-413E-AA3E-3BABDD24A09A}"/>
                  </a:ext>
                </a:extLst>
              </p:cNvPr>
              <p:cNvSpPr txBox="1"/>
              <p:nvPr/>
            </p:nvSpPr>
            <p:spPr>
              <a:xfrm>
                <a:off x="1254737" y="1362045"/>
                <a:ext cx="6800426" cy="2862322"/>
              </a:xfrm>
              <a:prstGeom prst="rect">
                <a:avLst/>
              </a:prstGeom>
              <a:noFill/>
            </p:spPr>
            <p:txBody>
              <a:bodyPr wrap="square" rtlCol="0">
                <a:spAutoFit/>
              </a:bodyPr>
              <a:lstStyle/>
              <a:p>
                <a:pPr marL="285750" indent="-285750" algn="just">
                  <a:buFont typeface="Wingdings" panose="05000000000000000000" pitchFamily="2" charset="2"/>
                  <a:buChar char="l"/>
                </a:pPr>
                <a:r>
                  <a:rPr lang="en-US" altLang="zh-CN" sz="1200" dirty="0"/>
                  <a:t>Removal of ions other than </a:t>
                </a:r>
                <a14:m>
                  <m:oMath xmlns:m="http://schemas.openxmlformats.org/officeDocument/2006/math">
                    <m:sSup>
                      <m:sSupPr>
                        <m:ctrlPr>
                          <a:rPr lang="en-US" altLang="zh-CN" sz="1200" i="1" smtClean="0">
                            <a:latin typeface="Cambria Math" panose="02040503050406030204" pitchFamily="18" charset="0"/>
                          </a:rPr>
                        </m:ctrlPr>
                      </m:sSupPr>
                      <m:e>
                        <m:r>
                          <a:rPr lang="en-US" altLang="zh-CN" sz="1200" b="0" i="1" smtClean="0">
                            <a:latin typeface="Cambria Math" panose="02040503050406030204" pitchFamily="18" charset="0"/>
                          </a:rPr>
                          <m:t>𝐿𝑖</m:t>
                        </m:r>
                      </m:e>
                      <m:sup>
                        <m:r>
                          <a:rPr lang="en-US" altLang="zh-CN" sz="1200" b="0" i="1" smtClean="0">
                            <a:latin typeface="Cambria Math" panose="02040503050406030204" pitchFamily="18" charset="0"/>
                          </a:rPr>
                          <m:t>+</m:t>
                        </m:r>
                      </m:sup>
                    </m:sSup>
                  </m:oMath>
                </a14:m>
                <a:r>
                  <a:rPr lang="en-US" altLang="zh-CN" sz="1200" dirty="0"/>
                  <a:t> from the interstitial space of the </a:t>
                </a:r>
                <a14:m>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m:t>
                        </m:r>
                        <m:r>
                          <a:rPr lang="en-US" altLang="zh-CN" sz="1200" b="0" i="1" smtClean="0">
                            <a:latin typeface="Cambria Math" panose="02040503050406030204" pitchFamily="18" charset="0"/>
                          </a:rPr>
                          <m:t>𝐵</m:t>
                        </m:r>
                      </m:e>
                      <m:sub>
                        <m:r>
                          <a:rPr lang="en-US" altLang="zh-CN" sz="1200" b="0" i="1" smtClean="0">
                            <a:latin typeface="Cambria Math" panose="02040503050406030204" pitchFamily="18" charset="0"/>
                          </a:rPr>
                          <m:t>2</m:t>
                        </m:r>
                      </m:sub>
                    </m:sSub>
                    <m:r>
                      <a:rPr lang="en-US" altLang="zh-CN" sz="1200" b="0" i="1" smtClean="0">
                        <a:latin typeface="Cambria Math" panose="02040503050406030204" pitchFamily="18" charset="0"/>
                      </a:rPr>
                      <m:t>]</m:t>
                    </m:r>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𝑋</m:t>
                        </m:r>
                      </m:e>
                      <m:sub>
                        <m:r>
                          <a:rPr lang="en-US" altLang="zh-CN" sz="1200" b="0" i="1" smtClean="0">
                            <a:latin typeface="Cambria Math" panose="02040503050406030204" pitchFamily="18" charset="0"/>
                          </a:rPr>
                          <m:t>4</m:t>
                        </m:r>
                      </m:sub>
                    </m:sSub>
                    <m:r>
                      <a:rPr lang="en-US" altLang="zh-CN" sz="1200" b="0" i="1" smtClean="0">
                        <a:latin typeface="Cambria Math" panose="02040503050406030204" pitchFamily="18" charset="0"/>
                      </a:rPr>
                      <m:t> </m:t>
                    </m:r>
                  </m:oMath>
                </a14:m>
                <a:r>
                  <a:rPr lang="en-US" altLang="zh-CN" sz="1200" dirty="0"/>
                  <a:t>framework can only enhance the </a:t>
                </a:r>
                <a14:m>
                  <m:oMath xmlns:m="http://schemas.openxmlformats.org/officeDocument/2006/math">
                    <m:sSup>
                      <m:sSupPr>
                        <m:ctrlPr>
                          <a:rPr lang="en-US" altLang="zh-CN" sz="1200" i="1" smtClean="0">
                            <a:latin typeface="Cambria Math" panose="02040503050406030204" pitchFamily="18" charset="0"/>
                          </a:rPr>
                        </m:ctrlPr>
                      </m:sSupPr>
                      <m:e>
                        <m:r>
                          <a:rPr lang="en-US" altLang="zh-CN" sz="1200" b="0" i="1" smtClean="0">
                            <a:latin typeface="Cambria Math" panose="02040503050406030204" pitchFamily="18" charset="0"/>
                          </a:rPr>
                          <m:t>𝐿𝑖</m:t>
                        </m:r>
                      </m:e>
                      <m:sup>
                        <m:r>
                          <a:rPr lang="en-US" altLang="zh-CN" sz="1200" b="0" i="1" smtClean="0">
                            <a:latin typeface="Cambria Math" panose="02040503050406030204" pitchFamily="18" charset="0"/>
                          </a:rPr>
                          <m:t>+</m:t>
                        </m:r>
                      </m:sup>
                    </m:sSup>
                  </m:oMath>
                </a14:m>
                <a:r>
                  <a:rPr lang="en-US" altLang="zh-CN" sz="1200" dirty="0"/>
                  <a:t>-ion mobilities.</a:t>
                </a:r>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r>
                  <a:rPr lang="en-US" altLang="zh-CN" sz="1200" dirty="0"/>
                  <a:t>The coexistence of </a:t>
                </a:r>
                <a14:m>
                  <m:oMath xmlns:m="http://schemas.openxmlformats.org/officeDocument/2006/math">
                    <m:sSup>
                      <m:sSupPr>
                        <m:ctrlPr>
                          <a:rPr lang="en-US" altLang="zh-CN" sz="1200" i="1">
                            <a:latin typeface="Cambria Math" panose="02040503050406030204" pitchFamily="18" charset="0"/>
                          </a:rPr>
                        </m:ctrlPr>
                      </m:sSupPr>
                      <m:e>
                        <m:r>
                          <a:rPr lang="en-US" altLang="zh-CN" sz="1200" i="1">
                            <a:latin typeface="Cambria Math" panose="02040503050406030204" pitchFamily="18" charset="0"/>
                          </a:rPr>
                          <m:t>𝐿𝑖</m:t>
                        </m:r>
                      </m:e>
                      <m:sup>
                        <m:r>
                          <a:rPr lang="en-US" altLang="zh-CN" sz="1200" i="1">
                            <a:latin typeface="Cambria Math" panose="02040503050406030204" pitchFamily="18" charset="0"/>
                          </a:rPr>
                          <m:t>+</m:t>
                        </m:r>
                      </m:sup>
                    </m:sSup>
                    <m:r>
                      <a:rPr lang="en-US" altLang="zh-CN" sz="1200" i="1">
                        <a:latin typeface="Cambria Math" panose="02040503050406030204" pitchFamily="18" charset="0"/>
                      </a:rPr>
                      <m:t> </m:t>
                    </m:r>
                  </m:oMath>
                </a14:m>
                <a:r>
                  <a:rPr lang="en-US" altLang="zh-CN" sz="1200" dirty="0"/>
                  <a:t>-ions on 8a and 16c positions in </a:t>
                </a:r>
                <a14:m>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𝐿𝑖</m:t>
                        </m:r>
                      </m:e>
                      <m:sub>
                        <m:r>
                          <a:rPr lang="en-US" altLang="zh-CN" sz="1200" b="0" i="1" smtClean="0">
                            <a:latin typeface="Cambria Math" panose="02040503050406030204" pitchFamily="18" charset="0"/>
                          </a:rPr>
                          <m:t>1+</m:t>
                        </m:r>
                        <m:r>
                          <a:rPr lang="en-US" altLang="zh-CN" sz="1200" b="0" i="1" smtClean="0">
                            <a:latin typeface="Cambria Math" panose="02040503050406030204" pitchFamily="18" charset="0"/>
                          </a:rPr>
                          <m:t>𝑥</m:t>
                        </m:r>
                      </m:sub>
                    </m:sSub>
                  </m:oMath>
                </a14:m>
                <a:r>
                  <a:rPr lang="en-US" altLang="zh-CN" sz="1200" dirty="0"/>
                  <a:t>[</a:t>
                </a:r>
                <a14:m>
                  <m:oMath xmlns:m="http://schemas.openxmlformats.org/officeDocument/2006/math">
                    <m:sSub>
                      <m:sSubPr>
                        <m:ctrlPr>
                          <a:rPr lang="en-US" altLang="zh-CN" sz="1200" i="1" dirty="0" smtClean="0">
                            <a:latin typeface="Cambria Math" panose="02040503050406030204" pitchFamily="18" charset="0"/>
                          </a:rPr>
                        </m:ctrlPr>
                      </m:sSubPr>
                      <m:e>
                        <m:r>
                          <a:rPr lang="en-US" altLang="zh-CN" sz="1200" b="0" i="1" dirty="0" smtClean="0">
                            <a:latin typeface="Cambria Math" panose="02040503050406030204" pitchFamily="18" charset="0"/>
                          </a:rPr>
                          <m:t>𝑀𝑛</m:t>
                        </m:r>
                      </m:e>
                      <m:sub>
                        <m:r>
                          <a:rPr lang="en-US" altLang="zh-CN" sz="1200" b="0" i="1" dirty="0" smtClean="0">
                            <a:latin typeface="Cambria Math" panose="02040503050406030204" pitchFamily="18" charset="0"/>
                          </a:rPr>
                          <m:t>2</m:t>
                        </m:r>
                      </m:sub>
                    </m:sSub>
                  </m:oMath>
                </a14:m>
                <a:r>
                  <a:rPr lang="en-US" altLang="zh-CN" sz="1200" dirty="0"/>
                  <a:t>]</a:t>
                </a:r>
                <a14:m>
                  <m:oMath xmlns:m="http://schemas.openxmlformats.org/officeDocument/2006/math">
                    <m:sSub>
                      <m:sSubPr>
                        <m:ctrlPr>
                          <a:rPr lang="en-US" altLang="zh-CN" sz="1200" i="1" dirty="0">
                            <a:latin typeface="Cambria Math" panose="02040503050406030204" pitchFamily="18" charset="0"/>
                          </a:rPr>
                        </m:ctrlPr>
                      </m:sSubPr>
                      <m:e>
                        <m:r>
                          <a:rPr lang="en-US" altLang="zh-CN" sz="1200" b="0" i="1" dirty="0" smtClean="0">
                            <a:latin typeface="Cambria Math" panose="02040503050406030204" pitchFamily="18" charset="0"/>
                          </a:rPr>
                          <m:t>𝑂</m:t>
                        </m:r>
                      </m:e>
                      <m:sub>
                        <m:r>
                          <a:rPr lang="en-US" altLang="zh-CN" sz="1200" b="0" i="1" dirty="0" smtClean="0">
                            <a:latin typeface="Cambria Math" panose="02040503050406030204" pitchFamily="18" charset="0"/>
                          </a:rPr>
                          <m:t>4</m:t>
                        </m:r>
                      </m:sub>
                    </m:sSub>
                    <m:r>
                      <a:rPr lang="en-US" altLang="zh-CN" sz="1200" i="1" dirty="0">
                        <a:latin typeface="Cambria Math" panose="02040503050406030204" pitchFamily="18" charset="0"/>
                      </a:rPr>
                      <m:t> </m:t>
                    </m:r>
                  </m:oMath>
                </a14:m>
                <a:r>
                  <a:rPr lang="en-US" altLang="zh-CN" sz="1200" dirty="0"/>
                  <a:t>provides continuous diffusion pathways via site faces rather than site edges provided the enthalpy for a </a:t>
                </a:r>
                <a14:m>
                  <m:oMath xmlns:m="http://schemas.openxmlformats.org/officeDocument/2006/math">
                    <m:sSup>
                      <m:sSupPr>
                        <m:ctrlPr>
                          <a:rPr lang="en-US" altLang="zh-CN" sz="1200" i="1">
                            <a:latin typeface="Cambria Math" panose="02040503050406030204" pitchFamily="18" charset="0"/>
                          </a:rPr>
                        </m:ctrlPr>
                      </m:sSupPr>
                      <m:e>
                        <m:r>
                          <a:rPr lang="en-US" altLang="zh-CN" sz="1200" i="1">
                            <a:latin typeface="Cambria Math" panose="02040503050406030204" pitchFamily="18" charset="0"/>
                          </a:rPr>
                          <m:t>𝐿𝑖</m:t>
                        </m:r>
                      </m:e>
                      <m:sup>
                        <m:r>
                          <a:rPr lang="en-US" altLang="zh-CN" sz="1200" i="1">
                            <a:latin typeface="Cambria Math" panose="02040503050406030204" pitchFamily="18" charset="0"/>
                          </a:rPr>
                          <m:t>+</m:t>
                        </m:r>
                      </m:sup>
                    </m:sSup>
                    <m:r>
                      <a:rPr lang="en-US" altLang="zh-CN" sz="1200" i="1">
                        <a:latin typeface="Cambria Math" panose="02040503050406030204" pitchFamily="18" charset="0"/>
                      </a:rPr>
                      <m:t> </m:t>
                    </m:r>
                  </m:oMath>
                </a14:m>
                <a:r>
                  <a:rPr lang="en-US" altLang="zh-CN" sz="1200" dirty="0"/>
                  <a:t>-ion hop through a face is low enough for correlated motions of ion pairs: {</a:t>
                </a:r>
                <a14:m>
                  <m:oMath xmlns:m="http://schemas.openxmlformats.org/officeDocument/2006/math">
                    <m:sSup>
                      <m:sSupPr>
                        <m:ctrlPr>
                          <a:rPr lang="en-US" altLang="zh-CN" sz="1200" i="1">
                            <a:latin typeface="Cambria Math" panose="02040503050406030204" pitchFamily="18" charset="0"/>
                          </a:rPr>
                        </m:ctrlPr>
                      </m:sSupPr>
                      <m:e>
                        <m:r>
                          <a:rPr lang="en-US" altLang="zh-CN" sz="1200" i="1">
                            <a:latin typeface="Cambria Math" panose="02040503050406030204" pitchFamily="18" charset="0"/>
                          </a:rPr>
                          <m:t>𝐿𝑖</m:t>
                        </m:r>
                      </m:e>
                      <m:sup>
                        <m:r>
                          <a:rPr lang="en-US" altLang="zh-CN" sz="1200" i="1">
                            <a:latin typeface="Cambria Math" panose="02040503050406030204" pitchFamily="18" charset="0"/>
                          </a:rPr>
                          <m:t>+</m:t>
                        </m:r>
                      </m:sup>
                    </m:sSup>
                    <m:r>
                      <a:rPr lang="en-US" altLang="zh-CN" sz="1200" i="1">
                        <a:latin typeface="Cambria Math" panose="02040503050406030204" pitchFamily="18" charset="0"/>
                      </a:rPr>
                      <m:t> </m:t>
                    </m:r>
                  </m:oMath>
                </a14:m>
                <a:r>
                  <a:rPr lang="en-US" altLang="zh-CN" sz="1200" dirty="0"/>
                  <a:t>} </a:t>
                </a:r>
                <a14:m>
                  <m:oMath xmlns:m="http://schemas.openxmlformats.org/officeDocument/2006/math">
                    <m:sSup>
                      <m:sSupPr>
                        <m:ctrlPr>
                          <a:rPr lang="en-US" altLang="zh-CN" sz="1200" i="1">
                            <a:latin typeface="Cambria Math" panose="02040503050406030204" pitchFamily="18" charset="0"/>
                          </a:rPr>
                        </m:ctrlPr>
                      </m:sSupPr>
                      <m:e>
                        <m:r>
                          <a:rPr lang="en-US" altLang="zh-CN" sz="1200" i="1">
                            <a:latin typeface="Cambria Math" panose="02040503050406030204" pitchFamily="18" charset="0"/>
                          </a:rPr>
                          <m:t>𝐿𝑖</m:t>
                        </m:r>
                      </m:e>
                      <m:sup>
                        <m:r>
                          <a:rPr lang="en-US" altLang="zh-CN" sz="1200" i="1">
                            <a:latin typeface="Cambria Math" panose="02040503050406030204" pitchFamily="18" charset="0"/>
                          </a:rPr>
                          <m:t>+</m:t>
                        </m:r>
                      </m:sup>
                    </m:sSup>
                    <m:r>
                      <a:rPr lang="en-US" altLang="zh-CN" sz="1200" i="1">
                        <a:latin typeface="Cambria Math" panose="02040503050406030204" pitchFamily="18" charset="0"/>
                      </a:rPr>
                      <m:t> </m:t>
                    </m:r>
                  </m:oMath>
                </a14:m>
                <a:r>
                  <a:rPr lang="en-US" altLang="zh-CN" sz="1200" dirty="0"/>
                  <a:t>{ }     { } </a:t>
                </a:r>
                <a14:m>
                  <m:oMath xmlns:m="http://schemas.openxmlformats.org/officeDocument/2006/math">
                    <m:sSup>
                      <m:sSupPr>
                        <m:ctrlPr>
                          <a:rPr lang="en-US" altLang="zh-CN" sz="1200" i="1">
                            <a:latin typeface="Cambria Math" panose="02040503050406030204" pitchFamily="18" charset="0"/>
                          </a:rPr>
                        </m:ctrlPr>
                      </m:sSupPr>
                      <m:e>
                        <m:r>
                          <a:rPr lang="en-US" altLang="zh-CN" sz="1200" i="1">
                            <a:latin typeface="Cambria Math" panose="02040503050406030204" pitchFamily="18" charset="0"/>
                          </a:rPr>
                          <m:t>𝐿𝑖</m:t>
                        </m:r>
                      </m:e>
                      <m:sup>
                        <m:r>
                          <a:rPr lang="en-US" altLang="zh-CN" sz="1200" i="1">
                            <a:latin typeface="Cambria Math" panose="02040503050406030204" pitchFamily="18" charset="0"/>
                          </a:rPr>
                          <m:t>+</m:t>
                        </m:r>
                      </m:sup>
                    </m:sSup>
                    <m:r>
                      <m:rPr>
                        <m:nor/>
                      </m:rPr>
                      <a:rPr lang="en-US" altLang="zh-CN" sz="1200" dirty="0"/>
                      <m:t>{</m:t>
                    </m:r>
                    <m:sSup>
                      <m:sSupPr>
                        <m:ctrlPr>
                          <a:rPr lang="en-US" altLang="zh-CN" sz="1200" i="1">
                            <a:latin typeface="Cambria Math" panose="02040503050406030204" pitchFamily="18" charset="0"/>
                          </a:rPr>
                        </m:ctrlPr>
                      </m:sSupPr>
                      <m:e>
                        <m:r>
                          <a:rPr lang="en-US" altLang="zh-CN" sz="1200" i="1">
                            <a:latin typeface="Cambria Math" panose="02040503050406030204" pitchFamily="18" charset="0"/>
                          </a:rPr>
                          <m:t>𝐿𝑖</m:t>
                        </m:r>
                      </m:e>
                      <m:sup>
                        <m:r>
                          <a:rPr lang="en-US" altLang="zh-CN" sz="1200" i="1">
                            <a:latin typeface="Cambria Math" panose="02040503050406030204" pitchFamily="18" charset="0"/>
                          </a:rPr>
                          <m:t>+</m:t>
                        </m:r>
                      </m:sup>
                    </m:sSup>
                    <m:r>
                      <a:rPr lang="en-US" altLang="zh-CN" sz="1200" i="1">
                        <a:latin typeface="Cambria Math" panose="02040503050406030204" pitchFamily="18" charset="0"/>
                      </a:rPr>
                      <m:t> </m:t>
                    </m:r>
                    <m:r>
                      <m:rPr>
                        <m:nor/>
                      </m:rPr>
                      <a:rPr lang="en-US" altLang="zh-CN" sz="1200" dirty="0"/>
                      <m:t>}</m:t>
                    </m:r>
                  </m:oMath>
                </a14:m>
                <a:r>
                  <a:rPr lang="en-US" altLang="zh-CN" sz="1200" dirty="0"/>
                  <a:t>.The existence of these additional pathways should enhance the </a:t>
                </a:r>
                <a14:m>
                  <m:oMath xmlns:m="http://schemas.openxmlformats.org/officeDocument/2006/math">
                    <m:sSup>
                      <m:sSupPr>
                        <m:ctrlPr>
                          <a:rPr lang="en-US" altLang="zh-CN" sz="1200" i="1" smtClean="0">
                            <a:latin typeface="Cambria Math" panose="02040503050406030204" pitchFamily="18" charset="0"/>
                          </a:rPr>
                        </m:ctrlPr>
                      </m:sSupPr>
                      <m:e>
                        <m:r>
                          <a:rPr lang="en-US" altLang="zh-CN" sz="1200" i="1">
                            <a:latin typeface="Cambria Math" panose="02040503050406030204" pitchFamily="18" charset="0"/>
                          </a:rPr>
                          <m:t>𝐿𝑖</m:t>
                        </m:r>
                      </m:e>
                      <m:sup>
                        <m:r>
                          <a:rPr lang="en-US" altLang="zh-CN" sz="1200" i="1">
                            <a:latin typeface="Cambria Math" panose="02040503050406030204" pitchFamily="18" charset="0"/>
                          </a:rPr>
                          <m:t>+</m:t>
                        </m:r>
                      </m:sup>
                    </m:sSup>
                    <m:r>
                      <a:rPr lang="en-US" altLang="zh-CN" sz="1200" i="1">
                        <a:latin typeface="Cambria Math" panose="02040503050406030204" pitchFamily="18" charset="0"/>
                      </a:rPr>
                      <m:t> </m:t>
                    </m:r>
                  </m:oMath>
                </a14:m>
                <a:r>
                  <a:rPr lang="en-US" altLang="zh-CN" sz="1200" dirty="0"/>
                  <a:t>-ion mobility. Moreover, the concentration of mobile ions on 16c sites does not saturate as X      1. </a:t>
                </a:r>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r>
                  <a:rPr lang="en-US" altLang="zh-CN" sz="1200" dirty="0"/>
                  <a:t>In the cubic phase, a dynamic Jahn-Teller distortion should provide an effective polarizability of the "bottleneck" sites, thus enhancing the </a:t>
                </a:r>
                <a14:m>
                  <m:oMath xmlns:m="http://schemas.openxmlformats.org/officeDocument/2006/math">
                    <m:sSup>
                      <m:sSupPr>
                        <m:ctrlPr>
                          <a:rPr lang="en-US" altLang="zh-CN" sz="1200" i="1">
                            <a:latin typeface="Cambria Math" panose="02040503050406030204" pitchFamily="18" charset="0"/>
                          </a:rPr>
                        </m:ctrlPr>
                      </m:sSupPr>
                      <m:e>
                        <m:r>
                          <a:rPr lang="en-US" altLang="zh-CN" sz="1200" i="1">
                            <a:latin typeface="Cambria Math" panose="02040503050406030204" pitchFamily="18" charset="0"/>
                          </a:rPr>
                          <m:t>𝐿𝑖</m:t>
                        </m:r>
                      </m:e>
                      <m:sup>
                        <m:r>
                          <a:rPr lang="en-US" altLang="zh-CN" sz="1200" i="1">
                            <a:latin typeface="Cambria Math" panose="02040503050406030204" pitchFamily="18" charset="0"/>
                          </a:rPr>
                          <m:t>+</m:t>
                        </m:r>
                      </m:sup>
                    </m:sSup>
                    <m:r>
                      <a:rPr lang="en-US" altLang="zh-CN" sz="1200" i="1">
                        <a:latin typeface="Cambria Math" panose="02040503050406030204" pitchFamily="18" charset="0"/>
                      </a:rPr>
                      <m:t> </m:t>
                    </m:r>
                  </m:oMath>
                </a14:m>
                <a:r>
                  <a:rPr lang="en-US" altLang="zh-CN" sz="1200" dirty="0"/>
                  <a:t>-ion mobility.</a:t>
                </a:r>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endParaRPr lang="en-US" altLang="zh-CN" sz="1200" dirty="0"/>
              </a:p>
            </p:txBody>
          </p:sp>
        </mc:Choice>
        <mc:Fallback xmlns="">
          <p:sp>
            <p:nvSpPr>
              <p:cNvPr id="4" name="文本框 3">
                <a:extLst>
                  <a:ext uri="{FF2B5EF4-FFF2-40B4-BE49-F238E27FC236}">
                    <a16:creationId xmlns:a16="http://schemas.microsoft.com/office/drawing/2014/main" id="{67035DCE-45D2-413E-AA3E-3BABDD24A09A}"/>
                  </a:ext>
                </a:extLst>
              </p:cNvPr>
              <p:cNvSpPr txBox="1">
                <a:spLocks noRot="1" noChangeAspect="1" noMove="1" noResize="1" noEditPoints="1" noAdjustHandles="1" noChangeArrowheads="1" noChangeShapeType="1" noTextEdit="1"/>
              </p:cNvSpPr>
              <p:nvPr/>
            </p:nvSpPr>
            <p:spPr>
              <a:xfrm>
                <a:off x="1254737" y="1362045"/>
                <a:ext cx="6800426" cy="2862322"/>
              </a:xfrm>
              <a:prstGeom prst="rect">
                <a:avLst/>
              </a:prstGeom>
              <a:blipFill>
                <a:blip r:embed="rId3"/>
                <a:stretch>
                  <a:fillRect/>
                </a:stretch>
              </a:blipFill>
            </p:spPr>
            <p:txBody>
              <a:bodyPr/>
              <a:lstStyle/>
              <a:p>
                <a:r>
                  <a:rPr lang="zh-CN" altLang="en-US">
                    <a:noFill/>
                  </a:rPr>
                  <a:t> </a:t>
                </a:r>
              </a:p>
            </p:txBody>
          </p:sp>
        </mc:Fallback>
      </mc:AlternateContent>
      <p:cxnSp>
        <p:nvCxnSpPr>
          <p:cNvPr id="11" name="直接箭头连接符 10">
            <a:extLst>
              <a:ext uri="{FF2B5EF4-FFF2-40B4-BE49-F238E27FC236}">
                <a16:creationId xmlns:a16="http://schemas.microsoft.com/office/drawing/2014/main" id="{DCC058C4-AB99-438D-B9D1-6A0242E35A36}"/>
              </a:ext>
            </a:extLst>
          </p:cNvPr>
          <p:cNvCxnSpPr>
            <a:cxnSpLocks/>
          </p:cNvCxnSpPr>
          <p:nvPr/>
        </p:nvCxnSpPr>
        <p:spPr>
          <a:xfrm>
            <a:off x="3288464" y="2959459"/>
            <a:ext cx="18573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F1666CF7-0C81-479D-BF58-1AECDFFC00E0}"/>
              </a:ext>
            </a:extLst>
          </p:cNvPr>
          <p:cNvCxnSpPr>
            <a:cxnSpLocks/>
          </p:cNvCxnSpPr>
          <p:nvPr/>
        </p:nvCxnSpPr>
        <p:spPr>
          <a:xfrm>
            <a:off x="3025357" y="2601667"/>
            <a:ext cx="18573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975829"/>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89067" y="387038"/>
            <a:ext cx="8536214" cy="592470"/>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2  Conclusion </a:t>
            </a:r>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7035DCE-45D2-413E-AA3E-3BABDD24A09A}"/>
                  </a:ext>
                </a:extLst>
              </p:cNvPr>
              <p:cNvSpPr txBox="1"/>
              <p:nvPr/>
            </p:nvSpPr>
            <p:spPr>
              <a:xfrm>
                <a:off x="1254737" y="1694587"/>
                <a:ext cx="6800426" cy="2677656"/>
              </a:xfrm>
              <a:prstGeom prst="rect">
                <a:avLst/>
              </a:prstGeom>
              <a:noFill/>
            </p:spPr>
            <p:txBody>
              <a:bodyPr wrap="square" rtlCol="0">
                <a:spAutoFit/>
              </a:bodyPr>
              <a:lstStyle/>
              <a:p>
                <a:pPr algn="just"/>
                <a:endParaRPr lang="en-US" altLang="zh-CN" sz="1200" dirty="0"/>
              </a:p>
              <a:p>
                <a:pPr marL="285750" indent="-285750" algn="just">
                  <a:buFont typeface="Wingdings" panose="05000000000000000000" pitchFamily="2" charset="2"/>
                  <a:buChar char="l"/>
                </a:pPr>
                <a:r>
                  <a:rPr lang="en-US" altLang="zh-CN" sz="1200" dirty="0"/>
                  <a:t>Lithium diffusion into a particle of </a:t>
                </a:r>
                <a14:m>
                  <m:oMath xmlns:m="http://schemas.openxmlformats.org/officeDocument/2006/math">
                    <m:sSub>
                      <m:sSubPr>
                        <m:ctrlPr>
                          <a:rPr lang="en-US" altLang="zh-CN" sz="1200" i="1" dirty="0">
                            <a:latin typeface="Cambria Math" panose="02040503050406030204" pitchFamily="18" charset="0"/>
                          </a:rPr>
                        </m:ctrlPr>
                      </m:sSubPr>
                      <m:e>
                        <m:r>
                          <a:rPr lang="en-US" altLang="zh-CN" sz="1200" b="0" i="1" dirty="0" smtClean="0">
                            <a:latin typeface="Cambria Math" panose="02040503050406030204" pitchFamily="18" charset="0"/>
                          </a:rPr>
                          <m:t>𝐿𝑖</m:t>
                        </m:r>
                        <m:r>
                          <a:rPr lang="en-US" altLang="zh-CN" sz="1200" i="1" dirty="0">
                            <a:latin typeface="Cambria Math" panose="02040503050406030204" pitchFamily="18" charset="0"/>
                          </a:rPr>
                          <m:t>𝑀𝑛</m:t>
                        </m:r>
                      </m:e>
                      <m:sub>
                        <m:r>
                          <a:rPr lang="en-US" altLang="zh-CN" sz="1200" i="1" dirty="0">
                            <a:latin typeface="Cambria Math" panose="02040503050406030204" pitchFamily="18" charset="0"/>
                          </a:rPr>
                          <m:t>2</m:t>
                        </m:r>
                      </m:sub>
                    </m:sSub>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𝑂</m:t>
                        </m:r>
                      </m:e>
                      <m:sub>
                        <m:r>
                          <a:rPr lang="en-US" altLang="zh-CN" sz="1200" i="1" dirty="0">
                            <a:latin typeface="Cambria Math" panose="02040503050406030204" pitchFamily="18" charset="0"/>
                          </a:rPr>
                          <m:t>4</m:t>
                        </m:r>
                      </m:sub>
                    </m:sSub>
                  </m:oMath>
                </a14:m>
                <a:r>
                  <a:rPr lang="en-US" altLang="zh-CN" sz="1200" dirty="0"/>
                  <a:t> is accompanied by a uniform, unidirectional movement of an interface between tetragonal and cubic phases. The two-phase interface contains no strain energy and, as in other martensitic transitions, should have a high mobility. The rate-limiting step should be the </a:t>
                </a:r>
                <a14:m>
                  <m:oMath xmlns:m="http://schemas.openxmlformats.org/officeDocument/2006/math">
                    <m:sSup>
                      <m:sSupPr>
                        <m:ctrlPr>
                          <a:rPr lang="en-US" altLang="zh-CN" sz="1200" i="1">
                            <a:latin typeface="Cambria Math" panose="02040503050406030204" pitchFamily="18" charset="0"/>
                          </a:rPr>
                        </m:ctrlPr>
                      </m:sSupPr>
                      <m:e>
                        <m:r>
                          <a:rPr lang="en-US" altLang="zh-CN" sz="1200" i="1">
                            <a:latin typeface="Cambria Math" panose="02040503050406030204" pitchFamily="18" charset="0"/>
                          </a:rPr>
                          <m:t>𝐿𝑖</m:t>
                        </m:r>
                      </m:e>
                      <m:sup>
                        <m:r>
                          <a:rPr lang="en-US" altLang="zh-CN" sz="1200" i="1">
                            <a:latin typeface="Cambria Math" panose="02040503050406030204" pitchFamily="18" charset="0"/>
                          </a:rPr>
                          <m:t>+</m:t>
                        </m:r>
                      </m:sup>
                    </m:sSup>
                    <m:r>
                      <a:rPr lang="en-US" altLang="zh-CN" sz="1200" i="1">
                        <a:latin typeface="Cambria Math" panose="02040503050406030204" pitchFamily="18" charset="0"/>
                      </a:rPr>
                      <m:t> </m:t>
                    </m:r>
                  </m:oMath>
                </a14:m>
                <a:r>
                  <a:rPr lang="en-US" altLang="zh-CN" sz="1200" dirty="0"/>
                  <a:t>-ion mobility In the tetragonal phase.</a:t>
                </a:r>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endParaRPr lang="en-US" altLang="zh-CN" sz="1200" dirty="0"/>
              </a:p>
              <a:p>
                <a:pPr marL="285750" indent="-285750" algn="just">
                  <a:buFont typeface="Wingdings" panose="05000000000000000000" pitchFamily="2" charset="2"/>
                  <a:buChar char="l"/>
                </a:pPr>
                <a:r>
                  <a:rPr lang="en-US" altLang="zh-CN" sz="1200" dirty="0"/>
                  <a:t>Electron mobility on the mixed-valence [</a:t>
                </a:r>
                <a14:m>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𝑀𝑛</m:t>
                        </m:r>
                      </m:e>
                      <m:sub>
                        <m:r>
                          <a:rPr lang="en-US" altLang="zh-CN" sz="1200" i="1" dirty="0">
                            <a:latin typeface="Cambria Math" panose="02040503050406030204" pitchFamily="18" charset="0"/>
                          </a:rPr>
                          <m:t>2</m:t>
                        </m:r>
                      </m:sub>
                    </m:sSub>
                  </m:oMath>
                </a14:m>
                <a:r>
                  <a:rPr lang="en-US" altLang="zh-CN" sz="1200" dirty="0"/>
                  <a:t>]</a:t>
                </a:r>
                <a14:m>
                  <m:oMath xmlns:m="http://schemas.openxmlformats.org/officeDocument/2006/math">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𝑂</m:t>
                        </m:r>
                      </m:e>
                      <m:sub>
                        <m:r>
                          <a:rPr lang="en-US" altLang="zh-CN" sz="1200" i="1" dirty="0">
                            <a:latin typeface="Cambria Math" panose="02040503050406030204" pitchFamily="18" charset="0"/>
                          </a:rPr>
                          <m:t>4</m:t>
                        </m:r>
                      </m:sub>
                    </m:sSub>
                    <m:r>
                      <a:rPr lang="en-US" altLang="zh-CN" sz="1200" i="1" dirty="0">
                        <a:latin typeface="Cambria Math" panose="02040503050406030204" pitchFamily="18" charset="0"/>
                      </a:rPr>
                      <m:t> </m:t>
                    </m:r>
                  </m:oMath>
                </a14:m>
                <a:r>
                  <a:rPr lang="en-US" altLang="zh-CN" sz="1200" dirty="0"/>
                  <a:t> framework prevents trapping of </a:t>
                </a:r>
                <a14:m>
                  <m:oMath xmlns:m="http://schemas.openxmlformats.org/officeDocument/2006/math">
                    <m:sSup>
                      <m:sSupPr>
                        <m:ctrlPr>
                          <a:rPr lang="en-US" altLang="zh-CN" sz="1200" i="1">
                            <a:latin typeface="Cambria Math" panose="02040503050406030204" pitchFamily="18" charset="0"/>
                          </a:rPr>
                        </m:ctrlPr>
                      </m:sSupPr>
                      <m:e>
                        <m:r>
                          <a:rPr lang="en-US" altLang="zh-CN" sz="1200" i="1">
                            <a:latin typeface="Cambria Math" panose="02040503050406030204" pitchFamily="18" charset="0"/>
                          </a:rPr>
                          <m:t>𝐿𝑖</m:t>
                        </m:r>
                      </m:e>
                      <m:sup>
                        <m:r>
                          <a:rPr lang="en-US" altLang="zh-CN" sz="1200" i="1">
                            <a:latin typeface="Cambria Math" panose="02040503050406030204" pitchFamily="18" charset="0"/>
                          </a:rPr>
                          <m:t>+</m:t>
                        </m:r>
                      </m:sup>
                    </m:sSup>
                  </m:oMath>
                </a14:m>
                <a:r>
                  <a:rPr lang="en-US" altLang="zh-CN" sz="1200" dirty="0"/>
                  <a:t> ions by immobile charge variations on the host framework. This factor tends to enhance </a:t>
                </a:r>
                <a14:m>
                  <m:oMath xmlns:m="http://schemas.openxmlformats.org/officeDocument/2006/math">
                    <m:sSup>
                      <m:sSupPr>
                        <m:ctrlPr>
                          <a:rPr lang="en-US" altLang="zh-CN" sz="1200" i="1">
                            <a:latin typeface="Cambria Math" panose="02040503050406030204" pitchFamily="18" charset="0"/>
                          </a:rPr>
                        </m:ctrlPr>
                      </m:sSupPr>
                      <m:e>
                        <m:r>
                          <a:rPr lang="en-US" altLang="zh-CN" sz="1200" i="1">
                            <a:latin typeface="Cambria Math" panose="02040503050406030204" pitchFamily="18" charset="0"/>
                          </a:rPr>
                          <m:t>𝐿𝑖</m:t>
                        </m:r>
                      </m:e>
                      <m:sup>
                        <m:r>
                          <a:rPr lang="en-US" altLang="zh-CN" sz="1200" i="1">
                            <a:latin typeface="Cambria Math" panose="02040503050406030204" pitchFamily="18" charset="0"/>
                          </a:rPr>
                          <m:t>+</m:t>
                        </m:r>
                      </m:sup>
                    </m:sSup>
                    <m:r>
                      <a:rPr lang="en-US" altLang="zh-CN" sz="1200" i="1">
                        <a:latin typeface="Cambria Math" panose="02040503050406030204" pitchFamily="18" charset="0"/>
                      </a:rPr>
                      <m:t> </m:t>
                    </m:r>
                  </m:oMath>
                </a14:m>
                <a:r>
                  <a:rPr lang="en-US" altLang="zh-CN" sz="1200" dirty="0"/>
                  <a:t>-ion mobilities in solid-solution electrodes as compared with solid electrolytes doped to provide </a:t>
                </a:r>
                <a14:m>
                  <m:oMath xmlns:m="http://schemas.openxmlformats.org/officeDocument/2006/math">
                    <m:sSup>
                      <m:sSupPr>
                        <m:ctrlPr>
                          <a:rPr lang="en-US" altLang="zh-CN" sz="1200" i="1">
                            <a:latin typeface="Cambria Math" panose="02040503050406030204" pitchFamily="18" charset="0"/>
                          </a:rPr>
                        </m:ctrlPr>
                      </m:sSupPr>
                      <m:e>
                        <m:r>
                          <a:rPr lang="en-US" altLang="zh-CN" sz="1200" i="1">
                            <a:latin typeface="Cambria Math" panose="02040503050406030204" pitchFamily="18" charset="0"/>
                          </a:rPr>
                          <m:t>𝐿𝑖</m:t>
                        </m:r>
                      </m:e>
                      <m:sup>
                        <m:r>
                          <a:rPr lang="en-US" altLang="zh-CN" sz="1200" i="1">
                            <a:latin typeface="Cambria Math" panose="02040503050406030204" pitchFamily="18" charset="0"/>
                          </a:rPr>
                          <m:t>+</m:t>
                        </m:r>
                      </m:sup>
                    </m:sSup>
                    <m:r>
                      <a:rPr lang="en-US" altLang="zh-CN" sz="1200" i="1">
                        <a:latin typeface="Cambria Math" panose="02040503050406030204" pitchFamily="18" charset="0"/>
                      </a:rPr>
                      <m:t> </m:t>
                    </m:r>
                  </m:oMath>
                </a14:m>
                <a:r>
                  <a:rPr lang="en-US" altLang="zh-CN" sz="1200" dirty="0"/>
                  <a:t>-ion vacancies on </a:t>
                </a:r>
                <a:r>
                  <a:rPr lang="en-US" altLang="zh-CN" sz="1200" dirty="0" err="1"/>
                  <a:t>crystallographically</a:t>
                </a:r>
                <a:r>
                  <a:rPr lang="en-US" altLang="zh-CN" sz="1200" dirty="0"/>
                  <a:t> equivalent sites.</a:t>
                </a:r>
              </a:p>
              <a:p>
                <a:pPr marL="285750" indent="-285750" algn="just">
                  <a:buFont typeface="Wingdings" panose="05000000000000000000" pitchFamily="2" charset="2"/>
                  <a:buChar char="l"/>
                </a:pPr>
                <a:endParaRPr lang="en-US" altLang="zh-CN" sz="1200" dirty="0"/>
              </a:p>
            </p:txBody>
          </p:sp>
        </mc:Choice>
        <mc:Fallback xmlns="">
          <p:sp>
            <p:nvSpPr>
              <p:cNvPr id="4" name="文本框 3">
                <a:extLst>
                  <a:ext uri="{FF2B5EF4-FFF2-40B4-BE49-F238E27FC236}">
                    <a16:creationId xmlns:a16="http://schemas.microsoft.com/office/drawing/2014/main" id="{67035DCE-45D2-413E-AA3E-3BABDD24A09A}"/>
                  </a:ext>
                </a:extLst>
              </p:cNvPr>
              <p:cNvSpPr txBox="1">
                <a:spLocks noRot="1" noChangeAspect="1" noMove="1" noResize="1" noEditPoints="1" noAdjustHandles="1" noChangeArrowheads="1" noChangeShapeType="1" noTextEdit="1"/>
              </p:cNvSpPr>
              <p:nvPr/>
            </p:nvSpPr>
            <p:spPr>
              <a:xfrm>
                <a:off x="1254737" y="1694587"/>
                <a:ext cx="6800426" cy="267765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85693089"/>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2761798" y="1089058"/>
            <a:ext cx="1500028" cy="1500028"/>
          </a:xfrm>
          <a:prstGeom prst="ellipse">
            <a:avLst/>
          </a:prstGeom>
          <a:solidFill>
            <a:srgbClr val="1B43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1655478" y="2671231"/>
            <a:ext cx="5833041" cy="807913"/>
          </a:xfrm>
          <a:prstGeom prst="rect">
            <a:avLst/>
          </a:prstGeom>
          <a:noFill/>
        </p:spPr>
        <p:txBody>
          <a:bodyPr wrap="square" lIns="68580" tIns="34290" rIns="68580" bIns="34290" rtlCol="0">
            <a:spAutoFit/>
          </a:bodyPr>
          <a:lstStyle/>
          <a:p>
            <a:pPr algn="ctr"/>
            <a:r>
              <a:rPr lang="en-US" altLang="zh-CN" b="1" dirty="0"/>
              <a:t>    </a:t>
            </a:r>
            <a:r>
              <a:rPr lang="en-US" altLang="zh-CN" sz="2400" b="1" dirty="0">
                <a:latin typeface="Calibri" panose="020F0502020204030204" pitchFamily="34" charset="0"/>
                <a:cs typeface="Calibri" panose="020F0502020204030204" pitchFamily="34" charset="0"/>
              </a:rPr>
              <a:t>Phospho-</a:t>
            </a:r>
            <a:r>
              <a:rPr lang="en-US" altLang="zh-CN" sz="2400" b="1" dirty="0" err="1">
                <a:latin typeface="Calibri" panose="020F0502020204030204" pitchFamily="34" charset="0"/>
                <a:cs typeface="Calibri" panose="020F0502020204030204" pitchFamily="34" charset="0"/>
              </a:rPr>
              <a:t>olivines</a:t>
            </a:r>
            <a:r>
              <a:rPr lang="en-US" altLang="zh-CN" sz="2400" b="1" dirty="0">
                <a:latin typeface="Calibri" panose="020F0502020204030204" pitchFamily="34" charset="0"/>
                <a:cs typeface="Calibri" panose="020F0502020204030204" pitchFamily="34" charset="0"/>
              </a:rPr>
              <a:t> as Positive-Electrode Materials for Rechargeable Lithium Batteries</a:t>
            </a:r>
            <a:endParaRPr lang="zh-CN" altLang="en-US" sz="4800" b="1" dirty="0">
              <a:solidFill>
                <a:srgbClr val="1B4367"/>
              </a:solidFill>
              <a:latin typeface="Calibri" panose="020F0502020204030204" pitchFamily="34" charset="0"/>
              <a:cs typeface="Calibri" panose="020F0502020204030204" pitchFamily="34" charset="0"/>
              <a:sym typeface="+mn-lt"/>
            </a:endParaRPr>
          </a:p>
        </p:txBody>
      </p:sp>
      <p:sp>
        <p:nvSpPr>
          <p:cNvPr id="95" name="文本框 11"/>
          <p:cNvSpPr txBox="1"/>
          <p:nvPr/>
        </p:nvSpPr>
        <p:spPr>
          <a:xfrm>
            <a:off x="2645365" y="1628830"/>
            <a:ext cx="1732894" cy="815736"/>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3</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p>
        </p:txBody>
      </p:sp>
      <p:sp>
        <p:nvSpPr>
          <p:cNvPr id="3" name="文本框 2">
            <a:extLst>
              <a:ext uri="{FF2B5EF4-FFF2-40B4-BE49-F238E27FC236}">
                <a16:creationId xmlns:a16="http://schemas.microsoft.com/office/drawing/2014/main" id="{24C7E343-0334-480E-84FB-1C2D8984F914}"/>
              </a:ext>
            </a:extLst>
          </p:cNvPr>
          <p:cNvSpPr txBox="1"/>
          <p:nvPr/>
        </p:nvSpPr>
        <p:spPr>
          <a:xfrm>
            <a:off x="3239034" y="3561289"/>
            <a:ext cx="5959139" cy="307777"/>
          </a:xfrm>
          <a:prstGeom prst="rect">
            <a:avLst/>
          </a:prstGeom>
          <a:noFill/>
        </p:spPr>
        <p:txBody>
          <a:bodyPr wrap="square" rtlCol="0">
            <a:spAutoFit/>
          </a:bodyPr>
          <a:lstStyle/>
          <a:p>
            <a:r>
              <a:rPr lang="en-US" altLang="zh-CN" dirty="0">
                <a:latin typeface="Calibri" panose="020F0502020204030204" pitchFamily="34" charset="0"/>
                <a:cs typeface="Calibri" panose="020F0502020204030204" pitchFamily="34" charset="0"/>
              </a:rPr>
              <a:t>——A. K. </a:t>
            </a:r>
            <a:r>
              <a:rPr lang="en-US" altLang="zh-CN" dirty="0" err="1">
                <a:latin typeface="Calibri" panose="020F0502020204030204" pitchFamily="34" charset="0"/>
                <a:cs typeface="Calibri" panose="020F0502020204030204" pitchFamily="34" charset="0"/>
              </a:rPr>
              <a:t>Padhi</a:t>
            </a:r>
            <a:r>
              <a:rPr lang="en-US" altLang="zh-CN" dirty="0">
                <a:latin typeface="Calibri" panose="020F0502020204030204" pitchFamily="34" charset="0"/>
                <a:cs typeface="Calibri" panose="020F0502020204030204" pitchFamily="34" charset="0"/>
              </a:rPr>
              <a:t>, K. 5. </a:t>
            </a:r>
            <a:r>
              <a:rPr lang="en-US" altLang="zh-CN" dirty="0" err="1">
                <a:latin typeface="Calibri" panose="020F0502020204030204" pitchFamily="34" charset="0"/>
                <a:cs typeface="Calibri" panose="020F0502020204030204" pitchFamily="34" charset="0"/>
              </a:rPr>
              <a:t>Nanjundaswamy</a:t>
            </a:r>
            <a:r>
              <a:rPr lang="en-US" altLang="zh-CN" dirty="0">
                <a:latin typeface="Calibri" panose="020F0502020204030204" pitchFamily="34" charset="0"/>
                <a:cs typeface="Calibri" panose="020F0502020204030204" pitchFamily="34" charset="0"/>
              </a:rPr>
              <a:t>, </a:t>
            </a:r>
            <a:r>
              <a:rPr lang="en-US" altLang="zh-CN" dirty="0" err="1">
                <a:latin typeface="Calibri" panose="020F0502020204030204" pitchFamily="34" charset="0"/>
                <a:cs typeface="Calibri" panose="020F0502020204030204" pitchFamily="34" charset="0"/>
              </a:rPr>
              <a:t>J.B.Goodenough</a:t>
            </a:r>
            <a:endParaRPr lang="zh-CN" altLang="en-US" dirty="0">
              <a:latin typeface="Calibri" panose="020F0502020204030204" pitchFamily="34" charset="0"/>
              <a:cs typeface="Calibri" panose="020F0502020204030204" pitchFamily="34" charset="0"/>
            </a:endParaRPr>
          </a:p>
        </p:txBody>
      </p:sp>
      <p:sp>
        <p:nvSpPr>
          <p:cNvPr id="4" name="矩形 3">
            <a:extLst>
              <a:ext uri="{FF2B5EF4-FFF2-40B4-BE49-F238E27FC236}">
                <a16:creationId xmlns:a16="http://schemas.microsoft.com/office/drawing/2014/main" id="{611A2673-DF2F-4562-B6CB-31C48D4E97F9}"/>
              </a:ext>
            </a:extLst>
          </p:cNvPr>
          <p:cNvSpPr/>
          <p:nvPr/>
        </p:nvSpPr>
        <p:spPr>
          <a:xfrm>
            <a:off x="4571999" y="1546684"/>
            <a:ext cx="1646605" cy="584775"/>
          </a:xfrm>
          <a:prstGeom prst="rect">
            <a:avLst/>
          </a:prstGeom>
        </p:spPr>
        <p:txBody>
          <a:bodyPr wrap="none">
            <a:spAutoFit/>
          </a:bodyPr>
          <a:lstStyle/>
          <a:p>
            <a:r>
              <a:rPr lang="zh-CN" altLang="en-US" sz="3200" dirty="0"/>
              <a:t>LiFePO</a:t>
            </a:r>
            <a:r>
              <a:rPr lang="zh-CN" altLang="en-US" dirty="0"/>
              <a:t>4</a:t>
            </a:r>
          </a:p>
        </p:txBody>
      </p:sp>
    </p:spTree>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89067" y="387038"/>
            <a:ext cx="8536214" cy="592470"/>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3  Development</a:t>
            </a:r>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p:sp>
        <p:nvSpPr>
          <p:cNvPr id="2" name="矩形 1">
            <a:extLst>
              <a:ext uri="{FF2B5EF4-FFF2-40B4-BE49-F238E27FC236}">
                <a16:creationId xmlns:a16="http://schemas.microsoft.com/office/drawing/2014/main" id="{1F54978A-4AC1-4841-A935-B6670DA305D3}"/>
              </a:ext>
            </a:extLst>
          </p:cNvPr>
          <p:cNvSpPr/>
          <p:nvPr/>
        </p:nvSpPr>
        <p:spPr>
          <a:xfrm>
            <a:off x="774478" y="1033654"/>
            <a:ext cx="4330160" cy="400110"/>
          </a:xfrm>
          <a:prstGeom prst="rect">
            <a:avLst/>
          </a:prstGeom>
        </p:spPr>
        <p:txBody>
          <a:bodyPr wrap="none">
            <a:spAutoFit/>
          </a:bodyPr>
          <a:lstStyle/>
          <a:p>
            <a:r>
              <a:rPr lang="en-US" altLang="zh-CN" sz="2000" dirty="0">
                <a:solidFill>
                  <a:srgbClr val="0070C0"/>
                </a:solidFill>
              </a:rPr>
              <a:t>What do people hope to identify?</a:t>
            </a:r>
            <a:endParaRPr lang="zh-CN" altLang="en-US" sz="2000" dirty="0">
              <a:solidFill>
                <a:srgbClr val="0070C0"/>
              </a:solidFill>
            </a:endParaRPr>
          </a:p>
        </p:txBody>
      </p:sp>
      <p:sp>
        <p:nvSpPr>
          <p:cNvPr id="8" name="文本框 7">
            <a:extLst>
              <a:ext uri="{FF2B5EF4-FFF2-40B4-BE49-F238E27FC236}">
                <a16:creationId xmlns:a16="http://schemas.microsoft.com/office/drawing/2014/main" id="{812F8179-5B07-4E6A-8B0C-5E8A07A4F1CD}"/>
              </a:ext>
            </a:extLst>
          </p:cNvPr>
          <p:cNvSpPr txBox="1"/>
          <p:nvPr/>
        </p:nvSpPr>
        <p:spPr>
          <a:xfrm>
            <a:off x="1254737" y="3246009"/>
            <a:ext cx="7107608" cy="15261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dirty="0"/>
              <a:t>A relatively flat open-circuit voltage over a large lithium solid solution within the voltage range of 2.5 &lt;</a:t>
            </a:r>
            <a:r>
              <a:rPr lang="en-US" altLang="zh-CN" sz="1600" i="1" dirty="0" err="1"/>
              <a:t>Voc</a:t>
            </a:r>
            <a:r>
              <a:rPr lang="en-US" altLang="zh-CN" sz="1600" dirty="0"/>
              <a:t>&lt; 4.0 V</a:t>
            </a:r>
          </a:p>
          <a:p>
            <a:pPr marL="285750" indent="-285750">
              <a:lnSpc>
                <a:spcPct val="150000"/>
              </a:lnSpc>
              <a:buFont typeface="Arial" panose="020B0604020202020204" pitchFamily="34" charset="0"/>
              <a:buChar char="•"/>
            </a:pPr>
            <a:r>
              <a:rPr lang="en-US" altLang="zh-CN" sz="1600" dirty="0"/>
              <a:t>Be inexpensive, easy to fabricate, environmentally benign</a:t>
            </a:r>
          </a:p>
          <a:p>
            <a:pPr marL="285750" indent="-285750">
              <a:lnSpc>
                <a:spcPct val="150000"/>
              </a:lnSpc>
              <a:buFont typeface="Arial" panose="020B0604020202020204" pitchFamily="34" charset="0"/>
              <a:buChar char="•"/>
            </a:pPr>
            <a:r>
              <a:rPr lang="en-US" altLang="zh-CN" sz="1600" dirty="0"/>
              <a:t>Be safe in handling and operation</a:t>
            </a:r>
            <a:endParaRPr lang="zh-CN" altLang="en-US" sz="1600" dirty="0"/>
          </a:p>
        </p:txBody>
      </p:sp>
      <p:sp>
        <p:nvSpPr>
          <p:cNvPr id="9" name="矩形 8">
            <a:extLst>
              <a:ext uri="{FF2B5EF4-FFF2-40B4-BE49-F238E27FC236}">
                <a16:creationId xmlns:a16="http://schemas.microsoft.com/office/drawing/2014/main" id="{6C78C8A8-8B6B-47E3-B9A8-EC6704BE3974}"/>
              </a:ext>
            </a:extLst>
          </p:cNvPr>
          <p:cNvSpPr/>
          <p:nvPr/>
        </p:nvSpPr>
        <p:spPr>
          <a:xfrm>
            <a:off x="774478" y="2834152"/>
            <a:ext cx="3983719" cy="400110"/>
          </a:xfrm>
          <a:prstGeom prst="rect">
            <a:avLst/>
          </a:prstGeom>
        </p:spPr>
        <p:txBody>
          <a:bodyPr wrap="none">
            <a:spAutoFit/>
          </a:bodyPr>
          <a:lstStyle/>
          <a:p>
            <a:r>
              <a:rPr lang="en-US" altLang="zh-CN" sz="2000" dirty="0">
                <a:solidFill>
                  <a:srgbClr val="0070C0"/>
                </a:solidFill>
              </a:rPr>
              <a:t>What the desired material like?</a:t>
            </a:r>
            <a:endParaRPr lang="zh-CN" altLang="en-US" sz="2000" dirty="0">
              <a:solidFill>
                <a:srgbClr val="0070C0"/>
              </a:solidFill>
            </a:endParaRPr>
          </a:p>
        </p:txBody>
      </p:sp>
      <p:sp>
        <p:nvSpPr>
          <p:cNvPr id="10" name="文本框 9">
            <a:extLst>
              <a:ext uri="{FF2B5EF4-FFF2-40B4-BE49-F238E27FC236}">
                <a16:creationId xmlns:a16="http://schemas.microsoft.com/office/drawing/2014/main" id="{4ABC44D6-0423-4F72-B705-D4FD98123F18}"/>
              </a:ext>
            </a:extLst>
          </p:cNvPr>
          <p:cNvSpPr txBox="1"/>
          <p:nvPr/>
        </p:nvSpPr>
        <p:spPr>
          <a:xfrm>
            <a:off x="1254737" y="1562465"/>
            <a:ext cx="6216617" cy="646331"/>
          </a:xfrm>
          <a:prstGeom prst="rect">
            <a:avLst/>
          </a:prstGeom>
          <a:noFill/>
        </p:spPr>
        <p:txBody>
          <a:bodyPr wrap="square" rtlCol="0">
            <a:spAutoFit/>
          </a:bodyPr>
          <a:lstStyle/>
          <a:p>
            <a:r>
              <a:rPr lang="en-US" altLang="zh-CN" sz="1800" dirty="0"/>
              <a:t>Other lithium-insertion compounds that can be used as the </a:t>
            </a:r>
            <a:r>
              <a:rPr lang="en-US" altLang="zh-CN" sz="1800" dirty="0">
                <a:solidFill>
                  <a:srgbClr val="FF0000"/>
                </a:solidFill>
              </a:rPr>
              <a:t>cathode</a:t>
            </a:r>
            <a:r>
              <a:rPr lang="en-US" altLang="zh-CN" sz="1800" dirty="0"/>
              <a:t> for a secondary lithium battery.</a:t>
            </a:r>
            <a:endParaRPr lang="zh-CN" altLang="en-US" sz="1800" dirty="0"/>
          </a:p>
        </p:txBody>
      </p:sp>
    </p:spTree>
    <p:extLst>
      <p:ext uri="{BB962C8B-B14F-4D97-AF65-F5344CB8AC3E}">
        <p14:creationId xmlns:p14="http://schemas.microsoft.com/office/powerpoint/2010/main" val="4172605112"/>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89066" y="425949"/>
            <a:ext cx="8536214" cy="592470"/>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1  Development</a:t>
            </a:r>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p:sp>
        <p:nvSpPr>
          <p:cNvPr id="39" name="文本框 38">
            <a:extLst>
              <a:ext uri="{FF2B5EF4-FFF2-40B4-BE49-F238E27FC236}">
                <a16:creationId xmlns:a16="http://schemas.microsoft.com/office/drawing/2014/main" id="{73D8B608-24AB-4C7D-A8C2-14082123204F}"/>
              </a:ext>
            </a:extLst>
          </p:cNvPr>
          <p:cNvSpPr txBox="1"/>
          <p:nvPr/>
        </p:nvSpPr>
        <p:spPr>
          <a:xfrm>
            <a:off x="689067" y="986664"/>
            <a:ext cx="7897706" cy="307777"/>
          </a:xfrm>
          <a:prstGeom prst="rect">
            <a:avLst/>
          </a:prstGeom>
          <a:noFill/>
        </p:spPr>
        <p:txBody>
          <a:bodyPr wrap="square" rtlCol="0">
            <a:spAutoFit/>
          </a:bodyPr>
          <a:lstStyle/>
          <a:p>
            <a:pPr marL="285750" indent="-285750">
              <a:buFont typeface="Wingdings" panose="05000000000000000000" pitchFamily="2" charset="2"/>
              <a:buChar char="l"/>
            </a:pPr>
            <a:endParaRPr lang="en-US" altLang="zh-CN" dirty="0"/>
          </a:p>
        </p:txBody>
      </p:sp>
      <p:sp>
        <p:nvSpPr>
          <p:cNvPr id="2" name="矩形: 圆角 1">
            <a:extLst>
              <a:ext uri="{FF2B5EF4-FFF2-40B4-BE49-F238E27FC236}">
                <a16:creationId xmlns:a16="http://schemas.microsoft.com/office/drawing/2014/main" id="{9BB73494-789B-424E-A9D5-2109E787FE7D}"/>
              </a:ext>
            </a:extLst>
          </p:cNvPr>
          <p:cNvSpPr/>
          <p:nvPr/>
        </p:nvSpPr>
        <p:spPr>
          <a:xfrm>
            <a:off x="689066" y="2861478"/>
            <a:ext cx="8126751" cy="1908045"/>
          </a:xfrm>
          <a:prstGeom prst="roundRect">
            <a:avLst/>
          </a:prstGeom>
          <a:noFill/>
          <a:ln w="50800">
            <a:solidFill>
              <a:srgbClr val="FF0000">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68EB4BD9-BA2B-4417-AEEF-31B2BB50744E}"/>
              </a:ext>
            </a:extLst>
          </p:cNvPr>
          <p:cNvSpPr txBox="1"/>
          <p:nvPr/>
        </p:nvSpPr>
        <p:spPr>
          <a:xfrm>
            <a:off x="774478" y="3279941"/>
            <a:ext cx="8225887" cy="1257267"/>
          </a:xfrm>
          <a:prstGeom prst="rect">
            <a:avLst/>
          </a:prstGeom>
          <a:noFill/>
        </p:spPr>
        <p:txBody>
          <a:bodyPr wrap="square" rtlCol="0">
            <a:spAutoFit/>
          </a:bodyPr>
          <a:lstStyle/>
          <a:p>
            <a:pPr marL="342900" indent="-342900">
              <a:lnSpc>
                <a:spcPct val="150000"/>
              </a:lnSpc>
              <a:buFont typeface="+mj-lt"/>
              <a:buAutoNum type="arabicPeriod"/>
            </a:pPr>
            <a:r>
              <a:rPr lang="en-US" altLang="zh-CN" sz="1300" dirty="0">
                <a:latin typeface="Yu Gothic UI" panose="020B0500000000000000" pitchFamily="34" charset="-128"/>
                <a:ea typeface="Yu Gothic UI" panose="020B0500000000000000" pitchFamily="34" charset="-128"/>
              </a:rPr>
              <a:t>The voltages in excess of 4.0 V on higher charge in these oxides can lead to </a:t>
            </a:r>
            <a:r>
              <a:rPr lang="en-US" altLang="zh-CN" sz="1300" u="sng" dirty="0">
                <a:latin typeface="Yu Gothic UI" panose="020B0500000000000000" pitchFamily="34" charset="-128"/>
                <a:ea typeface="Yu Gothic UI" panose="020B0500000000000000" pitchFamily="34" charset="-128"/>
              </a:rPr>
              <a:t>the decomposition of the electrolyte</a:t>
            </a:r>
          </a:p>
          <a:p>
            <a:pPr marL="342900" indent="-342900">
              <a:lnSpc>
                <a:spcPct val="150000"/>
              </a:lnSpc>
              <a:buFont typeface="+mj-lt"/>
              <a:buAutoNum type="arabicPeriod"/>
            </a:pPr>
            <a:r>
              <a:rPr lang="en-US" altLang="zh-CN" sz="1300" dirty="0">
                <a:latin typeface="Yu Gothic UI" panose="020B0500000000000000" pitchFamily="34" charset="-128"/>
                <a:ea typeface="Yu Gothic UI" panose="020B0500000000000000" pitchFamily="34" charset="-128"/>
              </a:rPr>
              <a:t>The fully charged compounds are metastable</a:t>
            </a:r>
          </a:p>
          <a:p>
            <a:pPr marL="342900" indent="-342900">
              <a:lnSpc>
                <a:spcPct val="150000"/>
              </a:lnSpc>
              <a:buFont typeface="+mj-lt"/>
              <a:buAutoNum type="arabicPeriod"/>
            </a:pPr>
            <a:r>
              <a:rPr lang="en-US" altLang="zh-CN" sz="1300" dirty="0">
                <a:latin typeface="Yu Gothic UI" panose="020B0500000000000000" pitchFamily="34" charset="-128"/>
                <a:ea typeface="Yu Gothic UI" panose="020B0500000000000000" pitchFamily="34" charset="-128"/>
              </a:rPr>
              <a:t>A lower lithium mobility within the [Mn</a:t>
            </a:r>
            <a:r>
              <a:rPr lang="en-US" altLang="zh-CN" sz="900" dirty="0">
                <a:latin typeface="Yu Gothic UI" panose="020B0500000000000000" pitchFamily="34" charset="-128"/>
                <a:ea typeface="Yu Gothic UI" panose="020B0500000000000000" pitchFamily="34" charset="-128"/>
              </a:rPr>
              <a:t>2</a:t>
            </a:r>
            <a:r>
              <a:rPr lang="en-US" altLang="zh-CN" sz="1300" dirty="0">
                <a:latin typeface="Yu Gothic UI" panose="020B0500000000000000" pitchFamily="34" charset="-128"/>
                <a:ea typeface="Yu Gothic UI" panose="020B0500000000000000" pitchFamily="34" charset="-128"/>
              </a:rPr>
              <a:t>]O</a:t>
            </a:r>
            <a:r>
              <a:rPr lang="en-US" altLang="zh-CN" sz="900" dirty="0">
                <a:latin typeface="Yu Gothic UI" panose="020B0500000000000000" pitchFamily="34" charset="-128"/>
                <a:ea typeface="Yu Gothic UI" panose="020B0500000000000000" pitchFamily="34" charset="-128"/>
              </a:rPr>
              <a:t>4 </a:t>
            </a:r>
            <a:r>
              <a:rPr lang="en-US" altLang="zh-CN" sz="1300" dirty="0">
                <a:latin typeface="Yu Gothic UI" panose="020B0500000000000000" pitchFamily="34" charset="-128"/>
                <a:ea typeface="Yu Gothic UI" panose="020B0500000000000000" pitchFamily="34" charset="-128"/>
              </a:rPr>
              <a:t>spinel framework limits its power capability </a:t>
            </a:r>
            <a:endParaRPr lang="zh-CN" altLang="en-US" sz="1300" dirty="0">
              <a:latin typeface="Yu Gothic UI" panose="020B0500000000000000" pitchFamily="34" charset="-128"/>
              <a:ea typeface="Yu Gothic UI" panose="020B0500000000000000" pitchFamily="34" charset="-128"/>
            </a:endParaRPr>
          </a:p>
        </p:txBody>
      </p:sp>
      <p:grpSp>
        <p:nvGrpSpPr>
          <p:cNvPr id="4" name="组合 3">
            <a:extLst>
              <a:ext uri="{FF2B5EF4-FFF2-40B4-BE49-F238E27FC236}">
                <a16:creationId xmlns:a16="http://schemas.microsoft.com/office/drawing/2014/main" id="{4D14F08B-BE42-4CB7-B698-43D66B08BF8C}"/>
              </a:ext>
            </a:extLst>
          </p:cNvPr>
          <p:cNvGrpSpPr/>
          <p:nvPr/>
        </p:nvGrpSpPr>
        <p:grpSpPr>
          <a:xfrm>
            <a:off x="918113" y="941041"/>
            <a:ext cx="7897705" cy="1435383"/>
            <a:chOff x="918113" y="1039656"/>
            <a:chExt cx="7897705" cy="1435383"/>
          </a:xfrm>
        </p:grpSpPr>
        <p:sp>
          <p:nvSpPr>
            <p:cNvPr id="9" name="文本框 8">
              <a:extLst>
                <a:ext uri="{FF2B5EF4-FFF2-40B4-BE49-F238E27FC236}">
                  <a16:creationId xmlns:a16="http://schemas.microsoft.com/office/drawing/2014/main" id="{8429C563-337B-47EE-B747-1F19D4EDC565}"/>
                </a:ext>
              </a:extLst>
            </p:cNvPr>
            <p:cNvSpPr txBox="1"/>
            <p:nvPr/>
          </p:nvSpPr>
          <p:spPr>
            <a:xfrm>
              <a:off x="918113" y="1364350"/>
              <a:ext cx="7897705" cy="1110689"/>
            </a:xfrm>
            <a:prstGeom prst="rect">
              <a:avLst/>
            </a:prstGeom>
            <a:noFill/>
          </p:spPr>
          <p:txBody>
            <a:bodyPr wrap="square" rtlCol="0">
              <a:spAutoFit/>
            </a:bodyPr>
            <a:lstStyle/>
            <a:p>
              <a:pPr>
                <a:lnSpc>
                  <a:spcPct val="150000"/>
                </a:lnSpc>
              </a:pPr>
              <a:r>
                <a:rPr lang="en-US" altLang="zh-CN" sz="1500" dirty="0"/>
                <a:t>Among the known Li-insertion compounds, the </a:t>
              </a:r>
              <a:r>
                <a:rPr lang="en-US" altLang="zh-CN" sz="1500" dirty="0">
                  <a:solidFill>
                    <a:srgbClr val="7030A0"/>
                  </a:solidFill>
                </a:rPr>
                <a:t>layered rock salt systems Li</a:t>
              </a:r>
              <a:r>
                <a:rPr lang="en-US" altLang="zh-CN" sz="900" dirty="0">
                  <a:solidFill>
                    <a:srgbClr val="7030A0"/>
                  </a:solidFill>
                </a:rPr>
                <a:t>1-x</a:t>
              </a:r>
              <a:r>
                <a:rPr lang="en-US" altLang="zh-CN" sz="1500" dirty="0">
                  <a:solidFill>
                    <a:srgbClr val="7030A0"/>
                  </a:solidFill>
                </a:rPr>
                <a:t>CoO</a:t>
              </a:r>
              <a:r>
                <a:rPr lang="en-US" altLang="zh-CN" sz="900" dirty="0">
                  <a:solidFill>
                    <a:srgbClr val="7030A0"/>
                  </a:solidFill>
                </a:rPr>
                <a:t>2</a:t>
              </a:r>
              <a:r>
                <a:rPr lang="en-US" altLang="zh-CN" sz="1500" dirty="0">
                  <a:solidFill>
                    <a:srgbClr val="7030A0"/>
                  </a:solidFill>
                </a:rPr>
                <a:t>, Li</a:t>
              </a:r>
              <a:r>
                <a:rPr lang="en-US" altLang="zh-CN" sz="900" dirty="0">
                  <a:solidFill>
                    <a:srgbClr val="7030A0"/>
                  </a:solidFill>
                </a:rPr>
                <a:t>1-x</a:t>
              </a:r>
              <a:r>
                <a:rPr lang="en-US" altLang="zh-CN" sz="1500" dirty="0">
                  <a:solidFill>
                    <a:srgbClr val="7030A0"/>
                  </a:solidFill>
                </a:rPr>
                <a:t>NiO</a:t>
              </a:r>
              <a:r>
                <a:rPr lang="en-US" altLang="zh-CN" sz="900" dirty="0">
                  <a:solidFill>
                    <a:srgbClr val="7030A0"/>
                  </a:solidFill>
                </a:rPr>
                <a:t>2</a:t>
              </a:r>
              <a:r>
                <a:rPr lang="en-US" altLang="zh-CN" sz="1500" dirty="0"/>
                <a:t>, and the </a:t>
              </a:r>
              <a:r>
                <a:rPr lang="en-US" altLang="zh-CN" sz="1500" dirty="0">
                  <a:solidFill>
                    <a:srgbClr val="7030A0"/>
                  </a:solidFill>
                </a:rPr>
                <a:t>manganese-spinel framework system Li</a:t>
              </a:r>
              <a:r>
                <a:rPr lang="en-US" altLang="zh-CN" sz="900" dirty="0">
                  <a:solidFill>
                    <a:srgbClr val="7030A0"/>
                  </a:solidFill>
                </a:rPr>
                <a:t>1-x</a:t>
              </a:r>
              <a:r>
                <a:rPr lang="en-US" altLang="zh-CN" sz="1500" dirty="0">
                  <a:solidFill>
                    <a:srgbClr val="7030A0"/>
                  </a:solidFill>
                </a:rPr>
                <a:t>[Mn</a:t>
              </a:r>
              <a:r>
                <a:rPr lang="en-US" altLang="zh-CN" sz="900" dirty="0">
                  <a:solidFill>
                    <a:srgbClr val="7030A0"/>
                  </a:solidFill>
                </a:rPr>
                <a:t>2</a:t>
              </a:r>
              <a:r>
                <a:rPr lang="en-US" altLang="zh-CN" sz="1500" dirty="0">
                  <a:solidFill>
                    <a:srgbClr val="7030A0"/>
                  </a:solidFill>
                </a:rPr>
                <a:t>] O</a:t>
              </a:r>
              <a:r>
                <a:rPr lang="en-US" altLang="zh-CN" sz="900" dirty="0">
                  <a:solidFill>
                    <a:srgbClr val="7030A0"/>
                  </a:solidFill>
                </a:rPr>
                <a:t>4</a:t>
              </a:r>
              <a:r>
                <a:rPr lang="en-US" altLang="zh-CN" sz="1500" dirty="0"/>
                <a:t>  are now used as 4.0V positive-electrode materials in rechargeable lithium batteries.</a:t>
              </a:r>
              <a:r>
                <a:rPr lang="en-US" altLang="zh-CN" sz="1600" dirty="0">
                  <a:solidFill>
                    <a:srgbClr val="FF0000"/>
                  </a:solidFill>
                </a:rPr>
                <a:t> </a:t>
              </a:r>
              <a:endParaRPr lang="zh-CN" altLang="en-US" sz="1500" dirty="0"/>
            </a:p>
          </p:txBody>
        </p:sp>
        <p:sp>
          <p:nvSpPr>
            <p:cNvPr id="13" name="矩形 12">
              <a:extLst>
                <a:ext uri="{FF2B5EF4-FFF2-40B4-BE49-F238E27FC236}">
                  <a16:creationId xmlns:a16="http://schemas.microsoft.com/office/drawing/2014/main" id="{C3D7AE71-21C6-47E2-939D-03D769CA1155}"/>
                </a:ext>
              </a:extLst>
            </p:cNvPr>
            <p:cNvSpPr/>
            <p:nvPr/>
          </p:nvSpPr>
          <p:spPr>
            <a:xfrm>
              <a:off x="926878" y="1039656"/>
              <a:ext cx="4190121" cy="400110"/>
            </a:xfrm>
            <a:prstGeom prst="rect">
              <a:avLst/>
            </a:prstGeom>
          </p:spPr>
          <p:txBody>
            <a:bodyPr wrap="none">
              <a:spAutoFit/>
            </a:bodyPr>
            <a:lstStyle/>
            <a:p>
              <a:r>
                <a:rPr lang="en-US" altLang="zh-CN" sz="2000" dirty="0">
                  <a:solidFill>
                    <a:srgbClr val="0070C0"/>
                  </a:solidFill>
                </a:rPr>
                <a:t>What is now commercially used?</a:t>
              </a:r>
              <a:endParaRPr lang="zh-CN" altLang="en-US" sz="2000" dirty="0">
                <a:solidFill>
                  <a:srgbClr val="0070C0"/>
                </a:solidFill>
              </a:endParaRPr>
            </a:p>
          </p:txBody>
        </p:sp>
      </p:grpSp>
      <p:sp>
        <p:nvSpPr>
          <p:cNvPr id="3" name="矩形 2">
            <a:extLst>
              <a:ext uri="{FF2B5EF4-FFF2-40B4-BE49-F238E27FC236}">
                <a16:creationId xmlns:a16="http://schemas.microsoft.com/office/drawing/2014/main" id="{4953E47D-7AB1-4542-B4D0-C6104B8262E7}"/>
              </a:ext>
            </a:extLst>
          </p:cNvPr>
          <p:cNvSpPr/>
          <p:nvPr/>
        </p:nvSpPr>
        <p:spPr>
          <a:xfrm rot="21003118">
            <a:off x="198863" y="2670116"/>
            <a:ext cx="2308993" cy="581057"/>
          </a:xfrm>
          <a:prstGeom prst="rect">
            <a:avLst/>
          </a:prstGeom>
          <a:gradFill>
            <a:gsLst>
              <a:gs pos="0">
                <a:schemeClr val="accent2">
                  <a:lumMod val="60000"/>
                  <a:lumOff val="40000"/>
                  <a:alpha val="98000"/>
                </a:schemeClr>
              </a:gs>
              <a:gs pos="100000">
                <a:schemeClr val="bg1"/>
              </a:gs>
              <a:gs pos="100000">
                <a:schemeClr val="accent1">
                  <a:lumMod val="45000"/>
                  <a:lumOff val="55000"/>
                </a:schemeClr>
              </a:gs>
              <a:gs pos="100000">
                <a:schemeClr val="bg1"/>
              </a:gs>
            </a:gsLst>
            <a:lin ang="5400000" scaled="1"/>
          </a:gradFill>
        </p:spPr>
        <p:txBody>
          <a:bodyPr wrap="square">
            <a:spAutoFit/>
          </a:bodyPr>
          <a:lstStyle/>
          <a:p>
            <a:pPr>
              <a:lnSpc>
                <a:spcPct val="150000"/>
              </a:lnSpc>
            </a:pPr>
            <a:r>
              <a:rPr lang="en-US" altLang="zh-CN" sz="2400" dirty="0">
                <a:solidFill>
                  <a:srgbClr val="FF0000"/>
                </a:solidFill>
              </a:rPr>
              <a:t>Disadvantages</a:t>
            </a:r>
            <a:endParaRPr lang="zh-CN" altLang="en-US" sz="2400"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39">
                                            <p:txEl>
                                              <p:pRg st="0" end="0"/>
                                            </p:txEl>
                                          </p:spTgt>
                                        </p:tgtEl>
                                        <p:attrNameLst>
                                          <p:attrName>style.visibility</p:attrName>
                                        </p:attrNameLst>
                                      </p:cBhvr>
                                      <p:to>
                                        <p:strVal val="visible"/>
                                      </p:to>
                                    </p:set>
                                    <p:animEffect transition="in" filter="fade">
                                      <p:cBhvr>
                                        <p:cTn id="7" dur="1000"/>
                                        <p:tgtEl>
                                          <p:spTgt spid="39">
                                            <p:txEl>
                                              <p:pRg st="0" end="0"/>
                                            </p:txEl>
                                          </p:spTgt>
                                        </p:tgtEl>
                                      </p:cBhvr>
                                    </p:animEffect>
                                    <p:anim calcmode="lin" valueType="num">
                                      <p:cBhvr>
                                        <p:cTn id="8" dur="1000" fill="hold"/>
                                        <p:tgtEl>
                                          <p:spTgt spid="3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89067" y="387038"/>
            <a:ext cx="8536214" cy="838691"/>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1 Development</a:t>
            </a:r>
          </a:p>
          <a:p>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p:sp>
        <p:nvSpPr>
          <p:cNvPr id="2" name="文本框 1">
            <a:extLst>
              <a:ext uri="{FF2B5EF4-FFF2-40B4-BE49-F238E27FC236}">
                <a16:creationId xmlns:a16="http://schemas.microsoft.com/office/drawing/2014/main" id="{83858360-AC33-49D0-A7B7-38C6DB1E5B69}"/>
              </a:ext>
            </a:extLst>
          </p:cNvPr>
          <p:cNvSpPr txBox="1"/>
          <p:nvPr/>
        </p:nvSpPr>
        <p:spPr>
          <a:xfrm>
            <a:off x="689067" y="842132"/>
            <a:ext cx="7370204" cy="787523"/>
          </a:xfrm>
          <a:prstGeom prst="rect">
            <a:avLst/>
          </a:prstGeom>
          <a:noFill/>
        </p:spPr>
        <p:txBody>
          <a:bodyPr wrap="square" rtlCol="0">
            <a:spAutoFit/>
          </a:bodyPr>
          <a:lstStyle/>
          <a:p>
            <a:pPr>
              <a:lnSpc>
                <a:spcPct val="150000"/>
              </a:lnSpc>
            </a:pPr>
            <a:r>
              <a:rPr lang="en-US" altLang="zh-CN" sz="1600" dirty="0">
                <a:solidFill>
                  <a:schemeClr val="tx1">
                    <a:lumMod val="95000"/>
                    <a:lumOff val="5000"/>
                  </a:schemeClr>
                </a:solidFill>
              </a:rPr>
              <a:t>In addition, </a:t>
            </a:r>
            <a:r>
              <a:rPr lang="en-US" altLang="zh-CN" sz="1600" dirty="0">
                <a:solidFill>
                  <a:srgbClr val="7030A0"/>
                </a:solidFill>
              </a:rPr>
              <a:t>the availability and cost </a:t>
            </a:r>
            <a:r>
              <a:rPr lang="en-US" altLang="zh-CN" sz="1600" dirty="0">
                <a:solidFill>
                  <a:schemeClr val="tx1">
                    <a:lumMod val="95000"/>
                    <a:lumOff val="5000"/>
                  </a:schemeClr>
                </a:solidFill>
              </a:rPr>
              <a:t>of the transition metals used in these compounds are </a:t>
            </a:r>
            <a:r>
              <a:rPr lang="en-US" altLang="zh-CN" sz="1600" dirty="0">
                <a:solidFill>
                  <a:srgbClr val="FF0000"/>
                </a:solidFill>
              </a:rPr>
              <a:t>unfavorable</a:t>
            </a:r>
            <a:r>
              <a:rPr lang="en-US" altLang="zh-CN" sz="1600" dirty="0">
                <a:solidFill>
                  <a:schemeClr val="tx1">
                    <a:lumMod val="95000"/>
                    <a:lumOff val="5000"/>
                  </a:schemeClr>
                </a:solidFill>
              </a:rPr>
              <a:t> </a:t>
            </a:r>
            <a:endParaRPr lang="zh-CN" altLang="en-US" sz="1600" dirty="0">
              <a:solidFill>
                <a:schemeClr val="tx1">
                  <a:lumMod val="95000"/>
                  <a:lumOff val="5000"/>
                </a:schemeClr>
              </a:solidFill>
            </a:endParaRPr>
          </a:p>
        </p:txBody>
      </p:sp>
      <p:sp>
        <p:nvSpPr>
          <p:cNvPr id="4" name="文本框 3">
            <a:extLst>
              <a:ext uri="{FF2B5EF4-FFF2-40B4-BE49-F238E27FC236}">
                <a16:creationId xmlns:a16="http://schemas.microsoft.com/office/drawing/2014/main" id="{DBF24520-5EA6-4D71-88A8-3A69D17E4DF1}"/>
              </a:ext>
            </a:extLst>
          </p:cNvPr>
          <p:cNvSpPr txBox="1"/>
          <p:nvPr/>
        </p:nvSpPr>
        <p:spPr>
          <a:xfrm>
            <a:off x="1460033" y="1853294"/>
            <a:ext cx="2484439" cy="890693"/>
          </a:xfrm>
          <a:prstGeom prst="rect">
            <a:avLst/>
          </a:prstGeom>
          <a:noFill/>
        </p:spPr>
        <p:txBody>
          <a:bodyPr wrap="square" rtlCol="0">
            <a:spAutoFit/>
          </a:bodyPr>
          <a:lstStyle/>
          <a:p>
            <a:pPr algn="just">
              <a:lnSpc>
                <a:spcPct val="150000"/>
              </a:lnSpc>
            </a:pPr>
            <a:r>
              <a:rPr lang="en-US" altLang="zh-CN" sz="1200" dirty="0"/>
              <a:t>In the case of </a:t>
            </a:r>
            <a:r>
              <a:rPr lang="en-US" altLang="zh-CN" sz="1200" i="1" dirty="0">
                <a:solidFill>
                  <a:srgbClr val="4287C6"/>
                </a:solidFill>
              </a:rPr>
              <a:t>large batteries</a:t>
            </a:r>
            <a:r>
              <a:rPr lang="en-US" altLang="zh-CN" sz="1200" dirty="0"/>
              <a:t> to be used in an electric vehicle or a load-leveling system</a:t>
            </a:r>
            <a:endParaRPr lang="zh-CN" altLang="en-US" sz="1200" dirty="0"/>
          </a:p>
        </p:txBody>
      </p:sp>
      <p:sp>
        <p:nvSpPr>
          <p:cNvPr id="3" name="矩形 2">
            <a:extLst>
              <a:ext uri="{FF2B5EF4-FFF2-40B4-BE49-F238E27FC236}">
                <a16:creationId xmlns:a16="http://schemas.microsoft.com/office/drawing/2014/main" id="{7FB05C00-6302-4B26-91E9-C3A9430CCE68}"/>
              </a:ext>
            </a:extLst>
          </p:cNvPr>
          <p:cNvSpPr/>
          <p:nvPr/>
        </p:nvSpPr>
        <p:spPr>
          <a:xfrm>
            <a:off x="4285129" y="2089686"/>
            <a:ext cx="2294218" cy="400110"/>
          </a:xfrm>
          <a:prstGeom prst="rect">
            <a:avLst/>
          </a:prstGeom>
          <a:gradFill>
            <a:gsLst>
              <a:gs pos="0">
                <a:schemeClr val="accent4">
                  <a:lumMod val="40000"/>
                  <a:lumOff val="60000"/>
                </a:schemeClr>
              </a:gs>
              <a:gs pos="100000">
                <a:schemeClr val="bg1"/>
              </a:gs>
              <a:gs pos="100000">
                <a:schemeClr val="accent1">
                  <a:lumMod val="45000"/>
                  <a:lumOff val="55000"/>
                </a:schemeClr>
              </a:gs>
              <a:gs pos="100000">
                <a:schemeClr val="bg1"/>
              </a:gs>
            </a:gsLst>
            <a:lin ang="5400000" scaled="1"/>
          </a:grad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altLang="zh-CN" sz="2000" b="1" spc="300" dirty="0" err="1">
                <a:ln/>
                <a:solidFill>
                  <a:schemeClr val="accent5">
                    <a:lumMod val="75000"/>
                  </a:schemeClr>
                </a:solidFill>
              </a:rPr>
              <a:t>Wh</a:t>
            </a:r>
            <a:r>
              <a:rPr lang="en-US" altLang="zh-CN" sz="2000" b="1" spc="300" dirty="0">
                <a:ln/>
                <a:solidFill>
                  <a:schemeClr val="accent5">
                    <a:lumMod val="75000"/>
                  </a:schemeClr>
                </a:solidFill>
              </a:rPr>
              <a:t>/$&gt;</a:t>
            </a:r>
            <a:r>
              <a:rPr lang="en-US" altLang="zh-CN" sz="2000" spc="300" dirty="0">
                <a:solidFill>
                  <a:schemeClr val="accent5">
                    <a:lumMod val="75000"/>
                  </a:schemeClr>
                </a:solidFill>
              </a:rPr>
              <a:t> </a:t>
            </a:r>
            <a:r>
              <a:rPr lang="en-US" altLang="zh-CN" sz="2000" b="1" spc="300" dirty="0" err="1">
                <a:ln/>
                <a:solidFill>
                  <a:schemeClr val="accent5">
                    <a:lumMod val="75000"/>
                  </a:schemeClr>
                </a:solidFill>
              </a:rPr>
              <a:t>Wh</a:t>
            </a:r>
            <a:r>
              <a:rPr lang="en-US" altLang="zh-CN" sz="2000" b="1" spc="300" dirty="0">
                <a:ln/>
                <a:solidFill>
                  <a:schemeClr val="accent5">
                    <a:lumMod val="75000"/>
                  </a:schemeClr>
                </a:solidFill>
              </a:rPr>
              <a:t>/g</a:t>
            </a:r>
            <a:endParaRPr lang="zh-CN" altLang="en-US" sz="2000" b="1" spc="300" dirty="0">
              <a:ln/>
              <a:solidFill>
                <a:schemeClr val="accent5">
                  <a:lumMod val="75000"/>
                </a:schemeClr>
              </a:solidFill>
            </a:endParaRPr>
          </a:p>
        </p:txBody>
      </p:sp>
      <p:grpSp>
        <p:nvGrpSpPr>
          <p:cNvPr id="5" name="组合 4">
            <a:extLst>
              <a:ext uri="{FF2B5EF4-FFF2-40B4-BE49-F238E27FC236}">
                <a16:creationId xmlns:a16="http://schemas.microsoft.com/office/drawing/2014/main" id="{C0CB6744-63C9-4EC1-BFD1-1BF468F09D7C}"/>
              </a:ext>
            </a:extLst>
          </p:cNvPr>
          <p:cNvGrpSpPr/>
          <p:nvPr/>
        </p:nvGrpSpPr>
        <p:grpSpPr>
          <a:xfrm>
            <a:off x="1815367" y="2840414"/>
            <a:ext cx="7606453" cy="1085233"/>
            <a:chOff x="1815367" y="2840414"/>
            <a:chExt cx="7606453" cy="1085233"/>
          </a:xfrm>
        </p:grpSpPr>
        <p:sp>
          <p:nvSpPr>
            <p:cNvPr id="8" name="文本框 7">
              <a:extLst>
                <a:ext uri="{FF2B5EF4-FFF2-40B4-BE49-F238E27FC236}">
                  <a16:creationId xmlns:a16="http://schemas.microsoft.com/office/drawing/2014/main" id="{D3546256-A433-44FD-9D8E-0B718E619C47}"/>
                </a:ext>
              </a:extLst>
            </p:cNvPr>
            <p:cNvSpPr txBox="1"/>
            <p:nvPr/>
          </p:nvSpPr>
          <p:spPr>
            <a:xfrm>
              <a:off x="1815367" y="3525537"/>
              <a:ext cx="7606453" cy="400110"/>
            </a:xfrm>
            <a:prstGeom prst="rect">
              <a:avLst/>
            </a:prstGeom>
            <a:noFill/>
          </p:spPr>
          <p:txBody>
            <a:bodyPr wrap="square" rtlCol="0">
              <a:spAutoFit/>
            </a:bodyPr>
            <a:lstStyle/>
            <a:p>
              <a:r>
                <a:rPr lang="en-US" altLang="zh-CN" sz="2000" i="1" dirty="0">
                  <a:solidFill>
                    <a:srgbClr val="7030A0"/>
                  </a:solidFill>
                  <a:latin typeface="3ds" panose="02000503020000020004" pitchFamily="2" charset="0"/>
                </a:rPr>
                <a:t>The investigations of iron-based oxides</a:t>
              </a:r>
              <a:endParaRPr lang="zh-CN" altLang="en-US" sz="2000" i="1" dirty="0">
                <a:solidFill>
                  <a:srgbClr val="7030A0"/>
                </a:solidFill>
                <a:latin typeface="3ds" panose="02000503020000020004" pitchFamily="2" charset="0"/>
              </a:endParaRPr>
            </a:p>
          </p:txBody>
        </p:sp>
        <p:sp>
          <p:nvSpPr>
            <p:cNvPr id="6" name="箭头: 下 5">
              <a:extLst>
                <a:ext uri="{FF2B5EF4-FFF2-40B4-BE49-F238E27FC236}">
                  <a16:creationId xmlns:a16="http://schemas.microsoft.com/office/drawing/2014/main" id="{1C33C04F-2CA8-4E95-B970-37E6D15D4C0F}"/>
                </a:ext>
              </a:extLst>
            </p:cNvPr>
            <p:cNvSpPr/>
            <p:nvPr/>
          </p:nvSpPr>
          <p:spPr>
            <a:xfrm>
              <a:off x="3890074" y="2840414"/>
              <a:ext cx="395055" cy="460229"/>
            </a:xfrm>
            <a:prstGeom prst="downArrow">
              <a:avLst/>
            </a:prstGeom>
            <a:solidFill>
              <a:schemeClr val="accent6">
                <a:lumMod val="60000"/>
                <a:lumOff val="40000"/>
                <a:alpha val="88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AC09D347-F582-431D-ACB8-409D2446C89E}"/>
                </a:ext>
              </a:extLst>
            </p:cNvPr>
            <p:cNvSpPr txBox="1"/>
            <p:nvPr/>
          </p:nvSpPr>
          <p:spPr>
            <a:xfrm>
              <a:off x="4374168" y="2914745"/>
              <a:ext cx="1794933" cy="307777"/>
            </a:xfrm>
            <a:prstGeom prst="rect">
              <a:avLst/>
            </a:prstGeom>
            <a:noFill/>
          </p:spPr>
          <p:txBody>
            <a:bodyPr wrap="square" rtlCol="0">
              <a:spAutoFit/>
            </a:bodyPr>
            <a:lstStyle/>
            <a:p>
              <a:r>
                <a:rPr lang="en-US" altLang="zh-CN" dirty="0"/>
                <a:t>Motivate</a:t>
              </a:r>
              <a:endParaRPr lang="zh-CN" altLang="en-US" dirty="0"/>
            </a:p>
          </p:txBody>
        </p:sp>
      </p:grpSp>
      <p:sp>
        <p:nvSpPr>
          <p:cNvPr id="14" name="文本框 13">
            <a:extLst>
              <a:ext uri="{FF2B5EF4-FFF2-40B4-BE49-F238E27FC236}">
                <a16:creationId xmlns:a16="http://schemas.microsoft.com/office/drawing/2014/main" id="{1709CE3A-9BAC-421F-A516-D07FAE7E59D5}"/>
              </a:ext>
            </a:extLst>
          </p:cNvPr>
          <p:cNvSpPr txBox="1"/>
          <p:nvPr/>
        </p:nvSpPr>
        <p:spPr>
          <a:xfrm>
            <a:off x="710560" y="3946655"/>
            <a:ext cx="7722879" cy="746743"/>
          </a:xfrm>
          <a:prstGeom prst="rect">
            <a:avLst/>
          </a:prstGeom>
          <a:noFill/>
        </p:spPr>
        <p:txBody>
          <a:bodyPr wrap="square" rtlCol="0">
            <a:spAutoFit/>
          </a:bodyPr>
          <a:lstStyle/>
          <a:p>
            <a:pPr>
              <a:lnSpc>
                <a:spcPct val="150000"/>
              </a:lnSpc>
            </a:pPr>
            <a:r>
              <a:rPr lang="en-US" altLang="zh-CN" sz="1600" dirty="0">
                <a:solidFill>
                  <a:schemeClr val="tx1">
                    <a:lumMod val="95000"/>
                    <a:lumOff val="5000"/>
                  </a:schemeClr>
                </a:solidFill>
              </a:rPr>
              <a:t>LiFePO</a:t>
            </a:r>
            <a:r>
              <a:rPr lang="en-US" altLang="zh-CN" sz="1000" dirty="0">
                <a:solidFill>
                  <a:schemeClr val="tx1">
                    <a:lumMod val="95000"/>
                    <a:lumOff val="5000"/>
                  </a:schemeClr>
                </a:solidFill>
              </a:rPr>
              <a:t>4 </a:t>
            </a:r>
            <a:r>
              <a:rPr lang="zh-CN" altLang="en-US" sz="1000" dirty="0">
                <a:solidFill>
                  <a:schemeClr val="tx1">
                    <a:lumMod val="95000"/>
                    <a:lumOff val="5000"/>
                  </a:schemeClr>
                </a:solidFill>
              </a:rPr>
              <a:t>：</a:t>
            </a:r>
            <a:r>
              <a:rPr lang="en-US" altLang="zh-CN" dirty="0">
                <a:solidFill>
                  <a:schemeClr val="tx1">
                    <a:lumMod val="95000"/>
                    <a:lumOff val="5000"/>
                  </a:schemeClr>
                </a:solidFill>
              </a:rPr>
              <a:t>Low price, good thermal stability, high theoretical capacity and good cycling performance, especially overcharge resistance</a:t>
            </a:r>
            <a:endParaRPr lang="zh-CN" altLang="en-US" dirty="0">
              <a:solidFill>
                <a:schemeClr val="tx1">
                  <a:lumMod val="95000"/>
                  <a:lumOff val="5000"/>
                </a:schemeClr>
              </a:solidFill>
            </a:endParaRPr>
          </a:p>
        </p:txBody>
      </p:sp>
    </p:spTree>
    <p:extLst>
      <p:ext uri="{BB962C8B-B14F-4D97-AF65-F5344CB8AC3E}">
        <p14:creationId xmlns:p14="http://schemas.microsoft.com/office/powerpoint/2010/main" val="116631500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1000"/>
                                        <p:tgtEl>
                                          <p:spTgt spid="14"/>
                                        </p:tgtEl>
                                      </p:cBhvr>
                                    </p:animEffect>
                                    <p:anim calcmode="lin" valueType="num">
                                      <p:cBhvr>
                                        <p:cTn id="33" dur="1000" fill="hold"/>
                                        <p:tgtEl>
                                          <p:spTgt spid="14"/>
                                        </p:tgtEl>
                                        <p:attrNameLst>
                                          <p:attrName>ppt_x</p:attrName>
                                        </p:attrNameLst>
                                      </p:cBhvr>
                                      <p:tavLst>
                                        <p:tav tm="0">
                                          <p:val>
                                            <p:strVal val="#ppt_x"/>
                                          </p:val>
                                        </p:tav>
                                        <p:tav tm="100000">
                                          <p:val>
                                            <p:strVal val="#ppt_x"/>
                                          </p:val>
                                        </p:tav>
                                      </p:tavLst>
                                    </p:anim>
                                    <p:anim calcmode="lin" valueType="num">
                                      <p:cBhvr>
                                        <p:cTn id="3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3" grpId="0" animBg="1"/>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89067" y="387038"/>
            <a:ext cx="8536214" cy="838691"/>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3  Electrochemical Studies</a:t>
            </a:r>
          </a:p>
          <a:p>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p:sp>
        <p:nvSpPr>
          <p:cNvPr id="2" name="文本框 1">
            <a:extLst>
              <a:ext uri="{FF2B5EF4-FFF2-40B4-BE49-F238E27FC236}">
                <a16:creationId xmlns:a16="http://schemas.microsoft.com/office/drawing/2014/main" id="{83858360-AC33-49D0-A7B7-38C6DB1E5B69}"/>
              </a:ext>
            </a:extLst>
          </p:cNvPr>
          <p:cNvSpPr txBox="1"/>
          <p:nvPr/>
        </p:nvSpPr>
        <p:spPr>
          <a:xfrm>
            <a:off x="5278572" y="1779752"/>
            <a:ext cx="3513913" cy="2639569"/>
          </a:xfrm>
          <a:prstGeom prst="rect">
            <a:avLst/>
          </a:prstGeom>
          <a:noFill/>
        </p:spPr>
        <p:txBody>
          <a:bodyPr wrap="square" rtlCol="0">
            <a:spAutoFit/>
          </a:bodyPr>
          <a:lstStyle/>
          <a:p>
            <a:pPr>
              <a:lnSpc>
                <a:spcPct val="150000"/>
              </a:lnSpc>
            </a:pPr>
            <a:r>
              <a:rPr lang="en-US" altLang="zh-CN" dirty="0">
                <a:solidFill>
                  <a:schemeClr val="tx1">
                    <a:lumMod val="95000"/>
                    <a:lumOff val="5000"/>
                  </a:schemeClr>
                </a:solidFill>
              </a:rPr>
              <a:t>With Li in the continuous chain of edge-shared octahedra on alternate a-c planes</a:t>
            </a:r>
            <a:r>
              <a:rPr lang="en-US" altLang="zh-CN" dirty="0">
                <a:solidFill>
                  <a:srgbClr val="2980B4"/>
                </a:solidFill>
              </a:rPr>
              <a:t>, a reversible extraction/ insertion of lithium from/into these chains would appear </a:t>
            </a:r>
            <a:r>
              <a:rPr lang="en-US" altLang="zh-CN" dirty="0">
                <a:solidFill>
                  <a:schemeClr val="tx1">
                    <a:lumMod val="95000"/>
                    <a:lumOff val="5000"/>
                  </a:schemeClr>
                </a:solidFill>
              </a:rPr>
              <a:t>to be analogous to the two-dimensional extraction or insertion of lithium in the LiMO2 layered oxides with M = Co or Ni. </a:t>
            </a:r>
            <a:endParaRPr lang="zh-CN" altLang="en-US" dirty="0">
              <a:solidFill>
                <a:schemeClr val="tx1">
                  <a:lumMod val="95000"/>
                  <a:lumOff val="5000"/>
                </a:schemeClr>
              </a:solidFill>
            </a:endParaRPr>
          </a:p>
        </p:txBody>
      </p:sp>
      <p:sp>
        <p:nvSpPr>
          <p:cNvPr id="8" name="文本框 7">
            <a:extLst>
              <a:ext uri="{FF2B5EF4-FFF2-40B4-BE49-F238E27FC236}">
                <a16:creationId xmlns:a16="http://schemas.microsoft.com/office/drawing/2014/main" id="{3EF124C6-48CC-4B8B-AA70-8E86A632E16B}"/>
              </a:ext>
            </a:extLst>
          </p:cNvPr>
          <p:cNvSpPr txBox="1"/>
          <p:nvPr/>
        </p:nvSpPr>
        <p:spPr>
          <a:xfrm>
            <a:off x="792243" y="4280692"/>
            <a:ext cx="3950358" cy="523220"/>
          </a:xfrm>
          <a:prstGeom prst="rect">
            <a:avLst/>
          </a:prstGeom>
          <a:noFill/>
        </p:spPr>
        <p:txBody>
          <a:bodyPr wrap="square" rtlCol="0">
            <a:spAutoFit/>
          </a:bodyPr>
          <a:lstStyle/>
          <a:p>
            <a:r>
              <a:rPr lang="en-US" altLang="zh-CN" dirty="0"/>
              <a:t>Figure 1   the crystal structure of olivine</a:t>
            </a:r>
          </a:p>
          <a:p>
            <a:r>
              <a:rPr lang="en-US" altLang="zh-CN" dirty="0"/>
              <a:t>(a) ideal hcp model   (b) the actual structure</a:t>
            </a:r>
            <a:endParaRPr lang="zh-CN" altLang="en-US" dirty="0"/>
          </a:p>
        </p:txBody>
      </p:sp>
      <p:pic>
        <p:nvPicPr>
          <p:cNvPr id="10" name="图片 9" descr="еее &#10;М1 &#10;м2 &#10;М1 &#10;м: &#10;М1 &#10;М1 &#10;(а) &#10;М1 &#10;М1 ">
            <a:extLst>
              <a:ext uri="{FF2B5EF4-FFF2-40B4-BE49-F238E27FC236}">
                <a16:creationId xmlns:a16="http://schemas.microsoft.com/office/drawing/2014/main" id="{D32BC944-7251-4DFF-9E7F-BD79F48E07F5}"/>
              </a:ext>
            </a:extLst>
          </p:cNvPr>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9067" y="1168532"/>
            <a:ext cx="4156710" cy="3015615"/>
          </a:xfrm>
          <a:prstGeom prst="rect">
            <a:avLst/>
          </a:prstGeom>
          <a:noFill/>
          <a:ln>
            <a:noFill/>
          </a:ln>
        </p:spPr>
      </p:pic>
      <p:sp>
        <p:nvSpPr>
          <p:cNvPr id="11" name="文本框 10">
            <a:extLst>
              <a:ext uri="{FF2B5EF4-FFF2-40B4-BE49-F238E27FC236}">
                <a16:creationId xmlns:a16="http://schemas.microsoft.com/office/drawing/2014/main" id="{4953012D-46DF-496F-907D-3C2197C8896C}"/>
              </a:ext>
            </a:extLst>
          </p:cNvPr>
          <p:cNvSpPr txBox="1"/>
          <p:nvPr/>
        </p:nvSpPr>
        <p:spPr>
          <a:xfrm>
            <a:off x="1757605" y="812336"/>
            <a:ext cx="2984996" cy="307777"/>
          </a:xfrm>
          <a:prstGeom prst="rect">
            <a:avLst/>
          </a:prstGeom>
          <a:noFill/>
        </p:spPr>
        <p:txBody>
          <a:bodyPr wrap="square" rtlCol="0">
            <a:spAutoFit/>
          </a:bodyPr>
          <a:lstStyle/>
          <a:p>
            <a:r>
              <a:rPr lang="en-US" altLang="zh-CN" dirty="0"/>
              <a:t>NASICON framework</a:t>
            </a:r>
            <a:endParaRPr lang="zh-CN" altLang="en-US" dirty="0"/>
          </a:p>
        </p:txBody>
      </p:sp>
      <p:sp>
        <p:nvSpPr>
          <p:cNvPr id="3" name="矩形 2">
            <a:extLst>
              <a:ext uri="{FF2B5EF4-FFF2-40B4-BE49-F238E27FC236}">
                <a16:creationId xmlns:a16="http://schemas.microsoft.com/office/drawing/2014/main" id="{C184EADD-75DC-498D-BE9C-444B45E79D33}"/>
              </a:ext>
            </a:extLst>
          </p:cNvPr>
          <p:cNvSpPr/>
          <p:nvPr/>
        </p:nvSpPr>
        <p:spPr>
          <a:xfrm>
            <a:off x="5278572" y="724179"/>
            <a:ext cx="3716221" cy="888705"/>
          </a:xfrm>
          <a:prstGeom prst="rect">
            <a:avLst/>
          </a:prstGeom>
        </p:spPr>
        <p:txBody>
          <a:bodyPr wrap="square">
            <a:spAutoFit/>
          </a:bodyPr>
          <a:lstStyle/>
          <a:p>
            <a:pPr>
              <a:lnSpc>
                <a:spcPct val="150000"/>
              </a:lnSpc>
            </a:pPr>
            <a:r>
              <a:rPr lang="zh-CN" altLang="en-US" sz="1800" dirty="0">
                <a:latin typeface="Adobe Hebrew" panose="02040503050201020203" pitchFamily="18" charset="-79"/>
                <a:cs typeface="Adobe Hebrew" panose="02040503050201020203" pitchFamily="18" charset="-79"/>
              </a:rPr>
              <a:t>In the </a:t>
            </a:r>
            <a:r>
              <a:rPr lang="zh-CN" altLang="en-US" sz="1800" dirty="0">
                <a:solidFill>
                  <a:srgbClr val="FF0000"/>
                </a:solidFill>
                <a:latin typeface="Adobe Hebrew" panose="02040503050201020203" pitchFamily="18" charset="-79"/>
                <a:cs typeface="Adobe Hebrew" panose="02040503050201020203" pitchFamily="18" charset="-79"/>
              </a:rPr>
              <a:t>LiMPO4 </a:t>
            </a:r>
            <a:r>
              <a:rPr lang="zh-CN" altLang="en-US" sz="1800" dirty="0">
                <a:latin typeface="Adobe Hebrew" panose="02040503050201020203" pitchFamily="18" charset="-79"/>
                <a:cs typeface="Adobe Hebrew" panose="02040503050201020203" pitchFamily="18" charset="-79"/>
              </a:rPr>
              <a:t>compounds</a:t>
            </a:r>
            <a:endParaRPr lang="en-US" altLang="zh-CN" sz="1800" dirty="0">
              <a:latin typeface="Adobe Hebrew" panose="02040503050201020203" pitchFamily="18" charset="-79"/>
              <a:cs typeface="Adobe Hebrew" panose="02040503050201020203" pitchFamily="18" charset="-79"/>
            </a:endParaRPr>
          </a:p>
          <a:p>
            <a:pPr>
              <a:lnSpc>
                <a:spcPct val="150000"/>
              </a:lnSpc>
            </a:pPr>
            <a:r>
              <a:rPr lang="zh-CN" altLang="en-US" sz="1800" dirty="0">
                <a:latin typeface="Adobe Hebrew" panose="02040503050201020203" pitchFamily="18" charset="-79"/>
                <a:cs typeface="Adobe Hebrew" panose="02040503050201020203" pitchFamily="18" charset="-79"/>
              </a:rPr>
              <a:t>(M = Mn, Fe, Co, or Ni)</a:t>
            </a:r>
          </a:p>
        </p:txBody>
      </p:sp>
    </p:spTree>
    <p:extLst>
      <p:ext uri="{BB962C8B-B14F-4D97-AF65-F5344CB8AC3E}">
        <p14:creationId xmlns:p14="http://schemas.microsoft.com/office/powerpoint/2010/main" val="2573209754"/>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89067" y="387038"/>
            <a:ext cx="8536214" cy="592470"/>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3  Conclusion and Discussion</a:t>
            </a:r>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p:sp>
        <p:nvSpPr>
          <p:cNvPr id="2" name="矩形 1">
            <a:extLst>
              <a:ext uri="{FF2B5EF4-FFF2-40B4-BE49-F238E27FC236}">
                <a16:creationId xmlns:a16="http://schemas.microsoft.com/office/drawing/2014/main" id="{39C2FCFB-192D-4C98-BA0C-72FA19EFF3F2}"/>
              </a:ext>
            </a:extLst>
          </p:cNvPr>
          <p:cNvSpPr/>
          <p:nvPr/>
        </p:nvSpPr>
        <p:spPr>
          <a:xfrm>
            <a:off x="5147161" y="605635"/>
            <a:ext cx="3497385" cy="3932230"/>
          </a:xfrm>
          <a:prstGeom prst="rect">
            <a:avLst/>
          </a:prstGeom>
        </p:spPr>
        <p:txBody>
          <a:bodyPr wrap="square">
            <a:spAutoFit/>
          </a:bodyPr>
          <a:lstStyle/>
          <a:p>
            <a:pPr marL="285750" indent="-285750">
              <a:lnSpc>
                <a:spcPct val="150000"/>
              </a:lnSpc>
              <a:buFont typeface="Wingdings" panose="05000000000000000000" pitchFamily="2" charset="2"/>
              <a:buChar char="ü"/>
            </a:pPr>
            <a:r>
              <a:rPr lang="en-US" altLang="zh-CN" dirty="0"/>
              <a:t>Approximately </a:t>
            </a:r>
            <a:r>
              <a:rPr lang="en-US" altLang="zh-CN" dirty="0">
                <a:solidFill>
                  <a:srgbClr val="2980B4"/>
                </a:solidFill>
              </a:rPr>
              <a:t>0.6 lithium atoms per formula unit can be extracted </a:t>
            </a:r>
            <a:r>
              <a:rPr lang="en-US" altLang="zh-CN" dirty="0"/>
              <a:t>at a closed-circuit voltage of 3.5 V vs. lithium and </a:t>
            </a:r>
            <a:r>
              <a:rPr lang="en-US" altLang="zh-CN" dirty="0">
                <a:solidFill>
                  <a:srgbClr val="2980B4"/>
                </a:solidFill>
              </a:rPr>
              <a:t>the same amount can be reversibly inserted back into the structure on discharge</a:t>
            </a:r>
            <a:r>
              <a:rPr lang="en-US" altLang="zh-CN" dirty="0"/>
              <a:t>. </a:t>
            </a:r>
          </a:p>
          <a:p>
            <a:pPr marL="285750" indent="-285750">
              <a:lnSpc>
                <a:spcPct val="150000"/>
              </a:lnSpc>
              <a:buFont typeface="Wingdings" panose="05000000000000000000" pitchFamily="2" charset="2"/>
              <a:buChar char="ü"/>
            </a:pPr>
            <a:r>
              <a:rPr lang="en-US" altLang="zh-CN" dirty="0"/>
              <a:t>The extraction and insertion of lithium ions into the structure of LiFePO</a:t>
            </a:r>
            <a:r>
              <a:rPr lang="en-US" altLang="zh-CN" sz="900" dirty="0"/>
              <a:t>4</a:t>
            </a:r>
            <a:r>
              <a:rPr lang="en-US" altLang="zh-CN" dirty="0"/>
              <a:t> is not only reversible on repeated cycling;</a:t>
            </a:r>
          </a:p>
          <a:p>
            <a:pPr marL="285750" indent="-285750">
              <a:lnSpc>
                <a:spcPct val="150000"/>
              </a:lnSpc>
              <a:buFont typeface="Wingdings" panose="05000000000000000000" pitchFamily="2" charset="2"/>
              <a:buChar char="ü"/>
            </a:pPr>
            <a:r>
              <a:rPr lang="en-US" altLang="zh-CN" dirty="0"/>
              <a:t>The capacity actually increases slightly with cycling. </a:t>
            </a:r>
            <a:endParaRPr lang="zh-CN" altLang="en-US" dirty="0"/>
          </a:p>
        </p:txBody>
      </p:sp>
      <p:pic>
        <p:nvPicPr>
          <p:cNvPr id="7" name="图片 6">
            <a:extLst>
              <a:ext uri="{FF2B5EF4-FFF2-40B4-BE49-F238E27FC236}">
                <a16:creationId xmlns:a16="http://schemas.microsoft.com/office/drawing/2014/main" id="{49F24BA6-34B4-4B39-8023-A9AC75EBF052}"/>
              </a:ext>
            </a:extLst>
          </p:cNvPr>
          <p:cNvPicPr/>
          <p:nvPr/>
        </p:nvPicPr>
        <p:blipFill>
          <a:blip r:embed="rId3">
            <a:clrChange>
              <a:clrFrom>
                <a:srgbClr val="FFFFFF"/>
              </a:clrFrom>
              <a:clrTo>
                <a:srgbClr val="FFFFFF">
                  <a:alpha val="0"/>
                </a:srgbClr>
              </a:clrTo>
            </a:clrChange>
          </a:blip>
          <a:stretch>
            <a:fillRect/>
          </a:stretch>
        </p:blipFill>
        <p:spPr>
          <a:xfrm>
            <a:off x="422516" y="979508"/>
            <a:ext cx="4458094" cy="3776954"/>
          </a:xfrm>
          <a:prstGeom prst="rect">
            <a:avLst/>
          </a:prstGeom>
        </p:spPr>
      </p:pic>
      <p:grpSp>
        <p:nvGrpSpPr>
          <p:cNvPr id="9" name="组合 8">
            <a:extLst>
              <a:ext uri="{FF2B5EF4-FFF2-40B4-BE49-F238E27FC236}">
                <a16:creationId xmlns:a16="http://schemas.microsoft.com/office/drawing/2014/main" id="{7B3426E3-9CE6-469B-A0B1-09B942D756D1}"/>
              </a:ext>
            </a:extLst>
          </p:cNvPr>
          <p:cNvGrpSpPr/>
          <p:nvPr/>
        </p:nvGrpSpPr>
        <p:grpSpPr>
          <a:xfrm>
            <a:off x="5147161" y="1754112"/>
            <a:ext cx="3903536" cy="1467325"/>
            <a:chOff x="5079772" y="868248"/>
            <a:chExt cx="3903536" cy="1467325"/>
          </a:xfrm>
        </p:grpSpPr>
        <p:sp>
          <p:nvSpPr>
            <p:cNvPr id="10" name="矩形 9">
              <a:extLst>
                <a:ext uri="{FF2B5EF4-FFF2-40B4-BE49-F238E27FC236}">
                  <a16:creationId xmlns:a16="http://schemas.microsoft.com/office/drawing/2014/main" id="{0F72A045-8C15-481C-8759-D8FE9392A239}"/>
                </a:ext>
              </a:extLst>
            </p:cNvPr>
            <p:cNvSpPr/>
            <p:nvPr/>
          </p:nvSpPr>
          <p:spPr>
            <a:xfrm>
              <a:off x="5147160" y="868248"/>
              <a:ext cx="3497385" cy="418191"/>
            </a:xfrm>
            <a:prstGeom prst="rect">
              <a:avLst/>
            </a:prstGeom>
          </p:spPr>
          <p:txBody>
            <a:bodyPr wrap="square">
              <a:spAutoFit/>
            </a:bodyPr>
            <a:lstStyle/>
            <a:p>
              <a:pPr>
                <a:lnSpc>
                  <a:spcPct val="150000"/>
                </a:lnSpc>
              </a:pPr>
              <a:r>
                <a:rPr lang="en-US" altLang="zh-CN" sz="1600" dirty="0"/>
                <a:t>A voltage that is independent of x</a:t>
              </a:r>
              <a:endParaRPr lang="zh-CN" altLang="en-US" sz="1600" dirty="0"/>
            </a:p>
          </p:txBody>
        </p:sp>
        <p:sp>
          <p:nvSpPr>
            <p:cNvPr id="11" name="矩形 10">
              <a:extLst>
                <a:ext uri="{FF2B5EF4-FFF2-40B4-BE49-F238E27FC236}">
                  <a16:creationId xmlns:a16="http://schemas.microsoft.com/office/drawing/2014/main" id="{06566BA6-68A0-4471-A3AD-74F4BA84AC08}"/>
                </a:ext>
              </a:extLst>
            </p:cNvPr>
            <p:cNvSpPr/>
            <p:nvPr/>
          </p:nvSpPr>
          <p:spPr>
            <a:xfrm>
              <a:off x="5079772" y="1634997"/>
              <a:ext cx="3903536" cy="700576"/>
            </a:xfrm>
            <a:prstGeom prst="rect">
              <a:avLst/>
            </a:prstGeom>
          </p:spPr>
          <p:txBody>
            <a:bodyPr wrap="square">
              <a:spAutoFit/>
            </a:bodyPr>
            <a:lstStyle/>
            <a:p>
              <a:pPr>
                <a:lnSpc>
                  <a:spcPct val="150000"/>
                </a:lnSpc>
              </a:pPr>
              <a:r>
                <a:rPr lang="en-US" altLang="zh-CN" dirty="0"/>
                <a:t>The extraction/insertion reactions proceed by the motion of </a:t>
              </a:r>
              <a:r>
                <a:rPr lang="en-US" altLang="zh-CN" dirty="0">
                  <a:solidFill>
                    <a:srgbClr val="4287C6"/>
                  </a:solidFill>
                </a:rPr>
                <a:t>a two-phase interface</a:t>
              </a:r>
              <a:r>
                <a:rPr lang="en-US" altLang="zh-CN" dirty="0"/>
                <a:t>. </a:t>
              </a:r>
              <a:endParaRPr lang="zh-CN" altLang="en-US" dirty="0"/>
            </a:p>
          </p:txBody>
        </p:sp>
        <p:sp>
          <p:nvSpPr>
            <p:cNvPr id="12" name="箭头: 下 11">
              <a:extLst>
                <a:ext uri="{FF2B5EF4-FFF2-40B4-BE49-F238E27FC236}">
                  <a16:creationId xmlns:a16="http://schemas.microsoft.com/office/drawing/2014/main" id="{9E0AEC79-E0F8-4679-A87F-377A410A5AF4}"/>
                </a:ext>
              </a:extLst>
            </p:cNvPr>
            <p:cNvSpPr/>
            <p:nvPr/>
          </p:nvSpPr>
          <p:spPr>
            <a:xfrm>
              <a:off x="6859058" y="1336343"/>
              <a:ext cx="271377" cy="298654"/>
            </a:xfrm>
            <a:prstGeom prst="downArrow">
              <a:avLst/>
            </a:prstGeom>
            <a:solidFill>
              <a:schemeClr val="accent6">
                <a:lumMod val="60000"/>
                <a:lumOff val="40000"/>
                <a:alpha val="88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32172158"/>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2"/>
                                        </p:tgtEl>
                                      </p:cBhvr>
                                    </p:animEffect>
                                    <p:anim calcmode="lin" valueType="num">
                                      <p:cBhvr>
                                        <p:cTn id="7" dur="1000"/>
                                        <p:tgtEl>
                                          <p:spTgt spid="2"/>
                                        </p:tgtEl>
                                        <p:attrNameLst>
                                          <p:attrName>ppt_x</p:attrName>
                                        </p:attrNameLst>
                                      </p:cBhvr>
                                      <p:tavLst>
                                        <p:tav tm="0">
                                          <p:val>
                                            <p:strVal val="ppt_x"/>
                                          </p:val>
                                        </p:tav>
                                        <p:tav tm="100000">
                                          <p:val>
                                            <p:strVal val="ppt_x"/>
                                          </p:val>
                                        </p:tav>
                                      </p:tavLst>
                                    </p:anim>
                                    <p:anim calcmode="lin" valueType="num">
                                      <p:cBhvr>
                                        <p:cTn id="8" dur="1000"/>
                                        <p:tgtEl>
                                          <p:spTgt spid="2"/>
                                        </p:tgtEl>
                                        <p:attrNameLst>
                                          <p:attrName>ppt_y</p:attrName>
                                        </p:attrNameLst>
                                      </p:cBhvr>
                                      <p:tavLst>
                                        <p:tav tm="0">
                                          <p:val>
                                            <p:strVal val="ppt_y"/>
                                          </p:val>
                                        </p:tav>
                                        <p:tav tm="100000">
                                          <p:val>
                                            <p:strVal val="ppt_y+.1"/>
                                          </p:val>
                                        </p:tav>
                                      </p:tavLst>
                                    </p:anim>
                                    <p:set>
                                      <p:cBhvr>
                                        <p:cTn id="9" dur="1" fill="hold">
                                          <p:stCondLst>
                                            <p:cond delay="999"/>
                                          </p:stCondLst>
                                        </p:cTn>
                                        <p:tgtEl>
                                          <p:spTgt spid="2"/>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07786" y="371296"/>
            <a:ext cx="8536214" cy="592470"/>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3  Conclusion and Discussion</a:t>
            </a:r>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p:pic>
        <p:nvPicPr>
          <p:cNvPr id="9" name="图片 8">
            <a:extLst>
              <a:ext uri="{FF2B5EF4-FFF2-40B4-BE49-F238E27FC236}">
                <a16:creationId xmlns:a16="http://schemas.microsoft.com/office/drawing/2014/main" id="{46FC9403-52DF-4CB6-88BA-83701E50FFA4}"/>
              </a:ext>
            </a:extLst>
          </p:cNvPr>
          <p:cNvPicPr/>
          <p:nvPr/>
        </p:nvPicPr>
        <p:blipFill>
          <a:blip r:embed="rId3">
            <a:clrChange>
              <a:clrFrom>
                <a:srgbClr val="FFFFFF"/>
              </a:clrFrom>
              <a:clrTo>
                <a:srgbClr val="FFFFFF">
                  <a:alpha val="0"/>
                </a:srgbClr>
              </a:clrTo>
            </a:clrChange>
          </a:blip>
          <a:stretch>
            <a:fillRect/>
          </a:stretch>
        </p:blipFill>
        <p:spPr>
          <a:xfrm>
            <a:off x="258387" y="635842"/>
            <a:ext cx="3147286" cy="4448175"/>
          </a:xfrm>
          <a:prstGeom prst="rect">
            <a:avLst/>
          </a:prstGeom>
        </p:spPr>
      </p:pic>
      <p:pic>
        <p:nvPicPr>
          <p:cNvPr id="10" name="图片 9">
            <a:extLst>
              <a:ext uri="{FF2B5EF4-FFF2-40B4-BE49-F238E27FC236}">
                <a16:creationId xmlns:a16="http://schemas.microsoft.com/office/drawing/2014/main" id="{C50CF48E-895D-4C31-BDDD-E957A3683B61}"/>
              </a:ext>
            </a:extLst>
          </p:cNvPr>
          <p:cNvPicPr/>
          <p:nvPr/>
        </p:nvPicPr>
        <p:blipFill>
          <a:blip r:embed="rId4"/>
          <a:stretch>
            <a:fillRect/>
          </a:stretch>
        </p:blipFill>
        <p:spPr>
          <a:xfrm>
            <a:off x="5896946" y="657417"/>
            <a:ext cx="3147286" cy="4448173"/>
          </a:xfrm>
          <a:prstGeom prst="rect">
            <a:avLst/>
          </a:prstGeom>
        </p:spPr>
      </p:pic>
      <p:grpSp>
        <p:nvGrpSpPr>
          <p:cNvPr id="11" name="组合 10">
            <a:extLst>
              <a:ext uri="{FF2B5EF4-FFF2-40B4-BE49-F238E27FC236}">
                <a16:creationId xmlns:a16="http://schemas.microsoft.com/office/drawing/2014/main" id="{DDCB78CE-CC44-4E1B-8F3E-A15AC2C10E5B}"/>
              </a:ext>
            </a:extLst>
          </p:cNvPr>
          <p:cNvGrpSpPr/>
          <p:nvPr/>
        </p:nvGrpSpPr>
        <p:grpSpPr>
          <a:xfrm>
            <a:off x="3405673" y="776039"/>
            <a:ext cx="2405862" cy="1788165"/>
            <a:chOff x="3405673" y="776039"/>
            <a:chExt cx="2405862" cy="1788165"/>
          </a:xfrm>
        </p:grpSpPr>
        <p:sp>
          <p:nvSpPr>
            <p:cNvPr id="5" name="矩形 4">
              <a:extLst>
                <a:ext uri="{FF2B5EF4-FFF2-40B4-BE49-F238E27FC236}">
                  <a16:creationId xmlns:a16="http://schemas.microsoft.com/office/drawing/2014/main" id="{4FD11304-31AE-4084-B600-B5EE71A285D3}"/>
                </a:ext>
              </a:extLst>
            </p:cNvPr>
            <p:cNvSpPr/>
            <p:nvPr/>
          </p:nvSpPr>
          <p:spPr>
            <a:xfrm>
              <a:off x="4088831" y="869902"/>
              <a:ext cx="1708347" cy="1600438"/>
            </a:xfrm>
            <a:prstGeom prst="rect">
              <a:avLst/>
            </a:prstGeom>
          </p:spPr>
          <p:txBody>
            <a:bodyPr wrap="square">
              <a:spAutoFit/>
            </a:bodyPr>
            <a:lstStyle/>
            <a:p>
              <a:r>
                <a:rPr lang="en-US" altLang="zh-CN" dirty="0"/>
                <a:t>T</a:t>
              </a:r>
              <a:r>
                <a:rPr lang="zh-CN" altLang="en-US" dirty="0"/>
                <a:t>he emergence and growth of a second phase </a:t>
              </a:r>
              <a:r>
                <a:rPr lang="zh-CN" altLang="en-US" dirty="0">
                  <a:solidFill>
                    <a:srgbClr val="7030A0"/>
                  </a:solidFill>
                </a:rPr>
                <a:t>at the expense of LiFePO</a:t>
              </a:r>
              <a:r>
                <a:rPr lang="zh-CN" altLang="en-US" sz="800" dirty="0">
                  <a:solidFill>
                    <a:srgbClr val="7030A0"/>
                  </a:solidFill>
                </a:rPr>
                <a:t>4</a:t>
              </a:r>
              <a:r>
                <a:rPr lang="zh-CN" altLang="en-US" dirty="0">
                  <a:solidFill>
                    <a:srgbClr val="7030A0"/>
                  </a:solidFill>
                </a:rPr>
                <a:t> </a:t>
              </a:r>
              <a:r>
                <a:rPr lang="zh-CN" altLang="en-US" dirty="0"/>
                <a:t>as more and more lithium is extracted.</a:t>
              </a:r>
            </a:p>
          </p:txBody>
        </p:sp>
        <p:sp>
          <p:nvSpPr>
            <p:cNvPr id="6" name="标注: 左箭头 5">
              <a:extLst>
                <a:ext uri="{FF2B5EF4-FFF2-40B4-BE49-F238E27FC236}">
                  <a16:creationId xmlns:a16="http://schemas.microsoft.com/office/drawing/2014/main" id="{22C6BD4F-8558-4C00-8DAB-140595087076}"/>
                </a:ext>
              </a:extLst>
            </p:cNvPr>
            <p:cNvSpPr/>
            <p:nvPr/>
          </p:nvSpPr>
          <p:spPr>
            <a:xfrm>
              <a:off x="3405673" y="776039"/>
              <a:ext cx="2405862" cy="1788165"/>
            </a:xfrm>
            <a:prstGeom prst="leftArrowCallout">
              <a:avLst>
                <a:gd name="adj1" fmla="val 17356"/>
                <a:gd name="adj2" fmla="val 25000"/>
                <a:gd name="adj3" fmla="val 16719"/>
                <a:gd name="adj4" fmla="val 75763"/>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标注: 左箭头 13">
            <a:extLst>
              <a:ext uri="{FF2B5EF4-FFF2-40B4-BE49-F238E27FC236}">
                <a16:creationId xmlns:a16="http://schemas.microsoft.com/office/drawing/2014/main" id="{19F54341-D000-4001-AF4A-C92FEEB46A52}"/>
              </a:ext>
            </a:extLst>
          </p:cNvPr>
          <p:cNvSpPr/>
          <p:nvPr/>
        </p:nvSpPr>
        <p:spPr>
          <a:xfrm rot="10800000">
            <a:off x="3634029" y="3135979"/>
            <a:ext cx="2252923" cy="1470605"/>
          </a:xfrm>
          <a:prstGeom prst="leftArrowCallout">
            <a:avLst>
              <a:gd name="adj1" fmla="val 17356"/>
              <a:gd name="adj2" fmla="val 25000"/>
              <a:gd name="adj3" fmla="val 16719"/>
              <a:gd name="adj4" fmla="val 75763"/>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F1855C1A-BF64-4B06-B592-8ECA3EC3E0B2}"/>
              </a:ext>
            </a:extLst>
          </p:cNvPr>
          <p:cNvSpPr/>
          <p:nvPr/>
        </p:nvSpPr>
        <p:spPr>
          <a:xfrm>
            <a:off x="3634029" y="3286507"/>
            <a:ext cx="1760538" cy="1169551"/>
          </a:xfrm>
          <a:prstGeom prst="rect">
            <a:avLst/>
          </a:prstGeom>
        </p:spPr>
        <p:txBody>
          <a:bodyPr wrap="square">
            <a:spAutoFit/>
          </a:bodyPr>
          <a:lstStyle/>
          <a:p>
            <a:r>
              <a:rPr lang="en-US" altLang="zh-CN" dirty="0"/>
              <a:t>T</a:t>
            </a:r>
            <a:r>
              <a:rPr lang="zh-CN" altLang="en-US" dirty="0"/>
              <a:t>he emergence and growth of LiFePO</a:t>
            </a:r>
            <a:r>
              <a:rPr lang="zh-CN" altLang="en-US" sz="800" dirty="0"/>
              <a:t>4</a:t>
            </a:r>
            <a:r>
              <a:rPr lang="zh-CN" altLang="en-US" dirty="0"/>
              <a:t> </a:t>
            </a:r>
            <a:r>
              <a:rPr lang="zh-CN" altLang="en-US" dirty="0">
                <a:solidFill>
                  <a:srgbClr val="7030A0"/>
                </a:solidFill>
              </a:rPr>
              <a:t>at the expense of FePO</a:t>
            </a:r>
            <a:r>
              <a:rPr lang="zh-CN" altLang="en-US" sz="800" dirty="0">
                <a:solidFill>
                  <a:srgbClr val="7030A0"/>
                </a:solidFill>
              </a:rPr>
              <a:t>4</a:t>
            </a:r>
            <a:r>
              <a:rPr lang="zh-CN" altLang="en-US" dirty="0">
                <a:solidFill>
                  <a:srgbClr val="7030A0"/>
                </a:solidFill>
              </a:rPr>
              <a:t> </a:t>
            </a:r>
            <a:r>
              <a:rPr lang="zh-CN" altLang="en-US" dirty="0"/>
              <a:t>on more lithiation</a:t>
            </a:r>
          </a:p>
        </p:txBody>
      </p:sp>
    </p:spTree>
    <p:extLst>
      <p:ext uri="{BB962C8B-B14F-4D97-AF65-F5344CB8AC3E}">
        <p14:creationId xmlns:p14="http://schemas.microsoft.com/office/powerpoint/2010/main" val="103779057"/>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07786" y="371296"/>
            <a:ext cx="8536214" cy="592470"/>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3  Conclusion and Discussion</a:t>
            </a:r>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p:grpSp>
        <p:nvGrpSpPr>
          <p:cNvPr id="3" name="组合 2">
            <a:extLst>
              <a:ext uri="{FF2B5EF4-FFF2-40B4-BE49-F238E27FC236}">
                <a16:creationId xmlns:a16="http://schemas.microsoft.com/office/drawing/2014/main" id="{FB968B02-873B-4A25-8871-510EE9BFF016}"/>
              </a:ext>
            </a:extLst>
          </p:cNvPr>
          <p:cNvGrpSpPr/>
          <p:nvPr/>
        </p:nvGrpSpPr>
        <p:grpSpPr>
          <a:xfrm>
            <a:off x="1014607" y="709873"/>
            <a:ext cx="6675510" cy="1072801"/>
            <a:chOff x="654476" y="1013284"/>
            <a:chExt cx="6675510" cy="1072801"/>
          </a:xfrm>
        </p:grpSpPr>
        <p:pic>
          <p:nvPicPr>
            <p:cNvPr id="13" name="图片 12" descr="LiFeP04 &#10;- æLi+ - -9 xFeP04 + (1 - æ)LiFeP04 ">
              <a:extLst>
                <a:ext uri="{FF2B5EF4-FFF2-40B4-BE49-F238E27FC236}">
                  <a16:creationId xmlns:a16="http://schemas.microsoft.com/office/drawing/2014/main" id="{1A29CF63-519A-45EF-A6CC-5B79F1E3D156}"/>
                </a:ext>
              </a:extLst>
            </p:cNvPr>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52232" y="1046168"/>
              <a:ext cx="4477754" cy="440322"/>
            </a:xfrm>
            <a:prstGeom prst="rect">
              <a:avLst/>
            </a:prstGeom>
            <a:noFill/>
            <a:ln>
              <a:noFill/>
            </a:ln>
          </p:spPr>
        </p:pic>
        <p:grpSp>
          <p:nvGrpSpPr>
            <p:cNvPr id="2" name="组合 1">
              <a:extLst>
                <a:ext uri="{FF2B5EF4-FFF2-40B4-BE49-F238E27FC236}">
                  <a16:creationId xmlns:a16="http://schemas.microsoft.com/office/drawing/2014/main" id="{ACCA6F87-C4E4-4E91-B7FB-2BE2F2816A47}"/>
                </a:ext>
              </a:extLst>
            </p:cNvPr>
            <p:cNvGrpSpPr/>
            <p:nvPr/>
          </p:nvGrpSpPr>
          <p:grpSpPr>
            <a:xfrm>
              <a:off x="654476" y="1013284"/>
              <a:ext cx="6675510" cy="1072801"/>
              <a:chOff x="654476" y="1013284"/>
              <a:chExt cx="6675510" cy="1072801"/>
            </a:xfrm>
          </p:grpSpPr>
          <p:pic>
            <p:nvPicPr>
              <p:cNvPr id="15" name="图片 14" descr="FeP04 + xLi+ + xLiFeP04 + (1 - x)FeP04 ">
                <a:extLst>
                  <a:ext uri="{FF2B5EF4-FFF2-40B4-BE49-F238E27FC236}">
                    <a16:creationId xmlns:a16="http://schemas.microsoft.com/office/drawing/2014/main" id="{A48A7D89-CBF2-4342-9671-05AFDC9C5046}"/>
                  </a:ext>
                </a:extLst>
              </p:cNvPr>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52232" y="1676844"/>
                <a:ext cx="4477754" cy="407437"/>
              </a:xfrm>
              <a:prstGeom prst="rect">
                <a:avLst/>
              </a:prstGeom>
              <a:noFill/>
              <a:ln>
                <a:noFill/>
              </a:ln>
            </p:spPr>
          </p:pic>
          <p:sp>
            <p:nvSpPr>
              <p:cNvPr id="16" name="矩形 15">
                <a:extLst>
                  <a:ext uri="{FF2B5EF4-FFF2-40B4-BE49-F238E27FC236}">
                    <a16:creationId xmlns:a16="http://schemas.microsoft.com/office/drawing/2014/main" id="{FD99A8FA-7D6E-4656-A9C0-56092F535066}"/>
                  </a:ext>
                </a:extLst>
              </p:cNvPr>
              <p:cNvSpPr/>
              <p:nvPr/>
            </p:nvSpPr>
            <p:spPr>
              <a:xfrm>
                <a:off x="654476" y="1013284"/>
                <a:ext cx="3716221" cy="473206"/>
              </a:xfrm>
              <a:prstGeom prst="rect">
                <a:avLst/>
              </a:prstGeom>
            </p:spPr>
            <p:txBody>
              <a:bodyPr wrap="square">
                <a:spAutoFit/>
              </a:bodyPr>
              <a:lstStyle/>
              <a:p>
                <a:pPr>
                  <a:lnSpc>
                    <a:spcPct val="150000"/>
                  </a:lnSpc>
                </a:pPr>
                <a:r>
                  <a:rPr lang="en-US" altLang="zh-CN" sz="1800" dirty="0">
                    <a:latin typeface="Adobe Hebrew" panose="02040503050201020203" pitchFamily="18" charset="-79"/>
                    <a:cs typeface="Adobe Hebrew" panose="02040503050201020203" pitchFamily="18" charset="-79"/>
                  </a:rPr>
                  <a:t>Charge the cathode:</a:t>
                </a:r>
                <a:endParaRPr lang="zh-CN" altLang="en-US" sz="1800" dirty="0">
                  <a:latin typeface="Adobe Hebrew" panose="02040503050201020203" pitchFamily="18" charset="-79"/>
                  <a:cs typeface="Adobe Hebrew" panose="02040503050201020203" pitchFamily="18" charset="-79"/>
                </a:endParaRPr>
              </a:p>
            </p:txBody>
          </p:sp>
          <p:sp>
            <p:nvSpPr>
              <p:cNvPr id="17" name="矩形 16">
                <a:extLst>
                  <a:ext uri="{FF2B5EF4-FFF2-40B4-BE49-F238E27FC236}">
                    <a16:creationId xmlns:a16="http://schemas.microsoft.com/office/drawing/2014/main" id="{1968AC77-B047-4230-96E7-D72C8147F307}"/>
                  </a:ext>
                </a:extLst>
              </p:cNvPr>
              <p:cNvSpPr/>
              <p:nvPr/>
            </p:nvSpPr>
            <p:spPr>
              <a:xfrm>
                <a:off x="654476" y="1612879"/>
                <a:ext cx="3716221" cy="473206"/>
              </a:xfrm>
              <a:prstGeom prst="rect">
                <a:avLst/>
              </a:prstGeom>
            </p:spPr>
            <p:txBody>
              <a:bodyPr wrap="square">
                <a:spAutoFit/>
              </a:bodyPr>
              <a:lstStyle/>
              <a:p>
                <a:pPr>
                  <a:lnSpc>
                    <a:spcPct val="150000"/>
                  </a:lnSpc>
                </a:pPr>
                <a:r>
                  <a:rPr lang="en-US" altLang="zh-CN" sz="1800" dirty="0">
                    <a:latin typeface="Adobe Hebrew" panose="02040503050201020203" pitchFamily="18" charset="-79"/>
                    <a:cs typeface="Adobe Hebrew" panose="02040503050201020203" pitchFamily="18" charset="-79"/>
                  </a:rPr>
                  <a:t>Discharge:</a:t>
                </a:r>
                <a:endParaRPr lang="zh-CN" altLang="en-US" sz="1800" dirty="0">
                  <a:latin typeface="Adobe Hebrew" panose="02040503050201020203" pitchFamily="18" charset="-79"/>
                  <a:cs typeface="Adobe Hebrew" panose="02040503050201020203" pitchFamily="18" charset="-79"/>
                </a:endParaRPr>
              </a:p>
            </p:txBody>
          </p:sp>
        </p:grpSp>
      </p:grpSp>
      <p:grpSp>
        <p:nvGrpSpPr>
          <p:cNvPr id="7" name="组合 6">
            <a:extLst>
              <a:ext uri="{FF2B5EF4-FFF2-40B4-BE49-F238E27FC236}">
                <a16:creationId xmlns:a16="http://schemas.microsoft.com/office/drawing/2014/main" id="{3CF9BF78-A14D-4566-8A1A-8D85F471DF08}"/>
              </a:ext>
            </a:extLst>
          </p:cNvPr>
          <p:cNvGrpSpPr/>
          <p:nvPr/>
        </p:nvGrpSpPr>
        <p:grpSpPr>
          <a:xfrm>
            <a:off x="607786" y="2312671"/>
            <a:ext cx="3797521" cy="1679538"/>
            <a:chOff x="774479" y="3463962"/>
            <a:chExt cx="3797521" cy="1679538"/>
          </a:xfrm>
        </p:grpSpPr>
        <p:sp>
          <p:nvSpPr>
            <p:cNvPr id="4" name="矩形 3">
              <a:extLst>
                <a:ext uri="{FF2B5EF4-FFF2-40B4-BE49-F238E27FC236}">
                  <a16:creationId xmlns:a16="http://schemas.microsoft.com/office/drawing/2014/main" id="{81D3E296-438B-4739-A832-6018732E411A}"/>
                </a:ext>
              </a:extLst>
            </p:cNvPr>
            <p:cNvSpPr/>
            <p:nvPr/>
          </p:nvSpPr>
          <p:spPr>
            <a:xfrm>
              <a:off x="932007" y="3522330"/>
              <a:ext cx="3639993" cy="1526187"/>
            </a:xfrm>
            <a:prstGeom prst="rect">
              <a:avLst/>
            </a:prstGeom>
          </p:spPr>
          <p:txBody>
            <a:bodyPr wrap="square">
              <a:spAutoFit/>
            </a:bodyPr>
            <a:lstStyle/>
            <a:p>
              <a:pPr>
                <a:lnSpc>
                  <a:spcPct val="150000"/>
                </a:lnSpc>
              </a:pPr>
              <a:r>
                <a:rPr lang="en-US" altLang="zh-CN" sz="1600" dirty="0"/>
                <a:t>I</a:t>
              </a:r>
              <a:r>
                <a:rPr lang="zh-CN" altLang="en-US" sz="1600" dirty="0"/>
                <a:t>ncreasing the current density decreases, reversibly, the cell capacity. Reducing the current restores the capacity. </a:t>
              </a:r>
            </a:p>
          </p:txBody>
        </p:sp>
        <p:sp>
          <p:nvSpPr>
            <p:cNvPr id="18" name="矩形: 圆角 17">
              <a:extLst>
                <a:ext uri="{FF2B5EF4-FFF2-40B4-BE49-F238E27FC236}">
                  <a16:creationId xmlns:a16="http://schemas.microsoft.com/office/drawing/2014/main" id="{2E8DABFE-AC63-4242-BADF-DEB67CD0FC77}"/>
                </a:ext>
              </a:extLst>
            </p:cNvPr>
            <p:cNvSpPr/>
            <p:nvPr/>
          </p:nvSpPr>
          <p:spPr>
            <a:xfrm>
              <a:off x="774479" y="3463962"/>
              <a:ext cx="3377974" cy="1679538"/>
            </a:xfrm>
            <a:prstGeom prst="roundRect">
              <a:avLst/>
            </a:prstGeom>
            <a:noFill/>
            <a:ln w="50800">
              <a:solidFill>
                <a:srgbClr val="FF0000">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0" name="图片 19">
            <a:extLst>
              <a:ext uri="{FF2B5EF4-FFF2-40B4-BE49-F238E27FC236}">
                <a16:creationId xmlns:a16="http://schemas.microsoft.com/office/drawing/2014/main" id="{27289A12-47E6-4C0D-939C-8E6D73EFA514}"/>
              </a:ext>
            </a:extLst>
          </p:cNvPr>
          <p:cNvPicPr/>
          <p:nvPr/>
        </p:nvPicPr>
        <p:blipFill>
          <a:blip r:embed="rId5">
            <a:clrChange>
              <a:clrFrom>
                <a:srgbClr val="FFFFFF"/>
              </a:clrFrom>
              <a:clrTo>
                <a:srgbClr val="FFFFFF">
                  <a:alpha val="0"/>
                </a:srgbClr>
              </a:clrTo>
            </a:clrChange>
          </a:blip>
          <a:stretch>
            <a:fillRect/>
          </a:stretch>
        </p:blipFill>
        <p:spPr>
          <a:xfrm>
            <a:off x="4602672" y="1909063"/>
            <a:ext cx="3639993" cy="2978975"/>
          </a:xfrm>
          <a:prstGeom prst="rect">
            <a:avLst/>
          </a:prstGeom>
        </p:spPr>
      </p:pic>
    </p:spTree>
    <p:extLst>
      <p:ext uri="{BB962C8B-B14F-4D97-AF65-F5344CB8AC3E}">
        <p14:creationId xmlns:p14="http://schemas.microsoft.com/office/powerpoint/2010/main" val="3995336679"/>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15">
            <a:extLst>
              <a:ext uri="{FF2B5EF4-FFF2-40B4-BE49-F238E27FC236}">
                <a16:creationId xmlns:a16="http://schemas.microsoft.com/office/drawing/2014/main" id="{694C6BED-C214-459E-A2F6-C7450A63D6A3}"/>
              </a:ext>
            </a:extLst>
          </p:cNvPr>
          <p:cNvSpPr txBox="1"/>
          <p:nvPr/>
        </p:nvSpPr>
        <p:spPr>
          <a:xfrm>
            <a:off x="607786" y="361182"/>
            <a:ext cx="8536214" cy="592470"/>
          </a:xfrm>
          <a:prstGeom prst="rect">
            <a:avLst/>
          </a:prstGeom>
          <a:noFill/>
        </p:spPr>
        <p:txBody>
          <a:bodyPr wrap="square" lIns="68580" tIns="34290" rIns="68580" bIns="34290" rtlCol="0">
            <a:spAutoFit/>
          </a:bodyPr>
          <a:lstStyle/>
          <a:p>
            <a:r>
              <a:rPr lang="en-US" altLang="zh-CN" b="1" dirty="0">
                <a:solidFill>
                  <a:srgbClr val="1B4367"/>
                </a:solidFill>
                <a:cs typeface="+mn-ea"/>
                <a:sym typeface="+mn-lt"/>
              </a:rPr>
              <a:t>Part 3  Conclusion</a:t>
            </a:r>
            <a:endParaRPr lang="zh-CN" altLang="en-US" b="1" dirty="0">
              <a:solidFill>
                <a:srgbClr val="1B4367"/>
              </a:solidFill>
              <a:cs typeface="+mn-ea"/>
              <a:sym typeface="+mn-lt"/>
            </a:endParaRPr>
          </a:p>
          <a:p>
            <a:r>
              <a:rPr lang="en-US" altLang="zh-CN" sz="2000" b="1" dirty="0">
                <a:solidFill>
                  <a:srgbClr val="1B4367"/>
                </a:solidFill>
                <a:cs typeface="+mn-ea"/>
                <a:sym typeface="+mn-lt"/>
              </a:rPr>
              <a:t> </a:t>
            </a:r>
            <a:endParaRPr lang="zh-CN" altLang="en-US" sz="2000" b="1" dirty="0">
              <a:solidFill>
                <a:srgbClr val="1B4367"/>
              </a:solidFill>
              <a:cs typeface="+mn-ea"/>
              <a:sym typeface="+mn-lt"/>
            </a:endParaRPr>
          </a:p>
        </p:txBody>
      </p:sp>
      <p:grpSp>
        <p:nvGrpSpPr>
          <p:cNvPr id="7" name="组合 6">
            <a:extLst>
              <a:ext uri="{FF2B5EF4-FFF2-40B4-BE49-F238E27FC236}">
                <a16:creationId xmlns:a16="http://schemas.microsoft.com/office/drawing/2014/main" id="{3CF9BF78-A14D-4566-8A1A-8D85F471DF08}"/>
              </a:ext>
            </a:extLst>
          </p:cNvPr>
          <p:cNvGrpSpPr/>
          <p:nvPr/>
        </p:nvGrpSpPr>
        <p:grpSpPr>
          <a:xfrm>
            <a:off x="607786" y="1051646"/>
            <a:ext cx="7177931" cy="1416404"/>
            <a:chOff x="774479" y="3463962"/>
            <a:chExt cx="3377974" cy="1679538"/>
          </a:xfrm>
        </p:grpSpPr>
        <p:sp>
          <p:nvSpPr>
            <p:cNvPr id="4" name="矩形 3">
              <a:extLst>
                <a:ext uri="{FF2B5EF4-FFF2-40B4-BE49-F238E27FC236}">
                  <a16:creationId xmlns:a16="http://schemas.microsoft.com/office/drawing/2014/main" id="{81D3E296-438B-4739-A832-6018732E411A}"/>
                </a:ext>
              </a:extLst>
            </p:cNvPr>
            <p:cNvSpPr/>
            <p:nvPr/>
          </p:nvSpPr>
          <p:spPr>
            <a:xfrm>
              <a:off x="892807" y="3563478"/>
              <a:ext cx="3061835" cy="533978"/>
            </a:xfrm>
            <a:prstGeom prst="rect">
              <a:avLst/>
            </a:prstGeom>
          </p:spPr>
          <p:txBody>
            <a:bodyPr wrap="square">
              <a:spAutoFit/>
            </a:bodyPr>
            <a:lstStyle/>
            <a:p>
              <a:pPr>
                <a:lnSpc>
                  <a:spcPct val="150000"/>
                </a:lnSpc>
              </a:pPr>
              <a:r>
                <a:rPr lang="en-US" altLang="zh-CN" sz="1600" dirty="0"/>
                <a:t> This material is very good for low-power applications; at higher current densities there is a reversible decrease in capacity that is associated with the movement of a two-phase interface.</a:t>
              </a:r>
              <a:endParaRPr lang="zh-CN" altLang="en-US" sz="1600" dirty="0"/>
            </a:p>
          </p:txBody>
        </p:sp>
        <p:sp>
          <p:nvSpPr>
            <p:cNvPr id="18" name="矩形: 圆角 17">
              <a:extLst>
                <a:ext uri="{FF2B5EF4-FFF2-40B4-BE49-F238E27FC236}">
                  <a16:creationId xmlns:a16="http://schemas.microsoft.com/office/drawing/2014/main" id="{2E8DABFE-AC63-4242-BADF-DEB67CD0FC77}"/>
                </a:ext>
              </a:extLst>
            </p:cNvPr>
            <p:cNvSpPr/>
            <p:nvPr/>
          </p:nvSpPr>
          <p:spPr>
            <a:xfrm>
              <a:off x="774479" y="3463962"/>
              <a:ext cx="3377974" cy="1679538"/>
            </a:xfrm>
            <a:prstGeom prst="roundRect">
              <a:avLst/>
            </a:prstGeom>
            <a:noFill/>
            <a:ln w="50800">
              <a:solidFill>
                <a:srgbClr val="FF0000">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a:extLst>
              <a:ext uri="{FF2B5EF4-FFF2-40B4-BE49-F238E27FC236}">
                <a16:creationId xmlns:a16="http://schemas.microsoft.com/office/drawing/2014/main" id="{927F5D9B-2F51-4627-A0BC-1783B153448C}"/>
              </a:ext>
            </a:extLst>
          </p:cNvPr>
          <p:cNvGrpSpPr/>
          <p:nvPr/>
        </p:nvGrpSpPr>
        <p:grpSpPr>
          <a:xfrm>
            <a:off x="607786" y="2764284"/>
            <a:ext cx="7897705" cy="1265237"/>
            <a:chOff x="918113" y="1039656"/>
            <a:chExt cx="7897705" cy="1265237"/>
          </a:xfrm>
        </p:grpSpPr>
        <p:sp>
          <p:nvSpPr>
            <p:cNvPr id="19" name="文本框 18">
              <a:extLst>
                <a:ext uri="{FF2B5EF4-FFF2-40B4-BE49-F238E27FC236}">
                  <a16:creationId xmlns:a16="http://schemas.microsoft.com/office/drawing/2014/main" id="{CD91E0AA-B6E0-4B7D-94CB-42978168E541}"/>
                </a:ext>
              </a:extLst>
            </p:cNvPr>
            <p:cNvSpPr txBox="1"/>
            <p:nvPr/>
          </p:nvSpPr>
          <p:spPr>
            <a:xfrm>
              <a:off x="918113" y="1537760"/>
              <a:ext cx="7897705" cy="76713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dirty="0"/>
                <a:t>LiFePO</a:t>
              </a:r>
              <a:r>
                <a:rPr lang="en-US" altLang="zh-CN" sz="1600" baseline="-25000" dirty="0"/>
                <a:t>4   </a:t>
              </a:r>
              <a:r>
                <a:rPr lang="en-US" altLang="zh-CN" sz="1500" dirty="0"/>
                <a:t>continues to make progress in nanometer and material processing.</a:t>
              </a:r>
            </a:p>
            <a:p>
              <a:pPr marL="285750" indent="-285750">
                <a:lnSpc>
                  <a:spcPct val="150000"/>
                </a:lnSpc>
                <a:buFont typeface="Arial" panose="020B0604020202020204" pitchFamily="34" charset="0"/>
                <a:buChar char="•"/>
              </a:pPr>
              <a:r>
                <a:rPr lang="en-US" altLang="zh-CN" sz="1500" dirty="0"/>
                <a:t>The battery can withstand the temperature of the electric and hybrid cars.</a:t>
              </a:r>
              <a:endParaRPr lang="zh-CN" altLang="en-US" sz="1500" dirty="0"/>
            </a:p>
          </p:txBody>
        </p:sp>
        <p:sp>
          <p:nvSpPr>
            <p:cNvPr id="21" name="矩形 20">
              <a:extLst>
                <a:ext uri="{FF2B5EF4-FFF2-40B4-BE49-F238E27FC236}">
                  <a16:creationId xmlns:a16="http://schemas.microsoft.com/office/drawing/2014/main" id="{D2590A76-A10B-4EC8-A3E6-066B61F14F1E}"/>
                </a:ext>
              </a:extLst>
            </p:cNvPr>
            <p:cNvSpPr/>
            <p:nvPr/>
          </p:nvSpPr>
          <p:spPr>
            <a:xfrm>
              <a:off x="926878" y="1039656"/>
              <a:ext cx="1292085" cy="400110"/>
            </a:xfrm>
            <a:prstGeom prst="rect">
              <a:avLst/>
            </a:prstGeom>
          </p:spPr>
          <p:txBody>
            <a:bodyPr wrap="none">
              <a:spAutoFit/>
            </a:bodyPr>
            <a:lstStyle/>
            <a:p>
              <a:r>
                <a:rPr lang="en-US" altLang="zh-CN" sz="2000" dirty="0">
                  <a:solidFill>
                    <a:srgbClr val="0070C0"/>
                  </a:solidFill>
                </a:rPr>
                <a:t>We hope</a:t>
              </a:r>
              <a:endParaRPr lang="zh-CN" altLang="en-US" sz="2000" dirty="0">
                <a:solidFill>
                  <a:srgbClr val="0070C0"/>
                </a:solidFill>
              </a:endParaRPr>
            </a:p>
          </p:txBody>
        </p:sp>
      </p:grpSp>
    </p:spTree>
    <p:extLst>
      <p:ext uri="{BB962C8B-B14F-4D97-AF65-F5344CB8AC3E}">
        <p14:creationId xmlns:p14="http://schemas.microsoft.com/office/powerpoint/2010/main" val="3805762732"/>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theme/theme1.xml><?xml version="1.0" encoding="utf-8"?>
<a:theme xmlns:a="http://schemas.openxmlformats.org/drawingml/2006/main" name="夏雨家 https://xnwe.taobao.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p">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3413</TotalTime>
  <Words>3932</Words>
  <Application>Microsoft Office PowerPoint</Application>
  <PresentationFormat>全屏显示(16:9)</PresentationFormat>
  <Paragraphs>275</Paragraphs>
  <Slides>24</Slides>
  <Notes>24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24</vt:i4>
      </vt:variant>
    </vt:vector>
  </HeadingPairs>
  <TitlesOfParts>
    <vt:vector size="33" baseType="lpstr">
      <vt:lpstr>Yu Gothic UI</vt:lpstr>
      <vt:lpstr>微软雅黑</vt:lpstr>
      <vt:lpstr>3ds</vt:lpstr>
      <vt:lpstr>Adobe Hebrew</vt:lpstr>
      <vt:lpstr>Arial</vt:lpstr>
      <vt:lpstr>Calibri</vt:lpstr>
      <vt:lpstr>Cambria Math</vt:lpstr>
      <vt:lpstr>Wingdings</vt:lpstr>
      <vt:lpstr>夏雨家 https://xnwe.taobao.com/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简约线条创意毕业论文答辩开题报告动态PPT模板</dc:title>
  <dc:creator>qzuser</dc:creator>
  <cp:keywords>qzuser</cp:keywords>
  <cp:lastModifiedBy>甘雨果</cp:lastModifiedBy>
  <cp:revision>245</cp:revision>
  <dcterms:created xsi:type="dcterms:W3CDTF">2018-11-08T00:27:20Z</dcterms:created>
  <dcterms:modified xsi:type="dcterms:W3CDTF">2019-12-25T05:51:50Z</dcterms:modified>
  <cp:category>qzuser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2052-1.2.5.490</vt:lpwstr>
  </property>
</Properties>
</file>