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F927"/>
    <a:srgbClr val="42DE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14" autoAdjust="0"/>
  </p:normalViewPr>
  <p:slideViewPr>
    <p:cSldViewPr>
      <p:cViewPr varScale="1">
        <p:scale>
          <a:sx n="58" d="100"/>
          <a:sy n="58" d="100"/>
        </p:scale>
        <p:origin x="-11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C86C2-0C5D-4A4A-BDCA-F30212F09FF2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1BA03-AD5D-4978-8383-67EE54EA6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35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整个空间分为三个应力场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1BA03-AD5D-4978-8383-67EE54EA6D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38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看到，在基础的边缘位置的屈服深度是最大的，呈现出尖锐的突出，这正是由于弹性解造成的基础边缘的应力集中，并且不会像塑性解那样，在屈服后应力向基础中部聚集，从而一定程度上造成了基础边缘的屈服深度增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1BA03-AD5D-4978-8383-67EE54EA6D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01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对此我们特意加密了该区段的点，具体数据如下：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进一步分析发现，在两侧超载分别为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10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KN</m:t>
                    </m:r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/</m:t>
                    </m:r>
                    <m:sSup>
                      <m:s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m</m:t>
                        </m:r>
                      </m:e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70</m:t>
                    </m:r>
                    <m:r>
                      <m:rPr>
                        <m:sty m:val="p"/>
                      </m:rP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KN</m:t>
                    </m:r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/</m:t>
                    </m:r>
                    <m:sSup>
                      <m:s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m</m:t>
                        </m:r>
                      </m:e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，荷载在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341</m:t>
                    </m:r>
                    <m:r>
                      <m:rPr>
                        <m:sty m:val="p"/>
                      </m:rP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KN</m:t>
                    </m:r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/</m:t>
                    </m:r>
                    <m:sSup>
                      <m:s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m</m:t>
                        </m:r>
                      </m:e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至</a:t>
                </a:r>
                <a14:m>
                  <m:oMath xmlns:m="http://schemas.openxmlformats.org/officeDocument/2006/math"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307</m:t>
                    </m:r>
                    <m:r>
                      <m:rPr>
                        <m:sty m:val="p"/>
                      </m:rP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KN</m:t>
                    </m:r>
                    <m:r>
                      <a:rPr lang="en-US" altLang="zh-CN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/</m:t>
                    </m:r>
                    <m:sSup>
                      <m:sSupPr>
                        <m:ctrlPr>
                          <a:rPr lang="zh-CN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m</m:t>
                        </m:r>
                      </m:e>
                      <m:sup>
                        <m:r>
                          <a:rPr lang="en-US" altLang="zh-CN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的过程中，屈服深度会先减小，然后反常的再次增加现象。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对此我们特意加密了该区段的点，具体数据如下：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进一步分析发现，在两侧超载分别为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10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KN/m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70KN/m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，荷载在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341KN/m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至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307KN/m</a:t>
                </a:r>
                <a:r>
                  <a:rPr lang="zh-CN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^</a:t>
                </a:r>
                <a:r>
                  <a:rPr lang="en-US" altLang="zh-C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的过程中，屈服深度会先减小，然后反常的再次增加现象。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1BA03-AD5D-4978-8383-67EE54EA6DE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687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（如土层均质，用两侧</a:t>
            </a:r>
            <a:r>
              <a:rPr lang="en-US" altLang="zh-CN" dirty="0" smtClean="0"/>
              <a:t>75B</a:t>
            </a:r>
            <a:r>
              <a:rPr lang="zh-CN" altLang="en-US" dirty="0" smtClean="0"/>
              <a:t>的超载代替半无限的超载等）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1BA03-AD5D-4978-8383-67EE54EA6D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894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44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47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11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513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5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72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98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59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582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563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58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7B59B-AEBC-428B-ABE1-C9A56865DF06}" type="datetimeFigureOut">
              <a:rPr lang="zh-CN" altLang="en-US" smtClean="0"/>
              <a:t>2013/5/28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67E2E-A0DA-4A5D-8886-A36B81AF4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27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52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7544" y="620842"/>
            <a:ext cx="480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工程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背景：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基础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两侧地表地表高度不同的情况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7544" y="1028959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承载力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的深度修正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中采用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较小一侧的深度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进行修正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1475492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研究问题：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是否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真的偏保守，安全度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如何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16971" b="20342"/>
          <a:stretch/>
        </p:blipFill>
        <p:spPr bwMode="auto">
          <a:xfrm>
            <a:off x="4427984" y="2566986"/>
            <a:ext cx="3744416" cy="24461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142661"/>
              </p:ext>
            </p:extLst>
          </p:nvPr>
        </p:nvGraphicFramePr>
        <p:xfrm>
          <a:off x="4041548" y="5335918"/>
          <a:ext cx="4922940" cy="813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6" imgW="2362200" imgH="393700" progId="Equation.DSMT4">
                  <p:embed/>
                </p:oleObj>
              </mc:Choice>
              <mc:Fallback>
                <p:oleObj name="Equation" r:id="rId6" imgW="2362200" imgH="3937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548" y="5335918"/>
                        <a:ext cx="4922940" cy="8138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67544" y="1802243"/>
            <a:ext cx="3618148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思路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整个空间分为三个应力场：以基底为基准左右两侧土的自重应力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q1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q2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、基础传来的基底压力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对基底下任意一点，叠加得到最大主应力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利用土的破坏条件建立</a:t>
            </a:r>
            <a:r>
              <a:rPr kumimoji="0" lang="en-US" altLang="zh-CN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x,z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关系。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求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出任意受力场中最大的</a:t>
            </a:r>
            <a:r>
              <a:rPr lang="zh-CN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屈服深度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，控制其大小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基础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宽度，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即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得到基础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承载力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5" name="图片 14"/>
          <p:cNvPicPr/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1440" y="1670070"/>
            <a:ext cx="4191000" cy="361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4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827584" y="1484784"/>
                <a:ext cx="7542584" cy="30433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/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/>
                            <m:t>z</m:t>
                          </m:r>
                        </m:sub>
                      </m:sSub>
                      <m:r>
                        <a:rPr lang="en-US" altLang="zh-CN" i="1"/>
                        <m:t>=</m:t>
                      </m:r>
                      <m:f>
                        <m:fPr>
                          <m:ctrlPr>
                            <a:rPr lang="zh-CN" altLang="zh-CN" i="1"/>
                          </m:ctrlPr>
                        </m:fPr>
                        <m:num>
                          <m:r>
                            <a:rPr lang="en-US" altLang="zh-CN" i="1"/>
                            <m:t>𝑝</m:t>
                          </m:r>
                        </m:num>
                        <m:den>
                          <m:r>
                            <a:rPr lang="en-US" altLang="zh-CN" i="1"/>
                            <m:t>𝜋</m:t>
                          </m:r>
                        </m:den>
                      </m:f>
                      <m:d>
                        <m:dPr>
                          <m:ctrlPr>
                            <a:rPr lang="zh-CN" altLang="zh-CN" i="1"/>
                          </m:ctrlPr>
                        </m:dPr>
                        <m:e>
                          <m:r>
                            <a:rPr lang="en-US" altLang="zh-CN" i="1"/>
                            <m:t>𝑎𝑟𝑐𝑡𝑎𝑛</m:t>
                          </m:r>
                          <m:f>
                            <m:fPr>
                              <m:ctrlPr>
                                <a:rPr lang="zh-CN" altLang="zh-CN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/>
                                  </m:ctrlPr>
                                </m:sSub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/>
                                <m:t>−</m:t>
                              </m:r>
                              <m:r>
                                <a:rPr lang="en-US" altLang="zh-CN" i="1"/>
                                <m:t>𝑥</m:t>
                              </m:r>
                            </m:num>
                            <m:den>
                              <m:r>
                                <a:rPr lang="en-US" altLang="zh-CN" i="1"/>
                                <m:t>𝑧</m:t>
                              </m:r>
                            </m:den>
                          </m:f>
                          <m:r>
                            <a:rPr lang="en-US" altLang="zh-CN" i="1"/>
                            <m:t>+</m:t>
                          </m:r>
                          <m:r>
                            <a:rPr lang="en-US" altLang="zh-CN" i="1"/>
                            <m:t>𝑎𝑟𝑐𝑡𝑎𝑛</m:t>
                          </m:r>
                          <m:f>
                            <m:fPr>
                              <m:ctrlPr>
                                <a:rPr lang="zh-CN" altLang="zh-CN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/>
                                  </m:ctrlPr>
                                </m:sSub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/>
                                <m:t>+</m:t>
                              </m:r>
                              <m:r>
                                <a:rPr lang="en-US" altLang="zh-CN" i="1"/>
                                <m:t>𝑧</m:t>
                              </m:r>
                            </m:num>
                            <m:den>
                              <m:r>
                                <a:rPr lang="en-US" altLang="zh-CN" i="1"/>
                                <m:t>𝑧</m:t>
                              </m:r>
                            </m:den>
                          </m:f>
                          <m:r>
                            <a:rPr lang="en-US" altLang="zh-CN" i="1"/>
                            <m:t> </m:t>
                          </m:r>
                        </m:e>
                      </m:d>
                      <m:r>
                        <a:rPr lang="en-US" altLang="zh-CN" i="1"/>
                        <m:t>+</m:t>
                      </m:r>
                      <m:f>
                        <m:fPr>
                          <m:ctrlPr>
                            <a:rPr lang="zh-CN" altLang="zh-CN" i="1"/>
                          </m:ctrlPr>
                        </m:fPr>
                        <m:num>
                          <m:r>
                            <a:rPr lang="en-US" altLang="zh-CN" i="1"/>
                            <m:t>2</m:t>
                          </m:r>
                          <m:sSub>
                            <m:sSubPr>
                              <m:ctrlPr>
                                <a:rPr lang="zh-CN" altLang="zh-CN" i="1"/>
                              </m:ctrlPr>
                            </m:sSubPr>
                            <m:e>
                              <m:r>
                                <a:rPr lang="en-US" altLang="zh-CN" i="1"/>
                                <m:t>𝑏</m:t>
                              </m:r>
                            </m:e>
                            <m:sub>
                              <m:r>
                                <a:rPr lang="en-US" altLang="zh-CN" i="1"/>
                                <m:t>1</m:t>
                              </m:r>
                            </m:sub>
                          </m:sSub>
                          <m:r>
                            <a:rPr lang="en-US" altLang="zh-CN" i="1"/>
                            <m:t>𝑝</m:t>
                          </m:r>
                          <m:d>
                            <m:dPr>
                              <m:ctrlPr>
                                <a:rPr lang="zh-CN" altLang="zh-CN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r>
                                    <a:rPr lang="en-US" altLang="zh-CN" i="1"/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/>
                                <m:t>−</m:t>
                              </m:r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r>
                                    <a:rPr lang="en-US" altLang="zh-CN" i="1"/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/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i="1"/>
                                  </m:ctrlPr>
                                </m:sSubSup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i="1"/>
                            <m:t>𝑧</m:t>
                          </m:r>
                        </m:num>
                        <m:den>
                          <m:r>
                            <a:rPr lang="en-US" altLang="zh-CN" i="1"/>
                            <m:t>𝜋</m:t>
                          </m:r>
                          <m:d>
                            <m:dPr>
                              <m:ctrlPr>
                                <a:rPr lang="zh-CN" altLang="zh-CN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i="1"/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i="1"/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/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/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zh-CN" altLang="zh-CN" i="1"/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/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/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i="1"/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/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/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/>
                                <m:t>+4</m:t>
                              </m:r>
                              <m:sSubSup>
                                <m:sSubSupPr>
                                  <m:ctrlPr>
                                    <a:rPr lang="zh-CN" altLang="zh-CN" i="1"/>
                                  </m:ctrlPr>
                                </m:sSubSup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r>
                                    <a:rPr lang="en-US" altLang="zh-CN" i="1"/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/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/>
                            <m:t>x</m:t>
                          </m:r>
                        </m:sub>
                      </m:sSub>
                      <m:r>
                        <a:rPr lang="en-US" altLang="zh-CN" i="1"/>
                        <m:t>=</m:t>
                      </m:r>
                      <m:f>
                        <m:fPr>
                          <m:ctrlPr>
                            <a:rPr lang="zh-CN" altLang="zh-CN" i="1"/>
                          </m:ctrlPr>
                        </m:fPr>
                        <m:num>
                          <m:r>
                            <a:rPr lang="en-US" altLang="zh-CN" i="1"/>
                            <m:t>𝑝</m:t>
                          </m:r>
                        </m:num>
                        <m:den>
                          <m:r>
                            <a:rPr lang="en-US" altLang="zh-CN" i="1"/>
                            <m:t>𝜋</m:t>
                          </m:r>
                        </m:den>
                      </m:f>
                      <m:d>
                        <m:dPr>
                          <m:ctrlPr>
                            <a:rPr lang="zh-CN" altLang="zh-CN" i="1"/>
                          </m:ctrlPr>
                        </m:dPr>
                        <m:e>
                          <m:r>
                            <a:rPr lang="en-US" altLang="zh-CN" i="1"/>
                            <m:t>𝑎𝑟𝑐𝑡𝑎𝑛</m:t>
                          </m:r>
                          <m:f>
                            <m:fPr>
                              <m:ctrlPr>
                                <a:rPr lang="zh-CN" altLang="zh-CN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/>
                                  </m:ctrlPr>
                                </m:sSub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/>
                                <m:t>−</m:t>
                              </m:r>
                              <m:r>
                                <a:rPr lang="en-US" altLang="zh-CN" i="1"/>
                                <m:t>𝑥</m:t>
                              </m:r>
                            </m:num>
                            <m:den>
                              <m:r>
                                <a:rPr lang="en-US" altLang="zh-CN" i="1"/>
                                <m:t>𝑧</m:t>
                              </m:r>
                            </m:den>
                          </m:f>
                          <m:r>
                            <a:rPr lang="en-US" altLang="zh-CN" i="1"/>
                            <m:t>+</m:t>
                          </m:r>
                          <m:r>
                            <a:rPr lang="en-US" altLang="zh-CN" i="1"/>
                            <m:t>𝑎𝑟𝑐𝑡𝑎𝑛</m:t>
                          </m:r>
                          <m:f>
                            <m:fPr>
                              <m:ctrlPr>
                                <a:rPr lang="zh-CN" altLang="zh-CN" i="1"/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/>
                                  </m:ctrlPr>
                                </m:sSub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/>
                                <m:t>+</m:t>
                              </m:r>
                              <m:r>
                                <a:rPr lang="en-US" altLang="zh-CN" i="1"/>
                                <m:t>𝑧</m:t>
                              </m:r>
                            </m:num>
                            <m:den>
                              <m:r>
                                <a:rPr lang="en-US" altLang="zh-CN" i="1"/>
                                <m:t>𝑧</m:t>
                              </m:r>
                            </m:den>
                          </m:f>
                          <m:r>
                            <a:rPr lang="en-US" altLang="zh-CN" i="1"/>
                            <m:t> </m:t>
                          </m:r>
                        </m:e>
                      </m:d>
                      <m:r>
                        <a:rPr lang="en-US" altLang="zh-CN" i="1"/>
                        <m:t>−</m:t>
                      </m:r>
                      <m:f>
                        <m:fPr>
                          <m:ctrlPr>
                            <a:rPr lang="zh-CN" altLang="zh-CN" i="1"/>
                          </m:ctrlPr>
                        </m:fPr>
                        <m:num>
                          <m:r>
                            <a:rPr lang="en-US" altLang="zh-CN" i="1"/>
                            <m:t>2</m:t>
                          </m:r>
                          <m:sSub>
                            <m:sSubPr>
                              <m:ctrlPr>
                                <a:rPr lang="zh-CN" altLang="zh-CN" i="1"/>
                              </m:ctrlPr>
                            </m:sSubPr>
                            <m:e>
                              <m:r>
                                <a:rPr lang="en-US" altLang="zh-CN" i="1"/>
                                <m:t>𝑏</m:t>
                              </m:r>
                            </m:e>
                            <m:sub>
                              <m:r>
                                <a:rPr lang="en-US" altLang="zh-CN" i="1"/>
                                <m:t>1</m:t>
                              </m:r>
                            </m:sub>
                          </m:sSub>
                          <m:r>
                            <a:rPr lang="en-US" altLang="zh-CN" i="1"/>
                            <m:t>𝑝</m:t>
                          </m:r>
                          <m:d>
                            <m:dPr>
                              <m:ctrlPr>
                                <a:rPr lang="zh-CN" altLang="zh-CN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r>
                                    <a:rPr lang="en-US" altLang="zh-CN" i="1"/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/>
                                <m:t>−</m:t>
                              </m:r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r>
                                    <a:rPr lang="en-US" altLang="zh-CN" i="1"/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/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i="1"/>
                                  </m:ctrlPr>
                                </m:sSubSup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i="1"/>
                            <m:t>𝑧</m:t>
                          </m:r>
                        </m:num>
                        <m:den>
                          <m:r>
                            <a:rPr lang="en-US" altLang="zh-CN" i="1"/>
                            <m:t>𝜋</m:t>
                          </m:r>
                          <m:d>
                            <m:dPr>
                              <m:ctrlPr>
                                <a:rPr lang="zh-CN" altLang="zh-CN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i="1"/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i="1"/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/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/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zh-CN" altLang="zh-CN" i="1"/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/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/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i="1"/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/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/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/>
                                <m:t>+4</m:t>
                              </m:r>
                              <m:sSubSup>
                                <m:sSubSupPr>
                                  <m:ctrlPr>
                                    <a:rPr lang="zh-CN" altLang="zh-CN" i="1"/>
                                  </m:ctrlPr>
                                </m:sSubSup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r>
                                    <a:rPr lang="en-US" altLang="zh-CN" i="1"/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/>
                            <m:t>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/>
                            <m:t>zx</m:t>
                          </m:r>
                        </m:sub>
                      </m:sSub>
                      <m:r>
                        <a:rPr lang="en-US" altLang="zh-CN" i="1"/>
                        <m:t>=</m:t>
                      </m:r>
                      <m:f>
                        <m:fPr>
                          <m:ctrlPr>
                            <a:rPr lang="zh-CN" altLang="zh-CN" i="1"/>
                          </m:ctrlPr>
                        </m:fPr>
                        <m:num>
                          <m:r>
                            <a:rPr lang="en-US" altLang="zh-CN" i="1"/>
                            <m:t>4</m:t>
                          </m:r>
                          <m:sSub>
                            <m:sSubPr>
                              <m:ctrlPr>
                                <a:rPr lang="zh-CN" altLang="zh-CN" i="1"/>
                              </m:ctrlPr>
                            </m:sSubPr>
                            <m:e>
                              <m:r>
                                <a:rPr lang="en-US" altLang="zh-CN" i="1"/>
                                <m:t>𝑏</m:t>
                              </m:r>
                            </m:e>
                            <m:sub>
                              <m:r>
                                <a:rPr lang="en-US" altLang="zh-CN" i="1"/>
                                <m:t>1</m:t>
                              </m:r>
                            </m:sub>
                          </m:sSub>
                          <m:r>
                            <a:rPr lang="en-US" altLang="zh-CN" i="1"/>
                            <m:t>𝑝</m:t>
                          </m:r>
                          <m:r>
                            <a:rPr lang="en-US" altLang="zh-CN" i="1"/>
                            <m:t>𝜋</m:t>
                          </m:r>
                          <m:r>
                            <a:rPr lang="en-US" altLang="zh-CN" i="1"/>
                            <m:t>𝑥</m:t>
                          </m:r>
                          <m:sSup>
                            <m:sSupPr>
                              <m:ctrlPr>
                                <a:rPr lang="zh-CN" altLang="zh-CN" i="1"/>
                              </m:ctrlPr>
                            </m:sSupPr>
                            <m:e>
                              <m:r>
                                <a:rPr lang="en-US" altLang="zh-CN" i="1"/>
                                <m:t>𝑧</m:t>
                              </m:r>
                            </m:e>
                            <m:sup>
                              <m:r>
                                <a:rPr lang="en-US" altLang="zh-CN" i="1"/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/>
                            <m:t>𝜋</m:t>
                          </m:r>
                          <m:d>
                            <m:dPr>
                              <m:ctrlPr>
                                <a:rPr lang="zh-CN" altLang="zh-CN" i="1"/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i="1"/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i="1"/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/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/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zh-CN" altLang="zh-CN" i="1"/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/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/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i="1"/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/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/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/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/>
                                <m:t>+4</m:t>
                              </m:r>
                              <m:sSubSup>
                                <m:sSubSupPr>
                                  <m:ctrlPr>
                                    <a:rPr lang="zh-CN" altLang="zh-CN" i="1"/>
                                  </m:ctrlPr>
                                </m:sSubSupPr>
                                <m:e>
                                  <m:r>
                                    <a:rPr lang="en-US" altLang="zh-CN" i="1"/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/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zh-CN" altLang="zh-CN" i="1"/>
                                  </m:ctrlPr>
                                </m:sSupPr>
                                <m:e>
                                  <m:r>
                                    <a:rPr lang="en-US" altLang="zh-CN" i="1"/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i="1"/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484784"/>
                <a:ext cx="7542584" cy="304333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683568" y="620688"/>
                <a:ext cx="799288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对于宽度为</a:t>
                </a:r>
                <a14:m>
                  <m:oMath xmlns:m="http://schemas.openxmlformats.org/officeDocument/2006/math">
                    <m:r>
                      <a:rPr lang="en-US" altLang="zh-CN"/>
                      <m:t>2</m:t>
                    </m:r>
                    <m:sSub>
                      <m:sSubPr>
                        <m:ctrlPr>
                          <a:rPr lang="zh-CN" altLang="zh-CN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/>
                          <m:t>b</m:t>
                        </m:r>
                      </m:e>
                      <m:sub>
                        <m:r>
                          <a:rPr lang="en-US" altLang="zh-CN"/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的基础，基地压力为</a:t>
                </a:r>
                <a:r>
                  <a:rPr lang="en-US" altLang="zh-CN" dirty="0"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，以中点为坐标</a:t>
                </a:r>
                <a:r>
                  <a:rPr lang="zh-CN" altLang="zh-CN" dirty="0" smtClean="0">
                    <a:latin typeface="微软雅黑" pitchFamily="34" charset="-122"/>
                    <a:ea typeface="微软雅黑" pitchFamily="34" charset="-122"/>
                  </a:rPr>
                  <a:t>原点</a:t>
                </a:r>
                <a:endParaRPr lang="zh-CN" altLang="zh-CN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620688"/>
                <a:ext cx="799288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10" t="-8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927837"/>
              </p:ext>
            </p:extLst>
          </p:nvPr>
        </p:nvGraphicFramePr>
        <p:xfrm>
          <a:off x="3851920" y="163408"/>
          <a:ext cx="5131151" cy="6217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31151"/>
              </a:tblGrid>
              <a:tr h="59342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%This is the critical condition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function y = fun(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z,x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c=25;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phi=pi/10;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p1=55;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p2=352;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p3=25;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b1=300/2;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b2=4/2;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b3=300/2;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x1=x+b1+b2;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x2=x;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x3=x-b2-b3;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fx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=p1/pi*(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((b1-x1)/z)+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((b1+x1)/z))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+2*b1*p1*(x1^2-z^2-b1^2)*z/pi/((x1^2+z^2-b1^2)^2+4*b1^2*z^2)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+p2/pi*(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((b2-x2)/z)+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((b2+x2)/z))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+2*b2*p2*(x2^2-z^2-b2^2)*z/pi/((x2^2+z^2-b2^2)^2+4*b2^2*z^2)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+p3/pi*(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((b3-x3)/z)+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((b3+x3)/z))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+2*b3*p3*(x3^2-z^2-b3^2)*z/pi/((x3^2+z^2-b3^2)^2+4*b3^2*z^2)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+18*z;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fz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=p1/pi*(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((b1-x1)/z)+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((b1+x1)/z))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-2*b1*p1*(x1^2-z^2-b1^2)*z/pi/((x1^2+z^2-b1^2)^2+4*b1^2*z^2)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+p2/pi*(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((b2-x2)/z)+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((b2+x2)/z))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-2*b2*p2*(x2^2-z^2-b2^2)*z/pi/((x2^2+z^2-b2^2)^2+4*b2^2*z^2)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+p3/pi*(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((b3-x3)/z)+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atan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((b3+x3)/z))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-2*b3*p3*(x3^2-z^2-b3^2)*z/pi/((x3^2+z^2-b3^2)^2+4*b3^2*z^2)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+18*z;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t=4*b1*1*x1*z^2/pi/((x1^2+z^2-b1^2)^2+4*b1^2*z^2)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 +4*b2*1*x2*z^2/pi/((x2^2+z^2-b2^2)^2+4*b2^2*z^2) ...,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    +4*b3*1*x3*z^2/pi/((x3^2+z^2-b3^2)^2+4*b3^2*z^2);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f1=(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fx+fz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)/2+sqrt(((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fx-fz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)/2)^2+t^2);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f3=(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fx+fz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)/2-sqrt(((</a:t>
                      </a:r>
                      <a:r>
                        <a:rPr lang="en-US" sz="12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fx-fz</a:t>
                      </a: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)/2)^2+t^2);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   y=f1*(tan(pi/4-phi/2))^2-2*c*tan(pi/4-phi/2)-f3;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end</a:t>
                      </a:r>
                      <a:endParaRPr lang="zh-CN" sz="1200" kern="100" dirty="0">
                        <a:solidFill>
                          <a:sysClr val="windowText" lastClr="0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57050" marR="5705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395536" y="4941168"/>
                <a:ext cx="7974632" cy="10218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/>
                  <a:t>缺陷：</a:t>
                </a:r>
                <a:r>
                  <a:rPr lang="zh-CN" altLang="zh-CN" dirty="0" smtClean="0">
                    <a:latin typeface="微软雅黑" pitchFamily="34" charset="-122"/>
                    <a:ea typeface="微软雅黑" pitchFamily="34" charset="-122"/>
                  </a:rPr>
                  <a:t>算法</a:t>
                </a:r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毕竟是弹性解，并未考虑屈服后的应力的重分布，以下是基础宽度为</a:t>
                </a:r>
                <a:r>
                  <a:rPr lang="en-US" altLang="zh-CN" dirty="0">
                    <a:latin typeface="微软雅黑" pitchFamily="34" charset="-122"/>
                    <a:ea typeface="微软雅黑" pitchFamily="34" charset="-122"/>
                  </a:rPr>
                  <a:t>4m</a:t>
                </a:r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，工况为地基两侧超载为</a:t>
                </a:r>
                <a14:m>
                  <m:oMath xmlns:m="http://schemas.openxmlformats.org/officeDocument/2006/math">
                    <m:r>
                      <a:rPr lang="en-US" altLang="zh-CN"/>
                      <m:t>40</m:t>
                    </m:r>
                    <m:r>
                      <m:rPr>
                        <m:sty m:val="p"/>
                      </m:rPr>
                      <a:rPr lang="en-US" altLang="zh-CN"/>
                      <m:t>KN</m:t>
                    </m:r>
                    <m:r>
                      <a:rPr lang="en-US" altLang="zh-CN"/>
                      <m:t>/</m:t>
                    </m:r>
                    <m:sSup>
                      <m:sSupPr>
                        <m:ctrlPr>
                          <a:rPr lang="zh-CN" altLang="zh-CN" i="1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/>
                          <m:t>m</m:t>
                        </m:r>
                      </m:e>
                      <m:sup>
                        <m:r>
                          <a:rPr lang="en-US" altLang="zh-CN" i="1"/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itchFamily="34" charset="-122"/>
                    <a:ea typeface="微软雅黑" pitchFamily="34" charset="-122"/>
                  </a:rPr>
                  <a:t>,</a:t>
                </a:r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基地压力为</a:t>
                </a:r>
                <a14:m>
                  <m:oMath xmlns:m="http://schemas.openxmlformats.org/officeDocument/2006/math">
                    <m:r>
                      <a:rPr lang="en-US" altLang="zh-CN"/>
                      <m:t>362</m:t>
                    </m:r>
                    <m:r>
                      <m:rPr>
                        <m:sty m:val="p"/>
                      </m:rPr>
                      <a:rPr lang="en-US" altLang="zh-CN"/>
                      <m:t>KN</m:t>
                    </m:r>
                    <m:r>
                      <a:rPr lang="en-US" altLang="zh-CN"/>
                      <m:t>/</m:t>
                    </m:r>
                    <m:sSup>
                      <m:sSupPr>
                        <m:ctrlPr>
                          <a:rPr lang="zh-CN" altLang="zh-CN" i="1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/>
                          <m:t>m</m:t>
                        </m:r>
                      </m:e>
                      <m:sup>
                        <m:r>
                          <a:rPr lang="en-US" altLang="zh-CN" i="1"/>
                          <m:t>2</m:t>
                        </m:r>
                      </m:sup>
                    </m:sSup>
                  </m:oMath>
                </a14:m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下的</a:t>
                </a:r>
                <a:r>
                  <a:rPr lang="en-US" altLang="zh-CN" dirty="0">
                    <a:latin typeface="微软雅黑" pitchFamily="34" charset="-122"/>
                    <a:ea typeface="微软雅黑" pitchFamily="34" charset="-122"/>
                  </a:rPr>
                  <a:t>“</a:t>
                </a:r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滑裂面</a:t>
                </a:r>
                <a:r>
                  <a:rPr lang="en-US" altLang="zh-CN" dirty="0">
                    <a:latin typeface="微软雅黑" pitchFamily="34" charset="-122"/>
                    <a:ea typeface="微软雅黑" pitchFamily="34" charset="-122"/>
                  </a:rPr>
                  <a:t>”</a:t>
                </a:r>
                <a:r>
                  <a:rPr lang="zh-CN" altLang="zh-CN" dirty="0">
                    <a:latin typeface="微软雅黑" pitchFamily="34" charset="-122"/>
                    <a:ea typeface="微软雅黑" pitchFamily="34" charset="-122"/>
                  </a:rPr>
                  <a:t>曲线。</a:t>
                </a:r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41168"/>
                <a:ext cx="7974632" cy="1021883"/>
              </a:xfrm>
              <a:prstGeom prst="rect">
                <a:avLst/>
              </a:prstGeom>
              <a:blipFill rotWithShape="1">
                <a:blip r:embed="rId5"/>
                <a:stretch>
                  <a:fillRect l="-1223" t="-5389" r="-612" b="-8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C:\Users\章友浩\Desktop\4040.jpg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2" t="-2073" r="4191" b="2073"/>
          <a:stretch/>
        </p:blipFill>
        <p:spPr bwMode="auto">
          <a:xfrm>
            <a:off x="0" y="1294160"/>
            <a:ext cx="9150896" cy="33589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5496" y="2564903"/>
            <a:ext cx="8997552" cy="175432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	</a:t>
            </a:r>
            <a:r>
              <a:rPr lang="zh-CN" altLang="zh-CN" sz="2400" dirty="0" smtClean="0"/>
              <a:t>选择</a:t>
            </a:r>
            <a:r>
              <a:rPr lang="zh-CN" altLang="zh-CN" sz="2400" dirty="0"/>
              <a:t>随超载改变，承载力的改变值进行对比（承载力以</a:t>
            </a:r>
            <a:r>
              <a:rPr lang="zh-CN" altLang="zh-CN" sz="2400" b="1" dirty="0">
                <a:solidFill>
                  <a:srgbClr val="FF0000"/>
                </a:solidFill>
              </a:rPr>
              <a:t>塑性深度达到</a:t>
            </a: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zh-CN" altLang="zh-CN" sz="2400" dirty="0"/>
              <a:t>作为标志）。同时为了保证变量单一，我们改变两侧超载的差值，但是不改变两侧超载之和</a:t>
            </a:r>
            <a:r>
              <a:rPr lang="zh-CN" altLang="zh-CN" sz="2400" dirty="0" smtClean="0"/>
              <a:t>。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4352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0648"/>
            <a:ext cx="7939557" cy="4532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-17140" y="5080587"/>
                <a:ext cx="9161140" cy="13481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 smtClean="0"/>
                  <a:t>        </a:t>
                </a:r>
                <a:r>
                  <a:rPr lang="zh-CN" altLang="zh-CN" dirty="0" smtClean="0"/>
                  <a:t>在</a:t>
                </a:r>
                <a:r>
                  <a:rPr lang="zh-CN" altLang="zh-CN" dirty="0"/>
                  <a:t>两侧超载相差不大时，采用规范的算法是偏安全的，但是，当两侧的超载相差较大时，如在该算例下，当左侧超载小于</a:t>
                </a:r>
                <a14:m>
                  <m:oMath xmlns:m="http://schemas.openxmlformats.org/officeDocument/2006/math">
                    <m:r>
                      <a:rPr lang="en-US" altLang="zh-CN"/>
                      <m:t>10</m:t>
                    </m:r>
                    <m:r>
                      <m:rPr>
                        <m:sty m:val="p"/>
                      </m:rPr>
                      <a:rPr lang="en-US" altLang="zh-CN"/>
                      <m:t>KN</m:t>
                    </m:r>
                    <m:r>
                      <a:rPr lang="en-US" altLang="zh-CN"/>
                      <m:t>/</m:t>
                    </m:r>
                    <m:sSup>
                      <m:sSupPr>
                        <m:ctrlPr>
                          <a:rPr lang="zh-CN" altLang="zh-CN" i="1"/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/>
                          <m:t>m</m:t>
                        </m:r>
                      </m:e>
                      <m:sup>
                        <m:r>
                          <a:rPr lang="en-US" altLang="zh-CN" i="1"/>
                          <m:t>2</m:t>
                        </m:r>
                      </m:sup>
                    </m:sSup>
                  </m:oMath>
                </a14:m>
                <a:r>
                  <a:rPr lang="zh-CN" altLang="zh-CN" dirty="0"/>
                  <a:t>后，规范的算法就偏不安全了。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    </a:t>
                </a:r>
                <a:r>
                  <a:rPr lang="zh-CN" altLang="zh-CN" dirty="0" smtClean="0"/>
                  <a:t>造成</a:t>
                </a:r>
                <a:r>
                  <a:rPr lang="zh-CN" altLang="zh-CN" dirty="0"/>
                  <a:t>这样的原因，正是前面所发现的承载力突变，这一现象的机理，非常值得</a:t>
                </a:r>
                <a:r>
                  <a:rPr lang="zh-CN" altLang="zh-CN" dirty="0" smtClean="0"/>
                  <a:t>研究</a:t>
                </a:r>
                <a:r>
                  <a:rPr lang="zh-CN" altLang="en-US" dirty="0" smtClean="0"/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140" y="5080587"/>
                <a:ext cx="9161140" cy="1348190"/>
              </a:xfrm>
              <a:prstGeom prst="rect">
                <a:avLst/>
              </a:prstGeom>
              <a:blipFill rotWithShape="1">
                <a:blip r:embed="rId3"/>
                <a:stretch>
                  <a:fillRect l="-532" b="-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6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189160"/>
                  </p:ext>
                </p:extLst>
              </p:nvPr>
            </p:nvGraphicFramePr>
            <p:xfrm>
              <a:off x="457199" y="1300871"/>
              <a:ext cx="8229601" cy="277850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743749"/>
                    <a:gridCol w="2743749"/>
                    <a:gridCol w="2742103"/>
                  </a:tblGrid>
                  <a:tr h="320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 smtClean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左侧超载值</a:t>
                          </a: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  <m:t>KN</m:t>
                                    </m:r>
                                    <m:r>
                                      <a:rPr lang="en-US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  <m:t>/</m:t>
                                    </m:r>
                                    <m:sSup>
                                      <m:sSupPr>
                                        <m:ctrlPr>
                                          <a:rPr lang="zh-CN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  <m:t>m</m:t>
                                        </m:r>
                                      </m:e>
                                      <m:sup>
                                        <m:r>
                                          <a:rPr lang="en-US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sz="1800" kern="100" dirty="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smtClean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右侧超载值</a:t>
                          </a: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  <m:t>KN</m:t>
                                    </m:r>
                                    <m:r>
                                      <a:rPr lang="en-US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  <m:t>/</m:t>
                                    </m:r>
                                    <m:sSup>
                                      <m:sSupPr>
                                        <m:ctrlPr>
                                          <a:rPr lang="zh-CN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  <m:t>m</m:t>
                                        </m:r>
                                      </m:e>
                                      <m:sup>
                                        <m:r>
                                          <a:rPr lang="en-US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smtClean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地基承载力</a:t>
                          </a: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zh-CN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  <m:t>KN</m:t>
                                    </m:r>
                                    <m:r>
                                      <a:rPr lang="en-US" sz="1800" kern="1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</a:rPr>
                                      <m:t>/</m:t>
                                    </m:r>
                                    <m:sSup>
                                      <m:sSupPr>
                                        <m:ctrlPr>
                                          <a:rPr lang="zh-CN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  <m:t>m</m:t>
                                        </m:r>
                                      </m:e>
                                      <m:sup>
                                        <m:r>
                                          <a:rPr lang="en-US" sz="1800" kern="100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676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73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305</a:t>
                          </a:r>
                          <a:endParaRPr lang="zh-CN" sz="1800" kern="100" dirty="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676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8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72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306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676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9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71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307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676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10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70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341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676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11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69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342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676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12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68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343</a:t>
                          </a:r>
                          <a:endParaRPr lang="zh-CN" sz="1800" kern="100" dirty="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189160"/>
                  </p:ext>
                </p:extLst>
              </p:nvPr>
            </p:nvGraphicFramePr>
            <p:xfrm>
              <a:off x="457199" y="1300871"/>
              <a:ext cx="8229601" cy="277850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743749"/>
                    <a:gridCol w="2743749"/>
                    <a:gridCol w="2742103"/>
                  </a:tblGrid>
                  <a:tr h="58394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5625" r="-200000" b="-407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5625" r="-100000" b="-407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000" t="-15625" b="-407292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73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305</a:t>
                          </a:r>
                          <a:endParaRPr lang="zh-CN" sz="1800" kern="100" dirty="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8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72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306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9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71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307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10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70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341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11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69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342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12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68</a:t>
                          </a:r>
                          <a:endParaRPr lang="zh-CN" sz="1800" kern="10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ysClr val="windowText" lastClr="000000"/>
                              </a:solidFill>
                              <a:effectLst/>
                            </a:rPr>
                            <a:t>343</a:t>
                          </a:r>
                          <a:endParaRPr lang="zh-CN" sz="1800" kern="100" dirty="0">
                            <a:solidFill>
                              <a:sysClr val="windowText" lastClr="000000"/>
                            </a:solidFill>
                            <a:effectLst/>
                            <a:latin typeface="Calibri"/>
                            <a:ea typeface="宋体"/>
                            <a:cs typeface="Times New Roman"/>
                          </a:endParaRPr>
                        </a:p>
                      </a:txBody>
                      <a:tcPr marL="68580" marR="68580" marT="0" marB="0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8" name="组合 7"/>
          <p:cNvGrpSpPr/>
          <p:nvPr/>
        </p:nvGrpSpPr>
        <p:grpSpPr>
          <a:xfrm>
            <a:off x="1571262" y="913928"/>
            <a:ext cx="6601138" cy="5899448"/>
            <a:chOff x="1571262" y="841920"/>
            <a:chExt cx="4838700" cy="4732296"/>
          </a:xfrm>
        </p:grpSpPr>
        <p:pic>
          <p:nvPicPr>
            <p:cNvPr id="3075" name="图片 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12" r="5226"/>
            <a:stretch>
              <a:fillRect/>
            </a:stretch>
          </p:blipFill>
          <p:spPr bwMode="auto">
            <a:xfrm>
              <a:off x="1571262" y="841920"/>
              <a:ext cx="4838700" cy="1619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图片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8" r="7594"/>
            <a:stretch>
              <a:fillRect/>
            </a:stretch>
          </p:blipFill>
          <p:spPr bwMode="auto">
            <a:xfrm>
              <a:off x="1571262" y="2461170"/>
              <a:ext cx="4695825" cy="1571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3" name="图片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7" r="6960"/>
            <a:stretch>
              <a:fillRect/>
            </a:stretch>
          </p:blipFill>
          <p:spPr bwMode="auto">
            <a:xfrm>
              <a:off x="1571262" y="4032795"/>
              <a:ext cx="4733925" cy="1409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3014281" y="2269943"/>
              <a:ext cx="1329210" cy="800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itchFamily="18" charset="0"/>
                  <a:ea typeface="宋体" pitchFamily="2" charset="-122"/>
                  <a:cs typeface="Times New Roman" pitchFamily="18" charset="0"/>
                </a:rPr>
                <a:t>307KN/m</a:t>
              </a:r>
              <a:r>
                <a:rPr kumimoji="0" lang="en-US" altLang="zh-CN" sz="14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itchFamily="18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3014281" y="3841568"/>
              <a:ext cx="1329210" cy="800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itchFamily="18" charset="0"/>
                  <a:ea typeface="宋体" pitchFamily="2" charset="-122"/>
                  <a:cs typeface="Times New Roman" pitchFamily="18" charset="0"/>
                </a:rPr>
                <a:t>325KN/m</a:t>
              </a:r>
              <a:r>
                <a:rPr kumimoji="0" lang="en-US" altLang="zh-CN" sz="14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itchFamily="18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3017490" y="5266439"/>
              <a:ext cx="132279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2667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itchFamily="18" charset="0"/>
                  <a:ea typeface="宋体" pitchFamily="2" charset="-122"/>
                  <a:cs typeface="Times New Roman" pitchFamily="18" charset="0"/>
                </a:rPr>
                <a:t>341KN/m</a:t>
              </a:r>
              <a:r>
                <a:rPr kumimoji="0" lang="en-US" altLang="zh-CN" sz="14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itchFamily="18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2090" y="41701"/>
            <a:ext cx="3347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/>
              <a:t>进一步思考</a:t>
            </a:r>
            <a:endParaRPr lang="zh-CN" altLang="en-US" sz="4800" b="1" dirty="0"/>
          </a:p>
        </p:txBody>
      </p:sp>
      <p:sp>
        <p:nvSpPr>
          <p:cNvPr id="10" name="矩形 9"/>
          <p:cNvSpPr/>
          <p:nvPr/>
        </p:nvSpPr>
        <p:spPr>
          <a:xfrm>
            <a:off x="301960" y="4658473"/>
            <a:ext cx="8662528" cy="13388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        </a:t>
            </a:r>
            <a:r>
              <a:rPr lang="zh-CN" altLang="zh-CN" dirty="0" smtClean="0"/>
              <a:t>随着</a:t>
            </a:r>
            <a:r>
              <a:rPr lang="zh-CN" altLang="zh-CN" dirty="0"/>
              <a:t>基地压力增大，基础中点下的</a:t>
            </a:r>
            <a:r>
              <a:rPr lang="en-US" altLang="zh-CN" dirty="0"/>
              <a:t>“</a:t>
            </a:r>
            <a:r>
              <a:rPr lang="zh-CN" altLang="zh-CN" dirty="0"/>
              <a:t>滑裂面</a:t>
            </a:r>
            <a:r>
              <a:rPr lang="en-US" altLang="zh-CN" dirty="0"/>
              <a:t>”</a:t>
            </a:r>
            <a:r>
              <a:rPr lang="zh-CN" altLang="zh-CN" dirty="0"/>
              <a:t>曲线开始出现向上突起，屈服深度降低，造成这样的原因有待于进一步研究，但是我们认为正是这样的</a:t>
            </a:r>
            <a:r>
              <a:rPr lang="en-US" altLang="zh-CN" dirty="0"/>
              <a:t>“</a:t>
            </a:r>
            <a:r>
              <a:rPr lang="zh-CN" altLang="zh-CN" dirty="0"/>
              <a:t>滑裂面</a:t>
            </a:r>
            <a:r>
              <a:rPr lang="en-US" altLang="zh-CN" dirty="0"/>
              <a:t>”</a:t>
            </a:r>
            <a:r>
              <a:rPr lang="zh-CN" altLang="zh-CN" dirty="0"/>
              <a:t>曲线的改变造成了承载力的突变。</a:t>
            </a:r>
          </a:p>
        </p:txBody>
      </p:sp>
      <p:sp>
        <p:nvSpPr>
          <p:cNvPr id="11" name="矩形 10"/>
          <p:cNvSpPr/>
          <p:nvPr/>
        </p:nvSpPr>
        <p:spPr>
          <a:xfrm>
            <a:off x="6300192" y="457199"/>
            <a:ext cx="2016224" cy="40519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60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6512" y="1403936"/>
            <a:ext cx="87839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、针对基础两侧地表高度不同的情况，我们利用弗拉曼解给出了，并对模型进行一定合理的假设和化简，得到了滑裂面的弹性数值解；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、对比理论解与规范处理方法：规范法在两侧超载差值不大时是偏安全的，而当差值达到一定程度后，承载力会发生突变，规范法变偏不安全；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3</a:t>
            </a:r>
            <a:r>
              <a:rPr lang="zh-CN" altLang="en-US" sz="2000" dirty="0" smtClean="0"/>
              <a:t>、发现了在超载差值达到一定程度后，破坏面形状会发生变化，破坏模式改变，承载力突变；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4</a:t>
            </a:r>
            <a:r>
              <a:rPr lang="zh-CN" altLang="en-US" sz="2000" dirty="0" smtClean="0"/>
              <a:t>、对比并加深了对弹性解与塑性解差别的认识；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FF0000"/>
                </a:solidFill>
              </a:rPr>
              <a:t>5</a:t>
            </a:r>
            <a:r>
              <a:rPr lang="zh-CN" altLang="en-US" sz="2000" dirty="0" smtClean="0">
                <a:solidFill>
                  <a:srgbClr val="FF0000"/>
                </a:solidFill>
              </a:rPr>
              <a:t>、当然本解法还存在很多不合理的地方，如未考虑塑性，上层土体简单的认为是超载，而未考虑其强度等等，有待进一步改进。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12" y="368457"/>
            <a:ext cx="3347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/>
              <a:t>总结：</a:t>
            </a:r>
            <a:endParaRPr lang="zh-CN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91286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1168</Words>
  <Application>Microsoft Office PowerPoint</Application>
  <PresentationFormat>全屏显示(4:3)</PresentationFormat>
  <Paragraphs>91</Paragraphs>
  <Slides>6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Office 主题​​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5</cp:revision>
  <dcterms:created xsi:type="dcterms:W3CDTF">2013-05-28T12:16:12Z</dcterms:created>
  <dcterms:modified xsi:type="dcterms:W3CDTF">2013-05-28T12:52:18Z</dcterms:modified>
</cp:coreProperties>
</file>