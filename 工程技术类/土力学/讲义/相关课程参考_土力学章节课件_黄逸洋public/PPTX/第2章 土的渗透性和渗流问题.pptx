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gif" ContentType="image/gif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0" r:id="rId1"/>
    <p:sldMasterId id="2147483744" r:id="rId2"/>
  </p:sldMasterIdLst>
  <p:notesMasterIdLst>
    <p:notesMasterId r:id="rId126"/>
  </p:notesMasterIdLst>
  <p:handoutMasterIdLst>
    <p:handoutMasterId r:id="rId127"/>
  </p:handoutMasterIdLst>
  <p:sldIdLst>
    <p:sldId id="256" r:id="rId3"/>
    <p:sldId id="895" r:id="rId4"/>
    <p:sldId id="766" r:id="rId5"/>
    <p:sldId id="894" r:id="rId6"/>
    <p:sldId id="922" r:id="rId7"/>
    <p:sldId id="806" r:id="rId8"/>
    <p:sldId id="923" r:id="rId9"/>
    <p:sldId id="924" r:id="rId10"/>
    <p:sldId id="925" r:id="rId11"/>
    <p:sldId id="926" r:id="rId12"/>
    <p:sldId id="927" r:id="rId13"/>
    <p:sldId id="928" r:id="rId14"/>
    <p:sldId id="929" r:id="rId15"/>
    <p:sldId id="930" r:id="rId16"/>
    <p:sldId id="931" r:id="rId17"/>
    <p:sldId id="902" r:id="rId18"/>
    <p:sldId id="903" r:id="rId19"/>
    <p:sldId id="904" r:id="rId20"/>
    <p:sldId id="905" r:id="rId21"/>
    <p:sldId id="906" r:id="rId22"/>
    <p:sldId id="932" r:id="rId23"/>
    <p:sldId id="813" r:id="rId24"/>
    <p:sldId id="933" r:id="rId25"/>
    <p:sldId id="934" r:id="rId26"/>
    <p:sldId id="935" r:id="rId27"/>
    <p:sldId id="936" r:id="rId28"/>
    <p:sldId id="962" r:id="rId29"/>
    <p:sldId id="939" r:id="rId30"/>
    <p:sldId id="940" r:id="rId31"/>
    <p:sldId id="941" r:id="rId32"/>
    <p:sldId id="942" r:id="rId33"/>
    <p:sldId id="943" r:id="rId34"/>
    <p:sldId id="944" r:id="rId35"/>
    <p:sldId id="945" r:id="rId36"/>
    <p:sldId id="946" r:id="rId37"/>
    <p:sldId id="947" r:id="rId38"/>
    <p:sldId id="948" r:id="rId39"/>
    <p:sldId id="949" r:id="rId40"/>
    <p:sldId id="950" r:id="rId41"/>
    <p:sldId id="951" r:id="rId42"/>
    <p:sldId id="952" r:id="rId43"/>
    <p:sldId id="953" r:id="rId44"/>
    <p:sldId id="954" r:id="rId45"/>
    <p:sldId id="955" r:id="rId46"/>
    <p:sldId id="956" r:id="rId47"/>
    <p:sldId id="957" r:id="rId48"/>
    <p:sldId id="958" r:id="rId49"/>
    <p:sldId id="959" r:id="rId50"/>
    <p:sldId id="960" r:id="rId51"/>
    <p:sldId id="961" r:id="rId52"/>
    <p:sldId id="837" r:id="rId53"/>
    <p:sldId id="838" r:id="rId54"/>
    <p:sldId id="839" r:id="rId55"/>
    <p:sldId id="963" r:id="rId56"/>
    <p:sldId id="964" r:id="rId57"/>
    <p:sldId id="965" r:id="rId58"/>
    <p:sldId id="966" r:id="rId59"/>
    <p:sldId id="967" r:id="rId60"/>
    <p:sldId id="968" r:id="rId61"/>
    <p:sldId id="969" r:id="rId62"/>
    <p:sldId id="970" r:id="rId63"/>
    <p:sldId id="971" r:id="rId64"/>
    <p:sldId id="972" r:id="rId65"/>
    <p:sldId id="973" r:id="rId66"/>
    <p:sldId id="974" r:id="rId67"/>
    <p:sldId id="975" r:id="rId68"/>
    <p:sldId id="976" r:id="rId69"/>
    <p:sldId id="977" r:id="rId70"/>
    <p:sldId id="978" r:id="rId71"/>
    <p:sldId id="979" r:id="rId72"/>
    <p:sldId id="980" r:id="rId73"/>
    <p:sldId id="981" r:id="rId74"/>
    <p:sldId id="982" r:id="rId75"/>
    <p:sldId id="983" r:id="rId76"/>
    <p:sldId id="984" r:id="rId77"/>
    <p:sldId id="986" r:id="rId78"/>
    <p:sldId id="987" r:id="rId79"/>
    <p:sldId id="988" r:id="rId80"/>
    <p:sldId id="989" r:id="rId81"/>
    <p:sldId id="990" r:id="rId82"/>
    <p:sldId id="991" r:id="rId83"/>
    <p:sldId id="992" r:id="rId84"/>
    <p:sldId id="993" r:id="rId85"/>
    <p:sldId id="994" r:id="rId86"/>
    <p:sldId id="995" r:id="rId87"/>
    <p:sldId id="996" r:id="rId88"/>
    <p:sldId id="855" r:id="rId89"/>
    <p:sldId id="1026" r:id="rId90"/>
    <p:sldId id="997" r:id="rId91"/>
    <p:sldId id="998" r:id="rId92"/>
    <p:sldId id="999" r:id="rId93"/>
    <p:sldId id="1000" r:id="rId94"/>
    <p:sldId id="1001" r:id="rId95"/>
    <p:sldId id="1002" r:id="rId96"/>
    <p:sldId id="1003" r:id="rId97"/>
    <p:sldId id="1004" r:id="rId98"/>
    <p:sldId id="1005" r:id="rId99"/>
    <p:sldId id="1006" r:id="rId100"/>
    <p:sldId id="1007" r:id="rId101"/>
    <p:sldId id="1008" r:id="rId102"/>
    <p:sldId id="1009" r:id="rId103"/>
    <p:sldId id="1010" r:id="rId104"/>
    <p:sldId id="1011" r:id="rId105"/>
    <p:sldId id="1012" r:id="rId106"/>
    <p:sldId id="1013" r:id="rId107"/>
    <p:sldId id="1014" r:id="rId108"/>
    <p:sldId id="1015" r:id="rId109"/>
    <p:sldId id="1016" r:id="rId110"/>
    <p:sldId id="1017" r:id="rId111"/>
    <p:sldId id="1018" r:id="rId112"/>
    <p:sldId id="1019" r:id="rId113"/>
    <p:sldId id="1020" r:id="rId114"/>
    <p:sldId id="1021" r:id="rId115"/>
    <p:sldId id="1022" r:id="rId116"/>
    <p:sldId id="1023" r:id="rId117"/>
    <p:sldId id="1024" r:id="rId118"/>
    <p:sldId id="1025" r:id="rId119"/>
    <p:sldId id="873" r:id="rId120"/>
    <p:sldId id="1027" r:id="rId121"/>
    <p:sldId id="1028" r:id="rId122"/>
    <p:sldId id="1029" r:id="rId123"/>
    <p:sldId id="1030" r:id="rId124"/>
    <p:sldId id="921" r:id="rId125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28">
          <p15:clr>
            <a:srgbClr val="A4A3A4"/>
          </p15:clr>
        </p15:guide>
        <p15:guide id="2" orient="horz" pos="685">
          <p15:clr>
            <a:srgbClr val="A4A3A4"/>
          </p15:clr>
        </p15:guide>
        <p15:guide id="3" pos="12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5">
          <p15:clr>
            <a:srgbClr val="A4A3A4"/>
          </p15:clr>
        </p15:guide>
        <p15:guide id="2" pos="89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3399FF"/>
    <a:srgbClr val="FF9933"/>
    <a:srgbClr val="0033CC"/>
    <a:srgbClr val="A50021"/>
    <a:srgbClr val="000066"/>
    <a:srgbClr val="99CCFF"/>
    <a:srgbClr val="3333FF"/>
    <a:srgbClr val="0066FF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04" autoAdjust="0"/>
    <p:restoredTop sz="87191" autoAdjust="0"/>
  </p:normalViewPr>
  <p:slideViewPr>
    <p:cSldViewPr snapToGrid="0" showGuides="1">
      <p:cViewPr varScale="1">
        <p:scale>
          <a:sx n="72" d="100"/>
          <a:sy n="72" d="100"/>
        </p:scale>
        <p:origin x="760" y="52"/>
      </p:cViewPr>
      <p:guideLst>
        <p:guide orient="horz" pos="3428"/>
        <p:guide orient="horz" pos="685"/>
        <p:guide pos="12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54"/>
    </p:cViewPr>
  </p:sorterViewPr>
  <p:notesViewPr>
    <p:cSldViewPr snapToGrid="0" showGuides="1">
      <p:cViewPr>
        <p:scale>
          <a:sx n="100" d="100"/>
          <a:sy n="100" d="100"/>
        </p:scale>
        <p:origin x="1493" y="-432"/>
      </p:cViewPr>
      <p:guideLst>
        <p:guide orient="horz" pos="2145"/>
        <p:guide pos="8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presProps" Target="pres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viewProps" Target="view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theme" Target="theme/theme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4" Type="http://schemas.openxmlformats.org/officeDocument/2006/relationships/image" Target="../media/image7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4" Type="http://schemas.openxmlformats.org/officeDocument/2006/relationships/image" Target="../media/image10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4" Type="http://schemas.openxmlformats.org/officeDocument/2006/relationships/image" Target="../media/image115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8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 smtClean="0">
                <a:ea typeface="宋体" pitchFamily="2" charset="-122"/>
              </a:defRPr>
            </a:lvl1pPr>
          </a:lstStyle>
          <a:p>
            <a:pPr>
              <a:defRPr/>
            </a:pPr>
            <a:fld id="{06C10713-4AEB-4214-8A4A-6230A9259C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253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5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945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5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 smtClean="0">
                <a:ea typeface="宋体" pitchFamily="2" charset="-122"/>
              </a:defRPr>
            </a:lvl1pPr>
          </a:lstStyle>
          <a:p>
            <a:pPr>
              <a:defRPr/>
            </a:pPr>
            <a:fld id="{9CD4F3DE-B38A-4E63-9466-4E4EEC57F66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68989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F30BB05-4611-4BD9-B233-0CF45F32D510}" type="slidenum">
              <a:rPr lang="zh-CN" altLang="en-US" sz="1200"/>
              <a:pPr eaLnBrk="1" hangingPunct="1"/>
              <a:t>1</a:t>
            </a:fld>
            <a:endParaRPr lang="en-US" altLang="zh-CN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4210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23741BEE-08CA-480A-A50E-38DC2AAA65FC}" type="slidenum">
              <a:rPr lang="zh-CN" altLang="en-US" sz="1200"/>
              <a:pPr eaLnBrk="1" hangingPunct="1"/>
              <a:t>2</a:t>
            </a:fld>
            <a:endParaRPr lang="en-US" altLang="zh-CN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0788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643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28C9F3C-523F-4CD6-A600-5E211537663F}" type="slidenum">
              <a:rPr lang="zh-CN" altLang="en-US" sz="1200"/>
              <a:pPr eaLnBrk="1" hangingPunct="1"/>
              <a:t>4</a:t>
            </a:fld>
            <a:endParaRPr lang="en-US" altLang="zh-CN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859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6683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2478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2705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003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9849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6222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4691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781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9905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8763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1826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0786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C9051F5-5CD1-4846-8720-ADF166B8379C}" type="slidenum">
              <a:rPr lang="zh-CN" altLang="en-US" sz="1200"/>
              <a:pPr eaLnBrk="1" hangingPunct="1"/>
              <a:t>17</a:t>
            </a:fld>
            <a:endParaRPr lang="en-US" altLang="zh-CN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38472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C4836B15-9530-404A-9048-08A429D6D645}" type="slidenum">
              <a:rPr lang="zh-CN" altLang="en-US" sz="1200"/>
              <a:pPr eaLnBrk="1" hangingPunct="1"/>
              <a:t>18</a:t>
            </a:fld>
            <a:endParaRPr lang="en-US" altLang="zh-CN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8724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858A074-7F2F-41E6-8FFB-B0C4EDF917A2}" type="slidenum">
              <a:rPr lang="zh-CN" altLang="en-US" sz="1200"/>
              <a:pPr eaLnBrk="1" hangingPunct="1"/>
              <a:t>19</a:t>
            </a:fld>
            <a:endParaRPr lang="en-US" altLang="zh-CN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06035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E14606AE-C034-48D8-B069-B53BCC055079}" type="slidenum">
              <a:rPr lang="zh-CN" altLang="en-US" sz="1200"/>
              <a:pPr eaLnBrk="1" hangingPunct="1"/>
              <a:t>20</a:t>
            </a:fld>
            <a:endParaRPr lang="en-US" altLang="zh-CN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43400"/>
            <a:ext cx="488315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sz="1400" dirty="0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11084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1325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74259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F62C1F3A-B05F-4840-890C-E1587E42AEC8}" type="slidenum">
              <a:rPr lang="zh-CN" altLang="en-US" sz="1200"/>
              <a:pPr eaLnBrk="1" hangingPunct="1"/>
              <a:t>23</a:t>
            </a:fld>
            <a:endParaRPr lang="en-US" altLang="zh-CN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4763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9037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90377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04616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4618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60060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01650" y="4343400"/>
            <a:ext cx="6057900" cy="453331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8882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62297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57725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84566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20653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6736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0194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71730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6047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2150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362450"/>
          </a:xfrm>
        </p:spPr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470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40574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08837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 dirty="0" smtClean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4343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10072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19959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94110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77191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5520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95868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20700" y="4343400"/>
            <a:ext cx="5835650" cy="4114800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5183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00606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71160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08194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65198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42532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9205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411967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8826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852023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943799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264352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51770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51770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5177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5177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51770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8746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749494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5209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079360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>
              <a:sym typeface="Symbol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079360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38715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i="1" dirty="0">
              <a:sym typeface="Symbol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38715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591486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74951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142708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8632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6F3B87-4B13-45F1-8CF0-EFC998FC43CE}" type="slidenum">
              <a:rPr lang="zh-CN" altLang="en-US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60693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773655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470303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307241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307241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60752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743109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dirty="0" smtClean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endParaRPr lang="en-US" altLang="zh-CN" sz="1200" i="1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en-US" altLang="zh-CN" sz="1200" i="1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128464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011038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873360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957396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957396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957396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99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957396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244277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768984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0851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99635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99635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303605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98092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375069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771443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109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64352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64352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288500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178385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178385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1783859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22084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975047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00078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D4F3DE-B38A-4E63-9466-4E4EEC57F66C}" type="slidenum">
              <a:rPr lang="zh-CN" altLang="en-US" smtClean="0"/>
              <a:pPr>
                <a:defRPr/>
              </a:pPr>
              <a:t>118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510355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6F3B87-4B13-45F1-8CF0-EFC998FC43CE}" type="slidenum">
              <a:rPr lang="zh-CN" altLang="en-US" smtClean="0"/>
              <a:pPr>
                <a:defRPr/>
              </a:pPr>
              <a:t>119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069775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6F3B87-4B13-45F1-8CF0-EFC998FC43CE}" type="slidenum">
              <a:rPr lang="zh-CN" altLang="en-US" smtClean="0"/>
              <a:pPr>
                <a:defRPr/>
              </a:pPr>
              <a:t>120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21420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6F3B87-4B13-45F1-8CF0-EFC998FC43CE}" type="slidenum">
              <a:rPr lang="zh-CN" altLang="en-US" smtClean="0"/>
              <a:pPr>
                <a:defRPr/>
              </a:pPr>
              <a:t>121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60693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6F3B87-4B13-45F1-8CF0-EFC998FC43CE}" type="slidenum">
              <a:rPr lang="zh-CN" altLang="en-US" smtClean="0"/>
              <a:pPr>
                <a:defRPr/>
              </a:pPr>
              <a:t>122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964608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28C9F3C-523F-4CD6-A600-5E211537663F}" type="slidenum">
              <a:rPr lang="zh-CN" altLang="en-US" sz="1200"/>
              <a:pPr eaLnBrk="1" hangingPunct="1"/>
              <a:t>123</a:t>
            </a:fld>
            <a:endParaRPr lang="en-US" altLang="zh-CN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7817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988631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778772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30242625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085782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814227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644475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xbh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1158760" y="4278004"/>
            <a:ext cx="1557808" cy="15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:\教学2012\清华校徽2.gif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61" y="776294"/>
            <a:ext cx="13430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014725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90460072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08857679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606209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309586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68204"/>
      </p:ext>
    </p:extLst>
  </p:cSld>
  <p:clrMapOvr>
    <a:masterClrMapping/>
  </p:clrMapOvr>
  <p:transition spd="med"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033718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81078009"/>
      </p:ext>
    </p:extLst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554721"/>
      </p:ext>
    </p:extLst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497622"/>
      </p:ext>
    </p:extLst>
  </p:cSld>
  <p:clrMapOvr>
    <a:masterClrMapping/>
  </p:clrMapOvr>
  <p:transition spd="med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957477"/>
      </p:ext>
    </p:extLst>
  </p:cSld>
  <p:clrMapOvr>
    <a:masterClrMapping/>
  </p:clrMapOvr>
  <p:transition spd="med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612002"/>
      </p:ext>
    </p:extLst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94092451"/>
      </p:ext>
    </p:extLst>
  </p:cSld>
  <p:clrMapOvr>
    <a:masterClrMapping/>
  </p:clrMapOvr>
  <p:transition spd="med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92948808"/>
      </p:ext>
    </p:extLst>
  </p:cSld>
  <p:clrMapOvr>
    <a:masterClrMapping/>
  </p:clrMapOvr>
  <p:transition spd="med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934327"/>
      </p:ext>
    </p:extLst>
  </p:cSld>
  <p:clrMapOvr>
    <a:masterClrMapping/>
  </p:clrMapOvr>
  <p:transition spd="med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37882"/>
      </p:ext>
    </p:extLst>
  </p:cSld>
  <p:clrMapOvr>
    <a:masterClrMapping/>
  </p:clrMapOvr>
  <p:transition spd="med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496403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148"/>
          <p:cNvGrpSpPr>
            <a:grpSpLocks/>
          </p:cNvGrpSpPr>
          <p:nvPr userDrawn="1"/>
        </p:nvGrpSpPr>
        <p:grpSpPr bwMode="auto">
          <a:xfrm>
            <a:off x="8031163" y="5454650"/>
            <a:ext cx="533400" cy="492125"/>
            <a:chOff x="96" y="2784"/>
            <a:chExt cx="1062" cy="981"/>
          </a:xfrm>
        </p:grpSpPr>
        <p:sp>
          <p:nvSpPr>
            <p:cNvPr id="594069" name="Freeform 149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0" name="Freeform 150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1" name="Freeform 151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2" name="Freeform 152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3" name="Freeform 153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4" name="Freeform 154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5" name="Freeform 155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6" name="Freeform 156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7" name="Freeform 157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8" name="Freeform 158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79" name="Freeform 159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80" name="Freeform 160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81" name="Freeform 161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31747" name="Group 162"/>
          <p:cNvGrpSpPr>
            <a:grpSpLocks/>
          </p:cNvGrpSpPr>
          <p:nvPr userDrawn="1"/>
        </p:nvGrpSpPr>
        <p:grpSpPr bwMode="auto">
          <a:xfrm>
            <a:off x="5805488" y="2881313"/>
            <a:ext cx="533400" cy="492125"/>
            <a:chOff x="96" y="2784"/>
            <a:chExt cx="1062" cy="981"/>
          </a:xfrm>
        </p:grpSpPr>
        <p:sp>
          <p:nvSpPr>
            <p:cNvPr id="594083" name="Freeform 163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84" name="Freeform 164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85" name="Freeform 165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86" name="Freeform 166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87" name="Freeform 167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88" name="Freeform 168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89" name="Freeform 169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90" name="Freeform 170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91" name="Freeform 171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92" name="Freeform 172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93" name="Freeform 173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94" name="Freeform 174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95" name="Freeform 175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31748" name="Group 176"/>
          <p:cNvGrpSpPr>
            <a:grpSpLocks/>
          </p:cNvGrpSpPr>
          <p:nvPr userDrawn="1"/>
        </p:nvGrpSpPr>
        <p:grpSpPr bwMode="auto">
          <a:xfrm>
            <a:off x="1646238" y="4876800"/>
            <a:ext cx="533400" cy="492125"/>
            <a:chOff x="96" y="2784"/>
            <a:chExt cx="1062" cy="981"/>
          </a:xfrm>
        </p:grpSpPr>
        <p:sp>
          <p:nvSpPr>
            <p:cNvPr id="594097" name="Freeform 177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98" name="Freeform 178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099" name="Freeform 179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0" name="Freeform 180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1" name="Freeform 181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2" name="Freeform 182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3" name="Freeform 183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4" name="Freeform 184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5" name="Freeform 185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6" name="Freeform 186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7" name="Freeform 187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8" name="Freeform 188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09" name="Freeform 189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31749" name="Group 190"/>
          <p:cNvGrpSpPr>
            <a:grpSpLocks/>
          </p:cNvGrpSpPr>
          <p:nvPr userDrawn="1"/>
        </p:nvGrpSpPr>
        <p:grpSpPr bwMode="auto">
          <a:xfrm>
            <a:off x="5046663" y="4525963"/>
            <a:ext cx="533400" cy="492125"/>
            <a:chOff x="96" y="2784"/>
            <a:chExt cx="1062" cy="981"/>
          </a:xfrm>
        </p:grpSpPr>
        <p:sp>
          <p:nvSpPr>
            <p:cNvPr id="594111" name="Freeform 191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12" name="Freeform 192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13" name="Freeform 193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14" name="Freeform 194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15" name="Freeform 195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16" name="Freeform 196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17" name="Freeform 197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18" name="Freeform 198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19" name="Freeform 199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20" name="Freeform 200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21" name="Freeform 201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22" name="Freeform 202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23" name="Freeform 203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31750" name="Group 204"/>
          <p:cNvGrpSpPr>
            <a:grpSpLocks/>
          </p:cNvGrpSpPr>
          <p:nvPr userDrawn="1"/>
        </p:nvGrpSpPr>
        <p:grpSpPr bwMode="auto">
          <a:xfrm>
            <a:off x="1096963" y="2486025"/>
            <a:ext cx="533400" cy="492125"/>
            <a:chOff x="96" y="2784"/>
            <a:chExt cx="1062" cy="981"/>
          </a:xfrm>
        </p:grpSpPr>
        <p:sp>
          <p:nvSpPr>
            <p:cNvPr id="594125" name="Freeform 205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26" name="Freeform 206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27" name="Freeform 207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28" name="Freeform 208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29" name="Freeform 209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30" name="Freeform 210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31" name="Freeform 211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32" name="Freeform 212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33" name="Freeform 213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34" name="Freeform 214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35" name="Freeform 215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36" name="Freeform 216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4137" name="Freeform 217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pic>
        <p:nvPicPr>
          <p:cNvPr id="31751" name="Picture 273" descr="校徽blue2"/>
          <p:cNvPicPr>
            <a:picLocks noChangeAspect="1" noChangeArrowheads="1"/>
          </p:cNvPicPr>
          <p:nvPr userDrawn="1"/>
        </p:nvPicPr>
        <p:blipFill>
          <a:blip r:embed="rId13">
            <a:lum bright="90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280988"/>
            <a:ext cx="3387725" cy="33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B741-5216-414E-B74B-795A24EA3A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6" name="Picture 13" descr="xbh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423817" y="5489135"/>
            <a:ext cx="1174241" cy="11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 userDrawn="1"/>
        </p:nvSpPr>
        <p:spPr>
          <a:xfrm>
            <a:off x="7101555" y="491380"/>
            <a:ext cx="2042446" cy="115368"/>
          </a:xfrm>
          <a:prstGeom prst="rect">
            <a:avLst/>
          </a:prstGeom>
          <a:solidFill>
            <a:srgbClr val="A74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7007545" y="59819"/>
            <a:ext cx="21595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0" spc="-170" baseline="0" dirty="0" smtClean="0">
                <a:solidFill>
                  <a:srgbClr val="C00000"/>
                </a:solidFill>
              </a:rPr>
              <a:t>智者乐水  仁者乐山</a:t>
            </a:r>
            <a:endParaRPr lang="zh-CN" altLang="en-US" sz="2000" b="1" kern="1000" spc="-170" baseline="0" dirty="0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G:\01-&#22303;&#21147;&#23398;MOOC&#65288;7&#26376;24&#26085;&#25293;&#25668;&#65289;\&#31532;2&#31456;%20&#22303;&#30340;&#28183;&#36879;&#24615;&#21644;&#28183;&#27969;&#38382;&#39064;\&#31532;1&#33410;%20&#27010;&#36848;\1993&#32654;&#22269;&#23494;&#35199;&#35199;&#27604;&#31649;&#28044;.av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6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39.wmf"/><Relationship Id="rId3" Type="http://schemas.openxmlformats.org/officeDocument/2006/relationships/notesSlide" Target="../notesSlides/notesSlide36.xml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35.wmf"/><Relationship Id="rId4" Type="http://schemas.openxmlformats.org/officeDocument/2006/relationships/image" Target="../media/image31.jpeg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3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2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28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if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if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48.xml"/><Relationship Id="rId7" Type="http://schemas.openxmlformats.org/officeDocument/2006/relationships/image" Target="../media/image5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51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57.wmf"/><Relationship Id="rId18" Type="http://schemas.openxmlformats.org/officeDocument/2006/relationships/oleObject" Target="../embeddings/oleObject40.bin"/><Relationship Id="rId3" Type="http://schemas.openxmlformats.org/officeDocument/2006/relationships/notesSlide" Target="../notesSlides/notesSlide49.xml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59.wmf"/><Relationship Id="rId2" Type="http://schemas.openxmlformats.org/officeDocument/2006/relationships/slideLayout" Target="../slideLayouts/slideLayout15.xml"/><Relationship Id="rId16" Type="http://schemas.openxmlformats.org/officeDocument/2006/relationships/oleObject" Target="../embeddings/oleObject39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56.wmf"/><Relationship Id="rId5" Type="http://schemas.openxmlformats.org/officeDocument/2006/relationships/image" Target="../media/image53.wmf"/><Relationship Id="rId15" Type="http://schemas.openxmlformats.org/officeDocument/2006/relationships/image" Target="../media/image58.w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60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38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notesSlide" Target="../notesSlides/notesSlide50.xml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63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68.wmf"/><Relationship Id="rId18" Type="http://schemas.openxmlformats.org/officeDocument/2006/relationships/oleObject" Target="../embeddings/oleObject51.bin"/><Relationship Id="rId3" Type="http://schemas.openxmlformats.org/officeDocument/2006/relationships/notesSlide" Target="../notesSlides/notesSlide51.xml"/><Relationship Id="rId7" Type="http://schemas.openxmlformats.org/officeDocument/2006/relationships/image" Target="../media/image65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70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50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67.wmf"/><Relationship Id="rId5" Type="http://schemas.openxmlformats.org/officeDocument/2006/relationships/image" Target="../media/image64.wmf"/><Relationship Id="rId15" Type="http://schemas.openxmlformats.org/officeDocument/2006/relationships/image" Target="../media/image69.wmf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71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66.wmf"/><Relationship Id="rId14" Type="http://schemas.openxmlformats.org/officeDocument/2006/relationships/oleObject" Target="../embeddings/oleObject49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72.wmf"/><Relationship Id="rId4" Type="http://schemas.openxmlformats.org/officeDocument/2006/relationships/oleObject" Target="../embeddings/oleObject52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5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58.xml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78.wmf"/><Relationship Id="rId5" Type="http://schemas.openxmlformats.org/officeDocument/2006/relationships/image" Target="../media/image75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77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63.bin"/><Relationship Id="rId3" Type="http://schemas.openxmlformats.org/officeDocument/2006/relationships/notesSlide" Target="../notesSlides/notesSlide59.xml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4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81.wmf"/><Relationship Id="rId4" Type="http://schemas.openxmlformats.org/officeDocument/2006/relationships/image" Target="../media/image31.jpeg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83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notesSlide" Target="../notesSlides/notesSlide60.xml"/><Relationship Id="rId7" Type="http://schemas.openxmlformats.org/officeDocument/2006/relationships/image" Target="../media/image8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87.w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88.wmf"/><Relationship Id="rId4" Type="http://schemas.openxmlformats.org/officeDocument/2006/relationships/oleObject" Target="../embeddings/oleObject68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7" Type="http://schemas.openxmlformats.org/officeDocument/2006/relationships/image" Target="../media/image9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69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91.wmf"/><Relationship Id="rId4" Type="http://schemas.openxmlformats.org/officeDocument/2006/relationships/oleObject" Target="../embeddings/oleObject71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97.wmf"/><Relationship Id="rId3" Type="http://schemas.openxmlformats.org/officeDocument/2006/relationships/notesSlide" Target="../notesSlides/notesSlide70.xml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7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96.wmf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78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7" Type="http://schemas.openxmlformats.org/officeDocument/2006/relationships/image" Target="../media/image10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99.wmf"/><Relationship Id="rId4" Type="http://schemas.openxmlformats.org/officeDocument/2006/relationships/oleObject" Target="../embeddings/oleObject79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81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70.png"/><Relationship Id="rId3" Type="http://schemas.openxmlformats.org/officeDocument/2006/relationships/notesSlide" Target="../notesSlides/notesSlide73.xml"/><Relationship Id="rId7" Type="http://schemas.openxmlformats.org/officeDocument/2006/relationships/image" Target="../media/image103.wmf"/><Relationship Id="rId12" Type="http://schemas.openxmlformats.org/officeDocument/2006/relationships/image" Target="../media/image60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105.wmf"/><Relationship Id="rId5" Type="http://schemas.openxmlformats.org/officeDocument/2006/relationships/image" Target="../media/image102.wmf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104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notesSlide" Target="../notesSlides/notesSlide75.xml"/><Relationship Id="rId7" Type="http://schemas.openxmlformats.org/officeDocument/2006/relationships/image" Target="../media/image10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106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108.w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89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110.wmf"/><Relationship Id="rId4" Type="http://schemas.openxmlformats.org/officeDocument/2006/relationships/oleObject" Target="../embeddings/oleObject90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91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3" Type="http://schemas.openxmlformats.org/officeDocument/2006/relationships/notesSlide" Target="../notesSlides/notesSlide85.xml"/><Relationship Id="rId7" Type="http://schemas.openxmlformats.org/officeDocument/2006/relationships/image" Target="../media/image11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92.bin"/><Relationship Id="rId9" Type="http://schemas.openxmlformats.org/officeDocument/2006/relationships/image" Target="../media/image114.w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96.bin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6.vml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97.bin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7.vml"/><Relationship Id="rId5" Type="http://schemas.openxmlformats.org/officeDocument/2006/relationships/image" Target="../media/image118.wmf"/><Relationship Id="rId4" Type="http://schemas.openxmlformats.org/officeDocument/2006/relationships/oleObject" Target="../embeddings/oleObject98.bin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3" Type="http://schemas.openxmlformats.org/officeDocument/2006/relationships/notesSlide" Target="../notesSlides/notesSlide101.xml"/><Relationship Id="rId7" Type="http://schemas.openxmlformats.org/officeDocument/2006/relationships/image" Target="../media/image12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00.bin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21.wmf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02.bin"/><Relationship Id="rId4" Type="http://schemas.openxmlformats.org/officeDocument/2006/relationships/hyperlink" Target="&#27801;&#20013;&#27849;&#30524;.rmvb" TargetMode="Externa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103.bin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8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e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6.jpeg"/><Relationship Id="rId4" Type="http://schemas.openxmlformats.org/officeDocument/2006/relationships/image" Target="../media/image125.jpe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8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8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8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8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8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8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8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8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8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1.vml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104.bin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8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3849688" y="3218503"/>
            <a:ext cx="2117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张 丙 印</a:t>
            </a:r>
          </a:p>
        </p:txBody>
      </p:sp>
      <p:sp>
        <p:nvSpPr>
          <p:cNvPr id="18" name="Text Box 59"/>
          <p:cNvSpPr txBox="1">
            <a:spLocks noChangeArrowheads="1"/>
          </p:cNvSpPr>
          <p:nvPr/>
        </p:nvSpPr>
        <p:spPr bwMode="auto">
          <a:xfrm>
            <a:off x="2557565" y="832005"/>
            <a:ext cx="318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土力学</a:t>
            </a: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》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之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第二章</a:t>
            </a:r>
            <a:endParaRPr kumimoji="1" lang="zh-CN" altLang="en-US" sz="2400" b="1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580955" y="4390958"/>
            <a:ext cx="64246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2400" b="1" dirty="0">
                <a:solidFill>
                  <a:srgbClr val="660066"/>
                </a:solidFill>
                <a:latin typeface="幼圆" pitchFamily="49" charset="-122"/>
                <a:ea typeface="幼圆" pitchFamily="49" charset="-122"/>
              </a:rPr>
              <a:t>	</a:t>
            </a: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清华大学土木水利学院      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      	岩 土 工 程 研 究 所</a:t>
            </a:r>
          </a:p>
        </p:txBody>
      </p:sp>
      <p:sp>
        <p:nvSpPr>
          <p:cNvPr id="21" name="Text Box 61"/>
          <p:cNvSpPr txBox="1">
            <a:spLocks noChangeArrowheads="1"/>
          </p:cNvSpPr>
          <p:nvPr/>
        </p:nvSpPr>
        <p:spPr bwMode="auto">
          <a:xfrm>
            <a:off x="1402215" y="1747114"/>
            <a:ext cx="65944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4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土的渗透性和渗流问题</a:t>
            </a:r>
            <a:endParaRPr lang="en-US" altLang="zh-CN" sz="44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174" name="Text Box 6"/>
          <p:cNvSpPr txBox="1">
            <a:spLocks noChangeArrowheads="1"/>
          </p:cNvSpPr>
          <p:nvPr/>
        </p:nvSpPr>
        <p:spPr bwMode="auto">
          <a:xfrm>
            <a:off x="2078038" y="2425700"/>
            <a:ext cx="5738812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§2.1  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渗流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及其工程问题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§2.2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土的渗透性与渗透规律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§2.3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平面渗流与流网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§2.4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渗透力与渗透变形</a:t>
            </a:r>
            <a:r>
              <a:rPr kumimoji="1" lang="zh-CN" altLang="en-US" sz="24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867" name="Text Box 7"/>
          <p:cNvSpPr txBox="1">
            <a:spLocks noChangeArrowheads="1"/>
          </p:cNvSpPr>
          <p:nvPr/>
        </p:nvSpPr>
        <p:spPr bwMode="auto">
          <a:xfrm>
            <a:off x="1438275" y="1260475"/>
            <a:ext cx="6848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第二章：土的渗透性和渗流问题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3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3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3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3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43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43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43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43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7"/>
          <p:cNvSpPr txBox="1">
            <a:spLocks noChangeArrowheads="1"/>
          </p:cNvSpPr>
          <p:nvPr/>
        </p:nvSpPr>
        <p:spPr bwMode="auto">
          <a:xfrm>
            <a:off x="1025525" y="2127250"/>
            <a:ext cx="2651125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本章提要</a:t>
            </a:r>
          </a:p>
          <a:p>
            <a:pPr eaLnBrk="1" hangingPunct="1">
              <a:lnSpc>
                <a:spcPct val="130000"/>
              </a:lnSpc>
              <a:spcBef>
                <a:spcPct val="45000"/>
              </a:spcBef>
              <a:spcAft>
                <a:spcPct val="45000"/>
              </a:spcAft>
              <a:buFont typeface="Wingdings" pitchFamily="2" charset="2"/>
              <a:buChar char="²"/>
            </a:pPr>
            <a:endParaRPr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Wingdings" pitchFamily="2" charset="2"/>
            </a:endParaRPr>
          </a:p>
          <a:p>
            <a:pPr eaLnBrk="1" hangingPunct="1">
              <a:lnSpc>
                <a:spcPct val="14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本章特点</a:t>
            </a:r>
          </a:p>
          <a:p>
            <a:pPr eaLnBrk="1" hangingPunct="1">
              <a:lnSpc>
                <a:spcPct val="14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Char char="²"/>
            </a:pPr>
            <a:endParaRPr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学习要点</a:t>
            </a:r>
            <a:endParaRPr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4819" name="Text Box 8"/>
          <p:cNvSpPr txBox="1">
            <a:spLocks noChangeArrowheads="1"/>
          </p:cNvSpPr>
          <p:nvPr/>
        </p:nvSpPr>
        <p:spPr bwMode="auto">
          <a:xfrm>
            <a:off x="904875" y="923925"/>
            <a:ext cx="69707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第二章：土的渗透性和渗流问题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4820" name="Text Box 9"/>
          <p:cNvSpPr txBox="1">
            <a:spLocks noChangeArrowheads="1"/>
          </p:cNvSpPr>
          <p:nvPr/>
        </p:nvSpPr>
        <p:spPr bwMode="auto">
          <a:xfrm>
            <a:off x="3395663" y="1838325"/>
            <a:ext cx="5513387" cy="41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土的渗透性和渗透规律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平面渗流及流网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渗透力与渗透变形</a:t>
            </a:r>
            <a:endParaRPr lang="zh-CN" altLang="en-US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</a:t>
            </a:r>
            <a:endParaRPr lang="zh-CN" altLang="en-US" sz="2400" b="1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Wingdings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有严格的理论（水流的一般规律）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有经验性规律（散粒多孔介质特性）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endParaRPr lang="zh-CN" altLang="en-US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注意对物理概念和意义的把握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注意把握土是散粒多孔介质这一特点 </a:t>
            </a:r>
            <a:endParaRPr lang="en-US" altLang="zh-CN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第二章：本章概要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416168" y="1325709"/>
            <a:ext cx="1423988" cy="1516063"/>
            <a:chOff x="1416168" y="1325709"/>
            <a:chExt cx="1423988" cy="1516063"/>
          </a:xfrm>
        </p:grpSpPr>
        <p:sp>
          <p:nvSpPr>
            <p:cNvPr id="35842" name="AutoShape 16"/>
            <p:cNvSpPr>
              <a:spLocks noChangeArrowheads="1"/>
            </p:cNvSpPr>
            <p:nvPr/>
          </p:nvSpPr>
          <p:spPr bwMode="auto">
            <a:xfrm>
              <a:off x="1922581" y="1992459"/>
              <a:ext cx="371475" cy="849313"/>
            </a:xfrm>
            <a:prstGeom prst="cube">
              <a:avLst>
                <a:gd name="adj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3" name="Freeform 17"/>
            <p:cNvSpPr>
              <a:spLocks/>
            </p:cNvSpPr>
            <p:nvPr/>
          </p:nvSpPr>
          <p:spPr bwMode="auto">
            <a:xfrm flipH="1">
              <a:off x="1416168" y="1325709"/>
              <a:ext cx="1423988" cy="950913"/>
            </a:xfrm>
            <a:custGeom>
              <a:avLst/>
              <a:gdLst>
                <a:gd name="T0" fmla="*/ 130 w 783"/>
                <a:gd name="T1" fmla="*/ 133 h 551"/>
                <a:gd name="T2" fmla="*/ 293 w 783"/>
                <a:gd name="T3" fmla="*/ 108 h 551"/>
                <a:gd name="T4" fmla="*/ 520 w 783"/>
                <a:gd name="T5" fmla="*/ 56 h 551"/>
                <a:gd name="T6" fmla="*/ 686 w 783"/>
                <a:gd name="T7" fmla="*/ 12 h 551"/>
                <a:gd name="T8" fmla="*/ 763 w 783"/>
                <a:gd name="T9" fmla="*/ 130 h 551"/>
                <a:gd name="T10" fmla="*/ 779 w 783"/>
                <a:gd name="T11" fmla="*/ 338 h 551"/>
                <a:gd name="T12" fmla="*/ 738 w 783"/>
                <a:gd name="T13" fmla="*/ 504 h 551"/>
                <a:gd name="T14" fmla="*/ 507 w 783"/>
                <a:gd name="T15" fmla="*/ 546 h 551"/>
                <a:gd name="T16" fmla="*/ 238 w 783"/>
                <a:gd name="T17" fmla="*/ 533 h 551"/>
                <a:gd name="T18" fmla="*/ 37 w 783"/>
                <a:gd name="T19" fmla="*/ 469 h 551"/>
                <a:gd name="T20" fmla="*/ 14 w 783"/>
                <a:gd name="T21" fmla="*/ 296 h 551"/>
                <a:gd name="T22" fmla="*/ 46 w 783"/>
                <a:gd name="T23" fmla="*/ 178 h 551"/>
                <a:gd name="T24" fmla="*/ 130 w 783"/>
                <a:gd name="T25" fmla="*/ 133 h 55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83"/>
                <a:gd name="T40" fmla="*/ 0 h 551"/>
                <a:gd name="T41" fmla="*/ 783 w 783"/>
                <a:gd name="T42" fmla="*/ 551 h 55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83" h="551">
                  <a:moveTo>
                    <a:pt x="130" y="133"/>
                  </a:moveTo>
                  <a:cubicBezTo>
                    <a:pt x="171" y="121"/>
                    <a:pt x="228" y="121"/>
                    <a:pt x="293" y="108"/>
                  </a:cubicBezTo>
                  <a:cubicBezTo>
                    <a:pt x="358" y="95"/>
                    <a:pt x="455" y="72"/>
                    <a:pt x="520" y="56"/>
                  </a:cubicBezTo>
                  <a:cubicBezTo>
                    <a:pt x="585" y="40"/>
                    <a:pt x="646" y="0"/>
                    <a:pt x="686" y="12"/>
                  </a:cubicBezTo>
                  <a:cubicBezTo>
                    <a:pt x="726" y="24"/>
                    <a:pt x="748" y="76"/>
                    <a:pt x="763" y="130"/>
                  </a:cubicBezTo>
                  <a:cubicBezTo>
                    <a:pt x="778" y="184"/>
                    <a:pt x="783" y="276"/>
                    <a:pt x="779" y="338"/>
                  </a:cubicBezTo>
                  <a:cubicBezTo>
                    <a:pt x="775" y="400"/>
                    <a:pt x="783" y="469"/>
                    <a:pt x="738" y="504"/>
                  </a:cubicBezTo>
                  <a:cubicBezTo>
                    <a:pt x="693" y="539"/>
                    <a:pt x="590" y="541"/>
                    <a:pt x="507" y="546"/>
                  </a:cubicBezTo>
                  <a:cubicBezTo>
                    <a:pt x="424" y="551"/>
                    <a:pt x="316" y="546"/>
                    <a:pt x="238" y="533"/>
                  </a:cubicBezTo>
                  <a:cubicBezTo>
                    <a:pt x="160" y="520"/>
                    <a:pt x="74" y="508"/>
                    <a:pt x="37" y="469"/>
                  </a:cubicBezTo>
                  <a:cubicBezTo>
                    <a:pt x="0" y="430"/>
                    <a:pt x="13" y="344"/>
                    <a:pt x="14" y="296"/>
                  </a:cubicBezTo>
                  <a:cubicBezTo>
                    <a:pt x="15" y="248"/>
                    <a:pt x="27" y="205"/>
                    <a:pt x="46" y="178"/>
                  </a:cubicBezTo>
                  <a:cubicBezTo>
                    <a:pt x="65" y="151"/>
                    <a:pt x="89" y="145"/>
                    <a:pt x="130" y="133"/>
                  </a:cubicBezTo>
                  <a:close/>
                </a:path>
              </a:pathLst>
            </a:custGeom>
            <a:solidFill>
              <a:srgbClr val="DBC9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844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1560631" y="1346347"/>
              <a:ext cx="1065212" cy="822325"/>
            </a:xfrm>
            <a:prstGeom prst="rect">
              <a:avLst/>
            </a:prstGeom>
          </p:spPr>
          <p:txBody>
            <a:bodyPr wrap="none" fromWordArt="1">
              <a:prstTxWarp prst="textCurveDown">
                <a:avLst>
                  <a:gd name="adj" fmla="val 43477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45791" dir="2021404" algn="ctr" rotWithShape="0">
                      <a:srgbClr val="808080">
                        <a:alpha val="79999"/>
                      </a:srgbClr>
                    </a:outerShdw>
                  </a:effectLst>
                  <a:latin typeface="华文新魏"/>
                  <a:ea typeface="华文新魏"/>
                </a:rPr>
                <a:t>作业</a:t>
              </a:r>
            </a:p>
          </p:txBody>
        </p:sp>
      </p:grpSp>
      <p:sp>
        <p:nvSpPr>
          <p:cNvPr id="35845" name="Text Box 19"/>
          <p:cNvSpPr txBox="1">
            <a:spLocks noChangeArrowheads="1"/>
          </p:cNvSpPr>
          <p:nvPr/>
        </p:nvSpPr>
        <p:spPr bwMode="auto">
          <a:xfrm>
            <a:off x="3569604" y="1425468"/>
            <a:ext cx="414972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</a:rPr>
              <a:t>本章作业：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3200" dirty="0">
              <a:solidFill>
                <a:srgbClr val="000066"/>
              </a:solidFill>
              <a:ea typeface="幼圆" pitchFamily="49" charset="-122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2-1  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2-2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2-4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2-5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2-7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2-9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2-10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（自由选做题）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第二章：本章概要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123965" y="5683435"/>
            <a:ext cx="40211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土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体骨架的概念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  <p:sp>
        <p:nvSpPr>
          <p:cNvPr id="6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2781741" y="2616794"/>
            <a:ext cx="3789168" cy="231413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5" name="Freeform 1590" descr="小纸屑"/>
          <p:cNvSpPr>
            <a:spLocks/>
          </p:cNvSpPr>
          <p:nvPr/>
        </p:nvSpPr>
        <p:spPr bwMode="auto">
          <a:xfrm>
            <a:off x="2829030" y="2627426"/>
            <a:ext cx="745092" cy="562593"/>
          </a:xfrm>
          <a:custGeom>
            <a:avLst/>
            <a:gdLst>
              <a:gd name="T0" fmla="*/ 0 w 193"/>
              <a:gd name="T1" fmla="*/ 84 h 139"/>
              <a:gd name="T2" fmla="*/ 19 w 193"/>
              <a:gd name="T3" fmla="*/ 46 h 139"/>
              <a:gd name="T4" fmla="*/ 144 w 193"/>
              <a:gd name="T5" fmla="*/ 0 h 139"/>
              <a:gd name="T6" fmla="*/ 180 w 193"/>
              <a:gd name="T7" fmla="*/ 8 h 139"/>
              <a:gd name="T8" fmla="*/ 187 w 193"/>
              <a:gd name="T9" fmla="*/ 36 h 139"/>
              <a:gd name="T10" fmla="*/ 139 w 193"/>
              <a:gd name="T11" fmla="*/ 135 h 139"/>
              <a:gd name="T12" fmla="*/ 7 w 193"/>
              <a:gd name="T13" fmla="*/ 104 h 139"/>
              <a:gd name="T14" fmla="*/ 0 w 193"/>
              <a:gd name="T15" fmla="*/ 84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3" h="139">
                <a:moveTo>
                  <a:pt x="0" y="84"/>
                </a:moveTo>
                <a:cubicBezTo>
                  <a:pt x="7" y="72"/>
                  <a:pt x="11" y="57"/>
                  <a:pt x="19" y="46"/>
                </a:cubicBezTo>
                <a:cubicBezTo>
                  <a:pt x="47" y="6"/>
                  <a:pt x="101" y="3"/>
                  <a:pt x="144" y="0"/>
                </a:cubicBezTo>
                <a:cubicBezTo>
                  <a:pt x="159" y="2"/>
                  <a:pt x="167" y="3"/>
                  <a:pt x="180" y="8"/>
                </a:cubicBezTo>
                <a:cubicBezTo>
                  <a:pt x="184" y="17"/>
                  <a:pt x="185" y="26"/>
                  <a:pt x="187" y="36"/>
                </a:cubicBezTo>
                <a:cubicBezTo>
                  <a:pt x="184" y="91"/>
                  <a:pt x="193" y="115"/>
                  <a:pt x="139" y="135"/>
                </a:cubicBezTo>
                <a:cubicBezTo>
                  <a:pt x="86" y="133"/>
                  <a:pt x="47" y="139"/>
                  <a:pt x="7" y="104"/>
                </a:cubicBezTo>
                <a:cubicBezTo>
                  <a:pt x="5" y="97"/>
                  <a:pt x="4" y="90"/>
                  <a:pt x="0" y="8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591" descr="小纸屑"/>
          <p:cNvSpPr>
            <a:spLocks/>
          </p:cNvSpPr>
          <p:nvPr/>
        </p:nvSpPr>
        <p:spPr bwMode="auto">
          <a:xfrm>
            <a:off x="3003282" y="3161266"/>
            <a:ext cx="813975" cy="718353"/>
          </a:xfrm>
          <a:custGeom>
            <a:avLst/>
            <a:gdLst>
              <a:gd name="T0" fmla="*/ 8 w 243"/>
              <a:gd name="T1" fmla="*/ 85 h 212"/>
              <a:gd name="T2" fmla="*/ 64 w 243"/>
              <a:gd name="T3" fmla="*/ 22 h 212"/>
              <a:gd name="T4" fmla="*/ 120 w 243"/>
              <a:gd name="T5" fmla="*/ 0 h 212"/>
              <a:gd name="T6" fmla="*/ 189 w 243"/>
              <a:gd name="T7" fmla="*/ 38 h 212"/>
              <a:gd name="T8" fmla="*/ 214 w 243"/>
              <a:gd name="T9" fmla="*/ 96 h 212"/>
              <a:gd name="T10" fmla="*/ 200 w 243"/>
              <a:gd name="T11" fmla="*/ 203 h 212"/>
              <a:gd name="T12" fmla="*/ 142 w 243"/>
              <a:gd name="T13" fmla="*/ 206 h 212"/>
              <a:gd name="T14" fmla="*/ 92 w 243"/>
              <a:gd name="T15" fmla="*/ 189 h 212"/>
              <a:gd name="T16" fmla="*/ 64 w 243"/>
              <a:gd name="T17" fmla="*/ 179 h 212"/>
              <a:gd name="T18" fmla="*/ 16 w 243"/>
              <a:gd name="T19" fmla="*/ 116 h 212"/>
              <a:gd name="T20" fmla="*/ 8 w 243"/>
              <a:gd name="T21" fmla="*/ 85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3" h="212">
                <a:moveTo>
                  <a:pt x="8" y="85"/>
                </a:moveTo>
                <a:cubicBezTo>
                  <a:pt x="22" y="64"/>
                  <a:pt x="38" y="29"/>
                  <a:pt x="64" y="22"/>
                </a:cubicBezTo>
                <a:cubicBezTo>
                  <a:pt x="80" y="10"/>
                  <a:pt x="100" y="3"/>
                  <a:pt x="120" y="0"/>
                </a:cubicBezTo>
                <a:cubicBezTo>
                  <a:pt x="151" y="3"/>
                  <a:pt x="170" y="13"/>
                  <a:pt x="189" y="38"/>
                </a:cubicBezTo>
                <a:cubicBezTo>
                  <a:pt x="194" y="56"/>
                  <a:pt x="205" y="80"/>
                  <a:pt x="214" y="96"/>
                </a:cubicBezTo>
                <a:cubicBezTo>
                  <a:pt x="222" y="129"/>
                  <a:pt x="243" y="195"/>
                  <a:pt x="200" y="203"/>
                </a:cubicBezTo>
                <a:cubicBezTo>
                  <a:pt x="179" y="212"/>
                  <a:pt x="169" y="207"/>
                  <a:pt x="142" y="206"/>
                </a:cubicBezTo>
                <a:cubicBezTo>
                  <a:pt x="126" y="199"/>
                  <a:pt x="108" y="197"/>
                  <a:pt x="92" y="189"/>
                </a:cubicBezTo>
                <a:cubicBezTo>
                  <a:pt x="82" y="184"/>
                  <a:pt x="64" y="179"/>
                  <a:pt x="64" y="179"/>
                </a:cubicBezTo>
                <a:cubicBezTo>
                  <a:pt x="43" y="158"/>
                  <a:pt x="24" y="144"/>
                  <a:pt x="16" y="116"/>
                </a:cubicBezTo>
                <a:cubicBezTo>
                  <a:pt x="7" y="100"/>
                  <a:pt x="0" y="101"/>
                  <a:pt x="8" y="8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592" descr="小纸屑"/>
          <p:cNvSpPr>
            <a:spLocks/>
          </p:cNvSpPr>
          <p:nvPr/>
        </p:nvSpPr>
        <p:spPr bwMode="auto">
          <a:xfrm>
            <a:off x="3537123" y="2627426"/>
            <a:ext cx="766404" cy="697691"/>
          </a:xfrm>
          <a:custGeom>
            <a:avLst/>
            <a:gdLst>
              <a:gd name="T0" fmla="*/ 40 w 177"/>
              <a:gd name="T1" fmla="*/ 11 h 174"/>
              <a:gd name="T2" fmla="*/ 57 w 177"/>
              <a:gd name="T3" fmla="*/ 0 h 174"/>
              <a:gd name="T4" fmla="*/ 112 w 177"/>
              <a:gd name="T5" fmla="*/ 3 h 174"/>
              <a:gd name="T6" fmla="*/ 132 w 177"/>
              <a:gd name="T7" fmla="*/ 11 h 174"/>
              <a:gd name="T8" fmla="*/ 154 w 177"/>
              <a:gd name="T9" fmla="*/ 39 h 174"/>
              <a:gd name="T10" fmla="*/ 165 w 177"/>
              <a:gd name="T11" fmla="*/ 55 h 174"/>
              <a:gd name="T12" fmla="*/ 177 w 177"/>
              <a:gd name="T13" fmla="*/ 113 h 174"/>
              <a:gd name="T14" fmla="*/ 126 w 177"/>
              <a:gd name="T15" fmla="*/ 165 h 174"/>
              <a:gd name="T16" fmla="*/ 43 w 177"/>
              <a:gd name="T17" fmla="*/ 151 h 174"/>
              <a:gd name="T18" fmla="*/ 19 w 177"/>
              <a:gd name="T19" fmla="*/ 124 h 174"/>
              <a:gd name="T20" fmla="*/ 7 w 177"/>
              <a:gd name="T21" fmla="*/ 108 h 174"/>
              <a:gd name="T22" fmla="*/ 24 w 177"/>
              <a:gd name="T23" fmla="*/ 45 h 174"/>
              <a:gd name="T24" fmla="*/ 40 w 177"/>
              <a:gd name="T25" fmla="*/ 11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7" h="174">
                <a:moveTo>
                  <a:pt x="40" y="11"/>
                </a:moveTo>
                <a:cubicBezTo>
                  <a:pt x="46" y="8"/>
                  <a:pt x="57" y="0"/>
                  <a:pt x="57" y="0"/>
                </a:cubicBezTo>
                <a:cubicBezTo>
                  <a:pt x="75" y="1"/>
                  <a:pt x="94" y="1"/>
                  <a:pt x="112" y="3"/>
                </a:cubicBezTo>
                <a:cubicBezTo>
                  <a:pt x="119" y="5"/>
                  <a:pt x="132" y="11"/>
                  <a:pt x="132" y="11"/>
                </a:cubicBezTo>
                <a:cubicBezTo>
                  <a:pt x="139" y="21"/>
                  <a:pt x="147" y="30"/>
                  <a:pt x="154" y="39"/>
                </a:cubicBezTo>
                <a:cubicBezTo>
                  <a:pt x="158" y="44"/>
                  <a:pt x="165" y="55"/>
                  <a:pt x="165" y="55"/>
                </a:cubicBezTo>
                <a:cubicBezTo>
                  <a:pt x="172" y="78"/>
                  <a:pt x="175" y="86"/>
                  <a:pt x="177" y="113"/>
                </a:cubicBezTo>
                <a:cubicBezTo>
                  <a:pt x="172" y="164"/>
                  <a:pt x="171" y="159"/>
                  <a:pt x="126" y="165"/>
                </a:cubicBezTo>
                <a:cubicBezTo>
                  <a:pt x="97" y="174"/>
                  <a:pt x="69" y="161"/>
                  <a:pt x="43" y="151"/>
                </a:cubicBezTo>
                <a:cubicBezTo>
                  <a:pt x="35" y="143"/>
                  <a:pt x="27" y="133"/>
                  <a:pt x="19" y="124"/>
                </a:cubicBezTo>
                <a:cubicBezTo>
                  <a:pt x="14" y="119"/>
                  <a:pt x="7" y="108"/>
                  <a:pt x="7" y="108"/>
                </a:cubicBezTo>
                <a:cubicBezTo>
                  <a:pt x="0" y="82"/>
                  <a:pt x="6" y="61"/>
                  <a:pt x="24" y="45"/>
                </a:cubicBezTo>
                <a:cubicBezTo>
                  <a:pt x="29" y="29"/>
                  <a:pt x="35" y="18"/>
                  <a:pt x="40" y="1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593" descr="小纸屑"/>
          <p:cNvSpPr>
            <a:spLocks/>
          </p:cNvSpPr>
          <p:nvPr/>
        </p:nvSpPr>
        <p:spPr bwMode="auto">
          <a:xfrm>
            <a:off x="3749702" y="3277549"/>
            <a:ext cx="616816" cy="656276"/>
          </a:xfrm>
          <a:custGeom>
            <a:avLst/>
            <a:gdLst>
              <a:gd name="T0" fmla="*/ 28 w 265"/>
              <a:gd name="T1" fmla="*/ 124 h 269"/>
              <a:gd name="T2" fmla="*/ 47 w 265"/>
              <a:gd name="T3" fmla="*/ 73 h 269"/>
              <a:gd name="T4" fmla="*/ 89 w 265"/>
              <a:gd name="T5" fmla="*/ 18 h 269"/>
              <a:gd name="T6" fmla="*/ 126 w 265"/>
              <a:gd name="T7" fmla="*/ 8 h 269"/>
              <a:gd name="T8" fmla="*/ 236 w 265"/>
              <a:gd name="T9" fmla="*/ 32 h 269"/>
              <a:gd name="T10" fmla="*/ 260 w 265"/>
              <a:gd name="T11" fmla="*/ 96 h 269"/>
              <a:gd name="T12" fmla="*/ 260 w 265"/>
              <a:gd name="T13" fmla="*/ 180 h 269"/>
              <a:gd name="T14" fmla="*/ 240 w 265"/>
              <a:gd name="T15" fmla="*/ 204 h 269"/>
              <a:gd name="T16" fmla="*/ 115 w 265"/>
              <a:gd name="T17" fmla="*/ 269 h 269"/>
              <a:gd name="T18" fmla="*/ 15 w 265"/>
              <a:gd name="T19" fmla="*/ 197 h 269"/>
              <a:gd name="T20" fmla="*/ 28 w 265"/>
              <a:gd name="T21" fmla="*/ 124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65" h="269">
                <a:moveTo>
                  <a:pt x="28" y="124"/>
                </a:moveTo>
                <a:cubicBezTo>
                  <a:pt x="32" y="106"/>
                  <a:pt x="38" y="90"/>
                  <a:pt x="47" y="73"/>
                </a:cubicBezTo>
                <a:cubicBezTo>
                  <a:pt x="53" y="48"/>
                  <a:pt x="65" y="27"/>
                  <a:pt x="89" y="18"/>
                </a:cubicBezTo>
                <a:cubicBezTo>
                  <a:pt x="102" y="14"/>
                  <a:pt x="126" y="8"/>
                  <a:pt x="126" y="8"/>
                </a:cubicBezTo>
                <a:cubicBezTo>
                  <a:pt x="213" y="11"/>
                  <a:pt x="191" y="0"/>
                  <a:pt x="236" y="32"/>
                </a:cubicBezTo>
                <a:cubicBezTo>
                  <a:pt x="247" y="54"/>
                  <a:pt x="253" y="73"/>
                  <a:pt x="260" y="96"/>
                </a:cubicBezTo>
                <a:cubicBezTo>
                  <a:pt x="261" y="127"/>
                  <a:pt x="265" y="149"/>
                  <a:pt x="260" y="180"/>
                </a:cubicBezTo>
                <a:cubicBezTo>
                  <a:pt x="258" y="187"/>
                  <a:pt x="245" y="201"/>
                  <a:pt x="240" y="204"/>
                </a:cubicBezTo>
                <a:cubicBezTo>
                  <a:pt x="202" y="241"/>
                  <a:pt x="164" y="256"/>
                  <a:pt x="115" y="269"/>
                </a:cubicBezTo>
                <a:cubicBezTo>
                  <a:pt x="69" y="262"/>
                  <a:pt x="40" y="239"/>
                  <a:pt x="15" y="197"/>
                </a:cubicBezTo>
                <a:cubicBezTo>
                  <a:pt x="0" y="173"/>
                  <a:pt x="23" y="145"/>
                  <a:pt x="28" y="12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594" descr="小纸屑"/>
          <p:cNvSpPr>
            <a:spLocks/>
          </p:cNvSpPr>
          <p:nvPr/>
        </p:nvSpPr>
        <p:spPr bwMode="auto">
          <a:xfrm>
            <a:off x="2775728" y="3630972"/>
            <a:ext cx="409457" cy="554827"/>
          </a:xfrm>
          <a:custGeom>
            <a:avLst/>
            <a:gdLst>
              <a:gd name="T0" fmla="*/ 5 w 115"/>
              <a:gd name="T1" fmla="*/ 52 h 150"/>
              <a:gd name="T2" fmla="*/ 48 w 115"/>
              <a:gd name="T3" fmla="*/ 4 h 150"/>
              <a:gd name="T4" fmla="*/ 106 w 115"/>
              <a:gd name="T5" fmla="*/ 21 h 150"/>
              <a:gd name="T6" fmla="*/ 115 w 115"/>
              <a:gd name="T7" fmla="*/ 88 h 150"/>
              <a:gd name="T8" fmla="*/ 65 w 115"/>
              <a:gd name="T9" fmla="*/ 150 h 150"/>
              <a:gd name="T10" fmla="*/ 22 w 115"/>
              <a:gd name="T11" fmla="*/ 122 h 150"/>
              <a:gd name="T12" fmla="*/ 7 w 115"/>
              <a:gd name="T13" fmla="*/ 107 h 150"/>
              <a:gd name="T14" fmla="*/ 5 w 115"/>
              <a:gd name="T15" fmla="*/ 52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5" h="150">
                <a:moveTo>
                  <a:pt x="5" y="52"/>
                </a:moveTo>
                <a:cubicBezTo>
                  <a:pt x="13" y="25"/>
                  <a:pt x="20" y="12"/>
                  <a:pt x="48" y="4"/>
                </a:cubicBezTo>
                <a:cubicBezTo>
                  <a:pt x="74" y="5"/>
                  <a:pt x="91" y="0"/>
                  <a:pt x="106" y="21"/>
                </a:cubicBezTo>
                <a:cubicBezTo>
                  <a:pt x="107" y="50"/>
                  <a:pt x="100" y="68"/>
                  <a:pt x="115" y="88"/>
                </a:cubicBezTo>
                <a:cubicBezTo>
                  <a:pt x="113" y="125"/>
                  <a:pt x="102" y="145"/>
                  <a:pt x="65" y="150"/>
                </a:cubicBezTo>
                <a:cubicBezTo>
                  <a:pt x="46" y="146"/>
                  <a:pt x="36" y="136"/>
                  <a:pt x="22" y="122"/>
                </a:cubicBezTo>
                <a:cubicBezTo>
                  <a:pt x="17" y="117"/>
                  <a:pt x="7" y="107"/>
                  <a:pt x="7" y="107"/>
                </a:cubicBezTo>
                <a:cubicBezTo>
                  <a:pt x="0" y="82"/>
                  <a:pt x="0" y="86"/>
                  <a:pt x="5" y="5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595" descr="小纸屑"/>
          <p:cNvSpPr>
            <a:spLocks/>
          </p:cNvSpPr>
          <p:nvPr/>
        </p:nvSpPr>
        <p:spPr bwMode="auto">
          <a:xfrm>
            <a:off x="2905901" y="4069503"/>
            <a:ext cx="736537" cy="843141"/>
          </a:xfrm>
          <a:custGeom>
            <a:avLst/>
            <a:gdLst>
              <a:gd name="T0" fmla="*/ 32 w 239"/>
              <a:gd name="T1" fmla="*/ 72 h 261"/>
              <a:gd name="T2" fmla="*/ 66 w 239"/>
              <a:gd name="T3" fmla="*/ 35 h 261"/>
              <a:gd name="T4" fmla="*/ 96 w 239"/>
              <a:gd name="T5" fmla="*/ 0 h 261"/>
              <a:gd name="T6" fmla="*/ 143 w 239"/>
              <a:gd name="T7" fmla="*/ 8 h 261"/>
              <a:gd name="T8" fmla="*/ 224 w 239"/>
              <a:gd name="T9" fmla="*/ 90 h 261"/>
              <a:gd name="T10" fmla="*/ 221 w 239"/>
              <a:gd name="T11" fmla="*/ 196 h 261"/>
              <a:gd name="T12" fmla="*/ 202 w 239"/>
              <a:gd name="T13" fmla="*/ 223 h 261"/>
              <a:gd name="T14" fmla="*/ 165 w 239"/>
              <a:gd name="T15" fmla="*/ 261 h 261"/>
              <a:gd name="T16" fmla="*/ 121 w 239"/>
              <a:gd name="T17" fmla="*/ 253 h 261"/>
              <a:gd name="T18" fmla="*/ 102 w 239"/>
              <a:gd name="T19" fmla="*/ 247 h 261"/>
              <a:gd name="T20" fmla="*/ 60 w 239"/>
              <a:gd name="T21" fmla="*/ 214 h 261"/>
              <a:gd name="T22" fmla="*/ 5 w 239"/>
              <a:gd name="T23" fmla="*/ 163 h 261"/>
              <a:gd name="T24" fmla="*/ 32 w 239"/>
              <a:gd name="T25" fmla="*/ 72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9" h="261">
                <a:moveTo>
                  <a:pt x="32" y="72"/>
                </a:moveTo>
                <a:cubicBezTo>
                  <a:pt x="42" y="58"/>
                  <a:pt x="55" y="49"/>
                  <a:pt x="66" y="35"/>
                </a:cubicBezTo>
                <a:cubicBezTo>
                  <a:pt x="75" y="24"/>
                  <a:pt x="82" y="6"/>
                  <a:pt x="96" y="0"/>
                </a:cubicBezTo>
                <a:cubicBezTo>
                  <a:pt x="112" y="2"/>
                  <a:pt x="127" y="6"/>
                  <a:pt x="143" y="8"/>
                </a:cubicBezTo>
                <a:cubicBezTo>
                  <a:pt x="178" y="25"/>
                  <a:pt x="206" y="57"/>
                  <a:pt x="224" y="90"/>
                </a:cubicBezTo>
                <a:cubicBezTo>
                  <a:pt x="232" y="122"/>
                  <a:pt x="239" y="166"/>
                  <a:pt x="221" y="196"/>
                </a:cubicBezTo>
                <a:cubicBezTo>
                  <a:pt x="204" y="222"/>
                  <a:pt x="210" y="205"/>
                  <a:pt x="202" y="223"/>
                </a:cubicBezTo>
                <a:cubicBezTo>
                  <a:pt x="194" y="242"/>
                  <a:pt x="186" y="256"/>
                  <a:pt x="165" y="261"/>
                </a:cubicBezTo>
                <a:cubicBezTo>
                  <a:pt x="148" y="260"/>
                  <a:pt x="137" y="258"/>
                  <a:pt x="121" y="253"/>
                </a:cubicBezTo>
                <a:cubicBezTo>
                  <a:pt x="114" y="252"/>
                  <a:pt x="102" y="247"/>
                  <a:pt x="102" y="247"/>
                </a:cubicBezTo>
                <a:cubicBezTo>
                  <a:pt x="87" y="237"/>
                  <a:pt x="77" y="222"/>
                  <a:pt x="60" y="214"/>
                </a:cubicBezTo>
                <a:cubicBezTo>
                  <a:pt x="46" y="196"/>
                  <a:pt x="23" y="177"/>
                  <a:pt x="5" y="163"/>
                </a:cubicBezTo>
                <a:cubicBezTo>
                  <a:pt x="0" y="139"/>
                  <a:pt x="22" y="93"/>
                  <a:pt x="32" y="7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596" descr="小纸屑"/>
          <p:cNvSpPr>
            <a:spLocks/>
          </p:cNvSpPr>
          <p:nvPr/>
        </p:nvSpPr>
        <p:spPr bwMode="auto">
          <a:xfrm>
            <a:off x="3494843" y="3811392"/>
            <a:ext cx="661891" cy="637834"/>
          </a:xfrm>
          <a:custGeom>
            <a:avLst/>
            <a:gdLst>
              <a:gd name="T0" fmla="*/ 12 w 171"/>
              <a:gd name="T1" fmla="*/ 49 h 163"/>
              <a:gd name="T2" fmla="*/ 51 w 171"/>
              <a:gd name="T3" fmla="*/ 20 h 163"/>
              <a:gd name="T4" fmla="*/ 120 w 171"/>
              <a:gd name="T5" fmla="*/ 30 h 163"/>
              <a:gd name="T6" fmla="*/ 156 w 171"/>
              <a:gd name="T7" fmla="*/ 44 h 163"/>
              <a:gd name="T8" fmla="*/ 153 w 171"/>
              <a:gd name="T9" fmla="*/ 124 h 163"/>
              <a:gd name="T10" fmla="*/ 92 w 171"/>
              <a:gd name="T11" fmla="*/ 163 h 163"/>
              <a:gd name="T12" fmla="*/ 13 w 171"/>
              <a:gd name="T13" fmla="*/ 114 h 163"/>
              <a:gd name="T14" fmla="*/ 12 w 171"/>
              <a:gd name="T15" fmla="*/ 49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1" h="163">
                <a:moveTo>
                  <a:pt x="12" y="49"/>
                </a:moveTo>
                <a:cubicBezTo>
                  <a:pt x="16" y="33"/>
                  <a:pt x="35" y="23"/>
                  <a:pt x="51" y="20"/>
                </a:cubicBezTo>
                <a:cubicBezTo>
                  <a:pt x="79" y="0"/>
                  <a:pt x="96" y="24"/>
                  <a:pt x="120" y="30"/>
                </a:cubicBezTo>
                <a:cubicBezTo>
                  <a:pt x="132" y="38"/>
                  <a:pt x="142" y="41"/>
                  <a:pt x="156" y="44"/>
                </a:cubicBezTo>
                <a:cubicBezTo>
                  <a:pt x="171" y="68"/>
                  <a:pt x="169" y="101"/>
                  <a:pt x="153" y="124"/>
                </a:cubicBezTo>
                <a:cubicBezTo>
                  <a:pt x="146" y="146"/>
                  <a:pt x="113" y="158"/>
                  <a:pt x="92" y="163"/>
                </a:cubicBezTo>
                <a:cubicBezTo>
                  <a:pt x="50" y="157"/>
                  <a:pt x="50" y="124"/>
                  <a:pt x="13" y="114"/>
                </a:cubicBezTo>
                <a:cubicBezTo>
                  <a:pt x="0" y="95"/>
                  <a:pt x="5" y="66"/>
                  <a:pt x="12" y="49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597" descr="小纸屑"/>
          <p:cNvSpPr>
            <a:spLocks/>
          </p:cNvSpPr>
          <p:nvPr/>
        </p:nvSpPr>
        <p:spPr bwMode="auto">
          <a:xfrm>
            <a:off x="3815119" y="4348126"/>
            <a:ext cx="746229" cy="578513"/>
          </a:xfrm>
          <a:custGeom>
            <a:avLst/>
            <a:gdLst>
              <a:gd name="T0" fmla="*/ 8 w 250"/>
              <a:gd name="T1" fmla="*/ 143 h 179"/>
              <a:gd name="T2" fmla="*/ 39 w 250"/>
              <a:gd name="T3" fmla="*/ 47 h 179"/>
              <a:gd name="T4" fmla="*/ 140 w 250"/>
              <a:gd name="T5" fmla="*/ 0 h 179"/>
              <a:gd name="T6" fmla="*/ 241 w 250"/>
              <a:gd name="T7" fmla="*/ 47 h 179"/>
              <a:gd name="T8" fmla="*/ 215 w 250"/>
              <a:gd name="T9" fmla="*/ 154 h 179"/>
              <a:gd name="T10" fmla="*/ 160 w 250"/>
              <a:gd name="T11" fmla="*/ 176 h 179"/>
              <a:gd name="T12" fmla="*/ 84 w 250"/>
              <a:gd name="T13" fmla="*/ 174 h 179"/>
              <a:gd name="T14" fmla="*/ 8 w 250"/>
              <a:gd name="T15" fmla="*/ 143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0" h="179">
                <a:moveTo>
                  <a:pt x="8" y="143"/>
                </a:moveTo>
                <a:cubicBezTo>
                  <a:pt x="11" y="74"/>
                  <a:pt x="0" y="94"/>
                  <a:pt x="39" y="47"/>
                </a:cubicBezTo>
                <a:cubicBezTo>
                  <a:pt x="51" y="3"/>
                  <a:pt x="105" y="2"/>
                  <a:pt x="140" y="0"/>
                </a:cubicBezTo>
                <a:cubicBezTo>
                  <a:pt x="188" y="3"/>
                  <a:pt x="213" y="8"/>
                  <a:pt x="241" y="47"/>
                </a:cubicBezTo>
                <a:cubicBezTo>
                  <a:pt x="247" y="87"/>
                  <a:pt x="250" y="125"/>
                  <a:pt x="215" y="154"/>
                </a:cubicBezTo>
                <a:cubicBezTo>
                  <a:pt x="200" y="166"/>
                  <a:pt x="179" y="171"/>
                  <a:pt x="160" y="176"/>
                </a:cubicBezTo>
                <a:cubicBezTo>
                  <a:pt x="149" y="179"/>
                  <a:pt x="84" y="174"/>
                  <a:pt x="84" y="174"/>
                </a:cubicBezTo>
                <a:cubicBezTo>
                  <a:pt x="80" y="174"/>
                  <a:pt x="25" y="153"/>
                  <a:pt x="8" y="14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3" name="Freeform 1598" descr="小纸屑"/>
          <p:cNvSpPr>
            <a:spLocks/>
          </p:cNvSpPr>
          <p:nvPr/>
        </p:nvSpPr>
        <p:spPr bwMode="auto">
          <a:xfrm>
            <a:off x="4187244" y="3737393"/>
            <a:ext cx="655408" cy="681836"/>
          </a:xfrm>
          <a:custGeom>
            <a:avLst/>
            <a:gdLst>
              <a:gd name="T0" fmla="*/ 28 w 172"/>
              <a:gd name="T1" fmla="*/ 161 h 187"/>
              <a:gd name="T2" fmla="*/ 14 w 172"/>
              <a:gd name="T3" fmla="*/ 110 h 187"/>
              <a:gd name="T4" fmla="*/ 38 w 172"/>
              <a:gd name="T5" fmla="*/ 27 h 187"/>
              <a:gd name="T6" fmla="*/ 94 w 172"/>
              <a:gd name="T7" fmla="*/ 0 h 187"/>
              <a:gd name="T8" fmla="*/ 160 w 172"/>
              <a:gd name="T9" fmla="*/ 55 h 187"/>
              <a:gd name="T10" fmla="*/ 172 w 172"/>
              <a:gd name="T11" fmla="*/ 90 h 187"/>
              <a:gd name="T12" fmla="*/ 169 w 172"/>
              <a:gd name="T13" fmla="*/ 134 h 187"/>
              <a:gd name="T14" fmla="*/ 94 w 172"/>
              <a:gd name="T15" fmla="*/ 183 h 187"/>
              <a:gd name="T16" fmla="*/ 28 w 172"/>
              <a:gd name="T17" fmla="*/ 161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2" h="187">
                <a:moveTo>
                  <a:pt x="28" y="161"/>
                </a:moveTo>
                <a:cubicBezTo>
                  <a:pt x="22" y="144"/>
                  <a:pt x="18" y="127"/>
                  <a:pt x="14" y="110"/>
                </a:cubicBezTo>
                <a:cubicBezTo>
                  <a:pt x="9" y="77"/>
                  <a:pt x="0" y="35"/>
                  <a:pt x="38" y="27"/>
                </a:cubicBezTo>
                <a:cubicBezTo>
                  <a:pt x="59" y="15"/>
                  <a:pt x="69" y="3"/>
                  <a:pt x="94" y="0"/>
                </a:cubicBezTo>
                <a:cubicBezTo>
                  <a:pt x="125" y="5"/>
                  <a:pt x="149" y="26"/>
                  <a:pt x="160" y="55"/>
                </a:cubicBezTo>
                <a:cubicBezTo>
                  <a:pt x="165" y="66"/>
                  <a:pt x="172" y="90"/>
                  <a:pt x="172" y="90"/>
                </a:cubicBezTo>
                <a:cubicBezTo>
                  <a:pt x="171" y="105"/>
                  <a:pt x="171" y="119"/>
                  <a:pt x="169" y="134"/>
                </a:cubicBezTo>
                <a:cubicBezTo>
                  <a:pt x="165" y="158"/>
                  <a:pt x="114" y="177"/>
                  <a:pt x="94" y="183"/>
                </a:cubicBezTo>
                <a:cubicBezTo>
                  <a:pt x="71" y="187"/>
                  <a:pt x="41" y="173"/>
                  <a:pt x="28" y="16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1599" descr="小纸屑"/>
          <p:cNvSpPr>
            <a:spLocks/>
          </p:cNvSpPr>
          <p:nvPr/>
        </p:nvSpPr>
        <p:spPr bwMode="auto">
          <a:xfrm>
            <a:off x="4314594" y="2636758"/>
            <a:ext cx="533021" cy="707612"/>
          </a:xfrm>
          <a:custGeom>
            <a:avLst/>
            <a:gdLst>
              <a:gd name="T0" fmla="*/ 0 w 150"/>
              <a:gd name="T1" fmla="*/ 79 h 235"/>
              <a:gd name="T2" fmla="*/ 36 w 150"/>
              <a:gd name="T3" fmla="*/ 24 h 235"/>
              <a:gd name="T4" fmla="*/ 43 w 150"/>
              <a:gd name="T5" fmla="*/ 17 h 235"/>
              <a:gd name="T6" fmla="*/ 48 w 150"/>
              <a:gd name="T7" fmla="*/ 10 h 235"/>
              <a:gd name="T8" fmla="*/ 62 w 150"/>
              <a:gd name="T9" fmla="*/ 0 h 235"/>
              <a:gd name="T10" fmla="*/ 134 w 150"/>
              <a:gd name="T11" fmla="*/ 53 h 235"/>
              <a:gd name="T12" fmla="*/ 144 w 150"/>
              <a:gd name="T13" fmla="*/ 87 h 235"/>
              <a:gd name="T14" fmla="*/ 132 w 150"/>
              <a:gd name="T15" fmla="*/ 195 h 235"/>
              <a:gd name="T16" fmla="*/ 105 w 150"/>
              <a:gd name="T17" fmla="*/ 231 h 235"/>
              <a:gd name="T18" fmla="*/ 86 w 150"/>
              <a:gd name="T19" fmla="*/ 235 h 235"/>
              <a:gd name="T20" fmla="*/ 33 w 150"/>
              <a:gd name="T21" fmla="*/ 221 h 235"/>
              <a:gd name="T22" fmla="*/ 28 w 150"/>
              <a:gd name="T23" fmla="*/ 214 h 235"/>
              <a:gd name="T24" fmla="*/ 21 w 150"/>
              <a:gd name="T25" fmla="*/ 209 h 235"/>
              <a:gd name="T26" fmla="*/ 4 w 150"/>
              <a:gd name="T27" fmla="*/ 151 h 235"/>
              <a:gd name="T28" fmla="*/ 0 w 150"/>
              <a:gd name="T29" fmla="*/ 120 h 235"/>
              <a:gd name="T30" fmla="*/ 0 w 150"/>
              <a:gd name="T31" fmla="*/ 79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0" h="235">
                <a:moveTo>
                  <a:pt x="0" y="79"/>
                </a:moveTo>
                <a:cubicBezTo>
                  <a:pt x="6" y="53"/>
                  <a:pt x="16" y="41"/>
                  <a:pt x="36" y="24"/>
                </a:cubicBezTo>
                <a:cubicBezTo>
                  <a:pt x="39" y="22"/>
                  <a:pt x="41" y="20"/>
                  <a:pt x="43" y="17"/>
                </a:cubicBezTo>
                <a:cubicBezTo>
                  <a:pt x="45" y="15"/>
                  <a:pt x="46" y="12"/>
                  <a:pt x="48" y="10"/>
                </a:cubicBezTo>
                <a:cubicBezTo>
                  <a:pt x="52" y="6"/>
                  <a:pt x="62" y="0"/>
                  <a:pt x="62" y="0"/>
                </a:cubicBezTo>
                <a:cubicBezTo>
                  <a:pt x="106" y="6"/>
                  <a:pt x="110" y="19"/>
                  <a:pt x="134" y="53"/>
                </a:cubicBezTo>
                <a:cubicBezTo>
                  <a:pt x="136" y="65"/>
                  <a:pt x="140" y="76"/>
                  <a:pt x="144" y="87"/>
                </a:cubicBezTo>
                <a:cubicBezTo>
                  <a:pt x="150" y="126"/>
                  <a:pt x="146" y="160"/>
                  <a:pt x="132" y="195"/>
                </a:cubicBezTo>
                <a:cubicBezTo>
                  <a:pt x="128" y="205"/>
                  <a:pt x="116" y="227"/>
                  <a:pt x="105" y="231"/>
                </a:cubicBezTo>
                <a:cubicBezTo>
                  <a:pt x="99" y="233"/>
                  <a:pt x="86" y="235"/>
                  <a:pt x="86" y="235"/>
                </a:cubicBezTo>
                <a:cubicBezTo>
                  <a:pt x="67" y="233"/>
                  <a:pt x="50" y="230"/>
                  <a:pt x="33" y="221"/>
                </a:cubicBezTo>
                <a:cubicBezTo>
                  <a:pt x="31" y="219"/>
                  <a:pt x="30" y="216"/>
                  <a:pt x="28" y="214"/>
                </a:cubicBezTo>
                <a:cubicBezTo>
                  <a:pt x="26" y="212"/>
                  <a:pt x="23" y="211"/>
                  <a:pt x="21" y="209"/>
                </a:cubicBezTo>
                <a:cubicBezTo>
                  <a:pt x="13" y="198"/>
                  <a:pt x="6" y="164"/>
                  <a:pt x="4" y="151"/>
                </a:cubicBezTo>
                <a:cubicBezTo>
                  <a:pt x="3" y="141"/>
                  <a:pt x="0" y="120"/>
                  <a:pt x="0" y="120"/>
                </a:cubicBezTo>
                <a:cubicBezTo>
                  <a:pt x="2" y="81"/>
                  <a:pt x="9" y="93"/>
                  <a:pt x="0" y="79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1600" descr="小纸屑"/>
          <p:cNvSpPr>
            <a:spLocks/>
          </p:cNvSpPr>
          <p:nvPr/>
        </p:nvSpPr>
        <p:spPr bwMode="auto">
          <a:xfrm>
            <a:off x="4820588" y="2648568"/>
            <a:ext cx="793756" cy="650123"/>
          </a:xfrm>
          <a:custGeom>
            <a:avLst/>
            <a:gdLst>
              <a:gd name="T0" fmla="*/ 13 w 296"/>
              <a:gd name="T1" fmla="*/ 143 h 234"/>
              <a:gd name="T2" fmla="*/ 161 w 296"/>
              <a:gd name="T3" fmla="*/ 0 h 234"/>
              <a:gd name="T4" fmla="*/ 261 w 296"/>
              <a:gd name="T5" fmla="*/ 47 h 234"/>
              <a:gd name="T6" fmla="*/ 274 w 296"/>
              <a:gd name="T7" fmla="*/ 84 h 234"/>
              <a:gd name="T8" fmla="*/ 133 w 296"/>
              <a:gd name="T9" fmla="*/ 234 h 234"/>
              <a:gd name="T10" fmla="*/ 80 w 296"/>
              <a:gd name="T11" fmla="*/ 226 h 234"/>
              <a:gd name="T12" fmla="*/ 13 w 296"/>
              <a:gd name="T13" fmla="*/ 143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6" h="234">
                <a:moveTo>
                  <a:pt x="13" y="143"/>
                </a:moveTo>
                <a:cubicBezTo>
                  <a:pt x="27" y="64"/>
                  <a:pt x="97" y="27"/>
                  <a:pt x="161" y="0"/>
                </a:cubicBezTo>
                <a:cubicBezTo>
                  <a:pt x="209" y="5"/>
                  <a:pt x="237" y="3"/>
                  <a:pt x="261" y="47"/>
                </a:cubicBezTo>
                <a:cubicBezTo>
                  <a:pt x="264" y="61"/>
                  <a:pt x="267" y="71"/>
                  <a:pt x="274" y="84"/>
                </a:cubicBezTo>
                <a:cubicBezTo>
                  <a:pt x="296" y="201"/>
                  <a:pt x="219" y="216"/>
                  <a:pt x="133" y="234"/>
                </a:cubicBezTo>
                <a:cubicBezTo>
                  <a:pt x="115" y="231"/>
                  <a:pt x="96" y="234"/>
                  <a:pt x="80" y="226"/>
                </a:cubicBezTo>
                <a:cubicBezTo>
                  <a:pt x="60" y="211"/>
                  <a:pt x="0" y="181"/>
                  <a:pt x="13" y="14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" name="Freeform 1601" descr="小纸屑"/>
          <p:cNvSpPr>
            <a:spLocks/>
          </p:cNvSpPr>
          <p:nvPr/>
        </p:nvSpPr>
        <p:spPr bwMode="auto">
          <a:xfrm>
            <a:off x="4551949" y="4123234"/>
            <a:ext cx="785141" cy="798120"/>
          </a:xfrm>
          <a:custGeom>
            <a:avLst/>
            <a:gdLst>
              <a:gd name="T0" fmla="*/ 25 w 212"/>
              <a:gd name="T1" fmla="*/ 200 h 209"/>
              <a:gd name="T2" fmla="*/ 10 w 212"/>
              <a:gd name="T3" fmla="*/ 173 h 209"/>
              <a:gd name="T4" fmla="*/ 10 w 212"/>
              <a:gd name="T5" fmla="*/ 108 h 209"/>
              <a:gd name="T6" fmla="*/ 145 w 212"/>
              <a:gd name="T7" fmla="*/ 0 h 209"/>
              <a:gd name="T8" fmla="*/ 193 w 212"/>
              <a:gd name="T9" fmla="*/ 32 h 209"/>
              <a:gd name="T10" fmla="*/ 212 w 212"/>
              <a:gd name="T11" fmla="*/ 89 h 209"/>
              <a:gd name="T12" fmla="*/ 210 w 212"/>
              <a:gd name="T13" fmla="*/ 137 h 209"/>
              <a:gd name="T14" fmla="*/ 58 w 212"/>
              <a:gd name="T15" fmla="*/ 209 h 209"/>
              <a:gd name="T16" fmla="*/ 30 w 212"/>
              <a:gd name="T17" fmla="*/ 207 h 209"/>
              <a:gd name="T18" fmla="*/ 25 w 212"/>
              <a:gd name="T19" fmla="*/ 200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12" h="209">
                <a:moveTo>
                  <a:pt x="25" y="200"/>
                </a:moveTo>
                <a:cubicBezTo>
                  <a:pt x="20" y="191"/>
                  <a:pt x="16" y="182"/>
                  <a:pt x="10" y="173"/>
                </a:cubicBezTo>
                <a:cubicBezTo>
                  <a:pt x="4" y="153"/>
                  <a:pt x="0" y="127"/>
                  <a:pt x="10" y="108"/>
                </a:cubicBezTo>
                <a:cubicBezTo>
                  <a:pt x="35" y="61"/>
                  <a:pt x="95" y="15"/>
                  <a:pt x="145" y="0"/>
                </a:cubicBezTo>
                <a:cubicBezTo>
                  <a:pt x="178" y="4"/>
                  <a:pt x="178" y="6"/>
                  <a:pt x="193" y="32"/>
                </a:cubicBezTo>
                <a:cubicBezTo>
                  <a:pt x="197" y="51"/>
                  <a:pt x="207" y="70"/>
                  <a:pt x="212" y="89"/>
                </a:cubicBezTo>
                <a:cubicBezTo>
                  <a:pt x="211" y="105"/>
                  <a:pt x="211" y="121"/>
                  <a:pt x="210" y="137"/>
                </a:cubicBezTo>
                <a:cubicBezTo>
                  <a:pt x="205" y="193"/>
                  <a:pt x="100" y="206"/>
                  <a:pt x="58" y="209"/>
                </a:cubicBezTo>
                <a:cubicBezTo>
                  <a:pt x="49" y="208"/>
                  <a:pt x="39" y="209"/>
                  <a:pt x="30" y="207"/>
                </a:cubicBezTo>
                <a:cubicBezTo>
                  <a:pt x="27" y="206"/>
                  <a:pt x="25" y="200"/>
                  <a:pt x="25" y="20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602" descr="小纸屑"/>
          <p:cNvSpPr>
            <a:spLocks/>
          </p:cNvSpPr>
          <p:nvPr/>
        </p:nvSpPr>
        <p:spPr bwMode="auto">
          <a:xfrm>
            <a:off x="5375111" y="3244060"/>
            <a:ext cx="568685" cy="710418"/>
          </a:xfrm>
          <a:custGeom>
            <a:avLst/>
            <a:gdLst>
              <a:gd name="T0" fmla="*/ 0 w 228"/>
              <a:gd name="T1" fmla="*/ 86 h 280"/>
              <a:gd name="T2" fmla="*/ 22 w 228"/>
              <a:gd name="T3" fmla="*/ 21 h 280"/>
              <a:gd name="T4" fmla="*/ 154 w 228"/>
              <a:gd name="T5" fmla="*/ 43 h 280"/>
              <a:gd name="T6" fmla="*/ 175 w 228"/>
              <a:gd name="T7" fmla="*/ 69 h 280"/>
              <a:gd name="T8" fmla="*/ 191 w 228"/>
              <a:gd name="T9" fmla="*/ 88 h 280"/>
              <a:gd name="T10" fmla="*/ 222 w 228"/>
              <a:gd name="T11" fmla="*/ 180 h 280"/>
              <a:gd name="T12" fmla="*/ 178 w 228"/>
              <a:gd name="T13" fmla="*/ 269 h 280"/>
              <a:gd name="T14" fmla="*/ 93 w 228"/>
              <a:gd name="T15" fmla="*/ 255 h 280"/>
              <a:gd name="T16" fmla="*/ 69 w 228"/>
              <a:gd name="T17" fmla="*/ 235 h 280"/>
              <a:gd name="T18" fmla="*/ 0 w 228"/>
              <a:gd name="T19" fmla="*/ 86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8" h="280">
                <a:moveTo>
                  <a:pt x="0" y="86"/>
                </a:moveTo>
                <a:cubicBezTo>
                  <a:pt x="14" y="72"/>
                  <a:pt x="8" y="36"/>
                  <a:pt x="22" y="21"/>
                </a:cubicBezTo>
                <a:cubicBezTo>
                  <a:pt x="89" y="0"/>
                  <a:pt x="100" y="17"/>
                  <a:pt x="154" y="43"/>
                </a:cubicBezTo>
                <a:cubicBezTo>
                  <a:pt x="177" y="67"/>
                  <a:pt x="156" y="44"/>
                  <a:pt x="175" y="69"/>
                </a:cubicBezTo>
                <a:cubicBezTo>
                  <a:pt x="181" y="75"/>
                  <a:pt x="191" y="88"/>
                  <a:pt x="191" y="88"/>
                </a:cubicBezTo>
                <a:cubicBezTo>
                  <a:pt x="202" y="118"/>
                  <a:pt x="228" y="148"/>
                  <a:pt x="222" y="180"/>
                </a:cubicBezTo>
                <a:cubicBezTo>
                  <a:pt x="217" y="207"/>
                  <a:pt x="200" y="251"/>
                  <a:pt x="178" y="269"/>
                </a:cubicBezTo>
                <a:cubicBezTo>
                  <a:pt x="141" y="280"/>
                  <a:pt x="125" y="271"/>
                  <a:pt x="93" y="255"/>
                </a:cubicBezTo>
                <a:cubicBezTo>
                  <a:pt x="86" y="248"/>
                  <a:pt x="76" y="241"/>
                  <a:pt x="69" y="235"/>
                </a:cubicBezTo>
                <a:cubicBezTo>
                  <a:pt x="37" y="179"/>
                  <a:pt x="25" y="146"/>
                  <a:pt x="0" y="8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603" descr="小纸屑"/>
          <p:cNvSpPr>
            <a:spLocks/>
          </p:cNvSpPr>
          <p:nvPr/>
        </p:nvSpPr>
        <p:spPr bwMode="auto">
          <a:xfrm>
            <a:off x="5561488" y="2616855"/>
            <a:ext cx="615880" cy="613124"/>
          </a:xfrm>
          <a:custGeom>
            <a:avLst/>
            <a:gdLst>
              <a:gd name="T0" fmla="*/ 21 w 184"/>
              <a:gd name="T1" fmla="*/ 134 h 159"/>
              <a:gd name="T2" fmla="*/ 10 w 184"/>
              <a:gd name="T3" fmla="*/ 73 h 159"/>
              <a:gd name="T4" fmla="*/ 84 w 184"/>
              <a:gd name="T5" fmla="*/ 0 h 159"/>
              <a:gd name="T6" fmla="*/ 170 w 184"/>
              <a:gd name="T7" fmla="*/ 22 h 159"/>
              <a:gd name="T8" fmla="*/ 184 w 184"/>
              <a:gd name="T9" fmla="*/ 49 h 159"/>
              <a:gd name="T10" fmla="*/ 137 w 184"/>
              <a:gd name="T11" fmla="*/ 143 h 159"/>
              <a:gd name="T12" fmla="*/ 101 w 184"/>
              <a:gd name="T13" fmla="*/ 159 h 159"/>
              <a:gd name="T14" fmla="*/ 21 w 184"/>
              <a:gd name="T15" fmla="*/ 134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4" h="159">
                <a:moveTo>
                  <a:pt x="21" y="134"/>
                </a:moveTo>
                <a:cubicBezTo>
                  <a:pt x="8" y="120"/>
                  <a:pt x="0" y="95"/>
                  <a:pt x="10" y="73"/>
                </a:cubicBezTo>
                <a:cubicBezTo>
                  <a:pt x="20" y="51"/>
                  <a:pt x="57" y="8"/>
                  <a:pt x="84" y="0"/>
                </a:cubicBezTo>
                <a:cubicBezTo>
                  <a:pt x="115" y="2"/>
                  <a:pt x="140" y="15"/>
                  <a:pt x="170" y="22"/>
                </a:cubicBezTo>
                <a:cubicBezTo>
                  <a:pt x="175" y="31"/>
                  <a:pt x="179" y="40"/>
                  <a:pt x="184" y="49"/>
                </a:cubicBezTo>
                <a:cubicBezTo>
                  <a:pt x="181" y="95"/>
                  <a:pt x="184" y="127"/>
                  <a:pt x="137" y="143"/>
                </a:cubicBezTo>
                <a:cubicBezTo>
                  <a:pt x="125" y="151"/>
                  <a:pt x="115" y="156"/>
                  <a:pt x="101" y="159"/>
                </a:cubicBezTo>
                <a:cubicBezTo>
                  <a:pt x="70" y="157"/>
                  <a:pt x="46" y="152"/>
                  <a:pt x="21" y="13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604" descr="小纸屑"/>
          <p:cNvSpPr>
            <a:spLocks/>
          </p:cNvSpPr>
          <p:nvPr/>
        </p:nvSpPr>
        <p:spPr bwMode="auto">
          <a:xfrm>
            <a:off x="5899765" y="3086938"/>
            <a:ext cx="645409" cy="618739"/>
          </a:xfrm>
          <a:custGeom>
            <a:avLst/>
            <a:gdLst>
              <a:gd name="T0" fmla="*/ 52 w 226"/>
              <a:gd name="T1" fmla="*/ 31 h 232"/>
              <a:gd name="T2" fmla="*/ 106 w 226"/>
              <a:gd name="T3" fmla="*/ 0 h 232"/>
              <a:gd name="T4" fmla="*/ 153 w 226"/>
              <a:gd name="T5" fmla="*/ 8 h 232"/>
              <a:gd name="T6" fmla="*/ 216 w 226"/>
              <a:gd name="T7" fmla="*/ 92 h 232"/>
              <a:gd name="T8" fmla="*/ 226 w 226"/>
              <a:gd name="T9" fmla="*/ 128 h 232"/>
              <a:gd name="T10" fmla="*/ 208 w 226"/>
              <a:gd name="T11" fmla="*/ 191 h 232"/>
              <a:gd name="T12" fmla="*/ 100 w 226"/>
              <a:gd name="T13" fmla="*/ 230 h 232"/>
              <a:gd name="T14" fmla="*/ 18 w 226"/>
              <a:gd name="T15" fmla="*/ 205 h 232"/>
              <a:gd name="T16" fmla="*/ 0 w 226"/>
              <a:gd name="T17" fmla="*/ 162 h 232"/>
              <a:gd name="T18" fmla="*/ 15 w 226"/>
              <a:gd name="T19" fmla="*/ 73 h 232"/>
              <a:gd name="T20" fmla="*/ 52 w 226"/>
              <a:gd name="T21" fmla="*/ 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26" h="232">
                <a:moveTo>
                  <a:pt x="52" y="31"/>
                </a:moveTo>
                <a:cubicBezTo>
                  <a:pt x="73" y="27"/>
                  <a:pt x="85" y="6"/>
                  <a:pt x="106" y="0"/>
                </a:cubicBezTo>
                <a:cubicBezTo>
                  <a:pt x="112" y="0"/>
                  <a:pt x="142" y="0"/>
                  <a:pt x="153" y="8"/>
                </a:cubicBezTo>
                <a:cubicBezTo>
                  <a:pt x="176" y="26"/>
                  <a:pt x="203" y="64"/>
                  <a:pt x="216" y="92"/>
                </a:cubicBezTo>
                <a:cubicBezTo>
                  <a:pt x="219" y="105"/>
                  <a:pt x="223" y="116"/>
                  <a:pt x="226" y="128"/>
                </a:cubicBezTo>
                <a:cubicBezTo>
                  <a:pt x="223" y="151"/>
                  <a:pt x="222" y="171"/>
                  <a:pt x="208" y="191"/>
                </a:cubicBezTo>
                <a:cubicBezTo>
                  <a:pt x="197" y="232"/>
                  <a:pt x="129" y="229"/>
                  <a:pt x="100" y="230"/>
                </a:cubicBezTo>
                <a:cubicBezTo>
                  <a:pt x="68" y="227"/>
                  <a:pt x="45" y="223"/>
                  <a:pt x="18" y="205"/>
                </a:cubicBezTo>
                <a:cubicBezTo>
                  <a:pt x="10" y="191"/>
                  <a:pt x="6" y="177"/>
                  <a:pt x="0" y="162"/>
                </a:cubicBezTo>
                <a:cubicBezTo>
                  <a:pt x="1" y="139"/>
                  <a:pt x="1" y="98"/>
                  <a:pt x="15" y="73"/>
                </a:cubicBezTo>
                <a:cubicBezTo>
                  <a:pt x="21" y="63"/>
                  <a:pt x="52" y="47"/>
                  <a:pt x="52" y="3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605" descr="小纸屑"/>
          <p:cNvSpPr>
            <a:spLocks/>
          </p:cNvSpPr>
          <p:nvPr/>
        </p:nvSpPr>
        <p:spPr bwMode="auto">
          <a:xfrm>
            <a:off x="5874516" y="3713348"/>
            <a:ext cx="516060" cy="620242"/>
          </a:xfrm>
          <a:custGeom>
            <a:avLst/>
            <a:gdLst>
              <a:gd name="T0" fmla="*/ 0 w 144"/>
              <a:gd name="T1" fmla="*/ 101 h 190"/>
              <a:gd name="T2" fmla="*/ 12 w 144"/>
              <a:gd name="T3" fmla="*/ 68 h 190"/>
              <a:gd name="T4" fmla="*/ 50 w 144"/>
              <a:gd name="T5" fmla="*/ 12 h 190"/>
              <a:gd name="T6" fmla="*/ 77 w 144"/>
              <a:gd name="T7" fmla="*/ 0 h 190"/>
              <a:gd name="T8" fmla="*/ 125 w 144"/>
              <a:gd name="T9" fmla="*/ 24 h 190"/>
              <a:gd name="T10" fmla="*/ 137 w 144"/>
              <a:gd name="T11" fmla="*/ 60 h 190"/>
              <a:gd name="T12" fmla="*/ 67 w 144"/>
              <a:gd name="T13" fmla="*/ 190 h 190"/>
              <a:gd name="T14" fmla="*/ 26 w 144"/>
              <a:gd name="T15" fmla="*/ 166 h 190"/>
              <a:gd name="T16" fmla="*/ 7 w 144"/>
              <a:gd name="T17" fmla="*/ 135 h 190"/>
              <a:gd name="T18" fmla="*/ 0 w 144"/>
              <a:gd name="T19" fmla="*/ 101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4" h="190">
                <a:moveTo>
                  <a:pt x="0" y="101"/>
                </a:moveTo>
                <a:cubicBezTo>
                  <a:pt x="6" y="90"/>
                  <a:pt x="7" y="79"/>
                  <a:pt x="12" y="68"/>
                </a:cubicBezTo>
                <a:cubicBezTo>
                  <a:pt x="17" y="45"/>
                  <a:pt x="31" y="25"/>
                  <a:pt x="50" y="12"/>
                </a:cubicBezTo>
                <a:cubicBezTo>
                  <a:pt x="58" y="6"/>
                  <a:pt x="77" y="0"/>
                  <a:pt x="77" y="0"/>
                </a:cubicBezTo>
                <a:cubicBezTo>
                  <a:pt x="108" y="4"/>
                  <a:pt x="105" y="6"/>
                  <a:pt x="125" y="24"/>
                </a:cubicBezTo>
                <a:cubicBezTo>
                  <a:pt x="131" y="36"/>
                  <a:pt x="133" y="48"/>
                  <a:pt x="137" y="60"/>
                </a:cubicBezTo>
                <a:cubicBezTo>
                  <a:pt x="144" y="109"/>
                  <a:pt x="119" y="175"/>
                  <a:pt x="67" y="190"/>
                </a:cubicBezTo>
                <a:cubicBezTo>
                  <a:pt x="48" y="187"/>
                  <a:pt x="41" y="177"/>
                  <a:pt x="26" y="166"/>
                </a:cubicBezTo>
                <a:cubicBezTo>
                  <a:pt x="23" y="155"/>
                  <a:pt x="14" y="144"/>
                  <a:pt x="7" y="135"/>
                </a:cubicBezTo>
                <a:cubicBezTo>
                  <a:pt x="3" y="123"/>
                  <a:pt x="0" y="114"/>
                  <a:pt x="0" y="10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606" descr="小纸屑"/>
          <p:cNvSpPr>
            <a:spLocks/>
          </p:cNvSpPr>
          <p:nvPr/>
        </p:nvSpPr>
        <p:spPr bwMode="auto">
          <a:xfrm>
            <a:off x="6142899" y="4217295"/>
            <a:ext cx="465731" cy="556064"/>
          </a:xfrm>
          <a:custGeom>
            <a:avLst/>
            <a:gdLst>
              <a:gd name="T0" fmla="*/ 0 w 140"/>
              <a:gd name="T1" fmla="*/ 105 h 159"/>
              <a:gd name="T2" fmla="*/ 50 w 140"/>
              <a:gd name="T3" fmla="*/ 7 h 159"/>
              <a:gd name="T4" fmla="*/ 98 w 140"/>
              <a:gd name="T5" fmla="*/ 9 h 159"/>
              <a:gd name="T6" fmla="*/ 126 w 140"/>
              <a:gd name="T7" fmla="*/ 40 h 159"/>
              <a:gd name="T8" fmla="*/ 64 w 140"/>
              <a:gd name="T9" fmla="*/ 159 h 159"/>
              <a:gd name="T10" fmla="*/ 0 w 140"/>
              <a:gd name="T11" fmla="*/ 105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0" h="159">
                <a:moveTo>
                  <a:pt x="0" y="105"/>
                </a:moveTo>
                <a:cubicBezTo>
                  <a:pt x="5" y="67"/>
                  <a:pt x="2" y="16"/>
                  <a:pt x="50" y="7"/>
                </a:cubicBezTo>
                <a:cubicBezTo>
                  <a:pt x="67" y="0"/>
                  <a:pt x="82" y="6"/>
                  <a:pt x="98" y="9"/>
                </a:cubicBezTo>
                <a:cubicBezTo>
                  <a:pt x="118" y="24"/>
                  <a:pt x="114" y="22"/>
                  <a:pt x="126" y="40"/>
                </a:cubicBezTo>
                <a:cubicBezTo>
                  <a:pt x="140" y="89"/>
                  <a:pt x="109" y="141"/>
                  <a:pt x="64" y="159"/>
                </a:cubicBezTo>
                <a:cubicBezTo>
                  <a:pt x="40" y="152"/>
                  <a:pt x="22" y="118"/>
                  <a:pt x="0" y="10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607" descr="小纸屑"/>
          <p:cNvSpPr>
            <a:spLocks/>
          </p:cNvSpPr>
          <p:nvPr/>
        </p:nvSpPr>
        <p:spPr bwMode="auto">
          <a:xfrm>
            <a:off x="6179898" y="2660556"/>
            <a:ext cx="374550" cy="440876"/>
          </a:xfrm>
          <a:custGeom>
            <a:avLst/>
            <a:gdLst>
              <a:gd name="T0" fmla="*/ 64 w 153"/>
              <a:gd name="T1" fmla="*/ 0 h 171"/>
              <a:gd name="T2" fmla="*/ 135 w 153"/>
              <a:gd name="T3" fmla="*/ 23 h 171"/>
              <a:gd name="T4" fmla="*/ 153 w 153"/>
              <a:gd name="T5" fmla="*/ 52 h 171"/>
              <a:gd name="T6" fmla="*/ 88 w 153"/>
              <a:gd name="T7" fmla="*/ 169 h 171"/>
              <a:gd name="T8" fmla="*/ 57 w 153"/>
              <a:gd name="T9" fmla="*/ 166 h 171"/>
              <a:gd name="T10" fmla="*/ 49 w 153"/>
              <a:gd name="T11" fmla="*/ 154 h 171"/>
              <a:gd name="T12" fmla="*/ 6 w 153"/>
              <a:gd name="T13" fmla="*/ 112 h 171"/>
              <a:gd name="T14" fmla="*/ 9 w 153"/>
              <a:gd name="T15" fmla="*/ 26 h 171"/>
              <a:gd name="T16" fmla="*/ 64 w 153"/>
              <a:gd name="T17" fmla="*/ 0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3" h="171">
                <a:moveTo>
                  <a:pt x="64" y="0"/>
                </a:moveTo>
                <a:cubicBezTo>
                  <a:pt x="86" y="17"/>
                  <a:pt x="109" y="17"/>
                  <a:pt x="135" y="23"/>
                </a:cubicBezTo>
                <a:cubicBezTo>
                  <a:pt x="147" y="32"/>
                  <a:pt x="147" y="38"/>
                  <a:pt x="153" y="52"/>
                </a:cubicBezTo>
                <a:cubicBezTo>
                  <a:pt x="149" y="105"/>
                  <a:pt x="150" y="157"/>
                  <a:pt x="88" y="169"/>
                </a:cubicBezTo>
                <a:cubicBezTo>
                  <a:pt x="77" y="168"/>
                  <a:pt x="67" y="171"/>
                  <a:pt x="57" y="166"/>
                </a:cubicBezTo>
                <a:cubicBezTo>
                  <a:pt x="52" y="165"/>
                  <a:pt x="52" y="157"/>
                  <a:pt x="49" y="154"/>
                </a:cubicBezTo>
                <a:cubicBezTo>
                  <a:pt x="36" y="139"/>
                  <a:pt x="20" y="125"/>
                  <a:pt x="6" y="112"/>
                </a:cubicBezTo>
                <a:cubicBezTo>
                  <a:pt x="0" y="89"/>
                  <a:pt x="9" y="50"/>
                  <a:pt x="9" y="26"/>
                </a:cubicBezTo>
                <a:lnTo>
                  <a:pt x="6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608" descr="小纸屑"/>
          <p:cNvSpPr>
            <a:spLocks/>
          </p:cNvSpPr>
          <p:nvPr/>
        </p:nvSpPr>
        <p:spPr bwMode="auto">
          <a:xfrm>
            <a:off x="4744205" y="3430829"/>
            <a:ext cx="713586" cy="686250"/>
          </a:xfrm>
          <a:custGeom>
            <a:avLst/>
            <a:gdLst>
              <a:gd name="T0" fmla="*/ 2 w 194"/>
              <a:gd name="T1" fmla="*/ 42 h 186"/>
              <a:gd name="T2" fmla="*/ 72 w 194"/>
              <a:gd name="T3" fmla="*/ 1 h 186"/>
              <a:gd name="T4" fmla="*/ 139 w 194"/>
              <a:gd name="T5" fmla="*/ 8 h 186"/>
              <a:gd name="T6" fmla="*/ 172 w 194"/>
              <a:gd name="T7" fmla="*/ 34 h 186"/>
              <a:gd name="T8" fmla="*/ 194 w 194"/>
              <a:gd name="T9" fmla="*/ 73 h 186"/>
              <a:gd name="T10" fmla="*/ 170 w 194"/>
              <a:gd name="T11" fmla="*/ 133 h 186"/>
              <a:gd name="T12" fmla="*/ 105 w 194"/>
              <a:gd name="T13" fmla="*/ 186 h 186"/>
              <a:gd name="T14" fmla="*/ 72 w 194"/>
              <a:gd name="T15" fmla="*/ 174 h 186"/>
              <a:gd name="T16" fmla="*/ 43 w 194"/>
              <a:gd name="T17" fmla="*/ 128 h 186"/>
              <a:gd name="T18" fmla="*/ 21 w 194"/>
              <a:gd name="T19" fmla="*/ 104 h 186"/>
              <a:gd name="T20" fmla="*/ 4 w 194"/>
              <a:gd name="T21" fmla="*/ 66 h 186"/>
              <a:gd name="T22" fmla="*/ 2 w 194"/>
              <a:gd name="T23" fmla="*/ 42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94" h="186">
                <a:moveTo>
                  <a:pt x="2" y="42"/>
                </a:moveTo>
                <a:cubicBezTo>
                  <a:pt x="25" y="25"/>
                  <a:pt x="43" y="7"/>
                  <a:pt x="72" y="1"/>
                </a:cubicBezTo>
                <a:cubicBezTo>
                  <a:pt x="90" y="2"/>
                  <a:pt x="121" y="0"/>
                  <a:pt x="139" y="8"/>
                </a:cubicBezTo>
                <a:cubicBezTo>
                  <a:pt x="152" y="14"/>
                  <a:pt x="172" y="34"/>
                  <a:pt x="172" y="34"/>
                </a:cubicBezTo>
                <a:cubicBezTo>
                  <a:pt x="178" y="49"/>
                  <a:pt x="190" y="57"/>
                  <a:pt x="194" y="73"/>
                </a:cubicBezTo>
                <a:cubicBezTo>
                  <a:pt x="191" y="96"/>
                  <a:pt x="183" y="114"/>
                  <a:pt x="170" y="133"/>
                </a:cubicBezTo>
                <a:cubicBezTo>
                  <a:pt x="161" y="164"/>
                  <a:pt x="134" y="179"/>
                  <a:pt x="105" y="186"/>
                </a:cubicBezTo>
                <a:cubicBezTo>
                  <a:pt x="87" y="183"/>
                  <a:pt x="86" y="182"/>
                  <a:pt x="72" y="174"/>
                </a:cubicBezTo>
                <a:cubicBezTo>
                  <a:pt x="62" y="158"/>
                  <a:pt x="55" y="142"/>
                  <a:pt x="43" y="128"/>
                </a:cubicBezTo>
                <a:cubicBezTo>
                  <a:pt x="36" y="120"/>
                  <a:pt x="21" y="104"/>
                  <a:pt x="21" y="104"/>
                </a:cubicBezTo>
                <a:cubicBezTo>
                  <a:pt x="17" y="90"/>
                  <a:pt x="13" y="78"/>
                  <a:pt x="4" y="66"/>
                </a:cubicBezTo>
                <a:cubicBezTo>
                  <a:pt x="2" y="56"/>
                  <a:pt x="0" y="52"/>
                  <a:pt x="2" y="4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609" descr="小纸屑"/>
          <p:cNvSpPr>
            <a:spLocks/>
          </p:cNvSpPr>
          <p:nvPr/>
        </p:nvSpPr>
        <p:spPr bwMode="auto">
          <a:xfrm>
            <a:off x="5630201" y="4435084"/>
            <a:ext cx="518094" cy="477561"/>
          </a:xfrm>
          <a:custGeom>
            <a:avLst/>
            <a:gdLst>
              <a:gd name="T0" fmla="*/ 38 w 143"/>
              <a:gd name="T1" fmla="*/ 0 h 147"/>
              <a:gd name="T2" fmla="*/ 125 w 143"/>
              <a:gd name="T3" fmla="*/ 10 h 147"/>
              <a:gd name="T4" fmla="*/ 143 w 143"/>
              <a:gd name="T5" fmla="*/ 46 h 147"/>
              <a:gd name="T6" fmla="*/ 79 w 143"/>
              <a:gd name="T7" fmla="*/ 147 h 147"/>
              <a:gd name="T8" fmla="*/ 55 w 143"/>
              <a:gd name="T9" fmla="*/ 145 h 147"/>
              <a:gd name="T10" fmla="*/ 36 w 143"/>
              <a:gd name="T11" fmla="*/ 139 h 147"/>
              <a:gd name="T12" fmla="*/ 10 w 143"/>
              <a:gd name="T13" fmla="*/ 112 h 147"/>
              <a:gd name="T14" fmla="*/ 0 w 143"/>
              <a:gd name="T15" fmla="*/ 79 h 147"/>
              <a:gd name="T16" fmla="*/ 38 w 143"/>
              <a:gd name="T1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147">
                <a:moveTo>
                  <a:pt x="38" y="0"/>
                </a:moveTo>
                <a:cubicBezTo>
                  <a:pt x="82" y="1"/>
                  <a:pt x="91" y="2"/>
                  <a:pt x="125" y="10"/>
                </a:cubicBezTo>
                <a:cubicBezTo>
                  <a:pt x="133" y="24"/>
                  <a:pt x="140" y="30"/>
                  <a:pt x="143" y="46"/>
                </a:cubicBezTo>
                <a:cubicBezTo>
                  <a:pt x="141" y="89"/>
                  <a:pt x="129" y="137"/>
                  <a:pt x="79" y="147"/>
                </a:cubicBezTo>
                <a:cubicBezTo>
                  <a:pt x="71" y="146"/>
                  <a:pt x="63" y="146"/>
                  <a:pt x="55" y="145"/>
                </a:cubicBezTo>
                <a:cubicBezTo>
                  <a:pt x="48" y="144"/>
                  <a:pt x="36" y="139"/>
                  <a:pt x="36" y="139"/>
                </a:cubicBezTo>
                <a:cubicBezTo>
                  <a:pt x="21" y="128"/>
                  <a:pt x="21" y="125"/>
                  <a:pt x="10" y="112"/>
                </a:cubicBezTo>
                <a:cubicBezTo>
                  <a:pt x="7" y="100"/>
                  <a:pt x="3" y="90"/>
                  <a:pt x="0" y="79"/>
                </a:cubicBezTo>
                <a:cubicBezTo>
                  <a:pt x="5" y="60"/>
                  <a:pt x="17" y="11"/>
                  <a:pt x="38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610" descr="小纸屑"/>
          <p:cNvSpPr>
            <a:spLocks/>
          </p:cNvSpPr>
          <p:nvPr/>
        </p:nvSpPr>
        <p:spPr bwMode="auto">
          <a:xfrm>
            <a:off x="5265497" y="3890672"/>
            <a:ext cx="623115" cy="597979"/>
          </a:xfrm>
          <a:custGeom>
            <a:avLst/>
            <a:gdLst>
              <a:gd name="T0" fmla="*/ 60 w 189"/>
              <a:gd name="T1" fmla="*/ 0 h 159"/>
              <a:gd name="T2" fmla="*/ 152 w 189"/>
              <a:gd name="T3" fmla="*/ 19 h 159"/>
              <a:gd name="T4" fmla="*/ 180 w 189"/>
              <a:gd name="T5" fmla="*/ 61 h 159"/>
              <a:gd name="T6" fmla="*/ 121 w 189"/>
              <a:gd name="T7" fmla="*/ 159 h 159"/>
              <a:gd name="T8" fmla="*/ 37 w 189"/>
              <a:gd name="T9" fmla="*/ 134 h 159"/>
              <a:gd name="T10" fmla="*/ 12 w 189"/>
              <a:gd name="T11" fmla="*/ 116 h 159"/>
              <a:gd name="T12" fmla="*/ 5 w 189"/>
              <a:gd name="T13" fmla="*/ 47 h 159"/>
              <a:gd name="T14" fmla="*/ 60 w 189"/>
              <a:gd name="T15" fmla="*/ 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9" h="159">
                <a:moveTo>
                  <a:pt x="60" y="0"/>
                </a:moveTo>
                <a:cubicBezTo>
                  <a:pt x="91" y="2"/>
                  <a:pt x="123" y="7"/>
                  <a:pt x="152" y="19"/>
                </a:cubicBezTo>
                <a:cubicBezTo>
                  <a:pt x="161" y="33"/>
                  <a:pt x="170" y="47"/>
                  <a:pt x="180" y="61"/>
                </a:cubicBezTo>
                <a:cubicBezTo>
                  <a:pt x="189" y="93"/>
                  <a:pt x="156" y="153"/>
                  <a:pt x="121" y="159"/>
                </a:cubicBezTo>
                <a:cubicBezTo>
                  <a:pt x="65" y="156"/>
                  <a:pt x="78" y="151"/>
                  <a:pt x="37" y="134"/>
                </a:cubicBezTo>
                <a:cubicBezTo>
                  <a:pt x="29" y="127"/>
                  <a:pt x="21" y="121"/>
                  <a:pt x="12" y="116"/>
                </a:cubicBezTo>
                <a:cubicBezTo>
                  <a:pt x="0" y="97"/>
                  <a:pt x="5" y="72"/>
                  <a:pt x="5" y="47"/>
                </a:cubicBezTo>
                <a:cubicBezTo>
                  <a:pt x="13" y="28"/>
                  <a:pt x="34" y="13"/>
                  <a:pt x="6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Box 1624"/>
          <p:cNvSpPr txBox="1">
            <a:spLocks noChangeArrowheads="1"/>
          </p:cNvSpPr>
          <p:nvPr/>
        </p:nvSpPr>
        <p:spPr bwMode="auto">
          <a:xfrm>
            <a:off x="6999573" y="4579221"/>
            <a:ext cx="1322388" cy="54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305" tIns="59153" rIns="118305" bIns="59153">
            <a:spAutoFit/>
          </a:bodyPr>
          <a:lstStyle>
            <a:lvl1pPr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592138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82688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74825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365375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8225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797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7369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941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24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土颗粒</a:t>
            </a:r>
          </a:p>
        </p:txBody>
      </p:sp>
      <p:sp>
        <p:nvSpPr>
          <p:cNvPr id="57" name="Text Box 1625"/>
          <p:cNvSpPr txBox="1">
            <a:spLocks noChangeArrowheads="1"/>
          </p:cNvSpPr>
          <p:nvPr/>
        </p:nvSpPr>
        <p:spPr bwMode="auto">
          <a:xfrm>
            <a:off x="6926381" y="2565484"/>
            <a:ext cx="1785819" cy="54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8305" tIns="59153" rIns="118305" bIns="59153">
            <a:spAutoFit/>
          </a:bodyPr>
          <a:lstStyle>
            <a:lvl1pPr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592138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82688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74825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365375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8225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797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7369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941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24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</a:t>
            </a:r>
            <a:r>
              <a:rPr lang="zh-CN" altLang="en-US" sz="24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中的孔隙</a:t>
            </a:r>
            <a:endParaRPr lang="zh-CN" altLang="en-US" sz="2400" b="1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8" name="Line 1626"/>
          <p:cNvSpPr>
            <a:spLocks noChangeShapeType="1"/>
          </p:cNvSpPr>
          <p:nvPr/>
        </p:nvSpPr>
        <p:spPr bwMode="auto">
          <a:xfrm>
            <a:off x="6425771" y="4558768"/>
            <a:ext cx="663794" cy="23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Line 1627"/>
          <p:cNvSpPr>
            <a:spLocks noChangeShapeType="1"/>
          </p:cNvSpPr>
          <p:nvPr/>
        </p:nvSpPr>
        <p:spPr bwMode="auto">
          <a:xfrm flipV="1">
            <a:off x="5825695" y="2870200"/>
            <a:ext cx="1133905" cy="431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1627"/>
          <p:cNvSpPr>
            <a:spLocks noChangeShapeType="1"/>
          </p:cNvSpPr>
          <p:nvPr/>
        </p:nvSpPr>
        <p:spPr bwMode="auto">
          <a:xfrm flipH="1" flipV="1">
            <a:off x="2120900" y="3441699"/>
            <a:ext cx="618472" cy="214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Text Box 1625"/>
          <p:cNvSpPr txBox="1">
            <a:spLocks noChangeArrowheads="1"/>
          </p:cNvSpPr>
          <p:nvPr/>
        </p:nvSpPr>
        <p:spPr bwMode="auto">
          <a:xfrm>
            <a:off x="969050" y="3119757"/>
            <a:ext cx="1167060" cy="489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8305" tIns="59153" rIns="118305" bIns="59153">
            <a:spAutoFit/>
          </a:bodyPr>
          <a:lstStyle>
            <a:lvl1pPr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592138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82688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74825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365375" defTabSz="118268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8225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797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7369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94175" defTabSz="1182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24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土骨架</a:t>
            </a:r>
            <a:endParaRPr lang="zh-CN" altLang="en-US" sz="2400" b="1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5" name="Freeform 1610" descr="小纸屑"/>
          <p:cNvSpPr>
            <a:spLocks/>
          </p:cNvSpPr>
          <p:nvPr/>
        </p:nvSpPr>
        <p:spPr bwMode="auto">
          <a:xfrm rot="4412293">
            <a:off x="4348463" y="3353431"/>
            <a:ext cx="417401" cy="389046"/>
          </a:xfrm>
          <a:custGeom>
            <a:avLst/>
            <a:gdLst>
              <a:gd name="T0" fmla="*/ 60 w 189"/>
              <a:gd name="T1" fmla="*/ 0 h 159"/>
              <a:gd name="T2" fmla="*/ 152 w 189"/>
              <a:gd name="T3" fmla="*/ 19 h 159"/>
              <a:gd name="T4" fmla="*/ 180 w 189"/>
              <a:gd name="T5" fmla="*/ 61 h 159"/>
              <a:gd name="T6" fmla="*/ 121 w 189"/>
              <a:gd name="T7" fmla="*/ 159 h 159"/>
              <a:gd name="T8" fmla="*/ 37 w 189"/>
              <a:gd name="T9" fmla="*/ 134 h 159"/>
              <a:gd name="T10" fmla="*/ 12 w 189"/>
              <a:gd name="T11" fmla="*/ 116 h 159"/>
              <a:gd name="T12" fmla="*/ 5 w 189"/>
              <a:gd name="T13" fmla="*/ 47 h 159"/>
              <a:gd name="T14" fmla="*/ 60 w 189"/>
              <a:gd name="T15" fmla="*/ 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9" h="159">
                <a:moveTo>
                  <a:pt x="60" y="0"/>
                </a:moveTo>
                <a:cubicBezTo>
                  <a:pt x="91" y="2"/>
                  <a:pt x="123" y="7"/>
                  <a:pt x="152" y="19"/>
                </a:cubicBezTo>
                <a:cubicBezTo>
                  <a:pt x="161" y="33"/>
                  <a:pt x="170" y="47"/>
                  <a:pt x="180" y="61"/>
                </a:cubicBezTo>
                <a:cubicBezTo>
                  <a:pt x="189" y="93"/>
                  <a:pt x="156" y="153"/>
                  <a:pt x="121" y="159"/>
                </a:cubicBezTo>
                <a:cubicBezTo>
                  <a:pt x="65" y="156"/>
                  <a:pt x="78" y="151"/>
                  <a:pt x="37" y="134"/>
                </a:cubicBezTo>
                <a:cubicBezTo>
                  <a:pt x="29" y="127"/>
                  <a:pt x="21" y="121"/>
                  <a:pt x="12" y="116"/>
                </a:cubicBezTo>
                <a:cubicBezTo>
                  <a:pt x="0" y="97"/>
                  <a:pt x="5" y="72"/>
                  <a:pt x="5" y="47"/>
                </a:cubicBezTo>
                <a:cubicBezTo>
                  <a:pt x="13" y="28"/>
                  <a:pt x="34" y="13"/>
                  <a:pt x="6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Box 57"/>
          <p:cNvSpPr txBox="1">
            <a:spLocks noChangeArrowheads="1"/>
          </p:cNvSpPr>
          <p:nvPr/>
        </p:nvSpPr>
        <p:spPr bwMode="auto">
          <a:xfrm>
            <a:off x="381000" y="932923"/>
            <a:ext cx="7416800" cy="15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土骨架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是由相互接触的土颗粒组成的，它具有土体整体的体积与截面积，但不包括孔隙中的气体和液体的部分</a:t>
            </a:r>
          </a:p>
        </p:txBody>
      </p:sp>
    </p:spTree>
    <p:extLst>
      <p:ext uri="{BB962C8B-B14F-4D97-AF65-F5344CB8AC3E}">
        <p14:creationId xmlns:p14="http://schemas.microsoft.com/office/powerpoint/2010/main" val="318641116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123965" y="5683435"/>
            <a:ext cx="33337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土体中的渗流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447993" name="Text Box 57"/>
          <p:cNvSpPr txBox="1">
            <a:spLocks noChangeArrowheads="1"/>
          </p:cNvSpPr>
          <p:nvPr/>
        </p:nvSpPr>
        <p:spPr bwMode="auto">
          <a:xfrm>
            <a:off x="381000" y="932923"/>
            <a:ext cx="4289425" cy="256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土是一种碎散的多孔介质，其孔隙在空间互相连通。当饱和土中的两点存在能量差时，水就在土的孔隙中从能量高的点向能量低的点流动</a:t>
            </a:r>
          </a:p>
        </p:txBody>
      </p:sp>
      <p:sp>
        <p:nvSpPr>
          <p:cNvPr id="1447994" name="Text Box 58"/>
          <p:cNvSpPr txBox="1">
            <a:spLocks noChangeArrowheads="1"/>
          </p:cNvSpPr>
          <p:nvPr/>
        </p:nvSpPr>
        <p:spPr bwMode="auto">
          <a:xfrm>
            <a:off x="1584325" y="3960759"/>
            <a:ext cx="736758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5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水在土体孔隙中流动的现象称为</a:t>
            </a:r>
            <a:r>
              <a:rPr lang="zh-CN" altLang="en-US" sz="25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渗流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5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土具有被水等流体透过的性质称为土的</a:t>
            </a:r>
            <a:r>
              <a:rPr lang="zh-CN" altLang="en-US" sz="25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渗透性</a:t>
            </a:r>
          </a:p>
        </p:txBody>
      </p:sp>
      <p:sp>
        <p:nvSpPr>
          <p:cNvPr id="1447995" name="AutoShape 59"/>
          <p:cNvSpPr>
            <a:spLocks noChangeArrowheads="1"/>
          </p:cNvSpPr>
          <p:nvPr/>
        </p:nvSpPr>
        <p:spPr bwMode="auto">
          <a:xfrm>
            <a:off x="868363" y="4056009"/>
            <a:ext cx="617537" cy="488950"/>
          </a:xfrm>
          <a:prstGeom prst="homePlate">
            <a:avLst>
              <a:gd name="adj" fmla="val 3157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4991100" y="1060602"/>
            <a:ext cx="4076699" cy="2588756"/>
            <a:chOff x="1710483" y="379824"/>
            <a:chExt cx="6382013" cy="3648229"/>
          </a:xfrm>
        </p:grpSpPr>
        <p:grpSp>
          <p:nvGrpSpPr>
            <p:cNvPr id="63" name="组合 62"/>
            <p:cNvGrpSpPr/>
            <p:nvPr/>
          </p:nvGrpSpPr>
          <p:grpSpPr>
            <a:xfrm>
              <a:off x="1710483" y="379824"/>
              <a:ext cx="4043203" cy="2335235"/>
              <a:chOff x="6345789" y="1244622"/>
              <a:chExt cx="2546841" cy="1543050"/>
            </a:xfrm>
          </p:grpSpPr>
          <p:sp>
            <p:nvSpPr>
              <p:cNvPr id="132" name="Line 1621"/>
              <p:cNvSpPr>
                <a:spLocks noChangeShapeType="1"/>
              </p:cNvSpPr>
              <p:nvPr/>
            </p:nvSpPr>
            <p:spPr bwMode="auto">
              <a:xfrm>
                <a:off x="6456914" y="1362097"/>
                <a:ext cx="2344738" cy="255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AutoShape 1622"/>
              <p:cNvSpPr>
                <a:spLocks noChangeArrowheads="1"/>
              </p:cNvSpPr>
              <p:nvPr/>
            </p:nvSpPr>
            <p:spPr bwMode="auto">
              <a:xfrm>
                <a:off x="7307599" y="1560672"/>
                <a:ext cx="353306" cy="271822"/>
              </a:xfrm>
              <a:prstGeom prst="rightArrow">
                <a:avLst>
                  <a:gd name="adj1" fmla="val 49639"/>
                  <a:gd name="adj2" fmla="val 53826"/>
                </a:avLst>
              </a:prstGeom>
              <a:solidFill>
                <a:srgbClr val="33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Text Box 1628"/>
              <p:cNvSpPr txBox="1">
                <a:spLocks noChangeArrowheads="1"/>
              </p:cNvSpPr>
              <p:nvPr/>
            </p:nvSpPr>
            <p:spPr bwMode="auto">
              <a:xfrm>
                <a:off x="7648822" y="1536397"/>
                <a:ext cx="976312" cy="428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18305" tIns="59153" rIns="118305" bIns="59153">
                <a:spAutoFit/>
              </a:bodyPr>
              <a:lstStyle>
                <a:lvl1pPr defTabSz="118268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592138" defTabSz="118268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82688" defTabSz="118268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774825" defTabSz="118268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365375" defTabSz="118268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822575" defTabSz="11826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3279775" defTabSz="11826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736975" defTabSz="11826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4194175" defTabSz="11826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zh-CN" altLang="en-US" sz="20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渗流</a:t>
                </a:r>
              </a:p>
            </p:txBody>
          </p:sp>
          <p:sp>
            <p:nvSpPr>
              <p:cNvPr id="135" name="Freeform 1672"/>
              <p:cNvSpPr>
                <a:spLocks noChangeAspect="1"/>
              </p:cNvSpPr>
              <p:nvPr/>
            </p:nvSpPr>
            <p:spPr bwMode="auto">
              <a:xfrm>
                <a:off x="6347808" y="1354160"/>
                <a:ext cx="74613" cy="1433512"/>
              </a:xfrm>
              <a:custGeom>
                <a:avLst/>
                <a:gdLst>
                  <a:gd name="T0" fmla="*/ 0 w 38"/>
                  <a:gd name="T1" fmla="*/ 0 h 539"/>
                  <a:gd name="T2" fmla="*/ 35 w 38"/>
                  <a:gd name="T3" fmla="*/ 0 h 539"/>
                  <a:gd name="T4" fmla="*/ 38 w 38"/>
                  <a:gd name="T5" fmla="*/ 539 h 539"/>
                  <a:gd name="T6" fmla="*/ 0 w 38"/>
                  <a:gd name="T7" fmla="*/ 539 h 539"/>
                  <a:gd name="T8" fmla="*/ 0 w 38"/>
                  <a:gd name="T9" fmla="*/ 0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39">
                    <a:moveTo>
                      <a:pt x="0" y="0"/>
                    </a:moveTo>
                    <a:lnTo>
                      <a:pt x="35" y="0"/>
                    </a:lnTo>
                    <a:lnTo>
                      <a:pt x="38" y="539"/>
                    </a:lnTo>
                    <a:lnTo>
                      <a:pt x="0" y="5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99FF"/>
              </a:solidFill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" name="Line 1673"/>
              <p:cNvSpPr>
                <a:spLocks noChangeShapeType="1"/>
              </p:cNvSpPr>
              <p:nvPr/>
            </p:nvSpPr>
            <p:spPr bwMode="auto">
              <a:xfrm>
                <a:off x="6345789" y="1244622"/>
                <a:ext cx="0" cy="1539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Line 1674"/>
              <p:cNvSpPr>
                <a:spLocks noChangeShapeType="1"/>
              </p:cNvSpPr>
              <p:nvPr/>
            </p:nvSpPr>
            <p:spPr bwMode="auto">
              <a:xfrm>
                <a:off x="6420402" y="1244622"/>
                <a:ext cx="0" cy="1539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1629"/>
              <p:cNvSpPr>
                <a:spLocks noChangeShapeType="1"/>
              </p:cNvSpPr>
              <p:nvPr/>
            </p:nvSpPr>
            <p:spPr bwMode="auto">
              <a:xfrm>
                <a:off x="6345789" y="1358922"/>
                <a:ext cx="730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1630"/>
              <p:cNvSpPr>
                <a:spLocks noChangeShapeType="1"/>
              </p:cNvSpPr>
              <p:nvPr/>
            </p:nvSpPr>
            <p:spPr bwMode="auto">
              <a:xfrm>
                <a:off x="6360077" y="1390672"/>
                <a:ext cx="30162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Line 1631"/>
              <p:cNvSpPr>
                <a:spLocks noChangeShapeType="1"/>
              </p:cNvSpPr>
              <p:nvPr/>
            </p:nvSpPr>
            <p:spPr bwMode="auto">
              <a:xfrm>
                <a:off x="6363252" y="1414485"/>
                <a:ext cx="30162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1675"/>
              <p:cNvSpPr>
                <a:spLocks noChangeAspect="1"/>
              </p:cNvSpPr>
              <p:nvPr/>
            </p:nvSpPr>
            <p:spPr bwMode="auto">
              <a:xfrm>
                <a:off x="8813255" y="1619272"/>
                <a:ext cx="79375" cy="1168400"/>
              </a:xfrm>
              <a:custGeom>
                <a:avLst/>
                <a:gdLst>
                  <a:gd name="T0" fmla="*/ 0 w 38"/>
                  <a:gd name="T1" fmla="*/ 0 h 539"/>
                  <a:gd name="T2" fmla="*/ 35 w 38"/>
                  <a:gd name="T3" fmla="*/ 0 h 539"/>
                  <a:gd name="T4" fmla="*/ 38 w 38"/>
                  <a:gd name="T5" fmla="*/ 539 h 539"/>
                  <a:gd name="T6" fmla="*/ 0 w 38"/>
                  <a:gd name="T7" fmla="*/ 539 h 539"/>
                  <a:gd name="T8" fmla="*/ 0 w 38"/>
                  <a:gd name="T9" fmla="*/ 0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39">
                    <a:moveTo>
                      <a:pt x="0" y="0"/>
                    </a:moveTo>
                    <a:lnTo>
                      <a:pt x="35" y="0"/>
                    </a:lnTo>
                    <a:lnTo>
                      <a:pt x="38" y="539"/>
                    </a:lnTo>
                    <a:lnTo>
                      <a:pt x="0" y="5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99FF"/>
              </a:solidFill>
              <a:ln>
                <a:noFill/>
              </a:ln>
              <a:effectLst/>
            </p:spPr>
            <p:txBody>
              <a:bodyPr wrap="square"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" name="Line 1676"/>
              <p:cNvSpPr>
                <a:spLocks noChangeShapeType="1"/>
              </p:cNvSpPr>
              <p:nvPr/>
            </p:nvSpPr>
            <p:spPr bwMode="auto">
              <a:xfrm>
                <a:off x="8815939" y="1244622"/>
                <a:ext cx="0" cy="1539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Line 1677"/>
              <p:cNvSpPr>
                <a:spLocks noChangeShapeType="1"/>
              </p:cNvSpPr>
              <p:nvPr/>
            </p:nvSpPr>
            <p:spPr bwMode="auto">
              <a:xfrm>
                <a:off x="8890552" y="1244622"/>
                <a:ext cx="0" cy="1539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Line 1678"/>
              <p:cNvSpPr>
                <a:spLocks noChangeShapeType="1"/>
              </p:cNvSpPr>
              <p:nvPr/>
            </p:nvSpPr>
            <p:spPr bwMode="auto">
              <a:xfrm>
                <a:off x="8815939" y="1619272"/>
                <a:ext cx="730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Line 1679"/>
              <p:cNvSpPr>
                <a:spLocks noChangeShapeType="1"/>
              </p:cNvSpPr>
              <p:nvPr/>
            </p:nvSpPr>
            <p:spPr bwMode="auto">
              <a:xfrm>
                <a:off x="8833402" y="1651022"/>
                <a:ext cx="30162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Line 1680"/>
              <p:cNvSpPr>
                <a:spLocks noChangeShapeType="1"/>
              </p:cNvSpPr>
              <p:nvPr/>
            </p:nvSpPr>
            <p:spPr bwMode="auto">
              <a:xfrm>
                <a:off x="8836577" y="1674835"/>
                <a:ext cx="30162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" name="矩形 63"/>
            <p:cNvSpPr/>
            <p:nvPr/>
          </p:nvSpPr>
          <p:spPr bwMode="auto">
            <a:xfrm>
              <a:off x="1819020" y="1398476"/>
              <a:ext cx="3808097" cy="2314130"/>
            </a:xfrm>
            <a:prstGeom prst="rect">
              <a:avLst/>
            </a:prstGeom>
            <a:solidFill>
              <a:srgbClr val="3399FF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5" name="Freeform 1590" descr="小纸屑"/>
            <p:cNvSpPr>
              <a:spLocks/>
            </p:cNvSpPr>
            <p:nvPr/>
          </p:nvSpPr>
          <p:spPr bwMode="auto">
            <a:xfrm>
              <a:off x="1885238" y="1409108"/>
              <a:ext cx="745092" cy="562593"/>
            </a:xfrm>
            <a:custGeom>
              <a:avLst/>
              <a:gdLst>
                <a:gd name="T0" fmla="*/ 0 w 193"/>
                <a:gd name="T1" fmla="*/ 84 h 139"/>
                <a:gd name="T2" fmla="*/ 19 w 193"/>
                <a:gd name="T3" fmla="*/ 46 h 139"/>
                <a:gd name="T4" fmla="*/ 144 w 193"/>
                <a:gd name="T5" fmla="*/ 0 h 139"/>
                <a:gd name="T6" fmla="*/ 180 w 193"/>
                <a:gd name="T7" fmla="*/ 8 h 139"/>
                <a:gd name="T8" fmla="*/ 187 w 193"/>
                <a:gd name="T9" fmla="*/ 36 h 139"/>
                <a:gd name="T10" fmla="*/ 139 w 193"/>
                <a:gd name="T11" fmla="*/ 135 h 139"/>
                <a:gd name="T12" fmla="*/ 7 w 193"/>
                <a:gd name="T13" fmla="*/ 104 h 139"/>
                <a:gd name="T14" fmla="*/ 0 w 193"/>
                <a:gd name="T15" fmla="*/ 84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3" h="139">
                  <a:moveTo>
                    <a:pt x="0" y="84"/>
                  </a:moveTo>
                  <a:cubicBezTo>
                    <a:pt x="7" y="72"/>
                    <a:pt x="11" y="57"/>
                    <a:pt x="19" y="46"/>
                  </a:cubicBezTo>
                  <a:cubicBezTo>
                    <a:pt x="47" y="6"/>
                    <a:pt x="101" y="3"/>
                    <a:pt x="144" y="0"/>
                  </a:cubicBezTo>
                  <a:cubicBezTo>
                    <a:pt x="159" y="2"/>
                    <a:pt x="167" y="3"/>
                    <a:pt x="180" y="8"/>
                  </a:cubicBezTo>
                  <a:cubicBezTo>
                    <a:pt x="184" y="17"/>
                    <a:pt x="185" y="26"/>
                    <a:pt x="187" y="36"/>
                  </a:cubicBezTo>
                  <a:cubicBezTo>
                    <a:pt x="184" y="91"/>
                    <a:pt x="193" y="115"/>
                    <a:pt x="139" y="135"/>
                  </a:cubicBezTo>
                  <a:cubicBezTo>
                    <a:pt x="86" y="133"/>
                    <a:pt x="47" y="139"/>
                    <a:pt x="7" y="104"/>
                  </a:cubicBezTo>
                  <a:cubicBezTo>
                    <a:pt x="5" y="97"/>
                    <a:pt x="4" y="90"/>
                    <a:pt x="0" y="84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1591" descr="小纸屑"/>
            <p:cNvSpPr>
              <a:spLocks/>
            </p:cNvSpPr>
            <p:nvPr/>
          </p:nvSpPr>
          <p:spPr bwMode="auto">
            <a:xfrm>
              <a:off x="2059490" y="1942948"/>
              <a:ext cx="813975" cy="718353"/>
            </a:xfrm>
            <a:custGeom>
              <a:avLst/>
              <a:gdLst>
                <a:gd name="T0" fmla="*/ 8 w 243"/>
                <a:gd name="T1" fmla="*/ 85 h 212"/>
                <a:gd name="T2" fmla="*/ 64 w 243"/>
                <a:gd name="T3" fmla="*/ 22 h 212"/>
                <a:gd name="T4" fmla="*/ 120 w 243"/>
                <a:gd name="T5" fmla="*/ 0 h 212"/>
                <a:gd name="T6" fmla="*/ 189 w 243"/>
                <a:gd name="T7" fmla="*/ 38 h 212"/>
                <a:gd name="T8" fmla="*/ 214 w 243"/>
                <a:gd name="T9" fmla="*/ 96 h 212"/>
                <a:gd name="T10" fmla="*/ 200 w 243"/>
                <a:gd name="T11" fmla="*/ 203 h 212"/>
                <a:gd name="T12" fmla="*/ 142 w 243"/>
                <a:gd name="T13" fmla="*/ 206 h 212"/>
                <a:gd name="T14" fmla="*/ 92 w 243"/>
                <a:gd name="T15" fmla="*/ 189 h 212"/>
                <a:gd name="T16" fmla="*/ 64 w 243"/>
                <a:gd name="T17" fmla="*/ 179 h 212"/>
                <a:gd name="T18" fmla="*/ 16 w 243"/>
                <a:gd name="T19" fmla="*/ 116 h 212"/>
                <a:gd name="T20" fmla="*/ 8 w 243"/>
                <a:gd name="T21" fmla="*/ 8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3" h="212">
                  <a:moveTo>
                    <a:pt x="8" y="85"/>
                  </a:moveTo>
                  <a:cubicBezTo>
                    <a:pt x="22" y="64"/>
                    <a:pt x="38" y="29"/>
                    <a:pt x="64" y="22"/>
                  </a:cubicBezTo>
                  <a:cubicBezTo>
                    <a:pt x="80" y="10"/>
                    <a:pt x="100" y="3"/>
                    <a:pt x="120" y="0"/>
                  </a:cubicBezTo>
                  <a:cubicBezTo>
                    <a:pt x="151" y="3"/>
                    <a:pt x="170" y="13"/>
                    <a:pt x="189" y="38"/>
                  </a:cubicBezTo>
                  <a:cubicBezTo>
                    <a:pt x="194" y="56"/>
                    <a:pt x="205" y="80"/>
                    <a:pt x="214" y="96"/>
                  </a:cubicBezTo>
                  <a:cubicBezTo>
                    <a:pt x="222" y="129"/>
                    <a:pt x="243" y="195"/>
                    <a:pt x="200" y="203"/>
                  </a:cubicBezTo>
                  <a:cubicBezTo>
                    <a:pt x="179" y="212"/>
                    <a:pt x="169" y="207"/>
                    <a:pt x="142" y="206"/>
                  </a:cubicBezTo>
                  <a:cubicBezTo>
                    <a:pt x="126" y="199"/>
                    <a:pt x="108" y="197"/>
                    <a:pt x="92" y="189"/>
                  </a:cubicBezTo>
                  <a:cubicBezTo>
                    <a:pt x="82" y="184"/>
                    <a:pt x="64" y="179"/>
                    <a:pt x="64" y="179"/>
                  </a:cubicBezTo>
                  <a:cubicBezTo>
                    <a:pt x="43" y="158"/>
                    <a:pt x="24" y="144"/>
                    <a:pt x="16" y="116"/>
                  </a:cubicBezTo>
                  <a:cubicBezTo>
                    <a:pt x="7" y="100"/>
                    <a:pt x="0" y="101"/>
                    <a:pt x="8" y="8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1592" descr="小纸屑"/>
            <p:cNvSpPr>
              <a:spLocks/>
            </p:cNvSpPr>
            <p:nvPr/>
          </p:nvSpPr>
          <p:spPr bwMode="auto">
            <a:xfrm>
              <a:off x="2593331" y="1409108"/>
              <a:ext cx="766404" cy="697691"/>
            </a:xfrm>
            <a:custGeom>
              <a:avLst/>
              <a:gdLst>
                <a:gd name="T0" fmla="*/ 40 w 177"/>
                <a:gd name="T1" fmla="*/ 11 h 174"/>
                <a:gd name="T2" fmla="*/ 57 w 177"/>
                <a:gd name="T3" fmla="*/ 0 h 174"/>
                <a:gd name="T4" fmla="*/ 112 w 177"/>
                <a:gd name="T5" fmla="*/ 3 h 174"/>
                <a:gd name="T6" fmla="*/ 132 w 177"/>
                <a:gd name="T7" fmla="*/ 11 h 174"/>
                <a:gd name="T8" fmla="*/ 154 w 177"/>
                <a:gd name="T9" fmla="*/ 39 h 174"/>
                <a:gd name="T10" fmla="*/ 165 w 177"/>
                <a:gd name="T11" fmla="*/ 55 h 174"/>
                <a:gd name="T12" fmla="*/ 177 w 177"/>
                <a:gd name="T13" fmla="*/ 113 h 174"/>
                <a:gd name="T14" fmla="*/ 126 w 177"/>
                <a:gd name="T15" fmla="*/ 165 h 174"/>
                <a:gd name="T16" fmla="*/ 43 w 177"/>
                <a:gd name="T17" fmla="*/ 151 h 174"/>
                <a:gd name="T18" fmla="*/ 19 w 177"/>
                <a:gd name="T19" fmla="*/ 124 h 174"/>
                <a:gd name="T20" fmla="*/ 7 w 177"/>
                <a:gd name="T21" fmla="*/ 108 h 174"/>
                <a:gd name="T22" fmla="*/ 24 w 177"/>
                <a:gd name="T23" fmla="*/ 45 h 174"/>
                <a:gd name="T24" fmla="*/ 40 w 177"/>
                <a:gd name="T25" fmla="*/ 11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174">
                  <a:moveTo>
                    <a:pt x="40" y="11"/>
                  </a:moveTo>
                  <a:cubicBezTo>
                    <a:pt x="46" y="8"/>
                    <a:pt x="57" y="0"/>
                    <a:pt x="57" y="0"/>
                  </a:cubicBezTo>
                  <a:cubicBezTo>
                    <a:pt x="75" y="1"/>
                    <a:pt x="94" y="1"/>
                    <a:pt x="112" y="3"/>
                  </a:cubicBezTo>
                  <a:cubicBezTo>
                    <a:pt x="119" y="5"/>
                    <a:pt x="132" y="11"/>
                    <a:pt x="132" y="11"/>
                  </a:cubicBezTo>
                  <a:cubicBezTo>
                    <a:pt x="139" y="21"/>
                    <a:pt x="147" y="30"/>
                    <a:pt x="154" y="39"/>
                  </a:cubicBezTo>
                  <a:cubicBezTo>
                    <a:pt x="158" y="44"/>
                    <a:pt x="165" y="55"/>
                    <a:pt x="165" y="55"/>
                  </a:cubicBezTo>
                  <a:cubicBezTo>
                    <a:pt x="172" y="78"/>
                    <a:pt x="175" y="86"/>
                    <a:pt x="177" y="113"/>
                  </a:cubicBezTo>
                  <a:cubicBezTo>
                    <a:pt x="172" y="164"/>
                    <a:pt x="171" y="159"/>
                    <a:pt x="126" y="165"/>
                  </a:cubicBezTo>
                  <a:cubicBezTo>
                    <a:pt x="97" y="174"/>
                    <a:pt x="69" y="161"/>
                    <a:pt x="43" y="151"/>
                  </a:cubicBezTo>
                  <a:cubicBezTo>
                    <a:pt x="35" y="143"/>
                    <a:pt x="27" y="133"/>
                    <a:pt x="19" y="124"/>
                  </a:cubicBezTo>
                  <a:cubicBezTo>
                    <a:pt x="14" y="119"/>
                    <a:pt x="7" y="108"/>
                    <a:pt x="7" y="108"/>
                  </a:cubicBezTo>
                  <a:cubicBezTo>
                    <a:pt x="0" y="82"/>
                    <a:pt x="6" y="61"/>
                    <a:pt x="24" y="45"/>
                  </a:cubicBezTo>
                  <a:cubicBezTo>
                    <a:pt x="29" y="29"/>
                    <a:pt x="35" y="18"/>
                    <a:pt x="40" y="1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1593" descr="小纸屑"/>
            <p:cNvSpPr>
              <a:spLocks/>
            </p:cNvSpPr>
            <p:nvPr/>
          </p:nvSpPr>
          <p:spPr bwMode="auto">
            <a:xfrm>
              <a:off x="2805910" y="2059231"/>
              <a:ext cx="616816" cy="656276"/>
            </a:xfrm>
            <a:custGeom>
              <a:avLst/>
              <a:gdLst>
                <a:gd name="T0" fmla="*/ 28 w 265"/>
                <a:gd name="T1" fmla="*/ 124 h 269"/>
                <a:gd name="T2" fmla="*/ 47 w 265"/>
                <a:gd name="T3" fmla="*/ 73 h 269"/>
                <a:gd name="T4" fmla="*/ 89 w 265"/>
                <a:gd name="T5" fmla="*/ 18 h 269"/>
                <a:gd name="T6" fmla="*/ 126 w 265"/>
                <a:gd name="T7" fmla="*/ 8 h 269"/>
                <a:gd name="T8" fmla="*/ 236 w 265"/>
                <a:gd name="T9" fmla="*/ 32 h 269"/>
                <a:gd name="T10" fmla="*/ 260 w 265"/>
                <a:gd name="T11" fmla="*/ 96 h 269"/>
                <a:gd name="T12" fmla="*/ 260 w 265"/>
                <a:gd name="T13" fmla="*/ 180 h 269"/>
                <a:gd name="T14" fmla="*/ 240 w 265"/>
                <a:gd name="T15" fmla="*/ 204 h 269"/>
                <a:gd name="T16" fmla="*/ 115 w 265"/>
                <a:gd name="T17" fmla="*/ 269 h 269"/>
                <a:gd name="T18" fmla="*/ 15 w 265"/>
                <a:gd name="T19" fmla="*/ 197 h 269"/>
                <a:gd name="T20" fmla="*/ 28 w 265"/>
                <a:gd name="T21" fmla="*/ 12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5" h="269">
                  <a:moveTo>
                    <a:pt x="28" y="124"/>
                  </a:moveTo>
                  <a:cubicBezTo>
                    <a:pt x="32" y="106"/>
                    <a:pt x="38" y="90"/>
                    <a:pt x="47" y="73"/>
                  </a:cubicBezTo>
                  <a:cubicBezTo>
                    <a:pt x="53" y="48"/>
                    <a:pt x="65" y="27"/>
                    <a:pt x="89" y="18"/>
                  </a:cubicBezTo>
                  <a:cubicBezTo>
                    <a:pt x="102" y="14"/>
                    <a:pt x="126" y="8"/>
                    <a:pt x="126" y="8"/>
                  </a:cubicBezTo>
                  <a:cubicBezTo>
                    <a:pt x="213" y="11"/>
                    <a:pt x="191" y="0"/>
                    <a:pt x="236" y="32"/>
                  </a:cubicBezTo>
                  <a:cubicBezTo>
                    <a:pt x="247" y="54"/>
                    <a:pt x="253" y="73"/>
                    <a:pt x="260" y="96"/>
                  </a:cubicBezTo>
                  <a:cubicBezTo>
                    <a:pt x="261" y="127"/>
                    <a:pt x="265" y="149"/>
                    <a:pt x="260" y="180"/>
                  </a:cubicBezTo>
                  <a:cubicBezTo>
                    <a:pt x="258" y="187"/>
                    <a:pt x="245" y="201"/>
                    <a:pt x="240" y="204"/>
                  </a:cubicBezTo>
                  <a:cubicBezTo>
                    <a:pt x="202" y="241"/>
                    <a:pt x="164" y="256"/>
                    <a:pt x="115" y="269"/>
                  </a:cubicBezTo>
                  <a:cubicBezTo>
                    <a:pt x="69" y="262"/>
                    <a:pt x="40" y="239"/>
                    <a:pt x="15" y="197"/>
                  </a:cubicBezTo>
                  <a:cubicBezTo>
                    <a:pt x="0" y="173"/>
                    <a:pt x="23" y="145"/>
                    <a:pt x="28" y="124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1594" descr="小纸屑"/>
            <p:cNvSpPr>
              <a:spLocks/>
            </p:cNvSpPr>
            <p:nvPr/>
          </p:nvSpPr>
          <p:spPr bwMode="auto">
            <a:xfrm>
              <a:off x="1831936" y="2412654"/>
              <a:ext cx="409457" cy="554827"/>
            </a:xfrm>
            <a:custGeom>
              <a:avLst/>
              <a:gdLst>
                <a:gd name="T0" fmla="*/ 5 w 115"/>
                <a:gd name="T1" fmla="*/ 52 h 150"/>
                <a:gd name="T2" fmla="*/ 48 w 115"/>
                <a:gd name="T3" fmla="*/ 4 h 150"/>
                <a:gd name="T4" fmla="*/ 106 w 115"/>
                <a:gd name="T5" fmla="*/ 21 h 150"/>
                <a:gd name="T6" fmla="*/ 115 w 115"/>
                <a:gd name="T7" fmla="*/ 88 h 150"/>
                <a:gd name="T8" fmla="*/ 65 w 115"/>
                <a:gd name="T9" fmla="*/ 150 h 150"/>
                <a:gd name="T10" fmla="*/ 22 w 115"/>
                <a:gd name="T11" fmla="*/ 122 h 150"/>
                <a:gd name="T12" fmla="*/ 7 w 115"/>
                <a:gd name="T13" fmla="*/ 107 h 150"/>
                <a:gd name="T14" fmla="*/ 5 w 115"/>
                <a:gd name="T15" fmla="*/ 5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5" h="150">
                  <a:moveTo>
                    <a:pt x="5" y="52"/>
                  </a:moveTo>
                  <a:cubicBezTo>
                    <a:pt x="13" y="25"/>
                    <a:pt x="20" y="12"/>
                    <a:pt x="48" y="4"/>
                  </a:cubicBezTo>
                  <a:cubicBezTo>
                    <a:pt x="74" y="5"/>
                    <a:pt x="91" y="0"/>
                    <a:pt x="106" y="21"/>
                  </a:cubicBezTo>
                  <a:cubicBezTo>
                    <a:pt x="107" y="50"/>
                    <a:pt x="100" y="68"/>
                    <a:pt x="115" y="88"/>
                  </a:cubicBezTo>
                  <a:cubicBezTo>
                    <a:pt x="113" y="125"/>
                    <a:pt x="102" y="145"/>
                    <a:pt x="65" y="150"/>
                  </a:cubicBezTo>
                  <a:cubicBezTo>
                    <a:pt x="46" y="146"/>
                    <a:pt x="36" y="136"/>
                    <a:pt x="22" y="122"/>
                  </a:cubicBezTo>
                  <a:cubicBezTo>
                    <a:pt x="17" y="117"/>
                    <a:pt x="7" y="107"/>
                    <a:pt x="7" y="107"/>
                  </a:cubicBezTo>
                  <a:cubicBezTo>
                    <a:pt x="0" y="82"/>
                    <a:pt x="0" y="86"/>
                    <a:pt x="5" y="5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1595" descr="小纸屑"/>
            <p:cNvSpPr>
              <a:spLocks/>
            </p:cNvSpPr>
            <p:nvPr/>
          </p:nvSpPr>
          <p:spPr bwMode="auto">
            <a:xfrm>
              <a:off x="1962109" y="2851185"/>
              <a:ext cx="736537" cy="843141"/>
            </a:xfrm>
            <a:custGeom>
              <a:avLst/>
              <a:gdLst>
                <a:gd name="T0" fmla="*/ 32 w 239"/>
                <a:gd name="T1" fmla="*/ 72 h 261"/>
                <a:gd name="T2" fmla="*/ 66 w 239"/>
                <a:gd name="T3" fmla="*/ 35 h 261"/>
                <a:gd name="T4" fmla="*/ 96 w 239"/>
                <a:gd name="T5" fmla="*/ 0 h 261"/>
                <a:gd name="T6" fmla="*/ 143 w 239"/>
                <a:gd name="T7" fmla="*/ 8 h 261"/>
                <a:gd name="T8" fmla="*/ 224 w 239"/>
                <a:gd name="T9" fmla="*/ 90 h 261"/>
                <a:gd name="T10" fmla="*/ 221 w 239"/>
                <a:gd name="T11" fmla="*/ 196 h 261"/>
                <a:gd name="T12" fmla="*/ 202 w 239"/>
                <a:gd name="T13" fmla="*/ 223 h 261"/>
                <a:gd name="T14" fmla="*/ 165 w 239"/>
                <a:gd name="T15" fmla="*/ 261 h 261"/>
                <a:gd name="T16" fmla="*/ 121 w 239"/>
                <a:gd name="T17" fmla="*/ 253 h 261"/>
                <a:gd name="T18" fmla="*/ 102 w 239"/>
                <a:gd name="T19" fmla="*/ 247 h 261"/>
                <a:gd name="T20" fmla="*/ 60 w 239"/>
                <a:gd name="T21" fmla="*/ 214 h 261"/>
                <a:gd name="T22" fmla="*/ 5 w 239"/>
                <a:gd name="T23" fmla="*/ 163 h 261"/>
                <a:gd name="T24" fmla="*/ 32 w 239"/>
                <a:gd name="T25" fmla="*/ 7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9" h="261">
                  <a:moveTo>
                    <a:pt x="32" y="72"/>
                  </a:moveTo>
                  <a:cubicBezTo>
                    <a:pt x="42" y="58"/>
                    <a:pt x="55" y="49"/>
                    <a:pt x="66" y="35"/>
                  </a:cubicBezTo>
                  <a:cubicBezTo>
                    <a:pt x="75" y="24"/>
                    <a:pt x="82" y="6"/>
                    <a:pt x="96" y="0"/>
                  </a:cubicBezTo>
                  <a:cubicBezTo>
                    <a:pt x="112" y="2"/>
                    <a:pt x="127" y="6"/>
                    <a:pt x="143" y="8"/>
                  </a:cubicBezTo>
                  <a:cubicBezTo>
                    <a:pt x="178" y="25"/>
                    <a:pt x="206" y="57"/>
                    <a:pt x="224" y="90"/>
                  </a:cubicBezTo>
                  <a:cubicBezTo>
                    <a:pt x="232" y="122"/>
                    <a:pt x="239" y="166"/>
                    <a:pt x="221" y="196"/>
                  </a:cubicBezTo>
                  <a:cubicBezTo>
                    <a:pt x="204" y="222"/>
                    <a:pt x="210" y="205"/>
                    <a:pt x="202" y="223"/>
                  </a:cubicBezTo>
                  <a:cubicBezTo>
                    <a:pt x="194" y="242"/>
                    <a:pt x="186" y="256"/>
                    <a:pt x="165" y="261"/>
                  </a:cubicBezTo>
                  <a:cubicBezTo>
                    <a:pt x="148" y="260"/>
                    <a:pt x="137" y="258"/>
                    <a:pt x="121" y="253"/>
                  </a:cubicBezTo>
                  <a:cubicBezTo>
                    <a:pt x="114" y="252"/>
                    <a:pt x="102" y="247"/>
                    <a:pt x="102" y="247"/>
                  </a:cubicBezTo>
                  <a:cubicBezTo>
                    <a:pt x="87" y="237"/>
                    <a:pt x="77" y="222"/>
                    <a:pt x="60" y="214"/>
                  </a:cubicBezTo>
                  <a:cubicBezTo>
                    <a:pt x="46" y="196"/>
                    <a:pt x="23" y="177"/>
                    <a:pt x="5" y="163"/>
                  </a:cubicBezTo>
                  <a:cubicBezTo>
                    <a:pt x="0" y="139"/>
                    <a:pt x="22" y="93"/>
                    <a:pt x="32" y="7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1596" descr="小纸屑"/>
            <p:cNvSpPr>
              <a:spLocks/>
            </p:cNvSpPr>
            <p:nvPr/>
          </p:nvSpPr>
          <p:spPr bwMode="auto">
            <a:xfrm>
              <a:off x="2551051" y="2593074"/>
              <a:ext cx="661891" cy="637834"/>
            </a:xfrm>
            <a:custGeom>
              <a:avLst/>
              <a:gdLst>
                <a:gd name="T0" fmla="*/ 12 w 171"/>
                <a:gd name="T1" fmla="*/ 49 h 163"/>
                <a:gd name="T2" fmla="*/ 51 w 171"/>
                <a:gd name="T3" fmla="*/ 20 h 163"/>
                <a:gd name="T4" fmla="*/ 120 w 171"/>
                <a:gd name="T5" fmla="*/ 30 h 163"/>
                <a:gd name="T6" fmla="*/ 156 w 171"/>
                <a:gd name="T7" fmla="*/ 44 h 163"/>
                <a:gd name="T8" fmla="*/ 153 w 171"/>
                <a:gd name="T9" fmla="*/ 124 h 163"/>
                <a:gd name="T10" fmla="*/ 92 w 171"/>
                <a:gd name="T11" fmla="*/ 163 h 163"/>
                <a:gd name="T12" fmla="*/ 13 w 171"/>
                <a:gd name="T13" fmla="*/ 114 h 163"/>
                <a:gd name="T14" fmla="*/ 12 w 171"/>
                <a:gd name="T15" fmla="*/ 49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1" h="163">
                  <a:moveTo>
                    <a:pt x="12" y="49"/>
                  </a:moveTo>
                  <a:cubicBezTo>
                    <a:pt x="16" y="33"/>
                    <a:pt x="35" y="23"/>
                    <a:pt x="51" y="20"/>
                  </a:cubicBezTo>
                  <a:cubicBezTo>
                    <a:pt x="79" y="0"/>
                    <a:pt x="96" y="24"/>
                    <a:pt x="120" y="30"/>
                  </a:cubicBezTo>
                  <a:cubicBezTo>
                    <a:pt x="132" y="38"/>
                    <a:pt x="142" y="41"/>
                    <a:pt x="156" y="44"/>
                  </a:cubicBezTo>
                  <a:cubicBezTo>
                    <a:pt x="171" y="68"/>
                    <a:pt x="169" y="101"/>
                    <a:pt x="153" y="124"/>
                  </a:cubicBezTo>
                  <a:cubicBezTo>
                    <a:pt x="146" y="146"/>
                    <a:pt x="113" y="158"/>
                    <a:pt x="92" y="163"/>
                  </a:cubicBezTo>
                  <a:cubicBezTo>
                    <a:pt x="50" y="157"/>
                    <a:pt x="50" y="124"/>
                    <a:pt x="13" y="114"/>
                  </a:cubicBezTo>
                  <a:cubicBezTo>
                    <a:pt x="0" y="95"/>
                    <a:pt x="5" y="66"/>
                    <a:pt x="12" y="4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1597" descr="小纸屑"/>
            <p:cNvSpPr>
              <a:spLocks/>
            </p:cNvSpPr>
            <p:nvPr/>
          </p:nvSpPr>
          <p:spPr bwMode="auto">
            <a:xfrm>
              <a:off x="2871327" y="3129808"/>
              <a:ext cx="746229" cy="578513"/>
            </a:xfrm>
            <a:custGeom>
              <a:avLst/>
              <a:gdLst>
                <a:gd name="T0" fmla="*/ 8 w 250"/>
                <a:gd name="T1" fmla="*/ 143 h 179"/>
                <a:gd name="T2" fmla="*/ 39 w 250"/>
                <a:gd name="T3" fmla="*/ 47 h 179"/>
                <a:gd name="T4" fmla="*/ 140 w 250"/>
                <a:gd name="T5" fmla="*/ 0 h 179"/>
                <a:gd name="T6" fmla="*/ 241 w 250"/>
                <a:gd name="T7" fmla="*/ 47 h 179"/>
                <a:gd name="T8" fmla="*/ 215 w 250"/>
                <a:gd name="T9" fmla="*/ 154 h 179"/>
                <a:gd name="T10" fmla="*/ 160 w 250"/>
                <a:gd name="T11" fmla="*/ 176 h 179"/>
                <a:gd name="T12" fmla="*/ 84 w 250"/>
                <a:gd name="T13" fmla="*/ 174 h 179"/>
                <a:gd name="T14" fmla="*/ 8 w 250"/>
                <a:gd name="T15" fmla="*/ 14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0" h="179">
                  <a:moveTo>
                    <a:pt x="8" y="143"/>
                  </a:moveTo>
                  <a:cubicBezTo>
                    <a:pt x="11" y="74"/>
                    <a:pt x="0" y="94"/>
                    <a:pt x="39" y="47"/>
                  </a:cubicBezTo>
                  <a:cubicBezTo>
                    <a:pt x="51" y="3"/>
                    <a:pt x="105" y="2"/>
                    <a:pt x="140" y="0"/>
                  </a:cubicBezTo>
                  <a:cubicBezTo>
                    <a:pt x="188" y="3"/>
                    <a:pt x="213" y="8"/>
                    <a:pt x="241" y="47"/>
                  </a:cubicBezTo>
                  <a:cubicBezTo>
                    <a:pt x="247" y="87"/>
                    <a:pt x="250" y="125"/>
                    <a:pt x="215" y="154"/>
                  </a:cubicBezTo>
                  <a:cubicBezTo>
                    <a:pt x="200" y="166"/>
                    <a:pt x="179" y="171"/>
                    <a:pt x="160" y="176"/>
                  </a:cubicBezTo>
                  <a:cubicBezTo>
                    <a:pt x="149" y="179"/>
                    <a:pt x="84" y="174"/>
                    <a:pt x="84" y="174"/>
                  </a:cubicBezTo>
                  <a:cubicBezTo>
                    <a:pt x="80" y="174"/>
                    <a:pt x="25" y="153"/>
                    <a:pt x="8" y="143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1598" descr="小纸屑"/>
            <p:cNvSpPr>
              <a:spLocks/>
            </p:cNvSpPr>
            <p:nvPr/>
          </p:nvSpPr>
          <p:spPr bwMode="auto">
            <a:xfrm>
              <a:off x="3243452" y="2519075"/>
              <a:ext cx="655408" cy="681836"/>
            </a:xfrm>
            <a:custGeom>
              <a:avLst/>
              <a:gdLst>
                <a:gd name="T0" fmla="*/ 28 w 172"/>
                <a:gd name="T1" fmla="*/ 161 h 187"/>
                <a:gd name="T2" fmla="*/ 14 w 172"/>
                <a:gd name="T3" fmla="*/ 110 h 187"/>
                <a:gd name="T4" fmla="*/ 38 w 172"/>
                <a:gd name="T5" fmla="*/ 27 h 187"/>
                <a:gd name="T6" fmla="*/ 94 w 172"/>
                <a:gd name="T7" fmla="*/ 0 h 187"/>
                <a:gd name="T8" fmla="*/ 160 w 172"/>
                <a:gd name="T9" fmla="*/ 55 h 187"/>
                <a:gd name="T10" fmla="*/ 172 w 172"/>
                <a:gd name="T11" fmla="*/ 90 h 187"/>
                <a:gd name="T12" fmla="*/ 169 w 172"/>
                <a:gd name="T13" fmla="*/ 134 h 187"/>
                <a:gd name="T14" fmla="*/ 94 w 172"/>
                <a:gd name="T15" fmla="*/ 183 h 187"/>
                <a:gd name="T16" fmla="*/ 28 w 172"/>
                <a:gd name="T17" fmla="*/ 16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187">
                  <a:moveTo>
                    <a:pt x="28" y="161"/>
                  </a:moveTo>
                  <a:cubicBezTo>
                    <a:pt x="22" y="144"/>
                    <a:pt x="18" y="127"/>
                    <a:pt x="14" y="110"/>
                  </a:cubicBezTo>
                  <a:cubicBezTo>
                    <a:pt x="9" y="77"/>
                    <a:pt x="0" y="35"/>
                    <a:pt x="38" y="27"/>
                  </a:cubicBezTo>
                  <a:cubicBezTo>
                    <a:pt x="59" y="15"/>
                    <a:pt x="69" y="3"/>
                    <a:pt x="94" y="0"/>
                  </a:cubicBezTo>
                  <a:cubicBezTo>
                    <a:pt x="125" y="5"/>
                    <a:pt x="149" y="26"/>
                    <a:pt x="160" y="55"/>
                  </a:cubicBezTo>
                  <a:cubicBezTo>
                    <a:pt x="165" y="66"/>
                    <a:pt x="172" y="90"/>
                    <a:pt x="172" y="90"/>
                  </a:cubicBezTo>
                  <a:cubicBezTo>
                    <a:pt x="171" y="105"/>
                    <a:pt x="171" y="119"/>
                    <a:pt x="169" y="134"/>
                  </a:cubicBezTo>
                  <a:cubicBezTo>
                    <a:pt x="165" y="158"/>
                    <a:pt x="114" y="177"/>
                    <a:pt x="94" y="183"/>
                  </a:cubicBezTo>
                  <a:cubicBezTo>
                    <a:pt x="71" y="187"/>
                    <a:pt x="41" y="173"/>
                    <a:pt x="28" y="16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1599" descr="小纸屑"/>
            <p:cNvSpPr>
              <a:spLocks/>
            </p:cNvSpPr>
            <p:nvPr/>
          </p:nvSpPr>
          <p:spPr bwMode="auto">
            <a:xfrm>
              <a:off x="3370802" y="1418440"/>
              <a:ext cx="533021" cy="707612"/>
            </a:xfrm>
            <a:custGeom>
              <a:avLst/>
              <a:gdLst>
                <a:gd name="T0" fmla="*/ 0 w 150"/>
                <a:gd name="T1" fmla="*/ 79 h 235"/>
                <a:gd name="T2" fmla="*/ 36 w 150"/>
                <a:gd name="T3" fmla="*/ 24 h 235"/>
                <a:gd name="T4" fmla="*/ 43 w 150"/>
                <a:gd name="T5" fmla="*/ 17 h 235"/>
                <a:gd name="T6" fmla="*/ 48 w 150"/>
                <a:gd name="T7" fmla="*/ 10 h 235"/>
                <a:gd name="T8" fmla="*/ 62 w 150"/>
                <a:gd name="T9" fmla="*/ 0 h 235"/>
                <a:gd name="T10" fmla="*/ 134 w 150"/>
                <a:gd name="T11" fmla="*/ 53 h 235"/>
                <a:gd name="T12" fmla="*/ 144 w 150"/>
                <a:gd name="T13" fmla="*/ 87 h 235"/>
                <a:gd name="T14" fmla="*/ 132 w 150"/>
                <a:gd name="T15" fmla="*/ 195 h 235"/>
                <a:gd name="T16" fmla="*/ 105 w 150"/>
                <a:gd name="T17" fmla="*/ 231 h 235"/>
                <a:gd name="T18" fmla="*/ 86 w 150"/>
                <a:gd name="T19" fmla="*/ 235 h 235"/>
                <a:gd name="T20" fmla="*/ 33 w 150"/>
                <a:gd name="T21" fmla="*/ 221 h 235"/>
                <a:gd name="T22" fmla="*/ 28 w 150"/>
                <a:gd name="T23" fmla="*/ 214 h 235"/>
                <a:gd name="T24" fmla="*/ 21 w 150"/>
                <a:gd name="T25" fmla="*/ 209 h 235"/>
                <a:gd name="T26" fmla="*/ 4 w 150"/>
                <a:gd name="T27" fmla="*/ 151 h 235"/>
                <a:gd name="T28" fmla="*/ 0 w 150"/>
                <a:gd name="T29" fmla="*/ 120 h 235"/>
                <a:gd name="T30" fmla="*/ 0 w 150"/>
                <a:gd name="T31" fmla="*/ 79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0" h="235">
                  <a:moveTo>
                    <a:pt x="0" y="79"/>
                  </a:moveTo>
                  <a:cubicBezTo>
                    <a:pt x="6" y="53"/>
                    <a:pt x="16" y="41"/>
                    <a:pt x="36" y="24"/>
                  </a:cubicBezTo>
                  <a:cubicBezTo>
                    <a:pt x="39" y="22"/>
                    <a:pt x="41" y="20"/>
                    <a:pt x="43" y="17"/>
                  </a:cubicBezTo>
                  <a:cubicBezTo>
                    <a:pt x="45" y="15"/>
                    <a:pt x="46" y="12"/>
                    <a:pt x="48" y="10"/>
                  </a:cubicBezTo>
                  <a:cubicBezTo>
                    <a:pt x="52" y="6"/>
                    <a:pt x="62" y="0"/>
                    <a:pt x="62" y="0"/>
                  </a:cubicBezTo>
                  <a:cubicBezTo>
                    <a:pt x="106" y="6"/>
                    <a:pt x="110" y="19"/>
                    <a:pt x="134" y="53"/>
                  </a:cubicBezTo>
                  <a:cubicBezTo>
                    <a:pt x="136" y="65"/>
                    <a:pt x="140" y="76"/>
                    <a:pt x="144" y="87"/>
                  </a:cubicBezTo>
                  <a:cubicBezTo>
                    <a:pt x="150" y="126"/>
                    <a:pt x="146" y="160"/>
                    <a:pt x="132" y="195"/>
                  </a:cubicBezTo>
                  <a:cubicBezTo>
                    <a:pt x="128" y="205"/>
                    <a:pt x="116" y="227"/>
                    <a:pt x="105" y="231"/>
                  </a:cubicBezTo>
                  <a:cubicBezTo>
                    <a:pt x="99" y="233"/>
                    <a:pt x="86" y="235"/>
                    <a:pt x="86" y="235"/>
                  </a:cubicBezTo>
                  <a:cubicBezTo>
                    <a:pt x="67" y="233"/>
                    <a:pt x="50" y="230"/>
                    <a:pt x="33" y="221"/>
                  </a:cubicBezTo>
                  <a:cubicBezTo>
                    <a:pt x="31" y="219"/>
                    <a:pt x="30" y="216"/>
                    <a:pt x="28" y="214"/>
                  </a:cubicBezTo>
                  <a:cubicBezTo>
                    <a:pt x="26" y="212"/>
                    <a:pt x="23" y="211"/>
                    <a:pt x="21" y="209"/>
                  </a:cubicBezTo>
                  <a:cubicBezTo>
                    <a:pt x="13" y="198"/>
                    <a:pt x="6" y="164"/>
                    <a:pt x="4" y="151"/>
                  </a:cubicBezTo>
                  <a:cubicBezTo>
                    <a:pt x="3" y="141"/>
                    <a:pt x="0" y="120"/>
                    <a:pt x="0" y="120"/>
                  </a:cubicBezTo>
                  <a:cubicBezTo>
                    <a:pt x="2" y="81"/>
                    <a:pt x="9" y="93"/>
                    <a:pt x="0" y="7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1600" descr="小纸屑"/>
            <p:cNvSpPr>
              <a:spLocks/>
            </p:cNvSpPr>
            <p:nvPr/>
          </p:nvSpPr>
          <p:spPr bwMode="auto">
            <a:xfrm>
              <a:off x="3876796" y="1430250"/>
              <a:ext cx="793756" cy="650123"/>
            </a:xfrm>
            <a:custGeom>
              <a:avLst/>
              <a:gdLst>
                <a:gd name="T0" fmla="*/ 13 w 296"/>
                <a:gd name="T1" fmla="*/ 143 h 234"/>
                <a:gd name="T2" fmla="*/ 161 w 296"/>
                <a:gd name="T3" fmla="*/ 0 h 234"/>
                <a:gd name="T4" fmla="*/ 261 w 296"/>
                <a:gd name="T5" fmla="*/ 47 h 234"/>
                <a:gd name="T6" fmla="*/ 274 w 296"/>
                <a:gd name="T7" fmla="*/ 84 h 234"/>
                <a:gd name="T8" fmla="*/ 133 w 296"/>
                <a:gd name="T9" fmla="*/ 234 h 234"/>
                <a:gd name="T10" fmla="*/ 80 w 296"/>
                <a:gd name="T11" fmla="*/ 226 h 234"/>
                <a:gd name="T12" fmla="*/ 13 w 296"/>
                <a:gd name="T13" fmla="*/ 143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234">
                  <a:moveTo>
                    <a:pt x="13" y="143"/>
                  </a:moveTo>
                  <a:cubicBezTo>
                    <a:pt x="27" y="64"/>
                    <a:pt x="97" y="27"/>
                    <a:pt x="161" y="0"/>
                  </a:cubicBezTo>
                  <a:cubicBezTo>
                    <a:pt x="209" y="5"/>
                    <a:pt x="237" y="3"/>
                    <a:pt x="261" y="47"/>
                  </a:cubicBezTo>
                  <a:cubicBezTo>
                    <a:pt x="264" y="61"/>
                    <a:pt x="267" y="71"/>
                    <a:pt x="274" y="84"/>
                  </a:cubicBezTo>
                  <a:cubicBezTo>
                    <a:pt x="296" y="201"/>
                    <a:pt x="219" y="216"/>
                    <a:pt x="133" y="234"/>
                  </a:cubicBezTo>
                  <a:cubicBezTo>
                    <a:pt x="115" y="231"/>
                    <a:pt x="96" y="234"/>
                    <a:pt x="80" y="226"/>
                  </a:cubicBezTo>
                  <a:cubicBezTo>
                    <a:pt x="60" y="211"/>
                    <a:pt x="0" y="181"/>
                    <a:pt x="13" y="143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1601" descr="小纸屑"/>
            <p:cNvSpPr>
              <a:spLocks/>
            </p:cNvSpPr>
            <p:nvPr/>
          </p:nvSpPr>
          <p:spPr bwMode="auto">
            <a:xfrm>
              <a:off x="3608157" y="2904916"/>
              <a:ext cx="785141" cy="798120"/>
            </a:xfrm>
            <a:custGeom>
              <a:avLst/>
              <a:gdLst>
                <a:gd name="T0" fmla="*/ 25 w 212"/>
                <a:gd name="T1" fmla="*/ 200 h 209"/>
                <a:gd name="T2" fmla="*/ 10 w 212"/>
                <a:gd name="T3" fmla="*/ 173 h 209"/>
                <a:gd name="T4" fmla="*/ 10 w 212"/>
                <a:gd name="T5" fmla="*/ 108 h 209"/>
                <a:gd name="T6" fmla="*/ 145 w 212"/>
                <a:gd name="T7" fmla="*/ 0 h 209"/>
                <a:gd name="T8" fmla="*/ 193 w 212"/>
                <a:gd name="T9" fmla="*/ 32 h 209"/>
                <a:gd name="T10" fmla="*/ 212 w 212"/>
                <a:gd name="T11" fmla="*/ 89 h 209"/>
                <a:gd name="T12" fmla="*/ 210 w 212"/>
                <a:gd name="T13" fmla="*/ 137 h 209"/>
                <a:gd name="T14" fmla="*/ 58 w 212"/>
                <a:gd name="T15" fmla="*/ 209 h 209"/>
                <a:gd name="T16" fmla="*/ 30 w 212"/>
                <a:gd name="T17" fmla="*/ 207 h 209"/>
                <a:gd name="T18" fmla="*/ 25 w 212"/>
                <a:gd name="T19" fmla="*/ 20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2" h="209">
                  <a:moveTo>
                    <a:pt x="25" y="200"/>
                  </a:moveTo>
                  <a:cubicBezTo>
                    <a:pt x="20" y="191"/>
                    <a:pt x="16" y="182"/>
                    <a:pt x="10" y="173"/>
                  </a:cubicBezTo>
                  <a:cubicBezTo>
                    <a:pt x="4" y="153"/>
                    <a:pt x="0" y="127"/>
                    <a:pt x="10" y="108"/>
                  </a:cubicBezTo>
                  <a:cubicBezTo>
                    <a:pt x="35" y="61"/>
                    <a:pt x="95" y="15"/>
                    <a:pt x="145" y="0"/>
                  </a:cubicBezTo>
                  <a:cubicBezTo>
                    <a:pt x="178" y="4"/>
                    <a:pt x="178" y="6"/>
                    <a:pt x="193" y="32"/>
                  </a:cubicBezTo>
                  <a:cubicBezTo>
                    <a:pt x="197" y="51"/>
                    <a:pt x="207" y="70"/>
                    <a:pt x="212" y="89"/>
                  </a:cubicBezTo>
                  <a:cubicBezTo>
                    <a:pt x="211" y="105"/>
                    <a:pt x="211" y="121"/>
                    <a:pt x="210" y="137"/>
                  </a:cubicBezTo>
                  <a:cubicBezTo>
                    <a:pt x="205" y="193"/>
                    <a:pt x="100" y="206"/>
                    <a:pt x="58" y="209"/>
                  </a:cubicBezTo>
                  <a:cubicBezTo>
                    <a:pt x="49" y="208"/>
                    <a:pt x="39" y="209"/>
                    <a:pt x="30" y="207"/>
                  </a:cubicBezTo>
                  <a:cubicBezTo>
                    <a:pt x="27" y="206"/>
                    <a:pt x="25" y="200"/>
                    <a:pt x="25" y="20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1602" descr="小纸屑"/>
            <p:cNvSpPr>
              <a:spLocks/>
            </p:cNvSpPr>
            <p:nvPr/>
          </p:nvSpPr>
          <p:spPr bwMode="auto">
            <a:xfrm>
              <a:off x="4431319" y="2025742"/>
              <a:ext cx="568685" cy="710418"/>
            </a:xfrm>
            <a:custGeom>
              <a:avLst/>
              <a:gdLst>
                <a:gd name="T0" fmla="*/ 0 w 228"/>
                <a:gd name="T1" fmla="*/ 86 h 280"/>
                <a:gd name="T2" fmla="*/ 22 w 228"/>
                <a:gd name="T3" fmla="*/ 21 h 280"/>
                <a:gd name="T4" fmla="*/ 154 w 228"/>
                <a:gd name="T5" fmla="*/ 43 h 280"/>
                <a:gd name="T6" fmla="*/ 175 w 228"/>
                <a:gd name="T7" fmla="*/ 69 h 280"/>
                <a:gd name="T8" fmla="*/ 191 w 228"/>
                <a:gd name="T9" fmla="*/ 88 h 280"/>
                <a:gd name="T10" fmla="*/ 222 w 228"/>
                <a:gd name="T11" fmla="*/ 180 h 280"/>
                <a:gd name="T12" fmla="*/ 178 w 228"/>
                <a:gd name="T13" fmla="*/ 269 h 280"/>
                <a:gd name="T14" fmla="*/ 93 w 228"/>
                <a:gd name="T15" fmla="*/ 255 h 280"/>
                <a:gd name="T16" fmla="*/ 69 w 228"/>
                <a:gd name="T17" fmla="*/ 235 h 280"/>
                <a:gd name="T18" fmla="*/ 0 w 228"/>
                <a:gd name="T19" fmla="*/ 8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8" h="280">
                  <a:moveTo>
                    <a:pt x="0" y="86"/>
                  </a:moveTo>
                  <a:cubicBezTo>
                    <a:pt x="14" y="72"/>
                    <a:pt x="8" y="36"/>
                    <a:pt x="22" y="21"/>
                  </a:cubicBezTo>
                  <a:cubicBezTo>
                    <a:pt x="89" y="0"/>
                    <a:pt x="100" y="17"/>
                    <a:pt x="154" y="43"/>
                  </a:cubicBezTo>
                  <a:cubicBezTo>
                    <a:pt x="177" y="67"/>
                    <a:pt x="156" y="44"/>
                    <a:pt x="175" y="69"/>
                  </a:cubicBezTo>
                  <a:cubicBezTo>
                    <a:pt x="181" y="75"/>
                    <a:pt x="191" y="88"/>
                    <a:pt x="191" y="88"/>
                  </a:cubicBezTo>
                  <a:cubicBezTo>
                    <a:pt x="202" y="118"/>
                    <a:pt x="228" y="148"/>
                    <a:pt x="222" y="180"/>
                  </a:cubicBezTo>
                  <a:cubicBezTo>
                    <a:pt x="217" y="207"/>
                    <a:pt x="200" y="251"/>
                    <a:pt x="178" y="269"/>
                  </a:cubicBezTo>
                  <a:cubicBezTo>
                    <a:pt x="141" y="280"/>
                    <a:pt x="125" y="271"/>
                    <a:pt x="93" y="255"/>
                  </a:cubicBezTo>
                  <a:cubicBezTo>
                    <a:pt x="86" y="248"/>
                    <a:pt x="76" y="241"/>
                    <a:pt x="69" y="235"/>
                  </a:cubicBezTo>
                  <a:cubicBezTo>
                    <a:pt x="37" y="179"/>
                    <a:pt x="25" y="146"/>
                    <a:pt x="0" y="8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1603" descr="小纸屑"/>
            <p:cNvSpPr>
              <a:spLocks/>
            </p:cNvSpPr>
            <p:nvPr/>
          </p:nvSpPr>
          <p:spPr bwMode="auto">
            <a:xfrm>
              <a:off x="4617696" y="1398537"/>
              <a:ext cx="615880" cy="613124"/>
            </a:xfrm>
            <a:custGeom>
              <a:avLst/>
              <a:gdLst>
                <a:gd name="T0" fmla="*/ 21 w 184"/>
                <a:gd name="T1" fmla="*/ 134 h 159"/>
                <a:gd name="T2" fmla="*/ 10 w 184"/>
                <a:gd name="T3" fmla="*/ 73 h 159"/>
                <a:gd name="T4" fmla="*/ 84 w 184"/>
                <a:gd name="T5" fmla="*/ 0 h 159"/>
                <a:gd name="T6" fmla="*/ 170 w 184"/>
                <a:gd name="T7" fmla="*/ 22 h 159"/>
                <a:gd name="T8" fmla="*/ 184 w 184"/>
                <a:gd name="T9" fmla="*/ 49 h 159"/>
                <a:gd name="T10" fmla="*/ 137 w 184"/>
                <a:gd name="T11" fmla="*/ 143 h 159"/>
                <a:gd name="T12" fmla="*/ 101 w 184"/>
                <a:gd name="T13" fmla="*/ 159 h 159"/>
                <a:gd name="T14" fmla="*/ 21 w 184"/>
                <a:gd name="T15" fmla="*/ 134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159">
                  <a:moveTo>
                    <a:pt x="21" y="134"/>
                  </a:moveTo>
                  <a:cubicBezTo>
                    <a:pt x="8" y="120"/>
                    <a:pt x="0" y="95"/>
                    <a:pt x="10" y="73"/>
                  </a:cubicBezTo>
                  <a:cubicBezTo>
                    <a:pt x="20" y="51"/>
                    <a:pt x="57" y="8"/>
                    <a:pt x="84" y="0"/>
                  </a:cubicBezTo>
                  <a:cubicBezTo>
                    <a:pt x="115" y="2"/>
                    <a:pt x="140" y="15"/>
                    <a:pt x="170" y="22"/>
                  </a:cubicBezTo>
                  <a:cubicBezTo>
                    <a:pt x="175" y="31"/>
                    <a:pt x="179" y="40"/>
                    <a:pt x="184" y="49"/>
                  </a:cubicBezTo>
                  <a:cubicBezTo>
                    <a:pt x="181" y="95"/>
                    <a:pt x="184" y="127"/>
                    <a:pt x="137" y="143"/>
                  </a:cubicBezTo>
                  <a:cubicBezTo>
                    <a:pt x="125" y="151"/>
                    <a:pt x="115" y="156"/>
                    <a:pt x="101" y="159"/>
                  </a:cubicBezTo>
                  <a:cubicBezTo>
                    <a:pt x="70" y="157"/>
                    <a:pt x="46" y="152"/>
                    <a:pt x="21" y="134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604" descr="小纸屑"/>
            <p:cNvSpPr>
              <a:spLocks/>
            </p:cNvSpPr>
            <p:nvPr/>
          </p:nvSpPr>
          <p:spPr bwMode="auto">
            <a:xfrm>
              <a:off x="4955973" y="1868620"/>
              <a:ext cx="645409" cy="618739"/>
            </a:xfrm>
            <a:custGeom>
              <a:avLst/>
              <a:gdLst>
                <a:gd name="T0" fmla="*/ 52 w 226"/>
                <a:gd name="T1" fmla="*/ 31 h 232"/>
                <a:gd name="T2" fmla="*/ 106 w 226"/>
                <a:gd name="T3" fmla="*/ 0 h 232"/>
                <a:gd name="T4" fmla="*/ 153 w 226"/>
                <a:gd name="T5" fmla="*/ 8 h 232"/>
                <a:gd name="T6" fmla="*/ 216 w 226"/>
                <a:gd name="T7" fmla="*/ 92 h 232"/>
                <a:gd name="T8" fmla="*/ 226 w 226"/>
                <a:gd name="T9" fmla="*/ 128 h 232"/>
                <a:gd name="T10" fmla="*/ 208 w 226"/>
                <a:gd name="T11" fmla="*/ 191 h 232"/>
                <a:gd name="T12" fmla="*/ 100 w 226"/>
                <a:gd name="T13" fmla="*/ 230 h 232"/>
                <a:gd name="T14" fmla="*/ 18 w 226"/>
                <a:gd name="T15" fmla="*/ 205 h 232"/>
                <a:gd name="T16" fmla="*/ 0 w 226"/>
                <a:gd name="T17" fmla="*/ 162 h 232"/>
                <a:gd name="T18" fmla="*/ 15 w 226"/>
                <a:gd name="T19" fmla="*/ 73 h 232"/>
                <a:gd name="T20" fmla="*/ 52 w 226"/>
                <a:gd name="T21" fmla="*/ 3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6" h="232">
                  <a:moveTo>
                    <a:pt x="52" y="31"/>
                  </a:moveTo>
                  <a:cubicBezTo>
                    <a:pt x="73" y="27"/>
                    <a:pt x="85" y="6"/>
                    <a:pt x="106" y="0"/>
                  </a:cubicBezTo>
                  <a:cubicBezTo>
                    <a:pt x="112" y="0"/>
                    <a:pt x="142" y="0"/>
                    <a:pt x="153" y="8"/>
                  </a:cubicBezTo>
                  <a:cubicBezTo>
                    <a:pt x="176" y="26"/>
                    <a:pt x="203" y="64"/>
                    <a:pt x="216" y="92"/>
                  </a:cubicBezTo>
                  <a:cubicBezTo>
                    <a:pt x="219" y="105"/>
                    <a:pt x="223" y="116"/>
                    <a:pt x="226" y="128"/>
                  </a:cubicBezTo>
                  <a:cubicBezTo>
                    <a:pt x="223" y="151"/>
                    <a:pt x="222" y="171"/>
                    <a:pt x="208" y="191"/>
                  </a:cubicBezTo>
                  <a:cubicBezTo>
                    <a:pt x="197" y="232"/>
                    <a:pt x="129" y="229"/>
                    <a:pt x="100" y="230"/>
                  </a:cubicBezTo>
                  <a:cubicBezTo>
                    <a:pt x="68" y="227"/>
                    <a:pt x="45" y="223"/>
                    <a:pt x="18" y="205"/>
                  </a:cubicBezTo>
                  <a:cubicBezTo>
                    <a:pt x="10" y="191"/>
                    <a:pt x="6" y="177"/>
                    <a:pt x="0" y="162"/>
                  </a:cubicBezTo>
                  <a:cubicBezTo>
                    <a:pt x="1" y="139"/>
                    <a:pt x="1" y="98"/>
                    <a:pt x="15" y="73"/>
                  </a:cubicBezTo>
                  <a:cubicBezTo>
                    <a:pt x="21" y="63"/>
                    <a:pt x="52" y="47"/>
                    <a:pt x="52" y="3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605" descr="小纸屑"/>
            <p:cNvSpPr>
              <a:spLocks/>
            </p:cNvSpPr>
            <p:nvPr/>
          </p:nvSpPr>
          <p:spPr bwMode="auto">
            <a:xfrm>
              <a:off x="4930724" y="2495030"/>
              <a:ext cx="516060" cy="620242"/>
            </a:xfrm>
            <a:custGeom>
              <a:avLst/>
              <a:gdLst>
                <a:gd name="T0" fmla="*/ 0 w 144"/>
                <a:gd name="T1" fmla="*/ 101 h 190"/>
                <a:gd name="T2" fmla="*/ 12 w 144"/>
                <a:gd name="T3" fmla="*/ 68 h 190"/>
                <a:gd name="T4" fmla="*/ 50 w 144"/>
                <a:gd name="T5" fmla="*/ 12 h 190"/>
                <a:gd name="T6" fmla="*/ 77 w 144"/>
                <a:gd name="T7" fmla="*/ 0 h 190"/>
                <a:gd name="T8" fmla="*/ 125 w 144"/>
                <a:gd name="T9" fmla="*/ 24 h 190"/>
                <a:gd name="T10" fmla="*/ 137 w 144"/>
                <a:gd name="T11" fmla="*/ 60 h 190"/>
                <a:gd name="T12" fmla="*/ 67 w 144"/>
                <a:gd name="T13" fmla="*/ 190 h 190"/>
                <a:gd name="T14" fmla="*/ 26 w 144"/>
                <a:gd name="T15" fmla="*/ 166 h 190"/>
                <a:gd name="T16" fmla="*/ 7 w 144"/>
                <a:gd name="T17" fmla="*/ 135 h 190"/>
                <a:gd name="T18" fmla="*/ 0 w 144"/>
                <a:gd name="T19" fmla="*/ 10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4" h="190">
                  <a:moveTo>
                    <a:pt x="0" y="101"/>
                  </a:moveTo>
                  <a:cubicBezTo>
                    <a:pt x="6" y="90"/>
                    <a:pt x="7" y="79"/>
                    <a:pt x="12" y="68"/>
                  </a:cubicBezTo>
                  <a:cubicBezTo>
                    <a:pt x="17" y="45"/>
                    <a:pt x="31" y="25"/>
                    <a:pt x="50" y="12"/>
                  </a:cubicBezTo>
                  <a:cubicBezTo>
                    <a:pt x="58" y="6"/>
                    <a:pt x="77" y="0"/>
                    <a:pt x="77" y="0"/>
                  </a:cubicBezTo>
                  <a:cubicBezTo>
                    <a:pt x="108" y="4"/>
                    <a:pt x="105" y="6"/>
                    <a:pt x="125" y="24"/>
                  </a:cubicBezTo>
                  <a:cubicBezTo>
                    <a:pt x="131" y="36"/>
                    <a:pt x="133" y="48"/>
                    <a:pt x="137" y="60"/>
                  </a:cubicBezTo>
                  <a:cubicBezTo>
                    <a:pt x="144" y="109"/>
                    <a:pt x="119" y="175"/>
                    <a:pt x="67" y="190"/>
                  </a:cubicBezTo>
                  <a:cubicBezTo>
                    <a:pt x="48" y="187"/>
                    <a:pt x="41" y="177"/>
                    <a:pt x="26" y="166"/>
                  </a:cubicBezTo>
                  <a:cubicBezTo>
                    <a:pt x="23" y="155"/>
                    <a:pt x="14" y="144"/>
                    <a:pt x="7" y="135"/>
                  </a:cubicBezTo>
                  <a:cubicBezTo>
                    <a:pt x="3" y="123"/>
                    <a:pt x="0" y="114"/>
                    <a:pt x="0" y="10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1606" descr="小纸屑"/>
            <p:cNvSpPr>
              <a:spLocks/>
            </p:cNvSpPr>
            <p:nvPr/>
          </p:nvSpPr>
          <p:spPr bwMode="auto">
            <a:xfrm>
              <a:off x="5199107" y="2998977"/>
              <a:ext cx="465731" cy="556064"/>
            </a:xfrm>
            <a:custGeom>
              <a:avLst/>
              <a:gdLst>
                <a:gd name="T0" fmla="*/ 0 w 140"/>
                <a:gd name="T1" fmla="*/ 105 h 159"/>
                <a:gd name="T2" fmla="*/ 50 w 140"/>
                <a:gd name="T3" fmla="*/ 7 h 159"/>
                <a:gd name="T4" fmla="*/ 98 w 140"/>
                <a:gd name="T5" fmla="*/ 9 h 159"/>
                <a:gd name="T6" fmla="*/ 126 w 140"/>
                <a:gd name="T7" fmla="*/ 40 h 159"/>
                <a:gd name="T8" fmla="*/ 64 w 140"/>
                <a:gd name="T9" fmla="*/ 159 h 159"/>
                <a:gd name="T10" fmla="*/ 0 w 140"/>
                <a:gd name="T11" fmla="*/ 10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" h="159">
                  <a:moveTo>
                    <a:pt x="0" y="105"/>
                  </a:moveTo>
                  <a:cubicBezTo>
                    <a:pt x="5" y="67"/>
                    <a:pt x="2" y="16"/>
                    <a:pt x="50" y="7"/>
                  </a:cubicBezTo>
                  <a:cubicBezTo>
                    <a:pt x="67" y="0"/>
                    <a:pt x="82" y="6"/>
                    <a:pt x="98" y="9"/>
                  </a:cubicBezTo>
                  <a:cubicBezTo>
                    <a:pt x="118" y="24"/>
                    <a:pt x="114" y="22"/>
                    <a:pt x="126" y="40"/>
                  </a:cubicBezTo>
                  <a:cubicBezTo>
                    <a:pt x="140" y="89"/>
                    <a:pt x="109" y="141"/>
                    <a:pt x="64" y="159"/>
                  </a:cubicBezTo>
                  <a:cubicBezTo>
                    <a:pt x="40" y="152"/>
                    <a:pt x="22" y="118"/>
                    <a:pt x="0" y="10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1607" descr="小纸屑"/>
            <p:cNvSpPr>
              <a:spLocks/>
            </p:cNvSpPr>
            <p:nvPr/>
          </p:nvSpPr>
          <p:spPr bwMode="auto">
            <a:xfrm>
              <a:off x="5236106" y="1442238"/>
              <a:ext cx="374550" cy="440876"/>
            </a:xfrm>
            <a:custGeom>
              <a:avLst/>
              <a:gdLst>
                <a:gd name="T0" fmla="*/ 64 w 153"/>
                <a:gd name="T1" fmla="*/ 0 h 171"/>
                <a:gd name="T2" fmla="*/ 135 w 153"/>
                <a:gd name="T3" fmla="*/ 23 h 171"/>
                <a:gd name="T4" fmla="*/ 153 w 153"/>
                <a:gd name="T5" fmla="*/ 52 h 171"/>
                <a:gd name="T6" fmla="*/ 88 w 153"/>
                <a:gd name="T7" fmla="*/ 169 h 171"/>
                <a:gd name="T8" fmla="*/ 57 w 153"/>
                <a:gd name="T9" fmla="*/ 166 h 171"/>
                <a:gd name="T10" fmla="*/ 49 w 153"/>
                <a:gd name="T11" fmla="*/ 154 h 171"/>
                <a:gd name="T12" fmla="*/ 6 w 153"/>
                <a:gd name="T13" fmla="*/ 112 h 171"/>
                <a:gd name="T14" fmla="*/ 9 w 153"/>
                <a:gd name="T15" fmla="*/ 26 h 171"/>
                <a:gd name="T16" fmla="*/ 64 w 153"/>
                <a:gd name="T17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3" h="171">
                  <a:moveTo>
                    <a:pt x="64" y="0"/>
                  </a:moveTo>
                  <a:cubicBezTo>
                    <a:pt x="86" y="17"/>
                    <a:pt x="109" y="17"/>
                    <a:pt x="135" y="23"/>
                  </a:cubicBezTo>
                  <a:cubicBezTo>
                    <a:pt x="147" y="32"/>
                    <a:pt x="147" y="38"/>
                    <a:pt x="153" y="52"/>
                  </a:cubicBezTo>
                  <a:cubicBezTo>
                    <a:pt x="149" y="105"/>
                    <a:pt x="150" y="157"/>
                    <a:pt x="88" y="169"/>
                  </a:cubicBezTo>
                  <a:cubicBezTo>
                    <a:pt x="77" y="168"/>
                    <a:pt x="67" y="171"/>
                    <a:pt x="57" y="166"/>
                  </a:cubicBezTo>
                  <a:cubicBezTo>
                    <a:pt x="52" y="165"/>
                    <a:pt x="52" y="157"/>
                    <a:pt x="49" y="154"/>
                  </a:cubicBezTo>
                  <a:cubicBezTo>
                    <a:pt x="36" y="139"/>
                    <a:pt x="20" y="125"/>
                    <a:pt x="6" y="112"/>
                  </a:cubicBezTo>
                  <a:cubicBezTo>
                    <a:pt x="0" y="89"/>
                    <a:pt x="9" y="50"/>
                    <a:pt x="9" y="26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1608" descr="小纸屑"/>
            <p:cNvSpPr>
              <a:spLocks/>
            </p:cNvSpPr>
            <p:nvPr/>
          </p:nvSpPr>
          <p:spPr bwMode="auto">
            <a:xfrm>
              <a:off x="3800413" y="2212511"/>
              <a:ext cx="713586" cy="686250"/>
            </a:xfrm>
            <a:custGeom>
              <a:avLst/>
              <a:gdLst>
                <a:gd name="T0" fmla="*/ 2 w 194"/>
                <a:gd name="T1" fmla="*/ 42 h 186"/>
                <a:gd name="T2" fmla="*/ 72 w 194"/>
                <a:gd name="T3" fmla="*/ 1 h 186"/>
                <a:gd name="T4" fmla="*/ 139 w 194"/>
                <a:gd name="T5" fmla="*/ 8 h 186"/>
                <a:gd name="T6" fmla="*/ 172 w 194"/>
                <a:gd name="T7" fmla="*/ 34 h 186"/>
                <a:gd name="T8" fmla="*/ 194 w 194"/>
                <a:gd name="T9" fmla="*/ 73 h 186"/>
                <a:gd name="T10" fmla="*/ 170 w 194"/>
                <a:gd name="T11" fmla="*/ 133 h 186"/>
                <a:gd name="T12" fmla="*/ 105 w 194"/>
                <a:gd name="T13" fmla="*/ 186 h 186"/>
                <a:gd name="T14" fmla="*/ 72 w 194"/>
                <a:gd name="T15" fmla="*/ 174 h 186"/>
                <a:gd name="T16" fmla="*/ 43 w 194"/>
                <a:gd name="T17" fmla="*/ 128 h 186"/>
                <a:gd name="T18" fmla="*/ 21 w 194"/>
                <a:gd name="T19" fmla="*/ 104 h 186"/>
                <a:gd name="T20" fmla="*/ 4 w 194"/>
                <a:gd name="T21" fmla="*/ 66 h 186"/>
                <a:gd name="T22" fmla="*/ 2 w 194"/>
                <a:gd name="T23" fmla="*/ 42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" h="186">
                  <a:moveTo>
                    <a:pt x="2" y="42"/>
                  </a:moveTo>
                  <a:cubicBezTo>
                    <a:pt x="25" y="25"/>
                    <a:pt x="43" y="7"/>
                    <a:pt x="72" y="1"/>
                  </a:cubicBezTo>
                  <a:cubicBezTo>
                    <a:pt x="90" y="2"/>
                    <a:pt x="121" y="0"/>
                    <a:pt x="139" y="8"/>
                  </a:cubicBezTo>
                  <a:cubicBezTo>
                    <a:pt x="152" y="14"/>
                    <a:pt x="172" y="34"/>
                    <a:pt x="172" y="34"/>
                  </a:cubicBezTo>
                  <a:cubicBezTo>
                    <a:pt x="178" y="49"/>
                    <a:pt x="190" y="57"/>
                    <a:pt x="194" y="73"/>
                  </a:cubicBezTo>
                  <a:cubicBezTo>
                    <a:pt x="191" y="96"/>
                    <a:pt x="183" y="114"/>
                    <a:pt x="170" y="133"/>
                  </a:cubicBezTo>
                  <a:cubicBezTo>
                    <a:pt x="161" y="164"/>
                    <a:pt x="134" y="179"/>
                    <a:pt x="105" y="186"/>
                  </a:cubicBezTo>
                  <a:cubicBezTo>
                    <a:pt x="87" y="183"/>
                    <a:pt x="86" y="182"/>
                    <a:pt x="72" y="174"/>
                  </a:cubicBezTo>
                  <a:cubicBezTo>
                    <a:pt x="62" y="158"/>
                    <a:pt x="55" y="142"/>
                    <a:pt x="43" y="128"/>
                  </a:cubicBezTo>
                  <a:cubicBezTo>
                    <a:pt x="36" y="120"/>
                    <a:pt x="21" y="104"/>
                    <a:pt x="21" y="104"/>
                  </a:cubicBezTo>
                  <a:cubicBezTo>
                    <a:pt x="17" y="90"/>
                    <a:pt x="13" y="78"/>
                    <a:pt x="4" y="66"/>
                  </a:cubicBezTo>
                  <a:cubicBezTo>
                    <a:pt x="2" y="56"/>
                    <a:pt x="0" y="52"/>
                    <a:pt x="2" y="4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1609" descr="小纸屑"/>
            <p:cNvSpPr>
              <a:spLocks/>
            </p:cNvSpPr>
            <p:nvPr/>
          </p:nvSpPr>
          <p:spPr bwMode="auto">
            <a:xfrm>
              <a:off x="4686409" y="3216766"/>
              <a:ext cx="518094" cy="477561"/>
            </a:xfrm>
            <a:custGeom>
              <a:avLst/>
              <a:gdLst>
                <a:gd name="T0" fmla="*/ 38 w 143"/>
                <a:gd name="T1" fmla="*/ 0 h 147"/>
                <a:gd name="T2" fmla="*/ 125 w 143"/>
                <a:gd name="T3" fmla="*/ 10 h 147"/>
                <a:gd name="T4" fmla="*/ 143 w 143"/>
                <a:gd name="T5" fmla="*/ 46 h 147"/>
                <a:gd name="T6" fmla="*/ 79 w 143"/>
                <a:gd name="T7" fmla="*/ 147 h 147"/>
                <a:gd name="T8" fmla="*/ 55 w 143"/>
                <a:gd name="T9" fmla="*/ 145 h 147"/>
                <a:gd name="T10" fmla="*/ 36 w 143"/>
                <a:gd name="T11" fmla="*/ 139 h 147"/>
                <a:gd name="T12" fmla="*/ 10 w 143"/>
                <a:gd name="T13" fmla="*/ 112 h 147"/>
                <a:gd name="T14" fmla="*/ 0 w 143"/>
                <a:gd name="T15" fmla="*/ 79 h 147"/>
                <a:gd name="T16" fmla="*/ 38 w 143"/>
                <a:gd name="T17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3" h="147">
                  <a:moveTo>
                    <a:pt x="38" y="0"/>
                  </a:moveTo>
                  <a:cubicBezTo>
                    <a:pt x="82" y="1"/>
                    <a:pt x="91" y="2"/>
                    <a:pt x="125" y="10"/>
                  </a:cubicBezTo>
                  <a:cubicBezTo>
                    <a:pt x="133" y="24"/>
                    <a:pt x="140" y="30"/>
                    <a:pt x="143" y="46"/>
                  </a:cubicBezTo>
                  <a:cubicBezTo>
                    <a:pt x="141" y="89"/>
                    <a:pt x="129" y="137"/>
                    <a:pt x="79" y="147"/>
                  </a:cubicBezTo>
                  <a:cubicBezTo>
                    <a:pt x="71" y="146"/>
                    <a:pt x="63" y="146"/>
                    <a:pt x="55" y="145"/>
                  </a:cubicBezTo>
                  <a:cubicBezTo>
                    <a:pt x="48" y="144"/>
                    <a:pt x="36" y="139"/>
                    <a:pt x="36" y="139"/>
                  </a:cubicBezTo>
                  <a:cubicBezTo>
                    <a:pt x="21" y="128"/>
                    <a:pt x="21" y="125"/>
                    <a:pt x="10" y="112"/>
                  </a:cubicBezTo>
                  <a:cubicBezTo>
                    <a:pt x="7" y="100"/>
                    <a:pt x="3" y="90"/>
                    <a:pt x="0" y="79"/>
                  </a:cubicBezTo>
                  <a:cubicBezTo>
                    <a:pt x="5" y="60"/>
                    <a:pt x="17" y="11"/>
                    <a:pt x="38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1610" descr="小纸屑"/>
            <p:cNvSpPr>
              <a:spLocks/>
            </p:cNvSpPr>
            <p:nvPr/>
          </p:nvSpPr>
          <p:spPr bwMode="auto">
            <a:xfrm>
              <a:off x="4321705" y="2672354"/>
              <a:ext cx="623115" cy="597979"/>
            </a:xfrm>
            <a:custGeom>
              <a:avLst/>
              <a:gdLst>
                <a:gd name="T0" fmla="*/ 60 w 189"/>
                <a:gd name="T1" fmla="*/ 0 h 159"/>
                <a:gd name="T2" fmla="*/ 152 w 189"/>
                <a:gd name="T3" fmla="*/ 19 h 159"/>
                <a:gd name="T4" fmla="*/ 180 w 189"/>
                <a:gd name="T5" fmla="*/ 61 h 159"/>
                <a:gd name="T6" fmla="*/ 121 w 189"/>
                <a:gd name="T7" fmla="*/ 159 h 159"/>
                <a:gd name="T8" fmla="*/ 37 w 189"/>
                <a:gd name="T9" fmla="*/ 134 h 159"/>
                <a:gd name="T10" fmla="*/ 12 w 189"/>
                <a:gd name="T11" fmla="*/ 116 h 159"/>
                <a:gd name="T12" fmla="*/ 5 w 189"/>
                <a:gd name="T13" fmla="*/ 47 h 159"/>
                <a:gd name="T14" fmla="*/ 60 w 189"/>
                <a:gd name="T15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159">
                  <a:moveTo>
                    <a:pt x="60" y="0"/>
                  </a:moveTo>
                  <a:cubicBezTo>
                    <a:pt x="91" y="2"/>
                    <a:pt x="123" y="7"/>
                    <a:pt x="152" y="19"/>
                  </a:cubicBezTo>
                  <a:cubicBezTo>
                    <a:pt x="161" y="33"/>
                    <a:pt x="170" y="47"/>
                    <a:pt x="180" y="61"/>
                  </a:cubicBezTo>
                  <a:cubicBezTo>
                    <a:pt x="189" y="93"/>
                    <a:pt x="156" y="153"/>
                    <a:pt x="121" y="159"/>
                  </a:cubicBezTo>
                  <a:cubicBezTo>
                    <a:pt x="65" y="156"/>
                    <a:pt x="78" y="151"/>
                    <a:pt x="37" y="134"/>
                  </a:cubicBezTo>
                  <a:cubicBezTo>
                    <a:pt x="29" y="127"/>
                    <a:pt x="21" y="121"/>
                    <a:pt x="12" y="116"/>
                  </a:cubicBezTo>
                  <a:cubicBezTo>
                    <a:pt x="0" y="97"/>
                    <a:pt x="5" y="72"/>
                    <a:pt x="5" y="47"/>
                  </a:cubicBezTo>
                  <a:cubicBezTo>
                    <a:pt x="13" y="28"/>
                    <a:pt x="34" y="13"/>
                    <a:pt x="6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1626"/>
            <p:cNvSpPr>
              <a:spLocks noChangeShapeType="1"/>
            </p:cNvSpPr>
            <p:nvPr/>
          </p:nvSpPr>
          <p:spPr bwMode="auto">
            <a:xfrm>
              <a:off x="5481979" y="3340450"/>
              <a:ext cx="663794" cy="23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1627"/>
            <p:cNvSpPr>
              <a:spLocks noChangeShapeType="1"/>
            </p:cNvSpPr>
            <p:nvPr/>
          </p:nvSpPr>
          <p:spPr bwMode="auto">
            <a:xfrm>
              <a:off x="5504203" y="2540644"/>
              <a:ext cx="641569" cy="240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1610" descr="小纸屑"/>
            <p:cNvSpPr>
              <a:spLocks/>
            </p:cNvSpPr>
            <p:nvPr/>
          </p:nvSpPr>
          <p:spPr bwMode="auto">
            <a:xfrm rot="4412293">
              <a:off x="3404671" y="2135113"/>
              <a:ext cx="417401" cy="389046"/>
            </a:xfrm>
            <a:custGeom>
              <a:avLst/>
              <a:gdLst>
                <a:gd name="T0" fmla="*/ 60 w 189"/>
                <a:gd name="T1" fmla="*/ 0 h 159"/>
                <a:gd name="T2" fmla="*/ 152 w 189"/>
                <a:gd name="T3" fmla="*/ 19 h 159"/>
                <a:gd name="T4" fmla="*/ 180 w 189"/>
                <a:gd name="T5" fmla="*/ 61 h 159"/>
                <a:gd name="T6" fmla="*/ 121 w 189"/>
                <a:gd name="T7" fmla="*/ 159 h 159"/>
                <a:gd name="T8" fmla="*/ 37 w 189"/>
                <a:gd name="T9" fmla="*/ 134 h 159"/>
                <a:gd name="T10" fmla="*/ 12 w 189"/>
                <a:gd name="T11" fmla="*/ 116 h 159"/>
                <a:gd name="T12" fmla="*/ 5 w 189"/>
                <a:gd name="T13" fmla="*/ 47 h 159"/>
                <a:gd name="T14" fmla="*/ 60 w 189"/>
                <a:gd name="T15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159">
                  <a:moveTo>
                    <a:pt x="60" y="0"/>
                  </a:moveTo>
                  <a:cubicBezTo>
                    <a:pt x="91" y="2"/>
                    <a:pt x="123" y="7"/>
                    <a:pt x="152" y="19"/>
                  </a:cubicBezTo>
                  <a:cubicBezTo>
                    <a:pt x="161" y="33"/>
                    <a:pt x="170" y="47"/>
                    <a:pt x="180" y="61"/>
                  </a:cubicBezTo>
                  <a:cubicBezTo>
                    <a:pt x="189" y="93"/>
                    <a:pt x="156" y="153"/>
                    <a:pt x="121" y="159"/>
                  </a:cubicBezTo>
                  <a:cubicBezTo>
                    <a:pt x="65" y="156"/>
                    <a:pt x="78" y="151"/>
                    <a:pt x="37" y="134"/>
                  </a:cubicBezTo>
                  <a:cubicBezTo>
                    <a:pt x="29" y="127"/>
                    <a:pt x="21" y="121"/>
                    <a:pt x="12" y="116"/>
                  </a:cubicBezTo>
                  <a:cubicBezTo>
                    <a:pt x="0" y="97"/>
                    <a:pt x="5" y="72"/>
                    <a:pt x="5" y="47"/>
                  </a:cubicBezTo>
                  <a:cubicBezTo>
                    <a:pt x="13" y="28"/>
                    <a:pt x="34" y="13"/>
                    <a:pt x="6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4309269" y="500453"/>
              <a:ext cx="3330095" cy="1739047"/>
              <a:chOff x="7544832" y="1074760"/>
              <a:chExt cx="3330095" cy="1739047"/>
            </a:xfrm>
          </p:grpSpPr>
          <p:sp>
            <p:nvSpPr>
              <p:cNvPr id="118" name="Oval 1589"/>
              <p:cNvSpPr>
                <a:spLocks noChangeArrowheads="1"/>
              </p:cNvSpPr>
              <p:nvPr/>
            </p:nvSpPr>
            <p:spPr bwMode="auto">
              <a:xfrm>
                <a:off x="9287427" y="1074760"/>
                <a:ext cx="1587500" cy="1643062"/>
              </a:xfrm>
              <a:prstGeom prst="ellipse">
                <a:avLst/>
              </a:prstGeom>
              <a:solidFill>
                <a:srgbClr val="3399FF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" name="Oval 1611"/>
              <p:cNvSpPr>
                <a:spLocks noChangeArrowheads="1"/>
              </p:cNvSpPr>
              <p:nvPr/>
            </p:nvSpPr>
            <p:spPr bwMode="auto">
              <a:xfrm>
                <a:off x="7544832" y="2405820"/>
                <a:ext cx="395287" cy="407987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Freeform 1612" descr="小纸屑"/>
              <p:cNvSpPr>
                <a:spLocks/>
              </p:cNvSpPr>
              <p:nvPr/>
            </p:nvSpPr>
            <p:spPr bwMode="auto">
              <a:xfrm>
                <a:off x="9722402" y="1939947"/>
                <a:ext cx="1117600" cy="787400"/>
              </a:xfrm>
              <a:custGeom>
                <a:avLst/>
                <a:gdLst>
                  <a:gd name="T0" fmla="*/ 2 w 704"/>
                  <a:gd name="T1" fmla="*/ 240 h 496"/>
                  <a:gd name="T2" fmla="*/ 101 w 704"/>
                  <a:gd name="T3" fmla="*/ 117 h 496"/>
                  <a:gd name="T4" fmla="*/ 165 w 704"/>
                  <a:gd name="T5" fmla="*/ 42 h 496"/>
                  <a:gd name="T6" fmla="*/ 305 w 704"/>
                  <a:gd name="T7" fmla="*/ 7 h 496"/>
                  <a:gd name="T8" fmla="*/ 432 w 704"/>
                  <a:gd name="T9" fmla="*/ 13 h 496"/>
                  <a:gd name="T10" fmla="*/ 594 w 704"/>
                  <a:gd name="T11" fmla="*/ 86 h 496"/>
                  <a:gd name="T12" fmla="*/ 698 w 704"/>
                  <a:gd name="T13" fmla="*/ 137 h 496"/>
                  <a:gd name="T14" fmla="*/ 628 w 704"/>
                  <a:gd name="T15" fmla="*/ 273 h 496"/>
                  <a:gd name="T16" fmla="*/ 511 w 704"/>
                  <a:gd name="T17" fmla="*/ 392 h 496"/>
                  <a:gd name="T18" fmla="*/ 343 w 704"/>
                  <a:gd name="T19" fmla="*/ 478 h 496"/>
                  <a:gd name="T20" fmla="*/ 220 w 704"/>
                  <a:gd name="T21" fmla="*/ 489 h 496"/>
                  <a:gd name="T22" fmla="*/ 116 w 704"/>
                  <a:gd name="T23" fmla="*/ 478 h 496"/>
                  <a:gd name="T24" fmla="*/ 89 w 704"/>
                  <a:gd name="T25" fmla="*/ 456 h 496"/>
                  <a:gd name="T26" fmla="*/ 2 w 704"/>
                  <a:gd name="T27" fmla="*/ 24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04" h="496">
                    <a:moveTo>
                      <a:pt x="2" y="240"/>
                    </a:moveTo>
                    <a:cubicBezTo>
                      <a:pt x="4" y="184"/>
                      <a:pt x="74" y="150"/>
                      <a:pt x="101" y="117"/>
                    </a:cubicBezTo>
                    <a:cubicBezTo>
                      <a:pt x="128" y="84"/>
                      <a:pt x="131" y="62"/>
                      <a:pt x="165" y="42"/>
                    </a:cubicBezTo>
                    <a:cubicBezTo>
                      <a:pt x="201" y="24"/>
                      <a:pt x="263" y="13"/>
                      <a:pt x="305" y="7"/>
                    </a:cubicBezTo>
                    <a:cubicBezTo>
                      <a:pt x="350" y="0"/>
                      <a:pt x="386" y="0"/>
                      <a:pt x="432" y="13"/>
                    </a:cubicBezTo>
                    <a:cubicBezTo>
                      <a:pt x="479" y="24"/>
                      <a:pt x="549" y="64"/>
                      <a:pt x="594" y="86"/>
                    </a:cubicBezTo>
                    <a:cubicBezTo>
                      <a:pt x="636" y="106"/>
                      <a:pt x="691" y="106"/>
                      <a:pt x="698" y="137"/>
                    </a:cubicBezTo>
                    <a:cubicBezTo>
                      <a:pt x="704" y="167"/>
                      <a:pt x="659" y="231"/>
                      <a:pt x="628" y="273"/>
                    </a:cubicBezTo>
                    <a:cubicBezTo>
                      <a:pt x="596" y="317"/>
                      <a:pt x="558" y="359"/>
                      <a:pt x="511" y="392"/>
                    </a:cubicBezTo>
                    <a:cubicBezTo>
                      <a:pt x="464" y="425"/>
                      <a:pt x="392" y="463"/>
                      <a:pt x="343" y="478"/>
                    </a:cubicBezTo>
                    <a:cubicBezTo>
                      <a:pt x="295" y="493"/>
                      <a:pt x="258" y="489"/>
                      <a:pt x="220" y="489"/>
                    </a:cubicBezTo>
                    <a:cubicBezTo>
                      <a:pt x="182" y="489"/>
                      <a:pt x="137" y="485"/>
                      <a:pt x="116" y="478"/>
                    </a:cubicBezTo>
                    <a:cubicBezTo>
                      <a:pt x="95" y="471"/>
                      <a:pt x="108" y="496"/>
                      <a:pt x="89" y="456"/>
                    </a:cubicBezTo>
                    <a:cubicBezTo>
                      <a:pt x="70" y="416"/>
                      <a:pt x="0" y="296"/>
                      <a:pt x="2" y="24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1613" descr="小纸屑"/>
              <p:cNvSpPr>
                <a:spLocks/>
              </p:cNvSpPr>
              <p:nvPr/>
            </p:nvSpPr>
            <p:spPr bwMode="auto">
              <a:xfrm>
                <a:off x="9287427" y="1084285"/>
                <a:ext cx="890587" cy="814387"/>
              </a:xfrm>
              <a:custGeom>
                <a:avLst/>
                <a:gdLst>
                  <a:gd name="T0" fmla="*/ 0 w 265"/>
                  <a:gd name="T1" fmla="*/ 234 h 234"/>
                  <a:gd name="T2" fmla="*/ 73 w 265"/>
                  <a:gd name="T3" fmla="*/ 226 h 234"/>
                  <a:gd name="T4" fmla="*/ 159 w 265"/>
                  <a:gd name="T5" fmla="*/ 200 h 234"/>
                  <a:gd name="T6" fmla="*/ 215 w 265"/>
                  <a:gd name="T7" fmla="*/ 163 h 234"/>
                  <a:gd name="T8" fmla="*/ 244 w 265"/>
                  <a:gd name="T9" fmla="*/ 127 h 234"/>
                  <a:gd name="T10" fmla="*/ 265 w 265"/>
                  <a:gd name="T11" fmla="*/ 54 h 234"/>
                  <a:gd name="T12" fmla="*/ 257 w 265"/>
                  <a:gd name="T13" fmla="*/ 0 h 234"/>
                  <a:gd name="T14" fmla="*/ 219 w 265"/>
                  <a:gd name="T15" fmla="*/ 0 h 234"/>
                  <a:gd name="T16" fmla="*/ 168 w 265"/>
                  <a:gd name="T17" fmla="*/ 7 h 234"/>
                  <a:gd name="T18" fmla="*/ 106 w 265"/>
                  <a:gd name="T19" fmla="*/ 38 h 234"/>
                  <a:gd name="T20" fmla="*/ 46 w 265"/>
                  <a:gd name="T21" fmla="*/ 90 h 234"/>
                  <a:gd name="T22" fmla="*/ 19 w 265"/>
                  <a:gd name="T23" fmla="*/ 140 h 234"/>
                  <a:gd name="T24" fmla="*/ 4 w 265"/>
                  <a:gd name="T25" fmla="*/ 189 h 234"/>
                  <a:gd name="T26" fmla="*/ 0 w 265"/>
                  <a:gd name="T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5" h="234">
                    <a:moveTo>
                      <a:pt x="0" y="234"/>
                    </a:moveTo>
                    <a:lnTo>
                      <a:pt x="73" y="226"/>
                    </a:lnTo>
                    <a:lnTo>
                      <a:pt x="159" y="200"/>
                    </a:lnTo>
                    <a:lnTo>
                      <a:pt x="215" y="163"/>
                    </a:lnTo>
                    <a:lnTo>
                      <a:pt x="244" y="127"/>
                    </a:lnTo>
                    <a:lnTo>
                      <a:pt x="265" y="54"/>
                    </a:lnTo>
                    <a:lnTo>
                      <a:pt x="257" y="0"/>
                    </a:lnTo>
                    <a:lnTo>
                      <a:pt x="219" y="0"/>
                    </a:lnTo>
                    <a:lnTo>
                      <a:pt x="168" y="7"/>
                    </a:lnTo>
                    <a:lnTo>
                      <a:pt x="106" y="38"/>
                    </a:lnTo>
                    <a:lnTo>
                      <a:pt x="46" y="90"/>
                    </a:lnTo>
                    <a:lnTo>
                      <a:pt x="19" y="140"/>
                    </a:lnTo>
                    <a:lnTo>
                      <a:pt x="4" y="189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1614"/>
              <p:cNvSpPr>
                <a:spLocks/>
              </p:cNvSpPr>
              <p:nvPr/>
            </p:nvSpPr>
            <p:spPr bwMode="auto">
              <a:xfrm>
                <a:off x="10025614" y="1606572"/>
                <a:ext cx="403225" cy="358775"/>
              </a:xfrm>
              <a:custGeom>
                <a:avLst/>
                <a:gdLst>
                  <a:gd name="T0" fmla="*/ 0 w 119"/>
                  <a:gd name="T1" fmla="*/ 9 h 104"/>
                  <a:gd name="T2" fmla="*/ 41 w 119"/>
                  <a:gd name="T3" fmla="*/ 3 h 104"/>
                  <a:gd name="T4" fmla="*/ 83 w 119"/>
                  <a:gd name="T5" fmla="*/ 3 h 104"/>
                  <a:gd name="T6" fmla="*/ 115 w 119"/>
                  <a:gd name="T7" fmla="*/ 19 h 104"/>
                  <a:gd name="T8" fmla="*/ 104 w 119"/>
                  <a:gd name="T9" fmla="*/ 51 h 104"/>
                  <a:gd name="T10" fmla="*/ 73 w 119"/>
                  <a:gd name="T11" fmla="*/ 76 h 104"/>
                  <a:gd name="T12" fmla="*/ 33 w 119"/>
                  <a:gd name="T13" fmla="*/ 10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9" h="104">
                    <a:moveTo>
                      <a:pt x="0" y="9"/>
                    </a:moveTo>
                    <a:cubicBezTo>
                      <a:pt x="7" y="8"/>
                      <a:pt x="27" y="4"/>
                      <a:pt x="41" y="3"/>
                    </a:cubicBezTo>
                    <a:cubicBezTo>
                      <a:pt x="55" y="2"/>
                      <a:pt x="71" y="0"/>
                      <a:pt x="83" y="3"/>
                    </a:cubicBezTo>
                    <a:cubicBezTo>
                      <a:pt x="95" y="6"/>
                      <a:pt x="111" y="11"/>
                      <a:pt x="115" y="19"/>
                    </a:cubicBezTo>
                    <a:cubicBezTo>
                      <a:pt x="119" y="27"/>
                      <a:pt x="111" y="42"/>
                      <a:pt x="104" y="51"/>
                    </a:cubicBezTo>
                    <a:cubicBezTo>
                      <a:pt x="97" y="60"/>
                      <a:pt x="85" y="67"/>
                      <a:pt x="73" y="76"/>
                    </a:cubicBezTo>
                    <a:cubicBezTo>
                      <a:pt x="61" y="85"/>
                      <a:pt x="41" y="98"/>
                      <a:pt x="33" y="104"/>
                    </a:cubicBezTo>
                  </a:path>
                </a:pathLst>
              </a:custGeom>
              <a:solidFill>
                <a:srgbClr val="FF7C8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1615"/>
              <p:cNvSpPr>
                <a:spLocks/>
              </p:cNvSpPr>
              <p:nvPr/>
            </p:nvSpPr>
            <p:spPr bwMode="auto">
              <a:xfrm>
                <a:off x="10024027" y="1638322"/>
                <a:ext cx="119062" cy="327025"/>
              </a:xfrm>
              <a:custGeom>
                <a:avLst/>
                <a:gdLst>
                  <a:gd name="T0" fmla="*/ 0 w 36"/>
                  <a:gd name="T1" fmla="*/ 0 h 95"/>
                  <a:gd name="T2" fmla="*/ 36 w 36"/>
                  <a:gd name="T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95">
                    <a:moveTo>
                      <a:pt x="0" y="0"/>
                    </a:moveTo>
                    <a:lnTo>
                      <a:pt x="36" y="9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1616"/>
              <p:cNvSpPr>
                <a:spLocks noChangeShapeType="1"/>
              </p:cNvSpPr>
              <p:nvPr/>
            </p:nvSpPr>
            <p:spPr bwMode="auto">
              <a:xfrm flipV="1">
                <a:off x="10084352" y="1670072"/>
                <a:ext cx="325437" cy="128588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1617"/>
              <p:cNvSpPr>
                <a:spLocks noChangeShapeType="1"/>
              </p:cNvSpPr>
              <p:nvPr/>
            </p:nvSpPr>
            <p:spPr bwMode="auto">
              <a:xfrm flipV="1">
                <a:off x="10066889" y="1631972"/>
                <a:ext cx="288925" cy="115888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1618"/>
              <p:cNvSpPr>
                <a:spLocks noChangeShapeType="1"/>
              </p:cNvSpPr>
              <p:nvPr/>
            </p:nvSpPr>
            <p:spPr bwMode="auto">
              <a:xfrm flipV="1">
                <a:off x="10046252" y="1614510"/>
                <a:ext cx="207962" cy="80962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1619"/>
              <p:cNvSpPr>
                <a:spLocks noChangeShapeType="1"/>
              </p:cNvSpPr>
              <p:nvPr/>
            </p:nvSpPr>
            <p:spPr bwMode="auto">
              <a:xfrm flipV="1">
                <a:off x="10114514" y="1735160"/>
                <a:ext cx="288925" cy="1143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1620"/>
              <p:cNvSpPr>
                <a:spLocks noChangeShapeType="1"/>
              </p:cNvSpPr>
              <p:nvPr/>
            </p:nvSpPr>
            <p:spPr bwMode="auto">
              <a:xfrm flipV="1">
                <a:off x="10128802" y="1830410"/>
                <a:ext cx="192087" cy="762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Oval 1623"/>
              <p:cNvSpPr>
                <a:spLocks noChangeArrowheads="1"/>
              </p:cNvSpPr>
              <p:nvPr/>
            </p:nvSpPr>
            <p:spPr bwMode="auto">
              <a:xfrm>
                <a:off x="9282664" y="1079522"/>
                <a:ext cx="1585913" cy="1639888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AutoShape 1670"/>
              <p:cNvSpPr>
                <a:spLocks noChangeArrowheads="1"/>
              </p:cNvSpPr>
              <p:nvPr/>
            </p:nvSpPr>
            <p:spPr bwMode="auto">
              <a:xfrm rot="20035478">
                <a:off x="9547208" y="1952866"/>
                <a:ext cx="229771" cy="152462"/>
              </a:xfrm>
              <a:prstGeom prst="rightArrow">
                <a:avLst>
                  <a:gd name="adj1" fmla="val 45630"/>
                  <a:gd name="adj2" fmla="val 46593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Freeform 1645"/>
              <p:cNvSpPr>
                <a:spLocks/>
              </p:cNvSpPr>
              <p:nvPr/>
            </p:nvSpPr>
            <p:spPr bwMode="auto">
              <a:xfrm>
                <a:off x="7941206" y="2398734"/>
                <a:ext cx="1420833" cy="313861"/>
              </a:xfrm>
              <a:custGeom>
                <a:avLst/>
                <a:gdLst>
                  <a:gd name="T0" fmla="*/ 0 w 644"/>
                  <a:gd name="T1" fmla="*/ 107 h 148"/>
                  <a:gd name="T2" fmla="*/ 216 w 644"/>
                  <a:gd name="T3" fmla="*/ 141 h 148"/>
                  <a:gd name="T4" fmla="*/ 357 w 644"/>
                  <a:gd name="T5" fmla="*/ 139 h 148"/>
                  <a:gd name="T6" fmla="*/ 520 w 644"/>
                  <a:gd name="T7" fmla="*/ 85 h 148"/>
                  <a:gd name="T8" fmla="*/ 644 w 644"/>
                  <a:gd name="T9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4" h="148">
                    <a:moveTo>
                      <a:pt x="0" y="107"/>
                    </a:moveTo>
                    <a:cubicBezTo>
                      <a:pt x="36" y="112"/>
                      <a:pt x="157" y="136"/>
                      <a:pt x="216" y="141"/>
                    </a:cubicBezTo>
                    <a:cubicBezTo>
                      <a:pt x="275" y="146"/>
                      <a:pt x="306" y="148"/>
                      <a:pt x="357" y="139"/>
                    </a:cubicBezTo>
                    <a:cubicBezTo>
                      <a:pt x="408" y="130"/>
                      <a:pt x="472" y="108"/>
                      <a:pt x="520" y="85"/>
                    </a:cubicBezTo>
                    <a:cubicBezTo>
                      <a:pt x="568" y="62"/>
                      <a:pt x="618" y="18"/>
                      <a:pt x="644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0" name="Freeform 1646"/>
            <p:cNvSpPr>
              <a:spLocks/>
            </p:cNvSpPr>
            <p:nvPr/>
          </p:nvSpPr>
          <p:spPr bwMode="auto">
            <a:xfrm>
              <a:off x="4929543" y="3106393"/>
              <a:ext cx="225425" cy="55563"/>
            </a:xfrm>
            <a:custGeom>
              <a:avLst/>
              <a:gdLst>
                <a:gd name="T0" fmla="*/ 0 w 142"/>
                <a:gd name="T1" fmla="*/ 0 h 35"/>
                <a:gd name="T2" fmla="*/ 56 w 142"/>
                <a:gd name="T3" fmla="*/ 31 h 35"/>
                <a:gd name="T4" fmla="*/ 142 w 142"/>
                <a:gd name="T5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35">
                  <a:moveTo>
                    <a:pt x="0" y="0"/>
                  </a:moveTo>
                  <a:cubicBezTo>
                    <a:pt x="16" y="13"/>
                    <a:pt x="32" y="27"/>
                    <a:pt x="56" y="31"/>
                  </a:cubicBezTo>
                  <a:cubicBezTo>
                    <a:pt x="80" y="35"/>
                    <a:pt x="111" y="29"/>
                    <a:pt x="142" y="2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1647"/>
            <p:cNvSpPr>
              <a:spLocks/>
            </p:cNvSpPr>
            <p:nvPr/>
          </p:nvSpPr>
          <p:spPr bwMode="auto">
            <a:xfrm>
              <a:off x="2727388" y="3255887"/>
              <a:ext cx="225425" cy="55562"/>
            </a:xfrm>
            <a:custGeom>
              <a:avLst/>
              <a:gdLst>
                <a:gd name="T0" fmla="*/ 0 w 142"/>
                <a:gd name="T1" fmla="*/ 0 h 35"/>
                <a:gd name="T2" fmla="*/ 56 w 142"/>
                <a:gd name="T3" fmla="*/ 31 h 35"/>
                <a:gd name="T4" fmla="*/ 142 w 142"/>
                <a:gd name="T5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35">
                  <a:moveTo>
                    <a:pt x="0" y="0"/>
                  </a:moveTo>
                  <a:cubicBezTo>
                    <a:pt x="16" y="13"/>
                    <a:pt x="32" y="27"/>
                    <a:pt x="56" y="31"/>
                  </a:cubicBezTo>
                  <a:cubicBezTo>
                    <a:pt x="80" y="35"/>
                    <a:pt x="111" y="29"/>
                    <a:pt x="142" y="2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1648"/>
            <p:cNvSpPr>
              <a:spLocks/>
            </p:cNvSpPr>
            <p:nvPr/>
          </p:nvSpPr>
          <p:spPr bwMode="auto">
            <a:xfrm>
              <a:off x="5255226" y="3566182"/>
              <a:ext cx="225425" cy="55563"/>
            </a:xfrm>
            <a:custGeom>
              <a:avLst/>
              <a:gdLst>
                <a:gd name="T0" fmla="*/ 0 w 142"/>
                <a:gd name="T1" fmla="*/ 0 h 35"/>
                <a:gd name="T2" fmla="*/ 56 w 142"/>
                <a:gd name="T3" fmla="*/ 31 h 35"/>
                <a:gd name="T4" fmla="*/ 142 w 142"/>
                <a:gd name="T5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35">
                  <a:moveTo>
                    <a:pt x="0" y="0"/>
                  </a:moveTo>
                  <a:cubicBezTo>
                    <a:pt x="16" y="13"/>
                    <a:pt x="32" y="27"/>
                    <a:pt x="56" y="31"/>
                  </a:cubicBezTo>
                  <a:cubicBezTo>
                    <a:pt x="80" y="35"/>
                    <a:pt x="111" y="29"/>
                    <a:pt x="142" y="2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49"/>
            <p:cNvSpPr>
              <a:spLocks/>
            </p:cNvSpPr>
            <p:nvPr/>
          </p:nvSpPr>
          <p:spPr bwMode="auto">
            <a:xfrm>
              <a:off x="1896102" y="2994123"/>
              <a:ext cx="194002" cy="125300"/>
            </a:xfrm>
            <a:custGeom>
              <a:avLst/>
              <a:gdLst>
                <a:gd name="T0" fmla="*/ 0 w 140"/>
                <a:gd name="T1" fmla="*/ 50 h 63"/>
                <a:gd name="T2" fmla="*/ 68 w 140"/>
                <a:gd name="T3" fmla="*/ 55 h 63"/>
                <a:gd name="T4" fmla="*/ 140 w 140"/>
                <a:gd name="T5" fmla="*/ 0 h 63"/>
                <a:gd name="connsiteX0" fmla="*/ 0 w 10000"/>
                <a:gd name="connsiteY0" fmla="*/ 7937 h 7947"/>
                <a:gd name="connsiteX1" fmla="*/ 4063 w 10000"/>
                <a:gd name="connsiteY1" fmla="*/ 5200 h 7947"/>
                <a:gd name="connsiteX2" fmla="*/ 10000 w 10000"/>
                <a:gd name="connsiteY2" fmla="*/ 0 h 7947"/>
                <a:gd name="connsiteX0" fmla="*/ 0 w 8729"/>
                <a:gd name="connsiteY0" fmla="*/ 15762 h 15765"/>
                <a:gd name="connsiteX1" fmla="*/ 2792 w 8729"/>
                <a:gd name="connsiteY1" fmla="*/ 6543 h 15765"/>
                <a:gd name="connsiteX2" fmla="*/ 8729 w 8729"/>
                <a:gd name="connsiteY2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29" h="15765">
                  <a:moveTo>
                    <a:pt x="0" y="15762"/>
                  </a:moveTo>
                  <a:cubicBezTo>
                    <a:pt x="786" y="15961"/>
                    <a:pt x="1149" y="8141"/>
                    <a:pt x="2792" y="6543"/>
                  </a:cubicBezTo>
                  <a:cubicBezTo>
                    <a:pt x="4435" y="4945"/>
                    <a:pt x="7658" y="2197"/>
                    <a:pt x="872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50"/>
            <p:cNvSpPr>
              <a:spLocks/>
            </p:cNvSpPr>
            <p:nvPr/>
          </p:nvSpPr>
          <p:spPr bwMode="auto">
            <a:xfrm>
              <a:off x="3318173" y="2081465"/>
              <a:ext cx="165100" cy="52387"/>
            </a:xfrm>
            <a:custGeom>
              <a:avLst/>
              <a:gdLst>
                <a:gd name="T0" fmla="*/ 0 w 137"/>
                <a:gd name="T1" fmla="*/ 0 h 55"/>
                <a:gd name="T2" fmla="*/ 46 w 137"/>
                <a:gd name="T3" fmla="*/ 9 h 55"/>
                <a:gd name="T4" fmla="*/ 137 w 137"/>
                <a:gd name="T5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7" h="55">
                  <a:moveTo>
                    <a:pt x="0" y="0"/>
                  </a:moveTo>
                  <a:cubicBezTo>
                    <a:pt x="8" y="1"/>
                    <a:pt x="23" y="0"/>
                    <a:pt x="46" y="9"/>
                  </a:cubicBezTo>
                  <a:cubicBezTo>
                    <a:pt x="69" y="18"/>
                    <a:pt x="118" y="45"/>
                    <a:pt x="137" y="5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651"/>
            <p:cNvSpPr>
              <a:spLocks/>
            </p:cNvSpPr>
            <p:nvPr/>
          </p:nvSpPr>
          <p:spPr bwMode="auto">
            <a:xfrm>
              <a:off x="3143983" y="3083032"/>
              <a:ext cx="176012" cy="30342"/>
            </a:xfrm>
            <a:custGeom>
              <a:avLst/>
              <a:gdLst>
                <a:gd name="T0" fmla="*/ 0 w 142"/>
                <a:gd name="T1" fmla="*/ 0 h 35"/>
                <a:gd name="T2" fmla="*/ 56 w 142"/>
                <a:gd name="T3" fmla="*/ 31 h 35"/>
                <a:gd name="T4" fmla="*/ 142 w 142"/>
                <a:gd name="T5" fmla="*/ 24 h 35"/>
                <a:gd name="connsiteX0" fmla="*/ 0 w 10000"/>
                <a:gd name="connsiteY0" fmla="*/ 0 h 7204"/>
                <a:gd name="connsiteX1" fmla="*/ 3944 w 10000"/>
                <a:gd name="connsiteY1" fmla="*/ 3774 h 7204"/>
                <a:gd name="connsiteX2" fmla="*/ 10000 w 10000"/>
                <a:gd name="connsiteY2" fmla="*/ 6857 h 7204"/>
                <a:gd name="connsiteX0" fmla="*/ 0 w 8121"/>
                <a:gd name="connsiteY0" fmla="*/ 8987 h 10035"/>
                <a:gd name="connsiteX1" fmla="*/ 2065 w 8121"/>
                <a:gd name="connsiteY1" fmla="*/ 114 h 10035"/>
                <a:gd name="connsiteX2" fmla="*/ 8121 w 8121"/>
                <a:gd name="connsiteY2" fmla="*/ 4393 h 10035"/>
                <a:gd name="connsiteX0" fmla="*/ 0 w 11350"/>
                <a:gd name="connsiteY0" fmla="*/ 6340 h 7554"/>
                <a:gd name="connsiteX1" fmla="*/ 3893 w 11350"/>
                <a:gd name="connsiteY1" fmla="*/ 135 h 7554"/>
                <a:gd name="connsiteX2" fmla="*/ 11350 w 11350"/>
                <a:gd name="connsiteY2" fmla="*/ 4399 h 7554"/>
                <a:gd name="connsiteX0" fmla="*/ 0 w 8471"/>
                <a:gd name="connsiteY0" fmla="*/ 8393 h 10000"/>
                <a:gd name="connsiteX1" fmla="*/ 3430 w 8471"/>
                <a:gd name="connsiteY1" fmla="*/ 179 h 10000"/>
                <a:gd name="connsiteX2" fmla="*/ 8471 w 8471"/>
                <a:gd name="connsiteY2" fmla="*/ 3496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71" h="10000">
                  <a:moveTo>
                    <a:pt x="0" y="8393"/>
                  </a:moveTo>
                  <a:cubicBezTo>
                    <a:pt x="1223" y="15193"/>
                    <a:pt x="1596" y="-1916"/>
                    <a:pt x="3430" y="179"/>
                  </a:cubicBezTo>
                  <a:cubicBezTo>
                    <a:pt x="5263" y="2270"/>
                    <a:pt x="6103" y="6114"/>
                    <a:pt x="8471" y="34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652"/>
            <p:cNvSpPr>
              <a:spLocks/>
            </p:cNvSpPr>
            <p:nvPr/>
          </p:nvSpPr>
          <p:spPr bwMode="auto">
            <a:xfrm>
              <a:off x="5382885" y="2530107"/>
              <a:ext cx="255588" cy="90488"/>
            </a:xfrm>
            <a:custGeom>
              <a:avLst/>
              <a:gdLst>
                <a:gd name="T0" fmla="*/ 0 w 161"/>
                <a:gd name="T1" fmla="*/ 0 h 57"/>
                <a:gd name="T2" fmla="*/ 77 w 161"/>
                <a:gd name="T3" fmla="*/ 53 h 57"/>
                <a:gd name="T4" fmla="*/ 161 w 161"/>
                <a:gd name="T5" fmla="*/ 2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" h="57">
                  <a:moveTo>
                    <a:pt x="0" y="0"/>
                  </a:moveTo>
                  <a:cubicBezTo>
                    <a:pt x="13" y="8"/>
                    <a:pt x="50" y="49"/>
                    <a:pt x="77" y="53"/>
                  </a:cubicBezTo>
                  <a:cubicBezTo>
                    <a:pt x="104" y="57"/>
                    <a:pt x="144" y="32"/>
                    <a:pt x="161" y="2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653"/>
            <p:cNvSpPr>
              <a:spLocks/>
            </p:cNvSpPr>
            <p:nvPr/>
          </p:nvSpPr>
          <p:spPr bwMode="auto">
            <a:xfrm>
              <a:off x="1931196" y="2054247"/>
              <a:ext cx="201612" cy="68263"/>
            </a:xfrm>
            <a:custGeom>
              <a:avLst/>
              <a:gdLst>
                <a:gd name="T0" fmla="*/ 0 w 127"/>
                <a:gd name="T1" fmla="*/ 43 h 43"/>
                <a:gd name="T2" fmla="*/ 56 w 127"/>
                <a:gd name="T3" fmla="*/ 12 h 43"/>
                <a:gd name="T4" fmla="*/ 127 w 127"/>
                <a:gd name="T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43">
                  <a:moveTo>
                    <a:pt x="0" y="43"/>
                  </a:moveTo>
                  <a:cubicBezTo>
                    <a:pt x="16" y="30"/>
                    <a:pt x="35" y="19"/>
                    <a:pt x="56" y="12"/>
                  </a:cubicBezTo>
                  <a:cubicBezTo>
                    <a:pt x="77" y="5"/>
                    <a:pt x="112" y="2"/>
                    <a:pt x="127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654"/>
            <p:cNvSpPr>
              <a:spLocks/>
            </p:cNvSpPr>
            <p:nvPr/>
          </p:nvSpPr>
          <p:spPr bwMode="auto">
            <a:xfrm>
              <a:off x="3836708" y="1466042"/>
              <a:ext cx="217488" cy="14288"/>
            </a:xfrm>
            <a:custGeom>
              <a:avLst/>
              <a:gdLst>
                <a:gd name="T0" fmla="*/ 0 w 137"/>
                <a:gd name="T1" fmla="*/ 9 h 9"/>
                <a:gd name="T2" fmla="*/ 53 w 137"/>
                <a:gd name="T3" fmla="*/ 2 h 9"/>
                <a:gd name="T4" fmla="*/ 137 w 137"/>
                <a:gd name="T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7" h="9">
                  <a:moveTo>
                    <a:pt x="0" y="9"/>
                  </a:moveTo>
                  <a:cubicBezTo>
                    <a:pt x="9" y="7"/>
                    <a:pt x="30" y="3"/>
                    <a:pt x="53" y="2"/>
                  </a:cubicBezTo>
                  <a:cubicBezTo>
                    <a:pt x="76" y="1"/>
                    <a:pt x="120" y="0"/>
                    <a:pt x="137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655"/>
            <p:cNvSpPr>
              <a:spLocks/>
            </p:cNvSpPr>
            <p:nvPr/>
          </p:nvSpPr>
          <p:spPr bwMode="auto">
            <a:xfrm>
              <a:off x="4354844" y="3592779"/>
              <a:ext cx="261937" cy="26987"/>
            </a:xfrm>
            <a:custGeom>
              <a:avLst/>
              <a:gdLst>
                <a:gd name="T0" fmla="*/ 0 w 165"/>
                <a:gd name="T1" fmla="*/ 17 h 17"/>
                <a:gd name="T2" fmla="*/ 60 w 165"/>
                <a:gd name="T3" fmla="*/ 5 h 17"/>
                <a:gd name="T4" fmla="*/ 165 w 165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5" h="17">
                  <a:moveTo>
                    <a:pt x="0" y="17"/>
                  </a:moveTo>
                  <a:cubicBezTo>
                    <a:pt x="10" y="15"/>
                    <a:pt x="33" y="8"/>
                    <a:pt x="60" y="5"/>
                  </a:cubicBezTo>
                  <a:cubicBezTo>
                    <a:pt x="87" y="2"/>
                    <a:pt x="143" y="1"/>
                    <a:pt x="165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656"/>
            <p:cNvSpPr>
              <a:spLocks/>
            </p:cNvSpPr>
            <p:nvPr/>
          </p:nvSpPr>
          <p:spPr bwMode="auto">
            <a:xfrm rot="21145905" flipV="1">
              <a:off x="4889714" y="2527953"/>
              <a:ext cx="174501" cy="190881"/>
            </a:xfrm>
            <a:custGeom>
              <a:avLst/>
              <a:gdLst>
                <a:gd name="T0" fmla="*/ 0 w 142"/>
                <a:gd name="T1" fmla="*/ 0 h 35"/>
                <a:gd name="T2" fmla="*/ 56 w 142"/>
                <a:gd name="T3" fmla="*/ 31 h 35"/>
                <a:gd name="T4" fmla="*/ 142 w 142"/>
                <a:gd name="T5" fmla="*/ 24 h 35"/>
                <a:gd name="connsiteX0" fmla="*/ 0 w 7741"/>
                <a:gd name="connsiteY0" fmla="*/ 0 h 34413"/>
                <a:gd name="connsiteX1" fmla="*/ 3944 w 7741"/>
                <a:gd name="connsiteY1" fmla="*/ 8857 h 34413"/>
                <a:gd name="connsiteX2" fmla="*/ 7741 w 7741"/>
                <a:gd name="connsiteY2" fmla="*/ 34356 h 34413"/>
                <a:gd name="connsiteX0" fmla="*/ 0 w 10000"/>
                <a:gd name="connsiteY0" fmla="*/ 0 h 9999"/>
                <a:gd name="connsiteX1" fmla="*/ 4005 w 10000"/>
                <a:gd name="connsiteY1" fmla="*/ 4752 h 9999"/>
                <a:gd name="connsiteX2" fmla="*/ 5095 w 10000"/>
                <a:gd name="connsiteY2" fmla="*/ 2574 h 9999"/>
                <a:gd name="connsiteX3" fmla="*/ 10000 w 10000"/>
                <a:gd name="connsiteY3" fmla="*/ 9983 h 9999"/>
                <a:gd name="connsiteX0" fmla="*/ 0 w 10000"/>
                <a:gd name="connsiteY0" fmla="*/ 0 h 9984"/>
                <a:gd name="connsiteX1" fmla="*/ 4005 w 10000"/>
                <a:gd name="connsiteY1" fmla="*/ 4752 h 9984"/>
                <a:gd name="connsiteX2" fmla="*/ 10000 w 10000"/>
                <a:gd name="connsiteY2" fmla="*/ 9984 h 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9984">
                  <a:moveTo>
                    <a:pt x="0" y="0"/>
                  </a:moveTo>
                  <a:cubicBezTo>
                    <a:pt x="690" y="479"/>
                    <a:pt x="2338" y="3088"/>
                    <a:pt x="4005" y="4752"/>
                  </a:cubicBezTo>
                  <a:cubicBezTo>
                    <a:pt x="5672" y="6416"/>
                    <a:pt x="8751" y="8894"/>
                    <a:pt x="10000" y="998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657"/>
            <p:cNvSpPr>
              <a:spLocks/>
            </p:cNvSpPr>
            <p:nvPr/>
          </p:nvSpPr>
          <p:spPr bwMode="auto">
            <a:xfrm>
              <a:off x="2253407" y="2640393"/>
              <a:ext cx="310467" cy="65657"/>
            </a:xfrm>
            <a:custGeom>
              <a:avLst/>
              <a:gdLst>
                <a:gd name="T0" fmla="*/ 0 w 180"/>
                <a:gd name="T1" fmla="*/ 1 h 9"/>
                <a:gd name="T2" fmla="*/ 72 w 180"/>
                <a:gd name="T3" fmla="*/ 1 h 9"/>
                <a:gd name="T4" fmla="*/ 180 w 180"/>
                <a:gd name="T5" fmla="*/ 9 h 9"/>
                <a:gd name="connsiteX0" fmla="*/ 0 w 10865"/>
                <a:gd name="connsiteY0" fmla="*/ 0 h 45956"/>
                <a:gd name="connsiteX1" fmla="*/ 4865 w 10865"/>
                <a:gd name="connsiteY1" fmla="*/ 37067 h 45956"/>
                <a:gd name="connsiteX2" fmla="*/ 10865 w 10865"/>
                <a:gd name="connsiteY2" fmla="*/ 45956 h 45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65" h="45956">
                  <a:moveTo>
                    <a:pt x="0" y="0"/>
                  </a:moveTo>
                  <a:cubicBezTo>
                    <a:pt x="667" y="0"/>
                    <a:pt x="3198" y="35956"/>
                    <a:pt x="4865" y="37067"/>
                  </a:cubicBezTo>
                  <a:cubicBezTo>
                    <a:pt x="6532" y="38178"/>
                    <a:pt x="9643" y="43734"/>
                    <a:pt x="10865" y="459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658"/>
            <p:cNvSpPr>
              <a:spLocks/>
            </p:cNvSpPr>
            <p:nvPr/>
          </p:nvSpPr>
          <p:spPr bwMode="auto">
            <a:xfrm>
              <a:off x="3917031" y="2128835"/>
              <a:ext cx="261937" cy="26988"/>
            </a:xfrm>
            <a:custGeom>
              <a:avLst/>
              <a:gdLst>
                <a:gd name="T0" fmla="*/ 0 w 165"/>
                <a:gd name="T1" fmla="*/ 17 h 17"/>
                <a:gd name="T2" fmla="*/ 60 w 165"/>
                <a:gd name="T3" fmla="*/ 5 h 17"/>
                <a:gd name="T4" fmla="*/ 165 w 165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5" h="17">
                  <a:moveTo>
                    <a:pt x="0" y="17"/>
                  </a:moveTo>
                  <a:cubicBezTo>
                    <a:pt x="10" y="15"/>
                    <a:pt x="33" y="8"/>
                    <a:pt x="60" y="5"/>
                  </a:cubicBezTo>
                  <a:cubicBezTo>
                    <a:pt x="87" y="2"/>
                    <a:pt x="143" y="1"/>
                    <a:pt x="165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659"/>
            <p:cNvSpPr>
              <a:spLocks/>
            </p:cNvSpPr>
            <p:nvPr/>
          </p:nvSpPr>
          <p:spPr bwMode="auto">
            <a:xfrm rot="20430687">
              <a:off x="2788354" y="2129149"/>
              <a:ext cx="218717" cy="105947"/>
            </a:xfrm>
            <a:custGeom>
              <a:avLst/>
              <a:gdLst>
                <a:gd name="T0" fmla="*/ 0 w 165"/>
                <a:gd name="T1" fmla="*/ 17 h 17"/>
                <a:gd name="T2" fmla="*/ 60 w 165"/>
                <a:gd name="T3" fmla="*/ 5 h 17"/>
                <a:gd name="T4" fmla="*/ 165 w 165"/>
                <a:gd name="T5" fmla="*/ 0 h 17"/>
                <a:gd name="connsiteX0" fmla="*/ 0 w 10000"/>
                <a:gd name="connsiteY0" fmla="*/ 10000 h 10000"/>
                <a:gd name="connsiteX1" fmla="*/ 4308 w 10000"/>
                <a:gd name="connsiteY1" fmla="*/ 8026 h 10000"/>
                <a:gd name="connsiteX2" fmla="*/ 10000 w 10000"/>
                <a:gd name="connsiteY2" fmla="*/ 0 h 10000"/>
                <a:gd name="connsiteX0" fmla="*/ 0 w 8350"/>
                <a:gd name="connsiteY0" fmla="*/ 39257 h 39257"/>
                <a:gd name="connsiteX1" fmla="*/ 2658 w 8350"/>
                <a:gd name="connsiteY1" fmla="*/ 8026 h 39257"/>
                <a:gd name="connsiteX2" fmla="*/ 8350 w 8350"/>
                <a:gd name="connsiteY2" fmla="*/ 0 h 39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50" h="39257">
                  <a:moveTo>
                    <a:pt x="0" y="39257"/>
                  </a:moveTo>
                  <a:cubicBezTo>
                    <a:pt x="606" y="38081"/>
                    <a:pt x="1022" y="9791"/>
                    <a:pt x="2658" y="8026"/>
                  </a:cubicBezTo>
                  <a:cubicBezTo>
                    <a:pt x="4295" y="6261"/>
                    <a:pt x="7017" y="588"/>
                    <a:pt x="835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660"/>
            <p:cNvSpPr>
              <a:spLocks/>
            </p:cNvSpPr>
            <p:nvPr/>
          </p:nvSpPr>
          <p:spPr bwMode="auto">
            <a:xfrm rot="20237135">
              <a:off x="1864590" y="1474211"/>
              <a:ext cx="223328" cy="11518"/>
            </a:xfrm>
            <a:custGeom>
              <a:avLst/>
              <a:gdLst>
                <a:gd name="T0" fmla="*/ 0 w 165"/>
                <a:gd name="T1" fmla="*/ 17 h 17"/>
                <a:gd name="T2" fmla="*/ 60 w 165"/>
                <a:gd name="T3" fmla="*/ 5 h 17"/>
                <a:gd name="T4" fmla="*/ 165 w 165"/>
                <a:gd name="T5" fmla="*/ 0 h 17"/>
                <a:gd name="connsiteX0" fmla="*/ 0 w 10000"/>
                <a:gd name="connsiteY0" fmla="*/ 11019 h 11020"/>
                <a:gd name="connsiteX1" fmla="*/ 1474 w 10000"/>
                <a:gd name="connsiteY1" fmla="*/ 137 h 11020"/>
                <a:gd name="connsiteX2" fmla="*/ 3636 w 10000"/>
                <a:gd name="connsiteY2" fmla="*/ 3960 h 11020"/>
                <a:gd name="connsiteX3" fmla="*/ 10000 w 10000"/>
                <a:gd name="connsiteY3" fmla="*/ 1019 h 11020"/>
                <a:gd name="connsiteX0" fmla="*/ 0 w 8526"/>
                <a:gd name="connsiteY0" fmla="*/ 137 h 4268"/>
                <a:gd name="connsiteX1" fmla="*/ 2162 w 8526"/>
                <a:gd name="connsiteY1" fmla="*/ 3960 h 4268"/>
                <a:gd name="connsiteX2" fmla="*/ 8526 w 8526"/>
                <a:gd name="connsiteY2" fmla="*/ 1019 h 4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26" h="4268">
                  <a:moveTo>
                    <a:pt x="0" y="137"/>
                  </a:moveTo>
                  <a:cubicBezTo>
                    <a:pt x="606" y="-1039"/>
                    <a:pt x="583" y="5773"/>
                    <a:pt x="2162" y="3960"/>
                  </a:cubicBezTo>
                  <a:cubicBezTo>
                    <a:pt x="3799" y="2195"/>
                    <a:pt x="7193" y="1607"/>
                    <a:pt x="8526" y="101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661"/>
            <p:cNvSpPr>
              <a:spLocks/>
            </p:cNvSpPr>
            <p:nvPr/>
          </p:nvSpPr>
          <p:spPr bwMode="auto">
            <a:xfrm>
              <a:off x="4327221" y="2043598"/>
              <a:ext cx="173038" cy="49213"/>
            </a:xfrm>
            <a:custGeom>
              <a:avLst/>
              <a:gdLst>
                <a:gd name="T0" fmla="*/ 0 w 109"/>
                <a:gd name="T1" fmla="*/ 25 h 31"/>
                <a:gd name="T2" fmla="*/ 37 w 109"/>
                <a:gd name="T3" fmla="*/ 27 h 31"/>
                <a:gd name="T4" fmla="*/ 109 w 109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" h="31">
                  <a:moveTo>
                    <a:pt x="0" y="25"/>
                  </a:moveTo>
                  <a:cubicBezTo>
                    <a:pt x="6" y="25"/>
                    <a:pt x="19" y="31"/>
                    <a:pt x="37" y="27"/>
                  </a:cubicBezTo>
                  <a:cubicBezTo>
                    <a:pt x="55" y="23"/>
                    <a:pt x="94" y="6"/>
                    <a:pt x="10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662"/>
            <p:cNvSpPr>
              <a:spLocks/>
            </p:cNvSpPr>
            <p:nvPr/>
          </p:nvSpPr>
          <p:spPr bwMode="auto">
            <a:xfrm rot="2530742">
              <a:off x="2579897" y="1966729"/>
              <a:ext cx="198438" cy="42862"/>
            </a:xfrm>
            <a:custGeom>
              <a:avLst/>
              <a:gdLst>
                <a:gd name="T0" fmla="*/ 0 w 165"/>
                <a:gd name="T1" fmla="*/ 17 h 17"/>
                <a:gd name="T2" fmla="*/ 60 w 165"/>
                <a:gd name="T3" fmla="*/ 5 h 17"/>
                <a:gd name="T4" fmla="*/ 165 w 165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5" h="17">
                  <a:moveTo>
                    <a:pt x="0" y="17"/>
                  </a:moveTo>
                  <a:cubicBezTo>
                    <a:pt x="10" y="15"/>
                    <a:pt x="33" y="8"/>
                    <a:pt x="60" y="5"/>
                  </a:cubicBezTo>
                  <a:cubicBezTo>
                    <a:pt x="87" y="2"/>
                    <a:pt x="143" y="1"/>
                    <a:pt x="165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663"/>
            <p:cNvSpPr>
              <a:spLocks/>
            </p:cNvSpPr>
            <p:nvPr/>
          </p:nvSpPr>
          <p:spPr bwMode="auto">
            <a:xfrm>
              <a:off x="1912171" y="3570334"/>
              <a:ext cx="225425" cy="55563"/>
            </a:xfrm>
            <a:custGeom>
              <a:avLst/>
              <a:gdLst>
                <a:gd name="T0" fmla="*/ 0 w 142"/>
                <a:gd name="T1" fmla="*/ 0 h 35"/>
                <a:gd name="T2" fmla="*/ 56 w 142"/>
                <a:gd name="T3" fmla="*/ 31 h 35"/>
                <a:gd name="T4" fmla="*/ 142 w 142"/>
                <a:gd name="T5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35">
                  <a:moveTo>
                    <a:pt x="0" y="0"/>
                  </a:moveTo>
                  <a:cubicBezTo>
                    <a:pt x="16" y="13"/>
                    <a:pt x="32" y="27"/>
                    <a:pt x="56" y="31"/>
                  </a:cubicBezTo>
                  <a:cubicBezTo>
                    <a:pt x="80" y="35"/>
                    <a:pt x="111" y="29"/>
                    <a:pt x="142" y="2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1664"/>
            <p:cNvSpPr>
              <a:spLocks/>
            </p:cNvSpPr>
            <p:nvPr/>
          </p:nvSpPr>
          <p:spPr bwMode="auto">
            <a:xfrm rot="21377452">
              <a:off x="4541692" y="1443311"/>
              <a:ext cx="224904" cy="27652"/>
            </a:xfrm>
            <a:custGeom>
              <a:avLst/>
              <a:gdLst>
                <a:gd name="T0" fmla="*/ 0 w 137"/>
                <a:gd name="T1" fmla="*/ 0 h 55"/>
                <a:gd name="T2" fmla="*/ 46 w 137"/>
                <a:gd name="T3" fmla="*/ 9 h 55"/>
                <a:gd name="T4" fmla="*/ 137 w 137"/>
                <a:gd name="T5" fmla="*/ 55 h 55"/>
                <a:gd name="connsiteX0" fmla="*/ 0 w 10341"/>
                <a:gd name="connsiteY0" fmla="*/ 0 h 3167"/>
                <a:gd name="connsiteX1" fmla="*/ 3358 w 10341"/>
                <a:gd name="connsiteY1" fmla="*/ 1636 h 3167"/>
                <a:gd name="connsiteX2" fmla="*/ 10341 w 10341"/>
                <a:gd name="connsiteY2" fmla="*/ 3167 h 3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41" h="3167">
                  <a:moveTo>
                    <a:pt x="0" y="0"/>
                  </a:moveTo>
                  <a:cubicBezTo>
                    <a:pt x="584" y="182"/>
                    <a:pt x="1679" y="0"/>
                    <a:pt x="3358" y="1636"/>
                  </a:cubicBezTo>
                  <a:cubicBezTo>
                    <a:pt x="5036" y="3273"/>
                    <a:pt x="8954" y="1349"/>
                    <a:pt x="10341" y="316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1665"/>
            <p:cNvSpPr>
              <a:spLocks/>
            </p:cNvSpPr>
            <p:nvPr/>
          </p:nvSpPr>
          <p:spPr bwMode="auto">
            <a:xfrm rot="18540996">
              <a:off x="3132503" y="2712355"/>
              <a:ext cx="270529" cy="140935"/>
            </a:xfrm>
            <a:custGeom>
              <a:avLst/>
              <a:gdLst>
                <a:gd name="T0" fmla="*/ 0 w 132"/>
                <a:gd name="T1" fmla="*/ 9 h 14"/>
                <a:gd name="T2" fmla="*/ 53 w 132"/>
                <a:gd name="T3" fmla="*/ 12 h 14"/>
                <a:gd name="T4" fmla="*/ 132 w 132"/>
                <a:gd name="T5" fmla="*/ 0 h 14"/>
                <a:gd name="connsiteX0" fmla="*/ 0 w 13185"/>
                <a:gd name="connsiteY0" fmla="*/ 45070 h 45070"/>
                <a:gd name="connsiteX1" fmla="*/ 7200 w 13185"/>
                <a:gd name="connsiteY1" fmla="*/ 8571 h 45070"/>
                <a:gd name="connsiteX2" fmla="*/ 13185 w 13185"/>
                <a:gd name="connsiteY2" fmla="*/ 0 h 45070"/>
                <a:gd name="connsiteX0" fmla="*/ 0 w 13185"/>
                <a:gd name="connsiteY0" fmla="*/ 59627 h 59627"/>
                <a:gd name="connsiteX1" fmla="*/ 6737 w 13185"/>
                <a:gd name="connsiteY1" fmla="*/ 83 h 59627"/>
                <a:gd name="connsiteX2" fmla="*/ 13185 w 13185"/>
                <a:gd name="connsiteY2" fmla="*/ 14557 h 59627"/>
                <a:gd name="connsiteX0" fmla="*/ 0 w 12910"/>
                <a:gd name="connsiteY0" fmla="*/ 63413 h 63413"/>
                <a:gd name="connsiteX1" fmla="*/ 6737 w 12910"/>
                <a:gd name="connsiteY1" fmla="*/ 3869 h 63413"/>
                <a:gd name="connsiteX2" fmla="*/ 12910 w 12910"/>
                <a:gd name="connsiteY2" fmla="*/ 0 h 6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910" h="63413">
                  <a:moveTo>
                    <a:pt x="0" y="63413"/>
                  </a:moveTo>
                  <a:cubicBezTo>
                    <a:pt x="682" y="63413"/>
                    <a:pt x="5070" y="5298"/>
                    <a:pt x="6737" y="3869"/>
                  </a:cubicBezTo>
                  <a:cubicBezTo>
                    <a:pt x="8404" y="2441"/>
                    <a:pt x="11698" y="1429"/>
                    <a:pt x="1291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1666"/>
            <p:cNvSpPr>
              <a:spLocks/>
            </p:cNvSpPr>
            <p:nvPr/>
          </p:nvSpPr>
          <p:spPr bwMode="auto">
            <a:xfrm>
              <a:off x="1938767" y="2288122"/>
              <a:ext cx="90487" cy="109538"/>
            </a:xfrm>
            <a:custGeom>
              <a:avLst/>
              <a:gdLst>
                <a:gd name="T0" fmla="*/ 0 w 57"/>
                <a:gd name="T1" fmla="*/ 0 h 69"/>
                <a:gd name="T2" fmla="*/ 33 w 57"/>
                <a:gd name="T3" fmla="*/ 21 h 69"/>
                <a:gd name="T4" fmla="*/ 57 w 57"/>
                <a:gd name="T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69">
                  <a:moveTo>
                    <a:pt x="0" y="0"/>
                  </a:moveTo>
                  <a:cubicBezTo>
                    <a:pt x="5" y="3"/>
                    <a:pt x="23" y="10"/>
                    <a:pt x="33" y="21"/>
                  </a:cubicBezTo>
                  <a:cubicBezTo>
                    <a:pt x="43" y="32"/>
                    <a:pt x="52" y="59"/>
                    <a:pt x="57" y="6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667"/>
            <p:cNvSpPr>
              <a:spLocks/>
            </p:cNvSpPr>
            <p:nvPr/>
          </p:nvSpPr>
          <p:spPr bwMode="auto">
            <a:xfrm>
              <a:off x="3255541" y="1427952"/>
              <a:ext cx="95250" cy="171450"/>
            </a:xfrm>
            <a:custGeom>
              <a:avLst/>
              <a:gdLst>
                <a:gd name="T0" fmla="*/ 0 w 60"/>
                <a:gd name="T1" fmla="*/ 0 h 108"/>
                <a:gd name="T2" fmla="*/ 34 w 60"/>
                <a:gd name="T3" fmla="*/ 36 h 108"/>
                <a:gd name="T4" fmla="*/ 60 w 60"/>
                <a:gd name="T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" h="108">
                  <a:moveTo>
                    <a:pt x="0" y="0"/>
                  </a:moveTo>
                  <a:cubicBezTo>
                    <a:pt x="6" y="6"/>
                    <a:pt x="24" y="18"/>
                    <a:pt x="34" y="36"/>
                  </a:cubicBezTo>
                  <a:cubicBezTo>
                    <a:pt x="44" y="54"/>
                    <a:pt x="55" y="93"/>
                    <a:pt x="60" y="1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668"/>
            <p:cNvSpPr>
              <a:spLocks/>
            </p:cNvSpPr>
            <p:nvPr/>
          </p:nvSpPr>
          <p:spPr bwMode="auto">
            <a:xfrm>
              <a:off x="4474859" y="3331355"/>
              <a:ext cx="185737" cy="133350"/>
            </a:xfrm>
            <a:custGeom>
              <a:avLst/>
              <a:gdLst>
                <a:gd name="T0" fmla="*/ 0 w 117"/>
                <a:gd name="T1" fmla="*/ 84 h 84"/>
                <a:gd name="T2" fmla="*/ 58 w 117"/>
                <a:gd name="T3" fmla="*/ 50 h 84"/>
                <a:gd name="T4" fmla="*/ 117 w 117"/>
                <a:gd name="T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84">
                  <a:moveTo>
                    <a:pt x="0" y="84"/>
                  </a:moveTo>
                  <a:cubicBezTo>
                    <a:pt x="9" y="78"/>
                    <a:pt x="39" y="64"/>
                    <a:pt x="58" y="50"/>
                  </a:cubicBezTo>
                  <a:cubicBezTo>
                    <a:pt x="77" y="36"/>
                    <a:pt x="105" y="11"/>
                    <a:pt x="117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1669"/>
            <p:cNvSpPr>
              <a:spLocks/>
            </p:cNvSpPr>
            <p:nvPr/>
          </p:nvSpPr>
          <p:spPr bwMode="auto">
            <a:xfrm rot="1125439">
              <a:off x="2672368" y="3610103"/>
              <a:ext cx="209550" cy="22225"/>
            </a:xfrm>
            <a:custGeom>
              <a:avLst/>
              <a:gdLst>
                <a:gd name="T0" fmla="*/ 0 w 132"/>
                <a:gd name="T1" fmla="*/ 9 h 14"/>
                <a:gd name="T2" fmla="*/ 53 w 132"/>
                <a:gd name="T3" fmla="*/ 12 h 14"/>
                <a:gd name="T4" fmla="*/ 132 w 132"/>
                <a:gd name="T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14">
                  <a:moveTo>
                    <a:pt x="0" y="9"/>
                  </a:moveTo>
                  <a:cubicBezTo>
                    <a:pt x="9" y="9"/>
                    <a:pt x="31" y="14"/>
                    <a:pt x="53" y="12"/>
                  </a:cubicBezTo>
                  <a:cubicBezTo>
                    <a:pt x="75" y="10"/>
                    <a:pt x="116" y="2"/>
                    <a:pt x="13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1667"/>
            <p:cNvSpPr>
              <a:spLocks/>
            </p:cNvSpPr>
            <p:nvPr/>
          </p:nvSpPr>
          <p:spPr bwMode="auto">
            <a:xfrm>
              <a:off x="3856315" y="2646564"/>
              <a:ext cx="95250" cy="220204"/>
            </a:xfrm>
            <a:custGeom>
              <a:avLst/>
              <a:gdLst>
                <a:gd name="T0" fmla="*/ 0 w 60"/>
                <a:gd name="T1" fmla="*/ 0 h 108"/>
                <a:gd name="T2" fmla="*/ 34 w 60"/>
                <a:gd name="T3" fmla="*/ 36 h 108"/>
                <a:gd name="T4" fmla="*/ 60 w 60"/>
                <a:gd name="T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" h="108">
                  <a:moveTo>
                    <a:pt x="0" y="0"/>
                  </a:moveTo>
                  <a:cubicBezTo>
                    <a:pt x="6" y="6"/>
                    <a:pt x="24" y="18"/>
                    <a:pt x="34" y="36"/>
                  </a:cubicBezTo>
                  <a:cubicBezTo>
                    <a:pt x="44" y="54"/>
                    <a:pt x="55" y="93"/>
                    <a:pt x="60" y="1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1662"/>
            <p:cNvSpPr>
              <a:spLocks/>
            </p:cNvSpPr>
            <p:nvPr/>
          </p:nvSpPr>
          <p:spPr bwMode="auto">
            <a:xfrm rot="2530742">
              <a:off x="4712908" y="2037927"/>
              <a:ext cx="198438" cy="42862"/>
            </a:xfrm>
            <a:custGeom>
              <a:avLst/>
              <a:gdLst>
                <a:gd name="T0" fmla="*/ 0 w 165"/>
                <a:gd name="T1" fmla="*/ 17 h 17"/>
                <a:gd name="T2" fmla="*/ 60 w 165"/>
                <a:gd name="T3" fmla="*/ 5 h 17"/>
                <a:gd name="T4" fmla="*/ 165 w 165"/>
                <a:gd name="T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5" h="17">
                  <a:moveTo>
                    <a:pt x="0" y="17"/>
                  </a:moveTo>
                  <a:cubicBezTo>
                    <a:pt x="10" y="15"/>
                    <a:pt x="33" y="8"/>
                    <a:pt x="60" y="5"/>
                  </a:cubicBezTo>
                  <a:cubicBezTo>
                    <a:pt x="87" y="2"/>
                    <a:pt x="143" y="1"/>
                    <a:pt x="165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Text Box 1624"/>
            <p:cNvSpPr txBox="1">
              <a:spLocks noChangeArrowheads="1"/>
            </p:cNvSpPr>
            <p:nvPr/>
          </p:nvSpPr>
          <p:spPr bwMode="auto">
            <a:xfrm>
              <a:off x="6055782" y="3360904"/>
              <a:ext cx="1718609" cy="667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18305" tIns="59153" rIns="118305" bIns="59153">
              <a:spAutoFit/>
            </a:bodyPr>
            <a:lstStyle>
              <a:lvl1pPr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592138"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82688"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774825"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365375"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822575" defTabSz="11826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3279775" defTabSz="11826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736975" defTabSz="11826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4194175" defTabSz="11826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 sz="20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土颗粒</a:t>
              </a:r>
            </a:p>
          </p:txBody>
        </p:sp>
        <p:sp>
          <p:nvSpPr>
            <p:cNvPr id="117" name="Text Box 1625"/>
            <p:cNvSpPr txBox="1">
              <a:spLocks noChangeArrowheads="1"/>
            </p:cNvSpPr>
            <p:nvPr/>
          </p:nvSpPr>
          <p:spPr bwMode="auto">
            <a:xfrm>
              <a:off x="5686816" y="2661052"/>
              <a:ext cx="2405680" cy="667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18305" tIns="59153" rIns="118305" bIns="59153">
              <a:spAutoFit/>
            </a:bodyPr>
            <a:lstStyle>
              <a:lvl1pPr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592138"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82688"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774825"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365375" defTabSz="118268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822575" defTabSz="11826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3279775" defTabSz="11826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736975" defTabSz="11826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4194175" defTabSz="11826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 sz="20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土</a:t>
              </a:r>
              <a:r>
                <a:rPr lang="zh-CN" altLang="en-US" sz="2000" b="1" dirty="0" smtClean="0">
                  <a:latin typeface="幼圆" panose="02010509060101010101" pitchFamily="49" charset="-122"/>
                  <a:ea typeface="幼圆" panose="02010509060101010101" pitchFamily="49" charset="-122"/>
                </a:rPr>
                <a:t>中的孔隙</a:t>
              </a:r>
              <a:endPara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147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47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47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44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47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447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7993" grpId="0"/>
      <p:bldP spid="1447994" grpId="0"/>
      <p:bldP spid="144799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5" name="Group 4"/>
          <p:cNvGrpSpPr>
            <a:grpSpLocks noChangeAspect="1"/>
          </p:cNvGrpSpPr>
          <p:nvPr/>
        </p:nvGrpSpPr>
        <p:grpSpPr bwMode="auto">
          <a:xfrm>
            <a:off x="330200" y="4106342"/>
            <a:ext cx="5181600" cy="158750"/>
            <a:chOff x="884" y="2807"/>
            <a:chExt cx="2722" cy="83"/>
          </a:xfrm>
        </p:grpSpPr>
        <p:grpSp>
          <p:nvGrpSpPr>
            <p:cNvPr id="38962" name="Group 5"/>
            <p:cNvGrpSpPr>
              <a:grpSpLocks noChangeAspect="1"/>
            </p:cNvGrpSpPr>
            <p:nvPr/>
          </p:nvGrpSpPr>
          <p:grpSpPr bwMode="auto">
            <a:xfrm>
              <a:off x="2227" y="2807"/>
              <a:ext cx="481" cy="83"/>
              <a:chOff x="2644" y="2807"/>
              <a:chExt cx="481" cy="83"/>
            </a:xfrm>
          </p:grpSpPr>
          <p:sp>
            <p:nvSpPr>
              <p:cNvPr id="39029" name="Freeform 6"/>
              <p:cNvSpPr>
                <a:spLocks noChangeAspect="1"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0" name="Freeform 7"/>
              <p:cNvSpPr>
                <a:spLocks noChangeAspect="1"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1" name="Freeform 8"/>
              <p:cNvSpPr>
                <a:spLocks noChangeAspect="1"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2" name="Freeform 9"/>
              <p:cNvSpPr>
                <a:spLocks noChangeAspect="1"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3" name="Freeform 10"/>
              <p:cNvSpPr>
                <a:spLocks noChangeAspect="1"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4" name="Freeform 11"/>
              <p:cNvSpPr>
                <a:spLocks noChangeAspect="1"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5" name="Freeform 12"/>
              <p:cNvSpPr>
                <a:spLocks noChangeAspect="1"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6" name="Freeform 13"/>
              <p:cNvSpPr>
                <a:spLocks noChangeAspect="1"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7" name="Freeform 14"/>
              <p:cNvSpPr>
                <a:spLocks noChangeAspect="1"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8" name="Freeform 15"/>
              <p:cNvSpPr>
                <a:spLocks noChangeAspect="1"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39" name="Freeform 16"/>
              <p:cNvSpPr>
                <a:spLocks noChangeAspect="1"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40" name="Freeform 17"/>
              <p:cNvSpPr>
                <a:spLocks noChangeAspect="1"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8963" name="Group 18"/>
            <p:cNvGrpSpPr>
              <a:grpSpLocks noChangeAspect="1"/>
            </p:cNvGrpSpPr>
            <p:nvPr/>
          </p:nvGrpSpPr>
          <p:grpSpPr bwMode="auto">
            <a:xfrm>
              <a:off x="1779" y="2807"/>
              <a:ext cx="481" cy="83"/>
              <a:chOff x="2644" y="2807"/>
              <a:chExt cx="481" cy="83"/>
            </a:xfrm>
          </p:grpSpPr>
          <p:sp>
            <p:nvSpPr>
              <p:cNvPr id="39017" name="Freeform 19"/>
              <p:cNvSpPr>
                <a:spLocks noChangeAspect="1"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8" name="Freeform 20"/>
              <p:cNvSpPr>
                <a:spLocks noChangeAspect="1"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9" name="Freeform 21"/>
              <p:cNvSpPr>
                <a:spLocks noChangeAspect="1"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0" name="Freeform 22"/>
              <p:cNvSpPr>
                <a:spLocks noChangeAspect="1"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1" name="Freeform 23"/>
              <p:cNvSpPr>
                <a:spLocks noChangeAspect="1"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2" name="Freeform 24"/>
              <p:cNvSpPr>
                <a:spLocks noChangeAspect="1"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3" name="Freeform 25"/>
              <p:cNvSpPr>
                <a:spLocks noChangeAspect="1"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4" name="Freeform 26"/>
              <p:cNvSpPr>
                <a:spLocks noChangeAspect="1"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5" name="Freeform 27"/>
              <p:cNvSpPr>
                <a:spLocks noChangeAspect="1"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6" name="Freeform 28"/>
              <p:cNvSpPr>
                <a:spLocks noChangeAspect="1"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7" name="Freeform 29"/>
              <p:cNvSpPr>
                <a:spLocks noChangeAspect="1"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28" name="Freeform 30"/>
              <p:cNvSpPr>
                <a:spLocks noChangeAspect="1"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8964" name="Group 31"/>
            <p:cNvGrpSpPr>
              <a:grpSpLocks noChangeAspect="1"/>
            </p:cNvGrpSpPr>
            <p:nvPr/>
          </p:nvGrpSpPr>
          <p:grpSpPr bwMode="auto">
            <a:xfrm>
              <a:off x="1332" y="2807"/>
              <a:ext cx="481" cy="83"/>
              <a:chOff x="2644" y="2807"/>
              <a:chExt cx="481" cy="83"/>
            </a:xfrm>
          </p:grpSpPr>
          <p:sp>
            <p:nvSpPr>
              <p:cNvPr id="39005" name="Freeform 32"/>
              <p:cNvSpPr>
                <a:spLocks noChangeAspect="1"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06" name="Freeform 33"/>
              <p:cNvSpPr>
                <a:spLocks noChangeAspect="1"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07" name="Freeform 34"/>
              <p:cNvSpPr>
                <a:spLocks noChangeAspect="1"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08" name="Freeform 35"/>
              <p:cNvSpPr>
                <a:spLocks noChangeAspect="1"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09" name="Freeform 36"/>
              <p:cNvSpPr>
                <a:spLocks noChangeAspect="1"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0" name="Freeform 37"/>
              <p:cNvSpPr>
                <a:spLocks noChangeAspect="1"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1" name="Freeform 38"/>
              <p:cNvSpPr>
                <a:spLocks noChangeAspect="1"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2" name="Freeform 39"/>
              <p:cNvSpPr>
                <a:spLocks noChangeAspect="1"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3" name="Freeform 40"/>
              <p:cNvSpPr>
                <a:spLocks noChangeAspect="1"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4" name="Freeform 41"/>
              <p:cNvSpPr>
                <a:spLocks noChangeAspect="1"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5" name="Freeform 42"/>
              <p:cNvSpPr>
                <a:spLocks noChangeAspect="1"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16" name="Freeform 43"/>
              <p:cNvSpPr>
                <a:spLocks noChangeAspect="1"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8965" name="Group 44"/>
            <p:cNvGrpSpPr>
              <a:grpSpLocks noChangeAspect="1"/>
            </p:cNvGrpSpPr>
            <p:nvPr/>
          </p:nvGrpSpPr>
          <p:grpSpPr bwMode="auto">
            <a:xfrm>
              <a:off x="884" y="2807"/>
              <a:ext cx="481" cy="83"/>
              <a:chOff x="2644" y="2807"/>
              <a:chExt cx="481" cy="83"/>
            </a:xfrm>
          </p:grpSpPr>
          <p:sp>
            <p:nvSpPr>
              <p:cNvPr id="38993" name="Freeform 45"/>
              <p:cNvSpPr>
                <a:spLocks noChangeAspect="1"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94" name="Freeform 46"/>
              <p:cNvSpPr>
                <a:spLocks noChangeAspect="1"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95" name="Freeform 47"/>
              <p:cNvSpPr>
                <a:spLocks noChangeAspect="1"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96" name="Freeform 48"/>
              <p:cNvSpPr>
                <a:spLocks noChangeAspect="1"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97" name="Freeform 49"/>
              <p:cNvSpPr>
                <a:spLocks noChangeAspect="1"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98" name="Freeform 50"/>
              <p:cNvSpPr>
                <a:spLocks noChangeAspect="1"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99" name="Freeform 51"/>
              <p:cNvSpPr>
                <a:spLocks noChangeAspect="1"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00" name="Freeform 52"/>
              <p:cNvSpPr>
                <a:spLocks noChangeAspect="1"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01" name="Freeform 53"/>
              <p:cNvSpPr>
                <a:spLocks noChangeAspect="1"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02" name="Freeform 54"/>
              <p:cNvSpPr>
                <a:spLocks noChangeAspect="1"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03" name="Freeform 55"/>
              <p:cNvSpPr>
                <a:spLocks noChangeAspect="1"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004" name="Freeform 56"/>
              <p:cNvSpPr>
                <a:spLocks noChangeAspect="1"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8966" name="Group 57"/>
            <p:cNvGrpSpPr>
              <a:grpSpLocks noChangeAspect="1"/>
            </p:cNvGrpSpPr>
            <p:nvPr/>
          </p:nvGrpSpPr>
          <p:grpSpPr bwMode="auto">
            <a:xfrm>
              <a:off x="3123" y="2807"/>
              <a:ext cx="481" cy="83"/>
              <a:chOff x="2644" y="2807"/>
              <a:chExt cx="481" cy="83"/>
            </a:xfrm>
          </p:grpSpPr>
          <p:sp>
            <p:nvSpPr>
              <p:cNvPr id="38981" name="Freeform 58"/>
              <p:cNvSpPr>
                <a:spLocks noChangeAspect="1"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82" name="Freeform 59"/>
              <p:cNvSpPr>
                <a:spLocks noChangeAspect="1"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83" name="Freeform 60"/>
              <p:cNvSpPr>
                <a:spLocks noChangeAspect="1"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84" name="Freeform 61"/>
              <p:cNvSpPr>
                <a:spLocks noChangeAspect="1"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85" name="Freeform 62"/>
              <p:cNvSpPr>
                <a:spLocks noChangeAspect="1"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86" name="Freeform 63"/>
              <p:cNvSpPr>
                <a:spLocks noChangeAspect="1"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87" name="Freeform 64"/>
              <p:cNvSpPr>
                <a:spLocks noChangeAspect="1"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88" name="Freeform 65"/>
              <p:cNvSpPr>
                <a:spLocks noChangeAspect="1"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89" name="Freeform 66"/>
              <p:cNvSpPr>
                <a:spLocks noChangeAspect="1"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90" name="Freeform 67"/>
              <p:cNvSpPr>
                <a:spLocks noChangeAspect="1"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91" name="Freeform 68"/>
              <p:cNvSpPr>
                <a:spLocks noChangeAspect="1"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92" name="Freeform 69"/>
              <p:cNvSpPr>
                <a:spLocks noChangeAspect="1"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8967" name="Group 70"/>
            <p:cNvGrpSpPr>
              <a:grpSpLocks noChangeAspect="1"/>
            </p:cNvGrpSpPr>
            <p:nvPr/>
          </p:nvGrpSpPr>
          <p:grpSpPr bwMode="auto">
            <a:xfrm>
              <a:off x="2675" y="2807"/>
              <a:ext cx="481" cy="83"/>
              <a:chOff x="2644" y="2807"/>
              <a:chExt cx="481" cy="83"/>
            </a:xfrm>
          </p:grpSpPr>
          <p:sp>
            <p:nvSpPr>
              <p:cNvPr id="38969" name="Freeform 71"/>
              <p:cNvSpPr>
                <a:spLocks noChangeAspect="1"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0" name="Freeform 72"/>
              <p:cNvSpPr>
                <a:spLocks noChangeAspect="1"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1" name="Freeform 73"/>
              <p:cNvSpPr>
                <a:spLocks noChangeAspect="1"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2" name="Freeform 74"/>
              <p:cNvSpPr>
                <a:spLocks noChangeAspect="1"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3" name="Freeform 75"/>
              <p:cNvSpPr>
                <a:spLocks noChangeAspect="1"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4" name="Freeform 76"/>
              <p:cNvSpPr>
                <a:spLocks noChangeAspect="1"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5" name="Freeform 77"/>
              <p:cNvSpPr>
                <a:spLocks noChangeAspect="1"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6" name="Freeform 78"/>
              <p:cNvSpPr>
                <a:spLocks noChangeAspect="1"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7" name="Freeform 79"/>
              <p:cNvSpPr>
                <a:spLocks noChangeAspect="1"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8" name="Freeform 80"/>
              <p:cNvSpPr>
                <a:spLocks noChangeAspect="1"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79" name="Freeform 81"/>
              <p:cNvSpPr>
                <a:spLocks noChangeAspect="1"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80" name="Freeform 82"/>
              <p:cNvSpPr>
                <a:spLocks noChangeAspect="1"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8968" name="Line 83"/>
            <p:cNvSpPr>
              <a:spLocks noChangeAspect="1" noChangeShapeType="1"/>
            </p:cNvSpPr>
            <p:nvPr/>
          </p:nvSpPr>
          <p:spPr bwMode="auto">
            <a:xfrm>
              <a:off x="884" y="2807"/>
              <a:ext cx="2722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8916" name="Line 84"/>
          <p:cNvSpPr>
            <a:spLocks noChangeAspect="1" noChangeShapeType="1"/>
          </p:cNvSpPr>
          <p:nvPr/>
        </p:nvSpPr>
        <p:spPr bwMode="auto">
          <a:xfrm>
            <a:off x="836613" y="3107805"/>
            <a:ext cx="4749800" cy="0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38917" name="Freeform 85" descr="纸莎草纸"/>
          <p:cNvSpPr>
            <a:spLocks noChangeAspect="1"/>
          </p:cNvSpPr>
          <p:nvPr/>
        </p:nvSpPr>
        <p:spPr bwMode="auto">
          <a:xfrm>
            <a:off x="809625" y="2255317"/>
            <a:ext cx="2551113" cy="855663"/>
          </a:xfrm>
          <a:custGeom>
            <a:avLst/>
            <a:gdLst>
              <a:gd name="T0" fmla="*/ 6 w 1340"/>
              <a:gd name="T1" fmla="*/ 406 h 450"/>
              <a:gd name="T2" fmla="*/ 6 w 1340"/>
              <a:gd name="T3" fmla="*/ 450 h 450"/>
              <a:gd name="T4" fmla="*/ 712 w 1340"/>
              <a:gd name="T5" fmla="*/ 448 h 450"/>
              <a:gd name="T6" fmla="*/ 1292 w 1340"/>
              <a:gd name="T7" fmla="*/ 48 h 450"/>
              <a:gd name="T8" fmla="*/ 1340 w 1340"/>
              <a:gd name="T9" fmla="*/ 50 h 450"/>
              <a:gd name="T10" fmla="*/ 1334 w 1340"/>
              <a:gd name="T11" fmla="*/ 0 h 450"/>
              <a:gd name="T12" fmla="*/ 1276 w 1340"/>
              <a:gd name="T13" fmla="*/ 4 h 450"/>
              <a:gd name="T14" fmla="*/ 712 w 1340"/>
              <a:gd name="T15" fmla="*/ 406 h 450"/>
              <a:gd name="T16" fmla="*/ 0 w 1340"/>
              <a:gd name="T17" fmla="*/ 406 h 450"/>
              <a:gd name="T18" fmla="*/ 6 w 1340"/>
              <a:gd name="T19" fmla="*/ 406 h 45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40"/>
              <a:gd name="T31" fmla="*/ 0 h 450"/>
              <a:gd name="T32" fmla="*/ 1340 w 1340"/>
              <a:gd name="T33" fmla="*/ 450 h 45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40" h="450">
                <a:moveTo>
                  <a:pt x="6" y="406"/>
                </a:moveTo>
                <a:cubicBezTo>
                  <a:pt x="6" y="419"/>
                  <a:pt x="6" y="437"/>
                  <a:pt x="6" y="450"/>
                </a:cubicBezTo>
                <a:lnTo>
                  <a:pt x="712" y="448"/>
                </a:lnTo>
                <a:lnTo>
                  <a:pt x="1292" y="48"/>
                </a:lnTo>
                <a:lnTo>
                  <a:pt x="1340" y="50"/>
                </a:lnTo>
                <a:lnTo>
                  <a:pt x="1334" y="0"/>
                </a:lnTo>
                <a:lnTo>
                  <a:pt x="1276" y="4"/>
                </a:lnTo>
                <a:lnTo>
                  <a:pt x="712" y="406"/>
                </a:lnTo>
                <a:lnTo>
                  <a:pt x="0" y="406"/>
                </a:lnTo>
                <a:cubicBezTo>
                  <a:pt x="0" y="406"/>
                  <a:pt x="6" y="406"/>
                  <a:pt x="6" y="406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 w="19050">
            <a:solidFill>
              <a:srgbClr val="C87700"/>
            </a:solidFill>
            <a:round/>
            <a:headEnd/>
            <a:tailEnd/>
          </a:ln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38918" name="Freeform 86" descr="实心菱形"/>
          <p:cNvSpPr>
            <a:spLocks noChangeAspect="1"/>
          </p:cNvSpPr>
          <p:nvPr/>
        </p:nvSpPr>
        <p:spPr bwMode="auto">
          <a:xfrm>
            <a:off x="4346575" y="2842692"/>
            <a:ext cx="560388" cy="258763"/>
          </a:xfrm>
          <a:custGeom>
            <a:avLst/>
            <a:gdLst>
              <a:gd name="T0" fmla="*/ 0 w 294"/>
              <a:gd name="T1" fmla="*/ 132 h 136"/>
              <a:gd name="T2" fmla="*/ 113 w 294"/>
              <a:gd name="T3" fmla="*/ 0 h 136"/>
              <a:gd name="T4" fmla="*/ 158 w 294"/>
              <a:gd name="T5" fmla="*/ 0 h 136"/>
              <a:gd name="T6" fmla="*/ 294 w 294"/>
              <a:gd name="T7" fmla="*/ 136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294"/>
              <a:gd name="T13" fmla="*/ 0 h 136"/>
              <a:gd name="T14" fmla="*/ 294 w 294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4" h="136">
                <a:moveTo>
                  <a:pt x="0" y="132"/>
                </a:moveTo>
                <a:lnTo>
                  <a:pt x="113" y="0"/>
                </a:lnTo>
                <a:lnTo>
                  <a:pt x="158" y="0"/>
                </a:lnTo>
                <a:lnTo>
                  <a:pt x="294" y="136"/>
                </a:lnTo>
              </a:path>
            </a:pathLst>
          </a:custGeom>
          <a:pattFill prst="solidDmnd">
            <a:fgClr>
              <a:srgbClr val="996633"/>
            </a:fgClr>
            <a:bgClr>
              <a:schemeClr val="bg1"/>
            </a:bgClr>
          </a:pattFill>
          <a:ln w="19050">
            <a:solidFill>
              <a:srgbClr val="990033"/>
            </a:solidFill>
            <a:round/>
            <a:headEnd/>
            <a:tailEnd/>
          </a:ln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38919" name="Freeform 87"/>
          <p:cNvSpPr>
            <a:spLocks noChangeAspect="1"/>
          </p:cNvSpPr>
          <p:nvPr/>
        </p:nvSpPr>
        <p:spPr bwMode="auto">
          <a:xfrm>
            <a:off x="460375" y="2198167"/>
            <a:ext cx="4102100" cy="771525"/>
          </a:xfrm>
          <a:custGeom>
            <a:avLst/>
            <a:gdLst>
              <a:gd name="T0" fmla="*/ 0 w 2584"/>
              <a:gd name="T1" fmla="*/ 486 h 486"/>
              <a:gd name="T2" fmla="*/ 1024 w 2584"/>
              <a:gd name="T3" fmla="*/ 485 h 486"/>
              <a:gd name="T4" fmla="*/ 1747 w 2584"/>
              <a:gd name="T5" fmla="*/ 0 h 486"/>
              <a:gd name="T6" fmla="*/ 1862 w 2584"/>
              <a:gd name="T7" fmla="*/ 4 h 486"/>
              <a:gd name="T8" fmla="*/ 2584 w 2584"/>
              <a:gd name="T9" fmla="*/ 406 h 4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84"/>
              <a:gd name="T16" fmla="*/ 0 h 486"/>
              <a:gd name="T17" fmla="*/ 2584 w 2584"/>
              <a:gd name="T18" fmla="*/ 486 h 4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84" h="486">
                <a:moveTo>
                  <a:pt x="0" y="486"/>
                </a:moveTo>
                <a:lnTo>
                  <a:pt x="1024" y="485"/>
                </a:lnTo>
                <a:lnTo>
                  <a:pt x="1747" y="0"/>
                </a:lnTo>
                <a:lnTo>
                  <a:pt x="1862" y="4"/>
                </a:lnTo>
                <a:lnTo>
                  <a:pt x="2584" y="406"/>
                </a:lnTo>
              </a:path>
            </a:pathLst>
          </a:custGeom>
          <a:noFill/>
          <a:ln w="28575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48" name="Freeform 88"/>
          <p:cNvSpPr>
            <a:spLocks noChangeAspect="1"/>
          </p:cNvSpPr>
          <p:nvPr/>
        </p:nvSpPr>
        <p:spPr bwMode="auto">
          <a:xfrm>
            <a:off x="2921000" y="2583930"/>
            <a:ext cx="1535113" cy="350837"/>
          </a:xfrm>
          <a:custGeom>
            <a:avLst/>
            <a:gdLst>
              <a:gd name="T0" fmla="*/ 0 w 806"/>
              <a:gd name="T1" fmla="*/ 0 h 184"/>
              <a:gd name="T2" fmla="*/ 107 w 806"/>
              <a:gd name="T3" fmla="*/ 85 h 184"/>
              <a:gd name="T4" fmla="*/ 290 w 806"/>
              <a:gd name="T5" fmla="*/ 124 h 184"/>
              <a:gd name="T6" fmla="*/ 416 w 806"/>
              <a:gd name="T7" fmla="*/ 139 h 184"/>
              <a:gd name="T8" fmla="*/ 545 w 806"/>
              <a:gd name="T9" fmla="*/ 154 h 184"/>
              <a:gd name="T10" fmla="*/ 689 w 806"/>
              <a:gd name="T11" fmla="*/ 172 h 184"/>
              <a:gd name="T12" fmla="*/ 771 w 806"/>
              <a:gd name="T13" fmla="*/ 181 h 184"/>
              <a:gd name="T14" fmla="*/ 806 w 806"/>
              <a:gd name="T15" fmla="*/ 184 h 18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06"/>
              <a:gd name="T25" fmla="*/ 0 h 184"/>
              <a:gd name="T26" fmla="*/ 806 w 806"/>
              <a:gd name="T27" fmla="*/ 184 h 18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06" h="184">
                <a:moveTo>
                  <a:pt x="0" y="0"/>
                </a:moveTo>
                <a:cubicBezTo>
                  <a:pt x="18" y="14"/>
                  <a:pt x="59" y="64"/>
                  <a:pt x="107" y="85"/>
                </a:cubicBezTo>
                <a:cubicBezTo>
                  <a:pt x="155" y="106"/>
                  <a:pt x="239" y="115"/>
                  <a:pt x="290" y="124"/>
                </a:cubicBezTo>
                <a:cubicBezTo>
                  <a:pt x="341" y="133"/>
                  <a:pt x="373" y="134"/>
                  <a:pt x="416" y="139"/>
                </a:cubicBezTo>
                <a:cubicBezTo>
                  <a:pt x="459" y="144"/>
                  <a:pt x="500" y="149"/>
                  <a:pt x="545" y="154"/>
                </a:cubicBezTo>
                <a:cubicBezTo>
                  <a:pt x="590" y="159"/>
                  <a:pt x="651" y="168"/>
                  <a:pt x="689" y="172"/>
                </a:cubicBezTo>
                <a:cubicBezTo>
                  <a:pt x="727" y="176"/>
                  <a:pt x="752" y="179"/>
                  <a:pt x="771" y="181"/>
                </a:cubicBezTo>
                <a:cubicBezTo>
                  <a:pt x="790" y="183"/>
                  <a:pt x="799" y="184"/>
                  <a:pt x="806" y="184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49" name="Line 89"/>
          <p:cNvSpPr>
            <a:spLocks noChangeAspect="1" noChangeShapeType="1"/>
          </p:cNvSpPr>
          <p:nvPr/>
        </p:nvSpPr>
        <p:spPr bwMode="auto">
          <a:xfrm>
            <a:off x="446088" y="2325167"/>
            <a:ext cx="2589212" cy="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50" name="Freeform 90"/>
          <p:cNvSpPr>
            <a:spLocks noChangeAspect="1"/>
          </p:cNvSpPr>
          <p:nvPr/>
        </p:nvSpPr>
        <p:spPr bwMode="auto">
          <a:xfrm>
            <a:off x="2662238" y="2842692"/>
            <a:ext cx="417512" cy="96838"/>
          </a:xfrm>
          <a:custGeom>
            <a:avLst/>
            <a:gdLst>
              <a:gd name="T0" fmla="*/ 0 w 219"/>
              <a:gd name="T1" fmla="*/ 0 h 51"/>
              <a:gd name="T2" fmla="*/ 96 w 219"/>
              <a:gd name="T3" fmla="*/ 30 h 51"/>
              <a:gd name="T4" fmla="*/ 219 w 219"/>
              <a:gd name="T5" fmla="*/ 51 h 51"/>
              <a:gd name="T6" fmla="*/ 0 60000 65536"/>
              <a:gd name="T7" fmla="*/ 0 60000 65536"/>
              <a:gd name="T8" fmla="*/ 0 60000 65536"/>
              <a:gd name="T9" fmla="*/ 0 w 219"/>
              <a:gd name="T10" fmla="*/ 0 h 51"/>
              <a:gd name="T11" fmla="*/ 219 w 219"/>
              <a:gd name="T12" fmla="*/ 51 h 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9" h="51">
                <a:moveTo>
                  <a:pt x="0" y="0"/>
                </a:moveTo>
                <a:cubicBezTo>
                  <a:pt x="16" y="5"/>
                  <a:pt x="60" y="22"/>
                  <a:pt x="96" y="30"/>
                </a:cubicBezTo>
                <a:cubicBezTo>
                  <a:pt x="132" y="38"/>
                  <a:pt x="194" y="47"/>
                  <a:pt x="219" y="51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51" name="Freeform 91"/>
          <p:cNvSpPr>
            <a:spLocks noChangeAspect="1"/>
          </p:cNvSpPr>
          <p:nvPr/>
        </p:nvSpPr>
        <p:spPr bwMode="auto">
          <a:xfrm>
            <a:off x="3235325" y="2963342"/>
            <a:ext cx="376238" cy="15875"/>
          </a:xfrm>
          <a:custGeom>
            <a:avLst/>
            <a:gdLst>
              <a:gd name="T0" fmla="*/ 0 w 198"/>
              <a:gd name="T1" fmla="*/ 0 h 9"/>
              <a:gd name="T2" fmla="*/ 105 w 198"/>
              <a:gd name="T3" fmla="*/ 6 h 9"/>
              <a:gd name="T4" fmla="*/ 198 w 198"/>
              <a:gd name="T5" fmla="*/ 9 h 9"/>
              <a:gd name="T6" fmla="*/ 0 60000 65536"/>
              <a:gd name="T7" fmla="*/ 0 60000 65536"/>
              <a:gd name="T8" fmla="*/ 0 60000 65536"/>
              <a:gd name="T9" fmla="*/ 0 w 198"/>
              <a:gd name="T10" fmla="*/ 0 h 9"/>
              <a:gd name="T11" fmla="*/ 198 w 198"/>
              <a:gd name="T12" fmla="*/ 9 h 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" h="9">
                <a:moveTo>
                  <a:pt x="0" y="0"/>
                </a:moveTo>
                <a:cubicBezTo>
                  <a:pt x="17" y="1"/>
                  <a:pt x="72" y="4"/>
                  <a:pt x="105" y="6"/>
                </a:cubicBezTo>
                <a:cubicBezTo>
                  <a:pt x="138" y="8"/>
                  <a:pt x="179" y="8"/>
                  <a:pt x="198" y="9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52" name="Freeform 92"/>
          <p:cNvSpPr>
            <a:spLocks noChangeAspect="1"/>
          </p:cNvSpPr>
          <p:nvPr/>
        </p:nvSpPr>
        <p:spPr bwMode="auto">
          <a:xfrm>
            <a:off x="3702050" y="2985567"/>
            <a:ext cx="382588" cy="6350"/>
          </a:xfrm>
          <a:custGeom>
            <a:avLst/>
            <a:gdLst>
              <a:gd name="T0" fmla="*/ 0 w 201"/>
              <a:gd name="T1" fmla="*/ 0 h 3"/>
              <a:gd name="T2" fmla="*/ 138 w 201"/>
              <a:gd name="T3" fmla="*/ 3 h 3"/>
              <a:gd name="T4" fmla="*/ 201 w 201"/>
              <a:gd name="T5" fmla="*/ 3 h 3"/>
              <a:gd name="T6" fmla="*/ 0 60000 65536"/>
              <a:gd name="T7" fmla="*/ 0 60000 65536"/>
              <a:gd name="T8" fmla="*/ 0 60000 65536"/>
              <a:gd name="T9" fmla="*/ 0 w 201"/>
              <a:gd name="T10" fmla="*/ 0 h 3"/>
              <a:gd name="T11" fmla="*/ 201 w 201"/>
              <a:gd name="T12" fmla="*/ 3 h 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1" h="3">
                <a:moveTo>
                  <a:pt x="0" y="0"/>
                </a:moveTo>
                <a:cubicBezTo>
                  <a:pt x="23" y="0"/>
                  <a:pt x="105" y="3"/>
                  <a:pt x="138" y="3"/>
                </a:cubicBezTo>
                <a:cubicBezTo>
                  <a:pt x="171" y="3"/>
                  <a:pt x="188" y="3"/>
                  <a:pt x="201" y="3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9" name="Group 93"/>
          <p:cNvGrpSpPr>
            <a:grpSpLocks/>
          </p:cNvGrpSpPr>
          <p:nvPr/>
        </p:nvGrpSpPr>
        <p:grpSpPr bwMode="auto">
          <a:xfrm>
            <a:off x="4973638" y="2796655"/>
            <a:ext cx="258762" cy="276225"/>
            <a:chOff x="3545" y="2148"/>
            <a:chExt cx="163" cy="174"/>
          </a:xfrm>
        </p:grpSpPr>
        <p:sp>
          <p:nvSpPr>
            <p:cNvPr id="38959" name="Line 94"/>
            <p:cNvSpPr>
              <a:spLocks noChangeAspect="1" noChangeShapeType="1"/>
            </p:cNvSpPr>
            <p:nvPr/>
          </p:nvSpPr>
          <p:spPr bwMode="auto">
            <a:xfrm>
              <a:off x="3578" y="2293"/>
              <a:ext cx="108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0" name="Line 95"/>
            <p:cNvSpPr>
              <a:spLocks noChangeAspect="1" noChangeShapeType="1"/>
            </p:cNvSpPr>
            <p:nvPr/>
          </p:nvSpPr>
          <p:spPr bwMode="auto">
            <a:xfrm>
              <a:off x="3607" y="2322"/>
              <a:ext cx="54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1" name="AutoShape 96"/>
            <p:cNvSpPr>
              <a:spLocks noChangeAspect="1" noChangeArrowheads="1"/>
            </p:cNvSpPr>
            <p:nvPr/>
          </p:nvSpPr>
          <p:spPr bwMode="auto">
            <a:xfrm flipV="1">
              <a:off x="3545" y="2148"/>
              <a:ext cx="163" cy="109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9050" algn="ctr">
              <a:solidFill>
                <a:srgbClr val="3333FF"/>
              </a:solidFill>
              <a:miter lim="800000"/>
              <a:headEnd/>
              <a:tailEnd/>
            </a:ln>
          </p:spPr>
          <p:txBody>
            <a:bodyPr wrap="none" lIns="0" r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49057" name="Freeform 97"/>
          <p:cNvSpPr>
            <a:spLocks noChangeAspect="1"/>
          </p:cNvSpPr>
          <p:nvPr/>
        </p:nvSpPr>
        <p:spPr bwMode="auto">
          <a:xfrm>
            <a:off x="646113" y="3053830"/>
            <a:ext cx="411162" cy="239712"/>
          </a:xfrm>
          <a:custGeom>
            <a:avLst/>
            <a:gdLst>
              <a:gd name="T0" fmla="*/ 0 w 216"/>
              <a:gd name="T1" fmla="*/ 0 h 126"/>
              <a:gd name="T2" fmla="*/ 39 w 216"/>
              <a:gd name="T3" fmla="*/ 63 h 126"/>
              <a:gd name="T4" fmla="*/ 84 w 216"/>
              <a:gd name="T5" fmla="*/ 93 h 126"/>
              <a:gd name="T6" fmla="*/ 152 w 216"/>
              <a:gd name="T7" fmla="*/ 116 h 126"/>
              <a:gd name="T8" fmla="*/ 216 w 216"/>
              <a:gd name="T9" fmla="*/ 126 h 1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6"/>
              <a:gd name="T16" fmla="*/ 0 h 126"/>
              <a:gd name="T17" fmla="*/ 216 w 216"/>
              <a:gd name="T18" fmla="*/ 126 h 1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" h="126">
                <a:moveTo>
                  <a:pt x="0" y="0"/>
                </a:moveTo>
                <a:cubicBezTo>
                  <a:pt x="6" y="10"/>
                  <a:pt x="25" y="48"/>
                  <a:pt x="39" y="63"/>
                </a:cubicBezTo>
                <a:cubicBezTo>
                  <a:pt x="53" y="78"/>
                  <a:pt x="65" y="84"/>
                  <a:pt x="84" y="93"/>
                </a:cubicBezTo>
                <a:cubicBezTo>
                  <a:pt x="103" y="102"/>
                  <a:pt x="130" y="110"/>
                  <a:pt x="152" y="116"/>
                </a:cubicBezTo>
                <a:cubicBezTo>
                  <a:pt x="174" y="122"/>
                  <a:pt x="203" y="124"/>
                  <a:pt x="216" y="126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58" name="Freeform 98"/>
          <p:cNvSpPr>
            <a:spLocks noChangeAspect="1"/>
          </p:cNvSpPr>
          <p:nvPr/>
        </p:nvSpPr>
        <p:spPr bwMode="auto">
          <a:xfrm>
            <a:off x="1233488" y="3306242"/>
            <a:ext cx="304800" cy="3175"/>
          </a:xfrm>
          <a:custGeom>
            <a:avLst/>
            <a:gdLst>
              <a:gd name="T0" fmla="*/ 0 w 160"/>
              <a:gd name="T1" fmla="*/ 0 h 2"/>
              <a:gd name="T2" fmla="*/ 160 w 160"/>
              <a:gd name="T3" fmla="*/ 2 h 2"/>
              <a:gd name="T4" fmla="*/ 0 60000 65536"/>
              <a:gd name="T5" fmla="*/ 0 60000 65536"/>
              <a:gd name="T6" fmla="*/ 0 w 160"/>
              <a:gd name="T7" fmla="*/ 0 h 2"/>
              <a:gd name="T8" fmla="*/ 160 w 160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">
                <a:moveTo>
                  <a:pt x="0" y="0"/>
                </a:moveTo>
                <a:cubicBezTo>
                  <a:pt x="26" y="0"/>
                  <a:pt x="127" y="2"/>
                  <a:pt x="160" y="2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59" name="Freeform 99"/>
          <p:cNvSpPr>
            <a:spLocks noChangeAspect="1"/>
          </p:cNvSpPr>
          <p:nvPr/>
        </p:nvSpPr>
        <p:spPr bwMode="auto">
          <a:xfrm>
            <a:off x="1758950" y="3315767"/>
            <a:ext cx="327025" cy="12700"/>
          </a:xfrm>
          <a:custGeom>
            <a:avLst/>
            <a:gdLst>
              <a:gd name="T0" fmla="*/ 0 w 171"/>
              <a:gd name="T1" fmla="*/ 0 h 7"/>
              <a:gd name="T2" fmla="*/ 171 w 171"/>
              <a:gd name="T3" fmla="*/ 7 h 7"/>
              <a:gd name="T4" fmla="*/ 0 60000 65536"/>
              <a:gd name="T5" fmla="*/ 0 60000 65536"/>
              <a:gd name="T6" fmla="*/ 0 w 171"/>
              <a:gd name="T7" fmla="*/ 0 h 7"/>
              <a:gd name="T8" fmla="*/ 171 w 171"/>
              <a:gd name="T9" fmla="*/ 7 h 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1" h="7">
                <a:moveTo>
                  <a:pt x="0" y="0"/>
                </a:moveTo>
                <a:lnTo>
                  <a:pt x="171" y="7"/>
                </a:ln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0" name="Freeform 100"/>
          <p:cNvSpPr>
            <a:spLocks noChangeAspect="1"/>
          </p:cNvSpPr>
          <p:nvPr/>
        </p:nvSpPr>
        <p:spPr bwMode="auto">
          <a:xfrm>
            <a:off x="2316163" y="3326880"/>
            <a:ext cx="339725" cy="7937"/>
          </a:xfrm>
          <a:custGeom>
            <a:avLst/>
            <a:gdLst>
              <a:gd name="T0" fmla="*/ 0 w 179"/>
              <a:gd name="T1" fmla="*/ 0 h 4"/>
              <a:gd name="T2" fmla="*/ 179 w 179"/>
              <a:gd name="T3" fmla="*/ 4 h 4"/>
              <a:gd name="T4" fmla="*/ 0 60000 65536"/>
              <a:gd name="T5" fmla="*/ 0 60000 65536"/>
              <a:gd name="T6" fmla="*/ 0 w 179"/>
              <a:gd name="T7" fmla="*/ 0 h 4"/>
              <a:gd name="T8" fmla="*/ 179 w 179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9" h="4">
                <a:moveTo>
                  <a:pt x="0" y="0"/>
                </a:moveTo>
                <a:lnTo>
                  <a:pt x="179" y="4"/>
                </a:ln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1" name="Line 101"/>
          <p:cNvSpPr>
            <a:spLocks noChangeAspect="1" noChangeShapeType="1"/>
          </p:cNvSpPr>
          <p:nvPr/>
        </p:nvSpPr>
        <p:spPr bwMode="auto">
          <a:xfrm>
            <a:off x="2921000" y="3349105"/>
            <a:ext cx="344488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2" name="Freeform 102"/>
          <p:cNvSpPr>
            <a:spLocks noChangeAspect="1"/>
          </p:cNvSpPr>
          <p:nvPr/>
        </p:nvSpPr>
        <p:spPr bwMode="auto">
          <a:xfrm>
            <a:off x="3611563" y="3274492"/>
            <a:ext cx="519112" cy="85725"/>
          </a:xfrm>
          <a:custGeom>
            <a:avLst/>
            <a:gdLst>
              <a:gd name="T0" fmla="*/ 0 w 272"/>
              <a:gd name="T1" fmla="*/ 45 h 45"/>
              <a:gd name="T2" fmla="*/ 131 w 272"/>
              <a:gd name="T3" fmla="*/ 37 h 45"/>
              <a:gd name="T4" fmla="*/ 272 w 272"/>
              <a:gd name="T5" fmla="*/ 0 h 45"/>
              <a:gd name="T6" fmla="*/ 0 60000 65536"/>
              <a:gd name="T7" fmla="*/ 0 60000 65536"/>
              <a:gd name="T8" fmla="*/ 0 60000 65536"/>
              <a:gd name="T9" fmla="*/ 0 w 272"/>
              <a:gd name="T10" fmla="*/ 0 h 45"/>
              <a:gd name="T11" fmla="*/ 272 w 272"/>
              <a:gd name="T12" fmla="*/ 45 h 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45">
                <a:moveTo>
                  <a:pt x="0" y="45"/>
                </a:moveTo>
                <a:cubicBezTo>
                  <a:pt x="22" y="44"/>
                  <a:pt x="86" y="44"/>
                  <a:pt x="131" y="37"/>
                </a:cubicBezTo>
                <a:cubicBezTo>
                  <a:pt x="176" y="30"/>
                  <a:pt x="243" y="8"/>
                  <a:pt x="272" y="0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3" name="Freeform 103"/>
          <p:cNvSpPr>
            <a:spLocks noChangeAspect="1"/>
          </p:cNvSpPr>
          <p:nvPr/>
        </p:nvSpPr>
        <p:spPr bwMode="auto">
          <a:xfrm>
            <a:off x="266700" y="3090342"/>
            <a:ext cx="293688" cy="312738"/>
          </a:xfrm>
          <a:custGeom>
            <a:avLst/>
            <a:gdLst>
              <a:gd name="T0" fmla="*/ 0 w 154"/>
              <a:gd name="T1" fmla="*/ 0 h 164"/>
              <a:gd name="T2" fmla="*/ 61 w 154"/>
              <a:gd name="T3" fmla="*/ 86 h 164"/>
              <a:gd name="T4" fmla="*/ 154 w 154"/>
              <a:gd name="T5" fmla="*/ 164 h 164"/>
              <a:gd name="T6" fmla="*/ 0 60000 65536"/>
              <a:gd name="T7" fmla="*/ 0 60000 65536"/>
              <a:gd name="T8" fmla="*/ 0 60000 65536"/>
              <a:gd name="T9" fmla="*/ 0 w 154"/>
              <a:gd name="T10" fmla="*/ 0 h 164"/>
              <a:gd name="T11" fmla="*/ 154 w 154"/>
              <a:gd name="T12" fmla="*/ 164 h 1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4" h="164">
                <a:moveTo>
                  <a:pt x="0" y="0"/>
                </a:moveTo>
                <a:cubicBezTo>
                  <a:pt x="10" y="14"/>
                  <a:pt x="35" y="59"/>
                  <a:pt x="61" y="86"/>
                </a:cubicBezTo>
                <a:cubicBezTo>
                  <a:pt x="87" y="113"/>
                  <a:pt x="135" y="148"/>
                  <a:pt x="154" y="164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4" name="Freeform 104"/>
          <p:cNvSpPr>
            <a:spLocks noChangeAspect="1"/>
          </p:cNvSpPr>
          <p:nvPr/>
        </p:nvSpPr>
        <p:spPr bwMode="auto">
          <a:xfrm>
            <a:off x="720725" y="3517380"/>
            <a:ext cx="376238" cy="85725"/>
          </a:xfrm>
          <a:custGeom>
            <a:avLst/>
            <a:gdLst>
              <a:gd name="T0" fmla="*/ 0 w 198"/>
              <a:gd name="T1" fmla="*/ 0 h 45"/>
              <a:gd name="T2" fmla="*/ 93 w 198"/>
              <a:gd name="T3" fmla="*/ 30 h 45"/>
              <a:gd name="T4" fmla="*/ 198 w 198"/>
              <a:gd name="T5" fmla="*/ 45 h 45"/>
              <a:gd name="T6" fmla="*/ 0 60000 65536"/>
              <a:gd name="T7" fmla="*/ 0 60000 65536"/>
              <a:gd name="T8" fmla="*/ 0 60000 65536"/>
              <a:gd name="T9" fmla="*/ 0 w 198"/>
              <a:gd name="T10" fmla="*/ 0 h 45"/>
              <a:gd name="T11" fmla="*/ 198 w 198"/>
              <a:gd name="T12" fmla="*/ 45 h 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" h="45">
                <a:moveTo>
                  <a:pt x="0" y="0"/>
                </a:moveTo>
                <a:cubicBezTo>
                  <a:pt x="15" y="4"/>
                  <a:pt x="60" y="23"/>
                  <a:pt x="93" y="30"/>
                </a:cubicBezTo>
                <a:cubicBezTo>
                  <a:pt x="126" y="37"/>
                  <a:pt x="176" y="42"/>
                  <a:pt x="198" y="45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5" name="Freeform 105"/>
          <p:cNvSpPr>
            <a:spLocks noChangeAspect="1"/>
          </p:cNvSpPr>
          <p:nvPr/>
        </p:nvSpPr>
        <p:spPr bwMode="auto">
          <a:xfrm>
            <a:off x="1285875" y="3625330"/>
            <a:ext cx="336550" cy="22225"/>
          </a:xfrm>
          <a:custGeom>
            <a:avLst/>
            <a:gdLst>
              <a:gd name="T0" fmla="*/ 0 w 177"/>
              <a:gd name="T1" fmla="*/ 0 h 12"/>
              <a:gd name="T2" fmla="*/ 96 w 177"/>
              <a:gd name="T3" fmla="*/ 9 h 12"/>
              <a:gd name="T4" fmla="*/ 177 w 177"/>
              <a:gd name="T5" fmla="*/ 12 h 12"/>
              <a:gd name="T6" fmla="*/ 0 60000 65536"/>
              <a:gd name="T7" fmla="*/ 0 60000 65536"/>
              <a:gd name="T8" fmla="*/ 0 60000 65536"/>
              <a:gd name="T9" fmla="*/ 0 w 177"/>
              <a:gd name="T10" fmla="*/ 0 h 12"/>
              <a:gd name="T11" fmla="*/ 177 w 177"/>
              <a:gd name="T12" fmla="*/ 12 h 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7" h="12">
                <a:moveTo>
                  <a:pt x="0" y="0"/>
                </a:moveTo>
                <a:cubicBezTo>
                  <a:pt x="16" y="2"/>
                  <a:pt x="67" y="7"/>
                  <a:pt x="96" y="9"/>
                </a:cubicBezTo>
                <a:cubicBezTo>
                  <a:pt x="125" y="11"/>
                  <a:pt x="160" y="12"/>
                  <a:pt x="177" y="12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6" name="Freeform 106"/>
          <p:cNvSpPr>
            <a:spLocks noChangeAspect="1"/>
          </p:cNvSpPr>
          <p:nvPr/>
        </p:nvSpPr>
        <p:spPr bwMode="auto">
          <a:xfrm>
            <a:off x="1844675" y="3676130"/>
            <a:ext cx="492125" cy="28575"/>
          </a:xfrm>
          <a:custGeom>
            <a:avLst/>
            <a:gdLst>
              <a:gd name="T0" fmla="*/ 0 w 258"/>
              <a:gd name="T1" fmla="*/ 0 h 15"/>
              <a:gd name="T2" fmla="*/ 111 w 258"/>
              <a:gd name="T3" fmla="*/ 9 h 15"/>
              <a:gd name="T4" fmla="*/ 258 w 258"/>
              <a:gd name="T5" fmla="*/ 15 h 15"/>
              <a:gd name="T6" fmla="*/ 0 60000 65536"/>
              <a:gd name="T7" fmla="*/ 0 60000 65536"/>
              <a:gd name="T8" fmla="*/ 0 60000 65536"/>
              <a:gd name="T9" fmla="*/ 0 w 258"/>
              <a:gd name="T10" fmla="*/ 0 h 15"/>
              <a:gd name="T11" fmla="*/ 258 w 258"/>
              <a:gd name="T12" fmla="*/ 15 h 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8" h="15">
                <a:moveTo>
                  <a:pt x="0" y="0"/>
                </a:moveTo>
                <a:cubicBezTo>
                  <a:pt x="19" y="1"/>
                  <a:pt x="68" y="7"/>
                  <a:pt x="111" y="9"/>
                </a:cubicBezTo>
                <a:cubicBezTo>
                  <a:pt x="154" y="11"/>
                  <a:pt x="228" y="14"/>
                  <a:pt x="258" y="15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7" name="Freeform 107"/>
          <p:cNvSpPr>
            <a:spLocks noChangeAspect="1"/>
          </p:cNvSpPr>
          <p:nvPr/>
        </p:nvSpPr>
        <p:spPr bwMode="auto">
          <a:xfrm>
            <a:off x="2490788" y="3717405"/>
            <a:ext cx="439737" cy="4762"/>
          </a:xfrm>
          <a:custGeom>
            <a:avLst/>
            <a:gdLst>
              <a:gd name="T0" fmla="*/ 0 w 231"/>
              <a:gd name="T1" fmla="*/ 0 h 3"/>
              <a:gd name="T2" fmla="*/ 96 w 231"/>
              <a:gd name="T3" fmla="*/ 3 h 3"/>
              <a:gd name="T4" fmla="*/ 231 w 231"/>
              <a:gd name="T5" fmla="*/ 3 h 3"/>
              <a:gd name="T6" fmla="*/ 0 60000 65536"/>
              <a:gd name="T7" fmla="*/ 0 60000 65536"/>
              <a:gd name="T8" fmla="*/ 0 60000 65536"/>
              <a:gd name="T9" fmla="*/ 0 w 231"/>
              <a:gd name="T10" fmla="*/ 0 h 3"/>
              <a:gd name="T11" fmla="*/ 231 w 231"/>
              <a:gd name="T12" fmla="*/ 3 h 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1" h="3">
                <a:moveTo>
                  <a:pt x="0" y="0"/>
                </a:moveTo>
                <a:cubicBezTo>
                  <a:pt x="16" y="1"/>
                  <a:pt x="58" y="3"/>
                  <a:pt x="96" y="3"/>
                </a:cubicBezTo>
                <a:cubicBezTo>
                  <a:pt x="134" y="3"/>
                  <a:pt x="203" y="3"/>
                  <a:pt x="231" y="3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8" name="Freeform 108"/>
          <p:cNvSpPr>
            <a:spLocks noChangeAspect="1"/>
          </p:cNvSpPr>
          <p:nvPr/>
        </p:nvSpPr>
        <p:spPr bwMode="auto">
          <a:xfrm>
            <a:off x="3044825" y="3728517"/>
            <a:ext cx="393700" cy="11113"/>
          </a:xfrm>
          <a:custGeom>
            <a:avLst/>
            <a:gdLst>
              <a:gd name="T0" fmla="*/ 0 w 207"/>
              <a:gd name="T1" fmla="*/ 6 h 6"/>
              <a:gd name="T2" fmla="*/ 108 w 207"/>
              <a:gd name="T3" fmla="*/ 3 h 6"/>
              <a:gd name="T4" fmla="*/ 207 w 207"/>
              <a:gd name="T5" fmla="*/ 0 h 6"/>
              <a:gd name="T6" fmla="*/ 0 60000 65536"/>
              <a:gd name="T7" fmla="*/ 0 60000 65536"/>
              <a:gd name="T8" fmla="*/ 0 60000 65536"/>
              <a:gd name="T9" fmla="*/ 0 w 207"/>
              <a:gd name="T10" fmla="*/ 0 h 6"/>
              <a:gd name="T11" fmla="*/ 207 w 207"/>
              <a:gd name="T12" fmla="*/ 6 h 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" h="6">
                <a:moveTo>
                  <a:pt x="0" y="6"/>
                </a:moveTo>
                <a:cubicBezTo>
                  <a:pt x="18" y="6"/>
                  <a:pt x="74" y="4"/>
                  <a:pt x="108" y="3"/>
                </a:cubicBezTo>
                <a:cubicBezTo>
                  <a:pt x="142" y="2"/>
                  <a:pt x="187" y="1"/>
                  <a:pt x="207" y="0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69" name="Freeform 109"/>
          <p:cNvSpPr>
            <a:spLocks noChangeAspect="1"/>
          </p:cNvSpPr>
          <p:nvPr/>
        </p:nvSpPr>
        <p:spPr bwMode="auto">
          <a:xfrm>
            <a:off x="3684588" y="3445942"/>
            <a:ext cx="446087" cy="258763"/>
          </a:xfrm>
          <a:custGeom>
            <a:avLst/>
            <a:gdLst>
              <a:gd name="T0" fmla="*/ 0 w 234"/>
              <a:gd name="T1" fmla="*/ 136 h 136"/>
              <a:gd name="T2" fmla="*/ 98 w 234"/>
              <a:gd name="T3" fmla="*/ 91 h 136"/>
              <a:gd name="T4" fmla="*/ 180 w 234"/>
              <a:gd name="T5" fmla="*/ 43 h 136"/>
              <a:gd name="T6" fmla="*/ 234 w 234"/>
              <a:gd name="T7" fmla="*/ 0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136"/>
              <a:gd name="T14" fmla="*/ 234 w 234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136">
                <a:moveTo>
                  <a:pt x="0" y="136"/>
                </a:moveTo>
                <a:cubicBezTo>
                  <a:pt x="16" y="129"/>
                  <a:pt x="68" y="106"/>
                  <a:pt x="98" y="91"/>
                </a:cubicBezTo>
                <a:cubicBezTo>
                  <a:pt x="128" y="76"/>
                  <a:pt x="157" y="58"/>
                  <a:pt x="180" y="43"/>
                </a:cubicBezTo>
                <a:cubicBezTo>
                  <a:pt x="203" y="28"/>
                  <a:pt x="223" y="9"/>
                  <a:pt x="234" y="0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49070" name="Freeform 110"/>
          <p:cNvSpPr>
            <a:spLocks noChangeAspect="1"/>
          </p:cNvSpPr>
          <p:nvPr/>
        </p:nvSpPr>
        <p:spPr bwMode="auto">
          <a:xfrm>
            <a:off x="4786313" y="2979217"/>
            <a:ext cx="742950" cy="3175"/>
          </a:xfrm>
          <a:custGeom>
            <a:avLst/>
            <a:gdLst>
              <a:gd name="T0" fmla="*/ 0 w 390"/>
              <a:gd name="T1" fmla="*/ 0 h 1"/>
              <a:gd name="T2" fmla="*/ 390 w 390"/>
              <a:gd name="T3" fmla="*/ 0 h 1"/>
              <a:gd name="T4" fmla="*/ 0 60000 65536"/>
              <a:gd name="T5" fmla="*/ 0 60000 65536"/>
              <a:gd name="T6" fmla="*/ 0 w 390"/>
              <a:gd name="T7" fmla="*/ 0 h 1"/>
              <a:gd name="T8" fmla="*/ 390 w 39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0" h="1">
                <a:moveTo>
                  <a:pt x="0" y="0"/>
                </a:moveTo>
                <a:lnTo>
                  <a:pt x="390" y="0"/>
                </a:ln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1522413" y="2134667"/>
            <a:ext cx="346075" cy="315913"/>
            <a:chOff x="1371" y="1731"/>
            <a:chExt cx="218" cy="199"/>
          </a:xfrm>
        </p:grpSpPr>
        <p:sp>
          <p:nvSpPr>
            <p:cNvPr id="38955" name="Line 112"/>
            <p:cNvSpPr>
              <a:spLocks noChangeAspect="1" noChangeShapeType="1"/>
            </p:cNvSpPr>
            <p:nvPr/>
          </p:nvSpPr>
          <p:spPr bwMode="auto">
            <a:xfrm>
              <a:off x="1415" y="1905"/>
              <a:ext cx="108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6" name="Line 113"/>
            <p:cNvSpPr>
              <a:spLocks noChangeAspect="1" noChangeShapeType="1"/>
            </p:cNvSpPr>
            <p:nvPr/>
          </p:nvSpPr>
          <p:spPr bwMode="auto">
            <a:xfrm>
              <a:off x="1444" y="1930"/>
              <a:ext cx="54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7" name="AutoShape 114"/>
            <p:cNvSpPr>
              <a:spLocks noChangeAspect="1" noChangeArrowheads="1"/>
            </p:cNvSpPr>
            <p:nvPr/>
          </p:nvSpPr>
          <p:spPr bwMode="auto">
            <a:xfrm flipV="1">
              <a:off x="1381" y="1731"/>
              <a:ext cx="163" cy="109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9050" algn="ctr">
              <a:solidFill>
                <a:srgbClr val="3333FF"/>
              </a:solidFill>
              <a:miter lim="800000"/>
              <a:headEnd/>
              <a:tailEnd/>
            </a:ln>
          </p:spPr>
          <p:txBody>
            <a:bodyPr wrap="none"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8" name="Line 115"/>
            <p:cNvSpPr>
              <a:spLocks noChangeAspect="1" noChangeShapeType="1"/>
            </p:cNvSpPr>
            <p:nvPr/>
          </p:nvSpPr>
          <p:spPr bwMode="auto">
            <a:xfrm>
              <a:off x="1371" y="1876"/>
              <a:ext cx="218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8941" name="Text Box 116"/>
          <p:cNvSpPr txBox="1">
            <a:spLocks noChangeArrowheads="1"/>
          </p:cNvSpPr>
          <p:nvPr/>
        </p:nvSpPr>
        <p:spPr bwMode="auto">
          <a:xfrm>
            <a:off x="4275138" y="3390380"/>
            <a:ext cx="982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Arial" charset="0"/>
              </a:rPr>
              <a:t>透水层</a:t>
            </a:r>
          </a:p>
        </p:txBody>
      </p:sp>
      <p:sp>
        <p:nvSpPr>
          <p:cNvPr id="38942" name="Text Box 117"/>
          <p:cNvSpPr txBox="1">
            <a:spLocks noChangeArrowheads="1"/>
          </p:cNvSpPr>
          <p:nvPr/>
        </p:nvSpPr>
        <p:spPr bwMode="auto">
          <a:xfrm>
            <a:off x="3987800" y="4327005"/>
            <a:ext cx="1452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Arial" charset="0"/>
              </a:rPr>
              <a:t>不透水层</a:t>
            </a:r>
          </a:p>
        </p:txBody>
      </p:sp>
      <p:sp>
        <p:nvSpPr>
          <p:cNvPr id="38943" name="Text Box 118"/>
          <p:cNvSpPr txBox="1">
            <a:spLocks noChangeArrowheads="1"/>
          </p:cNvSpPr>
          <p:nvPr/>
        </p:nvSpPr>
        <p:spPr bwMode="auto">
          <a:xfrm>
            <a:off x="2335795" y="5710069"/>
            <a:ext cx="593907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土石</a:t>
            </a: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坝和堤防的渗流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38945" name="Text Box 120"/>
          <p:cNvSpPr txBox="1">
            <a:spLocks noChangeArrowheads="1"/>
          </p:cNvSpPr>
          <p:nvPr/>
        </p:nvSpPr>
        <p:spPr bwMode="auto">
          <a:xfrm>
            <a:off x="2001838" y="1599680"/>
            <a:ext cx="1163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333333"/>
                </a:solidFill>
                <a:ea typeface="幼圆" pitchFamily="49" charset="-122"/>
              </a:rPr>
              <a:t>防渗体</a:t>
            </a:r>
          </a:p>
        </p:txBody>
      </p:sp>
      <p:sp>
        <p:nvSpPr>
          <p:cNvPr id="38946" name="Text Box 121"/>
          <p:cNvSpPr txBox="1">
            <a:spLocks noChangeArrowheads="1"/>
          </p:cNvSpPr>
          <p:nvPr/>
        </p:nvSpPr>
        <p:spPr bwMode="auto">
          <a:xfrm>
            <a:off x="3600450" y="1510780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ea typeface="幼圆" pitchFamily="49" charset="-122"/>
              </a:rPr>
              <a:t>坝体</a:t>
            </a:r>
          </a:p>
        </p:txBody>
      </p:sp>
      <p:sp>
        <p:nvSpPr>
          <p:cNvPr id="38947" name="Line 122"/>
          <p:cNvSpPr>
            <a:spLocks noChangeShapeType="1"/>
          </p:cNvSpPr>
          <p:nvPr/>
        </p:nvSpPr>
        <p:spPr bwMode="auto">
          <a:xfrm flipH="1" flipV="1">
            <a:off x="2778125" y="2031480"/>
            <a:ext cx="31115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8" name="Line 123"/>
          <p:cNvSpPr>
            <a:spLocks noChangeShapeType="1"/>
          </p:cNvSpPr>
          <p:nvPr/>
        </p:nvSpPr>
        <p:spPr bwMode="auto">
          <a:xfrm flipV="1">
            <a:off x="3563938" y="1985442"/>
            <a:ext cx="439737" cy="450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124"/>
          <p:cNvGrpSpPr>
            <a:grpSpLocks/>
          </p:cNvGrpSpPr>
          <p:nvPr/>
        </p:nvGrpSpPr>
        <p:grpSpPr bwMode="auto">
          <a:xfrm>
            <a:off x="3576638" y="2123555"/>
            <a:ext cx="1677987" cy="695325"/>
            <a:chOff x="2421" y="1560"/>
            <a:chExt cx="1038" cy="438"/>
          </a:xfrm>
        </p:grpSpPr>
        <p:sp>
          <p:nvSpPr>
            <p:cNvPr id="38953" name="Text Box 125"/>
            <p:cNvSpPr txBox="1">
              <a:spLocks noChangeArrowheads="1"/>
            </p:cNvSpPr>
            <p:nvPr/>
          </p:nvSpPr>
          <p:spPr bwMode="auto">
            <a:xfrm>
              <a:off x="2764" y="1560"/>
              <a:ext cx="69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ea typeface="幼圆" pitchFamily="49" charset="-122"/>
                </a:rPr>
                <a:t>浸润面</a:t>
              </a:r>
              <a:endParaRPr lang="zh-CN" altLang="en-US" sz="2400" b="1" dirty="0">
                <a:ea typeface="幼圆" pitchFamily="49" charset="-122"/>
              </a:endParaRPr>
            </a:p>
          </p:txBody>
        </p:sp>
        <p:sp>
          <p:nvSpPr>
            <p:cNvPr id="38954" name="Line 126"/>
            <p:cNvSpPr>
              <a:spLocks noChangeShapeType="1"/>
            </p:cNvSpPr>
            <p:nvPr/>
          </p:nvSpPr>
          <p:spPr bwMode="auto">
            <a:xfrm flipV="1">
              <a:off x="2421" y="1692"/>
              <a:ext cx="364" cy="3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49087" name="Text Box 127"/>
          <p:cNvSpPr txBox="1">
            <a:spLocks noChangeArrowheads="1"/>
          </p:cNvSpPr>
          <p:nvPr/>
        </p:nvSpPr>
        <p:spPr bwMode="auto">
          <a:xfrm>
            <a:off x="6848475" y="1733030"/>
            <a:ext cx="2089150" cy="2252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渗流问题：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1. 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渗流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量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？</a:t>
            </a:r>
            <a:endParaRPr lang="zh-CN" altLang="en-US" sz="2400" b="1" dirty="0">
              <a:solidFill>
                <a:srgbClr val="C00000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2.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渗透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力？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3.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渗透破坏？</a:t>
            </a:r>
          </a:p>
        </p:txBody>
      </p:sp>
      <p:sp>
        <p:nvSpPr>
          <p:cNvPr id="1449088" name="AutoShape 128"/>
          <p:cNvSpPr>
            <a:spLocks noChangeArrowheads="1"/>
          </p:cNvSpPr>
          <p:nvPr/>
        </p:nvSpPr>
        <p:spPr bwMode="auto">
          <a:xfrm>
            <a:off x="6030913" y="2047355"/>
            <a:ext cx="617537" cy="488950"/>
          </a:xfrm>
          <a:prstGeom prst="homePlate">
            <a:avLst>
              <a:gd name="adj" fmla="val 3157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8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361165893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49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49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49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49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49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49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449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49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49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449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2000"/>
                                        <p:tgtEl>
                                          <p:spTgt spid="144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9048" grpId="0" animBg="1"/>
      <p:bldP spid="1449049" grpId="0" animBg="1"/>
      <p:bldP spid="1449050" grpId="0" animBg="1"/>
      <p:bldP spid="1449051" grpId="0" animBg="1"/>
      <p:bldP spid="1449052" grpId="0" animBg="1"/>
      <p:bldP spid="1449057" grpId="0" animBg="1"/>
      <p:bldP spid="1449058" grpId="0" animBg="1"/>
      <p:bldP spid="1449059" grpId="0" animBg="1"/>
      <p:bldP spid="1449060" grpId="0" animBg="1"/>
      <p:bldP spid="1449061" grpId="0" animBg="1"/>
      <p:bldP spid="1449062" grpId="0" animBg="1"/>
      <p:bldP spid="1449063" grpId="0" animBg="1"/>
      <p:bldP spid="1449064" grpId="0" animBg="1"/>
      <p:bldP spid="1449065" grpId="0" animBg="1"/>
      <p:bldP spid="1449066" grpId="0" animBg="1"/>
      <p:bldP spid="1449067" grpId="0" animBg="1"/>
      <p:bldP spid="1449068" grpId="0" animBg="1"/>
      <p:bldP spid="1449069" grpId="0" animBg="1"/>
      <p:bldP spid="1449070" grpId="0" animBg="1"/>
      <p:bldP spid="1449087" grpId="0"/>
      <p:bldP spid="144908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AutoShape 3"/>
          <p:cNvSpPr>
            <a:spLocks noChangeArrowheads="1"/>
          </p:cNvSpPr>
          <p:nvPr/>
        </p:nvSpPr>
        <p:spPr bwMode="auto">
          <a:xfrm>
            <a:off x="2535155" y="5688734"/>
            <a:ext cx="5098098" cy="705169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土石坝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渗流破坏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实例</a:t>
            </a:r>
            <a:endParaRPr kumimoji="1"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9" name="Picture 10" descr="TD-09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59"/>
          <a:stretch/>
        </p:blipFill>
        <p:spPr bwMode="auto">
          <a:xfrm>
            <a:off x="4315667" y="627063"/>
            <a:ext cx="3448320" cy="2362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444266" y="1116347"/>
            <a:ext cx="31829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美国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Teton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坝</a:t>
            </a:r>
            <a:endParaRPr kumimoji="1"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0" b="21295"/>
          <a:stretch>
            <a:fillRect/>
          </a:stretch>
        </p:blipFill>
        <p:spPr bwMode="auto">
          <a:xfrm>
            <a:off x="4293028" y="3218277"/>
            <a:ext cx="3470052" cy="189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85347" y="3518967"/>
            <a:ext cx="31829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青海沟后坝</a:t>
            </a:r>
            <a:endParaRPr kumimoji="1" lang="en-US" altLang="zh-CN" sz="28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350027797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ext Box 10"/>
          <p:cNvSpPr txBox="1">
            <a:spLocks noChangeArrowheads="1"/>
          </p:cNvSpPr>
          <p:nvPr/>
        </p:nvSpPr>
        <p:spPr bwMode="auto">
          <a:xfrm>
            <a:off x="579438" y="989126"/>
            <a:ext cx="31829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大堤决口</a:t>
            </a:r>
            <a:endParaRPr kumimoji="1"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86023" name="Text Box 12"/>
          <p:cNvSpPr txBox="1">
            <a:spLocks noChangeArrowheads="1"/>
          </p:cNvSpPr>
          <p:nvPr/>
        </p:nvSpPr>
        <p:spPr bwMode="auto">
          <a:xfrm>
            <a:off x="620713" y="3684588"/>
            <a:ext cx="365442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7675" indent="-4476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1993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美国密西西比堤基管涌</a:t>
            </a:r>
          </a:p>
        </p:txBody>
      </p:sp>
      <p:sp>
        <p:nvSpPr>
          <p:cNvPr id="86024" name="AutoShape 13">
            <a:hlinkClick r:id="rId3" action="ppaction://hlinkfile" highlightClick="1"/>
          </p:cNvPr>
          <p:cNvSpPr>
            <a:spLocks noChangeArrowheads="1"/>
          </p:cNvSpPr>
          <p:nvPr/>
        </p:nvSpPr>
        <p:spPr bwMode="auto">
          <a:xfrm>
            <a:off x="5495925" y="3807977"/>
            <a:ext cx="1127125" cy="1046162"/>
          </a:xfrm>
          <a:prstGeom prst="actionButtonMovi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2812963" y="5655075"/>
            <a:ext cx="4465467" cy="705169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土堤管涌破坏实例</a:t>
            </a:r>
            <a:endParaRPr kumimoji="1"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51638" y="3750827"/>
            <a:ext cx="13335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录像</a:t>
            </a:r>
            <a:r>
              <a:rPr kumimoji="1" lang="zh-CN" altLang="en-US" sz="20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：</a:t>
            </a:r>
            <a:r>
              <a:rPr kumimoji="1" lang="en-US" altLang="zh-CN" sz="20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/>
            </a:r>
            <a:br>
              <a:rPr kumimoji="1" lang="en-US" altLang="zh-CN" sz="20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</a:br>
            <a:r>
              <a:rPr kumimoji="1" lang="zh-CN" altLang="en-US" sz="20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密西西比堤基管涌</a:t>
            </a:r>
            <a:endParaRPr lang="en-US" altLang="zh-CN" sz="2000" dirty="0" smtClean="0">
              <a:solidFill>
                <a:srgbClr val="A5002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4" b="13022"/>
          <a:stretch/>
        </p:blipFill>
        <p:spPr bwMode="auto">
          <a:xfrm>
            <a:off x="3753015" y="683812"/>
            <a:ext cx="4438721" cy="2862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71564082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4"/>
          <p:cNvSpPr txBox="1">
            <a:spLocks noChangeArrowheads="1"/>
          </p:cNvSpPr>
          <p:nvPr/>
        </p:nvSpPr>
        <p:spPr bwMode="auto">
          <a:xfrm>
            <a:off x="2251880" y="5740940"/>
            <a:ext cx="573205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支护结构下</a:t>
            </a:r>
            <a:r>
              <a:rPr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的基坑渗流</a:t>
            </a:r>
          </a:p>
        </p:txBody>
      </p:sp>
      <p:sp>
        <p:nvSpPr>
          <p:cNvPr id="1449990" name="Text Box 6"/>
          <p:cNvSpPr txBox="1">
            <a:spLocks noChangeArrowheads="1"/>
          </p:cNvSpPr>
          <p:nvPr/>
        </p:nvSpPr>
        <p:spPr bwMode="auto">
          <a:xfrm>
            <a:off x="6448372" y="2072161"/>
            <a:ext cx="2035175" cy="2252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渗流问题：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渗流量？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2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.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渗水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压力？</a:t>
            </a:r>
            <a:endParaRPr lang="zh-CN" altLang="en-US" sz="2400" b="1" dirty="0">
              <a:solidFill>
                <a:srgbClr val="C00000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3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.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渗透破坏？</a:t>
            </a:r>
          </a:p>
        </p:txBody>
      </p:sp>
      <p:sp>
        <p:nvSpPr>
          <p:cNvPr id="1449991" name="AutoShape 7"/>
          <p:cNvSpPr>
            <a:spLocks noChangeArrowheads="1"/>
          </p:cNvSpPr>
          <p:nvPr/>
        </p:nvSpPr>
        <p:spPr bwMode="auto">
          <a:xfrm>
            <a:off x="5557784" y="2118199"/>
            <a:ext cx="617538" cy="488950"/>
          </a:xfrm>
          <a:prstGeom prst="homePlate">
            <a:avLst>
              <a:gd name="adj" fmla="val 3157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76228" y="4388324"/>
            <a:ext cx="4321175" cy="131762"/>
            <a:chOff x="884" y="2807"/>
            <a:chExt cx="2722" cy="83"/>
          </a:xfrm>
        </p:grpSpPr>
        <p:grpSp>
          <p:nvGrpSpPr>
            <p:cNvPr id="39970" name="Group 9"/>
            <p:cNvGrpSpPr>
              <a:grpSpLocks/>
            </p:cNvGrpSpPr>
            <p:nvPr/>
          </p:nvGrpSpPr>
          <p:grpSpPr bwMode="auto">
            <a:xfrm>
              <a:off x="2227" y="2807"/>
              <a:ext cx="481" cy="83"/>
              <a:chOff x="2644" y="2807"/>
              <a:chExt cx="481" cy="83"/>
            </a:xfrm>
          </p:grpSpPr>
          <p:sp>
            <p:nvSpPr>
              <p:cNvPr id="40037" name="Freeform 10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38" name="Freeform 11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39" name="Freeform 12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40" name="Freeform 13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41" name="Freeform 14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42" name="Freeform 15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43" name="Freeform 16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44" name="Freeform 17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45" name="Freeform 18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46" name="Freeform 19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47" name="Freeform 20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48" name="Freeform 21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9971" name="Group 22"/>
            <p:cNvGrpSpPr>
              <a:grpSpLocks/>
            </p:cNvGrpSpPr>
            <p:nvPr/>
          </p:nvGrpSpPr>
          <p:grpSpPr bwMode="auto">
            <a:xfrm>
              <a:off x="1779" y="2807"/>
              <a:ext cx="481" cy="83"/>
              <a:chOff x="2644" y="2807"/>
              <a:chExt cx="481" cy="83"/>
            </a:xfrm>
          </p:grpSpPr>
          <p:sp>
            <p:nvSpPr>
              <p:cNvPr id="40025" name="Freeform 23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26" name="Freeform 24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27" name="Freeform 25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28" name="Freeform 26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29" name="Freeform 27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30" name="Freeform 28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31" name="Freeform 29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32" name="Freeform 30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33" name="Freeform 31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34" name="Freeform 32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35" name="Freeform 33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36" name="Freeform 34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9972" name="Group 35"/>
            <p:cNvGrpSpPr>
              <a:grpSpLocks/>
            </p:cNvGrpSpPr>
            <p:nvPr/>
          </p:nvGrpSpPr>
          <p:grpSpPr bwMode="auto">
            <a:xfrm>
              <a:off x="1332" y="2807"/>
              <a:ext cx="481" cy="83"/>
              <a:chOff x="2644" y="2807"/>
              <a:chExt cx="481" cy="83"/>
            </a:xfrm>
          </p:grpSpPr>
          <p:sp>
            <p:nvSpPr>
              <p:cNvPr id="40013" name="Freeform 36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14" name="Freeform 37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15" name="Freeform 38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16" name="Freeform 39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17" name="Freeform 40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18" name="Freeform 41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19" name="Freeform 42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20" name="Freeform 43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21" name="Freeform 44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22" name="Freeform 45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23" name="Freeform 46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24" name="Freeform 47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9973" name="Group 48"/>
            <p:cNvGrpSpPr>
              <a:grpSpLocks/>
            </p:cNvGrpSpPr>
            <p:nvPr/>
          </p:nvGrpSpPr>
          <p:grpSpPr bwMode="auto">
            <a:xfrm>
              <a:off x="884" y="2807"/>
              <a:ext cx="481" cy="83"/>
              <a:chOff x="2644" y="2807"/>
              <a:chExt cx="481" cy="83"/>
            </a:xfrm>
          </p:grpSpPr>
          <p:sp>
            <p:nvSpPr>
              <p:cNvPr id="40001" name="Freeform 49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02" name="Freeform 50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03" name="Freeform 51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04" name="Freeform 52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05" name="Freeform 53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06" name="Freeform 54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07" name="Freeform 55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08" name="Freeform 56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09" name="Freeform 57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10" name="Freeform 58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11" name="Freeform 59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12" name="Freeform 60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9974" name="Group 61"/>
            <p:cNvGrpSpPr>
              <a:grpSpLocks/>
            </p:cNvGrpSpPr>
            <p:nvPr/>
          </p:nvGrpSpPr>
          <p:grpSpPr bwMode="auto">
            <a:xfrm>
              <a:off x="3123" y="2807"/>
              <a:ext cx="481" cy="83"/>
              <a:chOff x="2644" y="2807"/>
              <a:chExt cx="481" cy="83"/>
            </a:xfrm>
          </p:grpSpPr>
          <p:sp>
            <p:nvSpPr>
              <p:cNvPr id="39989" name="Freeform 62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0" name="Freeform 63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1" name="Freeform 64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2" name="Freeform 65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3" name="Freeform 66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4" name="Freeform 67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5" name="Freeform 68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6" name="Freeform 69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7" name="Freeform 70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8" name="Freeform 71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99" name="Freeform 72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000" name="Freeform 73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9975" name="Group 74"/>
            <p:cNvGrpSpPr>
              <a:grpSpLocks/>
            </p:cNvGrpSpPr>
            <p:nvPr/>
          </p:nvGrpSpPr>
          <p:grpSpPr bwMode="auto">
            <a:xfrm>
              <a:off x="2675" y="2807"/>
              <a:ext cx="481" cy="83"/>
              <a:chOff x="2644" y="2807"/>
              <a:chExt cx="481" cy="83"/>
            </a:xfrm>
          </p:grpSpPr>
          <p:sp>
            <p:nvSpPr>
              <p:cNvPr id="39977" name="Freeform 75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78" name="Freeform 76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79" name="Freeform 77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80" name="Freeform 78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81" name="Freeform 79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82" name="Freeform 80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83" name="Freeform 81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84" name="Freeform 82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85" name="Freeform 83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86" name="Freeform 84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87" name="Freeform 85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88" name="Freeform 86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9976" name="Line 87"/>
            <p:cNvSpPr>
              <a:spLocks noChangeShapeType="1"/>
            </p:cNvSpPr>
            <p:nvPr/>
          </p:nvSpPr>
          <p:spPr bwMode="auto">
            <a:xfrm>
              <a:off x="884" y="2807"/>
              <a:ext cx="2722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0072" name="Rectangle 88"/>
          <p:cNvSpPr>
            <a:spLocks noChangeArrowheads="1"/>
          </p:cNvSpPr>
          <p:nvPr/>
        </p:nvSpPr>
        <p:spPr bwMode="auto">
          <a:xfrm>
            <a:off x="2835215" y="2083274"/>
            <a:ext cx="101600" cy="1657350"/>
          </a:xfrm>
          <a:prstGeom prst="rect">
            <a:avLst/>
          </a:prstGeom>
          <a:solidFill>
            <a:srgbClr val="996633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0" rIns="0" anchor="ctr">
            <a:spAutoFit/>
          </a:bodyPr>
          <a:lstStyle/>
          <a:p>
            <a:endParaRPr lang="zh-CN" altLang="en-US"/>
          </a:p>
        </p:txBody>
      </p:sp>
      <p:sp>
        <p:nvSpPr>
          <p:cNvPr id="1450073" name="Freeform 89"/>
          <p:cNvSpPr>
            <a:spLocks/>
          </p:cNvSpPr>
          <p:nvPr/>
        </p:nvSpPr>
        <p:spPr bwMode="auto">
          <a:xfrm>
            <a:off x="1041340" y="2300761"/>
            <a:ext cx="1804988" cy="1588"/>
          </a:xfrm>
          <a:custGeom>
            <a:avLst/>
            <a:gdLst>
              <a:gd name="T0" fmla="*/ 0 w 1137"/>
              <a:gd name="T1" fmla="*/ 0 h 1"/>
              <a:gd name="T2" fmla="*/ 1137 w 1137"/>
              <a:gd name="T3" fmla="*/ 0 h 1"/>
              <a:gd name="T4" fmla="*/ 0 60000 65536"/>
              <a:gd name="T5" fmla="*/ 0 60000 65536"/>
              <a:gd name="T6" fmla="*/ 0 w 1137"/>
              <a:gd name="T7" fmla="*/ 0 h 1"/>
              <a:gd name="T8" fmla="*/ 1137 w 113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37" h="1">
                <a:moveTo>
                  <a:pt x="0" y="0"/>
                </a:moveTo>
                <a:lnTo>
                  <a:pt x="1137" y="0"/>
                </a:lnTo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9" name="Group 90"/>
          <p:cNvGrpSpPr>
            <a:grpSpLocks/>
          </p:cNvGrpSpPr>
          <p:nvPr/>
        </p:nvGrpSpPr>
        <p:grpSpPr bwMode="auto">
          <a:xfrm>
            <a:off x="1601728" y="2137249"/>
            <a:ext cx="288925" cy="263525"/>
            <a:chOff x="996" y="1724"/>
            <a:chExt cx="182" cy="166"/>
          </a:xfrm>
        </p:grpSpPr>
        <p:sp>
          <p:nvSpPr>
            <p:cNvPr id="39966" name="Line 91"/>
            <p:cNvSpPr>
              <a:spLocks noChangeShapeType="1"/>
            </p:cNvSpPr>
            <p:nvPr/>
          </p:nvSpPr>
          <p:spPr bwMode="auto">
            <a:xfrm>
              <a:off x="1033" y="1869"/>
              <a:ext cx="9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67" name="Line 92"/>
            <p:cNvSpPr>
              <a:spLocks noChangeShapeType="1"/>
            </p:cNvSpPr>
            <p:nvPr/>
          </p:nvSpPr>
          <p:spPr bwMode="auto">
            <a:xfrm>
              <a:off x="1057" y="1890"/>
              <a:ext cx="45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68" name="AutoShape 93"/>
            <p:cNvSpPr>
              <a:spLocks noChangeArrowheads="1"/>
            </p:cNvSpPr>
            <p:nvPr/>
          </p:nvSpPr>
          <p:spPr bwMode="auto">
            <a:xfrm flipV="1">
              <a:off x="1005" y="1724"/>
              <a:ext cx="136" cy="91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9050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69" name="Line 94"/>
            <p:cNvSpPr>
              <a:spLocks noChangeShapeType="1"/>
            </p:cNvSpPr>
            <p:nvPr/>
          </p:nvSpPr>
          <p:spPr bwMode="auto">
            <a:xfrm>
              <a:off x="996" y="1845"/>
              <a:ext cx="18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0079" name="Freeform 95"/>
          <p:cNvSpPr>
            <a:spLocks/>
          </p:cNvSpPr>
          <p:nvPr/>
        </p:nvSpPr>
        <p:spPr bwMode="auto">
          <a:xfrm>
            <a:off x="2914590" y="3275486"/>
            <a:ext cx="1773238" cy="1588"/>
          </a:xfrm>
          <a:custGeom>
            <a:avLst/>
            <a:gdLst>
              <a:gd name="T0" fmla="*/ 0 w 1117"/>
              <a:gd name="T1" fmla="*/ 0 h 1"/>
              <a:gd name="T2" fmla="*/ 1117 w 1117"/>
              <a:gd name="T3" fmla="*/ 1 h 1"/>
              <a:gd name="T4" fmla="*/ 0 60000 65536"/>
              <a:gd name="T5" fmla="*/ 0 60000 65536"/>
              <a:gd name="T6" fmla="*/ 0 w 1117"/>
              <a:gd name="T7" fmla="*/ 0 h 1"/>
              <a:gd name="T8" fmla="*/ 1117 w 11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7" h="1">
                <a:moveTo>
                  <a:pt x="0" y="0"/>
                </a:moveTo>
                <a:lnTo>
                  <a:pt x="1117" y="1"/>
                </a:lnTo>
              </a:path>
            </a:pathLst>
          </a:cu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80" name="Line 96"/>
          <p:cNvSpPr>
            <a:spLocks noChangeShapeType="1"/>
          </p:cNvSpPr>
          <p:nvPr/>
        </p:nvSpPr>
        <p:spPr bwMode="auto">
          <a:xfrm>
            <a:off x="4079815" y="3354861"/>
            <a:ext cx="142875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81" name="Line 97"/>
          <p:cNvSpPr>
            <a:spLocks noChangeShapeType="1"/>
          </p:cNvSpPr>
          <p:nvPr/>
        </p:nvSpPr>
        <p:spPr bwMode="auto">
          <a:xfrm>
            <a:off x="4117915" y="3388199"/>
            <a:ext cx="7143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82" name="AutoShape 98"/>
          <p:cNvSpPr>
            <a:spLocks noChangeArrowheads="1"/>
          </p:cNvSpPr>
          <p:nvPr/>
        </p:nvSpPr>
        <p:spPr bwMode="auto">
          <a:xfrm flipV="1">
            <a:off x="4035365" y="3116736"/>
            <a:ext cx="215900" cy="144463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50" algn="ctr">
            <a:solidFill>
              <a:schemeClr val="tx2"/>
            </a:solidFill>
            <a:miter lim="800000"/>
            <a:headEnd/>
            <a:tailEnd/>
          </a:ln>
        </p:spPr>
        <p:txBody>
          <a:bodyPr wrap="none" lIns="0" rIns="0" anchor="ctr">
            <a:spAutoFit/>
          </a:bodyPr>
          <a:lstStyle/>
          <a:p>
            <a:endParaRPr lang="zh-CN" altLang="en-US"/>
          </a:p>
        </p:txBody>
      </p:sp>
      <p:sp>
        <p:nvSpPr>
          <p:cNvPr id="1450083" name="Line 99"/>
          <p:cNvSpPr>
            <a:spLocks noChangeShapeType="1"/>
          </p:cNvSpPr>
          <p:nvPr/>
        </p:nvSpPr>
        <p:spPr bwMode="auto">
          <a:xfrm>
            <a:off x="4021078" y="3316761"/>
            <a:ext cx="288925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84" name="Freeform 100"/>
          <p:cNvSpPr>
            <a:spLocks/>
          </p:cNvSpPr>
          <p:nvPr/>
        </p:nvSpPr>
        <p:spPr bwMode="auto">
          <a:xfrm>
            <a:off x="1069915" y="2503961"/>
            <a:ext cx="1792288" cy="1588"/>
          </a:xfrm>
          <a:custGeom>
            <a:avLst/>
            <a:gdLst>
              <a:gd name="T0" fmla="*/ 0 w 1129"/>
              <a:gd name="T1" fmla="*/ 0 h 1"/>
              <a:gd name="T2" fmla="*/ 1129 w 1129"/>
              <a:gd name="T3" fmla="*/ 0 h 1"/>
              <a:gd name="T4" fmla="*/ 0 60000 65536"/>
              <a:gd name="T5" fmla="*/ 0 60000 65536"/>
              <a:gd name="T6" fmla="*/ 0 w 1129"/>
              <a:gd name="T7" fmla="*/ 0 h 1"/>
              <a:gd name="T8" fmla="*/ 1129 w 112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9" h="1">
                <a:moveTo>
                  <a:pt x="0" y="0"/>
                </a:moveTo>
                <a:lnTo>
                  <a:pt x="1129" y="0"/>
                </a:lnTo>
              </a:path>
            </a:pathLst>
          </a:cu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85" name="Freeform 101"/>
          <p:cNvSpPr>
            <a:spLocks/>
          </p:cNvSpPr>
          <p:nvPr/>
        </p:nvSpPr>
        <p:spPr bwMode="auto">
          <a:xfrm>
            <a:off x="2274828" y="2526186"/>
            <a:ext cx="103187" cy="889000"/>
          </a:xfrm>
          <a:custGeom>
            <a:avLst/>
            <a:gdLst>
              <a:gd name="T0" fmla="*/ 0 w 65"/>
              <a:gd name="T1" fmla="*/ 0 h 560"/>
              <a:gd name="T2" fmla="*/ 3 w 65"/>
              <a:gd name="T3" fmla="*/ 102 h 560"/>
              <a:gd name="T4" fmla="*/ 13 w 65"/>
              <a:gd name="T5" fmla="*/ 266 h 560"/>
              <a:gd name="T6" fmla="*/ 32 w 65"/>
              <a:gd name="T7" fmla="*/ 419 h 560"/>
              <a:gd name="T8" fmla="*/ 65 w 65"/>
              <a:gd name="T9" fmla="*/ 560 h 5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"/>
              <a:gd name="T16" fmla="*/ 0 h 560"/>
              <a:gd name="T17" fmla="*/ 65 w 65"/>
              <a:gd name="T18" fmla="*/ 560 h 5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" h="560">
                <a:moveTo>
                  <a:pt x="0" y="0"/>
                </a:moveTo>
                <a:cubicBezTo>
                  <a:pt x="1" y="17"/>
                  <a:pt x="1" y="58"/>
                  <a:pt x="3" y="102"/>
                </a:cubicBezTo>
                <a:cubicBezTo>
                  <a:pt x="5" y="146"/>
                  <a:pt x="8" y="213"/>
                  <a:pt x="13" y="266"/>
                </a:cubicBezTo>
                <a:cubicBezTo>
                  <a:pt x="18" y="319"/>
                  <a:pt x="23" y="370"/>
                  <a:pt x="32" y="419"/>
                </a:cubicBezTo>
                <a:cubicBezTo>
                  <a:pt x="41" y="468"/>
                  <a:pt x="58" y="531"/>
                  <a:pt x="65" y="560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86" name="Freeform 102"/>
          <p:cNvSpPr>
            <a:spLocks/>
          </p:cNvSpPr>
          <p:nvPr/>
        </p:nvSpPr>
        <p:spPr bwMode="auto">
          <a:xfrm>
            <a:off x="2382778" y="3448524"/>
            <a:ext cx="519112" cy="466725"/>
          </a:xfrm>
          <a:custGeom>
            <a:avLst/>
            <a:gdLst>
              <a:gd name="T0" fmla="*/ 0 w 327"/>
              <a:gd name="T1" fmla="*/ 0 h 294"/>
              <a:gd name="T2" fmla="*/ 36 w 327"/>
              <a:gd name="T3" fmla="*/ 84 h 294"/>
              <a:gd name="T4" fmla="*/ 111 w 327"/>
              <a:gd name="T5" fmla="*/ 189 h 294"/>
              <a:gd name="T6" fmla="*/ 213 w 327"/>
              <a:gd name="T7" fmla="*/ 267 h 294"/>
              <a:gd name="T8" fmla="*/ 327 w 327"/>
              <a:gd name="T9" fmla="*/ 294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7"/>
              <a:gd name="T16" fmla="*/ 0 h 294"/>
              <a:gd name="T17" fmla="*/ 327 w 327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7" h="294">
                <a:moveTo>
                  <a:pt x="0" y="0"/>
                </a:moveTo>
                <a:cubicBezTo>
                  <a:pt x="6" y="14"/>
                  <a:pt x="17" y="52"/>
                  <a:pt x="36" y="84"/>
                </a:cubicBezTo>
                <a:cubicBezTo>
                  <a:pt x="55" y="116"/>
                  <a:pt x="82" y="159"/>
                  <a:pt x="111" y="189"/>
                </a:cubicBezTo>
                <a:cubicBezTo>
                  <a:pt x="140" y="219"/>
                  <a:pt x="177" y="249"/>
                  <a:pt x="213" y="267"/>
                </a:cubicBezTo>
                <a:cubicBezTo>
                  <a:pt x="249" y="285"/>
                  <a:pt x="303" y="289"/>
                  <a:pt x="327" y="294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87" name="Freeform 103"/>
          <p:cNvSpPr>
            <a:spLocks/>
          </p:cNvSpPr>
          <p:nvPr/>
        </p:nvSpPr>
        <p:spPr bwMode="auto">
          <a:xfrm>
            <a:off x="2930465" y="3291361"/>
            <a:ext cx="500063" cy="623888"/>
          </a:xfrm>
          <a:custGeom>
            <a:avLst/>
            <a:gdLst>
              <a:gd name="T0" fmla="*/ 0 w 315"/>
              <a:gd name="T1" fmla="*/ 393 h 393"/>
              <a:gd name="T2" fmla="*/ 118 w 315"/>
              <a:gd name="T3" fmla="*/ 360 h 393"/>
              <a:gd name="T4" fmla="*/ 234 w 315"/>
              <a:gd name="T5" fmla="*/ 282 h 393"/>
              <a:gd name="T6" fmla="*/ 285 w 315"/>
              <a:gd name="T7" fmla="*/ 192 h 393"/>
              <a:gd name="T8" fmla="*/ 303 w 315"/>
              <a:gd name="T9" fmla="*/ 111 h 393"/>
              <a:gd name="T10" fmla="*/ 315 w 315"/>
              <a:gd name="T11" fmla="*/ 0 h 39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5"/>
              <a:gd name="T19" fmla="*/ 0 h 393"/>
              <a:gd name="T20" fmla="*/ 315 w 315"/>
              <a:gd name="T21" fmla="*/ 393 h 39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5" h="393">
                <a:moveTo>
                  <a:pt x="0" y="393"/>
                </a:moveTo>
                <a:cubicBezTo>
                  <a:pt x="20" y="388"/>
                  <a:pt x="79" y="378"/>
                  <a:pt x="118" y="360"/>
                </a:cubicBezTo>
                <a:cubicBezTo>
                  <a:pt x="157" y="342"/>
                  <a:pt x="206" y="310"/>
                  <a:pt x="234" y="282"/>
                </a:cubicBezTo>
                <a:cubicBezTo>
                  <a:pt x="262" y="254"/>
                  <a:pt x="274" y="220"/>
                  <a:pt x="285" y="192"/>
                </a:cubicBezTo>
                <a:cubicBezTo>
                  <a:pt x="296" y="164"/>
                  <a:pt x="298" y="143"/>
                  <a:pt x="303" y="111"/>
                </a:cubicBezTo>
                <a:cubicBezTo>
                  <a:pt x="308" y="79"/>
                  <a:pt x="312" y="23"/>
                  <a:pt x="315" y="0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88" name="Freeform 104"/>
          <p:cNvSpPr>
            <a:spLocks/>
          </p:cNvSpPr>
          <p:nvPr/>
        </p:nvSpPr>
        <p:spPr bwMode="auto">
          <a:xfrm>
            <a:off x="1711265" y="2516661"/>
            <a:ext cx="144463" cy="935038"/>
          </a:xfrm>
          <a:custGeom>
            <a:avLst/>
            <a:gdLst>
              <a:gd name="T0" fmla="*/ 1 w 91"/>
              <a:gd name="T1" fmla="*/ 0 h 589"/>
              <a:gd name="T2" fmla="*/ 0 w 91"/>
              <a:gd name="T3" fmla="*/ 89 h 589"/>
              <a:gd name="T4" fmla="*/ 3 w 91"/>
              <a:gd name="T5" fmla="*/ 155 h 589"/>
              <a:gd name="T6" fmla="*/ 9 w 91"/>
              <a:gd name="T7" fmla="*/ 236 h 589"/>
              <a:gd name="T8" fmla="*/ 27 w 91"/>
              <a:gd name="T9" fmla="*/ 359 h 589"/>
              <a:gd name="T10" fmla="*/ 45 w 91"/>
              <a:gd name="T11" fmla="*/ 446 h 589"/>
              <a:gd name="T12" fmla="*/ 91 w 91"/>
              <a:gd name="T13" fmla="*/ 589 h 5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1"/>
              <a:gd name="T22" fmla="*/ 0 h 589"/>
              <a:gd name="T23" fmla="*/ 91 w 91"/>
              <a:gd name="T24" fmla="*/ 589 h 5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1" h="589">
                <a:moveTo>
                  <a:pt x="1" y="0"/>
                </a:moveTo>
                <a:cubicBezTo>
                  <a:pt x="1" y="15"/>
                  <a:pt x="0" y="63"/>
                  <a:pt x="0" y="89"/>
                </a:cubicBezTo>
                <a:cubicBezTo>
                  <a:pt x="0" y="115"/>
                  <a:pt x="2" y="131"/>
                  <a:pt x="3" y="155"/>
                </a:cubicBezTo>
                <a:cubicBezTo>
                  <a:pt x="4" y="179"/>
                  <a:pt x="5" y="202"/>
                  <a:pt x="9" y="236"/>
                </a:cubicBezTo>
                <a:cubicBezTo>
                  <a:pt x="13" y="270"/>
                  <a:pt x="21" y="324"/>
                  <a:pt x="27" y="359"/>
                </a:cubicBezTo>
                <a:cubicBezTo>
                  <a:pt x="33" y="394"/>
                  <a:pt x="34" y="408"/>
                  <a:pt x="45" y="446"/>
                </a:cubicBezTo>
                <a:cubicBezTo>
                  <a:pt x="56" y="484"/>
                  <a:pt x="82" y="560"/>
                  <a:pt x="91" y="589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89" name="Freeform 105"/>
          <p:cNvSpPr>
            <a:spLocks/>
          </p:cNvSpPr>
          <p:nvPr/>
        </p:nvSpPr>
        <p:spPr bwMode="auto">
          <a:xfrm>
            <a:off x="1855728" y="3451699"/>
            <a:ext cx="593725" cy="630237"/>
          </a:xfrm>
          <a:custGeom>
            <a:avLst/>
            <a:gdLst>
              <a:gd name="T0" fmla="*/ 0 w 374"/>
              <a:gd name="T1" fmla="*/ 0 h 397"/>
              <a:gd name="T2" fmla="*/ 46 w 374"/>
              <a:gd name="T3" fmla="*/ 91 h 397"/>
              <a:gd name="T4" fmla="*/ 110 w 374"/>
              <a:gd name="T5" fmla="*/ 182 h 397"/>
              <a:gd name="T6" fmla="*/ 185 w 374"/>
              <a:gd name="T7" fmla="*/ 265 h 397"/>
              <a:gd name="T8" fmla="*/ 272 w 374"/>
              <a:gd name="T9" fmla="*/ 337 h 397"/>
              <a:gd name="T10" fmla="*/ 374 w 374"/>
              <a:gd name="T11" fmla="*/ 397 h 3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4"/>
              <a:gd name="T19" fmla="*/ 0 h 397"/>
              <a:gd name="T20" fmla="*/ 374 w 374"/>
              <a:gd name="T21" fmla="*/ 397 h 3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4" h="397">
                <a:moveTo>
                  <a:pt x="0" y="0"/>
                </a:moveTo>
                <a:cubicBezTo>
                  <a:pt x="15" y="30"/>
                  <a:pt x="28" y="61"/>
                  <a:pt x="46" y="91"/>
                </a:cubicBezTo>
                <a:cubicBezTo>
                  <a:pt x="64" y="121"/>
                  <a:pt x="87" y="153"/>
                  <a:pt x="110" y="182"/>
                </a:cubicBezTo>
                <a:cubicBezTo>
                  <a:pt x="133" y="211"/>
                  <a:pt x="158" y="239"/>
                  <a:pt x="185" y="265"/>
                </a:cubicBezTo>
                <a:cubicBezTo>
                  <a:pt x="212" y="291"/>
                  <a:pt x="241" y="315"/>
                  <a:pt x="272" y="337"/>
                </a:cubicBezTo>
                <a:cubicBezTo>
                  <a:pt x="303" y="359"/>
                  <a:pt x="353" y="385"/>
                  <a:pt x="374" y="397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90" name="Freeform 106"/>
          <p:cNvSpPr>
            <a:spLocks/>
          </p:cNvSpPr>
          <p:nvPr/>
        </p:nvSpPr>
        <p:spPr bwMode="auto">
          <a:xfrm>
            <a:off x="2497078" y="4043836"/>
            <a:ext cx="871537" cy="130175"/>
          </a:xfrm>
          <a:custGeom>
            <a:avLst/>
            <a:gdLst>
              <a:gd name="T0" fmla="*/ 0 w 549"/>
              <a:gd name="T1" fmla="*/ 36 h 82"/>
              <a:gd name="T2" fmla="*/ 138 w 549"/>
              <a:gd name="T3" fmla="*/ 72 h 82"/>
              <a:gd name="T4" fmla="*/ 277 w 549"/>
              <a:gd name="T5" fmla="*/ 81 h 82"/>
              <a:gd name="T6" fmla="*/ 391 w 549"/>
              <a:gd name="T7" fmla="*/ 68 h 82"/>
              <a:gd name="T8" fmla="*/ 504 w 549"/>
              <a:gd name="T9" fmla="*/ 33 h 82"/>
              <a:gd name="T10" fmla="*/ 549 w 549"/>
              <a:gd name="T11" fmla="*/ 0 h 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49"/>
              <a:gd name="T19" fmla="*/ 0 h 82"/>
              <a:gd name="T20" fmla="*/ 549 w 549"/>
              <a:gd name="T21" fmla="*/ 82 h 8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49" h="82">
                <a:moveTo>
                  <a:pt x="0" y="36"/>
                </a:moveTo>
                <a:cubicBezTo>
                  <a:pt x="22" y="42"/>
                  <a:pt x="92" y="65"/>
                  <a:pt x="138" y="72"/>
                </a:cubicBezTo>
                <a:cubicBezTo>
                  <a:pt x="184" y="79"/>
                  <a:pt x="235" y="82"/>
                  <a:pt x="277" y="81"/>
                </a:cubicBezTo>
                <a:cubicBezTo>
                  <a:pt x="319" y="80"/>
                  <a:pt x="353" y="76"/>
                  <a:pt x="391" y="68"/>
                </a:cubicBezTo>
                <a:cubicBezTo>
                  <a:pt x="429" y="60"/>
                  <a:pt x="478" y="44"/>
                  <a:pt x="504" y="33"/>
                </a:cubicBezTo>
                <a:cubicBezTo>
                  <a:pt x="530" y="22"/>
                  <a:pt x="540" y="7"/>
                  <a:pt x="549" y="0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91" name="Freeform 107"/>
          <p:cNvSpPr>
            <a:spLocks/>
          </p:cNvSpPr>
          <p:nvPr/>
        </p:nvSpPr>
        <p:spPr bwMode="auto">
          <a:xfrm>
            <a:off x="3430528" y="3281836"/>
            <a:ext cx="428625" cy="742950"/>
          </a:xfrm>
          <a:custGeom>
            <a:avLst/>
            <a:gdLst>
              <a:gd name="T0" fmla="*/ 0 w 270"/>
              <a:gd name="T1" fmla="*/ 468 h 468"/>
              <a:gd name="T2" fmla="*/ 87 w 270"/>
              <a:gd name="T3" fmla="*/ 405 h 468"/>
              <a:gd name="T4" fmla="*/ 181 w 270"/>
              <a:gd name="T5" fmla="*/ 302 h 468"/>
              <a:gd name="T6" fmla="*/ 233 w 270"/>
              <a:gd name="T7" fmla="*/ 198 h 468"/>
              <a:gd name="T8" fmla="*/ 261 w 270"/>
              <a:gd name="T9" fmla="*/ 102 h 468"/>
              <a:gd name="T10" fmla="*/ 270 w 270"/>
              <a:gd name="T11" fmla="*/ 0 h 4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0"/>
              <a:gd name="T19" fmla="*/ 0 h 468"/>
              <a:gd name="T20" fmla="*/ 270 w 270"/>
              <a:gd name="T21" fmla="*/ 468 h 4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0" h="468">
                <a:moveTo>
                  <a:pt x="0" y="468"/>
                </a:moveTo>
                <a:cubicBezTo>
                  <a:pt x="14" y="458"/>
                  <a:pt x="57" y="433"/>
                  <a:pt x="87" y="405"/>
                </a:cubicBezTo>
                <a:cubicBezTo>
                  <a:pt x="117" y="377"/>
                  <a:pt x="157" y="336"/>
                  <a:pt x="181" y="302"/>
                </a:cubicBezTo>
                <a:cubicBezTo>
                  <a:pt x="205" y="268"/>
                  <a:pt x="220" y="231"/>
                  <a:pt x="233" y="198"/>
                </a:cubicBezTo>
                <a:cubicBezTo>
                  <a:pt x="246" y="165"/>
                  <a:pt x="255" y="135"/>
                  <a:pt x="261" y="102"/>
                </a:cubicBezTo>
                <a:cubicBezTo>
                  <a:pt x="267" y="69"/>
                  <a:pt x="268" y="21"/>
                  <a:pt x="270" y="0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0092" name="Text Box 108"/>
          <p:cNvSpPr txBox="1">
            <a:spLocks noChangeArrowheads="1"/>
          </p:cNvSpPr>
          <p:nvPr/>
        </p:nvSpPr>
        <p:spPr bwMode="auto">
          <a:xfrm>
            <a:off x="4160778" y="3643786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Arial" charset="0"/>
                <a:ea typeface="幼圆" pitchFamily="49" charset="-122"/>
              </a:rPr>
              <a:t>透水层</a:t>
            </a:r>
          </a:p>
        </p:txBody>
      </p:sp>
      <p:sp>
        <p:nvSpPr>
          <p:cNvPr id="1450093" name="Text Box 109"/>
          <p:cNvSpPr txBox="1">
            <a:spLocks noChangeArrowheads="1"/>
          </p:cNvSpPr>
          <p:nvPr/>
        </p:nvSpPr>
        <p:spPr bwMode="auto">
          <a:xfrm>
            <a:off x="2431990" y="4604224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Arial" charset="0"/>
                <a:ea typeface="幼圆" pitchFamily="49" charset="-122"/>
              </a:rPr>
              <a:t>不透水层</a:t>
            </a:r>
          </a:p>
        </p:txBody>
      </p:sp>
      <p:sp>
        <p:nvSpPr>
          <p:cNvPr id="1450094" name="Text Box 110"/>
          <p:cNvSpPr txBox="1">
            <a:spLocks noChangeArrowheads="1"/>
          </p:cNvSpPr>
          <p:nvPr/>
        </p:nvSpPr>
        <p:spPr bwMode="auto">
          <a:xfrm>
            <a:off x="3192403" y="2492849"/>
            <a:ext cx="846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latin typeface="Arial" charset="0"/>
                <a:ea typeface="幼圆" pitchFamily="49" charset="-122"/>
              </a:rPr>
              <a:t>基坑</a:t>
            </a:r>
          </a:p>
        </p:txBody>
      </p:sp>
      <p:sp>
        <p:nvSpPr>
          <p:cNvPr id="1450095" name="AutoShape 111"/>
          <p:cNvSpPr>
            <a:spLocks noChangeArrowheads="1"/>
          </p:cNvSpPr>
          <p:nvPr/>
        </p:nvSpPr>
        <p:spPr bwMode="auto">
          <a:xfrm>
            <a:off x="3117790" y="1197449"/>
            <a:ext cx="1152525" cy="510778"/>
          </a:xfrm>
          <a:prstGeom prst="wedgeRoundRectCallout">
            <a:avLst>
              <a:gd name="adj1" fmla="val -63634"/>
              <a:gd name="adj2" fmla="val 137144"/>
              <a:gd name="adj3" fmla="val 16667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Arial" charset="0"/>
                <a:ea typeface="幼圆" pitchFamily="49" charset="-122"/>
              </a:rPr>
              <a:t>地连</a:t>
            </a:r>
            <a:r>
              <a:rPr lang="zh-CN" altLang="en-US" sz="2400" b="1" dirty="0" smtClean="0">
                <a:latin typeface="Arial" charset="0"/>
                <a:ea typeface="幼圆" pitchFamily="49" charset="-122"/>
              </a:rPr>
              <a:t>墙</a:t>
            </a:r>
            <a:endParaRPr lang="zh-CN" altLang="en-US" sz="2400" b="1" dirty="0">
              <a:latin typeface="Arial" charset="0"/>
              <a:ea typeface="幼圆" pitchFamily="49" charset="-122"/>
            </a:endParaRPr>
          </a:p>
        </p:txBody>
      </p:sp>
      <p:sp>
        <p:nvSpPr>
          <p:cNvPr id="1450096" name="Freeform 112"/>
          <p:cNvSpPr>
            <a:spLocks/>
          </p:cNvSpPr>
          <p:nvPr/>
        </p:nvSpPr>
        <p:spPr bwMode="auto">
          <a:xfrm>
            <a:off x="2820928" y="2503961"/>
            <a:ext cx="1792287" cy="1588"/>
          </a:xfrm>
          <a:custGeom>
            <a:avLst/>
            <a:gdLst>
              <a:gd name="T0" fmla="*/ 0 w 1129"/>
              <a:gd name="T1" fmla="*/ 0 h 1"/>
              <a:gd name="T2" fmla="*/ 1129 w 1129"/>
              <a:gd name="T3" fmla="*/ 0 h 1"/>
              <a:gd name="T4" fmla="*/ 0 60000 65536"/>
              <a:gd name="T5" fmla="*/ 0 60000 65536"/>
              <a:gd name="T6" fmla="*/ 0 w 1129"/>
              <a:gd name="T7" fmla="*/ 0 h 1"/>
              <a:gd name="T8" fmla="*/ 1129 w 112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9" h="1">
                <a:moveTo>
                  <a:pt x="0" y="0"/>
                </a:moveTo>
                <a:lnTo>
                  <a:pt x="1129" y="0"/>
                </a:lnTo>
              </a:path>
            </a:pathLst>
          </a:cu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1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2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327491698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50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50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50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50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500"/>
                                        <p:tgtEl>
                                          <p:spTgt spid="14500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500"/>
                                        <p:tgtEl>
                                          <p:spTgt spid="14500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500"/>
                                        <p:tgtEl>
                                          <p:spTgt spid="14500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500"/>
                                        <p:tgtEl>
                                          <p:spTgt spid="14500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500"/>
                                        <p:tgtEl>
                                          <p:spTgt spid="14500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500"/>
                                        <p:tgtEl>
                                          <p:spTgt spid="14500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50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50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50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2" presetClass="exit" presetSubtype="0" fill="hold" grpId="1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4500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1450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450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5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1" dur="500"/>
                                        <p:tgtEl>
                                          <p:spTgt spid="14500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2" dur="500"/>
                                        <p:tgtEl>
                                          <p:spTgt spid="14500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500"/>
                                        <p:tgtEl>
                                          <p:spTgt spid="14500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50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50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50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500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50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50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450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50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50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4500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50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50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144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2000"/>
                                        <p:tgtEl>
                                          <p:spTgt spid="144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9990" grpId="0"/>
      <p:bldP spid="1449991" grpId="0" animBg="1"/>
      <p:bldP spid="1450072" grpId="0" animBg="1"/>
      <p:bldP spid="1450073" grpId="0" animBg="1"/>
      <p:bldP spid="1450079" grpId="0" animBg="1"/>
      <p:bldP spid="1450080" grpId="0" animBg="1"/>
      <p:bldP spid="1450081" grpId="0" animBg="1"/>
      <p:bldP spid="1450082" grpId="0" animBg="1"/>
      <p:bldP spid="1450083" grpId="0" animBg="1"/>
      <p:bldP spid="1450084" grpId="0" animBg="1"/>
      <p:bldP spid="1450085" grpId="0" animBg="1"/>
      <p:bldP spid="1450086" grpId="0" animBg="1"/>
      <p:bldP spid="1450087" grpId="0" animBg="1"/>
      <p:bldP spid="1450088" grpId="0" animBg="1"/>
      <p:bldP spid="1450089" grpId="0" animBg="1"/>
      <p:bldP spid="1450090" grpId="0" animBg="1"/>
      <p:bldP spid="1450091" grpId="0" animBg="1"/>
      <p:bldP spid="1450092" grpId="0"/>
      <p:bldP spid="1450093" grpId="0"/>
      <p:bldP spid="1450094" grpId="0"/>
      <p:bldP spid="1450095" grpId="0" animBg="1"/>
      <p:bldP spid="1450096" grpId="0" animBg="1"/>
      <p:bldP spid="145009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 descr="Pict01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67" y="795131"/>
            <a:ext cx="4812104" cy="321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740331" y="4425487"/>
            <a:ext cx="3272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基坑失事事故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1026" name="Picture 2" descr="http://iinfo.zhulong.com/static/tech/new_miniature/4460/201477915181920_2.jpg?f=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090" y="803081"/>
            <a:ext cx="3773077" cy="216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0.sinaimg.cn/dy/468/2008/0715/U1565P1T468D1821F10665DT2008071510482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544" y="3051354"/>
            <a:ext cx="3768918" cy="237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331208917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375274" y="2618990"/>
            <a:ext cx="5169267" cy="1659662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451012" name="Text Box 4"/>
          <p:cNvSpPr txBox="1">
            <a:spLocks noChangeArrowheads="1"/>
          </p:cNvSpPr>
          <p:nvPr/>
        </p:nvSpPr>
        <p:spPr bwMode="auto">
          <a:xfrm>
            <a:off x="6629167" y="1932935"/>
            <a:ext cx="2112962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渗流问题：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渗流量</a:t>
            </a:r>
            <a:r>
              <a:rPr lang="en-US" altLang="zh-CN" sz="2400" b="1" i="1" dirty="0">
                <a:solidFill>
                  <a:srgbClr val="C00000"/>
                </a:solidFill>
                <a:ea typeface="幼圆" pitchFamily="49" charset="-122"/>
              </a:rPr>
              <a:t>Q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？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2. 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降水深度？</a:t>
            </a:r>
          </a:p>
        </p:txBody>
      </p:sp>
      <p:sp>
        <p:nvSpPr>
          <p:cNvPr id="1451013" name="AutoShape 5"/>
          <p:cNvSpPr>
            <a:spLocks noChangeArrowheads="1"/>
          </p:cNvSpPr>
          <p:nvPr/>
        </p:nvSpPr>
        <p:spPr bwMode="auto">
          <a:xfrm>
            <a:off x="5703948" y="2044707"/>
            <a:ext cx="617537" cy="488950"/>
          </a:xfrm>
          <a:prstGeom prst="homePlate">
            <a:avLst>
              <a:gd name="adj" fmla="val 3157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71559" y="4269735"/>
            <a:ext cx="5178267" cy="152400"/>
            <a:chOff x="884" y="2807"/>
            <a:chExt cx="2722" cy="83"/>
          </a:xfrm>
        </p:grpSpPr>
        <p:grpSp>
          <p:nvGrpSpPr>
            <p:cNvPr id="41001" name="Group 7"/>
            <p:cNvGrpSpPr>
              <a:grpSpLocks/>
            </p:cNvGrpSpPr>
            <p:nvPr/>
          </p:nvGrpSpPr>
          <p:grpSpPr bwMode="auto">
            <a:xfrm>
              <a:off x="2227" y="2807"/>
              <a:ext cx="481" cy="83"/>
              <a:chOff x="2644" y="2807"/>
              <a:chExt cx="481" cy="83"/>
            </a:xfrm>
          </p:grpSpPr>
          <p:sp>
            <p:nvSpPr>
              <p:cNvPr id="41068" name="Freeform 8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69" name="Freeform 9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0" name="Freeform 10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1" name="Freeform 11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2" name="Freeform 12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3" name="Freeform 13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4" name="Freeform 14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5" name="Freeform 15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6" name="Freeform 16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7" name="Freeform 17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8" name="Freeform 18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79" name="Freeform 19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002" name="Group 20"/>
            <p:cNvGrpSpPr>
              <a:grpSpLocks/>
            </p:cNvGrpSpPr>
            <p:nvPr/>
          </p:nvGrpSpPr>
          <p:grpSpPr bwMode="auto">
            <a:xfrm>
              <a:off x="1779" y="2807"/>
              <a:ext cx="481" cy="83"/>
              <a:chOff x="2644" y="2807"/>
              <a:chExt cx="481" cy="83"/>
            </a:xfrm>
          </p:grpSpPr>
          <p:sp>
            <p:nvSpPr>
              <p:cNvPr id="41056" name="Freeform 21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57" name="Freeform 22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58" name="Freeform 23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59" name="Freeform 24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60" name="Freeform 25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61" name="Freeform 26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62" name="Freeform 27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63" name="Freeform 28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64" name="Freeform 29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65" name="Freeform 30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66" name="Freeform 31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67" name="Freeform 32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003" name="Group 33"/>
            <p:cNvGrpSpPr>
              <a:grpSpLocks/>
            </p:cNvGrpSpPr>
            <p:nvPr/>
          </p:nvGrpSpPr>
          <p:grpSpPr bwMode="auto">
            <a:xfrm>
              <a:off x="1332" y="2807"/>
              <a:ext cx="481" cy="83"/>
              <a:chOff x="2644" y="2807"/>
              <a:chExt cx="481" cy="83"/>
            </a:xfrm>
          </p:grpSpPr>
          <p:sp>
            <p:nvSpPr>
              <p:cNvPr id="41044" name="Freeform 34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45" name="Freeform 35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46" name="Freeform 36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47" name="Freeform 37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48" name="Freeform 38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49" name="Freeform 39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50" name="Freeform 40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51" name="Freeform 41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52" name="Freeform 42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53" name="Freeform 43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54" name="Freeform 44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55" name="Freeform 45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004" name="Group 46"/>
            <p:cNvGrpSpPr>
              <a:grpSpLocks/>
            </p:cNvGrpSpPr>
            <p:nvPr/>
          </p:nvGrpSpPr>
          <p:grpSpPr bwMode="auto">
            <a:xfrm>
              <a:off x="884" y="2807"/>
              <a:ext cx="481" cy="83"/>
              <a:chOff x="2644" y="2807"/>
              <a:chExt cx="481" cy="83"/>
            </a:xfrm>
          </p:grpSpPr>
          <p:sp>
            <p:nvSpPr>
              <p:cNvPr id="41032" name="Freeform 47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33" name="Freeform 48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34" name="Freeform 49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35" name="Freeform 50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36" name="Freeform 51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37" name="Freeform 52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38" name="Freeform 53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39" name="Freeform 54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40" name="Freeform 55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41" name="Freeform 56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42" name="Freeform 57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43" name="Freeform 58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005" name="Group 59"/>
            <p:cNvGrpSpPr>
              <a:grpSpLocks/>
            </p:cNvGrpSpPr>
            <p:nvPr/>
          </p:nvGrpSpPr>
          <p:grpSpPr bwMode="auto">
            <a:xfrm>
              <a:off x="3123" y="2807"/>
              <a:ext cx="481" cy="83"/>
              <a:chOff x="2644" y="2807"/>
              <a:chExt cx="481" cy="83"/>
            </a:xfrm>
          </p:grpSpPr>
          <p:sp>
            <p:nvSpPr>
              <p:cNvPr id="41020" name="Freeform 60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1" name="Freeform 61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2" name="Freeform 62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3" name="Freeform 63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4" name="Freeform 64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5" name="Freeform 65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6" name="Freeform 66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7" name="Freeform 67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8" name="Freeform 68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9" name="Freeform 69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30" name="Freeform 70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31" name="Freeform 71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006" name="Group 72"/>
            <p:cNvGrpSpPr>
              <a:grpSpLocks/>
            </p:cNvGrpSpPr>
            <p:nvPr/>
          </p:nvGrpSpPr>
          <p:grpSpPr bwMode="auto">
            <a:xfrm>
              <a:off x="2675" y="2807"/>
              <a:ext cx="481" cy="83"/>
              <a:chOff x="2644" y="2807"/>
              <a:chExt cx="481" cy="83"/>
            </a:xfrm>
          </p:grpSpPr>
          <p:sp>
            <p:nvSpPr>
              <p:cNvPr id="41008" name="Freeform 73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09" name="Freeform 74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0" name="Freeform 75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1" name="Freeform 76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2" name="Freeform 77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3" name="Freeform 78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4" name="Freeform 79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5" name="Freeform 80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6" name="Freeform 81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7" name="Freeform 82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8" name="Freeform 83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9" name="Freeform 84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1007" name="Line 85"/>
            <p:cNvSpPr>
              <a:spLocks noChangeShapeType="1"/>
            </p:cNvSpPr>
            <p:nvPr/>
          </p:nvSpPr>
          <p:spPr bwMode="auto">
            <a:xfrm>
              <a:off x="884" y="2807"/>
              <a:ext cx="2722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1094" name="Freeform 86"/>
          <p:cNvSpPr>
            <a:spLocks/>
          </p:cNvSpPr>
          <p:nvPr/>
        </p:nvSpPr>
        <p:spPr bwMode="auto">
          <a:xfrm>
            <a:off x="342487" y="1939285"/>
            <a:ext cx="5073650" cy="42862"/>
          </a:xfrm>
          <a:custGeom>
            <a:avLst/>
            <a:gdLst>
              <a:gd name="T0" fmla="*/ 0 w 2910"/>
              <a:gd name="T1" fmla="*/ 0 h 1"/>
              <a:gd name="T2" fmla="*/ 2910 w 2910"/>
              <a:gd name="T3" fmla="*/ 0 h 1"/>
              <a:gd name="T4" fmla="*/ 0 60000 65536"/>
              <a:gd name="T5" fmla="*/ 0 60000 65536"/>
              <a:gd name="T6" fmla="*/ 0 w 2910"/>
              <a:gd name="T7" fmla="*/ 0 h 1"/>
              <a:gd name="T8" fmla="*/ 2910 w 291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10" h="1">
                <a:moveTo>
                  <a:pt x="0" y="0"/>
                </a:moveTo>
                <a:lnTo>
                  <a:pt x="2910" y="0"/>
                </a:lnTo>
              </a:path>
            </a:pathLst>
          </a:custGeom>
          <a:noFill/>
          <a:ln w="28575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521999" y="3153722"/>
            <a:ext cx="2951163" cy="771525"/>
            <a:chOff x="1521999" y="3153722"/>
            <a:chExt cx="2951163" cy="771525"/>
          </a:xfrm>
        </p:grpSpPr>
        <p:grpSp>
          <p:nvGrpSpPr>
            <p:cNvPr id="8" name="组合 7"/>
            <p:cNvGrpSpPr/>
            <p:nvPr/>
          </p:nvGrpSpPr>
          <p:grpSpPr>
            <a:xfrm>
              <a:off x="3438112" y="3153722"/>
              <a:ext cx="1035050" cy="763588"/>
              <a:chOff x="3438112" y="3153722"/>
              <a:chExt cx="1035050" cy="763588"/>
            </a:xfrm>
          </p:grpSpPr>
          <p:sp>
            <p:nvSpPr>
              <p:cNvPr id="1451099" name="Freeform 91"/>
              <p:cNvSpPr>
                <a:spLocks/>
              </p:cNvSpPr>
              <p:nvPr/>
            </p:nvSpPr>
            <p:spPr bwMode="auto">
              <a:xfrm>
                <a:off x="3457162" y="3245797"/>
                <a:ext cx="393700" cy="171450"/>
              </a:xfrm>
              <a:custGeom>
                <a:avLst/>
                <a:gdLst>
                  <a:gd name="T0" fmla="*/ 195 w 195"/>
                  <a:gd name="T1" fmla="*/ 0 h 84"/>
                  <a:gd name="T2" fmla="*/ 87 w 195"/>
                  <a:gd name="T3" fmla="*/ 42 h 84"/>
                  <a:gd name="T4" fmla="*/ 0 w 195"/>
                  <a:gd name="T5" fmla="*/ 84 h 84"/>
                  <a:gd name="T6" fmla="*/ 0 60000 65536"/>
                  <a:gd name="T7" fmla="*/ 0 60000 65536"/>
                  <a:gd name="T8" fmla="*/ 0 60000 65536"/>
                  <a:gd name="T9" fmla="*/ 0 w 195"/>
                  <a:gd name="T10" fmla="*/ 0 h 84"/>
                  <a:gd name="T11" fmla="*/ 195 w 195"/>
                  <a:gd name="T12" fmla="*/ 84 h 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5" h="84">
                    <a:moveTo>
                      <a:pt x="195" y="0"/>
                    </a:moveTo>
                    <a:cubicBezTo>
                      <a:pt x="177" y="7"/>
                      <a:pt x="119" y="28"/>
                      <a:pt x="87" y="42"/>
                    </a:cubicBezTo>
                    <a:cubicBezTo>
                      <a:pt x="55" y="56"/>
                      <a:pt x="18" y="75"/>
                      <a:pt x="0" y="84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1100" name="Freeform 92"/>
              <p:cNvSpPr>
                <a:spLocks/>
              </p:cNvSpPr>
              <p:nvPr/>
            </p:nvSpPr>
            <p:spPr bwMode="auto">
              <a:xfrm>
                <a:off x="3438112" y="3460110"/>
                <a:ext cx="442912" cy="187325"/>
              </a:xfrm>
              <a:custGeom>
                <a:avLst/>
                <a:gdLst>
                  <a:gd name="T0" fmla="*/ 220 w 220"/>
                  <a:gd name="T1" fmla="*/ 0 h 92"/>
                  <a:gd name="T2" fmla="*/ 106 w 220"/>
                  <a:gd name="T3" fmla="*/ 39 h 92"/>
                  <a:gd name="T4" fmla="*/ 0 w 220"/>
                  <a:gd name="T5" fmla="*/ 92 h 92"/>
                  <a:gd name="T6" fmla="*/ 0 60000 65536"/>
                  <a:gd name="T7" fmla="*/ 0 60000 65536"/>
                  <a:gd name="T8" fmla="*/ 0 60000 65536"/>
                  <a:gd name="T9" fmla="*/ 0 w 220"/>
                  <a:gd name="T10" fmla="*/ 0 h 92"/>
                  <a:gd name="T11" fmla="*/ 220 w 220"/>
                  <a:gd name="T12" fmla="*/ 92 h 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0" h="92">
                    <a:moveTo>
                      <a:pt x="220" y="0"/>
                    </a:moveTo>
                    <a:cubicBezTo>
                      <a:pt x="201" y="7"/>
                      <a:pt x="143" y="24"/>
                      <a:pt x="106" y="39"/>
                    </a:cubicBezTo>
                    <a:cubicBezTo>
                      <a:pt x="69" y="54"/>
                      <a:pt x="22" y="81"/>
                      <a:pt x="0" y="92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1101" name="Freeform 93"/>
              <p:cNvSpPr>
                <a:spLocks/>
              </p:cNvSpPr>
              <p:nvPr/>
            </p:nvSpPr>
            <p:spPr bwMode="auto">
              <a:xfrm>
                <a:off x="3455574" y="3753797"/>
                <a:ext cx="406400" cy="163513"/>
              </a:xfrm>
              <a:custGeom>
                <a:avLst/>
                <a:gdLst>
                  <a:gd name="T0" fmla="*/ 202 w 202"/>
                  <a:gd name="T1" fmla="*/ 0 h 80"/>
                  <a:gd name="T2" fmla="*/ 87 w 202"/>
                  <a:gd name="T3" fmla="*/ 38 h 80"/>
                  <a:gd name="T4" fmla="*/ 0 w 202"/>
                  <a:gd name="T5" fmla="*/ 80 h 80"/>
                  <a:gd name="T6" fmla="*/ 0 60000 65536"/>
                  <a:gd name="T7" fmla="*/ 0 60000 65536"/>
                  <a:gd name="T8" fmla="*/ 0 60000 65536"/>
                  <a:gd name="T9" fmla="*/ 0 w 202"/>
                  <a:gd name="T10" fmla="*/ 0 h 80"/>
                  <a:gd name="T11" fmla="*/ 202 w 202"/>
                  <a:gd name="T12" fmla="*/ 80 h 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" h="80">
                    <a:moveTo>
                      <a:pt x="202" y="0"/>
                    </a:moveTo>
                    <a:cubicBezTo>
                      <a:pt x="183" y="7"/>
                      <a:pt x="121" y="25"/>
                      <a:pt x="87" y="38"/>
                    </a:cubicBezTo>
                    <a:cubicBezTo>
                      <a:pt x="53" y="51"/>
                      <a:pt x="18" y="71"/>
                      <a:pt x="0" y="8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1102" name="Freeform 94"/>
              <p:cNvSpPr>
                <a:spLocks/>
              </p:cNvSpPr>
              <p:nvPr/>
            </p:nvSpPr>
            <p:spPr bwMode="auto">
              <a:xfrm>
                <a:off x="4085812" y="3153722"/>
                <a:ext cx="387350" cy="141288"/>
              </a:xfrm>
              <a:custGeom>
                <a:avLst/>
                <a:gdLst>
                  <a:gd name="T0" fmla="*/ 192 w 192"/>
                  <a:gd name="T1" fmla="*/ 0 h 69"/>
                  <a:gd name="T2" fmla="*/ 90 w 192"/>
                  <a:gd name="T3" fmla="*/ 30 h 69"/>
                  <a:gd name="T4" fmla="*/ 0 w 19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69"/>
                  <a:gd name="T11" fmla="*/ 192 w 19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69">
                    <a:moveTo>
                      <a:pt x="192" y="0"/>
                    </a:moveTo>
                    <a:cubicBezTo>
                      <a:pt x="175" y="4"/>
                      <a:pt x="122" y="19"/>
                      <a:pt x="90" y="30"/>
                    </a:cubicBezTo>
                    <a:cubicBezTo>
                      <a:pt x="58" y="41"/>
                      <a:pt x="19" y="61"/>
                      <a:pt x="0" y="69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1103" name="Freeform 95"/>
              <p:cNvSpPr>
                <a:spLocks/>
              </p:cNvSpPr>
              <p:nvPr/>
            </p:nvSpPr>
            <p:spPr bwMode="auto">
              <a:xfrm>
                <a:off x="4077874" y="3483922"/>
                <a:ext cx="371475" cy="122238"/>
              </a:xfrm>
              <a:custGeom>
                <a:avLst/>
                <a:gdLst>
                  <a:gd name="T0" fmla="*/ 184 w 184"/>
                  <a:gd name="T1" fmla="*/ 0 h 60"/>
                  <a:gd name="T2" fmla="*/ 88 w 184"/>
                  <a:gd name="T3" fmla="*/ 27 h 60"/>
                  <a:gd name="T4" fmla="*/ 0 w 184"/>
                  <a:gd name="T5" fmla="*/ 60 h 60"/>
                  <a:gd name="T6" fmla="*/ 0 60000 65536"/>
                  <a:gd name="T7" fmla="*/ 0 60000 65536"/>
                  <a:gd name="T8" fmla="*/ 0 60000 65536"/>
                  <a:gd name="T9" fmla="*/ 0 w 184"/>
                  <a:gd name="T10" fmla="*/ 0 h 60"/>
                  <a:gd name="T11" fmla="*/ 184 w 184"/>
                  <a:gd name="T12" fmla="*/ 60 h 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4" h="60">
                    <a:moveTo>
                      <a:pt x="184" y="0"/>
                    </a:moveTo>
                    <a:cubicBezTo>
                      <a:pt x="168" y="5"/>
                      <a:pt x="119" y="17"/>
                      <a:pt x="88" y="27"/>
                    </a:cubicBezTo>
                    <a:cubicBezTo>
                      <a:pt x="57" y="37"/>
                      <a:pt x="18" y="53"/>
                      <a:pt x="0" y="6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521999" y="3161660"/>
              <a:ext cx="1035050" cy="763587"/>
              <a:chOff x="1521999" y="3161660"/>
              <a:chExt cx="1035050" cy="763587"/>
            </a:xfrm>
          </p:grpSpPr>
          <p:sp>
            <p:nvSpPr>
              <p:cNvPr id="1451105" name="Freeform 97"/>
              <p:cNvSpPr>
                <a:spLocks/>
              </p:cNvSpPr>
              <p:nvPr/>
            </p:nvSpPr>
            <p:spPr bwMode="auto">
              <a:xfrm flipH="1">
                <a:off x="2144299" y="3253735"/>
                <a:ext cx="393700" cy="171450"/>
              </a:xfrm>
              <a:custGeom>
                <a:avLst/>
                <a:gdLst>
                  <a:gd name="T0" fmla="*/ 195 w 195"/>
                  <a:gd name="T1" fmla="*/ 0 h 84"/>
                  <a:gd name="T2" fmla="*/ 87 w 195"/>
                  <a:gd name="T3" fmla="*/ 42 h 84"/>
                  <a:gd name="T4" fmla="*/ 0 w 195"/>
                  <a:gd name="T5" fmla="*/ 84 h 84"/>
                  <a:gd name="T6" fmla="*/ 0 60000 65536"/>
                  <a:gd name="T7" fmla="*/ 0 60000 65536"/>
                  <a:gd name="T8" fmla="*/ 0 60000 65536"/>
                  <a:gd name="T9" fmla="*/ 0 w 195"/>
                  <a:gd name="T10" fmla="*/ 0 h 84"/>
                  <a:gd name="T11" fmla="*/ 195 w 195"/>
                  <a:gd name="T12" fmla="*/ 84 h 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5" h="84">
                    <a:moveTo>
                      <a:pt x="195" y="0"/>
                    </a:moveTo>
                    <a:cubicBezTo>
                      <a:pt x="177" y="7"/>
                      <a:pt x="119" y="28"/>
                      <a:pt x="87" y="42"/>
                    </a:cubicBezTo>
                    <a:cubicBezTo>
                      <a:pt x="55" y="56"/>
                      <a:pt x="18" y="75"/>
                      <a:pt x="0" y="84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1106" name="Freeform 98"/>
              <p:cNvSpPr>
                <a:spLocks/>
              </p:cNvSpPr>
              <p:nvPr/>
            </p:nvSpPr>
            <p:spPr bwMode="auto">
              <a:xfrm flipH="1">
                <a:off x="2114137" y="3468047"/>
                <a:ext cx="442912" cy="187325"/>
              </a:xfrm>
              <a:custGeom>
                <a:avLst/>
                <a:gdLst>
                  <a:gd name="T0" fmla="*/ 220 w 220"/>
                  <a:gd name="T1" fmla="*/ 0 h 92"/>
                  <a:gd name="T2" fmla="*/ 106 w 220"/>
                  <a:gd name="T3" fmla="*/ 39 h 92"/>
                  <a:gd name="T4" fmla="*/ 0 w 220"/>
                  <a:gd name="T5" fmla="*/ 92 h 92"/>
                  <a:gd name="T6" fmla="*/ 0 60000 65536"/>
                  <a:gd name="T7" fmla="*/ 0 60000 65536"/>
                  <a:gd name="T8" fmla="*/ 0 60000 65536"/>
                  <a:gd name="T9" fmla="*/ 0 w 220"/>
                  <a:gd name="T10" fmla="*/ 0 h 92"/>
                  <a:gd name="T11" fmla="*/ 220 w 220"/>
                  <a:gd name="T12" fmla="*/ 92 h 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0" h="92">
                    <a:moveTo>
                      <a:pt x="220" y="0"/>
                    </a:moveTo>
                    <a:cubicBezTo>
                      <a:pt x="201" y="7"/>
                      <a:pt x="143" y="24"/>
                      <a:pt x="106" y="39"/>
                    </a:cubicBezTo>
                    <a:cubicBezTo>
                      <a:pt x="69" y="54"/>
                      <a:pt x="22" y="81"/>
                      <a:pt x="0" y="92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1107" name="Freeform 99"/>
              <p:cNvSpPr>
                <a:spLocks/>
              </p:cNvSpPr>
              <p:nvPr/>
            </p:nvSpPr>
            <p:spPr bwMode="auto">
              <a:xfrm flipH="1">
                <a:off x="2131599" y="3761735"/>
                <a:ext cx="407988" cy="163512"/>
              </a:xfrm>
              <a:custGeom>
                <a:avLst/>
                <a:gdLst>
                  <a:gd name="T0" fmla="*/ 202 w 202"/>
                  <a:gd name="T1" fmla="*/ 0 h 80"/>
                  <a:gd name="T2" fmla="*/ 87 w 202"/>
                  <a:gd name="T3" fmla="*/ 38 h 80"/>
                  <a:gd name="T4" fmla="*/ 0 w 202"/>
                  <a:gd name="T5" fmla="*/ 80 h 80"/>
                  <a:gd name="T6" fmla="*/ 0 60000 65536"/>
                  <a:gd name="T7" fmla="*/ 0 60000 65536"/>
                  <a:gd name="T8" fmla="*/ 0 60000 65536"/>
                  <a:gd name="T9" fmla="*/ 0 w 202"/>
                  <a:gd name="T10" fmla="*/ 0 h 80"/>
                  <a:gd name="T11" fmla="*/ 202 w 202"/>
                  <a:gd name="T12" fmla="*/ 80 h 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" h="80">
                    <a:moveTo>
                      <a:pt x="202" y="0"/>
                    </a:moveTo>
                    <a:cubicBezTo>
                      <a:pt x="183" y="7"/>
                      <a:pt x="121" y="25"/>
                      <a:pt x="87" y="38"/>
                    </a:cubicBezTo>
                    <a:cubicBezTo>
                      <a:pt x="53" y="51"/>
                      <a:pt x="18" y="71"/>
                      <a:pt x="0" y="8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1108" name="Freeform 100"/>
              <p:cNvSpPr>
                <a:spLocks/>
              </p:cNvSpPr>
              <p:nvPr/>
            </p:nvSpPr>
            <p:spPr bwMode="auto">
              <a:xfrm flipH="1">
                <a:off x="1521999" y="3161660"/>
                <a:ext cx="387350" cy="141287"/>
              </a:xfrm>
              <a:custGeom>
                <a:avLst/>
                <a:gdLst>
                  <a:gd name="T0" fmla="*/ 192 w 192"/>
                  <a:gd name="T1" fmla="*/ 0 h 69"/>
                  <a:gd name="T2" fmla="*/ 90 w 192"/>
                  <a:gd name="T3" fmla="*/ 30 h 69"/>
                  <a:gd name="T4" fmla="*/ 0 w 19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69"/>
                  <a:gd name="T11" fmla="*/ 192 w 19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69">
                    <a:moveTo>
                      <a:pt x="192" y="0"/>
                    </a:moveTo>
                    <a:cubicBezTo>
                      <a:pt x="175" y="4"/>
                      <a:pt x="122" y="19"/>
                      <a:pt x="90" y="30"/>
                    </a:cubicBezTo>
                    <a:cubicBezTo>
                      <a:pt x="58" y="41"/>
                      <a:pt x="19" y="61"/>
                      <a:pt x="0" y="69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1109" name="Freeform 101"/>
              <p:cNvSpPr>
                <a:spLocks/>
              </p:cNvSpPr>
              <p:nvPr/>
            </p:nvSpPr>
            <p:spPr bwMode="auto">
              <a:xfrm flipH="1">
                <a:off x="1545812" y="3491860"/>
                <a:ext cx="371475" cy="122237"/>
              </a:xfrm>
              <a:custGeom>
                <a:avLst/>
                <a:gdLst>
                  <a:gd name="T0" fmla="*/ 184 w 184"/>
                  <a:gd name="T1" fmla="*/ 0 h 60"/>
                  <a:gd name="T2" fmla="*/ 88 w 184"/>
                  <a:gd name="T3" fmla="*/ 27 h 60"/>
                  <a:gd name="T4" fmla="*/ 0 w 184"/>
                  <a:gd name="T5" fmla="*/ 60 h 60"/>
                  <a:gd name="T6" fmla="*/ 0 60000 65536"/>
                  <a:gd name="T7" fmla="*/ 0 60000 65536"/>
                  <a:gd name="T8" fmla="*/ 0 60000 65536"/>
                  <a:gd name="T9" fmla="*/ 0 w 184"/>
                  <a:gd name="T10" fmla="*/ 0 h 60"/>
                  <a:gd name="T11" fmla="*/ 184 w 184"/>
                  <a:gd name="T12" fmla="*/ 60 h 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4" h="60">
                    <a:moveTo>
                      <a:pt x="184" y="0"/>
                    </a:moveTo>
                    <a:cubicBezTo>
                      <a:pt x="168" y="5"/>
                      <a:pt x="119" y="17"/>
                      <a:pt x="88" y="27"/>
                    </a:cubicBezTo>
                    <a:cubicBezTo>
                      <a:pt x="57" y="37"/>
                      <a:pt x="18" y="53"/>
                      <a:pt x="0" y="6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358759" y="2323188"/>
            <a:ext cx="5190557" cy="924781"/>
            <a:chOff x="358759" y="2323188"/>
            <a:chExt cx="5190557" cy="924781"/>
          </a:xfrm>
        </p:grpSpPr>
        <p:sp>
          <p:nvSpPr>
            <p:cNvPr id="5" name="任意多边形 4"/>
            <p:cNvSpPr/>
            <p:nvPr/>
          </p:nvSpPr>
          <p:spPr bwMode="auto">
            <a:xfrm>
              <a:off x="358759" y="2323188"/>
              <a:ext cx="5190557" cy="924781"/>
            </a:xfrm>
            <a:custGeom>
              <a:avLst/>
              <a:gdLst>
                <a:gd name="connsiteX0" fmla="*/ 2643 w 5163981"/>
                <a:gd name="connsiteY0" fmla="*/ 110997 h 634266"/>
                <a:gd name="connsiteX1" fmla="*/ 169138 w 5163981"/>
                <a:gd name="connsiteY1" fmla="*/ 105711 h 634266"/>
                <a:gd name="connsiteX2" fmla="*/ 443986 w 5163981"/>
                <a:gd name="connsiteY2" fmla="*/ 126853 h 634266"/>
                <a:gd name="connsiteX3" fmla="*/ 668622 w 5163981"/>
                <a:gd name="connsiteY3" fmla="*/ 145353 h 634266"/>
                <a:gd name="connsiteX4" fmla="*/ 909114 w 5163981"/>
                <a:gd name="connsiteY4" fmla="*/ 174423 h 634266"/>
                <a:gd name="connsiteX5" fmla="*/ 1146964 w 5163981"/>
                <a:gd name="connsiteY5" fmla="*/ 216708 h 634266"/>
                <a:gd name="connsiteX6" fmla="*/ 1347815 w 5163981"/>
                <a:gd name="connsiteY6" fmla="*/ 253706 h 634266"/>
                <a:gd name="connsiteX7" fmla="*/ 1593593 w 5163981"/>
                <a:gd name="connsiteY7" fmla="*/ 309205 h 634266"/>
                <a:gd name="connsiteX8" fmla="*/ 1828800 w 5163981"/>
                <a:gd name="connsiteY8" fmla="*/ 383202 h 634266"/>
                <a:gd name="connsiteX9" fmla="*/ 1990009 w 5163981"/>
                <a:gd name="connsiteY9" fmla="*/ 451914 h 634266"/>
                <a:gd name="connsiteX10" fmla="*/ 2130076 w 5163981"/>
                <a:gd name="connsiteY10" fmla="*/ 523269 h 634266"/>
                <a:gd name="connsiteX11" fmla="*/ 2241073 w 5163981"/>
                <a:gd name="connsiteY11" fmla="*/ 631623 h 634266"/>
                <a:gd name="connsiteX12" fmla="*/ 2275429 w 5163981"/>
                <a:gd name="connsiteY12" fmla="*/ 634266 h 634266"/>
                <a:gd name="connsiteX13" fmla="*/ 2896481 w 5163981"/>
                <a:gd name="connsiteY13" fmla="*/ 631623 h 634266"/>
                <a:gd name="connsiteX14" fmla="*/ 2949336 w 5163981"/>
                <a:gd name="connsiteY14" fmla="*/ 628980 h 634266"/>
                <a:gd name="connsiteX15" fmla="*/ 3049762 w 5163981"/>
                <a:gd name="connsiteY15" fmla="*/ 552340 h 634266"/>
                <a:gd name="connsiteX16" fmla="*/ 3255898 w 5163981"/>
                <a:gd name="connsiteY16" fmla="*/ 425487 h 634266"/>
                <a:gd name="connsiteX17" fmla="*/ 3588888 w 5163981"/>
                <a:gd name="connsiteY17" fmla="*/ 303919 h 634266"/>
                <a:gd name="connsiteX18" fmla="*/ 3945662 w 5163981"/>
                <a:gd name="connsiteY18" fmla="*/ 224636 h 634266"/>
                <a:gd name="connsiteX19" fmla="*/ 4360578 w 5163981"/>
                <a:gd name="connsiteY19" fmla="*/ 166495 h 634266"/>
                <a:gd name="connsiteX20" fmla="*/ 4643355 w 5163981"/>
                <a:gd name="connsiteY20" fmla="*/ 132139 h 634266"/>
                <a:gd name="connsiteX21" fmla="*/ 4902347 w 5163981"/>
                <a:gd name="connsiteY21" fmla="*/ 108354 h 634266"/>
                <a:gd name="connsiteX22" fmla="*/ 5113769 w 5163981"/>
                <a:gd name="connsiteY22" fmla="*/ 100425 h 634266"/>
                <a:gd name="connsiteX23" fmla="*/ 5163981 w 5163981"/>
                <a:gd name="connsiteY23" fmla="*/ 97783 h 634266"/>
                <a:gd name="connsiteX24" fmla="*/ 5158696 w 5163981"/>
                <a:gd name="connsiteY24" fmla="*/ 0 h 634266"/>
                <a:gd name="connsiteX25" fmla="*/ 0 w 5163981"/>
                <a:gd name="connsiteY25" fmla="*/ 0 h 634266"/>
                <a:gd name="connsiteX26" fmla="*/ 2643 w 5163981"/>
                <a:gd name="connsiteY26" fmla="*/ 110997 h 634266"/>
                <a:gd name="connsiteX0" fmla="*/ 2643 w 5171822"/>
                <a:gd name="connsiteY0" fmla="*/ 110997 h 634266"/>
                <a:gd name="connsiteX1" fmla="*/ 169138 w 5171822"/>
                <a:gd name="connsiteY1" fmla="*/ 105711 h 634266"/>
                <a:gd name="connsiteX2" fmla="*/ 443986 w 5171822"/>
                <a:gd name="connsiteY2" fmla="*/ 126853 h 634266"/>
                <a:gd name="connsiteX3" fmla="*/ 668622 w 5171822"/>
                <a:gd name="connsiteY3" fmla="*/ 145353 h 634266"/>
                <a:gd name="connsiteX4" fmla="*/ 909114 w 5171822"/>
                <a:gd name="connsiteY4" fmla="*/ 174423 h 634266"/>
                <a:gd name="connsiteX5" fmla="*/ 1146964 w 5171822"/>
                <a:gd name="connsiteY5" fmla="*/ 216708 h 634266"/>
                <a:gd name="connsiteX6" fmla="*/ 1347815 w 5171822"/>
                <a:gd name="connsiteY6" fmla="*/ 253706 h 634266"/>
                <a:gd name="connsiteX7" fmla="*/ 1593593 w 5171822"/>
                <a:gd name="connsiteY7" fmla="*/ 309205 h 634266"/>
                <a:gd name="connsiteX8" fmla="*/ 1828800 w 5171822"/>
                <a:gd name="connsiteY8" fmla="*/ 383202 h 634266"/>
                <a:gd name="connsiteX9" fmla="*/ 1990009 w 5171822"/>
                <a:gd name="connsiteY9" fmla="*/ 451914 h 634266"/>
                <a:gd name="connsiteX10" fmla="*/ 2130076 w 5171822"/>
                <a:gd name="connsiteY10" fmla="*/ 523269 h 634266"/>
                <a:gd name="connsiteX11" fmla="*/ 2241073 w 5171822"/>
                <a:gd name="connsiteY11" fmla="*/ 631623 h 634266"/>
                <a:gd name="connsiteX12" fmla="*/ 2275429 w 5171822"/>
                <a:gd name="connsiteY12" fmla="*/ 634266 h 634266"/>
                <a:gd name="connsiteX13" fmla="*/ 2896481 w 5171822"/>
                <a:gd name="connsiteY13" fmla="*/ 631623 h 634266"/>
                <a:gd name="connsiteX14" fmla="*/ 2949336 w 5171822"/>
                <a:gd name="connsiteY14" fmla="*/ 628980 h 634266"/>
                <a:gd name="connsiteX15" fmla="*/ 3049762 w 5171822"/>
                <a:gd name="connsiteY15" fmla="*/ 552340 h 634266"/>
                <a:gd name="connsiteX16" fmla="*/ 3255898 w 5171822"/>
                <a:gd name="connsiteY16" fmla="*/ 425487 h 634266"/>
                <a:gd name="connsiteX17" fmla="*/ 3588888 w 5171822"/>
                <a:gd name="connsiteY17" fmla="*/ 303919 h 634266"/>
                <a:gd name="connsiteX18" fmla="*/ 3945662 w 5171822"/>
                <a:gd name="connsiteY18" fmla="*/ 224636 h 634266"/>
                <a:gd name="connsiteX19" fmla="*/ 4360578 w 5171822"/>
                <a:gd name="connsiteY19" fmla="*/ 166495 h 634266"/>
                <a:gd name="connsiteX20" fmla="*/ 4643355 w 5171822"/>
                <a:gd name="connsiteY20" fmla="*/ 132139 h 634266"/>
                <a:gd name="connsiteX21" fmla="*/ 4902347 w 5171822"/>
                <a:gd name="connsiteY21" fmla="*/ 108354 h 634266"/>
                <a:gd name="connsiteX22" fmla="*/ 5113769 w 5171822"/>
                <a:gd name="connsiteY22" fmla="*/ 100425 h 634266"/>
                <a:gd name="connsiteX23" fmla="*/ 5163981 w 5171822"/>
                <a:gd name="connsiteY23" fmla="*/ 97783 h 634266"/>
                <a:gd name="connsiteX24" fmla="*/ 5171822 w 5171822"/>
                <a:gd name="connsiteY24" fmla="*/ 2187 h 634266"/>
                <a:gd name="connsiteX25" fmla="*/ 0 w 5171822"/>
                <a:gd name="connsiteY25" fmla="*/ 0 h 634266"/>
                <a:gd name="connsiteX26" fmla="*/ 2643 w 5171822"/>
                <a:gd name="connsiteY26" fmla="*/ 110997 h 634266"/>
                <a:gd name="connsiteX0" fmla="*/ 2643 w 5172732"/>
                <a:gd name="connsiteY0" fmla="*/ 110997 h 634266"/>
                <a:gd name="connsiteX1" fmla="*/ 169138 w 5172732"/>
                <a:gd name="connsiteY1" fmla="*/ 105711 h 634266"/>
                <a:gd name="connsiteX2" fmla="*/ 443986 w 5172732"/>
                <a:gd name="connsiteY2" fmla="*/ 126853 h 634266"/>
                <a:gd name="connsiteX3" fmla="*/ 668622 w 5172732"/>
                <a:gd name="connsiteY3" fmla="*/ 145353 h 634266"/>
                <a:gd name="connsiteX4" fmla="*/ 909114 w 5172732"/>
                <a:gd name="connsiteY4" fmla="*/ 174423 h 634266"/>
                <a:gd name="connsiteX5" fmla="*/ 1146964 w 5172732"/>
                <a:gd name="connsiteY5" fmla="*/ 216708 h 634266"/>
                <a:gd name="connsiteX6" fmla="*/ 1347815 w 5172732"/>
                <a:gd name="connsiteY6" fmla="*/ 253706 h 634266"/>
                <a:gd name="connsiteX7" fmla="*/ 1593593 w 5172732"/>
                <a:gd name="connsiteY7" fmla="*/ 309205 h 634266"/>
                <a:gd name="connsiteX8" fmla="*/ 1828800 w 5172732"/>
                <a:gd name="connsiteY8" fmla="*/ 383202 h 634266"/>
                <a:gd name="connsiteX9" fmla="*/ 1990009 w 5172732"/>
                <a:gd name="connsiteY9" fmla="*/ 451914 h 634266"/>
                <a:gd name="connsiteX10" fmla="*/ 2130076 w 5172732"/>
                <a:gd name="connsiteY10" fmla="*/ 523269 h 634266"/>
                <a:gd name="connsiteX11" fmla="*/ 2241073 w 5172732"/>
                <a:gd name="connsiteY11" fmla="*/ 631623 h 634266"/>
                <a:gd name="connsiteX12" fmla="*/ 2275429 w 5172732"/>
                <a:gd name="connsiteY12" fmla="*/ 634266 h 634266"/>
                <a:gd name="connsiteX13" fmla="*/ 2896481 w 5172732"/>
                <a:gd name="connsiteY13" fmla="*/ 631623 h 634266"/>
                <a:gd name="connsiteX14" fmla="*/ 2949336 w 5172732"/>
                <a:gd name="connsiteY14" fmla="*/ 628980 h 634266"/>
                <a:gd name="connsiteX15" fmla="*/ 3049762 w 5172732"/>
                <a:gd name="connsiteY15" fmla="*/ 552340 h 634266"/>
                <a:gd name="connsiteX16" fmla="*/ 3255898 w 5172732"/>
                <a:gd name="connsiteY16" fmla="*/ 425487 h 634266"/>
                <a:gd name="connsiteX17" fmla="*/ 3588888 w 5172732"/>
                <a:gd name="connsiteY17" fmla="*/ 303919 h 634266"/>
                <a:gd name="connsiteX18" fmla="*/ 3945662 w 5172732"/>
                <a:gd name="connsiteY18" fmla="*/ 224636 h 634266"/>
                <a:gd name="connsiteX19" fmla="*/ 4360578 w 5172732"/>
                <a:gd name="connsiteY19" fmla="*/ 166495 h 634266"/>
                <a:gd name="connsiteX20" fmla="*/ 4643355 w 5172732"/>
                <a:gd name="connsiteY20" fmla="*/ 132139 h 634266"/>
                <a:gd name="connsiteX21" fmla="*/ 4902347 w 5172732"/>
                <a:gd name="connsiteY21" fmla="*/ 108354 h 634266"/>
                <a:gd name="connsiteX22" fmla="*/ 5113769 w 5172732"/>
                <a:gd name="connsiteY22" fmla="*/ 100425 h 634266"/>
                <a:gd name="connsiteX23" fmla="*/ 5172732 w 5172732"/>
                <a:gd name="connsiteY23" fmla="*/ 99971 h 634266"/>
                <a:gd name="connsiteX24" fmla="*/ 5171822 w 5172732"/>
                <a:gd name="connsiteY24" fmla="*/ 2187 h 634266"/>
                <a:gd name="connsiteX25" fmla="*/ 0 w 5172732"/>
                <a:gd name="connsiteY25" fmla="*/ 0 h 634266"/>
                <a:gd name="connsiteX26" fmla="*/ 2643 w 5172732"/>
                <a:gd name="connsiteY26" fmla="*/ 110997 h 634266"/>
                <a:gd name="connsiteX0" fmla="*/ 19158 w 5189247"/>
                <a:gd name="connsiteY0" fmla="*/ 401512 h 924781"/>
                <a:gd name="connsiteX1" fmla="*/ 185653 w 5189247"/>
                <a:gd name="connsiteY1" fmla="*/ 396226 h 924781"/>
                <a:gd name="connsiteX2" fmla="*/ 460501 w 5189247"/>
                <a:gd name="connsiteY2" fmla="*/ 417368 h 924781"/>
                <a:gd name="connsiteX3" fmla="*/ 685137 w 5189247"/>
                <a:gd name="connsiteY3" fmla="*/ 435868 h 924781"/>
                <a:gd name="connsiteX4" fmla="*/ 925629 w 5189247"/>
                <a:gd name="connsiteY4" fmla="*/ 464938 h 924781"/>
                <a:gd name="connsiteX5" fmla="*/ 1163479 w 5189247"/>
                <a:gd name="connsiteY5" fmla="*/ 507223 h 924781"/>
                <a:gd name="connsiteX6" fmla="*/ 1364330 w 5189247"/>
                <a:gd name="connsiteY6" fmla="*/ 544221 h 924781"/>
                <a:gd name="connsiteX7" fmla="*/ 1610108 w 5189247"/>
                <a:gd name="connsiteY7" fmla="*/ 599720 h 924781"/>
                <a:gd name="connsiteX8" fmla="*/ 1845315 w 5189247"/>
                <a:gd name="connsiteY8" fmla="*/ 673717 h 924781"/>
                <a:gd name="connsiteX9" fmla="*/ 2006524 w 5189247"/>
                <a:gd name="connsiteY9" fmla="*/ 742429 h 924781"/>
                <a:gd name="connsiteX10" fmla="*/ 2146591 w 5189247"/>
                <a:gd name="connsiteY10" fmla="*/ 813784 h 924781"/>
                <a:gd name="connsiteX11" fmla="*/ 2257588 w 5189247"/>
                <a:gd name="connsiteY11" fmla="*/ 922138 h 924781"/>
                <a:gd name="connsiteX12" fmla="*/ 2291944 w 5189247"/>
                <a:gd name="connsiteY12" fmla="*/ 924781 h 924781"/>
                <a:gd name="connsiteX13" fmla="*/ 2912996 w 5189247"/>
                <a:gd name="connsiteY13" fmla="*/ 922138 h 924781"/>
                <a:gd name="connsiteX14" fmla="*/ 2965851 w 5189247"/>
                <a:gd name="connsiteY14" fmla="*/ 919495 h 924781"/>
                <a:gd name="connsiteX15" fmla="*/ 3066277 w 5189247"/>
                <a:gd name="connsiteY15" fmla="*/ 842855 h 924781"/>
                <a:gd name="connsiteX16" fmla="*/ 3272413 w 5189247"/>
                <a:gd name="connsiteY16" fmla="*/ 716002 h 924781"/>
                <a:gd name="connsiteX17" fmla="*/ 3605403 w 5189247"/>
                <a:gd name="connsiteY17" fmla="*/ 594434 h 924781"/>
                <a:gd name="connsiteX18" fmla="*/ 3962177 w 5189247"/>
                <a:gd name="connsiteY18" fmla="*/ 515151 h 924781"/>
                <a:gd name="connsiteX19" fmla="*/ 4377093 w 5189247"/>
                <a:gd name="connsiteY19" fmla="*/ 457010 h 924781"/>
                <a:gd name="connsiteX20" fmla="*/ 4659870 w 5189247"/>
                <a:gd name="connsiteY20" fmla="*/ 422654 h 924781"/>
                <a:gd name="connsiteX21" fmla="*/ 4918862 w 5189247"/>
                <a:gd name="connsiteY21" fmla="*/ 398869 h 924781"/>
                <a:gd name="connsiteX22" fmla="*/ 5130284 w 5189247"/>
                <a:gd name="connsiteY22" fmla="*/ 390940 h 924781"/>
                <a:gd name="connsiteX23" fmla="*/ 5189247 w 5189247"/>
                <a:gd name="connsiteY23" fmla="*/ 390486 h 924781"/>
                <a:gd name="connsiteX24" fmla="*/ 5188337 w 5189247"/>
                <a:gd name="connsiteY24" fmla="*/ 292702 h 924781"/>
                <a:gd name="connsiteX25" fmla="*/ 0 w 5189247"/>
                <a:gd name="connsiteY25" fmla="*/ 0 h 924781"/>
                <a:gd name="connsiteX26" fmla="*/ 16515 w 5189247"/>
                <a:gd name="connsiteY26" fmla="*/ 290515 h 924781"/>
                <a:gd name="connsiteX27" fmla="*/ 19158 w 5189247"/>
                <a:gd name="connsiteY27" fmla="*/ 401512 h 924781"/>
                <a:gd name="connsiteX0" fmla="*/ 19158 w 5189247"/>
                <a:gd name="connsiteY0" fmla="*/ 401512 h 924781"/>
                <a:gd name="connsiteX1" fmla="*/ 185653 w 5189247"/>
                <a:gd name="connsiteY1" fmla="*/ 396226 h 924781"/>
                <a:gd name="connsiteX2" fmla="*/ 460501 w 5189247"/>
                <a:gd name="connsiteY2" fmla="*/ 417368 h 924781"/>
                <a:gd name="connsiteX3" fmla="*/ 685137 w 5189247"/>
                <a:gd name="connsiteY3" fmla="*/ 435868 h 924781"/>
                <a:gd name="connsiteX4" fmla="*/ 925629 w 5189247"/>
                <a:gd name="connsiteY4" fmla="*/ 464938 h 924781"/>
                <a:gd name="connsiteX5" fmla="*/ 1163479 w 5189247"/>
                <a:gd name="connsiteY5" fmla="*/ 507223 h 924781"/>
                <a:gd name="connsiteX6" fmla="*/ 1364330 w 5189247"/>
                <a:gd name="connsiteY6" fmla="*/ 544221 h 924781"/>
                <a:gd name="connsiteX7" fmla="*/ 1610108 w 5189247"/>
                <a:gd name="connsiteY7" fmla="*/ 599720 h 924781"/>
                <a:gd name="connsiteX8" fmla="*/ 1845315 w 5189247"/>
                <a:gd name="connsiteY8" fmla="*/ 673717 h 924781"/>
                <a:gd name="connsiteX9" fmla="*/ 2006524 w 5189247"/>
                <a:gd name="connsiteY9" fmla="*/ 742429 h 924781"/>
                <a:gd name="connsiteX10" fmla="*/ 2146591 w 5189247"/>
                <a:gd name="connsiteY10" fmla="*/ 813784 h 924781"/>
                <a:gd name="connsiteX11" fmla="*/ 2257588 w 5189247"/>
                <a:gd name="connsiteY11" fmla="*/ 922138 h 924781"/>
                <a:gd name="connsiteX12" fmla="*/ 2291944 w 5189247"/>
                <a:gd name="connsiteY12" fmla="*/ 924781 h 924781"/>
                <a:gd name="connsiteX13" fmla="*/ 2912996 w 5189247"/>
                <a:gd name="connsiteY13" fmla="*/ 922138 h 924781"/>
                <a:gd name="connsiteX14" fmla="*/ 2965851 w 5189247"/>
                <a:gd name="connsiteY14" fmla="*/ 919495 h 924781"/>
                <a:gd name="connsiteX15" fmla="*/ 3066277 w 5189247"/>
                <a:gd name="connsiteY15" fmla="*/ 842855 h 924781"/>
                <a:gd name="connsiteX16" fmla="*/ 3272413 w 5189247"/>
                <a:gd name="connsiteY16" fmla="*/ 716002 h 924781"/>
                <a:gd name="connsiteX17" fmla="*/ 3605403 w 5189247"/>
                <a:gd name="connsiteY17" fmla="*/ 594434 h 924781"/>
                <a:gd name="connsiteX18" fmla="*/ 3962177 w 5189247"/>
                <a:gd name="connsiteY18" fmla="*/ 515151 h 924781"/>
                <a:gd name="connsiteX19" fmla="*/ 4377093 w 5189247"/>
                <a:gd name="connsiteY19" fmla="*/ 457010 h 924781"/>
                <a:gd name="connsiteX20" fmla="*/ 4659870 w 5189247"/>
                <a:gd name="connsiteY20" fmla="*/ 422654 h 924781"/>
                <a:gd name="connsiteX21" fmla="*/ 4918862 w 5189247"/>
                <a:gd name="connsiteY21" fmla="*/ 398869 h 924781"/>
                <a:gd name="connsiteX22" fmla="*/ 5130284 w 5189247"/>
                <a:gd name="connsiteY22" fmla="*/ 390940 h 924781"/>
                <a:gd name="connsiteX23" fmla="*/ 5189247 w 5189247"/>
                <a:gd name="connsiteY23" fmla="*/ 390486 h 924781"/>
                <a:gd name="connsiteX24" fmla="*/ 5177399 w 5189247"/>
                <a:gd name="connsiteY24" fmla="*/ 12695 h 924781"/>
                <a:gd name="connsiteX25" fmla="*/ 0 w 5189247"/>
                <a:gd name="connsiteY25" fmla="*/ 0 h 924781"/>
                <a:gd name="connsiteX26" fmla="*/ 16515 w 5189247"/>
                <a:gd name="connsiteY26" fmla="*/ 290515 h 924781"/>
                <a:gd name="connsiteX27" fmla="*/ 19158 w 5189247"/>
                <a:gd name="connsiteY27" fmla="*/ 401512 h 924781"/>
                <a:gd name="connsiteX0" fmla="*/ 19158 w 5190557"/>
                <a:gd name="connsiteY0" fmla="*/ 401512 h 924781"/>
                <a:gd name="connsiteX1" fmla="*/ 185653 w 5190557"/>
                <a:gd name="connsiteY1" fmla="*/ 396226 h 924781"/>
                <a:gd name="connsiteX2" fmla="*/ 460501 w 5190557"/>
                <a:gd name="connsiteY2" fmla="*/ 417368 h 924781"/>
                <a:gd name="connsiteX3" fmla="*/ 685137 w 5190557"/>
                <a:gd name="connsiteY3" fmla="*/ 435868 h 924781"/>
                <a:gd name="connsiteX4" fmla="*/ 925629 w 5190557"/>
                <a:gd name="connsiteY4" fmla="*/ 464938 h 924781"/>
                <a:gd name="connsiteX5" fmla="*/ 1163479 w 5190557"/>
                <a:gd name="connsiteY5" fmla="*/ 507223 h 924781"/>
                <a:gd name="connsiteX6" fmla="*/ 1364330 w 5190557"/>
                <a:gd name="connsiteY6" fmla="*/ 544221 h 924781"/>
                <a:gd name="connsiteX7" fmla="*/ 1610108 w 5190557"/>
                <a:gd name="connsiteY7" fmla="*/ 599720 h 924781"/>
                <a:gd name="connsiteX8" fmla="*/ 1845315 w 5190557"/>
                <a:gd name="connsiteY8" fmla="*/ 673717 h 924781"/>
                <a:gd name="connsiteX9" fmla="*/ 2006524 w 5190557"/>
                <a:gd name="connsiteY9" fmla="*/ 742429 h 924781"/>
                <a:gd name="connsiteX10" fmla="*/ 2146591 w 5190557"/>
                <a:gd name="connsiteY10" fmla="*/ 813784 h 924781"/>
                <a:gd name="connsiteX11" fmla="*/ 2257588 w 5190557"/>
                <a:gd name="connsiteY11" fmla="*/ 922138 h 924781"/>
                <a:gd name="connsiteX12" fmla="*/ 2291944 w 5190557"/>
                <a:gd name="connsiteY12" fmla="*/ 924781 h 924781"/>
                <a:gd name="connsiteX13" fmla="*/ 2912996 w 5190557"/>
                <a:gd name="connsiteY13" fmla="*/ 922138 h 924781"/>
                <a:gd name="connsiteX14" fmla="*/ 2965851 w 5190557"/>
                <a:gd name="connsiteY14" fmla="*/ 919495 h 924781"/>
                <a:gd name="connsiteX15" fmla="*/ 3066277 w 5190557"/>
                <a:gd name="connsiteY15" fmla="*/ 842855 h 924781"/>
                <a:gd name="connsiteX16" fmla="*/ 3272413 w 5190557"/>
                <a:gd name="connsiteY16" fmla="*/ 716002 h 924781"/>
                <a:gd name="connsiteX17" fmla="*/ 3605403 w 5190557"/>
                <a:gd name="connsiteY17" fmla="*/ 594434 h 924781"/>
                <a:gd name="connsiteX18" fmla="*/ 3962177 w 5190557"/>
                <a:gd name="connsiteY18" fmla="*/ 515151 h 924781"/>
                <a:gd name="connsiteX19" fmla="*/ 4377093 w 5190557"/>
                <a:gd name="connsiteY19" fmla="*/ 457010 h 924781"/>
                <a:gd name="connsiteX20" fmla="*/ 4659870 w 5190557"/>
                <a:gd name="connsiteY20" fmla="*/ 422654 h 924781"/>
                <a:gd name="connsiteX21" fmla="*/ 4918862 w 5190557"/>
                <a:gd name="connsiteY21" fmla="*/ 398869 h 924781"/>
                <a:gd name="connsiteX22" fmla="*/ 5130284 w 5190557"/>
                <a:gd name="connsiteY22" fmla="*/ 390940 h 924781"/>
                <a:gd name="connsiteX23" fmla="*/ 5189247 w 5190557"/>
                <a:gd name="connsiteY23" fmla="*/ 390486 h 924781"/>
                <a:gd name="connsiteX24" fmla="*/ 5190524 w 5190557"/>
                <a:gd name="connsiteY24" fmla="*/ 12695 h 924781"/>
                <a:gd name="connsiteX25" fmla="*/ 0 w 5190557"/>
                <a:gd name="connsiteY25" fmla="*/ 0 h 924781"/>
                <a:gd name="connsiteX26" fmla="*/ 16515 w 5190557"/>
                <a:gd name="connsiteY26" fmla="*/ 290515 h 924781"/>
                <a:gd name="connsiteX27" fmla="*/ 19158 w 5190557"/>
                <a:gd name="connsiteY27" fmla="*/ 401512 h 924781"/>
                <a:gd name="connsiteX0" fmla="*/ 10407 w 5190557"/>
                <a:gd name="connsiteY0" fmla="*/ 403699 h 924781"/>
                <a:gd name="connsiteX1" fmla="*/ 185653 w 5190557"/>
                <a:gd name="connsiteY1" fmla="*/ 396226 h 924781"/>
                <a:gd name="connsiteX2" fmla="*/ 460501 w 5190557"/>
                <a:gd name="connsiteY2" fmla="*/ 417368 h 924781"/>
                <a:gd name="connsiteX3" fmla="*/ 685137 w 5190557"/>
                <a:gd name="connsiteY3" fmla="*/ 435868 h 924781"/>
                <a:gd name="connsiteX4" fmla="*/ 925629 w 5190557"/>
                <a:gd name="connsiteY4" fmla="*/ 464938 h 924781"/>
                <a:gd name="connsiteX5" fmla="*/ 1163479 w 5190557"/>
                <a:gd name="connsiteY5" fmla="*/ 507223 h 924781"/>
                <a:gd name="connsiteX6" fmla="*/ 1364330 w 5190557"/>
                <a:gd name="connsiteY6" fmla="*/ 544221 h 924781"/>
                <a:gd name="connsiteX7" fmla="*/ 1610108 w 5190557"/>
                <a:gd name="connsiteY7" fmla="*/ 599720 h 924781"/>
                <a:gd name="connsiteX8" fmla="*/ 1845315 w 5190557"/>
                <a:gd name="connsiteY8" fmla="*/ 673717 h 924781"/>
                <a:gd name="connsiteX9" fmla="*/ 2006524 w 5190557"/>
                <a:gd name="connsiteY9" fmla="*/ 742429 h 924781"/>
                <a:gd name="connsiteX10" fmla="*/ 2146591 w 5190557"/>
                <a:gd name="connsiteY10" fmla="*/ 813784 h 924781"/>
                <a:gd name="connsiteX11" fmla="*/ 2257588 w 5190557"/>
                <a:gd name="connsiteY11" fmla="*/ 922138 h 924781"/>
                <a:gd name="connsiteX12" fmla="*/ 2291944 w 5190557"/>
                <a:gd name="connsiteY12" fmla="*/ 924781 h 924781"/>
                <a:gd name="connsiteX13" fmla="*/ 2912996 w 5190557"/>
                <a:gd name="connsiteY13" fmla="*/ 922138 h 924781"/>
                <a:gd name="connsiteX14" fmla="*/ 2965851 w 5190557"/>
                <a:gd name="connsiteY14" fmla="*/ 919495 h 924781"/>
                <a:gd name="connsiteX15" fmla="*/ 3066277 w 5190557"/>
                <a:gd name="connsiteY15" fmla="*/ 842855 h 924781"/>
                <a:gd name="connsiteX16" fmla="*/ 3272413 w 5190557"/>
                <a:gd name="connsiteY16" fmla="*/ 716002 h 924781"/>
                <a:gd name="connsiteX17" fmla="*/ 3605403 w 5190557"/>
                <a:gd name="connsiteY17" fmla="*/ 594434 h 924781"/>
                <a:gd name="connsiteX18" fmla="*/ 3962177 w 5190557"/>
                <a:gd name="connsiteY18" fmla="*/ 515151 h 924781"/>
                <a:gd name="connsiteX19" fmla="*/ 4377093 w 5190557"/>
                <a:gd name="connsiteY19" fmla="*/ 457010 h 924781"/>
                <a:gd name="connsiteX20" fmla="*/ 4659870 w 5190557"/>
                <a:gd name="connsiteY20" fmla="*/ 422654 h 924781"/>
                <a:gd name="connsiteX21" fmla="*/ 4918862 w 5190557"/>
                <a:gd name="connsiteY21" fmla="*/ 398869 h 924781"/>
                <a:gd name="connsiteX22" fmla="*/ 5130284 w 5190557"/>
                <a:gd name="connsiteY22" fmla="*/ 390940 h 924781"/>
                <a:gd name="connsiteX23" fmla="*/ 5189247 w 5190557"/>
                <a:gd name="connsiteY23" fmla="*/ 390486 h 924781"/>
                <a:gd name="connsiteX24" fmla="*/ 5190524 w 5190557"/>
                <a:gd name="connsiteY24" fmla="*/ 12695 h 924781"/>
                <a:gd name="connsiteX25" fmla="*/ 0 w 5190557"/>
                <a:gd name="connsiteY25" fmla="*/ 0 h 924781"/>
                <a:gd name="connsiteX26" fmla="*/ 16515 w 5190557"/>
                <a:gd name="connsiteY26" fmla="*/ 290515 h 924781"/>
                <a:gd name="connsiteX27" fmla="*/ 10407 w 5190557"/>
                <a:gd name="connsiteY27" fmla="*/ 403699 h 92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190557" h="924781">
                  <a:moveTo>
                    <a:pt x="10407" y="403699"/>
                  </a:moveTo>
                  <a:lnTo>
                    <a:pt x="185653" y="396226"/>
                  </a:lnTo>
                  <a:lnTo>
                    <a:pt x="460501" y="417368"/>
                  </a:lnTo>
                  <a:lnTo>
                    <a:pt x="685137" y="435868"/>
                  </a:lnTo>
                  <a:lnTo>
                    <a:pt x="925629" y="464938"/>
                  </a:lnTo>
                  <a:lnTo>
                    <a:pt x="1163479" y="507223"/>
                  </a:lnTo>
                  <a:lnTo>
                    <a:pt x="1364330" y="544221"/>
                  </a:lnTo>
                  <a:lnTo>
                    <a:pt x="1610108" y="599720"/>
                  </a:lnTo>
                  <a:lnTo>
                    <a:pt x="1845315" y="673717"/>
                  </a:lnTo>
                  <a:lnTo>
                    <a:pt x="2006524" y="742429"/>
                  </a:lnTo>
                  <a:lnTo>
                    <a:pt x="2146591" y="813784"/>
                  </a:lnTo>
                  <a:lnTo>
                    <a:pt x="2257588" y="922138"/>
                  </a:lnTo>
                  <a:lnTo>
                    <a:pt x="2291944" y="924781"/>
                  </a:lnTo>
                  <a:lnTo>
                    <a:pt x="2912996" y="922138"/>
                  </a:lnTo>
                  <a:lnTo>
                    <a:pt x="2965851" y="919495"/>
                  </a:lnTo>
                  <a:lnTo>
                    <a:pt x="3066277" y="842855"/>
                  </a:lnTo>
                  <a:lnTo>
                    <a:pt x="3272413" y="716002"/>
                  </a:lnTo>
                  <a:lnTo>
                    <a:pt x="3605403" y="594434"/>
                  </a:lnTo>
                  <a:lnTo>
                    <a:pt x="3962177" y="515151"/>
                  </a:lnTo>
                  <a:lnTo>
                    <a:pt x="4377093" y="457010"/>
                  </a:lnTo>
                  <a:lnTo>
                    <a:pt x="4659870" y="422654"/>
                  </a:lnTo>
                  <a:lnTo>
                    <a:pt x="4918862" y="398869"/>
                  </a:lnTo>
                  <a:lnTo>
                    <a:pt x="5130284" y="390940"/>
                  </a:lnTo>
                  <a:lnTo>
                    <a:pt x="5189247" y="390486"/>
                  </a:lnTo>
                  <a:cubicBezTo>
                    <a:pt x="5188944" y="357891"/>
                    <a:pt x="5190827" y="45290"/>
                    <a:pt x="5190524" y="12695"/>
                  </a:cubicBezTo>
                  <a:lnTo>
                    <a:pt x="0" y="0"/>
                  </a:lnTo>
                  <a:lnTo>
                    <a:pt x="16515" y="290515"/>
                  </a:lnTo>
                  <a:lnTo>
                    <a:pt x="10407" y="403699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83787" y="2415553"/>
              <a:ext cx="5162550" cy="346077"/>
              <a:chOff x="383787" y="2415553"/>
              <a:chExt cx="5162550" cy="346077"/>
            </a:xfrm>
          </p:grpSpPr>
          <p:sp>
            <p:nvSpPr>
              <p:cNvPr id="1451097" name="Line 89"/>
              <p:cNvSpPr>
                <a:spLocks noChangeShapeType="1"/>
              </p:cNvSpPr>
              <p:nvPr/>
            </p:nvSpPr>
            <p:spPr bwMode="auto">
              <a:xfrm>
                <a:off x="383787" y="2612385"/>
                <a:ext cx="5162550" cy="0"/>
              </a:xfrm>
              <a:prstGeom prst="line">
                <a:avLst/>
              </a:prstGeom>
              <a:noFill/>
              <a:ln w="19050">
                <a:solidFill>
                  <a:srgbClr val="0000CC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9" name="Group 102"/>
              <p:cNvGrpSpPr>
                <a:grpSpLocks/>
              </p:cNvGrpSpPr>
              <p:nvPr/>
            </p:nvGrpSpPr>
            <p:grpSpPr bwMode="auto">
              <a:xfrm>
                <a:off x="1791874" y="2415553"/>
                <a:ext cx="366713" cy="346077"/>
                <a:chOff x="1593" y="1997"/>
                <a:chExt cx="231" cy="218"/>
              </a:xfrm>
            </p:grpSpPr>
            <p:sp>
              <p:nvSpPr>
                <p:cNvPr id="40997" name="Line 103"/>
                <p:cNvSpPr>
                  <a:spLocks noChangeShapeType="1"/>
                </p:cNvSpPr>
                <p:nvPr/>
              </p:nvSpPr>
              <p:spPr bwMode="auto">
                <a:xfrm>
                  <a:off x="1640" y="2188"/>
                  <a:ext cx="114" cy="0"/>
                </a:xfrm>
                <a:prstGeom prst="line">
                  <a:avLst/>
                </a:prstGeom>
                <a:noFill/>
                <a:ln w="19050">
                  <a:solidFill>
                    <a:srgbClr val="0000CC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998" name="Line 104"/>
                <p:cNvSpPr>
                  <a:spLocks noChangeShapeType="1"/>
                </p:cNvSpPr>
                <p:nvPr/>
              </p:nvSpPr>
              <p:spPr bwMode="auto">
                <a:xfrm>
                  <a:off x="1670" y="2215"/>
                  <a:ext cx="58" cy="0"/>
                </a:xfrm>
                <a:prstGeom prst="line">
                  <a:avLst/>
                </a:prstGeom>
                <a:noFill/>
                <a:ln w="19050">
                  <a:solidFill>
                    <a:srgbClr val="0000CC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999" name="AutoShape 105"/>
                <p:cNvSpPr>
                  <a:spLocks noChangeArrowheads="1"/>
                </p:cNvSpPr>
                <p:nvPr/>
              </p:nvSpPr>
              <p:spPr bwMode="auto">
                <a:xfrm flipV="1">
                  <a:off x="1646" y="1997"/>
                  <a:ext cx="125" cy="11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19050" algn="ctr">
                  <a:solidFill>
                    <a:srgbClr val="0000CC"/>
                  </a:solidFill>
                  <a:prstDash val="sysDash"/>
                  <a:miter lim="800000"/>
                  <a:headEnd/>
                  <a:tailEnd/>
                </a:ln>
              </p:spPr>
              <p:txBody>
                <a:bodyPr wrap="none" lIns="0"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000" name="Line 106"/>
                <p:cNvSpPr>
                  <a:spLocks noChangeShapeType="1"/>
                </p:cNvSpPr>
                <p:nvPr/>
              </p:nvSpPr>
              <p:spPr bwMode="auto">
                <a:xfrm>
                  <a:off x="1593" y="2157"/>
                  <a:ext cx="231" cy="0"/>
                </a:xfrm>
                <a:prstGeom prst="line">
                  <a:avLst/>
                </a:prstGeom>
                <a:noFill/>
                <a:ln w="19050">
                  <a:solidFill>
                    <a:srgbClr val="0000CC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451115" name="Text Box 107"/>
          <p:cNvSpPr txBox="1">
            <a:spLocks noChangeArrowheads="1"/>
          </p:cNvSpPr>
          <p:nvPr/>
        </p:nvSpPr>
        <p:spPr bwMode="auto">
          <a:xfrm>
            <a:off x="371062" y="3429947"/>
            <a:ext cx="104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/>
                </a:solidFill>
                <a:latin typeface="Arial" charset="0"/>
                <a:ea typeface="幼圆" pitchFamily="49" charset="-122"/>
              </a:rPr>
              <a:t>透水层</a:t>
            </a:r>
          </a:p>
        </p:txBody>
      </p:sp>
      <p:sp>
        <p:nvSpPr>
          <p:cNvPr id="1451116" name="Text Box 108"/>
          <p:cNvSpPr txBox="1">
            <a:spLocks noChangeArrowheads="1"/>
          </p:cNvSpPr>
          <p:nvPr/>
        </p:nvSpPr>
        <p:spPr bwMode="auto">
          <a:xfrm>
            <a:off x="321849" y="4528497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Arial" charset="0"/>
                <a:ea typeface="幼圆" pitchFamily="49" charset="-122"/>
              </a:rPr>
              <a:t>不透水层</a:t>
            </a:r>
          </a:p>
        </p:txBody>
      </p:sp>
      <p:sp>
        <p:nvSpPr>
          <p:cNvPr id="1451117" name="Text Box 109"/>
          <p:cNvSpPr txBox="1">
            <a:spLocks noChangeArrowheads="1"/>
          </p:cNvSpPr>
          <p:nvPr/>
        </p:nvSpPr>
        <p:spPr bwMode="auto">
          <a:xfrm>
            <a:off x="455199" y="2191697"/>
            <a:ext cx="1068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Arial" charset="0"/>
                <a:ea typeface="幼圆" pitchFamily="49" charset="-122"/>
              </a:rPr>
              <a:t>天然水面</a:t>
            </a:r>
          </a:p>
        </p:txBody>
      </p:sp>
      <p:sp>
        <p:nvSpPr>
          <p:cNvPr id="1451118" name="Text Box 110"/>
          <p:cNvSpPr txBox="1">
            <a:spLocks noChangeArrowheads="1"/>
          </p:cNvSpPr>
          <p:nvPr/>
        </p:nvSpPr>
        <p:spPr bwMode="auto">
          <a:xfrm>
            <a:off x="3317867" y="5599128"/>
            <a:ext cx="24209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水井渗流</a:t>
            </a:r>
          </a:p>
        </p:txBody>
      </p:sp>
      <p:sp>
        <p:nvSpPr>
          <p:cNvPr id="1451119" name="Text Box 111"/>
          <p:cNvSpPr txBox="1">
            <a:spLocks noChangeArrowheads="1"/>
          </p:cNvSpPr>
          <p:nvPr/>
        </p:nvSpPr>
        <p:spPr bwMode="auto">
          <a:xfrm rot="20873568">
            <a:off x="3519074" y="2439347"/>
            <a:ext cx="1600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Arial" charset="0"/>
                <a:ea typeface="幼圆" pitchFamily="49" charset="-122"/>
              </a:rPr>
              <a:t>漏斗状潜水面</a:t>
            </a:r>
          </a:p>
        </p:txBody>
      </p:sp>
      <p:sp>
        <p:nvSpPr>
          <p:cNvPr id="1451126" name="AutoShape 118"/>
          <p:cNvSpPr>
            <a:spLocks noChangeArrowheads="1"/>
          </p:cNvSpPr>
          <p:nvPr/>
        </p:nvSpPr>
        <p:spPr bwMode="auto">
          <a:xfrm>
            <a:off x="2739612" y="1266185"/>
            <a:ext cx="441325" cy="495300"/>
          </a:xfrm>
          <a:prstGeom prst="upArrow">
            <a:avLst>
              <a:gd name="adj1" fmla="val 44602"/>
              <a:gd name="adj2" fmla="val 50706"/>
            </a:avLst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51127" name="Text Box 119"/>
          <p:cNvSpPr txBox="1">
            <a:spLocks noChangeArrowheads="1"/>
          </p:cNvSpPr>
          <p:nvPr/>
        </p:nvSpPr>
        <p:spPr bwMode="auto">
          <a:xfrm>
            <a:off x="3206337" y="1342385"/>
            <a:ext cx="2365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990033"/>
                </a:solidFill>
                <a:latin typeface="Arial" charset="0"/>
              </a:rPr>
              <a:t>Q</a:t>
            </a:r>
          </a:p>
        </p:txBody>
      </p:sp>
      <p:sp>
        <p:nvSpPr>
          <p:cNvPr id="12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387617" y="2408443"/>
            <a:ext cx="5162550" cy="352427"/>
            <a:chOff x="399103" y="2409203"/>
            <a:chExt cx="5162550" cy="352427"/>
          </a:xfrm>
        </p:grpSpPr>
        <p:sp>
          <p:nvSpPr>
            <p:cNvPr id="126" name="Line 89"/>
            <p:cNvSpPr>
              <a:spLocks noChangeShapeType="1"/>
            </p:cNvSpPr>
            <p:nvPr/>
          </p:nvSpPr>
          <p:spPr bwMode="auto">
            <a:xfrm>
              <a:off x="399103" y="2612385"/>
              <a:ext cx="5162550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27" name="Group 102"/>
            <p:cNvGrpSpPr>
              <a:grpSpLocks/>
            </p:cNvGrpSpPr>
            <p:nvPr/>
          </p:nvGrpSpPr>
          <p:grpSpPr bwMode="auto">
            <a:xfrm>
              <a:off x="1791874" y="2409203"/>
              <a:ext cx="366713" cy="352427"/>
              <a:chOff x="1593" y="1993"/>
              <a:chExt cx="231" cy="222"/>
            </a:xfrm>
          </p:grpSpPr>
          <p:sp>
            <p:nvSpPr>
              <p:cNvPr id="128" name="Line 103"/>
              <p:cNvSpPr>
                <a:spLocks noChangeShapeType="1"/>
              </p:cNvSpPr>
              <p:nvPr/>
            </p:nvSpPr>
            <p:spPr bwMode="auto">
              <a:xfrm>
                <a:off x="1640" y="2188"/>
                <a:ext cx="11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9" name="Line 104"/>
              <p:cNvSpPr>
                <a:spLocks noChangeShapeType="1"/>
              </p:cNvSpPr>
              <p:nvPr/>
            </p:nvSpPr>
            <p:spPr bwMode="auto">
              <a:xfrm>
                <a:off x="1670" y="2215"/>
                <a:ext cx="58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0" name="AutoShape 105"/>
              <p:cNvSpPr>
                <a:spLocks noChangeArrowheads="1"/>
              </p:cNvSpPr>
              <p:nvPr/>
            </p:nvSpPr>
            <p:spPr bwMode="auto">
              <a:xfrm flipV="1">
                <a:off x="1654" y="1993"/>
                <a:ext cx="125" cy="117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9050" algn="ctr">
                <a:solidFill>
                  <a:srgbClr val="0000CC"/>
                </a:solidFill>
                <a:prstDash val="solid"/>
                <a:miter lim="800000"/>
                <a:headEnd/>
                <a:tailEnd/>
              </a:ln>
            </p:spPr>
            <p:txBody>
              <a:bodyPr wrap="none"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1" name="Line 106"/>
              <p:cNvSpPr>
                <a:spLocks noChangeShapeType="1"/>
              </p:cNvSpPr>
              <p:nvPr/>
            </p:nvSpPr>
            <p:spPr bwMode="auto">
              <a:xfrm>
                <a:off x="1593" y="2157"/>
                <a:ext cx="231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Group 112"/>
          <p:cNvGrpSpPr>
            <a:grpSpLocks/>
          </p:cNvGrpSpPr>
          <p:nvPr/>
        </p:nvGrpSpPr>
        <p:grpSpPr bwMode="auto">
          <a:xfrm>
            <a:off x="2691606" y="3052122"/>
            <a:ext cx="576262" cy="346075"/>
            <a:chOff x="2154" y="2402"/>
            <a:chExt cx="363" cy="218"/>
          </a:xfrm>
        </p:grpSpPr>
        <p:sp>
          <p:nvSpPr>
            <p:cNvPr id="40996" name="Line 117"/>
            <p:cNvSpPr>
              <a:spLocks noChangeShapeType="1"/>
            </p:cNvSpPr>
            <p:nvPr/>
          </p:nvSpPr>
          <p:spPr bwMode="auto">
            <a:xfrm>
              <a:off x="2154" y="2523"/>
              <a:ext cx="363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2" name="Line 113"/>
            <p:cNvSpPr>
              <a:spLocks noChangeShapeType="1"/>
            </p:cNvSpPr>
            <p:nvPr/>
          </p:nvSpPr>
          <p:spPr bwMode="auto">
            <a:xfrm>
              <a:off x="2288" y="2593"/>
              <a:ext cx="114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3" name="Line 114"/>
            <p:cNvSpPr>
              <a:spLocks noChangeShapeType="1"/>
            </p:cNvSpPr>
            <p:nvPr/>
          </p:nvSpPr>
          <p:spPr bwMode="auto">
            <a:xfrm>
              <a:off x="2318" y="2620"/>
              <a:ext cx="58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4" name="AutoShape 115"/>
            <p:cNvSpPr>
              <a:spLocks noChangeArrowheads="1"/>
            </p:cNvSpPr>
            <p:nvPr/>
          </p:nvSpPr>
          <p:spPr bwMode="auto">
            <a:xfrm flipV="1">
              <a:off x="2282" y="2402"/>
              <a:ext cx="124" cy="117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905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square"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5" name="Line 116"/>
            <p:cNvSpPr>
              <a:spLocks noChangeShapeType="1"/>
            </p:cNvSpPr>
            <p:nvPr/>
          </p:nvSpPr>
          <p:spPr bwMode="auto">
            <a:xfrm>
              <a:off x="2241" y="2562"/>
              <a:ext cx="231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1104" name="Freeform 96"/>
          <p:cNvSpPr>
            <a:spLocks/>
          </p:cNvSpPr>
          <p:nvPr/>
        </p:nvSpPr>
        <p:spPr bwMode="auto">
          <a:xfrm flipH="1">
            <a:off x="377916" y="2717160"/>
            <a:ext cx="2255331" cy="530225"/>
          </a:xfrm>
          <a:custGeom>
            <a:avLst/>
            <a:gdLst>
              <a:gd name="T0" fmla="*/ 0 w 1095"/>
              <a:gd name="T1" fmla="*/ 260 h 260"/>
              <a:gd name="T2" fmla="*/ 93 w 1095"/>
              <a:gd name="T3" fmla="*/ 191 h 260"/>
              <a:gd name="T4" fmla="*/ 201 w 1095"/>
              <a:gd name="T5" fmla="*/ 140 h 260"/>
              <a:gd name="T6" fmla="*/ 363 w 1095"/>
              <a:gd name="T7" fmla="*/ 89 h 260"/>
              <a:gd name="T8" fmla="*/ 543 w 1095"/>
              <a:gd name="T9" fmla="*/ 53 h 260"/>
              <a:gd name="T10" fmla="*/ 723 w 1095"/>
              <a:gd name="T11" fmla="*/ 29 h 260"/>
              <a:gd name="T12" fmla="*/ 849 w 1095"/>
              <a:gd name="T13" fmla="*/ 14 h 260"/>
              <a:gd name="T14" fmla="*/ 1011 w 1095"/>
              <a:gd name="T15" fmla="*/ 2 h 260"/>
              <a:gd name="T16" fmla="*/ 1095 w 1095"/>
              <a:gd name="T17" fmla="*/ 2 h 2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95"/>
              <a:gd name="T28" fmla="*/ 0 h 260"/>
              <a:gd name="T29" fmla="*/ 1095 w 1095"/>
              <a:gd name="T30" fmla="*/ 260 h 2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95" h="260">
                <a:moveTo>
                  <a:pt x="0" y="260"/>
                </a:moveTo>
                <a:cubicBezTo>
                  <a:pt x="15" y="249"/>
                  <a:pt x="60" y="211"/>
                  <a:pt x="93" y="191"/>
                </a:cubicBezTo>
                <a:cubicBezTo>
                  <a:pt x="126" y="171"/>
                  <a:pt x="156" y="157"/>
                  <a:pt x="201" y="140"/>
                </a:cubicBezTo>
                <a:cubicBezTo>
                  <a:pt x="246" y="123"/>
                  <a:pt x="306" y="103"/>
                  <a:pt x="363" y="89"/>
                </a:cubicBezTo>
                <a:cubicBezTo>
                  <a:pt x="420" y="75"/>
                  <a:pt x="483" y="63"/>
                  <a:pt x="543" y="53"/>
                </a:cubicBezTo>
                <a:cubicBezTo>
                  <a:pt x="603" y="43"/>
                  <a:pt x="672" y="35"/>
                  <a:pt x="723" y="29"/>
                </a:cubicBezTo>
                <a:cubicBezTo>
                  <a:pt x="774" y="23"/>
                  <a:pt x="801" y="18"/>
                  <a:pt x="849" y="14"/>
                </a:cubicBezTo>
                <a:cubicBezTo>
                  <a:pt x="897" y="10"/>
                  <a:pt x="970" y="4"/>
                  <a:pt x="1011" y="2"/>
                </a:cubicBezTo>
                <a:cubicBezTo>
                  <a:pt x="1052" y="0"/>
                  <a:pt x="1078" y="2"/>
                  <a:pt x="1095" y="2"/>
                </a:cubicBezTo>
              </a:path>
            </a:pathLst>
          </a:cu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rIns="0">
            <a:spAutoFit/>
          </a:bodyPr>
          <a:lstStyle/>
          <a:p>
            <a:endParaRPr lang="zh-CN" altLang="en-US"/>
          </a:p>
        </p:txBody>
      </p:sp>
      <p:sp>
        <p:nvSpPr>
          <p:cNvPr id="1451098" name="Freeform 90"/>
          <p:cNvSpPr>
            <a:spLocks/>
          </p:cNvSpPr>
          <p:nvPr/>
        </p:nvSpPr>
        <p:spPr bwMode="auto">
          <a:xfrm>
            <a:off x="3324574" y="2713985"/>
            <a:ext cx="2217324" cy="530225"/>
          </a:xfrm>
          <a:custGeom>
            <a:avLst/>
            <a:gdLst>
              <a:gd name="T0" fmla="*/ 0 w 1095"/>
              <a:gd name="T1" fmla="*/ 260 h 260"/>
              <a:gd name="T2" fmla="*/ 93 w 1095"/>
              <a:gd name="T3" fmla="*/ 191 h 260"/>
              <a:gd name="T4" fmla="*/ 201 w 1095"/>
              <a:gd name="T5" fmla="*/ 140 h 260"/>
              <a:gd name="T6" fmla="*/ 363 w 1095"/>
              <a:gd name="T7" fmla="*/ 89 h 260"/>
              <a:gd name="T8" fmla="*/ 543 w 1095"/>
              <a:gd name="T9" fmla="*/ 53 h 260"/>
              <a:gd name="T10" fmla="*/ 723 w 1095"/>
              <a:gd name="T11" fmla="*/ 29 h 260"/>
              <a:gd name="T12" fmla="*/ 849 w 1095"/>
              <a:gd name="T13" fmla="*/ 14 h 260"/>
              <a:gd name="T14" fmla="*/ 1011 w 1095"/>
              <a:gd name="T15" fmla="*/ 2 h 260"/>
              <a:gd name="T16" fmla="*/ 1095 w 1095"/>
              <a:gd name="T17" fmla="*/ 2 h 2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95"/>
              <a:gd name="T28" fmla="*/ 0 h 260"/>
              <a:gd name="T29" fmla="*/ 1095 w 1095"/>
              <a:gd name="T30" fmla="*/ 260 h 2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95" h="260">
                <a:moveTo>
                  <a:pt x="0" y="260"/>
                </a:moveTo>
                <a:cubicBezTo>
                  <a:pt x="15" y="249"/>
                  <a:pt x="60" y="211"/>
                  <a:pt x="93" y="191"/>
                </a:cubicBezTo>
                <a:cubicBezTo>
                  <a:pt x="126" y="171"/>
                  <a:pt x="156" y="157"/>
                  <a:pt x="201" y="140"/>
                </a:cubicBezTo>
                <a:cubicBezTo>
                  <a:pt x="246" y="123"/>
                  <a:pt x="306" y="103"/>
                  <a:pt x="363" y="89"/>
                </a:cubicBezTo>
                <a:cubicBezTo>
                  <a:pt x="420" y="75"/>
                  <a:pt x="483" y="63"/>
                  <a:pt x="543" y="53"/>
                </a:cubicBezTo>
                <a:cubicBezTo>
                  <a:pt x="603" y="43"/>
                  <a:pt x="672" y="35"/>
                  <a:pt x="723" y="29"/>
                </a:cubicBezTo>
                <a:cubicBezTo>
                  <a:pt x="774" y="23"/>
                  <a:pt x="801" y="18"/>
                  <a:pt x="849" y="14"/>
                </a:cubicBezTo>
                <a:cubicBezTo>
                  <a:pt x="897" y="10"/>
                  <a:pt x="970" y="4"/>
                  <a:pt x="1011" y="2"/>
                </a:cubicBezTo>
                <a:cubicBezTo>
                  <a:pt x="1052" y="0"/>
                  <a:pt x="1078" y="2"/>
                  <a:pt x="1095" y="2"/>
                </a:cubicBezTo>
              </a:path>
            </a:pathLst>
          </a:cu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rIns="0"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615787" y="1937697"/>
            <a:ext cx="725487" cy="2316163"/>
            <a:chOff x="2615787" y="1937697"/>
            <a:chExt cx="725487" cy="2316163"/>
          </a:xfrm>
        </p:grpSpPr>
        <p:sp>
          <p:nvSpPr>
            <p:cNvPr id="1451095" name="Rectangle 87"/>
            <p:cNvSpPr>
              <a:spLocks noChangeArrowheads="1"/>
            </p:cNvSpPr>
            <p:nvPr/>
          </p:nvSpPr>
          <p:spPr bwMode="auto">
            <a:xfrm>
              <a:off x="2615787" y="1939285"/>
              <a:ext cx="90487" cy="2314575"/>
            </a:xfrm>
            <a:prstGeom prst="rect">
              <a:avLst/>
            </a:prstGeom>
            <a:solidFill>
              <a:srgbClr val="FFCCCC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1096" name="Rectangle 88"/>
            <p:cNvSpPr>
              <a:spLocks noChangeArrowheads="1"/>
            </p:cNvSpPr>
            <p:nvPr/>
          </p:nvSpPr>
          <p:spPr bwMode="auto">
            <a:xfrm>
              <a:off x="3250787" y="1937697"/>
              <a:ext cx="90487" cy="2312988"/>
            </a:xfrm>
            <a:prstGeom prst="rect">
              <a:avLst/>
            </a:prstGeom>
            <a:solidFill>
              <a:srgbClr val="FFCCCC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r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5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239336245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51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51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51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51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51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51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51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51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51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5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145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1012" grpId="0"/>
      <p:bldP spid="1451013" grpId="0" animBg="1"/>
      <p:bldP spid="1451119" grpId="0"/>
      <p:bldP spid="1451126" grpId="0" animBg="1"/>
      <p:bldP spid="1451127" grpId="0"/>
      <p:bldP spid="1451104" grpId="0" animBg="1"/>
      <p:bldP spid="145109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1174049" y="3738423"/>
            <a:ext cx="4013421" cy="675861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1168107" y="3742153"/>
            <a:ext cx="4017017" cy="0"/>
          </a:xfrm>
          <a:prstGeom prst="line">
            <a:avLst/>
          </a:prstGeom>
          <a:noFill/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任意多边形 6"/>
          <p:cNvSpPr/>
          <p:nvPr/>
        </p:nvSpPr>
        <p:spPr bwMode="auto">
          <a:xfrm>
            <a:off x="1173392" y="3475249"/>
            <a:ext cx="4011732" cy="335632"/>
          </a:xfrm>
          <a:custGeom>
            <a:avLst/>
            <a:gdLst>
              <a:gd name="connsiteX0" fmla="*/ 0 w 4006446"/>
              <a:gd name="connsiteY0" fmla="*/ 332989 h 335632"/>
              <a:gd name="connsiteX1" fmla="*/ 0 w 4006446"/>
              <a:gd name="connsiteY1" fmla="*/ 187637 h 335632"/>
              <a:gd name="connsiteX2" fmla="*/ 348846 w 4006446"/>
              <a:gd name="connsiteY2" fmla="*/ 169137 h 335632"/>
              <a:gd name="connsiteX3" fmla="*/ 932899 w 4006446"/>
              <a:gd name="connsiteY3" fmla="*/ 113639 h 335632"/>
              <a:gd name="connsiteX4" fmla="*/ 1358386 w 4006446"/>
              <a:gd name="connsiteY4" fmla="*/ 44927 h 335632"/>
              <a:gd name="connsiteX5" fmla="*/ 1720446 w 4006446"/>
              <a:gd name="connsiteY5" fmla="*/ 0 h 335632"/>
              <a:gd name="connsiteX6" fmla="*/ 1892226 w 4006446"/>
              <a:gd name="connsiteY6" fmla="*/ 0 h 335632"/>
              <a:gd name="connsiteX7" fmla="*/ 2407568 w 4006446"/>
              <a:gd name="connsiteY7" fmla="*/ 60783 h 335632"/>
              <a:gd name="connsiteX8" fmla="*/ 2848911 w 4006446"/>
              <a:gd name="connsiteY8" fmla="*/ 134781 h 335632"/>
              <a:gd name="connsiteX9" fmla="*/ 3329896 w 4006446"/>
              <a:gd name="connsiteY9" fmla="*/ 184994 h 335632"/>
              <a:gd name="connsiteX10" fmla="*/ 3620601 w 4006446"/>
              <a:gd name="connsiteY10" fmla="*/ 190279 h 335632"/>
              <a:gd name="connsiteX11" fmla="*/ 3890164 w 4006446"/>
              <a:gd name="connsiteY11" fmla="*/ 198208 h 335632"/>
              <a:gd name="connsiteX12" fmla="*/ 4006446 w 4006446"/>
              <a:gd name="connsiteY12" fmla="*/ 195565 h 335632"/>
              <a:gd name="connsiteX13" fmla="*/ 4006446 w 4006446"/>
              <a:gd name="connsiteY13" fmla="*/ 335632 h 335632"/>
              <a:gd name="connsiteX14" fmla="*/ 0 w 4006446"/>
              <a:gd name="connsiteY14" fmla="*/ 332989 h 335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06446" h="335632">
                <a:moveTo>
                  <a:pt x="0" y="332989"/>
                </a:moveTo>
                <a:lnTo>
                  <a:pt x="0" y="187637"/>
                </a:lnTo>
                <a:lnTo>
                  <a:pt x="348846" y="169137"/>
                </a:lnTo>
                <a:lnTo>
                  <a:pt x="932899" y="113639"/>
                </a:lnTo>
                <a:lnTo>
                  <a:pt x="1358386" y="44927"/>
                </a:lnTo>
                <a:lnTo>
                  <a:pt x="1720446" y="0"/>
                </a:lnTo>
                <a:lnTo>
                  <a:pt x="1892226" y="0"/>
                </a:lnTo>
                <a:lnTo>
                  <a:pt x="2407568" y="60783"/>
                </a:lnTo>
                <a:lnTo>
                  <a:pt x="2848911" y="134781"/>
                </a:lnTo>
                <a:lnTo>
                  <a:pt x="3329896" y="184994"/>
                </a:lnTo>
                <a:lnTo>
                  <a:pt x="3620601" y="190279"/>
                </a:lnTo>
                <a:lnTo>
                  <a:pt x="3890164" y="198208"/>
                </a:lnTo>
                <a:lnTo>
                  <a:pt x="4006446" y="195565"/>
                </a:lnTo>
                <a:lnTo>
                  <a:pt x="4006446" y="335632"/>
                </a:lnTo>
                <a:lnTo>
                  <a:pt x="0" y="332989"/>
                </a:ln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2047836" y="1931282"/>
            <a:ext cx="1841206" cy="424861"/>
          </a:xfrm>
          <a:custGeom>
            <a:avLst/>
            <a:gdLst>
              <a:gd name="connsiteX0" fmla="*/ 0 w 1835150"/>
              <a:gd name="connsiteY0" fmla="*/ 0 h 412750"/>
              <a:gd name="connsiteX1" fmla="*/ 1835150 w 1835150"/>
              <a:gd name="connsiteY1" fmla="*/ 0 h 412750"/>
              <a:gd name="connsiteX2" fmla="*/ 1428750 w 1835150"/>
              <a:gd name="connsiteY2" fmla="*/ 412750 h 412750"/>
              <a:gd name="connsiteX3" fmla="*/ 438150 w 1835150"/>
              <a:gd name="connsiteY3" fmla="*/ 412750 h 412750"/>
              <a:gd name="connsiteX4" fmla="*/ 0 w 1835150"/>
              <a:gd name="connsiteY4" fmla="*/ 0 h 412750"/>
              <a:gd name="connsiteX0" fmla="*/ 0 w 1844234"/>
              <a:gd name="connsiteY0" fmla="*/ 0 h 424861"/>
              <a:gd name="connsiteX1" fmla="*/ 1844234 w 1844234"/>
              <a:gd name="connsiteY1" fmla="*/ 12111 h 424861"/>
              <a:gd name="connsiteX2" fmla="*/ 1437834 w 1844234"/>
              <a:gd name="connsiteY2" fmla="*/ 424861 h 424861"/>
              <a:gd name="connsiteX3" fmla="*/ 447234 w 1844234"/>
              <a:gd name="connsiteY3" fmla="*/ 424861 h 424861"/>
              <a:gd name="connsiteX4" fmla="*/ 0 w 1844234"/>
              <a:gd name="connsiteY4" fmla="*/ 0 h 424861"/>
              <a:gd name="connsiteX0" fmla="*/ 0 w 1841206"/>
              <a:gd name="connsiteY0" fmla="*/ 6056 h 430917"/>
              <a:gd name="connsiteX1" fmla="*/ 1841206 w 1841206"/>
              <a:gd name="connsiteY1" fmla="*/ 0 h 430917"/>
              <a:gd name="connsiteX2" fmla="*/ 1437834 w 1841206"/>
              <a:gd name="connsiteY2" fmla="*/ 430917 h 430917"/>
              <a:gd name="connsiteX3" fmla="*/ 447234 w 1841206"/>
              <a:gd name="connsiteY3" fmla="*/ 430917 h 430917"/>
              <a:gd name="connsiteX4" fmla="*/ 0 w 1841206"/>
              <a:gd name="connsiteY4" fmla="*/ 6056 h 430917"/>
              <a:gd name="connsiteX0" fmla="*/ 0 w 1841206"/>
              <a:gd name="connsiteY0" fmla="*/ 6056 h 430917"/>
              <a:gd name="connsiteX1" fmla="*/ 1841206 w 1841206"/>
              <a:gd name="connsiteY1" fmla="*/ 0 h 430917"/>
              <a:gd name="connsiteX2" fmla="*/ 1425723 w 1841206"/>
              <a:gd name="connsiteY2" fmla="*/ 421834 h 430917"/>
              <a:gd name="connsiteX3" fmla="*/ 447234 w 1841206"/>
              <a:gd name="connsiteY3" fmla="*/ 430917 h 430917"/>
              <a:gd name="connsiteX4" fmla="*/ 0 w 1841206"/>
              <a:gd name="connsiteY4" fmla="*/ 6056 h 430917"/>
              <a:gd name="connsiteX0" fmla="*/ 0 w 1841206"/>
              <a:gd name="connsiteY0" fmla="*/ 6056 h 421834"/>
              <a:gd name="connsiteX1" fmla="*/ 1841206 w 1841206"/>
              <a:gd name="connsiteY1" fmla="*/ 0 h 421834"/>
              <a:gd name="connsiteX2" fmla="*/ 1425723 w 1841206"/>
              <a:gd name="connsiteY2" fmla="*/ 421834 h 421834"/>
              <a:gd name="connsiteX3" fmla="*/ 441179 w 1841206"/>
              <a:gd name="connsiteY3" fmla="*/ 412750 h 421834"/>
              <a:gd name="connsiteX4" fmla="*/ 0 w 1841206"/>
              <a:gd name="connsiteY4" fmla="*/ 6056 h 421834"/>
              <a:gd name="connsiteX0" fmla="*/ 0 w 1841206"/>
              <a:gd name="connsiteY0" fmla="*/ 6056 h 421834"/>
              <a:gd name="connsiteX1" fmla="*/ 1841206 w 1841206"/>
              <a:gd name="connsiteY1" fmla="*/ 0 h 421834"/>
              <a:gd name="connsiteX2" fmla="*/ 1425723 w 1841206"/>
              <a:gd name="connsiteY2" fmla="*/ 421834 h 421834"/>
              <a:gd name="connsiteX3" fmla="*/ 429068 w 1841206"/>
              <a:gd name="connsiteY3" fmla="*/ 418805 h 421834"/>
              <a:gd name="connsiteX4" fmla="*/ 0 w 1841206"/>
              <a:gd name="connsiteY4" fmla="*/ 6056 h 421834"/>
              <a:gd name="connsiteX0" fmla="*/ 0 w 1841206"/>
              <a:gd name="connsiteY0" fmla="*/ 6056 h 424861"/>
              <a:gd name="connsiteX1" fmla="*/ 1841206 w 1841206"/>
              <a:gd name="connsiteY1" fmla="*/ 0 h 424861"/>
              <a:gd name="connsiteX2" fmla="*/ 1425723 w 1841206"/>
              <a:gd name="connsiteY2" fmla="*/ 421834 h 424861"/>
              <a:gd name="connsiteX3" fmla="*/ 419984 w 1841206"/>
              <a:gd name="connsiteY3" fmla="*/ 424861 h 424861"/>
              <a:gd name="connsiteX4" fmla="*/ 0 w 1841206"/>
              <a:gd name="connsiteY4" fmla="*/ 6056 h 42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206" h="424861">
                <a:moveTo>
                  <a:pt x="0" y="6056"/>
                </a:moveTo>
                <a:lnTo>
                  <a:pt x="1841206" y="0"/>
                </a:lnTo>
                <a:lnTo>
                  <a:pt x="1425723" y="421834"/>
                </a:lnTo>
                <a:lnTo>
                  <a:pt x="419984" y="424861"/>
                </a:lnTo>
                <a:lnTo>
                  <a:pt x="0" y="6056"/>
                </a:ln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452036" name="Text Box 4"/>
          <p:cNvSpPr txBox="1">
            <a:spLocks noChangeArrowheads="1"/>
          </p:cNvSpPr>
          <p:nvPr/>
        </p:nvSpPr>
        <p:spPr bwMode="auto">
          <a:xfrm>
            <a:off x="6617077" y="1834450"/>
            <a:ext cx="2081212" cy="214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渗流问题：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1. 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渗漏量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？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2. 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地下水影响</a:t>
            </a:r>
            <a:b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</a:b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    范围？</a:t>
            </a:r>
          </a:p>
        </p:txBody>
      </p:sp>
      <p:sp>
        <p:nvSpPr>
          <p:cNvPr id="1452037" name="AutoShape 5"/>
          <p:cNvSpPr>
            <a:spLocks noChangeArrowheads="1"/>
          </p:cNvSpPr>
          <p:nvPr/>
        </p:nvSpPr>
        <p:spPr bwMode="auto">
          <a:xfrm>
            <a:off x="5723340" y="1955100"/>
            <a:ext cx="617537" cy="488950"/>
          </a:xfrm>
          <a:prstGeom prst="homePlate">
            <a:avLst>
              <a:gd name="adj" fmla="val 3157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9" name="Text Box 6"/>
          <p:cNvSpPr txBox="1">
            <a:spLocks noChangeArrowheads="1"/>
          </p:cNvSpPr>
          <p:nvPr/>
        </p:nvSpPr>
        <p:spPr bwMode="auto">
          <a:xfrm>
            <a:off x="2218099" y="5689261"/>
            <a:ext cx="544113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渠道、河流或湖泊渗流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452041" name="Line 9"/>
          <p:cNvSpPr>
            <a:spLocks noChangeShapeType="1"/>
          </p:cNvSpPr>
          <p:nvPr/>
        </p:nvSpPr>
        <p:spPr bwMode="auto">
          <a:xfrm>
            <a:off x="1166626" y="1821750"/>
            <a:ext cx="792163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2042" name="Freeform 10"/>
          <p:cNvSpPr>
            <a:spLocks/>
          </p:cNvSpPr>
          <p:nvPr/>
        </p:nvSpPr>
        <p:spPr bwMode="auto">
          <a:xfrm>
            <a:off x="1944501" y="1815400"/>
            <a:ext cx="2028825" cy="530225"/>
          </a:xfrm>
          <a:custGeom>
            <a:avLst/>
            <a:gdLst>
              <a:gd name="T0" fmla="*/ 0 w 1278"/>
              <a:gd name="T1" fmla="*/ 0 h 334"/>
              <a:gd name="T2" fmla="*/ 327 w 1278"/>
              <a:gd name="T3" fmla="*/ 334 h 334"/>
              <a:gd name="T4" fmla="*/ 962 w 1278"/>
              <a:gd name="T5" fmla="*/ 334 h 334"/>
              <a:gd name="T6" fmla="*/ 1278 w 1278"/>
              <a:gd name="T7" fmla="*/ 12 h 334"/>
              <a:gd name="T8" fmla="*/ 0 60000 65536"/>
              <a:gd name="T9" fmla="*/ 0 60000 65536"/>
              <a:gd name="T10" fmla="*/ 0 60000 65536"/>
              <a:gd name="T11" fmla="*/ 0 60000 65536"/>
              <a:gd name="T12" fmla="*/ 0 w 1278"/>
              <a:gd name="T13" fmla="*/ 0 h 334"/>
              <a:gd name="T14" fmla="*/ 1278 w 1278"/>
              <a:gd name="T15" fmla="*/ 334 h 3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8" h="334">
                <a:moveTo>
                  <a:pt x="0" y="0"/>
                </a:moveTo>
                <a:lnTo>
                  <a:pt x="327" y="334"/>
                </a:lnTo>
                <a:lnTo>
                  <a:pt x="962" y="334"/>
                </a:lnTo>
                <a:lnTo>
                  <a:pt x="1278" y="12"/>
                </a:lnTo>
              </a:path>
            </a:pathLst>
          </a:custGeom>
          <a:noFill/>
          <a:ln w="28575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2043" name="Line 11"/>
          <p:cNvSpPr>
            <a:spLocks noChangeShapeType="1"/>
          </p:cNvSpPr>
          <p:nvPr/>
        </p:nvSpPr>
        <p:spPr bwMode="auto">
          <a:xfrm>
            <a:off x="3970150" y="1824925"/>
            <a:ext cx="1217319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rIns="0">
            <a:spAutoFit/>
          </a:bodyPr>
          <a:lstStyle/>
          <a:p>
            <a:endParaRPr lang="zh-CN" altLang="en-US"/>
          </a:p>
        </p:txBody>
      </p:sp>
      <p:sp>
        <p:nvSpPr>
          <p:cNvPr id="1452044" name="Freeform 12"/>
          <p:cNvSpPr>
            <a:spLocks/>
          </p:cNvSpPr>
          <p:nvPr/>
        </p:nvSpPr>
        <p:spPr bwMode="auto">
          <a:xfrm>
            <a:off x="1593664" y="1932875"/>
            <a:ext cx="438150" cy="1439862"/>
          </a:xfrm>
          <a:custGeom>
            <a:avLst/>
            <a:gdLst>
              <a:gd name="T0" fmla="*/ 276 w 276"/>
              <a:gd name="T1" fmla="*/ 0 h 907"/>
              <a:gd name="T2" fmla="*/ 230 w 276"/>
              <a:gd name="T3" fmla="*/ 46 h 907"/>
              <a:gd name="T4" fmla="*/ 188 w 276"/>
              <a:gd name="T5" fmla="*/ 100 h 907"/>
              <a:gd name="T6" fmla="*/ 140 w 276"/>
              <a:gd name="T7" fmla="*/ 182 h 907"/>
              <a:gd name="T8" fmla="*/ 86 w 276"/>
              <a:gd name="T9" fmla="*/ 319 h 907"/>
              <a:gd name="T10" fmla="*/ 56 w 276"/>
              <a:gd name="T11" fmla="*/ 406 h 907"/>
              <a:gd name="T12" fmla="*/ 32 w 276"/>
              <a:gd name="T13" fmla="*/ 520 h 907"/>
              <a:gd name="T14" fmla="*/ 20 w 276"/>
              <a:gd name="T15" fmla="*/ 598 h 907"/>
              <a:gd name="T16" fmla="*/ 3 w 276"/>
              <a:gd name="T17" fmla="*/ 771 h 907"/>
              <a:gd name="T18" fmla="*/ 3 w 276"/>
              <a:gd name="T19" fmla="*/ 907 h 90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76"/>
              <a:gd name="T31" fmla="*/ 0 h 907"/>
              <a:gd name="T32" fmla="*/ 276 w 276"/>
              <a:gd name="T33" fmla="*/ 907 h 90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76" h="907">
                <a:moveTo>
                  <a:pt x="276" y="0"/>
                </a:moveTo>
                <a:cubicBezTo>
                  <a:pt x="260" y="15"/>
                  <a:pt x="245" y="29"/>
                  <a:pt x="230" y="46"/>
                </a:cubicBezTo>
                <a:cubicBezTo>
                  <a:pt x="215" y="63"/>
                  <a:pt x="203" y="77"/>
                  <a:pt x="188" y="100"/>
                </a:cubicBezTo>
                <a:cubicBezTo>
                  <a:pt x="173" y="123"/>
                  <a:pt x="157" y="146"/>
                  <a:pt x="140" y="182"/>
                </a:cubicBezTo>
                <a:cubicBezTo>
                  <a:pt x="123" y="218"/>
                  <a:pt x="100" y="282"/>
                  <a:pt x="86" y="319"/>
                </a:cubicBezTo>
                <a:cubicBezTo>
                  <a:pt x="72" y="356"/>
                  <a:pt x="65" y="373"/>
                  <a:pt x="56" y="406"/>
                </a:cubicBezTo>
                <a:cubicBezTo>
                  <a:pt x="47" y="439"/>
                  <a:pt x="38" y="488"/>
                  <a:pt x="32" y="520"/>
                </a:cubicBezTo>
                <a:cubicBezTo>
                  <a:pt x="26" y="552"/>
                  <a:pt x="25" y="556"/>
                  <a:pt x="20" y="598"/>
                </a:cubicBezTo>
                <a:cubicBezTo>
                  <a:pt x="15" y="640"/>
                  <a:pt x="6" y="720"/>
                  <a:pt x="3" y="771"/>
                </a:cubicBezTo>
                <a:cubicBezTo>
                  <a:pt x="0" y="822"/>
                  <a:pt x="3" y="884"/>
                  <a:pt x="3" y="907"/>
                </a:cubicBez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2045" name="Freeform 13"/>
          <p:cNvSpPr>
            <a:spLocks/>
          </p:cNvSpPr>
          <p:nvPr/>
        </p:nvSpPr>
        <p:spPr bwMode="auto">
          <a:xfrm>
            <a:off x="1915926" y="2115437"/>
            <a:ext cx="314325" cy="1281113"/>
          </a:xfrm>
          <a:custGeom>
            <a:avLst/>
            <a:gdLst>
              <a:gd name="T0" fmla="*/ 198 w 198"/>
              <a:gd name="T1" fmla="*/ 0 h 807"/>
              <a:gd name="T2" fmla="*/ 141 w 198"/>
              <a:gd name="T3" fmla="*/ 90 h 807"/>
              <a:gd name="T4" fmla="*/ 111 w 198"/>
              <a:gd name="T5" fmla="*/ 153 h 807"/>
              <a:gd name="T6" fmla="*/ 84 w 198"/>
              <a:gd name="T7" fmla="*/ 231 h 807"/>
              <a:gd name="T8" fmla="*/ 54 w 198"/>
              <a:gd name="T9" fmla="*/ 333 h 807"/>
              <a:gd name="T10" fmla="*/ 36 w 198"/>
              <a:gd name="T11" fmla="*/ 408 h 807"/>
              <a:gd name="T12" fmla="*/ 21 w 198"/>
              <a:gd name="T13" fmla="*/ 495 h 807"/>
              <a:gd name="T14" fmla="*/ 12 w 198"/>
              <a:gd name="T15" fmla="*/ 570 h 807"/>
              <a:gd name="T16" fmla="*/ 6 w 198"/>
              <a:gd name="T17" fmla="*/ 657 h 807"/>
              <a:gd name="T18" fmla="*/ 3 w 198"/>
              <a:gd name="T19" fmla="*/ 753 h 807"/>
              <a:gd name="T20" fmla="*/ 0 w 198"/>
              <a:gd name="T21" fmla="*/ 807 h 80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98"/>
              <a:gd name="T34" fmla="*/ 0 h 807"/>
              <a:gd name="T35" fmla="*/ 198 w 198"/>
              <a:gd name="T36" fmla="*/ 807 h 80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98" h="807">
                <a:moveTo>
                  <a:pt x="198" y="0"/>
                </a:moveTo>
                <a:cubicBezTo>
                  <a:pt x="189" y="15"/>
                  <a:pt x="155" y="65"/>
                  <a:pt x="141" y="90"/>
                </a:cubicBezTo>
                <a:cubicBezTo>
                  <a:pt x="127" y="115"/>
                  <a:pt x="120" y="130"/>
                  <a:pt x="111" y="153"/>
                </a:cubicBezTo>
                <a:cubicBezTo>
                  <a:pt x="102" y="176"/>
                  <a:pt x="93" y="201"/>
                  <a:pt x="84" y="231"/>
                </a:cubicBezTo>
                <a:cubicBezTo>
                  <a:pt x="75" y="261"/>
                  <a:pt x="62" y="304"/>
                  <a:pt x="54" y="333"/>
                </a:cubicBezTo>
                <a:cubicBezTo>
                  <a:pt x="46" y="362"/>
                  <a:pt x="41" y="381"/>
                  <a:pt x="36" y="408"/>
                </a:cubicBezTo>
                <a:cubicBezTo>
                  <a:pt x="31" y="435"/>
                  <a:pt x="25" y="468"/>
                  <a:pt x="21" y="495"/>
                </a:cubicBezTo>
                <a:cubicBezTo>
                  <a:pt x="17" y="522"/>
                  <a:pt x="15" y="543"/>
                  <a:pt x="12" y="570"/>
                </a:cubicBezTo>
                <a:cubicBezTo>
                  <a:pt x="9" y="597"/>
                  <a:pt x="7" y="627"/>
                  <a:pt x="6" y="657"/>
                </a:cubicBezTo>
                <a:cubicBezTo>
                  <a:pt x="5" y="687"/>
                  <a:pt x="4" y="728"/>
                  <a:pt x="3" y="753"/>
                </a:cubicBezTo>
                <a:cubicBezTo>
                  <a:pt x="2" y="778"/>
                  <a:pt x="1" y="796"/>
                  <a:pt x="0" y="807"/>
                </a:cubicBez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2046" name="Freeform 14"/>
          <p:cNvSpPr>
            <a:spLocks/>
          </p:cNvSpPr>
          <p:nvPr/>
        </p:nvSpPr>
        <p:spPr bwMode="auto">
          <a:xfrm>
            <a:off x="2211201" y="2344037"/>
            <a:ext cx="238125" cy="1052513"/>
          </a:xfrm>
          <a:custGeom>
            <a:avLst/>
            <a:gdLst>
              <a:gd name="T0" fmla="*/ 150 w 150"/>
              <a:gd name="T1" fmla="*/ 0 h 663"/>
              <a:gd name="T2" fmla="*/ 123 w 150"/>
              <a:gd name="T3" fmla="*/ 54 h 663"/>
              <a:gd name="T4" fmla="*/ 102 w 150"/>
              <a:gd name="T5" fmla="*/ 108 h 663"/>
              <a:gd name="T6" fmla="*/ 68 w 150"/>
              <a:gd name="T7" fmla="*/ 195 h 663"/>
              <a:gd name="T8" fmla="*/ 42 w 150"/>
              <a:gd name="T9" fmla="*/ 300 h 663"/>
              <a:gd name="T10" fmla="*/ 30 w 150"/>
              <a:gd name="T11" fmla="*/ 369 h 663"/>
              <a:gd name="T12" fmla="*/ 12 w 150"/>
              <a:gd name="T13" fmla="*/ 510 h 663"/>
              <a:gd name="T14" fmla="*/ 6 w 150"/>
              <a:gd name="T15" fmla="*/ 600 h 663"/>
              <a:gd name="T16" fmla="*/ 0 w 150"/>
              <a:gd name="T17" fmla="*/ 663 h 66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0"/>
              <a:gd name="T28" fmla="*/ 0 h 663"/>
              <a:gd name="T29" fmla="*/ 150 w 150"/>
              <a:gd name="T30" fmla="*/ 663 h 66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0" h="663">
                <a:moveTo>
                  <a:pt x="150" y="0"/>
                </a:moveTo>
                <a:cubicBezTo>
                  <a:pt x="145" y="9"/>
                  <a:pt x="131" y="36"/>
                  <a:pt x="123" y="54"/>
                </a:cubicBezTo>
                <a:cubicBezTo>
                  <a:pt x="115" y="72"/>
                  <a:pt x="111" y="84"/>
                  <a:pt x="102" y="108"/>
                </a:cubicBezTo>
                <a:cubicBezTo>
                  <a:pt x="93" y="132"/>
                  <a:pt x="78" y="163"/>
                  <a:pt x="68" y="195"/>
                </a:cubicBezTo>
                <a:cubicBezTo>
                  <a:pt x="58" y="227"/>
                  <a:pt x="48" y="271"/>
                  <a:pt x="42" y="300"/>
                </a:cubicBezTo>
                <a:cubicBezTo>
                  <a:pt x="36" y="329"/>
                  <a:pt x="35" y="334"/>
                  <a:pt x="30" y="369"/>
                </a:cubicBezTo>
                <a:cubicBezTo>
                  <a:pt x="25" y="404"/>
                  <a:pt x="16" y="472"/>
                  <a:pt x="12" y="510"/>
                </a:cubicBezTo>
                <a:cubicBezTo>
                  <a:pt x="8" y="548"/>
                  <a:pt x="8" y="575"/>
                  <a:pt x="6" y="600"/>
                </a:cubicBezTo>
                <a:cubicBezTo>
                  <a:pt x="4" y="625"/>
                  <a:pt x="1" y="650"/>
                  <a:pt x="0" y="663"/>
                </a:cubicBez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2047" name="Freeform 15"/>
          <p:cNvSpPr>
            <a:spLocks/>
          </p:cNvSpPr>
          <p:nvPr/>
        </p:nvSpPr>
        <p:spPr bwMode="auto">
          <a:xfrm>
            <a:off x="2563626" y="2353562"/>
            <a:ext cx="142875" cy="1038225"/>
          </a:xfrm>
          <a:custGeom>
            <a:avLst/>
            <a:gdLst>
              <a:gd name="T0" fmla="*/ 90 w 90"/>
              <a:gd name="T1" fmla="*/ 0 h 654"/>
              <a:gd name="T2" fmla="*/ 72 w 90"/>
              <a:gd name="T3" fmla="*/ 114 h 654"/>
              <a:gd name="T4" fmla="*/ 42 w 90"/>
              <a:gd name="T5" fmla="*/ 219 h 654"/>
              <a:gd name="T6" fmla="*/ 27 w 90"/>
              <a:gd name="T7" fmla="*/ 309 h 654"/>
              <a:gd name="T8" fmla="*/ 12 w 90"/>
              <a:gd name="T9" fmla="*/ 408 h 654"/>
              <a:gd name="T10" fmla="*/ 3 w 90"/>
              <a:gd name="T11" fmla="*/ 522 h 654"/>
              <a:gd name="T12" fmla="*/ 0 w 90"/>
              <a:gd name="T13" fmla="*/ 654 h 6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654"/>
              <a:gd name="T23" fmla="*/ 90 w 90"/>
              <a:gd name="T24" fmla="*/ 654 h 6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654">
                <a:moveTo>
                  <a:pt x="90" y="0"/>
                </a:moveTo>
                <a:cubicBezTo>
                  <a:pt x="87" y="18"/>
                  <a:pt x="80" y="78"/>
                  <a:pt x="72" y="114"/>
                </a:cubicBezTo>
                <a:cubicBezTo>
                  <a:pt x="64" y="150"/>
                  <a:pt x="49" y="187"/>
                  <a:pt x="42" y="219"/>
                </a:cubicBezTo>
                <a:cubicBezTo>
                  <a:pt x="35" y="251"/>
                  <a:pt x="32" y="278"/>
                  <a:pt x="27" y="309"/>
                </a:cubicBezTo>
                <a:cubicBezTo>
                  <a:pt x="22" y="340"/>
                  <a:pt x="16" y="373"/>
                  <a:pt x="12" y="408"/>
                </a:cubicBezTo>
                <a:cubicBezTo>
                  <a:pt x="8" y="443"/>
                  <a:pt x="5" y="481"/>
                  <a:pt x="3" y="522"/>
                </a:cubicBezTo>
                <a:cubicBezTo>
                  <a:pt x="1" y="563"/>
                  <a:pt x="1" y="627"/>
                  <a:pt x="0" y="654"/>
                </a:cubicBez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225614" y="1939225"/>
            <a:ext cx="1112837" cy="1463675"/>
            <a:chOff x="2925" y="2082"/>
            <a:chExt cx="701" cy="922"/>
          </a:xfrm>
        </p:grpSpPr>
        <p:sp>
          <p:nvSpPr>
            <p:cNvPr id="42017" name="Freeform 17"/>
            <p:cNvSpPr>
              <a:spLocks/>
            </p:cNvSpPr>
            <p:nvPr/>
          </p:nvSpPr>
          <p:spPr bwMode="auto">
            <a:xfrm flipH="1">
              <a:off x="3350" y="2082"/>
              <a:ext cx="276" cy="907"/>
            </a:xfrm>
            <a:custGeom>
              <a:avLst/>
              <a:gdLst>
                <a:gd name="T0" fmla="*/ 276 w 276"/>
                <a:gd name="T1" fmla="*/ 0 h 907"/>
                <a:gd name="T2" fmla="*/ 230 w 276"/>
                <a:gd name="T3" fmla="*/ 46 h 907"/>
                <a:gd name="T4" fmla="*/ 188 w 276"/>
                <a:gd name="T5" fmla="*/ 100 h 907"/>
                <a:gd name="T6" fmla="*/ 140 w 276"/>
                <a:gd name="T7" fmla="*/ 182 h 907"/>
                <a:gd name="T8" fmla="*/ 86 w 276"/>
                <a:gd name="T9" fmla="*/ 319 h 907"/>
                <a:gd name="T10" fmla="*/ 56 w 276"/>
                <a:gd name="T11" fmla="*/ 406 h 907"/>
                <a:gd name="T12" fmla="*/ 32 w 276"/>
                <a:gd name="T13" fmla="*/ 520 h 907"/>
                <a:gd name="T14" fmla="*/ 20 w 276"/>
                <a:gd name="T15" fmla="*/ 598 h 907"/>
                <a:gd name="T16" fmla="*/ 3 w 276"/>
                <a:gd name="T17" fmla="*/ 771 h 907"/>
                <a:gd name="T18" fmla="*/ 3 w 276"/>
                <a:gd name="T19" fmla="*/ 907 h 9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6"/>
                <a:gd name="T31" fmla="*/ 0 h 907"/>
                <a:gd name="T32" fmla="*/ 276 w 276"/>
                <a:gd name="T33" fmla="*/ 907 h 9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6" h="907">
                  <a:moveTo>
                    <a:pt x="276" y="0"/>
                  </a:moveTo>
                  <a:cubicBezTo>
                    <a:pt x="260" y="15"/>
                    <a:pt x="245" y="29"/>
                    <a:pt x="230" y="46"/>
                  </a:cubicBezTo>
                  <a:cubicBezTo>
                    <a:pt x="215" y="63"/>
                    <a:pt x="203" y="77"/>
                    <a:pt x="188" y="100"/>
                  </a:cubicBezTo>
                  <a:cubicBezTo>
                    <a:pt x="173" y="123"/>
                    <a:pt x="157" y="146"/>
                    <a:pt x="140" y="182"/>
                  </a:cubicBezTo>
                  <a:cubicBezTo>
                    <a:pt x="123" y="218"/>
                    <a:pt x="100" y="282"/>
                    <a:pt x="86" y="319"/>
                  </a:cubicBezTo>
                  <a:cubicBezTo>
                    <a:pt x="72" y="356"/>
                    <a:pt x="65" y="373"/>
                    <a:pt x="56" y="406"/>
                  </a:cubicBezTo>
                  <a:cubicBezTo>
                    <a:pt x="47" y="439"/>
                    <a:pt x="38" y="488"/>
                    <a:pt x="32" y="520"/>
                  </a:cubicBezTo>
                  <a:cubicBezTo>
                    <a:pt x="26" y="552"/>
                    <a:pt x="25" y="556"/>
                    <a:pt x="20" y="598"/>
                  </a:cubicBezTo>
                  <a:cubicBezTo>
                    <a:pt x="15" y="640"/>
                    <a:pt x="6" y="720"/>
                    <a:pt x="3" y="771"/>
                  </a:cubicBezTo>
                  <a:cubicBezTo>
                    <a:pt x="0" y="822"/>
                    <a:pt x="3" y="884"/>
                    <a:pt x="3" y="907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8" name="Freeform 18"/>
            <p:cNvSpPr>
              <a:spLocks/>
            </p:cNvSpPr>
            <p:nvPr/>
          </p:nvSpPr>
          <p:spPr bwMode="auto">
            <a:xfrm flipH="1">
              <a:off x="3225" y="2197"/>
              <a:ext cx="198" cy="807"/>
            </a:xfrm>
            <a:custGeom>
              <a:avLst/>
              <a:gdLst>
                <a:gd name="T0" fmla="*/ 198 w 198"/>
                <a:gd name="T1" fmla="*/ 0 h 807"/>
                <a:gd name="T2" fmla="*/ 141 w 198"/>
                <a:gd name="T3" fmla="*/ 90 h 807"/>
                <a:gd name="T4" fmla="*/ 111 w 198"/>
                <a:gd name="T5" fmla="*/ 153 h 807"/>
                <a:gd name="T6" fmla="*/ 84 w 198"/>
                <a:gd name="T7" fmla="*/ 231 h 807"/>
                <a:gd name="T8" fmla="*/ 54 w 198"/>
                <a:gd name="T9" fmla="*/ 333 h 807"/>
                <a:gd name="T10" fmla="*/ 36 w 198"/>
                <a:gd name="T11" fmla="*/ 408 h 807"/>
                <a:gd name="T12" fmla="*/ 21 w 198"/>
                <a:gd name="T13" fmla="*/ 495 h 807"/>
                <a:gd name="T14" fmla="*/ 12 w 198"/>
                <a:gd name="T15" fmla="*/ 570 h 807"/>
                <a:gd name="T16" fmla="*/ 6 w 198"/>
                <a:gd name="T17" fmla="*/ 657 h 807"/>
                <a:gd name="T18" fmla="*/ 3 w 198"/>
                <a:gd name="T19" fmla="*/ 753 h 807"/>
                <a:gd name="T20" fmla="*/ 0 w 198"/>
                <a:gd name="T21" fmla="*/ 807 h 80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8"/>
                <a:gd name="T34" fmla="*/ 0 h 807"/>
                <a:gd name="T35" fmla="*/ 198 w 198"/>
                <a:gd name="T36" fmla="*/ 807 h 80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8" h="807">
                  <a:moveTo>
                    <a:pt x="198" y="0"/>
                  </a:moveTo>
                  <a:cubicBezTo>
                    <a:pt x="189" y="15"/>
                    <a:pt x="155" y="65"/>
                    <a:pt x="141" y="90"/>
                  </a:cubicBezTo>
                  <a:cubicBezTo>
                    <a:pt x="127" y="115"/>
                    <a:pt x="120" y="130"/>
                    <a:pt x="111" y="153"/>
                  </a:cubicBezTo>
                  <a:cubicBezTo>
                    <a:pt x="102" y="176"/>
                    <a:pt x="93" y="201"/>
                    <a:pt x="84" y="231"/>
                  </a:cubicBezTo>
                  <a:cubicBezTo>
                    <a:pt x="75" y="261"/>
                    <a:pt x="62" y="304"/>
                    <a:pt x="54" y="333"/>
                  </a:cubicBezTo>
                  <a:cubicBezTo>
                    <a:pt x="46" y="362"/>
                    <a:pt x="41" y="381"/>
                    <a:pt x="36" y="408"/>
                  </a:cubicBezTo>
                  <a:cubicBezTo>
                    <a:pt x="31" y="435"/>
                    <a:pt x="25" y="468"/>
                    <a:pt x="21" y="495"/>
                  </a:cubicBezTo>
                  <a:cubicBezTo>
                    <a:pt x="17" y="522"/>
                    <a:pt x="15" y="543"/>
                    <a:pt x="12" y="570"/>
                  </a:cubicBezTo>
                  <a:cubicBezTo>
                    <a:pt x="9" y="597"/>
                    <a:pt x="7" y="627"/>
                    <a:pt x="6" y="657"/>
                  </a:cubicBezTo>
                  <a:cubicBezTo>
                    <a:pt x="5" y="687"/>
                    <a:pt x="4" y="728"/>
                    <a:pt x="3" y="753"/>
                  </a:cubicBezTo>
                  <a:cubicBezTo>
                    <a:pt x="2" y="778"/>
                    <a:pt x="1" y="796"/>
                    <a:pt x="0" y="807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9" name="Freeform 19"/>
            <p:cNvSpPr>
              <a:spLocks/>
            </p:cNvSpPr>
            <p:nvPr/>
          </p:nvSpPr>
          <p:spPr bwMode="auto">
            <a:xfrm flipH="1">
              <a:off x="3087" y="2341"/>
              <a:ext cx="150" cy="663"/>
            </a:xfrm>
            <a:custGeom>
              <a:avLst/>
              <a:gdLst>
                <a:gd name="T0" fmla="*/ 150 w 150"/>
                <a:gd name="T1" fmla="*/ 0 h 663"/>
                <a:gd name="T2" fmla="*/ 123 w 150"/>
                <a:gd name="T3" fmla="*/ 54 h 663"/>
                <a:gd name="T4" fmla="*/ 102 w 150"/>
                <a:gd name="T5" fmla="*/ 108 h 663"/>
                <a:gd name="T6" fmla="*/ 68 w 150"/>
                <a:gd name="T7" fmla="*/ 195 h 663"/>
                <a:gd name="T8" fmla="*/ 42 w 150"/>
                <a:gd name="T9" fmla="*/ 300 h 663"/>
                <a:gd name="T10" fmla="*/ 30 w 150"/>
                <a:gd name="T11" fmla="*/ 369 h 663"/>
                <a:gd name="T12" fmla="*/ 12 w 150"/>
                <a:gd name="T13" fmla="*/ 510 h 663"/>
                <a:gd name="T14" fmla="*/ 6 w 150"/>
                <a:gd name="T15" fmla="*/ 600 h 663"/>
                <a:gd name="T16" fmla="*/ 0 w 150"/>
                <a:gd name="T17" fmla="*/ 663 h 6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0"/>
                <a:gd name="T28" fmla="*/ 0 h 663"/>
                <a:gd name="T29" fmla="*/ 150 w 150"/>
                <a:gd name="T30" fmla="*/ 663 h 66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0" h="663">
                  <a:moveTo>
                    <a:pt x="150" y="0"/>
                  </a:moveTo>
                  <a:cubicBezTo>
                    <a:pt x="145" y="9"/>
                    <a:pt x="131" y="36"/>
                    <a:pt x="123" y="54"/>
                  </a:cubicBezTo>
                  <a:cubicBezTo>
                    <a:pt x="115" y="72"/>
                    <a:pt x="111" y="84"/>
                    <a:pt x="102" y="108"/>
                  </a:cubicBezTo>
                  <a:cubicBezTo>
                    <a:pt x="93" y="132"/>
                    <a:pt x="78" y="163"/>
                    <a:pt x="68" y="195"/>
                  </a:cubicBezTo>
                  <a:cubicBezTo>
                    <a:pt x="58" y="227"/>
                    <a:pt x="48" y="271"/>
                    <a:pt x="42" y="300"/>
                  </a:cubicBezTo>
                  <a:cubicBezTo>
                    <a:pt x="36" y="329"/>
                    <a:pt x="35" y="334"/>
                    <a:pt x="30" y="369"/>
                  </a:cubicBezTo>
                  <a:cubicBezTo>
                    <a:pt x="25" y="404"/>
                    <a:pt x="16" y="472"/>
                    <a:pt x="12" y="510"/>
                  </a:cubicBezTo>
                  <a:cubicBezTo>
                    <a:pt x="8" y="548"/>
                    <a:pt x="8" y="575"/>
                    <a:pt x="6" y="600"/>
                  </a:cubicBezTo>
                  <a:cubicBezTo>
                    <a:pt x="4" y="625"/>
                    <a:pt x="1" y="650"/>
                    <a:pt x="0" y="663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0" name="Freeform 20"/>
            <p:cNvSpPr>
              <a:spLocks/>
            </p:cNvSpPr>
            <p:nvPr/>
          </p:nvSpPr>
          <p:spPr bwMode="auto">
            <a:xfrm flipH="1">
              <a:off x="2925" y="2347"/>
              <a:ext cx="90" cy="654"/>
            </a:xfrm>
            <a:custGeom>
              <a:avLst/>
              <a:gdLst>
                <a:gd name="T0" fmla="*/ 90 w 90"/>
                <a:gd name="T1" fmla="*/ 0 h 654"/>
                <a:gd name="T2" fmla="*/ 72 w 90"/>
                <a:gd name="T3" fmla="*/ 114 h 654"/>
                <a:gd name="T4" fmla="*/ 42 w 90"/>
                <a:gd name="T5" fmla="*/ 219 h 654"/>
                <a:gd name="T6" fmla="*/ 27 w 90"/>
                <a:gd name="T7" fmla="*/ 309 h 654"/>
                <a:gd name="T8" fmla="*/ 12 w 90"/>
                <a:gd name="T9" fmla="*/ 408 h 654"/>
                <a:gd name="T10" fmla="*/ 3 w 90"/>
                <a:gd name="T11" fmla="*/ 522 h 654"/>
                <a:gd name="T12" fmla="*/ 0 w 90"/>
                <a:gd name="T13" fmla="*/ 654 h 6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"/>
                <a:gd name="T22" fmla="*/ 0 h 654"/>
                <a:gd name="T23" fmla="*/ 90 w 90"/>
                <a:gd name="T24" fmla="*/ 654 h 65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" h="654">
                  <a:moveTo>
                    <a:pt x="90" y="0"/>
                  </a:moveTo>
                  <a:cubicBezTo>
                    <a:pt x="87" y="18"/>
                    <a:pt x="80" y="78"/>
                    <a:pt x="72" y="114"/>
                  </a:cubicBezTo>
                  <a:cubicBezTo>
                    <a:pt x="64" y="150"/>
                    <a:pt x="49" y="187"/>
                    <a:pt x="42" y="219"/>
                  </a:cubicBezTo>
                  <a:cubicBezTo>
                    <a:pt x="35" y="251"/>
                    <a:pt x="32" y="278"/>
                    <a:pt x="27" y="309"/>
                  </a:cubicBezTo>
                  <a:cubicBezTo>
                    <a:pt x="22" y="340"/>
                    <a:pt x="16" y="373"/>
                    <a:pt x="12" y="408"/>
                  </a:cubicBezTo>
                  <a:cubicBezTo>
                    <a:pt x="8" y="443"/>
                    <a:pt x="5" y="481"/>
                    <a:pt x="3" y="522"/>
                  </a:cubicBezTo>
                  <a:cubicBezTo>
                    <a:pt x="1" y="563"/>
                    <a:pt x="1" y="627"/>
                    <a:pt x="0" y="654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2053" name="Line 21"/>
          <p:cNvSpPr>
            <a:spLocks noChangeShapeType="1"/>
          </p:cNvSpPr>
          <p:nvPr/>
        </p:nvSpPr>
        <p:spPr bwMode="auto">
          <a:xfrm>
            <a:off x="2966851" y="2364675"/>
            <a:ext cx="0" cy="10080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2637714" y="1812225"/>
            <a:ext cx="273600" cy="222250"/>
            <a:chOff x="1978" y="1471"/>
            <a:chExt cx="182" cy="140"/>
          </a:xfrm>
        </p:grpSpPr>
        <p:sp>
          <p:nvSpPr>
            <p:cNvPr id="42013" name="Line 23"/>
            <p:cNvSpPr>
              <a:spLocks noChangeShapeType="1"/>
            </p:cNvSpPr>
            <p:nvPr/>
          </p:nvSpPr>
          <p:spPr bwMode="auto">
            <a:xfrm>
              <a:off x="2021" y="1590"/>
              <a:ext cx="9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4" name="Line 24"/>
            <p:cNvSpPr>
              <a:spLocks noChangeShapeType="1"/>
            </p:cNvSpPr>
            <p:nvPr/>
          </p:nvSpPr>
          <p:spPr bwMode="auto">
            <a:xfrm>
              <a:off x="2045" y="1611"/>
              <a:ext cx="4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5" name="AutoShape 25"/>
            <p:cNvSpPr>
              <a:spLocks noChangeArrowheads="1"/>
            </p:cNvSpPr>
            <p:nvPr/>
          </p:nvSpPr>
          <p:spPr bwMode="auto">
            <a:xfrm flipV="1">
              <a:off x="2027" y="1471"/>
              <a:ext cx="77" cy="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6" name="Line 26"/>
            <p:cNvSpPr>
              <a:spLocks noChangeShapeType="1"/>
            </p:cNvSpPr>
            <p:nvPr/>
          </p:nvSpPr>
          <p:spPr bwMode="auto">
            <a:xfrm>
              <a:off x="1978" y="1566"/>
              <a:ext cx="182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2059" name="Line 27"/>
          <p:cNvSpPr>
            <a:spLocks noChangeShapeType="1"/>
          </p:cNvSpPr>
          <p:nvPr/>
        </p:nvSpPr>
        <p:spPr bwMode="auto">
          <a:xfrm>
            <a:off x="2031814" y="1932875"/>
            <a:ext cx="1871662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2449446" y="3618267"/>
            <a:ext cx="288925" cy="228600"/>
            <a:chOff x="3378" y="2607"/>
            <a:chExt cx="182" cy="144"/>
          </a:xfrm>
        </p:grpSpPr>
        <p:sp>
          <p:nvSpPr>
            <p:cNvPr id="42009" name="Line 30"/>
            <p:cNvSpPr>
              <a:spLocks noChangeShapeType="1"/>
            </p:cNvSpPr>
            <p:nvPr/>
          </p:nvSpPr>
          <p:spPr bwMode="auto">
            <a:xfrm>
              <a:off x="3415" y="2730"/>
              <a:ext cx="9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0" name="Line 31"/>
            <p:cNvSpPr>
              <a:spLocks noChangeShapeType="1"/>
            </p:cNvSpPr>
            <p:nvPr/>
          </p:nvSpPr>
          <p:spPr bwMode="auto">
            <a:xfrm>
              <a:off x="3439" y="2751"/>
              <a:ext cx="4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1" name="AutoShape 32"/>
            <p:cNvSpPr>
              <a:spLocks noChangeArrowheads="1"/>
            </p:cNvSpPr>
            <p:nvPr/>
          </p:nvSpPr>
          <p:spPr bwMode="auto">
            <a:xfrm flipV="1">
              <a:off x="3425" y="2607"/>
              <a:ext cx="73" cy="68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2" name="Line 33"/>
            <p:cNvSpPr>
              <a:spLocks noChangeShapeType="1"/>
            </p:cNvSpPr>
            <p:nvPr/>
          </p:nvSpPr>
          <p:spPr bwMode="auto">
            <a:xfrm>
              <a:off x="3378" y="2706"/>
              <a:ext cx="182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2066" name="Freeform 34"/>
          <p:cNvSpPr>
            <a:spLocks/>
          </p:cNvSpPr>
          <p:nvPr/>
        </p:nvSpPr>
        <p:spPr bwMode="auto">
          <a:xfrm>
            <a:off x="1166019" y="3472638"/>
            <a:ext cx="3999935" cy="210157"/>
          </a:xfrm>
          <a:custGeom>
            <a:avLst/>
            <a:gdLst>
              <a:gd name="T0" fmla="*/ 0 w 2180"/>
              <a:gd name="T1" fmla="*/ 124 h 124"/>
              <a:gd name="T2" fmla="*/ 180 w 2180"/>
              <a:gd name="T3" fmla="*/ 109 h 124"/>
              <a:gd name="T4" fmla="*/ 372 w 2180"/>
              <a:gd name="T5" fmla="*/ 91 h 124"/>
              <a:gd name="T6" fmla="*/ 502 w 2180"/>
              <a:gd name="T7" fmla="*/ 75 h 124"/>
              <a:gd name="T8" fmla="*/ 677 w 2180"/>
              <a:gd name="T9" fmla="*/ 52 h 124"/>
              <a:gd name="T10" fmla="*/ 905 w 2180"/>
              <a:gd name="T11" fmla="*/ 18 h 124"/>
              <a:gd name="T12" fmla="*/ 1095 w 2180"/>
              <a:gd name="T13" fmla="*/ 1 h 124"/>
              <a:gd name="T14" fmla="*/ 1317 w 2180"/>
              <a:gd name="T15" fmla="*/ 22 h 124"/>
              <a:gd name="T16" fmla="*/ 1471 w 2180"/>
              <a:gd name="T17" fmla="*/ 44 h 124"/>
              <a:gd name="T18" fmla="*/ 1647 w 2180"/>
              <a:gd name="T19" fmla="*/ 66 h 124"/>
              <a:gd name="T20" fmla="*/ 1851 w 2180"/>
              <a:gd name="T21" fmla="*/ 92 h 124"/>
              <a:gd name="T22" fmla="*/ 2045 w 2180"/>
              <a:gd name="T23" fmla="*/ 112 h 124"/>
              <a:gd name="T24" fmla="*/ 2180 w 2180"/>
              <a:gd name="T25" fmla="*/ 120 h 12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180"/>
              <a:gd name="T40" fmla="*/ 0 h 124"/>
              <a:gd name="T41" fmla="*/ 2180 w 2180"/>
              <a:gd name="T42" fmla="*/ 124 h 124"/>
              <a:gd name="connsiteX0" fmla="*/ 0 w 11359"/>
              <a:gd name="connsiteY0" fmla="*/ 9925 h 10676"/>
              <a:gd name="connsiteX1" fmla="*/ 826 w 11359"/>
              <a:gd name="connsiteY1" fmla="*/ 8715 h 10676"/>
              <a:gd name="connsiteX2" fmla="*/ 1706 w 11359"/>
              <a:gd name="connsiteY2" fmla="*/ 7264 h 10676"/>
              <a:gd name="connsiteX3" fmla="*/ 2303 w 11359"/>
              <a:gd name="connsiteY3" fmla="*/ 5973 h 10676"/>
              <a:gd name="connsiteX4" fmla="*/ 3106 w 11359"/>
              <a:gd name="connsiteY4" fmla="*/ 4119 h 10676"/>
              <a:gd name="connsiteX5" fmla="*/ 4151 w 11359"/>
              <a:gd name="connsiteY5" fmla="*/ 1377 h 10676"/>
              <a:gd name="connsiteX6" fmla="*/ 5023 w 11359"/>
              <a:gd name="connsiteY6" fmla="*/ 6 h 10676"/>
              <a:gd name="connsiteX7" fmla="*/ 6041 w 11359"/>
              <a:gd name="connsiteY7" fmla="*/ 1699 h 10676"/>
              <a:gd name="connsiteX8" fmla="*/ 6748 w 11359"/>
              <a:gd name="connsiteY8" fmla="*/ 3473 h 10676"/>
              <a:gd name="connsiteX9" fmla="*/ 7555 w 11359"/>
              <a:gd name="connsiteY9" fmla="*/ 5248 h 10676"/>
              <a:gd name="connsiteX10" fmla="*/ 8491 w 11359"/>
              <a:gd name="connsiteY10" fmla="*/ 7344 h 10676"/>
              <a:gd name="connsiteX11" fmla="*/ 9381 w 11359"/>
              <a:gd name="connsiteY11" fmla="*/ 8957 h 10676"/>
              <a:gd name="connsiteX12" fmla="*/ 11359 w 11359"/>
              <a:gd name="connsiteY12" fmla="*/ 10676 h 10676"/>
              <a:gd name="connsiteX0" fmla="*/ 0 w 11359"/>
              <a:gd name="connsiteY0" fmla="*/ 9925 h 10676"/>
              <a:gd name="connsiteX1" fmla="*/ 826 w 11359"/>
              <a:gd name="connsiteY1" fmla="*/ 8715 h 10676"/>
              <a:gd name="connsiteX2" fmla="*/ 1706 w 11359"/>
              <a:gd name="connsiteY2" fmla="*/ 7264 h 10676"/>
              <a:gd name="connsiteX3" fmla="*/ 2303 w 11359"/>
              <a:gd name="connsiteY3" fmla="*/ 5973 h 10676"/>
              <a:gd name="connsiteX4" fmla="*/ 3106 w 11359"/>
              <a:gd name="connsiteY4" fmla="*/ 4119 h 10676"/>
              <a:gd name="connsiteX5" fmla="*/ 4151 w 11359"/>
              <a:gd name="connsiteY5" fmla="*/ 1377 h 10676"/>
              <a:gd name="connsiteX6" fmla="*/ 5023 w 11359"/>
              <a:gd name="connsiteY6" fmla="*/ 6 h 10676"/>
              <a:gd name="connsiteX7" fmla="*/ 6041 w 11359"/>
              <a:gd name="connsiteY7" fmla="*/ 1699 h 10676"/>
              <a:gd name="connsiteX8" fmla="*/ 6748 w 11359"/>
              <a:gd name="connsiteY8" fmla="*/ 3473 h 10676"/>
              <a:gd name="connsiteX9" fmla="*/ 7555 w 11359"/>
              <a:gd name="connsiteY9" fmla="*/ 5248 h 10676"/>
              <a:gd name="connsiteX10" fmla="*/ 8491 w 11359"/>
              <a:gd name="connsiteY10" fmla="*/ 7344 h 10676"/>
              <a:gd name="connsiteX11" fmla="*/ 9381 w 11359"/>
              <a:gd name="connsiteY11" fmla="*/ 8957 h 10676"/>
              <a:gd name="connsiteX12" fmla="*/ 10475 w 11359"/>
              <a:gd name="connsiteY12" fmla="*/ 10202 h 10676"/>
              <a:gd name="connsiteX13" fmla="*/ 11359 w 11359"/>
              <a:gd name="connsiteY13" fmla="*/ 10676 h 10676"/>
              <a:gd name="connsiteX0" fmla="*/ 0 w 11558"/>
              <a:gd name="connsiteY0" fmla="*/ 9925 h 10676"/>
              <a:gd name="connsiteX1" fmla="*/ 1025 w 11558"/>
              <a:gd name="connsiteY1" fmla="*/ 8715 h 10676"/>
              <a:gd name="connsiteX2" fmla="*/ 1905 w 11558"/>
              <a:gd name="connsiteY2" fmla="*/ 7264 h 10676"/>
              <a:gd name="connsiteX3" fmla="*/ 2502 w 11558"/>
              <a:gd name="connsiteY3" fmla="*/ 5973 h 10676"/>
              <a:gd name="connsiteX4" fmla="*/ 3305 w 11558"/>
              <a:gd name="connsiteY4" fmla="*/ 4119 h 10676"/>
              <a:gd name="connsiteX5" fmla="*/ 4350 w 11558"/>
              <a:gd name="connsiteY5" fmla="*/ 1377 h 10676"/>
              <a:gd name="connsiteX6" fmla="*/ 5222 w 11558"/>
              <a:gd name="connsiteY6" fmla="*/ 6 h 10676"/>
              <a:gd name="connsiteX7" fmla="*/ 6240 w 11558"/>
              <a:gd name="connsiteY7" fmla="*/ 1699 h 10676"/>
              <a:gd name="connsiteX8" fmla="*/ 6947 w 11558"/>
              <a:gd name="connsiteY8" fmla="*/ 3473 h 10676"/>
              <a:gd name="connsiteX9" fmla="*/ 7754 w 11558"/>
              <a:gd name="connsiteY9" fmla="*/ 5248 h 10676"/>
              <a:gd name="connsiteX10" fmla="*/ 8690 w 11558"/>
              <a:gd name="connsiteY10" fmla="*/ 7344 h 10676"/>
              <a:gd name="connsiteX11" fmla="*/ 9580 w 11558"/>
              <a:gd name="connsiteY11" fmla="*/ 8957 h 10676"/>
              <a:gd name="connsiteX12" fmla="*/ 10674 w 11558"/>
              <a:gd name="connsiteY12" fmla="*/ 10202 h 10676"/>
              <a:gd name="connsiteX13" fmla="*/ 11558 w 11558"/>
              <a:gd name="connsiteY13" fmla="*/ 10676 h 10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58" h="10676">
                <a:moveTo>
                  <a:pt x="0" y="9925"/>
                </a:moveTo>
                <a:cubicBezTo>
                  <a:pt x="133" y="9764"/>
                  <a:pt x="708" y="9159"/>
                  <a:pt x="1025" y="8715"/>
                </a:cubicBezTo>
                <a:cubicBezTo>
                  <a:pt x="1343" y="8272"/>
                  <a:pt x="1658" y="7748"/>
                  <a:pt x="1905" y="7264"/>
                </a:cubicBezTo>
                <a:cubicBezTo>
                  <a:pt x="2153" y="6780"/>
                  <a:pt x="2268" y="6457"/>
                  <a:pt x="2502" y="5973"/>
                </a:cubicBezTo>
                <a:cubicBezTo>
                  <a:pt x="2736" y="5490"/>
                  <a:pt x="2997" y="4844"/>
                  <a:pt x="3305" y="4119"/>
                </a:cubicBezTo>
                <a:cubicBezTo>
                  <a:pt x="3612" y="3393"/>
                  <a:pt x="4029" y="2022"/>
                  <a:pt x="4350" y="1377"/>
                </a:cubicBezTo>
                <a:cubicBezTo>
                  <a:pt x="4671" y="731"/>
                  <a:pt x="4905" y="-75"/>
                  <a:pt x="5222" y="6"/>
                </a:cubicBezTo>
                <a:cubicBezTo>
                  <a:pt x="5538" y="86"/>
                  <a:pt x="5951" y="1135"/>
                  <a:pt x="6240" y="1699"/>
                </a:cubicBezTo>
                <a:cubicBezTo>
                  <a:pt x="6529" y="2264"/>
                  <a:pt x="6694" y="2909"/>
                  <a:pt x="6947" y="3473"/>
                </a:cubicBezTo>
                <a:cubicBezTo>
                  <a:pt x="7199" y="4038"/>
                  <a:pt x="7465" y="4602"/>
                  <a:pt x="7754" y="5248"/>
                </a:cubicBezTo>
                <a:cubicBezTo>
                  <a:pt x="8043" y="5893"/>
                  <a:pt x="8387" y="6699"/>
                  <a:pt x="8690" y="7344"/>
                </a:cubicBezTo>
                <a:cubicBezTo>
                  <a:pt x="8993" y="7990"/>
                  <a:pt x="9243" y="8548"/>
                  <a:pt x="9580" y="8957"/>
                </a:cubicBezTo>
                <a:cubicBezTo>
                  <a:pt x="9917" y="9366"/>
                  <a:pt x="10344" y="9916"/>
                  <a:pt x="10674" y="10202"/>
                </a:cubicBezTo>
                <a:cubicBezTo>
                  <a:pt x="11004" y="10488"/>
                  <a:pt x="11417" y="10530"/>
                  <a:pt x="11558" y="10676"/>
                </a:cubicBezTo>
              </a:path>
            </a:pathLst>
          </a:cu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2067" name="AutoShape 35"/>
          <p:cNvSpPr>
            <a:spLocks noChangeArrowheads="1"/>
          </p:cNvSpPr>
          <p:nvPr/>
        </p:nvSpPr>
        <p:spPr bwMode="auto">
          <a:xfrm>
            <a:off x="84029" y="2849549"/>
            <a:ext cx="1412875" cy="441325"/>
          </a:xfrm>
          <a:prstGeom prst="wedgeRoundRectCallout">
            <a:avLst>
              <a:gd name="adj1" fmla="val 44688"/>
              <a:gd name="adj2" fmla="val 150300"/>
              <a:gd name="adj3" fmla="val 16667"/>
            </a:avLst>
          </a:prstGeom>
          <a:noFill/>
          <a:ln w="19050" algn="ctr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Arial" charset="0"/>
              </a:rPr>
              <a:t>原地下水位</a:t>
            </a:r>
          </a:p>
        </p:txBody>
      </p:sp>
      <p:sp>
        <p:nvSpPr>
          <p:cNvPr id="1452068" name="AutoShape 36"/>
          <p:cNvSpPr>
            <a:spLocks noChangeArrowheads="1"/>
          </p:cNvSpPr>
          <p:nvPr/>
        </p:nvSpPr>
        <p:spPr bwMode="auto">
          <a:xfrm>
            <a:off x="4480560" y="2830454"/>
            <a:ext cx="1526346" cy="442674"/>
          </a:xfrm>
          <a:prstGeom prst="wedgeRoundRectCallout">
            <a:avLst>
              <a:gd name="adj1" fmla="val -52638"/>
              <a:gd name="adj2" fmla="val 129996"/>
              <a:gd name="adj3" fmla="val 16667"/>
            </a:avLst>
          </a:prstGeom>
          <a:noFill/>
          <a:ln w="19050" algn="ctr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 smtClean="0">
                <a:latin typeface="Arial" charset="0"/>
              </a:rPr>
              <a:t>现地下水位</a:t>
            </a:r>
            <a:endParaRPr lang="zh-CN" altLang="en-US" sz="2000" b="1" dirty="0">
              <a:latin typeface="Arial" charset="0"/>
            </a:endParaRPr>
          </a:p>
        </p:txBody>
      </p:sp>
      <p:sp>
        <p:nvSpPr>
          <p:cNvPr id="1452069" name="Freeform 37"/>
          <p:cNvSpPr>
            <a:spLocks/>
          </p:cNvSpPr>
          <p:nvPr/>
        </p:nvSpPr>
        <p:spPr bwMode="auto">
          <a:xfrm>
            <a:off x="1960376" y="1821750"/>
            <a:ext cx="2082800" cy="3175"/>
          </a:xfrm>
          <a:custGeom>
            <a:avLst/>
            <a:gdLst>
              <a:gd name="T0" fmla="*/ 0 w 1312"/>
              <a:gd name="T1" fmla="*/ 0 h 2"/>
              <a:gd name="T2" fmla="*/ 1312 w 1312"/>
              <a:gd name="T3" fmla="*/ 2 h 2"/>
              <a:gd name="T4" fmla="*/ 0 60000 65536"/>
              <a:gd name="T5" fmla="*/ 0 60000 65536"/>
              <a:gd name="T6" fmla="*/ 0 w 1312"/>
              <a:gd name="T7" fmla="*/ 0 h 2"/>
              <a:gd name="T8" fmla="*/ 1312 w 1312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12" h="2">
                <a:moveTo>
                  <a:pt x="0" y="0"/>
                </a:moveTo>
                <a:lnTo>
                  <a:pt x="1312" y="2"/>
                </a:lnTo>
              </a:path>
            </a:pathLst>
          </a:custGeom>
          <a:noFill/>
          <a:ln w="28575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3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44" name="直接连接符 43"/>
          <p:cNvCxnSpPr/>
          <p:nvPr/>
        </p:nvCxnSpPr>
        <p:spPr bwMode="auto">
          <a:xfrm>
            <a:off x="1167213" y="3741259"/>
            <a:ext cx="4017017" cy="0"/>
          </a:xfrm>
          <a:prstGeom prst="line">
            <a:avLst/>
          </a:prstGeom>
          <a:noFill/>
          <a:ln w="19050" cap="flat" cmpd="sng" algn="ctr">
            <a:solidFill>
              <a:srgbClr val="0000CC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452060" name="Line 28"/>
          <p:cNvSpPr>
            <a:spLocks noChangeShapeType="1"/>
          </p:cNvSpPr>
          <p:nvPr/>
        </p:nvSpPr>
        <p:spPr bwMode="auto">
          <a:xfrm flipH="1">
            <a:off x="2968439" y="1645536"/>
            <a:ext cx="0" cy="2916000"/>
          </a:xfrm>
          <a:prstGeom prst="line">
            <a:avLst/>
          </a:prstGeom>
          <a:noFill/>
          <a:ln w="19050">
            <a:solidFill>
              <a:srgbClr val="990033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391915206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52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52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52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4520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452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452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5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52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52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0"/>
                                        <p:tgtEl>
                                          <p:spTgt spid="145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0"/>
                                        <p:tgtEl>
                                          <p:spTgt spid="145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0"/>
                                        <p:tgtEl>
                                          <p:spTgt spid="145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0"/>
                                        <p:tgtEl>
                                          <p:spTgt spid="145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0"/>
                                        <p:tgtEl>
                                          <p:spTgt spid="145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9" dur="500"/>
                                        <p:tgtEl>
                                          <p:spTgt spid="14520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0" dur="500"/>
                                        <p:tgtEl>
                                          <p:spTgt spid="14520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500"/>
                                        <p:tgtEl>
                                          <p:spTgt spid="14520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145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2000"/>
                                        <p:tgtEl>
                                          <p:spTgt spid="145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1452036" grpId="0"/>
      <p:bldP spid="1452037" grpId="0" animBg="1"/>
      <p:bldP spid="1452041" grpId="0" animBg="1"/>
      <p:bldP spid="1452042" grpId="0" animBg="1"/>
      <p:bldP spid="1452043" grpId="0" animBg="1"/>
      <p:bldP spid="1452044" grpId="0" animBg="1"/>
      <p:bldP spid="1452045" grpId="0" animBg="1"/>
      <p:bldP spid="1452046" grpId="0" animBg="1"/>
      <p:bldP spid="1452047" grpId="0" animBg="1"/>
      <p:bldP spid="1452053" grpId="0" animBg="1"/>
      <p:bldP spid="1452059" grpId="0" animBg="1"/>
      <p:bldP spid="1452066" grpId="0" animBg="1"/>
      <p:bldP spid="1452067" grpId="0" animBg="1"/>
      <p:bldP spid="1452068" grpId="0" animBg="1"/>
      <p:bldP spid="1452069" grpId="0" animBg="1"/>
      <p:bldP spid="1452069" grpId="1" animBg="1"/>
      <p:bldP spid="145206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059" name="Freeform 3" descr="深色下对角线"/>
          <p:cNvSpPr>
            <a:spLocks/>
          </p:cNvSpPr>
          <p:nvPr/>
        </p:nvSpPr>
        <p:spPr bwMode="auto">
          <a:xfrm>
            <a:off x="407690" y="1700039"/>
            <a:ext cx="5540437" cy="2303463"/>
          </a:xfrm>
          <a:custGeom>
            <a:avLst/>
            <a:gdLst>
              <a:gd name="T0" fmla="*/ 5 w 3357"/>
              <a:gd name="T1" fmla="*/ 1809 h 1815"/>
              <a:gd name="T2" fmla="*/ 3342 w 3357"/>
              <a:gd name="T3" fmla="*/ 1809 h 1815"/>
              <a:gd name="T4" fmla="*/ 3357 w 3357"/>
              <a:gd name="T5" fmla="*/ 0 h 1815"/>
              <a:gd name="T6" fmla="*/ 0 w 3357"/>
              <a:gd name="T7" fmla="*/ 0 h 1815"/>
              <a:gd name="T8" fmla="*/ 0 w 3357"/>
              <a:gd name="T9" fmla="*/ 1815 h 1815"/>
              <a:gd name="T10" fmla="*/ 5 w 3357"/>
              <a:gd name="T11" fmla="*/ 1809 h 18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57"/>
              <a:gd name="T19" fmla="*/ 0 h 1815"/>
              <a:gd name="T20" fmla="*/ 3357 w 3357"/>
              <a:gd name="T21" fmla="*/ 1815 h 18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57" h="1815">
                <a:moveTo>
                  <a:pt x="5" y="1809"/>
                </a:moveTo>
                <a:lnTo>
                  <a:pt x="3342" y="1809"/>
                </a:lnTo>
                <a:lnTo>
                  <a:pt x="3357" y="0"/>
                </a:lnTo>
                <a:lnTo>
                  <a:pt x="0" y="0"/>
                </a:lnTo>
                <a:lnTo>
                  <a:pt x="0" y="1815"/>
                </a:lnTo>
                <a:lnTo>
                  <a:pt x="5" y="1809"/>
                </a:lnTo>
                <a:close/>
              </a:path>
            </a:pathLst>
          </a:custGeom>
          <a:pattFill prst="dkDnDiag">
            <a:fgClr>
              <a:schemeClr val="tx2">
                <a:alpha val="50980"/>
              </a:schemeClr>
            </a:fgClr>
            <a:bgClr>
              <a:srgbClr val="E1FBFA">
                <a:alpha val="50980"/>
              </a:srgbClr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/>
          <a:p>
            <a:endParaRPr lang="zh-CN" altLang="en-US"/>
          </a:p>
        </p:txBody>
      </p:sp>
      <p:sp>
        <p:nvSpPr>
          <p:cNvPr id="1453060" name="Freeform 4"/>
          <p:cNvSpPr>
            <a:spLocks/>
          </p:cNvSpPr>
          <p:nvPr/>
        </p:nvSpPr>
        <p:spPr bwMode="auto">
          <a:xfrm>
            <a:off x="2789411" y="2477914"/>
            <a:ext cx="2108200" cy="1482725"/>
          </a:xfrm>
          <a:custGeom>
            <a:avLst/>
            <a:gdLst>
              <a:gd name="T0" fmla="*/ 0 w 1328"/>
              <a:gd name="T1" fmla="*/ 934 h 934"/>
              <a:gd name="T2" fmla="*/ 693 w 1328"/>
              <a:gd name="T3" fmla="*/ 0 h 934"/>
              <a:gd name="T4" fmla="*/ 1328 w 1328"/>
              <a:gd name="T5" fmla="*/ 0 h 934"/>
              <a:gd name="T6" fmla="*/ 1296 w 1328"/>
              <a:gd name="T7" fmla="*/ 134 h 934"/>
              <a:gd name="T8" fmla="*/ 1212 w 1328"/>
              <a:gd name="T9" fmla="*/ 344 h 934"/>
              <a:gd name="T10" fmla="*/ 1092 w 1328"/>
              <a:gd name="T11" fmla="*/ 500 h 934"/>
              <a:gd name="T12" fmla="*/ 984 w 1328"/>
              <a:gd name="T13" fmla="*/ 612 h 934"/>
              <a:gd name="T14" fmla="*/ 872 w 1328"/>
              <a:gd name="T15" fmla="*/ 714 h 934"/>
              <a:gd name="T16" fmla="*/ 760 w 1328"/>
              <a:gd name="T17" fmla="*/ 784 h 934"/>
              <a:gd name="T18" fmla="*/ 510 w 1328"/>
              <a:gd name="T19" fmla="*/ 866 h 934"/>
              <a:gd name="T20" fmla="*/ 236 w 1328"/>
              <a:gd name="T21" fmla="*/ 914 h 934"/>
              <a:gd name="T22" fmla="*/ 58 w 1328"/>
              <a:gd name="T23" fmla="*/ 926 h 934"/>
              <a:gd name="T24" fmla="*/ 0 w 1328"/>
              <a:gd name="T25" fmla="*/ 934 h 93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28"/>
              <a:gd name="T40" fmla="*/ 0 h 934"/>
              <a:gd name="T41" fmla="*/ 1328 w 1328"/>
              <a:gd name="T42" fmla="*/ 934 h 934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28" h="934">
                <a:moveTo>
                  <a:pt x="0" y="934"/>
                </a:moveTo>
                <a:lnTo>
                  <a:pt x="693" y="0"/>
                </a:lnTo>
                <a:lnTo>
                  <a:pt x="1328" y="0"/>
                </a:lnTo>
                <a:lnTo>
                  <a:pt x="1296" y="134"/>
                </a:lnTo>
                <a:cubicBezTo>
                  <a:pt x="1277" y="191"/>
                  <a:pt x="1246" y="283"/>
                  <a:pt x="1212" y="344"/>
                </a:cubicBezTo>
                <a:cubicBezTo>
                  <a:pt x="1178" y="405"/>
                  <a:pt x="1130" y="455"/>
                  <a:pt x="1092" y="500"/>
                </a:cubicBezTo>
                <a:cubicBezTo>
                  <a:pt x="1054" y="545"/>
                  <a:pt x="1021" y="576"/>
                  <a:pt x="984" y="612"/>
                </a:cubicBezTo>
                <a:cubicBezTo>
                  <a:pt x="947" y="648"/>
                  <a:pt x="909" y="685"/>
                  <a:pt x="872" y="714"/>
                </a:cubicBezTo>
                <a:cubicBezTo>
                  <a:pt x="835" y="743"/>
                  <a:pt x="820" y="759"/>
                  <a:pt x="760" y="784"/>
                </a:cubicBezTo>
                <a:cubicBezTo>
                  <a:pt x="700" y="809"/>
                  <a:pt x="597" y="844"/>
                  <a:pt x="510" y="866"/>
                </a:cubicBezTo>
                <a:cubicBezTo>
                  <a:pt x="423" y="888"/>
                  <a:pt x="311" y="904"/>
                  <a:pt x="236" y="914"/>
                </a:cubicBezTo>
                <a:cubicBezTo>
                  <a:pt x="161" y="924"/>
                  <a:pt x="97" y="923"/>
                  <a:pt x="58" y="926"/>
                </a:cubicBezTo>
                <a:lnTo>
                  <a:pt x="0" y="934"/>
                </a:lnTo>
                <a:close/>
              </a:path>
            </a:pathLst>
          </a:custGeom>
          <a:solidFill>
            <a:srgbClr val="CC99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3061" name="Freeform 5"/>
          <p:cNvSpPr>
            <a:spLocks/>
          </p:cNvSpPr>
          <p:nvPr/>
        </p:nvSpPr>
        <p:spPr bwMode="auto">
          <a:xfrm>
            <a:off x="395461" y="2474739"/>
            <a:ext cx="5546725" cy="2897188"/>
          </a:xfrm>
          <a:custGeom>
            <a:avLst/>
            <a:gdLst>
              <a:gd name="T0" fmla="*/ 3494 w 3494"/>
              <a:gd name="T1" fmla="*/ 14 h 1825"/>
              <a:gd name="T2" fmla="*/ 2835 w 3494"/>
              <a:gd name="T3" fmla="*/ 0 h 1825"/>
              <a:gd name="T4" fmla="*/ 2762 w 3494"/>
              <a:gd name="T5" fmla="*/ 240 h 1825"/>
              <a:gd name="T6" fmla="*/ 2558 w 3494"/>
              <a:gd name="T7" fmla="*/ 540 h 1825"/>
              <a:gd name="T8" fmla="*/ 2360 w 3494"/>
              <a:gd name="T9" fmla="*/ 732 h 1825"/>
              <a:gd name="T10" fmla="*/ 2156 w 3494"/>
              <a:gd name="T11" fmla="*/ 822 h 1825"/>
              <a:gd name="T12" fmla="*/ 1802 w 3494"/>
              <a:gd name="T13" fmla="*/ 906 h 1825"/>
              <a:gd name="T14" fmla="*/ 1494 w 3494"/>
              <a:gd name="T15" fmla="*/ 930 h 1825"/>
              <a:gd name="T16" fmla="*/ 0 w 3494"/>
              <a:gd name="T17" fmla="*/ 934 h 1825"/>
              <a:gd name="T18" fmla="*/ 0 w 3494"/>
              <a:gd name="T19" fmla="*/ 1817 h 1825"/>
              <a:gd name="T20" fmla="*/ 3484 w 3494"/>
              <a:gd name="T21" fmla="*/ 1825 h 1825"/>
              <a:gd name="T22" fmla="*/ 3490 w 3494"/>
              <a:gd name="T23" fmla="*/ 2 h 1825"/>
              <a:gd name="T24" fmla="*/ 3494 w 3494"/>
              <a:gd name="T25" fmla="*/ 14 h 182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494"/>
              <a:gd name="T40" fmla="*/ 0 h 1825"/>
              <a:gd name="T41" fmla="*/ 3494 w 3494"/>
              <a:gd name="T42" fmla="*/ 1825 h 1825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494" h="1825">
                <a:moveTo>
                  <a:pt x="3494" y="14"/>
                </a:moveTo>
                <a:lnTo>
                  <a:pt x="2835" y="0"/>
                </a:lnTo>
                <a:lnTo>
                  <a:pt x="2762" y="240"/>
                </a:lnTo>
                <a:lnTo>
                  <a:pt x="2558" y="540"/>
                </a:lnTo>
                <a:lnTo>
                  <a:pt x="2360" y="732"/>
                </a:lnTo>
                <a:lnTo>
                  <a:pt x="2156" y="822"/>
                </a:lnTo>
                <a:lnTo>
                  <a:pt x="1802" y="906"/>
                </a:lnTo>
                <a:lnTo>
                  <a:pt x="1494" y="930"/>
                </a:lnTo>
                <a:lnTo>
                  <a:pt x="0" y="934"/>
                </a:lnTo>
                <a:lnTo>
                  <a:pt x="0" y="1817"/>
                </a:lnTo>
                <a:lnTo>
                  <a:pt x="3484" y="1825"/>
                </a:lnTo>
                <a:lnTo>
                  <a:pt x="3490" y="2"/>
                </a:lnTo>
                <a:lnTo>
                  <a:pt x="3494" y="14"/>
                </a:lnTo>
                <a:close/>
              </a:path>
            </a:pathLst>
          </a:custGeom>
          <a:solidFill>
            <a:srgbClr val="CC99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3062" name="AutoShape 6"/>
          <p:cNvSpPr>
            <a:spLocks noChangeArrowheads="1"/>
          </p:cNvSpPr>
          <p:nvPr/>
        </p:nvSpPr>
        <p:spPr bwMode="auto">
          <a:xfrm>
            <a:off x="274811" y="1066627"/>
            <a:ext cx="1728788" cy="504825"/>
          </a:xfrm>
          <a:prstGeom prst="cloudCallout">
            <a:avLst>
              <a:gd name="adj1" fmla="val 28329"/>
              <a:gd name="adj2" fmla="val 6917"/>
            </a:avLst>
          </a:prstGeom>
          <a:solidFill>
            <a:srgbClr val="99CCFF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lIns="0" rIns="0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Arial" charset="0"/>
            </a:endParaRPr>
          </a:p>
        </p:txBody>
      </p:sp>
      <p:sp>
        <p:nvSpPr>
          <p:cNvPr id="1453063" name="AutoShape 7"/>
          <p:cNvSpPr>
            <a:spLocks noChangeArrowheads="1"/>
          </p:cNvSpPr>
          <p:nvPr/>
        </p:nvSpPr>
        <p:spPr bwMode="auto">
          <a:xfrm>
            <a:off x="2376661" y="1050752"/>
            <a:ext cx="1511300" cy="720725"/>
          </a:xfrm>
          <a:prstGeom prst="cloudCallout">
            <a:avLst>
              <a:gd name="adj1" fmla="val -17019"/>
              <a:gd name="adj2" fmla="val -222"/>
            </a:avLst>
          </a:prstGeom>
          <a:solidFill>
            <a:srgbClr val="99CCFF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lIns="0" rIns="0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Arial" charset="0"/>
            </a:endParaRPr>
          </a:p>
        </p:txBody>
      </p:sp>
      <p:sp>
        <p:nvSpPr>
          <p:cNvPr id="1453064" name="AutoShape 8"/>
          <p:cNvSpPr>
            <a:spLocks noChangeArrowheads="1"/>
          </p:cNvSpPr>
          <p:nvPr/>
        </p:nvSpPr>
        <p:spPr bwMode="auto">
          <a:xfrm>
            <a:off x="4394374" y="1123777"/>
            <a:ext cx="1511300" cy="504825"/>
          </a:xfrm>
          <a:prstGeom prst="cloudCallout">
            <a:avLst>
              <a:gd name="adj1" fmla="val -16069"/>
              <a:gd name="adj2" fmla="val 6917"/>
            </a:avLst>
          </a:prstGeom>
          <a:solidFill>
            <a:srgbClr val="99CCFF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lIns="0" rIns="0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Arial" charset="0"/>
            </a:endParaRPr>
          </a:p>
        </p:txBody>
      </p:sp>
      <p:sp>
        <p:nvSpPr>
          <p:cNvPr id="1453065" name="AutoShape 9"/>
          <p:cNvSpPr>
            <a:spLocks noChangeArrowheads="1"/>
          </p:cNvSpPr>
          <p:nvPr/>
        </p:nvSpPr>
        <p:spPr bwMode="auto">
          <a:xfrm>
            <a:off x="1657524" y="763414"/>
            <a:ext cx="863600" cy="935038"/>
          </a:xfrm>
          <a:prstGeom prst="lightningBolt">
            <a:avLst/>
          </a:prstGeom>
          <a:solidFill>
            <a:srgbClr val="FFCC66"/>
          </a:solidFill>
          <a:ln w="19050" algn="ctr">
            <a:solidFill>
              <a:srgbClr val="FFFF00"/>
            </a:solidFill>
            <a:miter lim="800000"/>
            <a:headEnd/>
            <a:tailEnd/>
          </a:ln>
        </p:spPr>
        <p:txBody>
          <a:bodyPr wrap="none" lIns="0" rIns="0" anchor="ctr">
            <a:spAutoFit/>
          </a:bodyPr>
          <a:lstStyle/>
          <a:p>
            <a:endParaRPr lang="zh-CN" altLang="en-US"/>
          </a:p>
        </p:txBody>
      </p:sp>
      <p:sp>
        <p:nvSpPr>
          <p:cNvPr id="1453066" name="AutoShape 10"/>
          <p:cNvSpPr>
            <a:spLocks noChangeArrowheads="1"/>
          </p:cNvSpPr>
          <p:nvPr/>
        </p:nvSpPr>
        <p:spPr bwMode="auto">
          <a:xfrm>
            <a:off x="3889549" y="690389"/>
            <a:ext cx="863600" cy="935038"/>
          </a:xfrm>
          <a:prstGeom prst="lightningBolt">
            <a:avLst/>
          </a:prstGeom>
          <a:solidFill>
            <a:srgbClr val="FFCC66"/>
          </a:solidFill>
          <a:ln w="19050" algn="ctr">
            <a:solidFill>
              <a:srgbClr val="FFFF00"/>
            </a:solidFill>
            <a:miter lim="800000"/>
            <a:headEnd/>
            <a:tailEnd/>
          </a:ln>
        </p:spPr>
        <p:txBody>
          <a:bodyPr wrap="none" lIns="0" rIns="0" anchor="ctr">
            <a:spAutoFit/>
          </a:bodyPr>
          <a:lstStyle/>
          <a:p>
            <a:endParaRPr lang="zh-CN" altLang="en-US"/>
          </a:p>
        </p:txBody>
      </p:sp>
      <p:sp>
        <p:nvSpPr>
          <p:cNvPr id="1453067" name="Freeform 11"/>
          <p:cNvSpPr>
            <a:spLocks/>
          </p:cNvSpPr>
          <p:nvPr/>
        </p:nvSpPr>
        <p:spPr bwMode="auto">
          <a:xfrm>
            <a:off x="2784649" y="2471564"/>
            <a:ext cx="1109662" cy="1484313"/>
          </a:xfrm>
          <a:custGeom>
            <a:avLst/>
            <a:gdLst>
              <a:gd name="T0" fmla="*/ 699 w 699"/>
              <a:gd name="T1" fmla="*/ 0 h 935"/>
              <a:gd name="T2" fmla="*/ 0 w 699"/>
              <a:gd name="T3" fmla="*/ 935 h 935"/>
              <a:gd name="T4" fmla="*/ 0 60000 65536"/>
              <a:gd name="T5" fmla="*/ 0 60000 65536"/>
              <a:gd name="T6" fmla="*/ 0 w 699"/>
              <a:gd name="T7" fmla="*/ 0 h 935"/>
              <a:gd name="T8" fmla="*/ 699 w 699"/>
              <a:gd name="T9" fmla="*/ 935 h 9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99" h="935">
                <a:moveTo>
                  <a:pt x="699" y="0"/>
                </a:moveTo>
                <a:lnTo>
                  <a:pt x="0" y="935"/>
                </a:lnTo>
              </a:path>
            </a:pathLst>
          </a:custGeom>
          <a:noFill/>
          <a:ln w="762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3068" name="Freeform 12"/>
          <p:cNvSpPr>
            <a:spLocks/>
          </p:cNvSpPr>
          <p:nvPr/>
        </p:nvSpPr>
        <p:spPr bwMode="auto">
          <a:xfrm>
            <a:off x="3529186" y="2484901"/>
            <a:ext cx="443233" cy="437513"/>
          </a:xfrm>
          <a:custGeom>
            <a:avLst/>
            <a:gdLst>
              <a:gd name="T0" fmla="*/ 276 w 276"/>
              <a:gd name="T1" fmla="*/ 0 h 282"/>
              <a:gd name="T2" fmla="*/ 227 w 276"/>
              <a:gd name="T3" fmla="*/ 101 h 282"/>
              <a:gd name="T4" fmla="*/ 176 w 276"/>
              <a:gd name="T5" fmla="*/ 159 h 282"/>
              <a:gd name="T6" fmla="*/ 91 w 276"/>
              <a:gd name="T7" fmla="*/ 237 h 282"/>
              <a:gd name="T8" fmla="*/ 0 w 276"/>
              <a:gd name="T9" fmla="*/ 282 h 2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6"/>
              <a:gd name="T16" fmla="*/ 0 h 282"/>
              <a:gd name="T17" fmla="*/ 276 w 276"/>
              <a:gd name="T18" fmla="*/ 282 h 282"/>
              <a:gd name="connsiteX0" fmla="*/ 10000 w 10000"/>
              <a:gd name="connsiteY0" fmla="*/ 0 h 10000"/>
              <a:gd name="connsiteX1" fmla="*/ 8225 w 10000"/>
              <a:gd name="connsiteY1" fmla="*/ 3582 h 10000"/>
              <a:gd name="connsiteX2" fmla="*/ 6203 w 10000"/>
              <a:gd name="connsiteY2" fmla="*/ 6149 h 10000"/>
              <a:gd name="connsiteX3" fmla="*/ 3297 w 10000"/>
              <a:gd name="connsiteY3" fmla="*/ 8404 h 10000"/>
              <a:gd name="connsiteX4" fmla="*/ 0 w 10000"/>
              <a:gd name="connsiteY4" fmla="*/ 10000 h 10000"/>
              <a:gd name="connsiteX0" fmla="*/ 10116 w 10116"/>
              <a:gd name="connsiteY0" fmla="*/ 0 h 9773"/>
              <a:gd name="connsiteX1" fmla="*/ 8225 w 10116"/>
              <a:gd name="connsiteY1" fmla="*/ 3355 h 9773"/>
              <a:gd name="connsiteX2" fmla="*/ 6203 w 10116"/>
              <a:gd name="connsiteY2" fmla="*/ 5922 h 9773"/>
              <a:gd name="connsiteX3" fmla="*/ 3297 w 10116"/>
              <a:gd name="connsiteY3" fmla="*/ 8177 h 9773"/>
              <a:gd name="connsiteX4" fmla="*/ 0 w 10116"/>
              <a:gd name="connsiteY4" fmla="*/ 9773 h 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16" h="9773">
                <a:moveTo>
                  <a:pt x="10116" y="0"/>
                </a:moveTo>
                <a:cubicBezTo>
                  <a:pt x="9826" y="567"/>
                  <a:pt x="8877" y="2368"/>
                  <a:pt x="8225" y="3355"/>
                </a:cubicBezTo>
                <a:cubicBezTo>
                  <a:pt x="7573" y="4342"/>
                  <a:pt x="7036" y="5107"/>
                  <a:pt x="6203" y="5922"/>
                </a:cubicBezTo>
                <a:cubicBezTo>
                  <a:pt x="5369" y="6738"/>
                  <a:pt x="4348" y="7468"/>
                  <a:pt x="3297" y="8177"/>
                </a:cubicBezTo>
                <a:cubicBezTo>
                  <a:pt x="2246" y="8886"/>
                  <a:pt x="543" y="9525"/>
                  <a:pt x="0" y="9773"/>
                </a:cubicBezTo>
              </a:path>
            </a:pathLst>
          </a:custGeom>
          <a:noFill/>
          <a:ln w="571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3069" name="Freeform 13"/>
          <p:cNvSpPr>
            <a:spLocks/>
          </p:cNvSpPr>
          <p:nvPr/>
        </p:nvSpPr>
        <p:spPr bwMode="auto">
          <a:xfrm>
            <a:off x="3303761" y="2484264"/>
            <a:ext cx="869950" cy="742950"/>
          </a:xfrm>
          <a:custGeom>
            <a:avLst/>
            <a:gdLst>
              <a:gd name="T0" fmla="*/ 548 w 548"/>
              <a:gd name="T1" fmla="*/ 0 h 468"/>
              <a:gd name="T2" fmla="*/ 505 w 548"/>
              <a:gd name="T3" fmla="*/ 95 h 468"/>
              <a:gd name="T4" fmla="*/ 414 w 548"/>
              <a:gd name="T5" fmla="*/ 231 h 468"/>
              <a:gd name="T6" fmla="*/ 324 w 548"/>
              <a:gd name="T7" fmla="*/ 322 h 468"/>
              <a:gd name="T8" fmla="*/ 219 w 548"/>
              <a:gd name="T9" fmla="*/ 393 h 468"/>
              <a:gd name="T10" fmla="*/ 132 w 548"/>
              <a:gd name="T11" fmla="*/ 429 h 468"/>
              <a:gd name="T12" fmla="*/ 51 w 548"/>
              <a:gd name="T13" fmla="*/ 458 h 468"/>
              <a:gd name="T14" fmla="*/ 0 w 548"/>
              <a:gd name="T15" fmla="*/ 468 h 4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48"/>
              <a:gd name="T25" fmla="*/ 0 h 468"/>
              <a:gd name="T26" fmla="*/ 548 w 548"/>
              <a:gd name="T27" fmla="*/ 468 h 4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48" h="468">
                <a:moveTo>
                  <a:pt x="548" y="0"/>
                </a:moveTo>
                <a:cubicBezTo>
                  <a:pt x="541" y="15"/>
                  <a:pt x="527" y="57"/>
                  <a:pt x="505" y="95"/>
                </a:cubicBezTo>
                <a:cubicBezTo>
                  <a:pt x="483" y="133"/>
                  <a:pt x="444" y="193"/>
                  <a:pt x="414" y="231"/>
                </a:cubicBezTo>
                <a:cubicBezTo>
                  <a:pt x="384" y="269"/>
                  <a:pt x="356" y="295"/>
                  <a:pt x="324" y="322"/>
                </a:cubicBezTo>
                <a:cubicBezTo>
                  <a:pt x="292" y="349"/>
                  <a:pt x="251" y="375"/>
                  <a:pt x="219" y="393"/>
                </a:cubicBezTo>
                <a:cubicBezTo>
                  <a:pt x="187" y="411"/>
                  <a:pt x="160" y="418"/>
                  <a:pt x="132" y="429"/>
                </a:cubicBezTo>
                <a:cubicBezTo>
                  <a:pt x="104" y="440"/>
                  <a:pt x="73" y="452"/>
                  <a:pt x="51" y="458"/>
                </a:cubicBezTo>
                <a:cubicBezTo>
                  <a:pt x="29" y="464"/>
                  <a:pt x="11" y="466"/>
                  <a:pt x="0" y="468"/>
                </a:cubicBezTo>
              </a:path>
            </a:pathLst>
          </a:custGeom>
          <a:noFill/>
          <a:ln w="571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3070" name="Freeform 14"/>
          <p:cNvSpPr>
            <a:spLocks/>
          </p:cNvSpPr>
          <p:nvPr/>
        </p:nvSpPr>
        <p:spPr bwMode="auto">
          <a:xfrm>
            <a:off x="3060874" y="2484264"/>
            <a:ext cx="1344612" cy="1095375"/>
          </a:xfrm>
          <a:custGeom>
            <a:avLst/>
            <a:gdLst>
              <a:gd name="T0" fmla="*/ 847 w 847"/>
              <a:gd name="T1" fmla="*/ 0 h 690"/>
              <a:gd name="T2" fmla="*/ 792 w 847"/>
              <a:gd name="T3" fmla="*/ 171 h 690"/>
              <a:gd name="T4" fmla="*/ 720 w 847"/>
              <a:gd name="T5" fmla="*/ 303 h 690"/>
              <a:gd name="T6" fmla="*/ 636 w 847"/>
              <a:gd name="T7" fmla="*/ 405 h 690"/>
              <a:gd name="T8" fmla="*/ 489 w 847"/>
              <a:gd name="T9" fmla="*/ 516 h 690"/>
              <a:gd name="T10" fmla="*/ 303 w 847"/>
              <a:gd name="T11" fmla="*/ 615 h 690"/>
              <a:gd name="T12" fmla="*/ 171 w 847"/>
              <a:gd name="T13" fmla="*/ 657 h 690"/>
              <a:gd name="T14" fmla="*/ 108 w 847"/>
              <a:gd name="T15" fmla="*/ 672 h 690"/>
              <a:gd name="T16" fmla="*/ 0 w 847"/>
              <a:gd name="T17" fmla="*/ 690 h 69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847"/>
              <a:gd name="T28" fmla="*/ 0 h 690"/>
              <a:gd name="T29" fmla="*/ 847 w 847"/>
              <a:gd name="T30" fmla="*/ 690 h 690"/>
              <a:gd name="connsiteX0" fmla="*/ 10000 w 10000"/>
              <a:gd name="connsiteY0" fmla="*/ 0 h 10000"/>
              <a:gd name="connsiteX1" fmla="*/ 9351 w 10000"/>
              <a:gd name="connsiteY1" fmla="*/ 2478 h 10000"/>
              <a:gd name="connsiteX2" fmla="*/ 8501 w 10000"/>
              <a:gd name="connsiteY2" fmla="*/ 4391 h 10000"/>
              <a:gd name="connsiteX3" fmla="*/ 7509 w 10000"/>
              <a:gd name="connsiteY3" fmla="*/ 5870 h 10000"/>
              <a:gd name="connsiteX4" fmla="*/ 5603 w 10000"/>
              <a:gd name="connsiteY4" fmla="*/ 7687 h 10000"/>
              <a:gd name="connsiteX5" fmla="*/ 3577 w 10000"/>
              <a:gd name="connsiteY5" fmla="*/ 8913 h 10000"/>
              <a:gd name="connsiteX6" fmla="*/ 2019 w 10000"/>
              <a:gd name="connsiteY6" fmla="*/ 9522 h 10000"/>
              <a:gd name="connsiteX7" fmla="*/ 1275 w 10000"/>
              <a:gd name="connsiteY7" fmla="*/ 9739 h 10000"/>
              <a:gd name="connsiteX8" fmla="*/ 0 w 10000"/>
              <a:gd name="connsiteY8" fmla="*/ 10000 h 10000"/>
              <a:gd name="connsiteX0" fmla="*/ 10000 w 10000"/>
              <a:gd name="connsiteY0" fmla="*/ 0 h 10000"/>
              <a:gd name="connsiteX1" fmla="*/ 9351 w 10000"/>
              <a:gd name="connsiteY1" fmla="*/ 2478 h 10000"/>
              <a:gd name="connsiteX2" fmla="*/ 8501 w 10000"/>
              <a:gd name="connsiteY2" fmla="*/ 4391 h 10000"/>
              <a:gd name="connsiteX3" fmla="*/ 7509 w 10000"/>
              <a:gd name="connsiteY3" fmla="*/ 5870 h 10000"/>
              <a:gd name="connsiteX4" fmla="*/ 5622 w 10000"/>
              <a:gd name="connsiteY4" fmla="*/ 7617 h 10000"/>
              <a:gd name="connsiteX5" fmla="*/ 3577 w 10000"/>
              <a:gd name="connsiteY5" fmla="*/ 8913 h 10000"/>
              <a:gd name="connsiteX6" fmla="*/ 2019 w 10000"/>
              <a:gd name="connsiteY6" fmla="*/ 9522 h 10000"/>
              <a:gd name="connsiteX7" fmla="*/ 1275 w 10000"/>
              <a:gd name="connsiteY7" fmla="*/ 9739 h 10000"/>
              <a:gd name="connsiteX8" fmla="*/ 0 w 10000"/>
              <a:gd name="connsiteY8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cubicBezTo>
                  <a:pt x="9894" y="406"/>
                  <a:pt x="9599" y="1739"/>
                  <a:pt x="9351" y="2478"/>
                </a:cubicBezTo>
                <a:cubicBezTo>
                  <a:pt x="9103" y="3217"/>
                  <a:pt x="8808" y="3826"/>
                  <a:pt x="8501" y="4391"/>
                </a:cubicBezTo>
                <a:cubicBezTo>
                  <a:pt x="8194" y="4957"/>
                  <a:pt x="7989" y="5332"/>
                  <a:pt x="7509" y="5870"/>
                </a:cubicBezTo>
                <a:cubicBezTo>
                  <a:pt x="7029" y="6408"/>
                  <a:pt x="6272" y="7110"/>
                  <a:pt x="5622" y="7617"/>
                </a:cubicBezTo>
                <a:cubicBezTo>
                  <a:pt x="4973" y="8125"/>
                  <a:pt x="4178" y="8596"/>
                  <a:pt x="3577" y="8913"/>
                </a:cubicBezTo>
                <a:cubicBezTo>
                  <a:pt x="2977" y="9231"/>
                  <a:pt x="2397" y="9391"/>
                  <a:pt x="2019" y="9522"/>
                </a:cubicBezTo>
                <a:cubicBezTo>
                  <a:pt x="1641" y="9652"/>
                  <a:pt x="1606" y="9667"/>
                  <a:pt x="1275" y="9739"/>
                </a:cubicBezTo>
                <a:cubicBezTo>
                  <a:pt x="945" y="9812"/>
                  <a:pt x="272" y="9942"/>
                  <a:pt x="0" y="10000"/>
                </a:cubicBezTo>
              </a:path>
            </a:pathLst>
          </a:custGeom>
          <a:noFill/>
          <a:ln w="571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3071" name="Freeform 15"/>
          <p:cNvSpPr>
            <a:spLocks/>
          </p:cNvSpPr>
          <p:nvPr/>
        </p:nvSpPr>
        <p:spPr bwMode="auto">
          <a:xfrm>
            <a:off x="2798936" y="2481089"/>
            <a:ext cx="1911350" cy="1465263"/>
          </a:xfrm>
          <a:custGeom>
            <a:avLst/>
            <a:gdLst>
              <a:gd name="T0" fmla="*/ 1204 w 1204"/>
              <a:gd name="T1" fmla="*/ 0 h 923"/>
              <a:gd name="T2" fmla="*/ 1119 w 1204"/>
              <a:gd name="T3" fmla="*/ 299 h 923"/>
              <a:gd name="T4" fmla="*/ 951 w 1204"/>
              <a:gd name="T5" fmla="*/ 530 h 923"/>
              <a:gd name="T6" fmla="*/ 657 w 1204"/>
              <a:gd name="T7" fmla="*/ 737 h 923"/>
              <a:gd name="T8" fmla="*/ 417 w 1204"/>
              <a:gd name="T9" fmla="*/ 833 h 923"/>
              <a:gd name="T10" fmla="*/ 183 w 1204"/>
              <a:gd name="T11" fmla="*/ 905 h 923"/>
              <a:gd name="T12" fmla="*/ 0 w 1204"/>
              <a:gd name="T13" fmla="*/ 923 h 9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04"/>
              <a:gd name="T22" fmla="*/ 0 h 923"/>
              <a:gd name="T23" fmla="*/ 1204 w 1204"/>
              <a:gd name="T24" fmla="*/ 923 h 923"/>
              <a:gd name="connsiteX0" fmla="*/ 10000 w 10000"/>
              <a:gd name="connsiteY0" fmla="*/ 0 h 10000"/>
              <a:gd name="connsiteX1" fmla="*/ 9294 w 10000"/>
              <a:gd name="connsiteY1" fmla="*/ 3239 h 10000"/>
              <a:gd name="connsiteX2" fmla="*/ 7899 w 10000"/>
              <a:gd name="connsiteY2" fmla="*/ 5742 h 10000"/>
              <a:gd name="connsiteX3" fmla="*/ 5457 w 10000"/>
              <a:gd name="connsiteY3" fmla="*/ 7985 h 10000"/>
              <a:gd name="connsiteX4" fmla="*/ 3410 w 10000"/>
              <a:gd name="connsiteY4" fmla="*/ 9181 h 10000"/>
              <a:gd name="connsiteX5" fmla="*/ 1520 w 10000"/>
              <a:gd name="connsiteY5" fmla="*/ 9805 h 10000"/>
              <a:gd name="connsiteX6" fmla="*/ 0 w 10000"/>
              <a:gd name="connsiteY6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cubicBezTo>
                  <a:pt x="9884" y="531"/>
                  <a:pt x="9643" y="2286"/>
                  <a:pt x="9294" y="3239"/>
                </a:cubicBezTo>
                <a:cubicBezTo>
                  <a:pt x="8945" y="4193"/>
                  <a:pt x="8538" y="4951"/>
                  <a:pt x="7899" y="5742"/>
                </a:cubicBezTo>
                <a:cubicBezTo>
                  <a:pt x="7259" y="6533"/>
                  <a:pt x="6205" y="7412"/>
                  <a:pt x="5457" y="7985"/>
                </a:cubicBezTo>
                <a:cubicBezTo>
                  <a:pt x="4709" y="8558"/>
                  <a:pt x="4067" y="8878"/>
                  <a:pt x="3410" y="9181"/>
                </a:cubicBezTo>
                <a:cubicBezTo>
                  <a:pt x="2754" y="9484"/>
                  <a:pt x="2093" y="9642"/>
                  <a:pt x="1520" y="9805"/>
                </a:cubicBezTo>
                <a:cubicBezTo>
                  <a:pt x="947" y="9967"/>
                  <a:pt x="316" y="9957"/>
                  <a:pt x="0" y="10000"/>
                </a:cubicBezTo>
              </a:path>
            </a:pathLst>
          </a:custGeom>
          <a:noFill/>
          <a:ln w="571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453072" name="Freeform 16" descr="软木塞"/>
          <p:cNvSpPr>
            <a:spLocks/>
          </p:cNvSpPr>
          <p:nvPr/>
        </p:nvSpPr>
        <p:spPr bwMode="auto">
          <a:xfrm flipH="1">
            <a:off x="495474" y="3192289"/>
            <a:ext cx="2301875" cy="782638"/>
          </a:xfrm>
          <a:custGeom>
            <a:avLst/>
            <a:gdLst>
              <a:gd name="T0" fmla="*/ 407 w 1632"/>
              <a:gd name="T1" fmla="*/ 56 h 493"/>
              <a:gd name="T2" fmla="*/ 899 w 1632"/>
              <a:gd name="T3" fmla="*/ 26 h 493"/>
              <a:gd name="T4" fmla="*/ 1386 w 1632"/>
              <a:gd name="T5" fmla="*/ 211 h 493"/>
              <a:gd name="T6" fmla="*/ 1560 w 1632"/>
              <a:gd name="T7" fmla="*/ 352 h 493"/>
              <a:gd name="T8" fmla="*/ 1632 w 1632"/>
              <a:gd name="T9" fmla="*/ 493 h 493"/>
              <a:gd name="T10" fmla="*/ 0 w 1632"/>
              <a:gd name="T11" fmla="*/ 481 h 493"/>
              <a:gd name="T12" fmla="*/ 105 w 1632"/>
              <a:gd name="T13" fmla="*/ 316 h 493"/>
              <a:gd name="T14" fmla="*/ 407 w 1632"/>
              <a:gd name="T15" fmla="*/ 56 h 49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32"/>
              <a:gd name="T25" fmla="*/ 0 h 493"/>
              <a:gd name="T26" fmla="*/ 1632 w 1632"/>
              <a:gd name="T27" fmla="*/ 493 h 49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32" h="493">
                <a:moveTo>
                  <a:pt x="407" y="56"/>
                </a:moveTo>
                <a:cubicBezTo>
                  <a:pt x="539" y="8"/>
                  <a:pt x="736" y="0"/>
                  <a:pt x="899" y="26"/>
                </a:cubicBezTo>
                <a:lnTo>
                  <a:pt x="1386" y="211"/>
                </a:lnTo>
                <a:lnTo>
                  <a:pt x="1560" y="352"/>
                </a:lnTo>
                <a:lnTo>
                  <a:pt x="1632" y="493"/>
                </a:lnTo>
                <a:lnTo>
                  <a:pt x="0" y="481"/>
                </a:lnTo>
                <a:lnTo>
                  <a:pt x="105" y="316"/>
                </a:lnTo>
                <a:lnTo>
                  <a:pt x="407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43026" name="Text Box 18"/>
          <p:cNvSpPr txBox="1">
            <a:spLocks noChangeArrowheads="1"/>
          </p:cNvSpPr>
          <p:nvPr/>
        </p:nvSpPr>
        <p:spPr bwMode="auto">
          <a:xfrm>
            <a:off x="2451273" y="5740061"/>
            <a:ext cx="4892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降雨入渗引起的滑坡</a:t>
            </a:r>
          </a:p>
        </p:txBody>
      </p:sp>
      <p:sp>
        <p:nvSpPr>
          <p:cNvPr id="1453076" name="Text Box 20"/>
          <p:cNvSpPr txBox="1">
            <a:spLocks noChangeArrowheads="1"/>
          </p:cNvSpPr>
          <p:nvPr/>
        </p:nvSpPr>
        <p:spPr bwMode="auto">
          <a:xfrm>
            <a:off x="6825957" y="2063750"/>
            <a:ext cx="2066925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渗流问题：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渗透力？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2. 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入渗过程？</a:t>
            </a:r>
          </a:p>
        </p:txBody>
      </p:sp>
      <p:sp>
        <p:nvSpPr>
          <p:cNvPr id="1453077" name="AutoShape 21"/>
          <p:cNvSpPr>
            <a:spLocks noChangeArrowheads="1"/>
          </p:cNvSpPr>
          <p:nvPr/>
        </p:nvSpPr>
        <p:spPr bwMode="auto">
          <a:xfrm>
            <a:off x="6037910" y="1903239"/>
            <a:ext cx="617537" cy="488950"/>
          </a:xfrm>
          <a:prstGeom prst="homePlate">
            <a:avLst>
              <a:gd name="adj" fmla="val 3157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37865086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45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453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45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45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453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453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6" presetID="1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6" presetID="17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53" presetID="17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0" presetID="17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8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00578E-6 C -0.004 0.00093 -0.01459 0.00301 -0.02413 0.00578 C -0.03368 0.00856 -0.04566 0.01249 -0.05747 0.01642 C -0.06927 0.02035 -0.0875 0.02659 -0.09549 0.02914 " pathEditMode="relative" rAng="0" ptsTypes="aaaa">
                                      <p:cBhvr>
                                        <p:cTn id="83" dur="500" fill="hold"/>
                                        <p:tgtEl>
                                          <p:spTgt spid="14530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1457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9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145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9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2000"/>
                                        <p:tgtEl>
                                          <p:spTgt spid="145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3059" grpId="0" animBg="1"/>
      <p:bldP spid="1453059" grpId="1" animBg="1"/>
      <p:bldP spid="1453059" grpId="2" animBg="1"/>
      <p:bldP spid="1453059" grpId="3" animBg="1"/>
      <p:bldP spid="1453060" grpId="0" animBg="1"/>
      <p:bldP spid="1453060" grpId="1" animBg="1"/>
      <p:bldP spid="1453060" grpId="2" animBg="1"/>
      <p:bldP spid="1453061" grpId="0" animBg="1"/>
      <p:bldP spid="1453062" grpId="0" animBg="1"/>
      <p:bldP spid="1453063" grpId="0" animBg="1"/>
      <p:bldP spid="1453064" grpId="0" animBg="1"/>
      <p:bldP spid="1453065" grpId="0" animBg="1"/>
      <p:bldP spid="1453065" grpId="1" animBg="1"/>
      <p:bldP spid="1453066" grpId="0" animBg="1"/>
      <p:bldP spid="1453066" grpId="1" animBg="1"/>
      <p:bldP spid="1453067" grpId="0" animBg="1"/>
      <p:bldP spid="1453067" grpId="1" animBg="1"/>
      <p:bldP spid="1453068" grpId="0" animBg="1"/>
      <p:bldP spid="1453068" grpId="1" animBg="1"/>
      <p:bldP spid="1453069" grpId="0" animBg="1"/>
      <p:bldP spid="1453069" grpId="1" animBg="1"/>
      <p:bldP spid="1453070" grpId="0" animBg="1"/>
      <p:bldP spid="1453070" grpId="1" animBg="1"/>
      <p:bldP spid="1453071" grpId="0" animBg="1"/>
      <p:bldP spid="1453071" grpId="1" animBg="1"/>
      <p:bldP spid="1453072" grpId="0" animBg="1"/>
      <p:bldP spid="1453076" grpId="0"/>
      <p:bldP spid="145307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1026" name="Picture 2" descr="https://timgsa.baidu.com/timg?image&amp;quality=80&amp;size=b9999_10000&amp;sec=1495278839343&amp;di=8772765d1c9046954c1b9164af10b787&amp;imgtype=0&amp;src=http%3A%2F%2Fwww.tianqi.com%2Fupload%2Farticle%2F16-05-24%2FIyKg_160524023052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308" y="649434"/>
            <a:ext cx="3731006" cy="219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timgsa.baidu.com/timg?image&amp;quality=80&amp;size=b9999_10000&amp;sec=1495280291585&amp;di=71e63cb1c77a07a80a53f78a191d0bba&amp;imgtype=0&amp;src=http%3A%2F%2Fimg001.21cnimg.com%2Fphotos%2Falbum%2F20140421%2Fm600%2FAEEAAB0A461AC995E726535275C53019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36" y="3268398"/>
            <a:ext cx="3593304" cy="239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i.guancha.cn/News/2014/03/25/6353134217923183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335" y="3100865"/>
            <a:ext cx="3806270" cy="256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://i7.hexunimg.cn/2015-11-14/180570686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86" y="652291"/>
            <a:ext cx="3585340" cy="254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1606163" y="5740061"/>
            <a:ext cx="691871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降雨入渗引起的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滑坡和泥石流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202697989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9"/>
          <p:cNvSpPr txBox="1">
            <a:spLocks noChangeArrowheads="1"/>
          </p:cNvSpPr>
          <p:nvPr/>
        </p:nvSpPr>
        <p:spPr bwMode="auto">
          <a:xfrm>
            <a:off x="4935988" y="995189"/>
            <a:ext cx="4025978" cy="4290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ts val="1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规模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滑坡体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3330m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的雪峰滑下，历时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分钟。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堆积体长、宽各约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2500m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，均厚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60m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，体积约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亿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险情：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堵塞易贡藏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布成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堰塞湖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，湖面积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22km</a:t>
            </a:r>
            <a:r>
              <a:rPr lang="en-US" altLang="zh-CN" sz="2400" b="1" baseline="30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水位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上涨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0.5m/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天。预计上涨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至堆积体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顶时，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拦存湖水将达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40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亿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-60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亿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5291" y="2006080"/>
            <a:ext cx="4902200" cy="3292475"/>
            <a:chOff x="82023" y="2006080"/>
            <a:chExt cx="4902200" cy="3292475"/>
          </a:xfrm>
        </p:grpSpPr>
        <p:sp>
          <p:nvSpPr>
            <p:cNvPr id="89092" name="Freeform 6"/>
            <p:cNvSpPr>
              <a:spLocks/>
            </p:cNvSpPr>
            <p:nvPr/>
          </p:nvSpPr>
          <p:spPr bwMode="auto">
            <a:xfrm>
              <a:off x="82023" y="2006080"/>
              <a:ext cx="4902200" cy="2635250"/>
            </a:xfrm>
            <a:custGeom>
              <a:avLst/>
              <a:gdLst>
                <a:gd name="T0" fmla="*/ 1229 w 3088"/>
                <a:gd name="T1" fmla="*/ 39 h 1660"/>
                <a:gd name="T2" fmla="*/ 1382 w 3088"/>
                <a:gd name="T3" fmla="*/ 13 h 1660"/>
                <a:gd name="T4" fmla="*/ 1510 w 3088"/>
                <a:gd name="T5" fmla="*/ 7 h 1660"/>
                <a:gd name="T6" fmla="*/ 1641 w 3088"/>
                <a:gd name="T7" fmla="*/ 52 h 1660"/>
                <a:gd name="T8" fmla="*/ 1664 w 3088"/>
                <a:gd name="T9" fmla="*/ 103 h 1660"/>
                <a:gd name="T10" fmla="*/ 1648 w 3088"/>
                <a:gd name="T11" fmla="*/ 234 h 1660"/>
                <a:gd name="T12" fmla="*/ 1670 w 3088"/>
                <a:gd name="T13" fmla="*/ 404 h 1660"/>
                <a:gd name="T14" fmla="*/ 1715 w 3088"/>
                <a:gd name="T15" fmla="*/ 487 h 1660"/>
                <a:gd name="T16" fmla="*/ 1865 w 3088"/>
                <a:gd name="T17" fmla="*/ 557 h 1660"/>
                <a:gd name="T18" fmla="*/ 2025 w 3088"/>
                <a:gd name="T19" fmla="*/ 612 h 1660"/>
                <a:gd name="T20" fmla="*/ 2265 w 3088"/>
                <a:gd name="T21" fmla="*/ 666 h 1660"/>
                <a:gd name="T22" fmla="*/ 2400 w 3088"/>
                <a:gd name="T23" fmla="*/ 637 h 1660"/>
                <a:gd name="T24" fmla="*/ 2515 w 3088"/>
                <a:gd name="T25" fmla="*/ 765 h 1660"/>
                <a:gd name="T26" fmla="*/ 2633 w 3088"/>
                <a:gd name="T27" fmla="*/ 733 h 1660"/>
                <a:gd name="T28" fmla="*/ 2694 w 3088"/>
                <a:gd name="T29" fmla="*/ 727 h 1660"/>
                <a:gd name="T30" fmla="*/ 2761 w 3088"/>
                <a:gd name="T31" fmla="*/ 685 h 1660"/>
                <a:gd name="T32" fmla="*/ 2797 w 3088"/>
                <a:gd name="T33" fmla="*/ 624 h 1660"/>
                <a:gd name="T34" fmla="*/ 2976 w 3088"/>
                <a:gd name="T35" fmla="*/ 784 h 1660"/>
                <a:gd name="T36" fmla="*/ 3017 w 3088"/>
                <a:gd name="T37" fmla="*/ 877 h 1660"/>
                <a:gd name="T38" fmla="*/ 3065 w 3088"/>
                <a:gd name="T39" fmla="*/ 1044 h 1660"/>
                <a:gd name="T40" fmla="*/ 3088 w 3088"/>
                <a:gd name="T41" fmla="*/ 1226 h 1660"/>
                <a:gd name="T42" fmla="*/ 3021 w 3088"/>
                <a:gd name="T43" fmla="*/ 1248 h 1660"/>
                <a:gd name="T44" fmla="*/ 3024 w 3088"/>
                <a:gd name="T45" fmla="*/ 1389 h 1660"/>
                <a:gd name="T46" fmla="*/ 2928 w 3088"/>
                <a:gd name="T47" fmla="*/ 1386 h 1660"/>
                <a:gd name="T48" fmla="*/ 2845 w 3088"/>
                <a:gd name="T49" fmla="*/ 1396 h 1660"/>
                <a:gd name="T50" fmla="*/ 2784 w 3088"/>
                <a:gd name="T51" fmla="*/ 1479 h 1660"/>
                <a:gd name="T52" fmla="*/ 2621 w 3088"/>
                <a:gd name="T53" fmla="*/ 1396 h 1660"/>
                <a:gd name="T54" fmla="*/ 2480 w 3088"/>
                <a:gd name="T55" fmla="*/ 1488 h 1660"/>
                <a:gd name="T56" fmla="*/ 2321 w 3088"/>
                <a:gd name="T57" fmla="*/ 1599 h 1660"/>
                <a:gd name="T58" fmla="*/ 2137 w 3088"/>
                <a:gd name="T59" fmla="*/ 1648 h 1660"/>
                <a:gd name="T60" fmla="*/ 2009 w 3088"/>
                <a:gd name="T61" fmla="*/ 1607 h 1660"/>
                <a:gd name="T62" fmla="*/ 1946 w 3088"/>
                <a:gd name="T63" fmla="*/ 1490 h 1660"/>
                <a:gd name="T64" fmla="*/ 1840 w 3088"/>
                <a:gd name="T65" fmla="*/ 1482 h 1660"/>
                <a:gd name="T66" fmla="*/ 1645 w 3088"/>
                <a:gd name="T67" fmla="*/ 1447 h 1660"/>
                <a:gd name="T68" fmla="*/ 1574 w 3088"/>
                <a:gd name="T69" fmla="*/ 1594 h 1660"/>
                <a:gd name="T70" fmla="*/ 1507 w 3088"/>
                <a:gd name="T71" fmla="*/ 1498 h 1660"/>
                <a:gd name="T72" fmla="*/ 1417 w 3088"/>
                <a:gd name="T73" fmla="*/ 1492 h 1660"/>
                <a:gd name="T74" fmla="*/ 1248 w 3088"/>
                <a:gd name="T75" fmla="*/ 1485 h 1660"/>
                <a:gd name="T76" fmla="*/ 1158 w 3088"/>
                <a:gd name="T77" fmla="*/ 1472 h 1660"/>
                <a:gd name="T78" fmla="*/ 1117 w 3088"/>
                <a:gd name="T79" fmla="*/ 1482 h 1660"/>
                <a:gd name="T80" fmla="*/ 1049 w 3088"/>
                <a:gd name="T81" fmla="*/ 1412 h 1660"/>
                <a:gd name="T82" fmla="*/ 931 w 3088"/>
                <a:gd name="T83" fmla="*/ 1370 h 1660"/>
                <a:gd name="T84" fmla="*/ 889 w 3088"/>
                <a:gd name="T85" fmla="*/ 1338 h 1660"/>
                <a:gd name="T86" fmla="*/ 819 w 3088"/>
                <a:gd name="T87" fmla="*/ 1229 h 1660"/>
                <a:gd name="T88" fmla="*/ 704 w 3088"/>
                <a:gd name="T89" fmla="*/ 1216 h 1660"/>
                <a:gd name="T90" fmla="*/ 537 w 3088"/>
                <a:gd name="T91" fmla="*/ 1088 h 1660"/>
                <a:gd name="T92" fmla="*/ 435 w 3088"/>
                <a:gd name="T93" fmla="*/ 1031 h 1660"/>
                <a:gd name="T94" fmla="*/ 333 w 3088"/>
                <a:gd name="T95" fmla="*/ 1015 h 1660"/>
                <a:gd name="T96" fmla="*/ 195 w 3088"/>
                <a:gd name="T97" fmla="*/ 922 h 1660"/>
                <a:gd name="T98" fmla="*/ 45 w 3088"/>
                <a:gd name="T99" fmla="*/ 836 h 1660"/>
                <a:gd name="T100" fmla="*/ 0 w 3088"/>
                <a:gd name="T101" fmla="*/ 669 h 1660"/>
                <a:gd name="T102" fmla="*/ 77 w 3088"/>
                <a:gd name="T103" fmla="*/ 631 h 1660"/>
                <a:gd name="T104" fmla="*/ 131 w 3088"/>
                <a:gd name="T105" fmla="*/ 544 h 1660"/>
                <a:gd name="T106" fmla="*/ 67 w 3088"/>
                <a:gd name="T107" fmla="*/ 391 h 1660"/>
                <a:gd name="T108" fmla="*/ 125 w 3088"/>
                <a:gd name="T109" fmla="*/ 279 h 1660"/>
                <a:gd name="T110" fmla="*/ 246 w 3088"/>
                <a:gd name="T111" fmla="*/ 247 h 1660"/>
                <a:gd name="T112" fmla="*/ 342 w 3088"/>
                <a:gd name="T113" fmla="*/ 112 h 1660"/>
                <a:gd name="T114" fmla="*/ 505 w 3088"/>
                <a:gd name="T115" fmla="*/ 151 h 1660"/>
                <a:gd name="T116" fmla="*/ 678 w 3088"/>
                <a:gd name="T117" fmla="*/ 100 h 1660"/>
                <a:gd name="T118" fmla="*/ 819 w 3088"/>
                <a:gd name="T119" fmla="*/ 160 h 1660"/>
                <a:gd name="T120" fmla="*/ 941 w 3088"/>
                <a:gd name="T121" fmla="*/ 125 h 1660"/>
                <a:gd name="T122" fmla="*/ 1065 w 3088"/>
                <a:gd name="T123" fmla="*/ 116 h 166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088"/>
                <a:gd name="T187" fmla="*/ 0 h 1660"/>
                <a:gd name="T188" fmla="*/ 3088 w 3088"/>
                <a:gd name="T189" fmla="*/ 1660 h 166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088" h="1660">
                  <a:moveTo>
                    <a:pt x="1149" y="68"/>
                  </a:moveTo>
                  <a:lnTo>
                    <a:pt x="1193" y="39"/>
                  </a:lnTo>
                  <a:lnTo>
                    <a:pt x="1229" y="39"/>
                  </a:lnTo>
                  <a:lnTo>
                    <a:pt x="1257" y="29"/>
                  </a:lnTo>
                  <a:lnTo>
                    <a:pt x="1318" y="13"/>
                  </a:lnTo>
                  <a:lnTo>
                    <a:pt x="1382" y="13"/>
                  </a:lnTo>
                  <a:lnTo>
                    <a:pt x="1443" y="0"/>
                  </a:lnTo>
                  <a:lnTo>
                    <a:pt x="1481" y="0"/>
                  </a:lnTo>
                  <a:lnTo>
                    <a:pt x="1510" y="7"/>
                  </a:lnTo>
                  <a:lnTo>
                    <a:pt x="1536" y="26"/>
                  </a:lnTo>
                  <a:lnTo>
                    <a:pt x="1597" y="26"/>
                  </a:lnTo>
                  <a:lnTo>
                    <a:pt x="1641" y="52"/>
                  </a:lnTo>
                  <a:lnTo>
                    <a:pt x="1625" y="68"/>
                  </a:lnTo>
                  <a:lnTo>
                    <a:pt x="1619" y="96"/>
                  </a:lnTo>
                  <a:lnTo>
                    <a:pt x="1664" y="103"/>
                  </a:lnTo>
                  <a:lnTo>
                    <a:pt x="1664" y="164"/>
                  </a:lnTo>
                  <a:lnTo>
                    <a:pt x="1638" y="208"/>
                  </a:lnTo>
                  <a:lnTo>
                    <a:pt x="1648" y="234"/>
                  </a:lnTo>
                  <a:lnTo>
                    <a:pt x="1670" y="272"/>
                  </a:lnTo>
                  <a:lnTo>
                    <a:pt x="1686" y="336"/>
                  </a:lnTo>
                  <a:lnTo>
                    <a:pt x="1670" y="404"/>
                  </a:lnTo>
                  <a:lnTo>
                    <a:pt x="1657" y="432"/>
                  </a:lnTo>
                  <a:lnTo>
                    <a:pt x="1696" y="458"/>
                  </a:lnTo>
                  <a:lnTo>
                    <a:pt x="1715" y="487"/>
                  </a:lnTo>
                  <a:lnTo>
                    <a:pt x="1763" y="538"/>
                  </a:lnTo>
                  <a:lnTo>
                    <a:pt x="1801" y="567"/>
                  </a:lnTo>
                  <a:lnTo>
                    <a:pt x="1865" y="557"/>
                  </a:lnTo>
                  <a:lnTo>
                    <a:pt x="1894" y="535"/>
                  </a:lnTo>
                  <a:lnTo>
                    <a:pt x="1961" y="592"/>
                  </a:lnTo>
                  <a:lnTo>
                    <a:pt x="2025" y="612"/>
                  </a:lnTo>
                  <a:lnTo>
                    <a:pt x="2109" y="628"/>
                  </a:lnTo>
                  <a:lnTo>
                    <a:pt x="2195" y="637"/>
                  </a:lnTo>
                  <a:lnTo>
                    <a:pt x="2265" y="666"/>
                  </a:lnTo>
                  <a:lnTo>
                    <a:pt x="2323" y="656"/>
                  </a:lnTo>
                  <a:lnTo>
                    <a:pt x="2358" y="628"/>
                  </a:lnTo>
                  <a:lnTo>
                    <a:pt x="2400" y="637"/>
                  </a:lnTo>
                  <a:lnTo>
                    <a:pt x="2467" y="685"/>
                  </a:lnTo>
                  <a:lnTo>
                    <a:pt x="2515" y="727"/>
                  </a:lnTo>
                  <a:lnTo>
                    <a:pt x="2515" y="765"/>
                  </a:lnTo>
                  <a:lnTo>
                    <a:pt x="2569" y="784"/>
                  </a:lnTo>
                  <a:lnTo>
                    <a:pt x="2608" y="784"/>
                  </a:lnTo>
                  <a:lnTo>
                    <a:pt x="2633" y="733"/>
                  </a:lnTo>
                  <a:lnTo>
                    <a:pt x="2649" y="756"/>
                  </a:lnTo>
                  <a:lnTo>
                    <a:pt x="2678" y="775"/>
                  </a:lnTo>
                  <a:lnTo>
                    <a:pt x="2694" y="727"/>
                  </a:lnTo>
                  <a:lnTo>
                    <a:pt x="2723" y="720"/>
                  </a:lnTo>
                  <a:lnTo>
                    <a:pt x="2749" y="720"/>
                  </a:lnTo>
                  <a:lnTo>
                    <a:pt x="2761" y="685"/>
                  </a:lnTo>
                  <a:lnTo>
                    <a:pt x="2765" y="663"/>
                  </a:lnTo>
                  <a:lnTo>
                    <a:pt x="2761" y="634"/>
                  </a:lnTo>
                  <a:lnTo>
                    <a:pt x="2797" y="624"/>
                  </a:lnTo>
                  <a:lnTo>
                    <a:pt x="2857" y="637"/>
                  </a:lnTo>
                  <a:lnTo>
                    <a:pt x="2931" y="692"/>
                  </a:lnTo>
                  <a:lnTo>
                    <a:pt x="2976" y="784"/>
                  </a:lnTo>
                  <a:lnTo>
                    <a:pt x="3024" y="829"/>
                  </a:lnTo>
                  <a:lnTo>
                    <a:pt x="3001" y="848"/>
                  </a:lnTo>
                  <a:lnTo>
                    <a:pt x="3017" y="877"/>
                  </a:lnTo>
                  <a:lnTo>
                    <a:pt x="3037" y="919"/>
                  </a:lnTo>
                  <a:lnTo>
                    <a:pt x="3040" y="957"/>
                  </a:lnTo>
                  <a:lnTo>
                    <a:pt x="3065" y="1044"/>
                  </a:lnTo>
                  <a:lnTo>
                    <a:pt x="3065" y="1130"/>
                  </a:lnTo>
                  <a:lnTo>
                    <a:pt x="3088" y="1194"/>
                  </a:lnTo>
                  <a:lnTo>
                    <a:pt x="3088" y="1226"/>
                  </a:lnTo>
                  <a:lnTo>
                    <a:pt x="3072" y="1258"/>
                  </a:lnTo>
                  <a:lnTo>
                    <a:pt x="3043" y="1274"/>
                  </a:lnTo>
                  <a:lnTo>
                    <a:pt x="3021" y="1248"/>
                  </a:lnTo>
                  <a:lnTo>
                    <a:pt x="3005" y="1293"/>
                  </a:lnTo>
                  <a:lnTo>
                    <a:pt x="3040" y="1341"/>
                  </a:lnTo>
                  <a:lnTo>
                    <a:pt x="3024" y="1389"/>
                  </a:lnTo>
                  <a:lnTo>
                    <a:pt x="2979" y="1392"/>
                  </a:lnTo>
                  <a:lnTo>
                    <a:pt x="2966" y="1373"/>
                  </a:lnTo>
                  <a:lnTo>
                    <a:pt x="2928" y="1386"/>
                  </a:lnTo>
                  <a:lnTo>
                    <a:pt x="2880" y="1364"/>
                  </a:lnTo>
                  <a:lnTo>
                    <a:pt x="2861" y="1344"/>
                  </a:lnTo>
                  <a:lnTo>
                    <a:pt x="2845" y="1396"/>
                  </a:lnTo>
                  <a:lnTo>
                    <a:pt x="2848" y="1421"/>
                  </a:lnTo>
                  <a:lnTo>
                    <a:pt x="2822" y="1466"/>
                  </a:lnTo>
                  <a:lnTo>
                    <a:pt x="2784" y="1479"/>
                  </a:lnTo>
                  <a:lnTo>
                    <a:pt x="2755" y="1444"/>
                  </a:lnTo>
                  <a:lnTo>
                    <a:pt x="2697" y="1415"/>
                  </a:lnTo>
                  <a:lnTo>
                    <a:pt x="2621" y="1396"/>
                  </a:lnTo>
                  <a:lnTo>
                    <a:pt x="2553" y="1405"/>
                  </a:lnTo>
                  <a:lnTo>
                    <a:pt x="2531" y="1456"/>
                  </a:lnTo>
                  <a:lnTo>
                    <a:pt x="2480" y="1488"/>
                  </a:lnTo>
                  <a:lnTo>
                    <a:pt x="2422" y="1530"/>
                  </a:lnTo>
                  <a:lnTo>
                    <a:pt x="2355" y="1540"/>
                  </a:lnTo>
                  <a:lnTo>
                    <a:pt x="2321" y="1599"/>
                  </a:lnTo>
                  <a:lnTo>
                    <a:pt x="2265" y="1645"/>
                  </a:lnTo>
                  <a:lnTo>
                    <a:pt x="2177" y="1660"/>
                  </a:lnTo>
                  <a:lnTo>
                    <a:pt x="2137" y="1648"/>
                  </a:lnTo>
                  <a:lnTo>
                    <a:pt x="2096" y="1652"/>
                  </a:lnTo>
                  <a:lnTo>
                    <a:pt x="2032" y="1648"/>
                  </a:lnTo>
                  <a:lnTo>
                    <a:pt x="2009" y="1607"/>
                  </a:lnTo>
                  <a:lnTo>
                    <a:pt x="2017" y="1572"/>
                  </a:lnTo>
                  <a:lnTo>
                    <a:pt x="1957" y="1559"/>
                  </a:lnTo>
                  <a:lnTo>
                    <a:pt x="1946" y="1490"/>
                  </a:lnTo>
                  <a:lnTo>
                    <a:pt x="1919" y="1470"/>
                  </a:lnTo>
                  <a:lnTo>
                    <a:pt x="1879" y="1498"/>
                  </a:lnTo>
                  <a:lnTo>
                    <a:pt x="1840" y="1482"/>
                  </a:lnTo>
                  <a:lnTo>
                    <a:pt x="1763" y="1463"/>
                  </a:lnTo>
                  <a:lnTo>
                    <a:pt x="1686" y="1431"/>
                  </a:lnTo>
                  <a:lnTo>
                    <a:pt x="1645" y="1447"/>
                  </a:lnTo>
                  <a:lnTo>
                    <a:pt x="1609" y="1495"/>
                  </a:lnTo>
                  <a:lnTo>
                    <a:pt x="1587" y="1549"/>
                  </a:lnTo>
                  <a:lnTo>
                    <a:pt x="1574" y="1594"/>
                  </a:lnTo>
                  <a:lnTo>
                    <a:pt x="1552" y="1594"/>
                  </a:lnTo>
                  <a:lnTo>
                    <a:pt x="1510" y="1565"/>
                  </a:lnTo>
                  <a:lnTo>
                    <a:pt x="1507" y="1498"/>
                  </a:lnTo>
                  <a:lnTo>
                    <a:pt x="1510" y="1466"/>
                  </a:lnTo>
                  <a:lnTo>
                    <a:pt x="1456" y="1466"/>
                  </a:lnTo>
                  <a:lnTo>
                    <a:pt x="1417" y="1492"/>
                  </a:lnTo>
                  <a:lnTo>
                    <a:pt x="1337" y="1488"/>
                  </a:lnTo>
                  <a:lnTo>
                    <a:pt x="1296" y="1482"/>
                  </a:lnTo>
                  <a:lnTo>
                    <a:pt x="1248" y="1485"/>
                  </a:lnTo>
                  <a:lnTo>
                    <a:pt x="1203" y="1456"/>
                  </a:lnTo>
                  <a:lnTo>
                    <a:pt x="1171" y="1456"/>
                  </a:lnTo>
                  <a:lnTo>
                    <a:pt x="1158" y="1472"/>
                  </a:lnTo>
                  <a:lnTo>
                    <a:pt x="1129" y="1456"/>
                  </a:lnTo>
                  <a:lnTo>
                    <a:pt x="1120" y="1434"/>
                  </a:lnTo>
                  <a:lnTo>
                    <a:pt x="1117" y="1482"/>
                  </a:lnTo>
                  <a:lnTo>
                    <a:pt x="1094" y="1479"/>
                  </a:lnTo>
                  <a:lnTo>
                    <a:pt x="1065" y="1437"/>
                  </a:lnTo>
                  <a:lnTo>
                    <a:pt x="1049" y="1412"/>
                  </a:lnTo>
                  <a:lnTo>
                    <a:pt x="1011" y="1405"/>
                  </a:lnTo>
                  <a:lnTo>
                    <a:pt x="976" y="1396"/>
                  </a:lnTo>
                  <a:lnTo>
                    <a:pt x="931" y="1370"/>
                  </a:lnTo>
                  <a:lnTo>
                    <a:pt x="953" y="1351"/>
                  </a:lnTo>
                  <a:lnTo>
                    <a:pt x="925" y="1348"/>
                  </a:lnTo>
                  <a:lnTo>
                    <a:pt x="889" y="1338"/>
                  </a:lnTo>
                  <a:lnTo>
                    <a:pt x="854" y="1303"/>
                  </a:lnTo>
                  <a:lnTo>
                    <a:pt x="838" y="1268"/>
                  </a:lnTo>
                  <a:lnTo>
                    <a:pt x="819" y="1229"/>
                  </a:lnTo>
                  <a:lnTo>
                    <a:pt x="784" y="1229"/>
                  </a:lnTo>
                  <a:lnTo>
                    <a:pt x="758" y="1248"/>
                  </a:lnTo>
                  <a:lnTo>
                    <a:pt x="704" y="1216"/>
                  </a:lnTo>
                  <a:lnTo>
                    <a:pt x="669" y="1172"/>
                  </a:lnTo>
                  <a:lnTo>
                    <a:pt x="582" y="1124"/>
                  </a:lnTo>
                  <a:lnTo>
                    <a:pt x="537" y="1088"/>
                  </a:lnTo>
                  <a:lnTo>
                    <a:pt x="515" y="1047"/>
                  </a:lnTo>
                  <a:lnTo>
                    <a:pt x="464" y="1031"/>
                  </a:lnTo>
                  <a:lnTo>
                    <a:pt x="435" y="1031"/>
                  </a:lnTo>
                  <a:lnTo>
                    <a:pt x="409" y="1072"/>
                  </a:lnTo>
                  <a:lnTo>
                    <a:pt x="374" y="1079"/>
                  </a:lnTo>
                  <a:lnTo>
                    <a:pt x="333" y="1015"/>
                  </a:lnTo>
                  <a:lnTo>
                    <a:pt x="265" y="989"/>
                  </a:lnTo>
                  <a:lnTo>
                    <a:pt x="224" y="957"/>
                  </a:lnTo>
                  <a:lnTo>
                    <a:pt x="195" y="922"/>
                  </a:lnTo>
                  <a:lnTo>
                    <a:pt x="137" y="900"/>
                  </a:lnTo>
                  <a:lnTo>
                    <a:pt x="99" y="887"/>
                  </a:lnTo>
                  <a:lnTo>
                    <a:pt x="45" y="836"/>
                  </a:lnTo>
                  <a:lnTo>
                    <a:pt x="41" y="781"/>
                  </a:lnTo>
                  <a:lnTo>
                    <a:pt x="22" y="717"/>
                  </a:lnTo>
                  <a:lnTo>
                    <a:pt x="0" y="669"/>
                  </a:lnTo>
                  <a:lnTo>
                    <a:pt x="6" y="589"/>
                  </a:lnTo>
                  <a:lnTo>
                    <a:pt x="48" y="576"/>
                  </a:lnTo>
                  <a:lnTo>
                    <a:pt x="77" y="631"/>
                  </a:lnTo>
                  <a:lnTo>
                    <a:pt x="105" y="634"/>
                  </a:lnTo>
                  <a:lnTo>
                    <a:pt x="141" y="589"/>
                  </a:lnTo>
                  <a:lnTo>
                    <a:pt x="131" y="544"/>
                  </a:lnTo>
                  <a:lnTo>
                    <a:pt x="99" y="496"/>
                  </a:lnTo>
                  <a:lnTo>
                    <a:pt x="77" y="445"/>
                  </a:lnTo>
                  <a:lnTo>
                    <a:pt x="67" y="391"/>
                  </a:lnTo>
                  <a:lnTo>
                    <a:pt x="77" y="333"/>
                  </a:lnTo>
                  <a:lnTo>
                    <a:pt x="99" y="304"/>
                  </a:lnTo>
                  <a:lnTo>
                    <a:pt x="125" y="279"/>
                  </a:lnTo>
                  <a:lnTo>
                    <a:pt x="192" y="279"/>
                  </a:lnTo>
                  <a:lnTo>
                    <a:pt x="221" y="260"/>
                  </a:lnTo>
                  <a:lnTo>
                    <a:pt x="246" y="247"/>
                  </a:lnTo>
                  <a:lnTo>
                    <a:pt x="285" y="170"/>
                  </a:lnTo>
                  <a:lnTo>
                    <a:pt x="310" y="125"/>
                  </a:lnTo>
                  <a:lnTo>
                    <a:pt x="342" y="112"/>
                  </a:lnTo>
                  <a:lnTo>
                    <a:pt x="393" y="122"/>
                  </a:lnTo>
                  <a:lnTo>
                    <a:pt x="448" y="128"/>
                  </a:lnTo>
                  <a:lnTo>
                    <a:pt x="505" y="151"/>
                  </a:lnTo>
                  <a:lnTo>
                    <a:pt x="569" y="148"/>
                  </a:lnTo>
                  <a:lnTo>
                    <a:pt x="605" y="106"/>
                  </a:lnTo>
                  <a:lnTo>
                    <a:pt x="678" y="100"/>
                  </a:lnTo>
                  <a:lnTo>
                    <a:pt x="710" y="135"/>
                  </a:lnTo>
                  <a:lnTo>
                    <a:pt x="749" y="160"/>
                  </a:lnTo>
                  <a:lnTo>
                    <a:pt x="819" y="160"/>
                  </a:lnTo>
                  <a:lnTo>
                    <a:pt x="867" y="160"/>
                  </a:lnTo>
                  <a:lnTo>
                    <a:pt x="918" y="148"/>
                  </a:lnTo>
                  <a:lnTo>
                    <a:pt x="941" y="125"/>
                  </a:lnTo>
                  <a:lnTo>
                    <a:pt x="992" y="119"/>
                  </a:lnTo>
                  <a:lnTo>
                    <a:pt x="1017" y="116"/>
                  </a:lnTo>
                  <a:lnTo>
                    <a:pt x="1065" y="116"/>
                  </a:lnTo>
                  <a:lnTo>
                    <a:pt x="1097" y="96"/>
                  </a:lnTo>
                  <a:lnTo>
                    <a:pt x="1149" y="68"/>
                  </a:lnTo>
                  <a:close/>
                </a:path>
              </a:pathLst>
            </a:custGeom>
            <a:solidFill>
              <a:srgbClr val="CCFFCC"/>
            </a:solidFill>
            <a:ln w="19050">
              <a:solidFill>
                <a:srgbClr val="000066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093" name="Freeform 8"/>
            <p:cNvSpPr>
              <a:spLocks/>
            </p:cNvSpPr>
            <p:nvPr/>
          </p:nvSpPr>
          <p:spPr bwMode="auto">
            <a:xfrm>
              <a:off x="712261" y="3503092"/>
              <a:ext cx="3400425" cy="1516063"/>
            </a:xfrm>
            <a:custGeom>
              <a:avLst/>
              <a:gdLst>
                <a:gd name="T0" fmla="*/ 1276 w 2142"/>
                <a:gd name="T1" fmla="*/ 939 h 955"/>
                <a:gd name="T2" fmla="*/ 1275 w 2142"/>
                <a:gd name="T3" fmla="*/ 904 h 955"/>
                <a:gd name="T4" fmla="*/ 1304 w 2142"/>
                <a:gd name="T5" fmla="*/ 880 h 955"/>
                <a:gd name="T6" fmla="*/ 1331 w 2142"/>
                <a:gd name="T7" fmla="*/ 841 h 955"/>
                <a:gd name="T8" fmla="*/ 1392 w 2142"/>
                <a:gd name="T9" fmla="*/ 835 h 955"/>
                <a:gd name="T10" fmla="*/ 1454 w 2142"/>
                <a:gd name="T11" fmla="*/ 840 h 955"/>
                <a:gd name="T12" fmla="*/ 1523 w 2142"/>
                <a:gd name="T13" fmla="*/ 830 h 955"/>
                <a:gd name="T14" fmla="*/ 1590 w 2142"/>
                <a:gd name="T15" fmla="*/ 824 h 955"/>
                <a:gd name="T16" fmla="*/ 1640 w 2142"/>
                <a:gd name="T17" fmla="*/ 787 h 955"/>
                <a:gd name="T18" fmla="*/ 1720 w 2142"/>
                <a:gd name="T19" fmla="*/ 758 h 955"/>
                <a:gd name="T20" fmla="*/ 1814 w 2142"/>
                <a:gd name="T21" fmla="*/ 744 h 955"/>
                <a:gd name="T22" fmla="*/ 1876 w 2142"/>
                <a:gd name="T23" fmla="*/ 715 h 955"/>
                <a:gd name="T24" fmla="*/ 1952 w 2142"/>
                <a:gd name="T25" fmla="*/ 701 h 955"/>
                <a:gd name="T26" fmla="*/ 2004 w 2142"/>
                <a:gd name="T27" fmla="*/ 661 h 955"/>
                <a:gd name="T28" fmla="*/ 2043 w 2142"/>
                <a:gd name="T29" fmla="*/ 603 h 955"/>
                <a:gd name="T30" fmla="*/ 2080 w 2142"/>
                <a:gd name="T31" fmla="*/ 577 h 955"/>
                <a:gd name="T32" fmla="*/ 2131 w 2142"/>
                <a:gd name="T33" fmla="*/ 545 h 955"/>
                <a:gd name="T34" fmla="*/ 2136 w 2142"/>
                <a:gd name="T35" fmla="*/ 505 h 955"/>
                <a:gd name="T36" fmla="*/ 2073 w 2142"/>
                <a:gd name="T37" fmla="*/ 464 h 955"/>
                <a:gd name="T38" fmla="*/ 2078 w 2142"/>
                <a:gd name="T39" fmla="*/ 425 h 955"/>
                <a:gd name="T40" fmla="*/ 2057 w 2142"/>
                <a:gd name="T41" fmla="*/ 382 h 955"/>
                <a:gd name="T42" fmla="*/ 2044 w 2142"/>
                <a:gd name="T43" fmla="*/ 363 h 955"/>
                <a:gd name="T44" fmla="*/ 2044 w 2142"/>
                <a:gd name="T45" fmla="*/ 339 h 955"/>
                <a:gd name="T46" fmla="*/ 2060 w 2142"/>
                <a:gd name="T47" fmla="*/ 310 h 955"/>
                <a:gd name="T48" fmla="*/ 2092 w 2142"/>
                <a:gd name="T49" fmla="*/ 278 h 955"/>
                <a:gd name="T50" fmla="*/ 2121 w 2142"/>
                <a:gd name="T51" fmla="*/ 240 h 955"/>
                <a:gd name="T52" fmla="*/ 2108 w 2142"/>
                <a:gd name="T53" fmla="*/ 195 h 955"/>
                <a:gd name="T54" fmla="*/ 2091 w 2142"/>
                <a:gd name="T55" fmla="*/ 177 h 955"/>
                <a:gd name="T56" fmla="*/ 2072 w 2142"/>
                <a:gd name="T57" fmla="*/ 161 h 955"/>
                <a:gd name="T58" fmla="*/ 2051 w 2142"/>
                <a:gd name="T59" fmla="*/ 157 h 955"/>
                <a:gd name="T60" fmla="*/ 2041 w 2142"/>
                <a:gd name="T61" fmla="*/ 201 h 955"/>
                <a:gd name="T62" fmla="*/ 2038 w 2142"/>
                <a:gd name="T63" fmla="*/ 238 h 955"/>
                <a:gd name="T64" fmla="*/ 1993 w 2142"/>
                <a:gd name="T65" fmla="*/ 251 h 955"/>
                <a:gd name="T66" fmla="*/ 1971 w 2142"/>
                <a:gd name="T67" fmla="*/ 272 h 955"/>
                <a:gd name="T68" fmla="*/ 1923 w 2142"/>
                <a:gd name="T69" fmla="*/ 299 h 955"/>
                <a:gd name="T70" fmla="*/ 1880 w 2142"/>
                <a:gd name="T71" fmla="*/ 315 h 955"/>
                <a:gd name="T72" fmla="*/ 1825 w 2142"/>
                <a:gd name="T73" fmla="*/ 318 h 955"/>
                <a:gd name="T74" fmla="*/ 1790 w 2142"/>
                <a:gd name="T75" fmla="*/ 336 h 955"/>
                <a:gd name="T76" fmla="*/ 1769 w 2142"/>
                <a:gd name="T77" fmla="*/ 321 h 955"/>
                <a:gd name="T78" fmla="*/ 1708 w 2142"/>
                <a:gd name="T79" fmla="*/ 329 h 955"/>
                <a:gd name="T80" fmla="*/ 1662 w 2142"/>
                <a:gd name="T81" fmla="*/ 302 h 955"/>
                <a:gd name="T82" fmla="*/ 1592 w 2142"/>
                <a:gd name="T83" fmla="*/ 307 h 955"/>
                <a:gd name="T84" fmla="*/ 1531 w 2142"/>
                <a:gd name="T85" fmla="*/ 301 h 955"/>
                <a:gd name="T86" fmla="*/ 1465 w 2142"/>
                <a:gd name="T87" fmla="*/ 301 h 955"/>
                <a:gd name="T88" fmla="*/ 1371 w 2142"/>
                <a:gd name="T89" fmla="*/ 301 h 955"/>
                <a:gd name="T90" fmla="*/ 1288 w 2142"/>
                <a:gd name="T91" fmla="*/ 294 h 955"/>
                <a:gd name="T92" fmla="*/ 1227 w 2142"/>
                <a:gd name="T93" fmla="*/ 293 h 955"/>
                <a:gd name="T94" fmla="*/ 1124 w 2142"/>
                <a:gd name="T95" fmla="*/ 289 h 955"/>
                <a:gd name="T96" fmla="*/ 1035 w 2142"/>
                <a:gd name="T97" fmla="*/ 277 h 955"/>
                <a:gd name="T98" fmla="*/ 974 w 2142"/>
                <a:gd name="T99" fmla="*/ 289 h 955"/>
                <a:gd name="T100" fmla="*/ 945 w 2142"/>
                <a:gd name="T101" fmla="*/ 320 h 955"/>
                <a:gd name="T102" fmla="*/ 862 w 2142"/>
                <a:gd name="T103" fmla="*/ 315 h 955"/>
                <a:gd name="T104" fmla="*/ 768 w 2142"/>
                <a:gd name="T105" fmla="*/ 304 h 955"/>
                <a:gd name="T106" fmla="*/ 660 w 2142"/>
                <a:gd name="T107" fmla="*/ 312 h 955"/>
                <a:gd name="T108" fmla="*/ 585 w 2142"/>
                <a:gd name="T109" fmla="*/ 281 h 955"/>
                <a:gd name="T110" fmla="*/ 550 w 2142"/>
                <a:gd name="T111" fmla="*/ 297 h 955"/>
                <a:gd name="T112" fmla="*/ 478 w 2142"/>
                <a:gd name="T113" fmla="*/ 273 h 955"/>
                <a:gd name="T114" fmla="*/ 417 w 2142"/>
                <a:gd name="T115" fmla="*/ 214 h 955"/>
                <a:gd name="T116" fmla="*/ 230 w 2142"/>
                <a:gd name="T117" fmla="*/ 93 h 955"/>
                <a:gd name="T118" fmla="*/ 91 w 2142"/>
                <a:gd name="T119" fmla="*/ 48 h 95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142"/>
                <a:gd name="T181" fmla="*/ 0 h 955"/>
                <a:gd name="T182" fmla="*/ 2142 w 2142"/>
                <a:gd name="T183" fmla="*/ 955 h 955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142" h="955">
                  <a:moveTo>
                    <a:pt x="1276" y="955"/>
                  </a:moveTo>
                  <a:lnTo>
                    <a:pt x="1276" y="939"/>
                  </a:lnTo>
                  <a:lnTo>
                    <a:pt x="1272" y="925"/>
                  </a:lnTo>
                  <a:lnTo>
                    <a:pt x="1275" y="904"/>
                  </a:lnTo>
                  <a:lnTo>
                    <a:pt x="1286" y="889"/>
                  </a:lnTo>
                  <a:lnTo>
                    <a:pt x="1304" y="880"/>
                  </a:lnTo>
                  <a:lnTo>
                    <a:pt x="1313" y="851"/>
                  </a:lnTo>
                  <a:lnTo>
                    <a:pt x="1331" y="841"/>
                  </a:lnTo>
                  <a:lnTo>
                    <a:pt x="1363" y="835"/>
                  </a:lnTo>
                  <a:lnTo>
                    <a:pt x="1392" y="835"/>
                  </a:lnTo>
                  <a:lnTo>
                    <a:pt x="1428" y="830"/>
                  </a:lnTo>
                  <a:lnTo>
                    <a:pt x="1454" y="840"/>
                  </a:lnTo>
                  <a:lnTo>
                    <a:pt x="1475" y="832"/>
                  </a:lnTo>
                  <a:lnTo>
                    <a:pt x="1523" y="830"/>
                  </a:lnTo>
                  <a:lnTo>
                    <a:pt x="1553" y="830"/>
                  </a:lnTo>
                  <a:lnTo>
                    <a:pt x="1590" y="824"/>
                  </a:lnTo>
                  <a:lnTo>
                    <a:pt x="1620" y="805"/>
                  </a:lnTo>
                  <a:lnTo>
                    <a:pt x="1640" y="787"/>
                  </a:lnTo>
                  <a:lnTo>
                    <a:pt x="1657" y="773"/>
                  </a:lnTo>
                  <a:lnTo>
                    <a:pt x="1720" y="758"/>
                  </a:lnTo>
                  <a:lnTo>
                    <a:pt x="1766" y="747"/>
                  </a:lnTo>
                  <a:lnTo>
                    <a:pt x="1814" y="744"/>
                  </a:lnTo>
                  <a:lnTo>
                    <a:pt x="1848" y="725"/>
                  </a:lnTo>
                  <a:lnTo>
                    <a:pt x="1876" y="715"/>
                  </a:lnTo>
                  <a:lnTo>
                    <a:pt x="1902" y="710"/>
                  </a:lnTo>
                  <a:lnTo>
                    <a:pt x="1952" y="701"/>
                  </a:lnTo>
                  <a:lnTo>
                    <a:pt x="1987" y="688"/>
                  </a:lnTo>
                  <a:lnTo>
                    <a:pt x="2004" y="661"/>
                  </a:lnTo>
                  <a:lnTo>
                    <a:pt x="2025" y="640"/>
                  </a:lnTo>
                  <a:lnTo>
                    <a:pt x="2043" y="603"/>
                  </a:lnTo>
                  <a:lnTo>
                    <a:pt x="2059" y="592"/>
                  </a:lnTo>
                  <a:lnTo>
                    <a:pt x="2080" y="577"/>
                  </a:lnTo>
                  <a:lnTo>
                    <a:pt x="2113" y="561"/>
                  </a:lnTo>
                  <a:lnTo>
                    <a:pt x="2131" y="545"/>
                  </a:lnTo>
                  <a:lnTo>
                    <a:pt x="2142" y="529"/>
                  </a:lnTo>
                  <a:lnTo>
                    <a:pt x="2136" y="505"/>
                  </a:lnTo>
                  <a:lnTo>
                    <a:pt x="2094" y="475"/>
                  </a:lnTo>
                  <a:lnTo>
                    <a:pt x="2073" y="464"/>
                  </a:lnTo>
                  <a:lnTo>
                    <a:pt x="2072" y="451"/>
                  </a:lnTo>
                  <a:lnTo>
                    <a:pt x="2078" y="425"/>
                  </a:lnTo>
                  <a:lnTo>
                    <a:pt x="2080" y="403"/>
                  </a:lnTo>
                  <a:lnTo>
                    <a:pt x="2057" y="382"/>
                  </a:lnTo>
                  <a:lnTo>
                    <a:pt x="2059" y="368"/>
                  </a:lnTo>
                  <a:lnTo>
                    <a:pt x="2044" y="363"/>
                  </a:lnTo>
                  <a:lnTo>
                    <a:pt x="2032" y="350"/>
                  </a:lnTo>
                  <a:lnTo>
                    <a:pt x="2044" y="339"/>
                  </a:lnTo>
                  <a:lnTo>
                    <a:pt x="2051" y="321"/>
                  </a:lnTo>
                  <a:lnTo>
                    <a:pt x="2060" y="310"/>
                  </a:lnTo>
                  <a:lnTo>
                    <a:pt x="2064" y="299"/>
                  </a:lnTo>
                  <a:lnTo>
                    <a:pt x="2092" y="278"/>
                  </a:lnTo>
                  <a:lnTo>
                    <a:pt x="2115" y="264"/>
                  </a:lnTo>
                  <a:lnTo>
                    <a:pt x="2121" y="240"/>
                  </a:lnTo>
                  <a:lnTo>
                    <a:pt x="2121" y="217"/>
                  </a:lnTo>
                  <a:lnTo>
                    <a:pt x="2108" y="195"/>
                  </a:lnTo>
                  <a:lnTo>
                    <a:pt x="2097" y="185"/>
                  </a:lnTo>
                  <a:lnTo>
                    <a:pt x="2091" y="177"/>
                  </a:lnTo>
                  <a:lnTo>
                    <a:pt x="2078" y="173"/>
                  </a:lnTo>
                  <a:lnTo>
                    <a:pt x="2072" y="161"/>
                  </a:lnTo>
                  <a:lnTo>
                    <a:pt x="2062" y="155"/>
                  </a:lnTo>
                  <a:lnTo>
                    <a:pt x="2051" y="157"/>
                  </a:lnTo>
                  <a:lnTo>
                    <a:pt x="2048" y="174"/>
                  </a:lnTo>
                  <a:lnTo>
                    <a:pt x="2041" y="201"/>
                  </a:lnTo>
                  <a:lnTo>
                    <a:pt x="2048" y="230"/>
                  </a:lnTo>
                  <a:lnTo>
                    <a:pt x="2038" y="238"/>
                  </a:lnTo>
                  <a:lnTo>
                    <a:pt x="2014" y="248"/>
                  </a:lnTo>
                  <a:lnTo>
                    <a:pt x="1993" y="251"/>
                  </a:lnTo>
                  <a:lnTo>
                    <a:pt x="1985" y="259"/>
                  </a:lnTo>
                  <a:lnTo>
                    <a:pt x="1971" y="272"/>
                  </a:lnTo>
                  <a:lnTo>
                    <a:pt x="1942" y="285"/>
                  </a:lnTo>
                  <a:lnTo>
                    <a:pt x="1923" y="299"/>
                  </a:lnTo>
                  <a:lnTo>
                    <a:pt x="1905" y="301"/>
                  </a:lnTo>
                  <a:lnTo>
                    <a:pt x="1880" y="315"/>
                  </a:lnTo>
                  <a:lnTo>
                    <a:pt x="1843" y="309"/>
                  </a:lnTo>
                  <a:lnTo>
                    <a:pt x="1825" y="318"/>
                  </a:lnTo>
                  <a:lnTo>
                    <a:pt x="1808" y="333"/>
                  </a:lnTo>
                  <a:lnTo>
                    <a:pt x="1790" y="336"/>
                  </a:lnTo>
                  <a:lnTo>
                    <a:pt x="1782" y="320"/>
                  </a:lnTo>
                  <a:lnTo>
                    <a:pt x="1769" y="321"/>
                  </a:lnTo>
                  <a:lnTo>
                    <a:pt x="1747" y="331"/>
                  </a:lnTo>
                  <a:lnTo>
                    <a:pt x="1708" y="329"/>
                  </a:lnTo>
                  <a:lnTo>
                    <a:pt x="1678" y="310"/>
                  </a:lnTo>
                  <a:lnTo>
                    <a:pt x="1662" y="302"/>
                  </a:lnTo>
                  <a:lnTo>
                    <a:pt x="1622" y="305"/>
                  </a:lnTo>
                  <a:lnTo>
                    <a:pt x="1592" y="307"/>
                  </a:lnTo>
                  <a:lnTo>
                    <a:pt x="1569" y="302"/>
                  </a:lnTo>
                  <a:lnTo>
                    <a:pt x="1531" y="301"/>
                  </a:lnTo>
                  <a:lnTo>
                    <a:pt x="1496" y="301"/>
                  </a:lnTo>
                  <a:lnTo>
                    <a:pt x="1465" y="301"/>
                  </a:lnTo>
                  <a:lnTo>
                    <a:pt x="1433" y="301"/>
                  </a:lnTo>
                  <a:lnTo>
                    <a:pt x="1371" y="301"/>
                  </a:lnTo>
                  <a:lnTo>
                    <a:pt x="1344" y="302"/>
                  </a:lnTo>
                  <a:lnTo>
                    <a:pt x="1288" y="294"/>
                  </a:lnTo>
                  <a:lnTo>
                    <a:pt x="1264" y="293"/>
                  </a:lnTo>
                  <a:lnTo>
                    <a:pt x="1227" y="293"/>
                  </a:lnTo>
                  <a:lnTo>
                    <a:pt x="1193" y="289"/>
                  </a:lnTo>
                  <a:lnTo>
                    <a:pt x="1124" y="289"/>
                  </a:lnTo>
                  <a:lnTo>
                    <a:pt x="1070" y="278"/>
                  </a:lnTo>
                  <a:lnTo>
                    <a:pt x="1035" y="277"/>
                  </a:lnTo>
                  <a:lnTo>
                    <a:pt x="992" y="278"/>
                  </a:lnTo>
                  <a:lnTo>
                    <a:pt x="974" y="289"/>
                  </a:lnTo>
                  <a:lnTo>
                    <a:pt x="955" y="307"/>
                  </a:lnTo>
                  <a:lnTo>
                    <a:pt x="945" y="320"/>
                  </a:lnTo>
                  <a:lnTo>
                    <a:pt x="921" y="326"/>
                  </a:lnTo>
                  <a:lnTo>
                    <a:pt x="862" y="315"/>
                  </a:lnTo>
                  <a:lnTo>
                    <a:pt x="824" y="309"/>
                  </a:lnTo>
                  <a:lnTo>
                    <a:pt x="768" y="304"/>
                  </a:lnTo>
                  <a:lnTo>
                    <a:pt x="713" y="312"/>
                  </a:lnTo>
                  <a:lnTo>
                    <a:pt x="660" y="312"/>
                  </a:lnTo>
                  <a:lnTo>
                    <a:pt x="620" y="288"/>
                  </a:lnTo>
                  <a:lnTo>
                    <a:pt x="585" y="281"/>
                  </a:lnTo>
                  <a:lnTo>
                    <a:pt x="563" y="280"/>
                  </a:lnTo>
                  <a:lnTo>
                    <a:pt x="550" y="297"/>
                  </a:lnTo>
                  <a:lnTo>
                    <a:pt x="526" y="296"/>
                  </a:lnTo>
                  <a:lnTo>
                    <a:pt x="478" y="273"/>
                  </a:lnTo>
                  <a:lnTo>
                    <a:pt x="465" y="241"/>
                  </a:lnTo>
                  <a:lnTo>
                    <a:pt x="417" y="214"/>
                  </a:lnTo>
                  <a:lnTo>
                    <a:pt x="332" y="169"/>
                  </a:lnTo>
                  <a:lnTo>
                    <a:pt x="230" y="93"/>
                  </a:lnTo>
                  <a:lnTo>
                    <a:pt x="201" y="83"/>
                  </a:lnTo>
                  <a:lnTo>
                    <a:pt x="91" y="48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094" name="Oval 10"/>
            <p:cNvSpPr>
              <a:spLocks noChangeArrowheads="1"/>
            </p:cNvSpPr>
            <p:nvPr/>
          </p:nvSpPr>
          <p:spPr bwMode="auto">
            <a:xfrm>
              <a:off x="3023661" y="3841230"/>
              <a:ext cx="57150" cy="57150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095" name="Freeform 11"/>
            <p:cNvSpPr>
              <a:spLocks/>
            </p:cNvSpPr>
            <p:nvPr/>
          </p:nvSpPr>
          <p:spPr bwMode="auto">
            <a:xfrm>
              <a:off x="3533248" y="3496742"/>
              <a:ext cx="452438" cy="257175"/>
            </a:xfrm>
            <a:custGeom>
              <a:avLst/>
              <a:gdLst>
                <a:gd name="T0" fmla="*/ 0 w 285"/>
                <a:gd name="T1" fmla="*/ 0 h 162"/>
                <a:gd name="T2" fmla="*/ 13 w 285"/>
                <a:gd name="T3" fmla="*/ 23 h 162"/>
                <a:gd name="T4" fmla="*/ 5 w 285"/>
                <a:gd name="T5" fmla="*/ 39 h 162"/>
                <a:gd name="T6" fmla="*/ 30 w 285"/>
                <a:gd name="T7" fmla="*/ 43 h 162"/>
                <a:gd name="T8" fmla="*/ 49 w 285"/>
                <a:gd name="T9" fmla="*/ 54 h 162"/>
                <a:gd name="T10" fmla="*/ 78 w 285"/>
                <a:gd name="T11" fmla="*/ 59 h 162"/>
                <a:gd name="T12" fmla="*/ 95 w 285"/>
                <a:gd name="T13" fmla="*/ 65 h 162"/>
                <a:gd name="T14" fmla="*/ 105 w 285"/>
                <a:gd name="T15" fmla="*/ 75 h 162"/>
                <a:gd name="T16" fmla="*/ 135 w 285"/>
                <a:gd name="T17" fmla="*/ 89 h 162"/>
                <a:gd name="T18" fmla="*/ 180 w 285"/>
                <a:gd name="T19" fmla="*/ 99 h 162"/>
                <a:gd name="T20" fmla="*/ 209 w 285"/>
                <a:gd name="T21" fmla="*/ 109 h 162"/>
                <a:gd name="T22" fmla="*/ 246 w 285"/>
                <a:gd name="T23" fmla="*/ 121 h 162"/>
                <a:gd name="T24" fmla="*/ 279 w 285"/>
                <a:gd name="T25" fmla="*/ 131 h 162"/>
                <a:gd name="T26" fmla="*/ 283 w 285"/>
                <a:gd name="T27" fmla="*/ 141 h 162"/>
                <a:gd name="T28" fmla="*/ 285 w 285"/>
                <a:gd name="T29" fmla="*/ 162 h 16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85"/>
                <a:gd name="T46" fmla="*/ 0 h 162"/>
                <a:gd name="T47" fmla="*/ 285 w 285"/>
                <a:gd name="T48" fmla="*/ 162 h 16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85" h="162">
                  <a:moveTo>
                    <a:pt x="0" y="0"/>
                  </a:moveTo>
                  <a:lnTo>
                    <a:pt x="13" y="23"/>
                  </a:lnTo>
                  <a:lnTo>
                    <a:pt x="5" y="39"/>
                  </a:lnTo>
                  <a:lnTo>
                    <a:pt x="30" y="43"/>
                  </a:lnTo>
                  <a:lnTo>
                    <a:pt x="49" y="54"/>
                  </a:lnTo>
                  <a:lnTo>
                    <a:pt x="78" y="59"/>
                  </a:lnTo>
                  <a:lnTo>
                    <a:pt x="95" y="65"/>
                  </a:lnTo>
                  <a:lnTo>
                    <a:pt x="105" y="75"/>
                  </a:lnTo>
                  <a:lnTo>
                    <a:pt x="135" y="89"/>
                  </a:lnTo>
                  <a:lnTo>
                    <a:pt x="180" y="99"/>
                  </a:lnTo>
                  <a:lnTo>
                    <a:pt x="209" y="109"/>
                  </a:lnTo>
                  <a:lnTo>
                    <a:pt x="246" y="121"/>
                  </a:lnTo>
                  <a:lnTo>
                    <a:pt x="279" y="131"/>
                  </a:lnTo>
                  <a:lnTo>
                    <a:pt x="283" y="141"/>
                  </a:lnTo>
                  <a:lnTo>
                    <a:pt x="285" y="162"/>
                  </a:lnTo>
                </a:path>
              </a:pathLst>
            </a:cu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096" name="Freeform 12"/>
            <p:cNvSpPr>
              <a:spLocks/>
            </p:cNvSpPr>
            <p:nvPr/>
          </p:nvSpPr>
          <p:spPr bwMode="auto">
            <a:xfrm>
              <a:off x="2514073" y="4528617"/>
              <a:ext cx="808038" cy="158750"/>
            </a:xfrm>
            <a:custGeom>
              <a:avLst/>
              <a:gdLst>
                <a:gd name="T0" fmla="*/ 4 w 509"/>
                <a:gd name="T1" fmla="*/ 0 h 100"/>
                <a:gd name="T2" fmla="*/ 0 w 509"/>
                <a:gd name="T3" fmla="*/ 34 h 100"/>
                <a:gd name="T4" fmla="*/ 36 w 509"/>
                <a:gd name="T5" fmla="*/ 70 h 100"/>
                <a:gd name="T6" fmla="*/ 85 w 509"/>
                <a:gd name="T7" fmla="*/ 78 h 100"/>
                <a:gd name="T8" fmla="*/ 151 w 509"/>
                <a:gd name="T9" fmla="*/ 93 h 100"/>
                <a:gd name="T10" fmla="*/ 214 w 509"/>
                <a:gd name="T11" fmla="*/ 85 h 100"/>
                <a:gd name="T12" fmla="*/ 264 w 509"/>
                <a:gd name="T13" fmla="*/ 89 h 100"/>
                <a:gd name="T14" fmla="*/ 321 w 509"/>
                <a:gd name="T15" fmla="*/ 100 h 100"/>
                <a:gd name="T16" fmla="*/ 379 w 509"/>
                <a:gd name="T17" fmla="*/ 93 h 100"/>
                <a:gd name="T18" fmla="*/ 401 w 509"/>
                <a:gd name="T19" fmla="*/ 77 h 100"/>
                <a:gd name="T20" fmla="*/ 443 w 509"/>
                <a:gd name="T21" fmla="*/ 78 h 100"/>
                <a:gd name="T22" fmla="*/ 487 w 509"/>
                <a:gd name="T23" fmla="*/ 71 h 100"/>
                <a:gd name="T24" fmla="*/ 509 w 509"/>
                <a:gd name="T25" fmla="*/ 61 h 10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09"/>
                <a:gd name="T40" fmla="*/ 0 h 100"/>
                <a:gd name="T41" fmla="*/ 509 w 509"/>
                <a:gd name="T42" fmla="*/ 100 h 10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09" h="100">
                  <a:moveTo>
                    <a:pt x="4" y="0"/>
                  </a:moveTo>
                  <a:lnTo>
                    <a:pt x="0" y="34"/>
                  </a:lnTo>
                  <a:lnTo>
                    <a:pt x="36" y="70"/>
                  </a:lnTo>
                  <a:lnTo>
                    <a:pt x="85" y="78"/>
                  </a:lnTo>
                  <a:lnTo>
                    <a:pt x="151" y="93"/>
                  </a:lnTo>
                  <a:lnTo>
                    <a:pt x="214" y="85"/>
                  </a:lnTo>
                  <a:lnTo>
                    <a:pt x="264" y="89"/>
                  </a:lnTo>
                  <a:lnTo>
                    <a:pt x="321" y="100"/>
                  </a:lnTo>
                  <a:lnTo>
                    <a:pt x="379" y="93"/>
                  </a:lnTo>
                  <a:lnTo>
                    <a:pt x="401" y="77"/>
                  </a:lnTo>
                  <a:lnTo>
                    <a:pt x="443" y="78"/>
                  </a:lnTo>
                  <a:lnTo>
                    <a:pt x="487" y="71"/>
                  </a:lnTo>
                  <a:lnTo>
                    <a:pt x="509" y="61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097" name="Freeform 13"/>
            <p:cNvSpPr>
              <a:spLocks/>
            </p:cNvSpPr>
            <p:nvPr/>
          </p:nvSpPr>
          <p:spPr bwMode="auto">
            <a:xfrm>
              <a:off x="3934886" y="4352405"/>
              <a:ext cx="598487" cy="671512"/>
            </a:xfrm>
            <a:custGeom>
              <a:avLst/>
              <a:gdLst>
                <a:gd name="T0" fmla="*/ 350 w 377"/>
                <a:gd name="T1" fmla="*/ 0 h 423"/>
                <a:gd name="T2" fmla="*/ 338 w 377"/>
                <a:gd name="T3" fmla="*/ 26 h 423"/>
                <a:gd name="T4" fmla="*/ 358 w 377"/>
                <a:gd name="T5" fmla="*/ 68 h 423"/>
                <a:gd name="T6" fmla="*/ 377 w 377"/>
                <a:gd name="T7" fmla="*/ 100 h 423"/>
                <a:gd name="T8" fmla="*/ 345 w 377"/>
                <a:gd name="T9" fmla="*/ 88 h 423"/>
                <a:gd name="T10" fmla="*/ 322 w 377"/>
                <a:gd name="T11" fmla="*/ 75 h 423"/>
                <a:gd name="T12" fmla="*/ 298 w 377"/>
                <a:gd name="T13" fmla="*/ 73 h 423"/>
                <a:gd name="T14" fmla="*/ 264 w 377"/>
                <a:gd name="T15" fmla="*/ 78 h 423"/>
                <a:gd name="T16" fmla="*/ 232 w 377"/>
                <a:gd name="T17" fmla="*/ 90 h 423"/>
                <a:gd name="T18" fmla="*/ 194 w 377"/>
                <a:gd name="T19" fmla="*/ 114 h 423"/>
                <a:gd name="T20" fmla="*/ 168 w 377"/>
                <a:gd name="T21" fmla="*/ 141 h 423"/>
                <a:gd name="T22" fmla="*/ 135 w 377"/>
                <a:gd name="T23" fmla="*/ 172 h 423"/>
                <a:gd name="T24" fmla="*/ 105 w 377"/>
                <a:gd name="T25" fmla="*/ 189 h 423"/>
                <a:gd name="T26" fmla="*/ 80 w 377"/>
                <a:gd name="T27" fmla="*/ 205 h 423"/>
                <a:gd name="T28" fmla="*/ 72 w 377"/>
                <a:gd name="T29" fmla="*/ 235 h 423"/>
                <a:gd name="T30" fmla="*/ 75 w 377"/>
                <a:gd name="T31" fmla="*/ 280 h 423"/>
                <a:gd name="T32" fmla="*/ 74 w 377"/>
                <a:gd name="T33" fmla="*/ 313 h 423"/>
                <a:gd name="T34" fmla="*/ 64 w 377"/>
                <a:gd name="T35" fmla="*/ 349 h 423"/>
                <a:gd name="T36" fmla="*/ 40 w 377"/>
                <a:gd name="T37" fmla="*/ 387 h 423"/>
                <a:gd name="T38" fmla="*/ 0 w 377"/>
                <a:gd name="T39" fmla="*/ 423 h 42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77"/>
                <a:gd name="T61" fmla="*/ 0 h 423"/>
                <a:gd name="T62" fmla="*/ 377 w 377"/>
                <a:gd name="T63" fmla="*/ 423 h 42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77" h="423">
                  <a:moveTo>
                    <a:pt x="350" y="0"/>
                  </a:moveTo>
                  <a:lnTo>
                    <a:pt x="338" y="26"/>
                  </a:lnTo>
                  <a:lnTo>
                    <a:pt x="358" y="68"/>
                  </a:lnTo>
                  <a:lnTo>
                    <a:pt x="377" y="100"/>
                  </a:lnTo>
                  <a:lnTo>
                    <a:pt x="345" y="88"/>
                  </a:lnTo>
                  <a:lnTo>
                    <a:pt x="322" y="75"/>
                  </a:lnTo>
                  <a:lnTo>
                    <a:pt x="298" y="73"/>
                  </a:lnTo>
                  <a:lnTo>
                    <a:pt x="264" y="78"/>
                  </a:lnTo>
                  <a:lnTo>
                    <a:pt x="232" y="90"/>
                  </a:lnTo>
                  <a:lnTo>
                    <a:pt x="194" y="114"/>
                  </a:lnTo>
                  <a:lnTo>
                    <a:pt x="168" y="141"/>
                  </a:lnTo>
                  <a:lnTo>
                    <a:pt x="135" y="172"/>
                  </a:lnTo>
                  <a:lnTo>
                    <a:pt x="105" y="189"/>
                  </a:lnTo>
                  <a:lnTo>
                    <a:pt x="80" y="205"/>
                  </a:lnTo>
                  <a:lnTo>
                    <a:pt x="72" y="235"/>
                  </a:lnTo>
                  <a:lnTo>
                    <a:pt x="75" y="280"/>
                  </a:lnTo>
                  <a:lnTo>
                    <a:pt x="74" y="313"/>
                  </a:lnTo>
                  <a:lnTo>
                    <a:pt x="64" y="349"/>
                  </a:lnTo>
                  <a:lnTo>
                    <a:pt x="40" y="387"/>
                  </a:lnTo>
                  <a:lnTo>
                    <a:pt x="0" y="423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098" name="Freeform 14"/>
            <p:cNvSpPr>
              <a:spLocks/>
            </p:cNvSpPr>
            <p:nvPr/>
          </p:nvSpPr>
          <p:spPr bwMode="auto">
            <a:xfrm>
              <a:off x="1609198" y="4382567"/>
              <a:ext cx="733425" cy="392113"/>
            </a:xfrm>
            <a:custGeom>
              <a:avLst/>
              <a:gdLst>
                <a:gd name="T0" fmla="*/ 462 w 462"/>
                <a:gd name="T1" fmla="*/ 0 h 247"/>
                <a:gd name="T2" fmla="*/ 449 w 462"/>
                <a:gd name="T3" fmla="*/ 44 h 247"/>
                <a:gd name="T4" fmla="*/ 430 w 462"/>
                <a:gd name="T5" fmla="*/ 86 h 247"/>
                <a:gd name="T6" fmla="*/ 445 w 462"/>
                <a:gd name="T7" fmla="*/ 133 h 247"/>
                <a:gd name="T8" fmla="*/ 460 w 462"/>
                <a:gd name="T9" fmla="*/ 171 h 247"/>
                <a:gd name="T10" fmla="*/ 459 w 462"/>
                <a:gd name="T11" fmla="*/ 200 h 247"/>
                <a:gd name="T12" fmla="*/ 438 w 462"/>
                <a:gd name="T13" fmla="*/ 247 h 247"/>
                <a:gd name="T14" fmla="*/ 388 w 462"/>
                <a:gd name="T15" fmla="*/ 233 h 247"/>
                <a:gd name="T16" fmla="*/ 336 w 462"/>
                <a:gd name="T17" fmla="*/ 233 h 247"/>
                <a:gd name="T18" fmla="*/ 307 w 462"/>
                <a:gd name="T19" fmla="*/ 230 h 247"/>
                <a:gd name="T20" fmla="*/ 287 w 462"/>
                <a:gd name="T21" fmla="*/ 211 h 247"/>
                <a:gd name="T22" fmla="*/ 259 w 462"/>
                <a:gd name="T23" fmla="*/ 213 h 247"/>
                <a:gd name="T24" fmla="*/ 241 w 462"/>
                <a:gd name="T25" fmla="*/ 227 h 247"/>
                <a:gd name="T26" fmla="*/ 189 w 462"/>
                <a:gd name="T27" fmla="*/ 211 h 247"/>
                <a:gd name="T28" fmla="*/ 139 w 462"/>
                <a:gd name="T29" fmla="*/ 191 h 247"/>
                <a:gd name="T30" fmla="*/ 108 w 462"/>
                <a:gd name="T31" fmla="*/ 187 h 247"/>
                <a:gd name="T32" fmla="*/ 85 w 462"/>
                <a:gd name="T33" fmla="*/ 195 h 247"/>
                <a:gd name="T34" fmla="*/ 64 w 462"/>
                <a:gd name="T35" fmla="*/ 155 h 247"/>
                <a:gd name="T36" fmla="*/ 0 w 462"/>
                <a:gd name="T37" fmla="*/ 165 h 24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62"/>
                <a:gd name="T58" fmla="*/ 0 h 247"/>
                <a:gd name="T59" fmla="*/ 462 w 462"/>
                <a:gd name="T60" fmla="*/ 247 h 24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62" h="247">
                  <a:moveTo>
                    <a:pt x="462" y="0"/>
                  </a:moveTo>
                  <a:lnTo>
                    <a:pt x="449" y="44"/>
                  </a:lnTo>
                  <a:lnTo>
                    <a:pt x="430" y="86"/>
                  </a:lnTo>
                  <a:lnTo>
                    <a:pt x="445" y="133"/>
                  </a:lnTo>
                  <a:lnTo>
                    <a:pt x="460" y="171"/>
                  </a:lnTo>
                  <a:lnTo>
                    <a:pt x="459" y="200"/>
                  </a:lnTo>
                  <a:lnTo>
                    <a:pt x="438" y="247"/>
                  </a:lnTo>
                  <a:lnTo>
                    <a:pt x="388" y="233"/>
                  </a:lnTo>
                  <a:lnTo>
                    <a:pt x="336" y="233"/>
                  </a:lnTo>
                  <a:lnTo>
                    <a:pt x="307" y="230"/>
                  </a:lnTo>
                  <a:lnTo>
                    <a:pt x="287" y="211"/>
                  </a:lnTo>
                  <a:lnTo>
                    <a:pt x="259" y="213"/>
                  </a:lnTo>
                  <a:lnTo>
                    <a:pt x="241" y="227"/>
                  </a:lnTo>
                  <a:lnTo>
                    <a:pt x="189" y="211"/>
                  </a:lnTo>
                  <a:lnTo>
                    <a:pt x="139" y="191"/>
                  </a:lnTo>
                  <a:lnTo>
                    <a:pt x="108" y="187"/>
                  </a:lnTo>
                  <a:lnTo>
                    <a:pt x="85" y="195"/>
                  </a:lnTo>
                  <a:lnTo>
                    <a:pt x="64" y="155"/>
                  </a:lnTo>
                  <a:lnTo>
                    <a:pt x="0" y="165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099" name="Freeform 15"/>
            <p:cNvSpPr>
              <a:spLocks/>
            </p:cNvSpPr>
            <p:nvPr/>
          </p:nvSpPr>
          <p:spPr bwMode="auto">
            <a:xfrm>
              <a:off x="2321986" y="4723880"/>
              <a:ext cx="446087" cy="306387"/>
            </a:xfrm>
            <a:custGeom>
              <a:avLst/>
              <a:gdLst>
                <a:gd name="T0" fmla="*/ 119 w 281"/>
                <a:gd name="T1" fmla="*/ 190 h 193"/>
                <a:gd name="T2" fmla="*/ 107 w 281"/>
                <a:gd name="T3" fmla="*/ 168 h 193"/>
                <a:gd name="T4" fmla="*/ 72 w 281"/>
                <a:gd name="T5" fmla="*/ 168 h 193"/>
                <a:gd name="T6" fmla="*/ 47 w 281"/>
                <a:gd name="T7" fmla="*/ 148 h 193"/>
                <a:gd name="T8" fmla="*/ 10 w 281"/>
                <a:gd name="T9" fmla="*/ 122 h 193"/>
                <a:gd name="T10" fmla="*/ 0 w 281"/>
                <a:gd name="T11" fmla="*/ 87 h 193"/>
                <a:gd name="T12" fmla="*/ 20 w 281"/>
                <a:gd name="T13" fmla="*/ 63 h 193"/>
                <a:gd name="T14" fmla="*/ 50 w 281"/>
                <a:gd name="T15" fmla="*/ 37 h 193"/>
                <a:gd name="T16" fmla="*/ 49 w 281"/>
                <a:gd name="T17" fmla="*/ 13 h 193"/>
                <a:gd name="T18" fmla="*/ 37 w 281"/>
                <a:gd name="T19" fmla="*/ 0 h 193"/>
                <a:gd name="T20" fmla="*/ 67 w 281"/>
                <a:gd name="T21" fmla="*/ 10 h 193"/>
                <a:gd name="T22" fmla="*/ 98 w 281"/>
                <a:gd name="T23" fmla="*/ 20 h 193"/>
                <a:gd name="T24" fmla="*/ 124 w 281"/>
                <a:gd name="T25" fmla="*/ 20 h 193"/>
                <a:gd name="T26" fmla="*/ 143 w 281"/>
                <a:gd name="T27" fmla="*/ 24 h 193"/>
                <a:gd name="T28" fmla="*/ 158 w 281"/>
                <a:gd name="T29" fmla="*/ 55 h 193"/>
                <a:gd name="T30" fmla="*/ 193 w 281"/>
                <a:gd name="T31" fmla="*/ 87 h 193"/>
                <a:gd name="T32" fmla="*/ 234 w 281"/>
                <a:gd name="T33" fmla="*/ 87 h 193"/>
                <a:gd name="T34" fmla="*/ 245 w 281"/>
                <a:gd name="T35" fmla="*/ 63 h 193"/>
                <a:gd name="T36" fmla="*/ 263 w 281"/>
                <a:gd name="T37" fmla="*/ 98 h 193"/>
                <a:gd name="T38" fmla="*/ 278 w 281"/>
                <a:gd name="T39" fmla="*/ 154 h 193"/>
                <a:gd name="T40" fmla="*/ 278 w 281"/>
                <a:gd name="T41" fmla="*/ 181 h 193"/>
                <a:gd name="T42" fmla="*/ 281 w 281"/>
                <a:gd name="T43" fmla="*/ 193 h 19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81"/>
                <a:gd name="T67" fmla="*/ 0 h 193"/>
                <a:gd name="T68" fmla="*/ 281 w 281"/>
                <a:gd name="T69" fmla="*/ 193 h 193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81" h="193">
                  <a:moveTo>
                    <a:pt x="119" y="190"/>
                  </a:moveTo>
                  <a:lnTo>
                    <a:pt x="107" y="168"/>
                  </a:lnTo>
                  <a:lnTo>
                    <a:pt x="72" y="168"/>
                  </a:lnTo>
                  <a:lnTo>
                    <a:pt x="47" y="148"/>
                  </a:lnTo>
                  <a:lnTo>
                    <a:pt x="10" y="122"/>
                  </a:lnTo>
                  <a:lnTo>
                    <a:pt x="0" y="87"/>
                  </a:lnTo>
                  <a:lnTo>
                    <a:pt x="20" y="63"/>
                  </a:lnTo>
                  <a:lnTo>
                    <a:pt x="50" y="37"/>
                  </a:lnTo>
                  <a:lnTo>
                    <a:pt x="49" y="13"/>
                  </a:lnTo>
                  <a:lnTo>
                    <a:pt x="37" y="0"/>
                  </a:lnTo>
                  <a:lnTo>
                    <a:pt x="67" y="10"/>
                  </a:lnTo>
                  <a:lnTo>
                    <a:pt x="98" y="20"/>
                  </a:lnTo>
                  <a:lnTo>
                    <a:pt x="124" y="20"/>
                  </a:lnTo>
                  <a:lnTo>
                    <a:pt x="143" y="24"/>
                  </a:lnTo>
                  <a:lnTo>
                    <a:pt x="158" y="55"/>
                  </a:lnTo>
                  <a:lnTo>
                    <a:pt x="193" y="87"/>
                  </a:lnTo>
                  <a:lnTo>
                    <a:pt x="234" y="87"/>
                  </a:lnTo>
                  <a:lnTo>
                    <a:pt x="245" y="63"/>
                  </a:lnTo>
                  <a:lnTo>
                    <a:pt x="263" y="98"/>
                  </a:lnTo>
                  <a:lnTo>
                    <a:pt x="278" y="154"/>
                  </a:lnTo>
                  <a:lnTo>
                    <a:pt x="278" y="181"/>
                  </a:lnTo>
                  <a:lnTo>
                    <a:pt x="281" y="193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100" name="Text Box 16"/>
            <p:cNvSpPr txBox="1">
              <a:spLocks noChangeArrowheads="1"/>
            </p:cNvSpPr>
            <p:nvPr/>
          </p:nvSpPr>
          <p:spPr bwMode="auto">
            <a:xfrm>
              <a:off x="2606148" y="4330180"/>
              <a:ext cx="536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/>
                <a:t>不丹</a:t>
              </a:r>
            </a:p>
          </p:txBody>
        </p:sp>
        <p:sp>
          <p:nvSpPr>
            <p:cNvPr id="89101" name="Text Box 18"/>
            <p:cNvSpPr txBox="1">
              <a:spLocks noChangeArrowheads="1"/>
            </p:cNvSpPr>
            <p:nvPr/>
          </p:nvSpPr>
          <p:spPr bwMode="auto">
            <a:xfrm rot="595315">
              <a:off x="1590148" y="4317480"/>
              <a:ext cx="714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/>
                <a:t>尼泊尔</a:t>
              </a:r>
            </a:p>
          </p:txBody>
        </p:sp>
        <p:sp>
          <p:nvSpPr>
            <p:cNvPr id="89102" name="Text Box 19"/>
            <p:cNvSpPr txBox="1">
              <a:spLocks noChangeArrowheads="1"/>
            </p:cNvSpPr>
            <p:nvPr/>
          </p:nvSpPr>
          <p:spPr bwMode="auto">
            <a:xfrm>
              <a:off x="3161773" y="4927080"/>
              <a:ext cx="536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/>
                <a:t>印度</a:t>
              </a:r>
            </a:p>
          </p:txBody>
        </p:sp>
        <p:sp>
          <p:nvSpPr>
            <p:cNvPr id="89103" name="Text Box 20"/>
            <p:cNvSpPr txBox="1">
              <a:spLocks noChangeArrowheads="1"/>
            </p:cNvSpPr>
            <p:nvPr/>
          </p:nvSpPr>
          <p:spPr bwMode="auto">
            <a:xfrm>
              <a:off x="2150536" y="4962005"/>
              <a:ext cx="714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/>
                <a:t>孟加拉</a:t>
              </a:r>
            </a:p>
          </p:txBody>
        </p:sp>
        <p:sp>
          <p:nvSpPr>
            <p:cNvPr id="89104" name="Text Box 21"/>
            <p:cNvSpPr txBox="1">
              <a:spLocks noChangeArrowheads="1"/>
            </p:cNvSpPr>
            <p:nvPr/>
          </p:nvSpPr>
          <p:spPr bwMode="auto">
            <a:xfrm>
              <a:off x="4225398" y="4568305"/>
              <a:ext cx="536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/>
                <a:t>缅甸</a:t>
              </a:r>
            </a:p>
          </p:txBody>
        </p:sp>
        <p:sp>
          <p:nvSpPr>
            <p:cNvPr id="89105" name="Text Box 22"/>
            <p:cNvSpPr txBox="1">
              <a:spLocks noChangeArrowheads="1"/>
            </p:cNvSpPr>
            <p:nvPr/>
          </p:nvSpPr>
          <p:spPr bwMode="auto">
            <a:xfrm>
              <a:off x="2795061" y="3557067"/>
              <a:ext cx="536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/>
                <a:t>拉萨</a:t>
              </a:r>
            </a:p>
          </p:txBody>
        </p:sp>
        <p:sp>
          <p:nvSpPr>
            <p:cNvPr id="89106" name="Text Box 23"/>
            <p:cNvSpPr txBox="1">
              <a:spLocks noChangeArrowheads="1"/>
            </p:cNvSpPr>
            <p:nvPr/>
          </p:nvSpPr>
          <p:spPr bwMode="auto">
            <a:xfrm>
              <a:off x="2191811" y="3876155"/>
              <a:ext cx="1069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CC0000"/>
                  </a:solidFill>
                </a:rPr>
                <a:t>雅鲁藏布江</a:t>
              </a:r>
            </a:p>
          </p:txBody>
        </p:sp>
        <p:sp>
          <p:nvSpPr>
            <p:cNvPr id="89107" name="Text Box 24"/>
            <p:cNvSpPr txBox="1">
              <a:spLocks noChangeArrowheads="1"/>
            </p:cNvSpPr>
            <p:nvPr/>
          </p:nvSpPr>
          <p:spPr bwMode="auto">
            <a:xfrm rot="972133">
              <a:off x="3384023" y="3261792"/>
              <a:ext cx="8921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CC0000"/>
                  </a:solidFill>
                </a:rPr>
                <a:t>易贡藏布</a:t>
              </a:r>
            </a:p>
          </p:txBody>
        </p:sp>
        <p:sp>
          <p:nvSpPr>
            <p:cNvPr id="89108" name="Text Box 26"/>
            <p:cNvSpPr txBox="1">
              <a:spLocks noChangeArrowheads="1"/>
            </p:cNvSpPr>
            <p:nvPr/>
          </p:nvSpPr>
          <p:spPr bwMode="auto">
            <a:xfrm>
              <a:off x="1563161" y="2937942"/>
              <a:ext cx="714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/>
                <a:t>西    藏</a:t>
              </a:r>
            </a:p>
          </p:txBody>
        </p:sp>
        <p:sp>
          <p:nvSpPr>
            <p:cNvPr id="89109" name="Text Box 27"/>
            <p:cNvSpPr txBox="1">
              <a:spLocks noChangeArrowheads="1"/>
            </p:cNvSpPr>
            <p:nvPr/>
          </p:nvSpPr>
          <p:spPr bwMode="auto">
            <a:xfrm rot="-916258">
              <a:off x="2649011" y="4706417"/>
              <a:ext cx="1425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CC0000"/>
                  </a:solidFill>
                </a:rPr>
                <a:t>布拉马普特拉河</a:t>
              </a:r>
            </a:p>
          </p:txBody>
        </p:sp>
      </p:grpSp>
      <p:sp>
        <p:nvSpPr>
          <p:cNvPr id="89110" name="Text Box 28"/>
          <p:cNvSpPr txBox="1">
            <a:spLocks noChangeArrowheads="1"/>
          </p:cNvSpPr>
          <p:nvPr/>
        </p:nvSpPr>
        <p:spPr bwMode="auto">
          <a:xfrm>
            <a:off x="994568" y="802695"/>
            <a:ext cx="3260725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A50021"/>
                </a:solidFill>
                <a:ea typeface="幼圆" pitchFamily="49" charset="-122"/>
              </a:rPr>
              <a:t>易贡巨型</a:t>
            </a:r>
            <a:r>
              <a:rPr lang="zh-CN" altLang="en-US" sz="3200" b="1" dirty="0" smtClean="0">
                <a:solidFill>
                  <a:srgbClr val="A50021"/>
                </a:solidFill>
                <a:ea typeface="幼圆" pitchFamily="49" charset="-122"/>
              </a:rPr>
              <a:t>滑坡</a:t>
            </a:r>
            <a:endParaRPr lang="en-US" altLang="zh-CN" sz="3200" b="1" dirty="0" smtClean="0">
              <a:solidFill>
                <a:srgbClr val="A50021"/>
              </a:solidFill>
              <a:ea typeface="幼圆" pitchFamily="49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（时间</a:t>
            </a:r>
            <a:r>
              <a:rPr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2000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年</a:t>
            </a:r>
            <a:r>
              <a:rPr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4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月</a:t>
            </a:r>
            <a:r>
              <a:rPr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9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日）</a:t>
            </a:r>
            <a:endParaRPr lang="zh-CN" altLang="en-US" sz="24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451273" y="5740061"/>
            <a:ext cx="582271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滑坡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实例 </a:t>
            </a:r>
            <a:r>
              <a:rPr lang="en-US" altLang="zh-CN" sz="4000" b="1" dirty="0" smtClean="0">
                <a:solidFill>
                  <a:srgbClr val="000066"/>
                </a:solidFill>
                <a:ea typeface="黑体" pitchFamily="2" charset="-122"/>
              </a:rPr>
              <a:t>- 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易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贡巨型滑坡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 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2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191454769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3"/>
          <p:cNvSpPr txBox="1">
            <a:spLocks noChangeArrowheads="1"/>
          </p:cNvSpPr>
          <p:nvPr/>
        </p:nvSpPr>
        <p:spPr bwMode="auto">
          <a:xfrm>
            <a:off x="2543175" y="5687026"/>
            <a:ext cx="5289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西藏易贡巨型高速滑坡</a:t>
            </a:r>
          </a:p>
        </p:txBody>
      </p:sp>
      <p:pic>
        <p:nvPicPr>
          <p:cNvPr id="15267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8" r="15921"/>
          <a:stretch>
            <a:fillRect/>
          </a:stretch>
        </p:blipFill>
        <p:spPr bwMode="auto">
          <a:xfrm>
            <a:off x="5006975" y="1781649"/>
            <a:ext cx="4002088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7" name="Picture 2" descr="tibet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8"/>
          <a:stretch>
            <a:fillRect/>
          </a:stretch>
        </p:blipFill>
        <p:spPr bwMode="auto">
          <a:xfrm>
            <a:off x="203200" y="810859"/>
            <a:ext cx="4679950" cy="372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39619434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6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6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798990"/>
            <a:ext cx="6880088" cy="4598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8835" name="Rectangle 3"/>
          <p:cNvSpPr>
            <a:spLocks noChangeArrowheads="1"/>
          </p:cNvSpPr>
          <p:nvPr/>
        </p:nvSpPr>
        <p:spPr bwMode="auto">
          <a:xfrm>
            <a:off x="1385888" y="2432050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>
                <a:solidFill>
                  <a:srgbClr val="FFFF66"/>
                </a:solidFill>
                <a:latin typeface="黑体" pitchFamily="2" charset="-122"/>
                <a:ea typeface="黑体" pitchFamily="2" charset="-122"/>
              </a:rPr>
              <a:t>湖水每天上涨</a:t>
            </a:r>
            <a:r>
              <a:rPr kumimoji="1" lang="en-US" altLang="zh-CN" sz="2800">
                <a:solidFill>
                  <a:srgbClr val="FFFF66"/>
                </a:solidFill>
                <a:latin typeface="黑体" pitchFamily="2" charset="-122"/>
                <a:ea typeface="黑体" pitchFamily="2" charset="-122"/>
              </a:rPr>
              <a:t>50cm</a:t>
            </a:r>
            <a:r>
              <a:rPr kumimoji="1" lang="zh-CN" altLang="en-US" sz="2800">
                <a:solidFill>
                  <a:srgbClr val="FFFF66"/>
                </a:solidFill>
                <a:latin typeface="黑体" pitchFamily="2" charset="-122"/>
                <a:ea typeface="黑体" pitchFamily="2" charset="-122"/>
              </a:rPr>
              <a:t>！</a:t>
            </a:r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2819400" y="5754808"/>
            <a:ext cx="42608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易贡巨型滑坡现场</a:t>
            </a: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186712101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2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2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52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914400" y="1042988"/>
            <a:ext cx="748347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预案一：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加强监测，上、下游移民工作，库满自溢漫顶溃口</a:t>
            </a:r>
          </a:p>
          <a:p>
            <a:pPr eaLnBrk="1" hangingPunct="1"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预案二：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在堆积体最低处开渠引流，水库溢流漫顶溃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口</a:t>
            </a:r>
            <a:endParaRPr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预案三：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在右岸山体垭口开溢洪道，改造堆积体成坝，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堰塞湖成库   </a:t>
            </a:r>
          </a:p>
        </p:txBody>
      </p:sp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2819400" y="5719469"/>
            <a:ext cx="42608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易贡滑坡处理预案</a:t>
            </a:r>
            <a:endParaRPr kumimoji="1"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529860" name="AutoShape 4"/>
          <p:cNvSpPr>
            <a:spLocks noChangeArrowheads="1"/>
          </p:cNvSpPr>
          <p:nvPr/>
        </p:nvSpPr>
        <p:spPr bwMode="auto">
          <a:xfrm>
            <a:off x="2759075" y="4746625"/>
            <a:ext cx="663575" cy="458788"/>
          </a:xfrm>
          <a:prstGeom prst="homePlate">
            <a:avLst>
              <a:gd name="adj" fmla="val 36159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9861" name="Text Box 5"/>
          <p:cNvSpPr txBox="1">
            <a:spLocks noChangeArrowheads="1"/>
          </p:cNvSpPr>
          <p:nvPr/>
        </p:nvSpPr>
        <p:spPr bwMode="auto">
          <a:xfrm>
            <a:off x="3778250" y="4722813"/>
            <a:ext cx="272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66"/>
                </a:solidFill>
                <a:ea typeface="幼圆" pitchFamily="49" charset="-122"/>
              </a:rPr>
              <a:t>最终采用预案二</a:t>
            </a:r>
            <a:endParaRPr lang="en-US" altLang="zh-CN" sz="28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405752599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2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29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29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9860" grpId="0" animBg="1"/>
      <p:bldP spid="152986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1401763" y="21240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chemeClr val="bg1"/>
              </a:solidFill>
              <a:ea typeface="幼圆" pitchFamily="49" charset="-122"/>
            </a:endParaRPr>
          </a:p>
        </p:txBody>
      </p:sp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1689100" y="1446213"/>
            <a:ext cx="6159500" cy="306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  <a:spcAft>
                <a:spcPct val="2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武警部队等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700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多名抢险人员，奋战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33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天，降低堆积体过水高程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24.1m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，减少拦存湖水约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20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亿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m</a:t>
            </a:r>
            <a:r>
              <a:rPr lang="en-US" altLang="zh-CN" sz="2800" b="1" baseline="30000" dirty="0">
                <a:solidFill>
                  <a:srgbClr val="000066"/>
                </a:solidFill>
                <a:ea typeface="幼圆" pitchFamily="49" charset="-122"/>
              </a:rPr>
              <a:t>3</a:t>
            </a:r>
            <a:endParaRPr lang="zh-CN" altLang="en-US" sz="2800" b="1" baseline="30000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spcAft>
                <a:spcPct val="2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泄洪时易贡湖库容量已达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30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多亿立方米</a:t>
            </a:r>
            <a:r>
              <a:rPr lang="zh-CN" altLang="en-US" sz="2400" dirty="0">
                <a:solidFill>
                  <a:srgbClr val="000066"/>
                </a:solidFill>
                <a:ea typeface="幼圆" pitchFamily="49" charset="-122"/>
              </a:rPr>
              <a:t> </a:t>
            </a:r>
          </a:p>
        </p:txBody>
      </p:sp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2638425" y="5648449"/>
            <a:ext cx="42608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易贡滑坡处理结果</a:t>
            </a: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270021978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82" name="Rectangle 2"/>
          <p:cNvSpPr>
            <a:spLocks noChangeArrowheads="1"/>
          </p:cNvSpPr>
          <p:nvPr/>
        </p:nvSpPr>
        <p:spPr bwMode="auto">
          <a:xfrm>
            <a:off x="3702050" y="2740025"/>
            <a:ext cx="1736725" cy="5492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083" name="Text Box 3"/>
          <p:cNvSpPr txBox="1">
            <a:spLocks noChangeArrowheads="1"/>
          </p:cNvSpPr>
          <p:nvPr/>
        </p:nvSpPr>
        <p:spPr bwMode="auto">
          <a:xfrm>
            <a:off x="6910388" y="1685925"/>
            <a:ext cx="2087562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渗流量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水压力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渗透力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渗透破坏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渗流速度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渗水面位置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54084" name="Text Box 4"/>
          <p:cNvSpPr txBox="1">
            <a:spLocks noChangeArrowheads="1"/>
          </p:cNvSpPr>
          <p:nvPr/>
        </p:nvSpPr>
        <p:spPr bwMode="auto">
          <a:xfrm>
            <a:off x="174625" y="1385888"/>
            <a:ext cx="241935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2563" indent="-1825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挡水建筑物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集水建筑物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引水结构物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基础工程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地下工程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边坡工程</a:t>
            </a:r>
            <a:endParaRPr lang="zh-CN" altLang="en-US" sz="28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54085" name="Oval 5"/>
          <p:cNvSpPr>
            <a:spLocks noChangeArrowheads="1"/>
          </p:cNvSpPr>
          <p:nvPr/>
        </p:nvSpPr>
        <p:spPr bwMode="auto">
          <a:xfrm>
            <a:off x="3381375" y="2360613"/>
            <a:ext cx="2378075" cy="2232025"/>
          </a:xfrm>
          <a:prstGeom prst="ellipse">
            <a:avLst/>
          </a:prstGeom>
          <a:noFill/>
          <a:ln w="38100">
            <a:solidFill>
              <a:srgbClr val="0000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32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渗透特性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32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变形特性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32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强度特性</a:t>
            </a:r>
          </a:p>
        </p:txBody>
      </p:sp>
      <p:sp>
        <p:nvSpPr>
          <p:cNvPr id="1454086" name="AutoShape 6"/>
          <p:cNvSpPr>
            <a:spLocks/>
          </p:cNvSpPr>
          <p:nvPr/>
        </p:nvSpPr>
        <p:spPr bwMode="auto">
          <a:xfrm>
            <a:off x="2444750" y="1676400"/>
            <a:ext cx="288925" cy="2682875"/>
          </a:xfrm>
          <a:prstGeom prst="rightBrace">
            <a:avLst>
              <a:gd name="adj1" fmla="val 77381"/>
              <a:gd name="adj2" fmla="val 49468"/>
            </a:avLst>
          </a:prstGeom>
          <a:noFill/>
          <a:ln w="2857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087" name="AutoShape 7"/>
          <p:cNvSpPr>
            <a:spLocks/>
          </p:cNvSpPr>
          <p:nvPr/>
        </p:nvSpPr>
        <p:spPr bwMode="auto">
          <a:xfrm flipH="1">
            <a:off x="6472238" y="1930400"/>
            <a:ext cx="365125" cy="2165350"/>
          </a:xfrm>
          <a:prstGeom prst="rightBrace">
            <a:avLst>
              <a:gd name="adj1" fmla="val 49420"/>
              <a:gd name="adj2" fmla="val 48972"/>
            </a:avLst>
          </a:prstGeom>
          <a:noFill/>
          <a:ln w="2857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088" name="AutoShape 8"/>
          <p:cNvSpPr>
            <a:spLocks noChangeArrowheads="1"/>
          </p:cNvSpPr>
          <p:nvPr/>
        </p:nvSpPr>
        <p:spPr bwMode="auto">
          <a:xfrm>
            <a:off x="2874963" y="2773363"/>
            <a:ext cx="555625" cy="428625"/>
          </a:xfrm>
          <a:prstGeom prst="homePlate">
            <a:avLst>
              <a:gd name="adj" fmla="val 32407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089" name="AutoShape 9"/>
          <p:cNvSpPr>
            <a:spLocks noChangeArrowheads="1"/>
          </p:cNvSpPr>
          <p:nvPr/>
        </p:nvSpPr>
        <p:spPr bwMode="auto">
          <a:xfrm>
            <a:off x="5803900" y="2776538"/>
            <a:ext cx="555625" cy="428625"/>
          </a:xfrm>
          <a:prstGeom prst="homePlate">
            <a:avLst>
              <a:gd name="adj" fmla="val 32407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auto">
          <a:xfrm>
            <a:off x="3152775" y="5669148"/>
            <a:ext cx="3365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土的渗透特性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0" y="0"/>
            <a:ext cx="34943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及其工程问题</a:t>
            </a:r>
          </a:p>
        </p:txBody>
      </p:sp>
    </p:spTree>
    <p:extLst>
      <p:ext uri="{BB962C8B-B14F-4D97-AF65-F5344CB8AC3E}">
        <p14:creationId xmlns:p14="http://schemas.microsoft.com/office/powerpoint/2010/main" val="27707980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45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45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1454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1454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45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5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45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500"/>
                                        <p:tgtEl>
                                          <p:spTgt spid="14540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500"/>
                                        <p:tgtEl>
                                          <p:spTgt spid="14540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500"/>
                                        <p:tgtEl>
                                          <p:spTgt spid="14540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082" grpId="0" animBg="1"/>
      <p:bldP spid="1454083" grpId="0"/>
      <p:bldP spid="1454084" grpId="0"/>
      <p:bldP spid="1454085" grpId="0" animBg="1" autoUpdateAnimBg="0"/>
      <p:bldP spid="1454086" grpId="0" animBg="1"/>
      <p:bldP spid="1454087" grpId="0" animBg="1"/>
      <p:bldP spid="1454088" grpId="0" animBg="1"/>
      <p:bldP spid="145408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106" name="Text Box 2"/>
          <p:cNvSpPr txBox="1">
            <a:spLocks noChangeArrowheads="1"/>
          </p:cNvSpPr>
          <p:nvPr/>
        </p:nvSpPr>
        <p:spPr bwMode="auto">
          <a:xfrm>
            <a:off x="2078038" y="2411413"/>
            <a:ext cx="5738812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§2.1  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渗流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及其工程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 </a:t>
            </a: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kumimoji="1" lang="zh-CN" altLang="en-US" sz="3200" b="1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§2.2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土的渗透性与渗透规律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§2.3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平面渗流与流网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§2.4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渗透力与渗透变形</a:t>
            </a:r>
            <a:r>
              <a:rPr kumimoji="1" lang="zh-CN" altLang="en-US" sz="24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438275" y="1260475"/>
            <a:ext cx="6848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第二章：土的渗透性和渗流问题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5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5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5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5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55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55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5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55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134" name="Text Box 6"/>
          <p:cNvSpPr txBox="1">
            <a:spLocks noChangeArrowheads="1"/>
          </p:cNvSpPr>
          <p:nvPr/>
        </p:nvSpPr>
        <p:spPr bwMode="auto">
          <a:xfrm>
            <a:off x="2329461" y="1460455"/>
            <a:ext cx="4478745" cy="2913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600" b="1" dirty="0">
                <a:solidFill>
                  <a:srgbClr val="000066"/>
                </a:solidFill>
                <a:ea typeface="幼圆" pitchFamily="49" charset="-122"/>
              </a:rPr>
              <a:t>水头与</a:t>
            </a: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</a:rPr>
              <a:t>水力坡降</a:t>
            </a:r>
            <a:endParaRPr lang="en-US" altLang="zh-CN" sz="26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</a:rPr>
              <a:t>达西定律</a:t>
            </a:r>
            <a:endParaRPr lang="en-US" altLang="zh-CN" sz="26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</a:rPr>
              <a:t>渗透系数</a:t>
            </a:r>
            <a:r>
              <a:rPr lang="zh-CN" altLang="en-US" sz="2600" b="1" dirty="0">
                <a:solidFill>
                  <a:srgbClr val="000066"/>
                </a:solidFill>
                <a:ea typeface="幼圆" pitchFamily="49" charset="-122"/>
              </a:rPr>
              <a:t>的</a:t>
            </a: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</a:rPr>
              <a:t>测定方法</a:t>
            </a:r>
            <a:endParaRPr lang="en-US" altLang="zh-CN" sz="26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</a:rPr>
              <a:t>渗透系数的影响因素</a:t>
            </a:r>
            <a:endParaRPr lang="zh-CN" altLang="en-US" sz="26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600" b="1" dirty="0">
                <a:solidFill>
                  <a:srgbClr val="000066"/>
                </a:solidFill>
                <a:ea typeface="幼圆" pitchFamily="49" charset="-122"/>
              </a:rPr>
              <a:t>层状地基的等效渗透系数</a:t>
            </a: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2611438" y="5730875"/>
            <a:ext cx="5356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土的渗透性与渗透规律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0" y="0"/>
            <a:ext cx="427513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的渗流性与渗透规律</a:t>
            </a:r>
          </a:p>
        </p:txBody>
      </p:sp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74406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6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6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56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6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56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56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56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56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56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56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613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Rectangle 10"/>
          <p:cNvSpPr>
            <a:spLocks noChangeArrowheads="1"/>
          </p:cNvSpPr>
          <p:nvPr/>
        </p:nvSpPr>
        <p:spPr bwMode="auto">
          <a:xfrm>
            <a:off x="192088" y="1011238"/>
            <a:ext cx="3546475" cy="41973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" name="Text Box 11"/>
          <p:cNvSpPr txBox="1">
            <a:spLocks noChangeArrowheads="1"/>
          </p:cNvSpPr>
          <p:nvPr/>
        </p:nvSpPr>
        <p:spPr bwMode="auto">
          <a:xfrm>
            <a:off x="3660231" y="4311651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66"/>
                </a:solidFill>
                <a:latin typeface="Arial" charset="0"/>
              </a:rPr>
              <a:t>0</a:t>
            </a:r>
          </a:p>
        </p:txBody>
      </p:sp>
      <p:sp>
        <p:nvSpPr>
          <p:cNvPr id="2070" name="Text Box 12"/>
          <p:cNvSpPr txBox="1">
            <a:spLocks noChangeArrowheads="1"/>
          </p:cNvSpPr>
          <p:nvPr/>
        </p:nvSpPr>
        <p:spPr bwMode="auto">
          <a:xfrm>
            <a:off x="575719" y="4302126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66"/>
                </a:solidFill>
                <a:latin typeface="Arial" charset="0"/>
              </a:rPr>
              <a:t>0</a:t>
            </a:r>
          </a:p>
        </p:txBody>
      </p:sp>
      <p:sp>
        <p:nvSpPr>
          <p:cNvPr id="2071" name="Line 13"/>
          <p:cNvSpPr>
            <a:spLocks noChangeShapeType="1"/>
          </p:cNvSpPr>
          <p:nvPr/>
        </p:nvSpPr>
        <p:spPr bwMode="auto">
          <a:xfrm>
            <a:off x="856706" y="4433888"/>
            <a:ext cx="2735263" cy="0"/>
          </a:xfrm>
          <a:prstGeom prst="line">
            <a:avLst/>
          </a:prstGeom>
          <a:noFill/>
          <a:ln w="28575">
            <a:solidFill>
              <a:srgbClr val="000066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072" name="Text Box 14"/>
          <p:cNvSpPr txBox="1">
            <a:spLocks noChangeArrowheads="1"/>
          </p:cNvSpPr>
          <p:nvPr/>
        </p:nvSpPr>
        <p:spPr bwMode="auto">
          <a:xfrm>
            <a:off x="1432969" y="4527551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基准面</a:t>
            </a:r>
          </a:p>
        </p:txBody>
      </p:sp>
      <p:sp>
        <p:nvSpPr>
          <p:cNvPr id="2073" name="Freeform 15"/>
          <p:cNvSpPr>
            <a:spLocks/>
          </p:cNvSpPr>
          <p:nvPr/>
        </p:nvSpPr>
        <p:spPr bwMode="auto">
          <a:xfrm flipH="1">
            <a:off x="1151981" y="2090738"/>
            <a:ext cx="1738313" cy="1622425"/>
          </a:xfrm>
          <a:custGeom>
            <a:avLst/>
            <a:gdLst>
              <a:gd name="T0" fmla="*/ 24 w 1095"/>
              <a:gd name="T1" fmla="*/ 703 h 1022"/>
              <a:gd name="T2" fmla="*/ 0 w 1095"/>
              <a:gd name="T3" fmla="*/ 748 h 1022"/>
              <a:gd name="T4" fmla="*/ 7 w 1095"/>
              <a:gd name="T5" fmla="*/ 818 h 1022"/>
              <a:gd name="T6" fmla="*/ 51 w 1095"/>
              <a:gd name="T7" fmla="*/ 890 h 1022"/>
              <a:gd name="T8" fmla="*/ 139 w 1095"/>
              <a:gd name="T9" fmla="*/ 960 h 1022"/>
              <a:gd name="T10" fmla="*/ 238 w 1095"/>
              <a:gd name="T11" fmla="*/ 998 h 1022"/>
              <a:gd name="T12" fmla="*/ 351 w 1095"/>
              <a:gd name="T13" fmla="*/ 1022 h 1022"/>
              <a:gd name="T14" fmla="*/ 456 w 1095"/>
              <a:gd name="T15" fmla="*/ 1022 h 1022"/>
              <a:gd name="T16" fmla="*/ 552 w 1095"/>
              <a:gd name="T17" fmla="*/ 996 h 1022"/>
              <a:gd name="T18" fmla="*/ 607 w 1095"/>
              <a:gd name="T19" fmla="*/ 928 h 1022"/>
              <a:gd name="T20" fmla="*/ 696 w 1095"/>
              <a:gd name="T21" fmla="*/ 746 h 1022"/>
              <a:gd name="T22" fmla="*/ 792 w 1095"/>
              <a:gd name="T23" fmla="*/ 578 h 1022"/>
              <a:gd name="T24" fmla="*/ 907 w 1095"/>
              <a:gd name="T25" fmla="*/ 403 h 1022"/>
              <a:gd name="T26" fmla="*/ 1023 w 1095"/>
              <a:gd name="T27" fmla="*/ 264 h 1022"/>
              <a:gd name="T28" fmla="*/ 1090 w 1095"/>
              <a:gd name="T29" fmla="*/ 180 h 1022"/>
              <a:gd name="T30" fmla="*/ 1095 w 1095"/>
              <a:gd name="T31" fmla="*/ 120 h 1022"/>
              <a:gd name="T32" fmla="*/ 1063 w 1095"/>
              <a:gd name="T33" fmla="*/ 55 h 1022"/>
              <a:gd name="T34" fmla="*/ 1008 w 1095"/>
              <a:gd name="T35" fmla="*/ 19 h 1022"/>
              <a:gd name="T36" fmla="*/ 919 w 1095"/>
              <a:gd name="T37" fmla="*/ 0 h 1022"/>
              <a:gd name="T38" fmla="*/ 833 w 1095"/>
              <a:gd name="T39" fmla="*/ 19 h 1022"/>
              <a:gd name="T40" fmla="*/ 780 w 1095"/>
              <a:gd name="T41" fmla="*/ 55 h 1022"/>
              <a:gd name="T42" fmla="*/ 605 w 1095"/>
              <a:gd name="T43" fmla="*/ 163 h 1022"/>
              <a:gd name="T44" fmla="*/ 468 w 1095"/>
              <a:gd name="T45" fmla="*/ 264 h 1022"/>
              <a:gd name="T46" fmla="*/ 334 w 1095"/>
              <a:gd name="T47" fmla="*/ 376 h 1022"/>
              <a:gd name="T48" fmla="*/ 159 w 1095"/>
              <a:gd name="T49" fmla="*/ 554 h 1022"/>
              <a:gd name="T50" fmla="*/ 24 w 1095"/>
              <a:gd name="T51" fmla="*/ 703 h 102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095"/>
              <a:gd name="T79" fmla="*/ 0 h 1022"/>
              <a:gd name="T80" fmla="*/ 1095 w 1095"/>
              <a:gd name="T81" fmla="*/ 1022 h 1022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095" h="1022">
                <a:moveTo>
                  <a:pt x="24" y="703"/>
                </a:moveTo>
                <a:lnTo>
                  <a:pt x="0" y="748"/>
                </a:lnTo>
                <a:lnTo>
                  <a:pt x="7" y="818"/>
                </a:lnTo>
                <a:lnTo>
                  <a:pt x="51" y="890"/>
                </a:lnTo>
                <a:lnTo>
                  <a:pt x="139" y="960"/>
                </a:lnTo>
                <a:lnTo>
                  <a:pt x="238" y="998"/>
                </a:lnTo>
                <a:lnTo>
                  <a:pt x="351" y="1022"/>
                </a:lnTo>
                <a:lnTo>
                  <a:pt x="456" y="1022"/>
                </a:lnTo>
                <a:lnTo>
                  <a:pt x="552" y="996"/>
                </a:lnTo>
                <a:lnTo>
                  <a:pt x="607" y="928"/>
                </a:lnTo>
                <a:lnTo>
                  <a:pt x="696" y="746"/>
                </a:lnTo>
                <a:lnTo>
                  <a:pt x="792" y="578"/>
                </a:lnTo>
                <a:lnTo>
                  <a:pt x="907" y="403"/>
                </a:lnTo>
                <a:lnTo>
                  <a:pt x="1023" y="264"/>
                </a:lnTo>
                <a:lnTo>
                  <a:pt x="1090" y="180"/>
                </a:lnTo>
                <a:lnTo>
                  <a:pt x="1095" y="120"/>
                </a:lnTo>
                <a:lnTo>
                  <a:pt x="1063" y="55"/>
                </a:lnTo>
                <a:lnTo>
                  <a:pt x="1008" y="19"/>
                </a:lnTo>
                <a:lnTo>
                  <a:pt x="919" y="0"/>
                </a:lnTo>
                <a:lnTo>
                  <a:pt x="833" y="19"/>
                </a:lnTo>
                <a:lnTo>
                  <a:pt x="780" y="55"/>
                </a:lnTo>
                <a:lnTo>
                  <a:pt x="605" y="163"/>
                </a:lnTo>
                <a:lnTo>
                  <a:pt x="468" y="264"/>
                </a:lnTo>
                <a:lnTo>
                  <a:pt x="334" y="376"/>
                </a:lnTo>
                <a:lnTo>
                  <a:pt x="159" y="554"/>
                </a:lnTo>
                <a:lnTo>
                  <a:pt x="24" y="703"/>
                </a:lnTo>
                <a:close/>
              </a:path>
            </a:pathLst>
          </a:custGeom>
          <a:solidFill>
            <a:srgbClr val="33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4" name="Oval 16"/>
          <p:cNvSpPr>
            <a:spLocks noChangeArrowheads="1"/>
          </p:cNvSpPr>
          <p:nvPr/>
        </p:nvSpPr>
        <p:spPr bwMode="auto">
          <a:xfrm rot="20919355" flipH="1">
            <a:off x="1145631" y="2097088"/>
            <a:ext cx="519113" cy="3952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5" name="Freeform 17"/>
          <p:cNvSpPr>
            <a:spLocks/>
          </p:cNvSpPr>
          <p:nvPr/>
        </p:nvSpPr>
        <p:spPr bwMode="auto">
          <a:xfrm flipH="1">
            <a:off x="1593306" y="2139951"/>
            <a:ext cx="1265238" cy="1076325"/>
          </a:xfrm>
          <a:custGeom>
            <a:avLst/>
            <a:gdLst>
              <a:gd name="T0" fmla="*/ 0 w 797"/>
              <a:gd name="T1" fmla="*/ 678 h 678"/>
              <a:gd name="T2" fmla="*/ 192 w 797"/>
              <a:gd name="T3" fmla="*/ 467 h 678"/>
              <a:gd name="T4" fmla="*/ 493 w 797"/>
              <a:gd name="T5" fmla="*/ 195 h 678"/>
              <a:gd name="T6" fmla="*/ 797 w 797"/>
              <a:gd name="T7" fmla="*/ 0 h 678"/>
              <a:gd name="T8" fmla="*/ 0 60000 65536"/>
              <a:gd name="T9" fmla="*/ 0 60000 65536"/>
              <a:gd name="T10" fmla="*/ 0 60000 65536"/>
              <a:gd name="T11" fmla="*/ 0 60000 65536"/>
              <a:gd name="T12" fmla="*/ 0 w 797"/>
              <a:gd name="T13" fmla="*/ 0 h 678"/>
              <a:gd name="T14" fmla="*/ 797 w 797"/>
              <a:gd name="T15" fmla="*/ 678 h 6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7" h="678">
                <a:moveTo>
                  <a:pt x="0" y="678"/>
                </a:moveTo>
                <a:cubicBezTo>
                  <a:pt x="32" y="643"/>
                  <a:pt x="110" y="547"/>
                  <a:pt x="192" y="467"/>
                </a:cubicBezTo>
                <a:cubicBezTo>
                  <a:pt x="274" y="387"/>
                  <a:pt x="392" y="273"/>
                  <a:pt x="493" y="195"/>
                </a:cubicBezTo>
                <a:cubicBezTo>
                  <a:pt x="594" y="117"/>
                  <a:pt x="734" y="41"/>
                  <a:pt x="79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6" name="Freeform 18"/>
          <p:cNvSpPr>
            <a:spLocks/>
          </p:cNvSpPr>
          <p:nvPr/>
        </p:nvSpPr>
        <p:spPr bwMode="auto">
          <a:xfrm flipH="1">
            <a:off x="1182144" y="2414588"/>
            <a:ext cx="762000" cy="1182688"/>
          </a:xfrm>
          <a:custGeom>
            <a:avLst/>
            <a:gdLst>
              <a:gd name="T0" fmla="*/ 0 w 480"/>
              <a:gd name="T1" fmla="*/ 745 h 745"/>
              <a:gd name="T2" fmla="*/ 106 w 480"/>
              <a:gd name="T3" fmla="*/ 534 h 745"/>
              <a:gd name="T4" fmla="*/ 282 w 480"/>
              <a:gd name="T5" fmla="*/ 240 h 745"/>
              <a:gd name="T6" fmla="*/ 480 w 480"/>
              <a:gd name="T7" fmla="*/ 0 h 745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45"/>
              <a:gd name="T14" fmla="*/ 480 w 480"/>
              <a:gd name="T15" fmla="*/ 745 h 74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45">
                <a:moveTo>
                  <a:pt x="0" y="745"/>
                </a:moveTo>
                <a:cubicBezTo>
                  <a:pt x="18" y="709"/>
                  <a:pt x="59" y="618"/>
                  <a:pt x="106" y="534"/>
                </a:cubicBezTo>
                <a:cubicBezTo>
                  <a:pt x="153" y="450"/>
                  <a:pt x="220" y="329"/>
                  <a:pt x="282" y="240"/>
                </a:cubicBezTo>
                <a:cubicBezTo>
                  <a:pt x="344" y="151"/>
                  <a:pt x="439" y="50"/>
                  <a:pt x="4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7" name="Freeform 19"/>
          <p:cNvSpPr>
            <a:spLocks/>
          </p:cNvSpPr>
          <p:nvPr/>
        </p:nvSpPr>
        <p:spPr bwMode="auto">
          <a:xfrm flipH="1">
            <a:off x="1659981" y="2317751"/>
            <a:ext cx="1173163" cy="1147763"/>
          </a:xfrm>
          <a:custGeom>
            <a:avLst/>
            <a:gdLst>
              <a:gd name="T0" fmla="*/ 0 w 739"/>
              <a:gd name="T1" fmla="*/ 723 h 723"/>
              <a:gd name="T2" fmla="*/ 224 w 739"/>
              <a:gd name="T3" fmla="*/ 467 h 723"/>
              <a:gd name="T4" fmla="*/ 547 w 739"/>
              <a:gd name="T5" fmla="*/ 150 h 723"/>
              <a:gd name="T6" fmla="*/ 739 w 739"/>
              <a:gd name="T7" fmla="*/ 0 h 723"/>
              <a:gd name="T8" fmla="*/ 0 60000 65536"/>
              <a:gd name="T9" fmla="*/ 0 60000 65536"/>
              <a:gd name="T10" fmla="*/ 0 60000 65536"/>
              <a:gd name="T11" fmla="*/ 0 60000 65536"/>
              <a:gd name="T12" fmla="*/ 0 w 739"/>
              <a:gd name="T13" fmla="*/ 0 h 723"/>
              <a:gd name="T14" fmla="*/ 739 w 739"/>
              <a:gd name="T15" fmla="*/ 723 h 7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39" h="723">
                <a:moveTo>
                  <a:pt x="0" y="723"/>
                </a:moveTo>
                <a:cubicBezTo>
                  <a:pt x="66" y="642"/>
                  <a:pt x="133" y="562"/>
                  <a:pt x="224" y="467"/>
                </a:cubicBezTo>
                <a:cubicBezTo>
                  <a:pt x="315" y="372"/>
                  <a:pt x="461" y="228"/>
                  <a:pt x="547" y="150"/>
                </a:cubicBezTo>
                <a:cubicBezTo>
                  <a:pt x="633" y="72"/>
                  <a:pt x="686" y="36"/>
                  <a:pt x="739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8" name="Freeform 20"/>
          <p:cNvSpPr>
            <a:spLocks/>
          </p:cNvSpPr>
          <p:nvPr/>
        </p:nvSpPr>
        <p:spPr bwMode="auto">
          <a:xfrm flipH="1">
            <a:off x="1598069" y="2419351"/>
            <a:ext cx="925513" cy="1249363"/>
          </a:xfrm>
          <a:custGeom>
            <a:avLst/>
            <a:gdLst>
              <a:gd name="T0" fmla="*/ 0 w 583"/>
              <a:gd name="T1" fmla="*/ 787 h 787"/>
              <a:gd name="T2" fmla="*/ 160 w 583"/>
              <a:gd name="T3" fmla="*/ 557 h 787"/>
              <a:gd name="T4" fmla="*/ 426 w 583"/>
              <a:gd name="T5" fmla="*/ 179 h 787"/>
              <a:gd name="T6" fmla="*/ 583 w 583"/>
              <a:gd name="T7" fmla="*/ 0 h 787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787"/>
              <a:gd name="T14" fmla="*/ 583 w 583"/>
              <a:gd name="T15" fmla="*/ 787 h 78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787">
                <a:moveTo>
                  <a:pt x="0" y="787"/>
                </a:moveTo>
                <a:cubicBezTo>
                  <a:pt x="44" y="722"/>
                  <a:pt x="89" y="658"/>
                  <a:pt x="160" y="557"/>
                </a:cubicBezTo>
                <a:cubicBezTo>
                  <a:pt x="231" y="456"/>
                  <a:pt x="356" y="272"/>
                  <a:pt x="426" y="179"/>
                </a:cubicBezTo>
                <a:cubicBezTo>
                  <a:pt x="496" y="86"/>
                  <a:pt x="539" y="43"/>
                  <a:pt x="583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9" name="Freeform 21"/>
          <p:cNvSpPr>
            <a:spLocks/>
          </p:cNvSpPr>
          <p:nvPr/>
        </p:nvSpPr>
        <p:spPr bwMode="auto">
          <a:xfrm flipH="1">
            <a:off x="1436144" y="2490788"/>
            <a:ext cx="757238" cy="1212850"/>
          </a:xfrm>
          <a:custGeom>
            <a:avLst/>
            <a:gdLst>
              <a:gd name="T0" fmla="*/ 0 w 477"/>
              <a:gd name="T1" fmla="*/ 764 h 764"/>
              <a:gd name="T2" fmla="*/ 183 w 477"/>
              <a:gd name="T3" fmla="*/ 390 h 764"/>
              <a:gd name="T4" fmla="*/ 477 w 477"/>
              <a:gd name="T5" fmla="*/ 0 h 764"/>
              <a:gd name="T6" fmla="*/ 0 60000 65536"/>
              <a:gd name="T7" fmla="*/ 0 60000 65536"/>
              <a:gd name="T8" fmla="*/ 0 60000 65536"/>
              <a:gd name="T9" fmla="*/ 0 w 477"/>
              <a:gd name="T10" fmla="*/ 0 h 764"/>
              <a:gd name="T11" fmla="*/ 477 w 477"/>
              <a:gd name="T12" fmla="*/ 764 h 7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7" h="764">
                <a:moveTo>
                  <a:pt x="0" y="764"/>
                </a:moveTo>
                <a:cubicBezTo>
                  <a:pt x="52" y="640"/>
                  <a:pt x="104" y="517"/>
                  <a:pt x="183" y="390"/>
                </a:cubicBezTo>
                <a:cubicBezTo>
                  <a:pt x="262" y="263"/>
                  <a:pt x="428" y="65"/>
                  <a:pt x="47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0" name="Freeform 22"/>
          <p:cNvSpPr>
            <a:spLocks/>
          </p:cNvSpPr>
          <p:nvPr/>
        </p:nvSpPr>
        <p:spPr bwMode="auto">
          <a:xfrm flipH="1">
            <a:off x="1933031" y="3211513"/>
            <a:ext cx="965200" cy="508000"/>
          </a:xfrm>
          <a:custGeom>
            <a:avLst/>
            <a:gdLst>
              <a:gd name="T0" fmla="*/ 28 w 608"/>
              <a:gd name="T1" fmla="*/ 0 h 320"/>
              <a:gd name="T2" fmla="*/ 11 w 608"/>
              <a:gd name="T3" fmla="*/ 29 h 320"/>
              <a:gd name="T4" fmla="*/ 6 w 608"/>
              <a:gd name="T5" fmla="*/ 91 h 320"/>
              <a:gd name="T6" fmla="*/ 48 w 608"/>
              <a:gd name="T7" fmla="*/ 171 h 320"/>
              <a:gd name="T8" fmla="*/ 148 w 608"/>
              <a:gd name="T9" fmla="*/ 251 h 320"/>
              <a:gd name="T10" fmla="*/ 280 w 608"/>
              <a:gd name="T11" fmla="*/ 302 h 320"/>
              <a:gd name="T12" fmla="*/ 438 w 608"/>
              <a:gd name="T13" fmla="*/ 318 h 320"/>
              <a:gd name="T14" fmla="*/ 552 w 608"/>
              <a:gd name="T15" fmla="*/ 288 h 320"/>
              <a:gd name="T16" fmla="*/ 608 w 608"/>
              <a:gd name="T17" fmla="*/ 232 h 32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08"/>
              <a:gd name="T28" fmla="*/ 0 h 320"/>
              <a:gd name="T29" fmla="*/ 608 w 608"/>
              <a:gd name="T30" fmla="*/ 320 h 32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08" h="320">
                <a:moveTo>
                  <a:pt x="28" y="0"/>
                </a:moveTo>
                <a:cubicBezTo>
                  <a:pt x="25" y="5"/>
                  <a:pt x="15" y="14"/>
                  <a:pt x="11" y="29"/>
                </a:cubicBezTo>
                <a:cubicBezTo>
                  <a:pt x="7" y="44"/>
                  <a:pt x="0" y="67"/>
                  <a:pt x="6" y="91"/>
                </a:cubicBezTo>
                <a:cubicBezTo>
                  <a:pt x="12" y="115"/>
                  <a:pt x="24" y="144"/>
                  <a:pt x="48" y="171"/>
                </a:cubicBezTo>
                <a:cubicBezTo>
                  <a:pt x="72" y="198"/>
                  <a:pt x="109" y="229"/>
                  <a:pt x="148" y="251"/>
                </a:cubicBezTo>
                <a:cubicBezTo>
                  <a:pt x="187" y="273"/>
                  <a:pt x="232" y="291"/>
                  <a:pt x="280" y="302"/>
                </a:cubicBezTo>
                <a:cubicBezTo>
                  <a:pt x="328" y="313"/>
                  <a:pt x="393" y="320"/>
                  <a:pt x="438" y="318"/>
                </a:cubicBezTo>
                <a:cubicBezTo>
                  <a:pt x="483" y="316"/>
                  <a:pt x="524" y="302"/>
                  <a:pt x="552" y="288"/>
                </a:cubicBezTo>
                <a:cubicBezTo>
                  <a:pt x="580" y="274"/>
                  <a:pt x="596" y="244"/>
                  <a:pt x="608" y="2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1" name="Freeform 23"/>
          <p:cNvSpPr>
            <a:spLocks/>
          </p:cNvSpPr>
          <p:nvPr/>
        </p:nvSpPr>
        <p:spPr bwMode="auto">
          <a:xfrm flipH="1">
            <a:off x="1915569" y="3114676"/>
            <a:ext cx="922338" cy="457200"/>
          </a:xfrm>
          <a:custGeom>
            <a:avLst/>
            <a:gdLst>
              <a:gd name="T0" fmla="*/ 574 w 581"/>
              <a:gd name="T1" fmla="*/ 288 h 288"/>
              <a:gd name="T2" fmla="*/ 574 w 581"/>
              <a:gd name="T3" fmla="*/ 219 h 288"/>
              <a:gd name="T4" fmla="*/ 533 w 581"/>
              <a:gd name="T5" fmla="*/ 146 h 288"/>
              <a:gd name="T6" fmla="*/ 430 w 581"/>
              <a:gd name="T7" fmla="*/ 66 h 288"/>
              <a:gd name="T8" fmla="*/ 299 w 581"/>
              <a:gd name="T9" fmla="*/ 16 h 288"/>
              <a:gd name="T10" fmla="*/ 170 w 581"/>
              <a:gd name="T11" fmla="*/ 0 h 288"/>
              <a:gd name="T12" fmla="*/ 59 w 581"/>
              <a:gd name="T13" fmla="*/ 18 h 288"/>
              <a:gd name="T14" fmla="*/ 0 w 581"/>
              <a:gd name="T15" fmla="*/ 51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81"/>
              <a:gd name="T25" fmla="*/ 0 h 288"/>
              <a:gd name="T26" fmla="*/ 581 w 581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81" h="288">
                <a:moveTo>
                  <a:pt x="574" y="288"/>
                </a:moveTo>
                <a:cubicBezTo>
                  <a:pt x="574" y="277"/>
                  <a:pt x="581" y="243"/>
                  <a:pt x="574" y="219"/>
                </a:cubicBezTo>
                <a:cubicBezTo>
                  <a:pt x="567" y="195"/>
                  <a:pt x="557" y="171"/>
                  <a:pt x="533" y="146"/>
                </a:cubicBezTo>
                <a:cubicBezTo>
                  <a:pt x="509" y="121"/>
                  <a:pt x="469" y="88"/>
                  <a:pt x="430" y="66"/>
                </a:cubicBezTo>
                <a:cubicBezTo>
                  <a:pt x="391" y="44"/>
                  <a:pt x="342" y="27"/>
                  <a:pt x="299" y="16"/>
                </a:cubicBezTo>
                <a:cubicBezTo>
                  <a:pt x="256" y="5"/>
                  <a:pt x="210" y="0"/>
                  <a:pt x="170" y="0"/>
                </a:cubicBezTo>
                <a:cubicBezTo>
                  <a:pt x="130" y="0"/>
                  <a:pt x="87" y="10"/>
                  <a:pt x="59" y="18"/>
                </a:cubicBezTo>
                <a:cubicBezTo>
                  <a:pt x="31" y="26"/>
                  <a:pt x="12" y="44"/>
                  <a:pt x="0" y="51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2" name="Rectangle 24"/>
          <p:cNvSpPr>
            <a:spLocks noChangeArrowheads="1"/>
          </p:cNvSpPr>
          <p:nvPr/>
        </p:nvSpPr>
        <p:spPr bwMode="auto">
          <a:xfrm>
            <a:off x="1863181" y="2886076"/>
            <a:ext cx="88900" cy="88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3" name="Text Box 25"/>
          <p:cNvSpPr txBox="1">
            <a:spLocks noChangeArrowheads="1"/>
          </p:cNvSpPr>
          <p:nvPr/>
        </p:nvSpPr>
        <p:spPr bwMode="auto">
          <a:xfrm>
            <a:off x="284163" y="3229721"/>
            <a:ext cx="136608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 smtClean="0">
                <a:solidFill>
                  <a:srgbClr val="C00000"/>
                </a:solidFill>
                <a:ea typeface="幼圆" pitchFamily="49" charset="-122"/>
              </a:rPr>
              <a:t>重量 </a:t>
            </a:r>
            <a:r>
              <a:rPr lang="en-US" altLang="zh-CN" sz="2000" b="1" i="1" dirty="0" smtClean="0">
                <a:solidFill>
                  <a:srgbClr val="C00000"/>
                </a:solidFill>
                <a:ea typeface="幼圆" pitchFamily="49" charset="-122"/>
              </a:rPr>
              <a:t>m</a:t>
            </a:r>
            <a:r>
              <a:rPr lang="en-US" altLang="zh-CN" sz="2000" b="1" dirty="0" smtClean="0">
                <a:solidFill>
                  <a:srgbClr val="C00000"/>
                </a:solidFill>
                <a:ea typeface="幼圆" pitchFamily="49" charset="-122"/>
              </a:rPr>
              <a:t>g=1</a:t>
            </a:r>
            <a:endParaRPr lang="en-US" altLang="zh-CN" sz="2000" b="1" dirty="0">
              <a:solidFill>
                <a:srgbClr val="C00000"/>
              </a:solidFill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ea typeface="幼圆" pitchFamily="49" charset="-122"/>
              </a:rPr>
              <a:t>压力 </a:t>
            </a:r>
            <a:r>
              <a:rPr lang="en-US" altLang="zh-CN" sz="2000" b="1" i="1" dirty="0">
                <a:solidFill>
                  <a:srgbClr val="C00000"/>
                </a:solidFill>
                <a:ea typeface="幼圆" pitchFamily="49" charset="-122"/>
              </a:rPr>
              <a:t>u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ea typeface="幼圆" pitchFamily="49" charset="-122"/>
              </a:rPr>
              <a:t>流速 </a:t>
            </a:r>
            <a:r>
              <a:rPr lang="en-US" altLang="zh-CN" sz="2000" b="1" i="1" dirty="0">
                <a:solidFill>
                  <a:srgbClr val="C00000"/>
                </a:solidFill>
                <a:ea typeface="幼圆" pitchFamily="49" charset="-122"/>
              </a:rPr>
              <a:t>v</a:t>
            </a:r>
          </a:p>
        </p:txBody>
      </p:sp>
      <p:sp>
        <p:nvSpPr>
          <p:cNvPr id="2084" name="Line 26"/>
          <p:cNvSpPr>
            <a:spLocks noChangeShapeType="1"/>
          </p:cNvSpPr>
          <p:nvPr/>
        </p:nvSpPr>
        <p:spPr bwMode="auto">
          <a:xfrm flipH="1">
            <a:off x="1472656" y="2944813"/>
            <a:ext cx="382588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5" name="Line 27"/>
          <p:cNvSpPr>
            <a:spLocks noChangeShapeType="1"/>
          </p:cNvSpPr>
          <p:nvPr/>
        </p:nvSpPr>
        <p:spPr bwMode="auto">
          <a:xfrm>
            <a:off x="2880769" y="2930526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6" name="Line 28"/>
          <p:cNvSpPr>
            <a:spLocks noChangeShapeType="1"/>
          </p:cNvSpPr>
          <p:nvPr/>
        </p:nvSpPr>
        <p:spPr bwMode="auto">
          <a:xfrm>
            <a:off x="3041106" y="2944813"/>
            <a:ext cx="0" cy="148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7" name="Text Box 29"/>
          <p:cNvSpPr txBox="1">
            <a:spLocks noChangeArrowheads="1"/>
          </p:cNvSpPr>
          <p:nvPr/>
        </p:nvSpPr>
        <p:spPr bwMode="auto">
          <a:xfrm>
            <a:off x="3085556" y="3317876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ea typeface="幼圆" pitchFamily="49" charset="-122"/>
              </a:rPr>
              <a:t>z</a:t>
            </a:r>
          </a:p>
        </p:txBody>
      </p:sp>
      <p:grpSp>
        <p:nvGrpSpPr>
          <p:cNvPr id="2088" name="Group 30"/>
          <p:cNvGrpSpPr>
            <a:grpSpLocks/>
          </p:cNvGrpSpPr>
          <p:nvPr/>
        </p:nvGrpSpPr>
        <p:grpSpPr bwMode="auto">
          <a:xfrm flipH="1">
            <a:off x="1960019" y="1731963"/>
            <a:ext cx="203200" cy="1239838"/>
            <a:chOff x="1915" y="712"/>
            <a:chExt cx="128" cy="781"/>
          </a:xfrm>
        </p:grpSpPr>
        <p:sp>
          <p:nvSpPr>
            <p:cNvPr id="2091" name="Freeform 31"/>
            <p:cNvSpPr>
              <a:spLocks/>
            </p:cNvSpPr>
            <p:nvPr/>
          </p:nvSpPr>
          <p:spPr bwMode="auto">
            <a:xfrm>
              <a:off x="1934" y="792"/>
              <a:ext cx="109" cy="682"/>
            </a:xfrm>
            <a:custGeom>
              <a:avLst/>
              <a:gdLst>
                <a:gd name="T0" fmla="*/ 109 w 109"/>
                <a:gd name="T1" fmla="*/ 682 h 682"/>
                <a:gd name="T2" fmla="*/ 0 w 109"/>
                <a:gd name="T3" fmla="*/ 682 h 682"/>
                <a:gd name="T4" fmla="*/ 0 w 109"/>
                <a:gd name="T5" fmla="*/ 0 h 682"/>
                <a:gd name="T6" fmla="*/ 0 60000 65536"/>
                <a:gd name="T7" fmla="*/ 0 60000 65536"/>
                <a:gd name="T8" fmla="*/ 0 60000 65536"/>
                <a:gd name="T9" fmla="*/ 0 w 109"/>
                <a:gd name="T10" fmla="*/ 0 h 682"/>
                <a:gd name="T11" fmla="*/ 109 w 109"/>
                <a:gd name="T12" fmla="*/ 682 h 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682">
                  <a:moveTo>
                    <a:pt x="109" y="682"/>
                  </a:moveTo>
                  <a:lnTo>
                    <a:pt x="0" y="682"/>
                  </a:lnTo>
                  <a:lnTo>
                    <a:pt x="0" y="0"/>
                  </a:lnTo>
                </a:path>
              </a:pathLst>
            </a:custGeom>
            <a:noFill/>
            <a:ln w="6985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092" name="Freeform 32"/>
            <p:cNvSpPr>
              <a:spLocks/>
            </p:cNvSpPr>
            <p:nvPr/>
          </p:nvSpPr>
          <p:spPr bwMode="auto">
            <a:xfrm>
              <a:off x="1915" y="712"/>
              <a:ext cx="115" cy="781"/>
            </a:xfrm>
            <a:custGeom>
              <a:avLst/>
              <a:gdLst>
                <a:gd name="T0" fmla="*/ 115 w 115"/>
                <a:gd name="T1" fmla="*/ 781 h 781"/>
                <a:gd name="T2" fmla="*/ 0 w 115"/>
                <a:gd name="T3" fmla="*/ 781 h 781"/>
                <a:gd name="T4" fmla="*/ 0 w 115"/>
                <a:gd name="T5" fmla="*/ 0 h 781"/>
                <a:gd name="T6" fmla="*/ 0 60000 65536"/>
                <a:gd name="T7" fmla="*/ 0 60000 65536"/>
                <a:gd name="T8" fmla="*/ 0 60000 65536"/>
                <a:gd name="T9" fmla="*/ 0 w 115"/>
                <a:gd name="T10" fmla="*/ 0 h 781"/>
                <a:gd name="T11" fmla="*/ 115 w 115"/>
                <a:gd name="T12" fmla="*/ 781 h 7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" h="781">
                  <a:moveTo>
                    <a:pt x="115" y="781"/>
                  </a:moveTo>
                  <a:lnTo>
                    <a:pt x="0" y="78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3" name="Freeform 33"/>
            <p:cNvSpPr>
              <a:spLocks/>
            </p:cNvSpPr>
            <p:nvPr/>
          </p:nvSpPr>
          <p:spPr bwMode="auto">
            <a:xfrm>
              <a:off x="1954" y="712"/>
              <a:ext cx="83" cy="744"/>
            </a:xfrm>
            <a:custGeom>
              <a:avLst/>
              <a:gdLst>
                <a:gd name="T0" fmla="*/ 83 w 83"/>
                <a:gd name="T1" fmla="*/ 744 h 744"/>
                <a:gd name="T2" fmla="*/ 0 w 83"/>
                <a:gd name="T3" fmla="*/ 744 h 744"/>
                <a:gd name="T4" fmla="*/ 0 w 83"/>
                <a:gd name="T5" fmla="*/ 0 h 744"/>
                <a:gd name="T6" fmla="*/ 0 60000 65536"/>
                <a:gd name="T7" fmla="*/ 0 60000 65536"/>
                <a:gd name="T8" fmla="*/ 0 60000 65536"/>
                <a:gd name="T9" fmla="*/ 0 w 83"/>
                <a:gd name="T10" fmla="*/ 0 h 744"/>
                <a:gd name="T11" fmla="*/ 83 w 83"/>
                <a:gd name="T12" fmla="*/ 744 h 7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744">
                  <a:moveTo>
                    <a:pt x="83" y="744"/>
                  </a:moveTo>
                  <a:lnTo>
                    <a:pt x="0" y="74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89" name="Line 34"/>
          <p:cNvSpPr>
            <a:spLocks noChangeShapeType="1"/>
          </p:cNvSpPr>
          <p:nvPr/>
        </p:nvSpPr>
        <p:spPr bwMode="auto">
          <a:xfrm>
            <a:off x="2876006" y="1876426"/>
            <a:ext cx="360363" cy="0"/>
          </a:xfrm>
          <a:prstGeom prst="line">
            <a:avLst/>
          </a:prstGeom>
          <a:noFill/>
          <a:ln w="127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2090" name="Line 35"/>
          <p:cNvSpPr>
            <a:spLocks noChangeShapeType="1"/>
          </p:cNvSpPr>
          <p:nvPr/>
        </p:nvSpPr>
        <p:spPr bwMode="auto">
          <a:xfrm>
            <a:off x="3042694" y="1892301"/>
            <a:ext cx="0" cy="1025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53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923926"/>
              </p:ext>
            </p:extLst>
          </p:nvPr>
        </p:nvGraphicFramePr>
        <p:xfrm>
          <a:off x="3142706" y="1989138"/>
          <a:ext cx="414338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0" name="公式" r:id="rId4" imgW="228600" imgH="419040" progId="Equation.3">
                  <p:embed/>
                </p:oleObj>
              </mc:Choice>
              <mc:Fallback>
                <p:oleObj name="公式" r:id="rId4" imgW="228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2706" y="1989138"/>
                        <a:ext cx="414338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5" name="Text Box 48"/>
          <p:cNvSpPr txBox="1">
            <a:spLocks noChangeArrowheads="1"/>
          </p:cNvSpPr>
          <p:nvPr/>
        </p:nvSpPr>
        <p:spPr bwMode="auto">
          <a:xfrm>
            <a:off x="2574925" y="5781675"/>
            <a:ext cx="53324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水流动的驱动力 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- 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水头</a:t>
            </a: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-1" y="0"/>
            <a:ext cx="51444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水头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1" name="Text Box 2"/>
          <p:cNvSpPr txBox="1">
            <a:spLocks noChangeArrowheads="1"/>
          </p:cNvSpPr>
          <p:nvPr/>
        </p:nvSpPr>
        <p:spPr bwMode="auto">
          <a:xfrm>
            <a:off x="4075113" y="1089738"/>
            <a:ext cx="4537259" cy="365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</a:rPr>
              <a:t>位置水头</a:t>
            </a:r>
            <a:r>
              <a:rPr lang="en-US" altLang="zh-CN" sz="2200" b="1" i="1" dirty="0" smtClean="0">
                <a:solidFill>
                  <a:srgbClr val="A50021"/>
                </a:solidFill>
                <a:ea typeface="幼圆" pitchFamily="49" charset="-122"/>
              </a:rPr>
              <a:t>z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</a:rPr>
              <a:t>：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到基准面的竖直距离，代表单位重量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的水体所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具有的位置势能</a:t>
            </a: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</a:rPr>
              <a:t>压力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</a:rPr>
              <a:t>水头</a:t>
            </a:r>
            <a:r>
              <a:rPr lang="en-US" altLang="zh-CN" sz="2200" b="1" i="1" dirty="0" smtClean="0">
                <a:solidFill>
                  <a:srgbClr val="A50021"/>
                </a:solidFill>
                <a:ea typeface="幼圆" pitchFamily="49" charset="-122"/>
              </a:rPr>
              <a:t>u</a:t>
            </a:r>
            <a:r>
              <a:rPr lang="en-US" altLang="zh-CN" sz="2200" b="1" dirty="0" smtClean="0">
                <a:solidFill>
                  <a:srgbClr val="A50021"/>
                </a:solidFill>
                <a:ea typeface="幼圆" pitchFamily="49" charset="-122"/>
              </a:rPr>
              <a:t>/</a:t>
            </a:r>
            <a:r>
              <a:rPr lang="en-US" altLang="zh-CN" sz="2200" b="1" i="1" dirty="0" smtClean="0">
                <a:solidFill>
                  <a:srgbClr val="A50021"/>
                </a:solidFill>
                <a:ea typeface="幼圆" pitchFamily="49" charset="-122"/>
                <a:sym typeface="Symbol"/>
              </a:rPr>
              <a:t></a:t>
            </a:r>
            <a:r>
              <a:rPr lang="en-US" altLang="zh-CN" sz="2200" b="1" i="1" baseline="-25000" dirty="0" smtClean="0">
                <a:solidFill>
                  <a:srgbClr val="A50021"/>
                </a:solidFill>
                <a:ea typeface="幼圆" pitchFamily="49" charset="-122"/>
                <a:sym typeface="Symbol"/>
              </a:rPr>
              <a:t>w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</a:rPr>
              <a:t>：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水压力所能引起的自由水面的升高，表示单位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重量的水体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所具有的压力势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能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</a:rPr>
              <a:t>流速水头</a:t>
            </a:r>
            <a:r>
              <a:rPr lang="en-US" altLang="zh-CN" sz="2200" b="1" i="1" dirty="0" smtClean="0">
                <a:solidFill>
                  <a:srgbClr val="A50021"/>
                </a:solidFill>
                <a:ea typeface="幼圆" pitchFamily="49" charset="-122"/>
              </a:rPr>
              <a:t>v</a:t>
            </a:r>
            <a:r>
              <a:rPr lang="en-US" altLang="zh-CN" sz="2200" b="1" i="1" baseline="30000" dirty="0" smtClean="0">
                <a:solidFill>
                  <a:srgbClr val="A50021"/>
                </a:solidFill>
                <a:ea typeface="幼圆" pitchFamily="49" charset="-122"/>
              </a:rPr>
              <a:t>2</a:t>
            </a:r>
            <a:r>
              <a:rPr lang="en-US" altLang="zh-CN" sz="2200" b="1" dirty="0" smtClean="0">
                <a:solidFill>
                  <a:srgbClr val="A50021"/>
                </a:solidFill>
                <a:ea typeface="幼圆" pitchFamily="49" charset="-122"/>
              </a:rPr>
              <a:t>/2g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</a:rPr>
              <a:t>：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表示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单位重量水体所具有的动能</a:t>
            </a:r>
          </a:p>
        </p:txBody>
      </p:sp>
    </p:spTree>
    <p:extLst>
      <p:ext uri="{BB962C8B-B14F-4D97-AF65-F5344CB8AC3E}">
        <p14:creationId xmlns:p14="http://schemas.microsoft.com/office/powerpoint/2010/main" val="251556714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Rectangle 10"/>
          <p:cNvSpPr>
            <a:spLocks noChangeArrowheads="1"/>
          </p:cNvSpPr>
          <p:nvPr/>
        </p:nvSpPr>
        <p:spPr bwMode="auto">
          <a:xfrm>
            <a:off x="192088" y="1011238"/>
            <a:ext cx="3546475" cy="41973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" name="Text Box 11"/>
          <p:cNvSpPr txBox="1">
            <a:spLocks noChangeArrowheads="1"/>
          </p:cNvSpPr>
          <p:nvPr/>
        </p:nvSpPr>
        <p:spPr bwMode="auto">
          <a:xfrm>
            <a:off x="3660231" y="4311651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66"/>
                </a:solidFill>
                <a:latin typeface="Arial" charset="0"/>
              </a:rPr>
              <a:t>0</a:t>
            </a:r>
          </a:p>
        </p:txBody>
      </p:sp>
      <p:sp>
        <p:nvSpPr>
          <p:cNvPr id="2070" name="Text Box 12"/>
          <p:cNvSpPr txBox="1">
            <a:spLocks noChangeArrowheads="1"/>
          </p:cNvSpPr>
          <p:nvPr/>
        </p:nvSpPr>
        <p:spPr bwMode="auto">
          <a:xfrm>
            <a:off x="575719" y="4302126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66"/>
                </a:solidFill>
                <a:latin typeface="Arial" charset="0"/>
              </a:rPr>
              <a:t>0</a:t>
            </a:r>
          </a:p>
        </p:txBody>
      </p:sp>
      <p:sp>
        <p:nvSpPr>
          <p:cNvPr id="2071" name="Line 13"/>
          <p:cNvSpPr>
            <a:spLocks noChangeShapeType="1"/>
          </p:cNvSpPr>
          <p:nvPr/>
        </p:nvSpPr>
        <p:spPr bwMode="auto">
          <a:xfrm>
            <a:off x="856706" y="4433888"/>
            <a:ext cx="2735263" cy="0"/>
          </a:xfrm>
          <a:prstGeom prst="line">
            <a:avLst/>
          </a:prstGeom>
          <a:noFill/>
          <a:ln w="28575">
            <a:solidFill>
              <a:srgbClr val="000066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072" name="Text Box 14"/>
          <p:cNvSpPr txBox="1">
            <a:spLocks noChangeArrowheads="1"/>
          </p:cNvSpPr>
          <p:nvPr/>
        </p:nvSpPr>
        <p:spPr bwMode="auto">
          <a:xfrm>
            <a:off x="1432969" y="4527551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基准面</a:t>
            </a:r>
          </a:p>
        </p:txBody>
      </p:sp>
      <p:sp>
        <p:nvSpPr>
          <p:cNvPr id="2073" name="Freeform 15"/>
          <p:cNvSpPr>
            <a:spLocks/>
          </p:cNvSpPr>
          <p:nvPr/>
        </p:nvSpPr>
        <p:spPr bwMode="auto">
          <a:xfrm flipH="1">
            <a:off x="1151981" y="2090738"/>
            <a:ext cx="1738313" cy="1622425"/>
          </a:xfrm>
          <a:custGeom>
            <a:avLst/>
            <a:gdLst>
              <a:gd name="T0" fmla="*/ 24 w 1095"/>
              <a:gd name="T1" fmla="*/ 703 h 1022"/>
              <a:gd name="T2" fmla="*/ 0 w 1095"/>
              <a:gd name="T3" fmla="*/ 748 h 1022"/>
              <a:gd name="T4" fmla="*/ 7 w 1095"/>
              <a:gd name="T5" fmla="*/ 818 h 1022"/>
              <a:gd name="T6" fmla="*/ 51 w 1095"/>
              <a:gd name="T7" fmla="*/ 890 h 1022"/>
              <a:gd name="T8" fmla="*/ 139 w 1095"/>
              <a:gd name="T9" fmla="*/ 960 h 1022"/>
              <a:gd name="T10" fmla="*/ 238 w 1095"/>
              <a:gd name="T11" fmla="*/ 998 h 1022"/>
              <a:gd name="T12" fmla="*/ 351 w 1095"/>
              <a:gd name="T13" fmla="*/ 1022 h 1022"/>
              <a:gd name="T14" fmla="*/ 456 w 1095"/>
              <a:gd name="T15" fmla="*/ 1022 h 1022"/>
              <a:gd name="T16" fmla="*/ 552 w 1095"/>
              <a:gd name="T17" fmla="*/ 996 h 1022"/>
              <a:gd name="T18" fmla="*/ 607 w 1095"/>
              <a:gd name="T19" fmla="*/ 928 h 1022"/>
              <a:gd name="T20" fmla="*/ 696 w 1095"/>
              <a:gd name="T21" fmla="*/ 746 h 1022"/>
              <a:gd name="T22" fmla="*/ 792 w 1095"/>
              <a:gd name="T23" fmla="*/ 578 h 1022"/>
              <a:gd name="T24" fmla="*/ 907 w 1095"/>
              <a:gd name="T25" fmla="*/ 403 h 1022"/>
              <a:gd name="T26" fmla="*/ 1023 w 1095"/>
              <a:gd name="T27" fmla="*/ 264 h 1022"/>
              <a:gd name="T28" fmla="*/ 1090 w 1095"/>
              <a:gd name="T29" fmla="*/ 180 h 1022"/>
              <a:gd name="T30" fmla="*/ 1095 w 1095"/>
              <a:gd name="T31" fmla="*/ 120 h 1022"/>
              <a:gd name="T32" fmla="*/ 1063 w 1095"/>
              <a:gd name="T33" fmla="*/ 55 h 1022"/>
              <a:gd name="T34" fmla="*/ 1008 w 1095"/>
              <a:gd name="T35" fmla="*/ 19 h 1022"/>
              <a:gd name="T36" fmla="*/ 919 w 1095"/>
              <a:gd name="T37" fmla="*/ 0 h 1022"/>
              <a:gd name="T38" fmla="*/ 833 w 1095"/>
              <a:gd name="T39" fmla="*/ 19 h 1022"/>
              <a:gd name="T40" fmla="*/ 780 w 1095"/>
              <a:gd name="T41" fmla="*/ 55 h 1022"/>
              <a:gd name="T42" fmla="*/ 605 w 1095"/>
              <a:gd name="T43" fmla="*/ 163 h 1022"/>
              <a:gd name="T44" fmla="*/ 468 w 1095"/>
              <a:gd name="T45" fmla="*/ 264 h 1022"/>
              <a:gd name="T46" fmla="*/ 334 w 1095"/>
              <a:gd name="T47" fmla="*/ 376 h 1022"/>
              <a:gd name="T48" fmla="*/ 159 w 1095"/>
              <a:gd name="T49" fmla="*/ 554 h 1022"/>
              <a:gd name="T50" fmla="*/ 24 w 1095"/>
              <a:gd name="T51" fmla="*/ 703 h 102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095"/>
              <a:gd name="T79" fmla="*/ 0 h 1022"/>
              <a:gd name="T80" fmla="*/ 1095 w 1095"/>
              <a:gd name="T81" fmla="*/ 1022 h 1022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095" h="1022">
                <a:moveTo>
                  <a:pt x="24" y="703"/>
                </a:moveTo>
                <a:lnTo>
                  <a:pt x="0" y="748"/>
                </a:lnTo>
                <a:lnTo>
                  <a:pt x="7" y="818"/>
                </a:lnTo>
                <a:lnTo>
                  <a:pt x="51" y="890"/>
                </a:lnTo>
                <a:lnTo>
                  <a:pt x="139" y="960"/>
                </a:lnTo>
                <a:lnTo>
                  <a:pt x="238" y="998"/>
                </a:lnTo>
                <a:lnTo>
                  <a:pt x="351" y="1022"/>
                </a:lnTo>
                <a:lnTo>
                  <a:pt x="456" y="1022"/>
                </a:lnTo>
                <a:lnTo>
                  <a:pt x="552" y="996"/>
                </a:lnTo>
                <a:lnTo>
                  <a:pt x="607" y="928"/>
                </a:lnTo>
                <a:lnTo>
                  <a:pt x="696" y="746"/>
                </a:lnTo>
                <a:lnTo>
                  <a:pt x="792" y="578"/>
                </a:lnTo>
                <a:lnTo>
                  <a:pt x="907" y="403"/>
                </a:lnTo>
                <a:lnTo>
                  <a:pt x="1023" y="264"/>
                </a:lnTo>
                <a:lnTo>
                  <a:pt x="1090" y="180"/>
                </a:lnTo>
                <a:lnTo>
                  <a:pt x="1095" y="120"/>
                </a:lnTo>
                <a:lnTo>
                  <a:pt x="1063" y="55"/>
                </a:lnTo>
                <a:lnTo>
                  <a:pt x="1008" y="19"/>
                </a:lnTo>
                <a:lnTo>
                  <a:pt x="919" y="0"/>
                </a:lnTo>
                <a:lnTo>
                  <a:pt x="833" y="19"/>
                </a:lnTo>
                <a:lnTo>
                  <a:pt x="780" y="55"/>
                </a:lnTo>
                <a:lnTo>
                  <a:pt x="605" y="163"/>
                </a:lnTo>
                <a:lnTo>
                  <a:pt x="468" y="264"/>
                </a:lnTo>
                <a:lnTo>
                  <a:pt x="334" y="376"/>
                </a:lnTo>
                <a:lnTo>
                  <a:pt x="159" y="554"/>
                </a:lnTo>
                <a:lnTo>
                  <a:pt x="24" y="703"/>
                </a:lnTo>
                <a:close/>
              </a:path>
            </a:pathLst>
          </a:custGeom>
          <a:solidFill>
            <a:srgbClr val="33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4" name="Oval 16"/>
          <p:cNvSpPr>
            <a:spLocks noChangeArrowheads="1"/>
          </p:cNvSpPr>
          <p:nvPr/>
        </p:nvSpPr>
        <p:spPr bwMode="auto">
          <a:xfrm rot="20919355" flipH="1">
            <a:off x="1145631" y="2097088"/>
            <a:ext cx="519113" cy="3952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5" name="Freeform 17"/>
          <p:cNvSpPr>
            <a:spLocks/>
          </p:cNvSpPr>
          <p:nvPr/>
        </p:nvSpPr>
        <p:spPr bwMode="auto">
          <a:xfrm flipH="1">
            <a:off x="1593306" y="2139951"/>
            <a:ext cx="1265238" cy="1076325"/>
          </a:xfrm>
          <a:custGeom>
            <a:avLst/>
            <a:gdLst>
              <a:gd name="T0" fmla="*/ 0 w 797"/>
              <a:gd name="T1" fmla="*/ 678 h 678"/>
              <a:gd name="T2" fmla="*/ 192 w 797"/>
              <a:gd name="T3" fmla="*/ 467 h 678"/>
              <a:gd name="T4" fmla="*/ 493 w 797"/>
              <a:gd name="T5" fmla="*/ 195 h 678"/>
              <a:gd name="T6" fmla="*/ 797 w 797"/>
              <a:gd name="T7" fmla="*/ 0 h 678"/>
              <a:gd name="T8" fmla="*/ 0 60000 65536"/>
              <a:gd name="T9" fmla="*/ 0 60000 65536"/>
              <a:gd name="T10" fmla="*/ 0 60000 65536"/>
              <a:gd name="T11" fmla="*/ 0 60000 65536"/>
              <a:gd name="T12" fmla="*/ 0 w 797"/>
              <a:gd name="T13" fmla="*/ 0 h 678"/>
              <a:gd name="T14" fmla="*/ 797 w 797"/>
              <a:gd name="T15" fmla="*/ 678 h 6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7" h="678">
                <a:moveTo>
                  <a:pt x="0" y="678"/>
                </a:moveTo>
                <a:cubicBezTo>
                  <a:pt x="32" y="643"/>
                  <a:pt x="110" y="547"/>
                  <a:pt x="192" y="467"/>
                </a:cubicBezTo>
                <a:cubicBezTo>
                  <a:pt x="274" y="387"/>
                  <a:pt x="392" y="273"/>
                  <a:pt x="493" y="195"/>
                </a:cubicBezTo>
                <a:cubicBezTo>
                  <a:pt x="594" y="117"/>
                  <a:pt x="734" y="41"/>
                  <a:pt x="79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6" name="Freeform 18"/>
          <p:cNvSpPr>
            <a:spLocks/>
          </p:cNvSpPr>
          <p:nvPr/>
        </p:nvSpPr>
        <p:spPr bwMode="auto">
          <a:xfrm flipH="1">
            <a:off x="1182144" y="2414588"/>
            <a:ext cx="762000" cy="1182688"/>
          </a:xfrm>
          <a:custGeom>
            <a:avLst/>
            <a:gdLst>
              <a:gd name="T0" fmla="*/ 0 w 480"/>
              <a:gd name="T1" fmla="*/ 745 h 745"/>
              <a:gd name="T2" fmla="*/ 106 w 480"/>
              <a:gd name="T3" fmla="*/ 534 h 745"/>
              <a:gd name="T4" fmla="*/ 282 w 480"/>
              <a:gd name="T5" fmla="*/ 240 h 745"/>
              <a:gd name="T6" fmla="*/ 480 w 480"/>
              <a:gd name="T7" fmla="*/ 0 h 745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45"/>
              <a:gd name="T14" fmla="*/ 480 w 480"/>
              <a:gd name="T15" fmla="*/ 745 h 74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45">
                <a:moveTo>
                  <a:pt x="0" y="745"/>
                </a:moveTo>
                <a:cubicBezTo>
                  <a:pt x="18" y="709"/>
                  <a:pt x="59" y="618"/>
                  <a:pt x="106" y="534"/>
                </a:cubicBezTo>
                <a:cubicBezTo>
                  <a:pt x="153" y="450"/>
                  <a:pt x="220" y="329"/>
                  <a:pt x="282" y="240"/>
                </a:cubicBezTo>
                <a:cubicBezTo>
                  <a:pt x="344" y="151"/>
                  <a:pt x="439" y="50"/>
                  <a:pt x="4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7" name="Freeform 19"/>
          <p:cNvSpPr>
            <a:spLocks/>
          </p:cNvSpPr>
          <p:nvPr/>
        </p:nvSpPr>
        <p:spPr bwMode="auto">
          <a:xfrm flipH="1">
            <a:off x="1659981" y="2317751"/>
            <a:ext cx="1173163" cy="1147763"/>
          </a:xfrm>
          <a:custGeom>
            <a:avLst/>
            <a:gdLst>
              <a:gd name="T0" fmla="*/ 0 w 739"/>
              <a:gd name="T1" fmla="*/ 723 h 723"/>
              <a:gd name="T2" fmla="*/ 224 w 739"/>
              <a:gd name="T3" fmla="*/ 467 h 723"/>
              <a:gd name="T4" fmla="*/ 547 w 739"/>
              <a:gd name="T5" fmla="*/ 150 h 723"/>
              <a:gd name="T6" fmla="*/ 739 w 739"/>
              <a:gd name="T7" fmla="*/ 0 h 723"/>
              <a:gd name="T8" fmla="*/ 0 60000 65536"/>
              <a:gd name="T9" fmla="*/ 0 60000 65536"/>
              <a:gd name="T10" fmla="*/ 0 60000 65536"/>
              <a:gd name="T11" fmla="*/ 0 60000 65536"/>
              <a:gd name="T12" fmla="*/ 0 w 739"/>
              <a:gd name="T13" fmla="*/ 0 h 723"/>
              <a:gd name="T14" fmla="*/ 739 w 739"/>
              <a:gd name="T15" fmla="*/ 723 h 7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39" h="723">
                <a:moveTo>
                  <a:pt x="0" y="723"/>
                </a:moveTo>
                <a:cubicBezTo>
                  <a:pt x="66" y="642"/>
                  <a:pt x="133" y="562"/>
                  <a:pt x="224" y="467"/>
                </a:cubicBezTo>
                <a:cubicBezTo>
                  <a:pt x="315" y="372"/>
                  <a:pt x="461" y="228"/>
                  <a:pt x="547" y="150"/>
                </a:cubicBezTo>
                <a:cubicBezTo>
                  <a:pt x="633" y="72"/>
                  <a:pt x="686" y="36"/>
                  <a:pt x="739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8" name="Freeform 20"/>
          <p:cNvSpPr>
            <a:spLocks/>
          </p:cNvSpPr>
          <p:nvPr/>
        </p:nvSpPr>
        <p:spPr bwMode="auto">
          <a:xfrm flipH="1">
            <a:off x="1598069" y="2419351"/>
            <a:ext cx="925513" cy="1249363"/>
          </a:xfrm>
          <a:custGeom>
            <a:avLst/>
            <a:gdLst>
              <a:gd name="T0" fmla="*/ 0 w 583"/>
              <a:gd name="T1" fmla="*/ 787 h 787"/>
              <a:gd name="T2" fmla="*/ 160 w 583"/>
              <a:gd name="T3" fmla="*/ 557 h 787"/>
              <a:gd name="T4" fmla="*/ 426 w 583"/>
              <a:gd name="T5" fmla="*/ 179 h 787"/>
              <a:gd name="T6" fmla="*/ 583 w 583"/>
              <a:gd name="T7" fmla="*/ 0 h 787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787"/>
              <a:gd name="T14" fmla="*/ 583 w 583"/>
              <a:gd name="T15" fmla="*/ 787 h 78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787">
                <a:moveTo>
                  <a:pt x="0" y="787"/>
                </a:moveTo>
                <a:cubicBezTo>
                  <a:pt x="44" y="722"/>
                  <a:pt x="89" y="658"/>
                  <a:pt x="160" y="557"/>
                </a:cubicBezTo>
                <a:cubicBezTo>
                  <a:pt x="231" y="456"/>
                  <a:pt x="356" y="272"/>
                  <a:pt x="426" y="179"/>
                </a:cubicBezTo>
                <a:cubicBezTo>
                  <a:pt x="496" y="86"/>
                  <a:pt x="539" y="43"/>
                  <a:pt x="583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9" name="Freeform 21"/>
          <p:cNvSpPr>
            <a:spLocks/>
          </p:cNvSpPr>
          <p:nvPr/>
        </p:nvSpPr>
        <p:spPr bwMode="auto">
          <a:xfrm flipH="1">
            <a:off x="1436144" y="2490788"/>
            <a:ext cx="757238" cy="1212850"/>
          </a:xfrm>
          <a:custGeom>
            <a:avLst/>
            <a:gdLst>
              <a:gd name="T0" fmla="*/ 0 w 477"/>
              <a:gd name="T1" fmla="*/ 764 h 764"/>
              <a:gd name="T2" fmla="*/ 183 w 477"/>
              <a:gd name="T3" fmla="*/ 390 h 764"/>
              <a:gd name="T4" fmla="*/ 477 w 477"/>
              <a:gd name="T5" fmla="*/ 0 h 764"/>
              <a:gd name="T6" fmla="*/ 0 60000 65536"/>
              <a:gd name="T7" fmla="*/ 0 60000 65536"/>
              <a:gd name="T8" fmla="*/ 0 60000 65536"/>
              <a:gd name="T9" fmla="*/ 0 w 477"/>
              <a:gd name="T10" fmla="*/ 0 h 764"/>
              <a:gd name="T11" fmla="*/ 477 w 477"/>
              <a:gd name="T12" fmla="*/ 764 h 7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7" h="764">
                <a:moveTo>
                  <a:pt x="0" y="764"/>
                </a:moveTo>
                <a:cubicBezTo>
                  <a:pt x="52" y="640"/>
                  <a:pt x="104" y="517"/>
                  <a:pt x="183" y="390"/>
                </a:cubicBezTo>
                <a:cubicBezTo>
                  <a:pt x="262" y="263"/>
                  <a:pt x="428" y="65"/>
                  <a:pt x="47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0" name="Freeform 22"/>
          <p:cNvSpPr>
            <a:spLocks/>
          </p:cNvSpPr>
          <p:nvPr/>
        </p:nvSpPr>
        <p:spPr bwMode="auto">
          <a:xfrm flipH="1">
            <a:off x="1933031" y="3211513"/>
            <a:ext cx="965200" cy="508000"/>
          </a:xfrm>
          <a:custGeom>
            <a:avLst/>
            <a:gdLst>
              <a:gd name="T0" fmla="*/ 28 w 608"/>
              <a:gd name="T1" fmla="*/ 0 h 320"/>
              <a:gd name="T2" fmla="*/ 11 w 608"/>
              <a:gd name="T3" fmla="*/ 29 h 320"/>
              <a:gd name="T4" fmla="*/ 6 w 608"/>
              <a:gd name="T5" fmla="*/ 91 h 320"/>
              <a:gd name="T6" fmla="*/ 48 w 608"/>
              <a:gd name="T7" fmla="*/ 171 h 320"/>
              <a:gd name="T8" fmla="*/ 148 w 608"/>
              <a:gd name="T9" fmla="*/ 251 h 320"/>
              <a:gd name="T10" fmla="*/ 280 w 608"/>
              <a:gd name="T11" fmla="*/ 302 h 320"/>
              <a:gd name="T12" fmla="*/ 438 w 608"/>
              <a:gd name="T13" fmla="*/ 318 h 320"/>
              <a:gd name="T14" fmla="*/ 552 w 608"/>
              <a:gd name="T15" fmla="*/ 288 h 320"/>
              <a:gd name="T16" fmla="*/ 608 w 608"/>
              <a:gd name="T17" fmla="*/ 232 h 32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08"/>
              <a:gd name="T28" fmla="*/ 0 h 320"/>
              <a:gd name="T29" fmla="*/ 608 w 608"/>
              <a:gd name="T30" fmla="*/ 320 h 32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08" h="320">
                <a:moveTo>
                  <a:pt x="28" y="0"/>
                </a:moveTo>
                <a:cubicBezTo>
                  <a:pt x="25" y="5"/>
                  <a:pt x="15" y="14"/>
                  <a:pt x="11" y="29"/>
                </a:cubicBezTo>
                <a:cubicBezTo>
                  <a:pt x="7" y="44"/>
                  <a:pt x="0" y="67"/>
                  <a:pt x="6" y="91"/>
                </a:cubicBezTo>
                <a:cubicBezTo>
                  <a:pt x="12" y="115"/>
                  <a:pt x="24" y="144"/>
                  <a:pt x="48" y="171"/>
                </a:cubicBezTo>
                <a:cubicBezTo>
                  <a:pt x="72" y="198"/>
                  <a:pt x="109" y="229"/>
                  <a:pt x="148" y="251"/>
                </a:cubicBezTo>
                <a:cubicBezTo>
                  <a:pt x="187" y="273"/>
                  <a:pt x="232" y="291"/>
                  <a:pt x="280" y="302"/>
                </a:cubicBezTo>
                <a:cubicBezTo>
                  <a:pt x="328" y="313"/>
                  <a:pt x="393" y="320"/>
                  <a:pt x="438" y="318"/>
                </a:cubicBezTo>
                <a:cubicBezTo>
                  <a:pt x="483" y="316"/>
                  <a:pt x="524" y="302"/>
                  <a:pt x="552" y="288"/>
                </a:cubicBezTo>
                <a:cubicBezTo>
                  <a:pt x="580" y="274"/>
                  <a:pt x="596" y="244"/>
                  <a:pt x="608" y="2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1" name="Freeform 23"/>
          <p:cNvSpPr>
            <a:spLocks/>
          </p:cNvSpPr>
          <p:nvPr/>
        </p:nvSpPr>
        <p:spPr bwMode="auto">
          <a:xfrm flipH="1">
            <a:off x="1915569" y="3114676"/>
            <a:ext cx="922338" cy="457200"/>
          </a:xfrm>
          <a:custGeom>
            <a:avLst/>
            <a:gdLst>
              <a:gd name="T0" fmla="*/ 574 w 581"/>
              <a:gd name="T1" fmla="*/ 288 h 288"/>
              <a:gd name="T2" fmla="*/ 574 w 581"/>
              <a:gd name="T3" fmla="*/ 219 h 288"/>
              <a:gd name="T4" fmla="*/ 533 w 581"/>
              <a:gd name="T5" fmla="*/ 146 h 288"/>
              <a:gd name="T6" fmla="*/ 430 w 581"/>
              <a:gd name="T7" fmla="*/ 66 h 288"/>
              <a:gd name="T8" fmla="*/ 299 w 581"/>
              <a:gd name="T9" fmla="*/ 16 h 288"/>
              <a:gd name="T10" fmla="*/ 170 w 581"/>
              <a:gd name="T11" fmla="*/ 0 h 288"/>
              <a:gd name="T12" fmla="*/ 59 w 581"/>
              <a:gd name="T13" fmla="*/ 18 h 288"/>
              <a:gd name="T14" fmla="*/ 0 w 581"/>
              <a:gd name="T15" fmla="*/ 51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81"/>
              <a:gd name="T25" fmla="*/ 0 h 288"/>
              <a:gd name="T26" fmla="*/ 581 w 581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81" h="288">
                <a:moveTo>
                  <a:pt x="574" y="288"/>
                </a:moveTo>
                <a:cubicBezTo>
                  <a:pt x="574" y="277"/>
                  <a:pt x="581" y="243"/>
                  <a:pt x="574" y="219"/>
                </a:cubicBezTo>
                <a:cubicBezTo>
                  <a:pt x="567" y="195"/>
                  <a:pt x="557" y="171"/>
                  <a:pt x="533" y="146"/>
                </a:cubicBezTo>
                <a:cubicBezTo>
                  <a:pt x="509" y="121"/>
                  <a:pt x="469" y="88"/>
                  <a:pt x="430" y="66"/>
                </a:cubicBezTo>
                <a:cubicBezTo>
                  <a:pt x="391" y="44"/>
                  <a:pt x="342" y="27"/>
                  <a:pt x="299" y="16"/>
                </a:cubicBezTo>
                <a:cubicBezTo>
                  <a:pt x="256" y="5"/>
                  <a:pt x="210" y="0"/>
                  <a:pt x="170" y="0"/>
                </a:cubicBezTo>
                <a:cubicBezTo>
                  <a:pt x="130" y="0"/>
                  <a:pt x="87" y="10"/>
                  <a:pt x="59" y="18"/>
                </a:cubicBezTo>
                <a:cubicBezTo>
                  <a:pt x="31" y="26"/>
                  <a:pt x="12" y="44"/>
                  <a:pt x="0" y="51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2" name="Rectangle 24"/>
          <p:cNvSpPr>
            <a:spLocks noChangeArrowheads="1"/>
          </p:cNvSpPr>
          <p:nvPr/>
        </p:nvSpPr>
        <p:spPr bwMode="auto">
          <a:xfrm>
            <a:off x="1863181" y="2886076"/>
            <a:ext cx="88900" cy="88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3" name="Text Box 25"/>
          <p:cNvSpPr txBox="1">
            <a:spLocks noChangeArrowheads="1"/>
          </p:cNvSpPr>
          <p:nvPr/>
        </p:nvSpPr>
        <p:spPr bwMode="auto">
          <a:xfrm>
            <a:off x="284163" y="3229721"/>
            <a:ext cx="13668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ea typeface="幼圆" pitchFamily="49" charset="-122"/>
              </a:rPr>
              <a:t>质量 </a:t>
            </a:r>
            <a:r>
              <a:rPr lang="en-US" altLang="zh-CN" sz="2000" b="1" i="1" dirty="0" smtClean="0">
                <a:solidFill>
                  <a:srgbClr val="C00000"/>
                </a:solidFill>
                <a:ea typeface="幼圆" pitchFamily="49" charset="-122"/>
              </a:rPr>
              <a:t>m</a:t>
            </a:r>
            <a:r>
              <a:rPr lang="en-US" altLang="zh-CN" sz="2000" b="1" dirty="0" smtClean="0">
                <a:solidFill>
                  <a:srgbClr val="C00000"/>
                </a:solidFill>
                <a:ea typeface="幼圆" pitchFamily="49" charset="-122"/>
              </a:rPr>
              <a:t>g=1</a:t>
            </a:r>
            <a:endParaRPr lang="en-US" altLang="zh-CN" sz="2000" b="1" dirty="0">
              <a:solidFill>
                <a:srgbClr val="C00000"/>
              </a:solidFill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ea typeface="幼圆" pitchFamily="49" charset="-122"/>
              </a:rPr>
              <a:t>压力 </a:t>
            </a:r>
            <a:r>
              <a:rPr lang="en-US" altLang="zh-CN" sz="2000" b="1" i="1" dirty="0">
                <a:solidFill>
                  <a:srgbClr val="C00000"/>
                </a:solidFill>
                <a:ea typeface="幼圆" pitchFamily="49" charset="-122"/>
              </a:rPr>
              <a:t>u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ea typeface="幼圆" pitchFamily="49" charset="-122"/>
              </a:rPr>
              <a:t>流速 </a:t>
            </a:r>
            <a:r>
              <a:rPr lang="en-US" altLang="zh-CN" sz="2000" b="1" i="1" dirty="0">
                <a:solidFill>
                  <a:srgbClr val="C00000"/>
                </a:solidFill>
                <a:ea typeface="幼圆" pitchFamily="49" charset="-122"/>
              </a:rPr>
              <a:t>v</a:t>
            </a:r>
          </a:p>
        </p:txBody>
      </p:sp>
      <p:sp>
        <p:nvSpPr>
          <p:cNvPr id="2084" name="Line 26"/>
          <p:cNvSpPr>
            <a:spLocks noChangeShapeType="1"/>
          </p:cNvSpPr>
          <p:nvPr/>
        </p:nvSpPr>
        <p:spPr bwMode="auto">
          <a:xfrm flipH="1">
            <a:off x="1472656" y="2944813"/>
            <a:ext cx="382588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5" name="Line 27"/>
          <p:cNvSpPr>
            <a:spLocks noChangeShapeType="1"/>
          </p:cNvSpPr>
          <p:nvPr/>
        </p:nvSpPr>
        <p:spPr bwMode="auto">
          <a:xfrm>
            <a:off x="2880769" y="2930526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6" name="Line 28"/>
          <p:cNvSpPr>
            <a:spLocks noChangeShapeType="1"/>
          </p:cNvSpPr>
          <p:nvPr/>
        </p:nvSpPr>
        <p:spPr bwMode="auto">
          <a:xfrm>
            <a:off x="3041106" y="2944813"/>
            <a:ext cx="0" cy="148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7" name="Text Box 29"/>
          <p:cNvSpPr txBox="1">
            <a:spLocks noChangeArrowheads="1"/>
          </p:cNvSpPr>
          <p:nvPr/>
        </p:nvSpPr>
        <p:spPr bwMode="auto">
          <a:xfrm>
            <a:off x="3085556" y="3317876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ea typeface="幼圆" pitchFamily="49" charset="-122"/>
              </a:rPr>
              <a:t>z</a:t>
            </a:r>
          </a:p>
        </p:txBody>
      </p:sp>
      <p:grpSp>
        <p:nvGrpSpPr>
          <p:cNvPr id="2088" name="Group 30"/>
          <p:cNvGrpSpPr>
            <a:grpSpLocks/>
          </p:cNvGrpSpPr>
          <p:nvPr/>
        </p:nvGrpSpPr>
        <p:grpSpPr bwMode="auto">
          <a:xfrm flipH="1">
            <a:off x="1960019" y="1731963"/>
            <a:ext cx="203200" cy="1239838"/>
            <a:chOff x="1915" y="712"/>
            <a:chExt cx="128" cy="781"/>
          </a:xfrm>
        </p:grpSpPr>
        <p:sp>
          <p:nvSpPr>
            <p:cNvPr id="2091" name="Freeform 31"/>
            <p:cNvSpPr>
              <a:spLocks/>
            </p:cNvSpPr>
            <p:nvPr/>
          </p:nvSpPr>
          <p:spPr bwMode="auto">
            <a:xfrm>
              <a:off x="1934" y="792"/>
              <a:ext cx="109" cy="682"/>
            </a:xfrm>
            <a:custGeom>
              <a:avLst/>
              <a:gdLst>
                <a:gd name="T0" fmla="*/ 109 w 109"/>
                <a:gd name="T1" fmla="*/ 682 h 682"/>
                <a:gd name="T2" fmla="*/ 0 w 109"/>
                <a:gd name="T3" fmla="*/ 682 h 682"/>
                <a:gd name="T4" fmla="*/ 0 w 109"/>
                <a:gd name="T5" fmla="*/ 0 h 682"/>
                <a:gd name="T6" fmla="*/ 0 60000 65536"/>
                <a:gd name="T7" fmla="*/ 0 60000 65536"/>
                <a:gd name="T8" fmla="*/ 0 60000 65536"/>
                <a:gd name="T9" fmla="*/ 0 w 109"/>
                <a:gd name="T10" fmla="*/ 0 h 682"/>
                <a:gd name="T11" fmla="*/ 109 w 109"/>
                <a:gd name="T12" fmla="*/ 682 h 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682">
                  <a:moveTo>
                    <a:pt x="109" y="682"/>
                  </a:moveTo>
                  <a:lnTo>
                    <a:pt x="0" y="682"/>
                  </a:lnTo>
                  <a:lnTo>
                    <a:pt x="0" y="0"/>
                  </a:lnTo>
                </a:path>
              </a:pathLst>
            </a:custGeom>
            <a:noFill/>
            <a:ln w="6985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092" name="Freeform 32"/>
            <p:cNvSpPr>
              <a:spLocks/>
            </p:cNvSpPr>
            <p:nvPr/>
          </p:nvSpPr>
          <p:spPr bwMode="auto">
            <a:xfrm>
              <a:off x="1915" y="712"/>
              <a:ext cx="115" cy="781"/>
            </a:xfrm>
            <a:custGeom>
              <a:avLst/>
              <a:gdLst>
                <a:gd name="T0" fmla="*/ 115 w 115"/>
                <a:gd name="T1" fmla="*/ 781 h 781"/>
                <a:gd name="T2" fmla="*/ 0 w 115"/>
                <a:gd name="T3" fmla="*/ 781 h 781"/>
                <a:gd name="T4" fmla="*/ 0 w 115"/>
                <a:gd name="T5" fmla="*/ 0 h 781"/>
                <a:gd name="T6" fmla="*/ 0 60000 65536"/>
                <a:gd name="T7" fmla="*/ 0 60000 65536"/>
                <a:gd name="T8" fmla="*/ 0 60000 65536"/>
                <a:gd name="T9" fmla="*/ 0 w 115"/>
                <a:gd name="T10" fmla="*/ 0 h 781"/>
                <a:gd name="T11" fmla="*/ 115 w 115"/>
                <a:gd name="T12" fmla="*/ 781 h 7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" h="781">
                  <a:moveTo>
                    <a:pt x="115" y="781"/>
                  </a:moveTo>
                  <a:lnTo>
                    <a:pt x="0" y="78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3" name="Freeform 33"/>
            <p:cNvSpPr>
              <a:spLocks/>
            </p:cNvSpPr>
            <p:nvPr/>
          </p:nvSpPr>
          <p:spPr bwMode="auto">
            <a:xfrm>
              <a:off x="1954" y="712"/>
              <a:ext cx="83" cy="744"/>
            </a:xfrm>
            <a:custGeom>
              <a:avLst/>
              <a:gdLst>
                <a:gd name="T0" fmla="*/ 83 w 83"/>
                <a:gd name="T1" fmla="*/ 744 h 744"/>
                <a:gd name="T2" fmla="*/ 0 w 83"/>
                <a:gd name="T3" fmla="*/ 744 h 744"/>
                <a:gd name="T4" fmla="*/ 0 w 83"/>
                <a:gd name="T5" fmla="*/ 0 h 744"/>
                <a:gd name="T6" fmla="*/ 0 60000 65536"/>
                <a:gd name="T7" fmla="*/ 0 60000 65536"/>
                <a:gd name="T8" fmla="*/ 0 60000 65536"/>
                <a:gd name="T9" fmla="*/ 0 w 83"/>
                <a:gd name="T10" fmla="*/ 0 h 744"/>
                <a:gd name="T11" fmla="*/ 83 w 83"/>
                <a:gd name="T12" fmla="*/ 744 h 7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744">
                  <a:moveTo>
                    <a:pt x="83" y="744"/>
                  </a:moveTo>
                  <a:lnTo>
                    <a:pt x="0" y="74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89" name="Line 34"/>
          <p:cNvSpPr>
            <a:spLocks noChangeShapeType="1"/>
          </p:cNvSpPr>
          <p:nvPr/>
        </p:nvSpPr>
        <p:spPr bwMode="auto">
          <a:xfrm>
            <a:off x="2876006" y="1876426"/>
            <a:ext cx="360363" cy="0"/>
          </a:xfrm>
          <a:prstGeom prst="line">
            <a:avLst/>
          </a:prstGeom>
          <a:noFill/>
          <a:ln w="127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2090" name="Line 35"/>
          <p:cNvSpPr>
            <a:spLocks noChangeShapeType="1"/>
          </p:cNvSpPr>
          <p:nvPr/>
        </p:nvSpPr>
        <p:spPr bwMode="auto">
          <a:xfrm>
            <a:off x="3042694" y="1892301"/>
            <a:ext cx="0" cy="1025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53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381227"/>
              </p:ext>
            </p:extLst>
          </p:nvPr>
        </p:nvGraphicFramePr>
        <p:xfrm>
          <a:off x="3142706" y="1989138"/>
          <a:ext cx="414338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0" name="公式" r:id="rId4" imgW="228600" imgH="419040" progId="Equation.3">
                  <p:embed/>
                </p:oleObj>
              </mc:Choice>
              <mc:Fallback>
                <p:oleObj name="公式" r:id="rId4" imgW="228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2706" y="1989138"/>
                        <a:ext cx="414338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9240" name="AutoShape 40"/>
          <p:cNvSpPr>
            <a:spLocks noChangeArrowheads="1"/>
          </p:cNvSpPr>
          <p:nvPr/>
        </p:nvSpPr>
        <p:spPr bwMode="auto">
          <a:xfrm>
            <a:off x="4272527" y="2791392"/>
            <a:ext cx="450850" cy="403225"/>
          </a:xfrm>
          <a:prstGeom prst="homePlate">
            <a:avLst>
              <a:gd name="adj" fmla="val 2795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59244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192939"/>
              </p:ext>
            </p:extLst>
          </p:nvPr>
        </p:nvGraphicFramePr>
        <p:xfrm>
          <a:off x="5377305" y="1658906"/>
          <a:ext cx="1725613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1" name="公式" r:id="rId6" imgW="977760" imgH="431640" progId="Equation.3">
                  <p:embed/>
                </p:oleObj>
              </mc:Choice>
              <mc:Fallback>
                <p:oleObj name="公式" r:id="rId6" imgW="977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7305" y="1658906"/>
                        <a:ext cx="1725613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9245" name="Text Box 45"/>
          <p:cNvSpPr txBox="1">
            <a:spLocks noChangeArrowheads="1"/>
          </p:cNvSpPr>
          <p:nvPr/>
        </p:nvSpPr>
        <p:spPr bwMode="auto">
          <a:xfrm>
            <a:off x="5050465" y="2792316"/>
            <a:ext cx="3710763" cy="2039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</a:rPr>
              <a:t>h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称为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总水头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，其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物理意义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是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单位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</a:rPr>
              <a:t>重量水体所具有的总能量之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。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总水头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</a:rPr>
              <a:t>h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是水发生流动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的驱动力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59246" name="Text Box 46"/>
          <p:cNvSpPr txBox="1">
            <a:spLocks noChangeArrowheads="1"/>
          </p:cNvSpPr>
          <p:nvPr/>
        </p:nvSpPr>
        <p:spPr bwMode="auto">
          <a:xfrm>
            <a:off x="4448260" y="1087438"/>
            <a:ext cx="3413125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单位重量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水体的总能量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：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065" name="Text Box 48"/>
          <p:cNvSpPr txBox="1">
            <a:spLocks noChangeArrowheads="1"/>
          </p:cNvSpPr>
          <p:nvPr/>
        </p:nvSpPr>
        <p:spPr bwMode="auto">
          <a:xfrm>
            <a:off x="2574925" y="5781675"/>
            <a:ext cx="53324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水流动的驱动力 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- 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水头</a:t>
            </a: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-1" y="0"/>
            <a:ext cx="51444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水头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25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27159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59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59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59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59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45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5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9240" grpId="0" animBg="1"/>
      <p:bldP spid="1459245" grpId="0"/>
      <p:bldP spid="14592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154" name="Text Box 2"/>
          <p:cNvSpPr txBox="1">
            <a:spLocks noChangeArrowheads="1"/>
          </p:cNvSpPr>
          <p:nvPr/>
        </p:nvSpPr>
        <p:spPr bwMode="auto">
          <a:xfrm>
            <a:off x="4213336" y="980320"/>
            <a:ext cx="4541049" cy="395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</a:rPr>
              <a:t>如果将一根测压管安装在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水中的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某一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点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</a:rPr>
              <a:t>时，测压管中的水面将会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升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高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到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itchFamily="49" charset="-122"/>
              </a:rPr>
              <a:t>z</a:t>
            </a:r>
            <a:r>
              <a:rPr lang="en-US" altLang="zh-CN" sz="2200" b="1" dirty="0" err="1" smtClean="0">
                <a:solidFill>
                  <a:srgbClr val="000066"/>
                </a:solidFill>
                <a:ea typeface="幼圆" pitchFamily="49" charset="-122"/>
              </a:rPr>
              <a:t>+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</a:rPr>
              <a:t>/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sym typeface="Symbol"/>
              </a:rPr>
              <a:t></a:t>
            </a:r>
            <a:r>
              <a:rPr lang="en-US" altLang="zh-CN" sz="2200" b="1" i="1" baseline="-25000" dirty="0" smtClean="0">
                <a:solidFill>
                  <a:srgbClr val="000066"/>
                </a:solidFill>
                <a:ea typeface="幼圆" pitchFamily="49" charset="-122"/>
                <a:sym typeface="Symbol"/>
              </a:rPr>
              <a:t>w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的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</a:rPr>
              <a:t>标高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处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常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</a:rPr>
              <a:t>将位置水头与压力水头之和称为</a:t>
            </a:r>
            <a:r>
              <a:rPr lang="zh-CN" altLang="zh-CN" sz="2200" b="1" dirty="0">
                <a:solidFill>
                  <a:srgbClr val="C00000"/>
                </a:solidFill>
                <a:ea typeface="幼圆" pitchFamily="49" charset="-122"/>
              </a:rPr>
              <a:t>测管</a:t>
            </a:r>
            <a:r>
              <a:rPr lang="zh-CN" altLang="zh-CN" sz="2200" b="1" dirty="0" smtClean="0">
                <a:solidFill>
                  <a:srgbClr val="C00000"/>
                </a:solidFill>
                <a:ea typeface="幼圆" pitchFamily="49" charset="-122"/>
              </a:rPr>
              <a:t>水头</a:t>
            </a:r>
            <a:endParaRPr lang="en-US" altLang="zh-CN" sz="2200" b="1" dirty="0" smtClean="0">
              <a:solidFill>
                <a:srgbClr val="C00000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静止水体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中各点的测管水头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相等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渗流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流速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v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一般都很小，流速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水头可以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忽略不计。渗流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中一点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的总水头可用测管水头来代替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030" name="Text Box 4"/>
          <p:cNvSpPr txBox="1">
            <a:spLocks noChangeArrowheads="1"/>
          </p:cNvSpPr>
          <p:nvPr/>
        </p:nvSpPr>
        <p:spPr bwMode="auto">
          <a:xfrm>
            <a:off x="3737853" y="5644959"/>
            <a:ext cx="224292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测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管水头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9375" y="936807"/>
            <a:ext cx="3881438" cy="4197350"/>
            <a:chOff x="50" y="637"/>
            <a:chExt cx="2436" cy="2644"/>
          </a:xfrm>
        </p:grpSpPr>
        <p:grpSp>
          <p:nvGrpSpPr>
            <p:cNvPr id="1032" name="Group 6"/>
            <p:cNvGrpSpPr>
              <a:grpSpLocks/>
            </p:cNvGrpSpPr>
            <p:nvPr/>
          </p:nvGrpSpPr>
          <p:grpSpPr bwMode="auto">
            <a:xfrm>
              <a:off x="50" y="637"/>
              <a:ext cx="2436" cy="2644"/>
              <a:chOff x="50" y="637"/>
              <a:chExt cx="2436" cy="2644"/>
            </a:xfrm>
          </p:grpSpPr>
          <p:sp>
            <p:nvSpPr>
              <p:cNvPr id="1034" name="Rectangle 7"/>
              <p:cNvSpPr>
                <a:spLocks noChangeArrowheads="1"/>
              </p:cNvSpPr>
              <p:nvPr/>
            </p:nvSpPr>
            <p:spPr bwMode="auto">
              <a:xfrm>
                <a:off x="50" y="637"/>
                <a:ext cx="2436" cy="2644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" name="Rectangle 8"/>
              <p:cNvSpPr>
                <a:spLocks noChangeArrowheads="1"/>
              </p:cNvSpPr>
              <p:nvPr/>
            </p:nvSpPr>
            <p:spPr bwMode="auto">
              <a:xfrm>
                <a:off x="727" y="1657"/>
                <a:ext cx="899" cy="926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36" name="Group 9"/>
              <p:cNvGrpSpPr>
                <a:grpSpLocks/>
              </p:cNvGrpSpPr>
              <p:nvPr/>
            </p:nvGrpSpPr>
            <p:grpSpPr bwMode="auto">
              <a:xfrm>
                <a:off x="1390" y="1555"/>
                <a:ext cx="182" cy="166"/>
                <a:chOff x="1605" y="1532"/>
                <a:chExt cx="182" cy="166"/>
              </a:xfrm>
            </p:grpSpPr>
            <p:sp>
              <p:nvSpPr>
                <p:cNvPr id="1062" name="Line 10"/>
                <p:cNvSpPr>
                  <a:spLocks noChangeShapeType="1"/>
                </p:cNvSpPr>
                <p:nvPr/>
              </p:nvSpPr>
              <p:spPr bwMode="auto">
                <a:xfrm>
                  <a:off x="1642" y="1677"/>
                  <a:ext cx="9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3" name="Line 11"/>
                <p:cNvSpPr>
                  <a:spLocks noChangeShapeType="1"/>
                </p:cNvSpPr>
                <p:nvPr/>
              </p:nvSpPr>
              <p:spPr bwMode="auto">
                <a:xfrm>
                  <a:off x="1666" y="1698"/>
                  <a:ext cx="45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4" name="AutoShape 12"/>
                <p:cNvSpPr>
                  <a:spLocks noChangeArrowheads="1"/>
                </p:cNvSpPr>
                <p:nvPr/>
              </p:nvSpPr>
              <p:spPr bwMode="auto">
                <a:xfrm flipV="1">
                  <a:off x="1614" y="1532"/>
                  <a:ext cx="136" cy="91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28575" algn="ctr">
                  <a:solidFill>
                    <a:srgbClr val="0066FF"/>
                  </a:solidFill>
                  <a:miter lim="800000"/>
                  <a:headEnd/>
                  <a:tailEnd/>
                </a:ln>
              </p:spPr>
              <p:txBody>
                <a:bodyPr wrap="none" lIns="0"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5" name="Line 13"/>
                <p:cNvSpPr>
                  <a:spLocks noChangeShapeType="1"/>
                </p:cNvSpPr>
                <p:nvPr/>
              </p:nvSpPr>
              <p:spPr bwMode="auto">
                <a:xfrm>
                  <a:off x="1605" y="1653"/>
                  <a:ext cx="18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037" name="Line 14"/>
              <p:cNvSpPr>
                <a:spLocks noChangeShapeType="1"/>
              </p:cNvSpPr>
              <p:nvPr/>
            </p:nvSpPr>
            <p:spPr bwMode="auto">
              <a:xfrm>
                <a:off x="1994" y="1108"/>
                <a:ext cx="227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38" name="Text Box 15"/>
              <p:cNvSpPr txBox="1">
                <a:spLocks noChangeArrowheads="1"/>
              </p:cNvSpPr>
              <p:nvPr/>
            </p:nvSpPr>
            <p:spPr bwMode="auto">
              <a:xfrm>
                <a:off x="2172" y="2383"/>
                <a:ext cx="17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dirty="0" err="1">
                    <a:cs typeface="Times New Roman" panose="02020603050405020304" pitchFamily="18" charset="0"/>
                  </a:rPr>
                  <a:t>z</a:t>
                </a:r>
                <a:r>
                  <a:rPr lang="en-US" altLang="zh-CN" sz="2400" b="1" i="1" baseline="-25000" dirty="0" err="1">
                    <a:cs typeface="Times New Roman" panose="02020603050405020304" pitchFamily="18" charset="0"/>
                  </a:rPr>
                  <a:t>A</a:t>
                </a:r>
                <a:endParaRPr lang="en-US" altLang="zh-CN" sz="2400" b="1" i="1" baseline="-25000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039" name="Text Box 16"/>
              <p:cNvSpPr txBox="1">
                <a:spLocks noChangeArrowheads="1"/>
              </p:cNvSpPr>
              <p:nvPr/>
            </p:nvSpPr>
            <p:spPr bwMode="auto">
              <a:xfrm>
                <a:off x="2275" y="2716"/>
                <a:ext cx="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latin typeface="Arial" charset="0"/>
                  </a:rPr>
                  <a:t>0</a:t>
                </a:r>
              </a:p>
            </p:txBody>
          </p:sp>
          <p:sp>
            <p:nvSpPr>
              <p:cNvPr id="1040" name="Text Box 17"/>
              <p:cNvSpPr txBox="1">
                <a:spLocks noChangeArrowheads="1"/>
              </p:cNvSpPr>
              <p:nvPr/>
            </p:nvSpPr>
            <p:spPr bwMode="auto">
              <a:xfrm>
                <a:off x="172" y="2710"/>
                <a:ext cx="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latin typeface="Arial" charset="0"/>
                  </a:rPr>
                  <a:t>0</a:t>
                </a:r>
              </a:p>
            </p:txBody>
          </p:sp>
          <p:sp>
            <p:nvSpPr>
              <p:cNvPr id="1041" name="Line 18"/>
              <p:cNvSpPr>
                <a:spLocks noChangeShapeType="1"/>
              </p:cNvSpPr>
              <p:nvPr/>
            </p:nvSpPr>
            <p:spPr bwMode="auto">
              <a:xfrm>
                <a:off x="317" y="2793"/>
                <a:ext cx="1915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42" name="Text Box 19"/>
              <p:cNvSpPr txBox="1">
                <a:spLocks noChangeArrowheads="1"/>
              </p:cNvSpPr>
              <p:nvPr/>
            </p:nvSpPr>
            <p:spPr bwMode="auto">
              <a:xfrm>
                <a:off x="1434" y="2163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chemeClr val="bg1"/>
                    </a:solidFill>
                    <a:latin typeface="Arial" charset="0"/>
                  </a:rPr>
                  <a:t>A</a:t>
                </a:r>
              </a:p>
            </p:txBody>
          </p:sp>
          <p:sp>
            <p:nvSpPr>
              <p:cNvPr id="1043" name="Text Box 20"/>
              <p:cNvSpPr txBox="1">
                <a:spLocks noChangeArrowheads="1"/>
              </p:cNvSpPr>
              <p:nvPr/>
            </p:nvSpPr>
            <p:spPr bwMode="auto">
              <a:xfrm>
                <a:off x="789" y="1732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chemeClr val="bg1"/>
                    </a:solidFill>
                    <a:latin typeface="Arial" charset="0"/>
                  </a:rPr>
                  <a:t>B</a:t>
                </a:r>
              </a:p>
            </p:txBody>
          </p:sp>
          <p:sp>
            <p:nvSpPr>
              <p:cNvPr id="1044" name="Rectangle 21"/>
              <p:cNvSpPr>
                <a:spLocks noChangeArrowheads="1"/>
              </p:cNvSpPr>
              <p:nvPr/>
            </p:nvSpPr>
            <p:spPr bwMode="auto">
              <a:xfrm>
                <a:off x="729" y="1449"/>
                <a:ext cx="897" cy="113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" name="Freeform 22"/>
              <p:cNvSpPr>
                <a:spLocks/>
              </p:cNvSpPr>
              <p:nvPr/>
            </p:nvSpPr>
            <p:spPr bwMode="auto">
              <a:xfrm>
                <a:off x="629" y="1112"/>
                <a:ext cx="109" cy="682"/>
              </a:xfrm>
              <a:custGeom>
                <a:avLst/>
                <a:gdLst>
                  <a:gd name="T0" fmla="*/ 109 w 109"/>
                  <a:gd name="T1" fmla="*/ 682 h 682"/>
                  <a:gd name="T2" fmla="*/ 0 w 109"/>
                  <a:gd name="T3" fmla="*/ 682 h 682"/>
                  <a:gd name="T4" fmla="*/ 0 w 109"/>
                  <a:gd name="T5" fmla="*/ 0 h 682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682"/>
                  <a:gd name="T11" fmla="*/ 109 w 109"/>
                  <a:gd name="T12" fmla="*/ 682 h 6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682">
                    <a:moveTo>
                      <a:pt x="109" y="682"/>
                    </a:moveTo>
                    <a:lnTo>
                      <a:pt x="0" y="682"/>
                    </a:lnTo>
                    <a:lnTo>
                      <a:pt x="0" y="0"/>
                    </a:lnTo>
                  </a:path>
                </a:pathLst>
              </a:custGeom>
              <a:noFill/>
              <a:ln w="69850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46" name="Freeform 23"/>
              <p:cNvSpPr>
                <a:spLocks/>
              </p:cNvSpPr>
              <p:nvPr/>
            </p:nvSpPr>
            <p:spPr bwMode="auto">
              <a:xfrm>
                <a:off x="1615" y="1107"/>
                <a:ext cx="282" cy="1164"/>
              </a:xfrm>
              <a:custGeom>
                <a:avLst/>
                <a:gdLst>
                  <a:gd name="T0" fmla="*/ 0 w 282"/>
                  <a:gd name="T1" fmla="*/ 1164 h 1164"/>
                  <a:gd name="T2" fmla="*/ 281 w 282"/>
                  <a:gd name="T3" fmla="*/ 1164 h 1164"/>
                  <a:gd name="T4" fmla="*/ 282 w 282"/>
                  <a:gd name="T5" fmla="*/ 0 h 1164"/>
                  <a:gd name="T6" fmla="*/ 0 60000 65536"/>
                  <a:gd name="T7" fmla="*/ 0 60000 65536"/>
                  <a:gd name="T8" fmla="*/ 0 60000 65536"/>
                  <a:gd name="T9" fmla="*/ 0 w 282"/>
                  <a:gd name="T10" fmla="*/ 0 h 1164"/>
                  <a:gd name="T11" fmla="*/ 282 w 282"/>
                  <a:gd name="T12" fmla="*/ 1164 h 11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" h="1164">
                    <a:moveTo>
                      <a:pt x="0" y="1164"/>
                    </a:moveTo>
                    <a:lnTo>
                      <a:pt x="281" y="1164"/>
                    </a:lnTo>
                    <a:lnTo>
                      <a:pt x="282" y="0"/>
                    </a:lnTo>
                  </a:path>
                </a:pathLst>
              </a:custGeom>
              <a:noFill/>
              <a:ln w="66675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47" name="Line 24"/>
              <p:cNvSpPr>
                <a:spLocks noChangeShapeType="1"/>
              </p:cNvSpPr>
              <p:nvPr/>
            </p:nvSpPr>
            <p:spPr bwMode="auto">
              <a:xfrm>
                <a:off x="894" y="1522"/>
                <a:ext cx="0" cy="13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8" name="Text Box 25"/>
              <p:cNvSpPr txBox="1">
                <a:spLocks noChangeArrowheads="1"/>
              </p:cNvSpPr>
              <p:nvPr/>
            </p:nvSpPr>
            <p:spPr bwMode="auto">
              <a:xfrm>
                <a:off x="905" y="1376"/>
                <a:ext cx="49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>
                    <a:ea typeface="幼圆" pitchFamily="49" charset="-122"/>
                  </a:rPr>
                  <a:t>u</a:t>
                </a:r>
                <a:r>
                  <a:rPr lang="en-US" altLang="zh-CN" sz="2000" b="1" i="1" baseline="-25000" dirty="0">
                    <a:ea typeface="幼圆" pitchFamily="49" charset="-122"/>
                  </a:rPr>
                  <a:t>0</a:t>
                </a:r>
                <a:r>
                  <a:rPr lang="en-US" altLang="zh-CN" sz="2000" b="1" dirty="0">
                    <a:ea typeface="幼圆" pitchFamily="49" charset="-122"/>
                    <a:sym typeface="Symbol" pitchFamily="18" charset="2"/>
                  </a:rPr>
                  <a:t></a:t>
                </a:r>
                <a:r>
                  <a:rPr lang="en-US" altLang="zh-CN" sz="2000" b="1" dirty="0">
                    <a:ea typeface="幼圆" pitchFamily="49" charset="-122"/>
                  </a:rPr>
                  <a:t>p</a:t>
                </a:r>
                <a:r>
                  <a:rPr lang="en-US" altLang="zh-CN" sz="2000" b="1" baseline="-25000" dirty="0">
                    <a:ea typeface="幼圆" pitchFamily="49" charset="-122"/>
                  </a:rPr>
                  <a:t>a</a:t>
                </a:r>
                <a:endParaRPr lang="en-US" altLang="zh-CN" sz="2000" b="1" dirty="0">
                  <a:ea typeface="幼圆" pitchFamily="49" charset="-122"/>
                </a:endParaRPr>
              </a:p>
            </p:txBody>
          </p:sp>
          <p:sp>
            <p:nvSpPr>
              <p:cNvPr id="1049" name="Freeform 26"/>
              <p:cNvSpPr>
                <a:spLocks/>
              </p:cNvSpPr>
              <p:nvPr/>
            </p:nvSpPr>
            <p:spPr bwMode="auto">
              <a:xfrm>
                <a:off x="610" y="1032"/>
                <a:ext cx="115" cy="781"/>
              </a:xfrm>
              <a:custGeom>
                <a:avLst/>
                <a:gdLst>
                  <a:gd name="T0" fmla="*/ 115 w 115"/>
                  <a:gd name="T1" fmla="*/ 781 h 781"/>
                  <a:gd name="T2" fmla="*/ 0 w 115"/>
                  <a:gd name="T3" fmla="*/ 781 h 781"/>
                  <a:gd name="T4" fmla="*/ 0 w 115"/>
                  <a:gd name="T5" fmla="*/ 0 h 781"/>
                  <a:gd name="T6" fmla="*/ 0 60000 65536"/>
                  <a:gd name="T7" fmla="*/ 0 60000 65536"/>
                  <a:gd name="T8" fmla="*/ 0 60000 65536"/>
                  <a:gd name="T9" fmla="*/ 0 w 115"/>
                  <a:gd name="T10" fmla="*/ 0 h 781"/>
                  <a:gd name="T11" fmla="*/ 115 w 115"/>
                  <a:gd name="T12" fmla="*/ 781 h 7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5" h="781">
                    <a:moveTo>
                      <a:pt x="115" y="781"/>
                    </a:moveTo>
                    <a:lnTo>
                      <a:pt x="0" y="781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0" name="Freeform 27"/>
              <p:cNvSpPr>
                <a:spLocks/>
              </p:cNvSpPr>
              <p:nvPr/>
            </p:nvSpPr>
            <p:spPr bwMode="auto">
              <a:xfrm>
                <a:off x="649" y="1032"/>
                <a:ext cx="83" cy="744"/>
              </a:xfrm>
              <a:custGeom>
                <a:avLst/>
                <a:gdLst>
                  <a:gd name="T0" fmla="*/ 83 w 83"/>
                  <a:gd name="T1" fmla="*/ 744 h 744"/>
                  <a:gd name="T2" fmla="*/ 0 w 83"/>
                  <a:gd name="T3" fmla="*/ 744 h 744"/>
                  <a:gd name="T4" fmla="*/ 0 w 83"/>
                  <a:gd name="T5" fmla="*/ 0 h 744"/>
                  <a:gd name="T6" fmla="*/ 0 60000 65536"/>
                  <a:gd name="T7" fmla="*/ 0 60000 65536"/>
                  <a:gd name="T8" fmla="*/ 0 60000 65536"/>
                  <a:gd name="T9" fmla="*/ 0 w 83"/>
                  <a:gd name="T10" fmla="*/ 0 h 744"/>
                  <a:gd name="T11" fmla="*/ 83 w 83"/>
                  <a:gd name="T12" fmla="*/ 744 h 7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3" h="744">
                    <a:moveTo>
                      <a:pt x="83" y="744"/>
                    </a:moveTo>
                    <a:lnTo>
                      <a:pt x="0" y="744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Freeform 28"/>
              <p:cNvSpPr>
                <a:spLocks/>
              </p:cNvSpPr>
              <p:nvPr/>
            </p:nvSpPr>
            <p:spPr bwMode="auto">
              <a:xfrm>
                <a:off x="1626" y="1028"/>
                <a:ext cx="250" cy="1222"/>
              </a:xfrm>
              <a:custGeom>
                <a:avLst/>
                <a:gdLst>
                  <a:gd name="T0" fmla="*/ 0 w 250"/>
                  <a:gd name="T1" fmla="*/ 1222 h 1222"/>
                  <a:gd name="T2" fmla="*/ 250 w 250"/>
                  <a:gd name="T3" fmla="*/ 1222 h 1222"/>
                  <a:gd name="T4" fmla="*/ 250 w 250"/>
                  <a:gd name="T5" fmla="*/ 0 h 1222"/>
                  <a:gd name="T6" fmla="*/ 0 60000 65536"/>
                  <a:gd name="T7" fmla="*/ 0 60000 65536"/>
                  <a:gd name="T8" fmla="*/ 0 60000 65536"/>
                  <a:gd name="T9" fmla="*/ 0 w 250"/>
                  <a:gd name="T10" fmla="*/ 0 h 1222"/>
                  <a:gd name="T11" fmla="*/ 250 w 250"/>
                  <a:gd name="T12" fmla="*/ 1222 h 12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0" h="1222">
                    <a:moveTo>
                      <a:pt x="0" y="1222"/>
                    </a:moveTo>
                    <a:lnTo>
                      <a:pt x="250" y="1222"/>
                    </a:lnTo>
                    <a:lnTo>
                      <a:pt x="25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Freeform 29"/>
              <p:cNvSpPr>
                <a:spLocks/>
              </p:cNvSpPr>
              <p:nvPr/>
            </p:nvSpPr>
            <p:spPr bwMode="auto">
              <a:xfrm>
                <a:off x="1621" y="1028"/>
                <a:ext cx="294" cy="1261"/>
              </a:xfrm>
              <a:custGeom>
                <a:avLst/>
                <a:gdLst>
                  <a:gd name="T0" fmla="*/ 0 w 250"/>
                  <a:gd name="T1" fmla="*/ 1222 h 1222"/>
                  <a:gd name="T2" fmla="*/ 250 w 250"/>
                  <a:gd name="T3" fmla="*/ 1222 h 1222"/>
                  <a:gd name="T4" fmla="*/ 250 w 250"/>
                  <a:gd name="T5" fmla="*/ 0 h 1222"/>
                  <a:gd name="T6" fmla="*/ 0 60000 65536"/>
                  <a:gd name="T7" fmla="*/ 0 60000 65536"/>
                  <a:gd name="T8" fmla="*/ 0 60000 65536"/>
                  <a:gd name="T9" fmla="*/ 0 w 250"/>
                  <a:gd name="T10" fmla="*/ 0 h 1222"/>
                  <a:gd name="T11" fmla="*/ 250 w 250"/>
                  <a:gd name="T12" fmla="*/ 1222 h 12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0" h="1222">
                    <a:moveTo>
                      <a:pt x="0" y="1222"/>
                    </a:moveTo>
                    <a:lnTo>
                      <a:pt x="250" y="1222"/>
                    </a:lnTo>
                    <a:lnTo>
                      <a:pt x="25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0"/>
              <p:cNvSpPr>
                <a:spLocks noChangeShapeType="1"/>
              </p:cNvSpPr>
              <p:nvPr/>
            </p:nvSpPr>
            <p:spPr bwMode="auto">
              <a:xfrm>
                <a:off x="1983" y="2286"/>
                <a:ext cx="227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54" name="Line 31"/>
              <p:cNvSpPr>
                <a:spLocks noChangeShapeType="1"/>
              </p:cNvSpPr>
              <p:nvPr/>
            </p:nvSpPr>
            <p:spPr bwMode="auto">
              <a:xfrm>
                <a:off x="2099" y="1112"/>
                <a:ext cx="0" cy="1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" name="Line 32"/>
              <p:cNvSpPr>
                <a:spLocks noChangeShapeType="1"/>
              </p:cNvSpPr>
              <p:nvPr/>
            </p:nvSpPr>
            <p:spPr bwMode="auto">
              <a:xfrm>
                <a:off x="2101" y="2289"/>
                <a:ext cx="0" cy="5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6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71951325"/>
                  </p:ext>
                </p:extLst>
              </p:nvPr>
            </p:nvGraphicFramePr>
            <p:xfrm>
              <a:off x="2158" y="1424"/>
              <a:ext cx="275" cy="4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78" name="公式" r:id="rId4" imgW="241200" imgH="431640" progId="Equation.3">
                      <p:embed/>
                    </p:oleObj>
                  </mc:Choice>
                  <mc:Fallback>
                    <p:oleObj name="公式" r:id="rId4" imgW="241200" imgH="431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58" y="1424"/>
                            <a:ext cx="275" cy="4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56" name="Line 34"/>
              <p:cNvSpPr>
                <a:spLocks noChangeShapeType="1"/>
              </p:cNvSpPr>
              <p:nvPr/>
            </p:nvSpPr>
            <p:spPr bwMode="auto">
              <a:xfrm>
                <a:off x="326" y="1113"/>
                <a:ext cx="227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57" name="Text Box 35"/>
              <p:cNvSpPr txBox="1">
                <a:spLocks noChangeArrowheads="1"/>
              </p:cNvSpPr>
              <p:nvPr/>
            </p:nvSpPr>
            <p:spPr bwMode="auto">
              <a:xfrm>
                <a:off x="146" y="2367"/>
                <a:ext cx="17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dirty="0" err="1">
                    <a:cs typeface="Times New Roman" panose="02020603050405020304" pitchFamily="18" charset="0"/>
                  </a:rPr>
                  <a:t>z</a:t>
                </a:r>
                <a:r>
                  <a:rPr lang="en-US" altLang="zh-CN" sz="2400" b="1" i="1" baseline="-25000" dirty="0" err="1">
                    <a:cs typeface="Times New Roman" panose="02020603050405020304" pitchFamily="18" charset="0"/>
                  </a:rPr>
                  <a:t>B</a:t>
                </a:r>
                <a:endParaRPr lang="en-US" altLang="zh-CN" sz="2400" b="1" i="1" baseline="-25000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058" name="Line 36"/>
              <p:cNvSpPr>
                <a:spLocks noChangeShapeType="1"/>
              </p:cNvSpPr>
              <p:nvPr/>
            </p:nvSpPr>
            <p:spPr bwMode="auto">
              <a:xfrm>
                <a:off x="315" y="1796"/>
                <a:ext cx="227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59" name="Line 37"/>
              <p:cNvSpPr>
                <a:spLocks noChangeShapeType="1"/>
              </p:cNvSpPr>
              <p:nvPr/>
            </p:nvSpPr>
            <p:spPr bwMode="auto">
              <a:xfrm>
                <a:off x="431" y="1117"/>
                <a:ext cx="0" cy="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0" name="Line 38"/>
              <p:cNvSpPr>
                <a:spLocks noChangeShapeType="1"/>
              </p:cNvSpPr>
              <p:nvPr/>
            </p:nvSpPr>
            <p:spPr bwMode="auto">
              <a:xfrm>
                <a:off x="433" y="1797"/>
                <a:ext cx="0" cy="10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7" name="Object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0598985"/>
                  </p:ext>
                </p:extLst>
              </p:nvPr>
            </p:nvGraphicFramePr>
            <p:xfrm>
              <a:off x="96" y="1243"/>
              <a:ext cx="275" cy="4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79" name="公式" r:id="rId6" imgW="241200" imgH="431640" progId="Equation.3">
                      <p:embed/>
                    </p:oleObj>
                  </mc:Choice>
                  <mc:Fallback>
                    <p:oleObj name="公式" r:id="rId6" imgW="241200" imgH="431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" y="1243"/>
                            <a:ext cx="275" cy="4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61" name="Text Box 40"/>
              <p:cNvSpPr txBox="1">
                <a:spLocks noChangeArrowheads="1"/>
              </p:cNvSpPr>
              <p:nvPr/>
            </p:nvSpPr>
            <p:spPr bwMode="auto">
              <a:xfrm>
                <a:off x="872" y="2852"/>
                <a:ext cx="59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ea typeface="幼圆" pitchFamily="49" charset="-122"/>
                  </a:rPr>
                  <a:t>基准面</a:t>
                </a:r>
              </a:p>
            </p:txBody>
          </p:sp>
        </p:grpSp>
        <p:sp>
          <p:nvSpPr>
            <p:cNvPr id="1033" name="Text Box 41"/>
            <p:cNvSpPr txBox="1">
              <a:spLocks noChangeArrowheads="1"/>
            </p:cNvSpPr>
            <p:nvPr/>
          </p:nvSpPr>
          <p:spPr bwMode="auto">
            <a:xfrm>
              <a:off x="864" y="2174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chemeClr val="bg1"/>
                  </a:solidFill>
                  <a:ea typeface="幼圆" pitchFamily="49" charset="-122"/>
                </a:rPr>
                <a:t>静水</a:t>
              </a:r>
              <a:endParaRPr lang="en-US" altLang="zh-CN" sz="2400" b="1">
                <a:solidFill>
                  <a:schemeClr val="bg1"/>
                </a:solidFill>
                <a:ea typeface="幼圆" pitchFamily="49" charset="-122"/>
              </a:endParaRPr>
            </a:p>
          </p:txBody>
        </p:sp>
      </p:grp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-1" y="0"/>
            <a:ext cx="51444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水头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26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91504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45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45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71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3"/>
          <p:cNvSpPr txBox="1">
            <a:spLocks noChangeArrowheads="1"/>
          </p:cNvSpPr>
          <p:nvPr/>
        </p:nvSpPr>
        <p:spPr bwMode="auto">
          <a:xfrm>
            <a:off x="2352675" y="5659494"/>
            <a:ext cx="59674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渗流中的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水头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1" name="Text Box 7"/>
          <p:cNvSpPr txBox="1">
            <a:spLocks noChangeArrowheads="1"/>
          </p:cNvSpPr>
          <p:nvPr/>
        </p:nvSpPr>
        <p:spPr bwMode="auto">
          <a:xfrm>
            <a:off x="-1" y="0"/>
            <a:ext cx="51444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水头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1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1" name="Rectangle 5" descr="小棋盘"/>
          <p:cNvSpPr>
            <a:spLocks noChangeAspect="1" noChangeArrowheads="1"/>
          </p:cNvSpPr>
          <p:nvPr/>
        </p:nvSpPr>
        <p:spPr bwMode="auto">
          <a:xfrm rot="1110783">
            <a:off x="5511193" y="1753721"/>
            <a:ext cx="2060575" cy="717550"/>
          </a:xfrm>
          <a:prstGeom prst="rect">
            <a:avLst/>
          </a:prstGeom>
          <a:pattFill prst="smCheck">
            <a:fgClr>
              <a:schemeClr val="accent2"/>
            </a:fgClr>
            <a:bgClr>
              <a:schemeClr val="bg1"/>
            </a:bgClr>
          </a:pattFill>
          <a:ln w="19050" algn="ctr">
            <a:solidFill>
              <a:srgbClr val="990033"/>
            </a:solidFill>
            <a:miter lim="800000"/>
            <a:headEnd/>
            <a:tailEnd/>
          </a:ln>
        </p:spPr>
        <p:txBody>
          <a:bodyPr lIns="0" rIns="0" anchor="ctr">
            <a:spAutoFit/>
          </a:bodyPr>
          <a:lstStyle/>
          <a:p>
            <a:endParaRPr lang="zh-CN" altLang="en-US"/>
          </a:p>
        </p:txBody>
      </p:sp>
      <p:sp>
        <p:nvSpPr>
          <p:cNvPr id="105" name="Line 9"/>
          <p:cNvSpPr>
            <a:spLocks noChangeAspect="1" noChangeShapeType="1"/>
          </p:cNvSpPr>
          <p:nvPr/>
        </p:nvSpPr>
        <p:spPr bwMode="auto">
          <a:xfrm>
            <a:off x="5403243" y="1471146"/>
            <a:ext cx="238125" cy="793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06" name="Line 10"/>
          <p:cNvSpPr>
            <a:spLocks noChangeAspect="1" noChangeShapeType="1"/>
          </p:cNvSpPr>
          <p:nvPr/>
        </p:nvSpPr>
        <p:spPr bwMode="auto">
          <a:xfrm>
            <a:off x="5323868" y="1707683"/>
            <a:ext cx="236537" cy="809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07" name="Line 11"/>
          <p:cNvSpPr>
            <a:spLocks noChangeAspect="1" noChangeShapeType="1"/>
          </p:cNvSpPr>
          <p:nvPr/>
        </p:nvSpPr>
        <p:spPr bwMode="auto">
          <a:xfrm>
            <a:off x="5244493" y="1961683"/>
            <a:ext cx="238125" cy="793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08" name="Freeform 12"/>
          <p:cNvSpPr>
            <a:spLocks noChangeAspect="1"/>
          </p:cNvSpPr>
          <p:nvPr/>
        </p:nvSpPr>
        <p:spPr bwMode="auto">
          <a:xfrm>
            <a:off x="7619393" y="2198221"/>
            <a:ext cx="206375" cy="61912"/>
          </a:xfrm>
          <a:custGeom>
            <a:avLst/>
            <a:gdLst>
              <a:gd name="T0" fmla="*/ 0 w 118"/>
              <a:gd name="T1" fmla="*/ 0 h 35"/>
              <a:gd name="T2" fmla="*/ 118 w 118"/>
              <a:gd name="T3" fmla="*/ 35 h 35"/>
              <a:gd name="T4" fmla="*/ 0 60000 65536"/>
              <a:gd name="T5" fmla="*/ 0 60000 65536"/>
              <a:gd name="T6" fmla="*/ 0 w 118"/>
              <a:gd name="T7" fmla="*/ 0 h 35"/>
              <a:gd name="T8" fmla="*/ 118 w 118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35">
                <a:moveTo>
                  <a:pt x="0" y="0"/>
                </a:moveTo>
                <a:lnTo>
                  <a:pt x="118" y="35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09" name="Freeform 13"/>
          <p:cNvSpPr>
            <a:spLocks noChangeAspect="1"/>
          </p:cNvSpPr>
          <p:nvPr/>
        </p:nvSpPr>
        <p:spPr bwMode="auto">
          <a:xfrm>
            <a:off x="7540018" y="2437933"/>
            <a:ext cx="192087" cy="57150"/>
          </a:xfrm>
          <a:custGeom>
            <a:avLst/>
            <a:gdLst>
              <a:gd name="T0" fmla="*/ 0 w 110"/>
              <a:gd name="T1" fmla="*/ 0 h 33"/>
              <a:gd name="T2" fmla="*/ 110 w 110"/>
              <a:gd name="T3" fmla="*/ 33 h 33"/>
              <a:gd name="T4" fmla="*/ 0 60000 65536"/>
              <a:gd name="T5" fmla="*/ 0 60000 65536"/>
              <a:gd name="T6" fmla="*/ 0 w 110"/>
              <a:gd name="T7" fmla="*/ 0 h 33"/>
              <a:gd name="T8" fmla="*/ 110 w 110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0" h="33">
                <a:moveTo>
                  <a:pt x="0" y="0"/>
                </a:moveTo>
                <a:lnTo>
                  <a:pt x="110" y="33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10" name="Freeform 14"/>
          <p:cNvSpPr>
            <a:spLocks noChangeAspect="1"/>
          </p:cNvSpPr>
          <p:nvPr/>
        </p:nvSpPr>
        <p:spPr bwMode="auto">
          <a:xfrm>
            <a:off x="7460643" y="2674471"/>
            <a:ext cx="207962" cy="61912"/>
          </a:xfrm>
          <a:custGeom>
            <a:avLst/>
            <a:gdLst>
              <a:gd name="T0" fmla="*/ 0 w 119"/>
              <a:gd name="T1" fmla="*/ 0 h 35"/>
              <a:gd name="T2" fmla="*/ 119 w 119"/>
              <a:gd name="T3" fmla="*/ 35 h 35"/>
              <a:gd name="T4" fmla="*/ 0 60000 65536"/>
              <a:gd name="T5" fmla="*/ 0 60000 65536"/>
              <a:gd name="T6" fmla="*/ 0 w 119"/>
              <a:gd name="T7" fmla="*/ 0 h 35"/>
              <a:gd name="T8" fmla="*/ 119 w 119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9" h="35">
                <a:moveTo>
                  <a:pt x="0" y="0"/>
                </a:moveTo>
                <a:lnTo>
                  <a:pt x="119" y="35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16" name="Text Box 15"/>
          <p:cNvSpPr txBox="1">
            <a:spLocks noChangeArrowheads="1"/>
          </p:cNvSpPr>
          <p:nvPr/>
        </p:nvSpPr>
        <p:spPr bwMode="auto">
          <a:xfrm>
            <a:off x="5817580" y="1853733"/>
            <a:ext cx="220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7" name="Text Box 16"/>
          <p:cNvSpPr txBox="1">
            <a:spLocks noChangeArrowheads="1"/>
          </p:cNvSpPr>
          <p:nvPr/>
        </p:nvSpPr>
        <p:spPr bwMode="auto">
          <a:xfrm>
            <a:off x="7142944" y="2256958"/>
            <a:ext cx="205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cs typeface="Times New Roman" panose="02020603050405020304" pitchFamily="18" charset="0"/>
              </a:rPr>
              <a:t>B</a:t>
            </a:r>
          </a:p>
        </p:txBody>
      </p:sp>
      <p:grpSp>
        <p:nvGrpSpPr>
          <p:cNvPr id="119" name="Group 18"/>
          <p:cNvGrpSpPr>
            <a:grpSpLocks/>
          </p:cNvGrpSpPr>
          <p:nvPr/>
        </p:nvGrpSpPr>
        <p:grpSpPr bwMode="auto">
          <a:xfrm>
            <a:off x="235401" y="1548272"/>
            <a:ext cx="3679825" cy="3530600"/>
            <a:chOff x="319" y="935"/>
            <a:chExt cx="2289" cy="2224"/>
          </a:xfrm>
        </p:grpSpPr>
        <p:grpSp>
          <p:nvGrpSpPr>
            <p:cNvPr id="120" name="Group 19"/>
            <p:cNvGrpSpPr>
              <a:grpSpLocks/>
            </p:cNvGrpSpPr>
            <p:nvPr/>
          </p:nvGrpSpPr>
          <p:grpSpPr bwMode="auto">
            <a:xfrm>
              <a:off x="364" y="2842"/>
              <a:ext cx="2244" cy="94"/>
              <a:chOff x="17" y="2273"/>
              <a:chExt cx="1703" cy="61"/>
            </a:xfrm>
          </p:grpSpPr>
          <p:grpSp>
            <p:nvGrpSpPr>
              <p:cNvPr id="144" name="Group 20"/>
              <p:cNvGrpSpPr>
                <a:grpSpLocks noChangeAspect="1"/>
              </p:cNvGrpSpPr>
              <p:nvPr/>
            </p:nvGrpSpPr>
            <p:grpSpPr bwMode="auto">
              <a:xfrm>
                <a:off x="985" y="2274"/>
                <a:ext cx="346" cy="60"/>
                <a:chOff x="2644" y="2807"/>
                <a:chExt cx="481" cy="83"/>
              </a:xfrm>
            </p:grpSpPr>
            <p:sp>
              <p:nvSpPr>
                <p:cNvPr id="198" name="Freeform 21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" name="Freeform 22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" name="Freeform 23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" name="Freeform 24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" name="Freeform 25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" name="Freeform 26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" name="Freeform 27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" name="Freeform 28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" name="Freeform 29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" name="Freeform 30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" name="Freeform 31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" name="Freeform 32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" name="Group 33"/>
              <p:cNvGrpSpPr>
                <a:grpSpLocks noChangeAspect="1"/>
              </p:cNvGrpSpPr>
              <p:nvPr/>
            </p:nvGrpSpPr>
            <p:grpSpPr bwMode="auto">
              <a:xfrm>
                <a:off x="662" y="2274"/>
                <a:ext cx="346" cy="60"/>
                <a:chOff x="2644" y="2807"/>
                <a:chExt cx="481" cy="83"/>
              </a:xfrm>
            </p:grpSpPr>
            <p:sp>
              <p:nvSpPr>
                <p:cNvPr id="186" name="Freeform 34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" name="Freeform 35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" name="Freeform 36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" name="Freeform 37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" name="Freeform 38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" name="Freeform 39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" name="Freeform 40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" name="Freeform 41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" name="Freeform 42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" name="Freeform 43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" name="Freeform 44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" name="Freeform 45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" name="Group 46"/>
              <p:cNvGrpSpPr>
                <a:grpSpLocks noChangeAspect="1"/>
              </p:cNvGrpSpPr>
              <p:nvPr/>
            </p:nvGrpSpPr>
            <p:grpSpPr bwMode="auto">
              <a:xfrm>
                <a:off x="340" y="2274"/>
                <a:ext cx="346" cy="60"/>
                <a:chOff x="2644" y="2807"/>
                <a:chExt cx="481" cy="83"/>
              </a:xfrm>
            </p:grpSpPr>
            <p:sp>
              <p:nvSpPr>
                <p:cNvPr id="174" name="Freeform 47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" name="Freeform 48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" name="Freeform 49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" name="Freeform 50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" name="Freeform 51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" name="Freeform 52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" name="Freeform 53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" name="Freeform 54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" name="Freeform 55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" name="Freeform 56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" name="Freeform 57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" name="Freeform 58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7" name="Group 59"/>
              <p:cNvGrpSpPr>
                <a:grpSpLocks noChangeAspect="1"/>
              </p:cNvGrpSpPr>
              <p:nvPr/>
            </p:nvGrpSpPr>
            <p:grpSpPr bwMode="auto">
              <a:xfrm>
                <a:off x="17" y="2274"/>
                <a:ext cx="347" cy="60"/>
                <a:chOff x="2644" y="2807"/>
                <a:chExt cx="481" cy="83"/>
              </a:xfrm>
            </p:grpSpPr>
            <p:sp>
              <p:nvSpPr>
                <p:cNvPr id="162" name="Freeform 60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" name="Freeform 61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" name="Freeform 62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" name="Freeform 63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" name="Freeform 64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" name="Freeform 65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8" name="Freeform 66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9" name="Freeform 67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" name="Freeform 68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" name="Freeform 69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" name="Freeform 70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" name="Freeform 71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8" name="Group 72"/>
              <p:cNvGrpSpPr>
                <a:grpSpLocks noChangeAspect="1"/>
              </p:cNvGrpSpPr>
              <p:nvPr/>
            </p:nvGrpSpPr>
            <p:grpSpPr bwMode="auto">
              <a:xfrm>
                <a:off x="1307" y="2274"/>
                <a:ext cx="347" cy="60"/>
                <a:chOff x="2644" y="2807"/>
                <a:chExt cx="481" cy="83"/>
              </a:xfrm>
            </p:grpSpPr>
            <p:sp>
              <p:nvSpPr>
                <p:cNvPr id="150" name="Freeform 73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1" name="Freeform 74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" name="Freeform 75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3" name="Freeform 76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" name="Freeform 77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" name="Freeform 78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" name="Freeform 79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" name="Freeform 80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" name="Freeform 81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" name="Freeform 82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" name="Freeform 83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1" name="Freeform 84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49" name="Freeform 85"/>
              <p:cNvSpPr>
                <a:spLocks noChangeAspect="1"/>
              </p:cNvSpPr>
              <p:nvPr/>
            </p:nvSpPr>
            <p:spPr bwMode="auto">
              <a:xfrm>
                <a:off x="17" y="2273"/>
                <a:ext cx="1703" cy="1"/>
              </a:xfrm>
              <a:custGeom>
                <a:avLst/>
                <a:gdLst>
                  <a:gd name="T0" fmla="*/ 0 w 1703"/>
                  <a:gd name="T1" fmla="*/ 1 h 1"/>
                  <a:gd name="T2" fmla="*/ 1703 w 1703"/>
                  <a:gd name="T3" fmla="*/ 0 h 1"/>
                  <a:gd name="T4" fmla="*/ 0 60000 65536"/>
                  <a:gd name="T5" fmla="*/ 0 60000 65536"/>
                  <a:gd name="T6" fmla="*/ 0 w 1703"/>
                  <a:gd name="T7" fmla="*/ 0 h 1"/>
                  <a:gd name="T8" fmla="*/ 1703 w 170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03" h="1">
                    <a:moveTo>
                      <a:pt x="0" y="1"/>
                    </a:moveTo>
                    <a:lnTo>
                      <a:pt x="1703" y="0"/>
                    </a:lnTo>
                  </a:path>
                </a:pathLst>
              </a:custGeom>
              <a:noFill/>
              <a:ln w="28575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1" name="Rectangle 86"/>
            <p:cNvSpPr>
              <a:spLocks noChangeAspect="1" noChangeArrowheads="1"/>
            </p:cNvSpPr>
            <p:nvPr/>
          </p:nvSpPr>
          <p:spPr bwMode="auto">
            <a:xfrm>
              <a:off x="1392" y="1235"/>
              <a:ext cx="60" cy="1156"/>
            </a:xfrm>
            <a:prstGeom prst="rect">
              <a:avLst/>
            </a:prstGeom>
            <a:solidFill>
              <a:srgbClr val="996633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2" name="Freeform 87"/>
            <p:cNvSpPr>
              <a:spLocks noChangeAspect="1"/>
            </p:cNvSpPr>
            <p:nvPr/>
          </p:nvSpPr>
          <p:spPr bwMode="auto">
            <a:xfrm>
              <a:off x="319" y="1387"/>
              <a:ext cx="1079" cy="0"/>
            </a:xfrm>
            <a:custGeom>
              <a:avLst/>
              <a:gdLst>
                <a:gd name="T0" fmla="*/ 0 w 1137"/>
                <a:gd name="T1" fmla="*/ 0 h 1"/>
                <a:gd name="T2" fmla="*/ 1137 w 1137"/>
                <a:gd name="T3" fmla="*/ 0 h 1"/>
                <a:gd name="T4" fmla="*/ 0 60000 65536"/>
                <a:gd name="T5" fmla="*/ 0 60000 65536"/>
                <a:gd name="T6" fmla="*/ 0 w 1137"/>
                <a:gd name="T7" fmla="*/ 0 h 1"/>
                <a:gd name="T8" fmla="*/ 1137 w 1137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37" h="1">
                  <a:moveTo>
                    <a:pt x="0" y="0"/>
                  </a:moveTo>
                  <a:lnTo>
                    <a:pt x="1137" y="0"/>
                  </a:lnTo>
                </a:path>
              </a:pathLst>
            </a:cu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" name="Line 88"/>
            <p:cNvSpPr>
              <a:spLocks noChangeAspect="1" noChangeShapeType="1"/>
            </p:cNvSpPr>
            <p:nvPr/>
          </p:nvSpPr>
          <p:spPr bwMode="auto">
            <a:xfrm>
              <a:off x="689" y="1434"/>
              <a:ext cx="86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4" name="Line 89"/>
            <p:cNvSpPr>
              <a:spLocks noChangeAspect="1" noChangeShapeType="1"/>
            </p:cNvSpPr>
            <p:nvPr/>
          </p:nvSpPr>
          <p:spPr bwMode="auto">
            <a:xfrm>
              <a:off x="712" y="1457"/>
              <a:ext cx="43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" name="AutoShape 90"/>
            <p:cNvSpPr>
              <a:spLocks noChangeAspect="1" noChangeArrowheads="1"/>
            </p:cNvSpPr>
            <p:nvPr/>
          </p:nvSpPr>
          <p:spPr bwMode="auto">
            <a:xfrm flipV="1">
              <a:off x="663" y="1274"/>
              <a:ext cx="129" cy="1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9050" algn="ctr">
              <a:solidFill>
                <a:srgbClr val="009900"/>
              </a:solidFill>
              <a:miter lim="800000"/>
              <a:headEnd/>
              <a:tailEnd/>
            </a:ln>
          </p:spPr>
          <p:txBody>
            <a:bodyPr wrap="none"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6" name="Line 91"/>
            <p:cNvSpPr>
              <a:spLocks noChangeAspect="1" noChangeShapeType="1"/>
            </p:cNvSpPr>
            <p:nvPr/>
          </p:nvSpPr>
          <p:spPr bwMode="auto">
            <a:xfrm>
              <a:off x="655" y="1407"/>
              <a:ext cx="173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7" name="Freeform 92"/>
            <p:cNvSpPr>
              <a:spLocks noChangeAspect="1"/>
            </p:cNvSpPr>
            <p:nvPr/>
          </p:nvSpPr>
          <p:spPr bwMode="auto">
            <a:xfrm>
              <a:off x="1439" y="2065"/>
              <a:ext cx="1065" cy="2"/>
            </a:xfrm>
            <a:custGeom>
              <a:avLst/>
              <a:gdLst>
                <a:gd name="T0" fmla="*/ 0 w 1121"/>
                <a:gd name="T1" fmla="*/ 1 h 1"/>
                <a:gd name="T2" fmla="*/ 1121 w 1121"/>
                <a:gd name="T3" fmla="*/ 0 h 1"/>
                <a:gd name="T4" fmla="*/ 0 60000 65536"/>
                <a:gd name="T5" fmla="*/ 0 60000 65536"/>
                <a:gd name="T6" fmla="*/ 0 w 1121"/>
                <a:gd name="T7" fmla="*/ 0 h 1"/>
                <a:gd name="T8" fmla="*/ 1121 w 112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21" h="1">
                  <a:moveTo>
                    <a:pt x="0" y="1"/>
                  </a:moveTo>
                  <a:lnTo>
                    <a:pt x="1121" y="0"/>
                  </a:lnTo>
                </a:path>
              </a:pathLst>
            </a:cu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8" name="Line 93"/>
            <p:cNvSpPr>
              <a:spLocks noChangeAspect="1" noChangeShapeType="1"/>
            </p:cNvSpPr>
            <p:nvPr/>
          </p:nvSpPr>
          <p:spPr bwMode="auto">
            <a:xfrm>
              <a:off x="2136" y="2116"/>
              <a:ext cx="86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9" name="Line 94"/>
            <p:cNvSpPr>
              <a:spLocks noChangeAspect="1" noChangeShapeType="1"/>
            </p:cNvSpPr>
            <p:nvPr/>
          </p:nvSpPr>
          <p:spPr bwMode="auto">
            <a:xfrm>
              <a:off x="2159" y="2139"/>
              <a:ext cx="43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0" name="AutoShape 95"/>
            <p:cNvSpPr>
              <a:spLocks noChangeAspect="1" noChangeArrowheads="1"/>
            </p:cNvSpPr>
            <p:nvPr/>
          </p:nvSpPr>
          <p:spPr bwMode="auto">
            <a:xfrm flipV="1">
              <a:off x="2110" y="1956"/>
              <a:ext cx="129" cy="1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9050" algn="ctr">
              <a:solidFill>
                <a:srgbClr val="009900"/>
              </a:solidFill>
              <a:miter lim="800000"/>
              <a:headEnd/>
              <a:tailEnd/>
            </a:ln>
          </p:spPr>
          <p:txBody>
            <a:bodyPr wrap="none"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1" name="Line 96"/>
            <p:cNvSpPr>
              <a:spLocks noChangeAspect="1" noChangeShapeType="1"/>
            </p:cNvSpPr>
            <p:nvPr/>
          </p:nvSpPr>
          <p:spPr bwMode="auto">
            <a:xfrm>
              <a:off x="2101" y="2090"/>
              <a:ext cx="172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2" name="Freeform 97"/>
            <p:cNvSpPr>
              <a:spLocks noChangeAspect="1"/>
            </p:cNvSpPr>
            <p:nvPr/>
          </p:nvSpPr>
          <p:spPr bwMode="auto">
            <a:xfrm>
              <a:off x="336" y="1529"/>
              <a:ext cx="1071" cy="1"/>
            </a:xfrm>
            <a:custGeom>
              <a:avLst/>
              <a:gdLst>
                <a:gd name="T0" fmla="*/ 0 w 1129"/>
                <a:gd name="T1" fmla="*/ 0 h 1"/>
                <a:gd name="T2" fmla="*/ 1129 w 1129"/>
                <a:gd name="T3" fmla="*/ 0 h 1"/>
                <a:gd name="T4" fmla="*/ 0 60000 65536"/>
                <a:gd name="T5" fmla="*/ 0 60000 65536"/>
                <a:gd name="T6" fmla="*/ 0 w 1129"/>
                <a:gd name="T7" fmla="*/ 0 h 1"/>
                <a:gd name="T8" fmla="*/ 1129 w 112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29" h="1">
                  <a:moveTo>
                    <a:pt x="0" y="0"/>
                  </a:moveTo>
                  <a:lnTo>
                    <a:pt x="1129" y="0"/>
                  </a:lnTo>
                </a:path>
              </a:pathLst>
            </a:cu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" name="Freeform 98"/>
            <p:cNvSpPr>
              <a:spLocks noChangeAspect="1"/>
            </p:cNvSpPr>
            <p:nvPr/>
          </p:nvSpPr>
          <p:spPr bwMode="auto">
            <a:xfrm>
              <a:off x="1065" y="1538"/>
              <a:ext cx="54" cy="626"/>
            </a:xfrm>
            <a:custGeom>
              <a:avLst/>
              <a:gdLst>
                <a:gd name="T0" fmla="*/ 1 w 57"/>
                <a:gd name="T1" fmla="*/ 0 h 566"/>
                <a:gd name="T2" fmla="*/ 1 w 57"/>
                <a:gd name="T3" fmla="*/ 90 h 566"/>
                <a:gd name="T4" fmla="*/ 6 w 57"/>
                <a:gd name="T5" fmla="*/ 170 h 566"/>
                <a:gd name="T6" fmla="*/ 12 w 57"/>
                <a:gd name="T7" fmla="*/ 248 h 566"/>
                <a:gd name="T8" fmla="*/ 18 w 57"/>
                <a:gd name="T9" fmla="*/ 347 h 566"/>
                <a:gd name="T10" fmla="*/ 36 w 57"/>
                <a:gd name="T11" fmla="*/ 455 h 566"/>
                <a:gd name="T12" fmla="*/ 57 w 57"/>
                <a:gd name="T13" fmla="*/ 566 h 5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566"/>
                <a:gd name="T23" fmla="*/ 57 w 57"/>
                <a:gd name="T24" fmla="*/ 566 h 56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566">
                  <a:moveTo>
                    <a:pt x="1" y="0"/>
                  </a:moveTo>
                  <a:cubicBezTo>
                    <a:pt x="1" y="30"/>
                    <a:pt x="0" y="62"/>
                    <a:pt x="1" y="90"/>
                  </a:cubicBezTo>
                  <a:cubicBezTo>
                    <a:pt x="2" y="118"/>
                    <a:pt x="4" y="144"/>
                    <a:pt x="6" y="170"/>
                  </a:cubicBezTo>
                  <a:cubicBezTo>
                    <a:pt x="8" y="196"/>
                    <a:pt x="10" y="219"/>
                    <a:pt x="12" y="248"/>
                  </a:cubicBezTo>
                  <a:cubicBezTo>
                    <a:pt x="14" y="277"/>
                    <a:pt x="14" y="313"/>
                    <a:pt x="18" y="347"/>
                  </a:cubicBezTo>
                  <a:cubicBezTo>
                    <a:pt x="22" y="381"/>
                    <a:pt x="30" y="419"/>
                    <a:pt x="36" y="455"/>
                  </a:cubicBezTo>
                  <a:cubicBezTo>
                    <a:pt x="42" y="491"/>
                    <a:pt x="53" y="543"/>
                    <a:pt x="57" y="566"/>
                  </a:cubicBezTo>
                </a:path>
              </a:pathLst>
            </a:cu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" name="Freeform 99"/>
            <p:cNvSpPr>
              <a:spLocks noChangeAspect="1"/>
            </p:cNvSpPr>
            <p:nvPr/>
          </p:nvSpPr>
          <p:spPr bwMode="auto">
            <a:xfrm>
              <a:off x="1122" y="2187"/>
              <a:ext cx="309" cy="326"/>
            </a:xfrm>
            <a:custGeom>
              <a:avLst/>
              <a:gdLst>
                <a:gd name="T0" fmla="*/ 0 w 327"/>
                <a:gd name="T1" fmla="*/ 0 h 294"/>
                <a:gd name="T2" fmla="*/ 36 w 327"/>
                <a:gd name="T3" fmla="*/ 84 h 294"/>
                <a:gd name="T4" fmla="*/ 111 w 327"/>
                <a:gd name="T5" fmla="*/ 189 h 294"/>
                <a:gd name="T6" fmla="*/ 213 w 327"/>
                <a:gd name="T7" fmla="*/ 267 h 294"/>
                <a:gd name="T8" fmla="*/ 327 w 327"/>
                <a:gd name="T9" fmla="*/ 294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7"/>
                <a:gd name="T16" fmla="*/ 0 h 294"/>
                <a:gd name="T17" fmla="*/ 327 w 327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7" h="294">
                  <a:moveTo>
                    <a:pt x="0" y="0"/>
                  </a:moveTo>
                  <a:cubicBezTo>
                    <a:pt x="6" y="14"/>
                    <a:pt x="17" y="52"/>
                    <a:pt x="36" y="84"/>
                  </a:cubicBezTo>
                  <a:cubicBezTo>
                    <a:pt x="55" y="116"/>
                    <a:pt x="82" y="159"/>
                    <a:pt x="111" y="189"/>
                  </a:cubicBezTo>
                  <a:cubicBezTo>
                    <a:pt x="140" y="219"/>
                    <a:pt x="177" y="249"/>
                    <a:pt x="213" y="267"/>
                  </a:cubicBezTo>
                  <a:cubicBezTo>
                    <a:pt x="249" y="285"/>
                    <a:pt x="303" y="289"/>
                    <a:pt x="327" y="294"/>
                  </a:cubicBezTo>
                </a:path>
              </a:pathLst>
            </a:cu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" name="Freeform 100"/>
            <p:cNvSpPr>
              <a:spLocks noChangeAspect="1"/>
            </p:cNvSpPr>
            <p:nvPr/>
          </p:nvSpPr>
          <p:spPr bwMode="auto">
            <a:xfrm>
              <a:off x="1448" y="2078"/>
              <a:ext cx="299" cy="435"/>
            </a:xfrm>
            <a:custGeom>
              <a:avLst/>
              <a:gdLst>
                <a:gd name="T0" fmla="*/ 0 w 315"/>
                <a:gd name="T1" fmla="*/ 393 h 393"/>
                <a:gd name="T2" fmla="*/ 48 w 315"/>
                <a:gd name="T3" fmla="*/ 387 h 393"/>
                <a:gd name="T4" fmla="*/ 123 w 315"/>
                <a:gd name="T5" fmla="*/ 363 h 393"/>
                <a:gd name="T6" fmla="*/ 185 w 315"/>
                <a:gd name="T7" fmla="*/ 328 h 393"/>
                <a:gd name="T8" fmla="*/ 234 w 315"/>
                <a:gd name="T9" fmla="*/ 282 h 393"/>
                <a:gd name="T10" fmla="*/ 285 w 315"/>
                <a:gd name="T11" fmla="*/ 192 h 393"/>
                <a:gd name="T12" fmla="*/ 303 w 315"/>
                <a:gd name="T13" fmla="*/ 111 h 393"/>
                <a:gd name="T14" fmla="*/ 315 w 315"/>
                <a:gd name="T15" fmla="*/ 0 h 3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15"/>
                <a:gd name="T25" fmla="*/ 0 h 393"/>
                <a:gd name="T26" fmla="*/ 315 w 315"/>
                <a:gd name="T27" fmla="*/ 393 h 39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15" h="393">
                  <a:moveTo>
                    <a:pt x="0" y="393"/>
                  </a:moveTo>
                  <a:cubicBezTo>
                    <a:pt x="8" y="392"/>
                    <a:pt x="28" y="392"/>
                    <a:pt x="48" y="387"/>
                  </a:cubicBezTo>
                  <a:cubicBezTo>
                    <a:pt x="68" y="382"/>
                    <a:pt x="100" y="373"/>
                    <a:pt x="123" y="363"/>
                  </a:cubicBezTo>
                  <a:cubicBezTo>
                    <a:pt x="146" y="353"/>
                    <a:pt x="167" y="341"/>
                    <a:pt x="185" y="328"/>
                  </a:cubicBezTo>
                  <a:cubicBezTo>
                    <a:pt x="203" y="315"/>
                    <a:pt x="217" y="305"/>
                    <a:pt x="234" y="282"/>
                  </a:cubicBezTo>
                  <a:cubicBezTo>
                    <a:pt x="251" y="259"/>
                    <a:pt x="274" y="220"/>
                    <a:pt x="285" y="192"/>
                  </a:cubicBezTo>
                  <a:cubicBezTo>
                    <a:pt x="296" y="164"/>
                    <a:pt x="298" y="143"/>
                    <a:pt x="303" y="111"/>
                  </a:cubicBezTo>
                  <a:cubicBezTo>
                    <a:pt x="308" y="79"/>
                    <a:pt x="312" y="23"/>
                    <a:pt x="315" y="0"/>
                  </a:cubicBezTo>
                </a:path>
              </a:pathLst>
            </a:cu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" name="Freeform 101"/>
            <p:cNvSpPr>
              <a:spLocks noChangeAspect="1"/>
            </p:cNvSpPr>
            <p:nvPr/>
          </p:nvSpPr>
          <p:spPr bwMode="auto">
            <a:xfrm>
              <a:off x="720" y="1538"/>
              <a:ext cx="87" cy="652"/>
            </a:xfrm>
            <a:custGeom>
              <a:avLst/>
              <a:gdLst>
                <a:gd name="T0" fmla="*/ 1 w 91"/>
                <a:gd name="T1" fmla="*/ 0 h 589"/>
                <a:gd name="T2" fmla="*/ 0 w 91"/>
                <a:gd name="T3" fmla="*/ 89 h 589"/>
                <a:gd name="T4" fmla="*/ 3 w 91"/>
                <a:gd name="T5" fmla="*/ 155 h 589"/>
                <a:gd name="T6" fmla="*/ 9 w 91"/>
                <a:gd name="T7" fmla="*/ 236 h 589"/>
                <a:gd name="T8" fmla="*/ 27 w 91"/>
                <a:gd name="T9" fmla="*/ 359 h 589"/>
                <a:gd name="T10" fmla="*/ 45 w 91"/>
                <a:gd name="T11" fmla="*/ 446 h 589"/>
                <a:gd name="T12" fmla="*/ 91 w 91"/>
                <a:gd name="T13" fmla="*/ 589 h 5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"/>
                <a:gd name="T22" fmla="*/ 0 h 589"/>
                <a:gd name="T23" fmla="*/ 91 w 91"/>
                <a:gd name="T24" fmla="*/ 589 h 5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" h="589">
                  <a:moveTo>
                    <a:pt x="1" y="0"/>
                  </a:moveTo>
                  <a:cubicBezTo>
                    <a:pt x="1" y="15"/>
                    <a:pt x="0" y="63"/>
                    <a:pt x="0" y="89"/>
                  </a:cubicBezTo>
                  <a:cubicBezTo>
                    <a:pt x="0" y="115"/>
                    <a:pt x="2" y="131"/>
                    <a:pt x="3" y="155"/>
                  </a:cubicBezTo>
                  <a:cubicBezTo>
                    <a:pt x="4" y="179"/>
                    <a:pt x="5" y="202"/>
                    <a:pt x="9" y="236"/>
                  </a:cubicBezTo>
                  <a:cubicBezTo>
                    <a:pt x="13" y="270"/>
                    <a:pt x="21" y="324"/>
                    <a:pt x="27" y="359"/>
                  </a:cubicBezTo>
                  <a:cubicBezTo>
                    <a:pt x="33" y="394"/>
                    <a:pt x="34" y="408"/>
                    <a:pt x="45" y="446"/>
                  </a:cubicBezTo>
                  <a:cubicBezTo>
                    <a:pt x="56" y="484"/>
                    <a:pt x="82" y="560"/>
                    <a:pt x="91" y="589"/>
                  </a:cubicBezTo>
                </a:path>
              </a:pathLst>
            </a:cu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" name="Freeform 102"/>
            <p:cNvSpPr>
              <a:spLocks noChangeAspect="1"/>
            </p:cNvSpPr>
            <p:nvPr/>
          </p:nvSpPr>
          <p:spPr bwMode="auto">
            <a:xfrm>
              <a:off x="807" y="2190"/>
              <a:ext cx="354" cy="440"/>
            </a:xfrm>
            <a:custGeom>
              <a:avLst/>
              <a:gdLst>
                <a:gd name="T0" fmla="*/ 0 w 374"/>
                <a:gd name="T1" fmla="*/ 0 h 397"/>
                <a:gd name="T2" fmla="*/ 46 w 374"/>
                <a:gd name="T3" fmla="*/ 91 h 397"/>
                <a:gd name="T4" fmla="*/ 104 w 374"/>
                <a:gd name="T5" fmla="*/ 181 h 397"/>
                <a:gd name="T6" fmla="*/ 185 w 374"/>
                <a:gd name="T7" fmla="*/ 265 h 397"/>
                <a:gd name="T8" fmla="*/ 272 w 374"/>
                <a:gd name="T9" fmla="*/ 337 h 397"/>
                <a:gd name="T10" fmla="*/ 374 w 374"/>
                <a:gd name="T11" fmla="*/ 397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4"/>
                <a:gd name="T19" fmla="*/ 0 h 397"/>
                <a:gd name="T20" fmla="*/ 374 w 374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4" h="397">
                  <a:moveTo>
                    <a:pt x="0" y="0"/>
                  </a:moveTo>
                  <a:cubicBezTo>
                    <a:pt x="15" y="30"/>
                    <a:pt x="29" y="61"/>
                    <a:pt x="46" y="91"/>
                  </a:cubicBezTo>
                  <a:cubicBezTo>
                    <a:pt x="63" y="121"/>
                    <a:pt x="81" y="152"/>
                    <a:pt x="104" y="181"/>
                  </a:cubicBezTo>
                  <a:cubicBezTo>
                    <a:pt x="127" y="210"/>
                    <a:pt x="157" y="239"/>
                    <a:pt x="185" y="265"/>
                  </a:cubicBezTo>
                  <a:cubicBezTo>
                    <a:pt x="213" y="291"/>
                    <a:pt x="241" y="315"/>
                    <a:pt x="272" y="337"/>
                  </a:cubicBezTo>
                  <a:cubicBezTo>
                    <a:pt x="303" y="359"/>
                    <a:pt x="353" y="385"/>
                    <a:pt x="374" y="397"/>
                  </a:cubicBezTo>
                </a:path>
              </a:pathLst>
            </a:cu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" name="Freeform 103"/>
            <p:cNvSpPr>
              <a:spLocks noChangeAspect="1"/>
            </p:cNvSpPr>
            <p:nvPr/>
          </p:nvSpPr>
          <p:spPr bwMode="auto">
            <a:xfrm>
              <a:off x="1190" y="2602"/>
              <a:ext cx="521" cy="92"/>
            </a:xfrm>
            <a:custGeom>
              <a:avLst/>
              <a:gdLst>
                <a:gd name="T0" fmla="*/ 0 w 549"/>
                <a:gd name="T1" fmla="*/ 36 h 83"/>
                <a:gd name="T2" fmla="*/ 138 w 549"/>
                <a:gd name="T3" fmla="*/ 72 h 83"/>
                <a:gd name="T4" fmla="*/ 277 w 549"/>
                <a:gd name="T5" fmla="*/ 81 h 83"/>
                <a:gd name="T6" fmla="*/ 360 w 549"/>
                <a:gd name="T7" fmla="*/ 75 h 83"/>
                <a:gd name="T8" fmla="*/ 504 w 549"/>
                <a:gd name="T9" fmla="*/ 33 h 83"/>
                <a:gd name="T10" fmla="*/ 549 w 549"/>
                <a:gd name="T11" fmla="*/ 0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9"/>
                <a:gd name="T19" fmla="*/ 0 h 83"/>
                <a:gd name="T20" fmla="*/ 549 w 549"/>
                <a:gd name="T21" fmla="*/ 83 h 8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9" h="83">
                  <a:moveTo>
                    <a:pt x="0" y="36"/>
                  </a:moveTo>
                  <a:cubicBezTo>
                    <a:pt x="22" y="42"/>
                    <a:pt x="92" y="65"/>
                    <a:pt x="138" y="72"/>
                  </a:cubicBezTo>
                  <a:cubicBezTo>
                    <a:pt x="184" y="79"/>
                    <a:pt x="240" y="80"/>
                    <a:pt x="277" y="81"/>
                  </a:cubicBezTo>
                  <a:cubicBezTo>
                    <a:pt x="314" y="82"/>
                    <a:pt x="322" y="83"/>
                    <a:pt x="360" y="75"/>
                  </a:cubicBezTo>
                  <a:cubicBezTo>
                    <a:pt x="398" y="67"/>
                    <a:pt x="473" y="46"/>
                    <a:pt x="504" y="33"/>
                  </a:cubicBezTo>
                  <a:cubicBezTo>
                    <a:pt x="535" y="20"/>
                    <a:pt x="540" y="7"/>
                    <a:pt x="549" y="0"/>
                  </a:cubicBezTo>
                </a:path>
              </a:pathLst>
            </a:cu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" name="Freeform 104"/>
            <p:cNvSpPr>
              <a:spLocks noChangeAspect="1"/>
            </p:cNvSpPr>
            <p:nvPr/>
          </p:nvSpPr>
          <p:spPr bwMode="auto">
            <a:xfrm>
              <a:off x="1747" y="2072"/>
              <a:ext cx="257" cy="518"/>
            </a:xfrm>
            <a:custGeom>
              <a:avLst/>
              <a:gdLst>
                <a:gd name="T0" fmla="*/ 0 w 270"/>
                <a:gd name="T1" fmla="*/ 468 h 468"/>
                <a:gd name="T2" fmla="*/ 87 w 270"/>
                <a:gd name="T3" fmla="*/ 405 h 468"/>
                <a:gd name="T4" fmla="*/ 147 w 270"/>
                <a:gd name="T5" fmla="*/ 336 h 468"/>
                <a:gd name="T6" fmla="*/ 188 w 270"/>
                <a:gd name="T7" fmla="*/ 289 h 468"/>
                <a:gd name="T8" fmla="*/ 233 w 270"/>
                <a:gd name="T9" fmla="*/ 198 h 468"/>
                <a:gd name="T10" fmla="*/ 261 w 270"/>
                <a:gd name="T11" fmla="*/ 102 h 468"/>
                <a:gd name="T12" fmla="*/ 270 w 270"/>
                <a:gd name="T13" fmla="*/ 0 h 4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0"/>
                <a:gd name="T22" fmla="*/ 0 h 468"/>
                <a:gd name="T23" fmla="*/ 270 w 270"/>
                <a:gd name="T24" fmla="*/ 468 h 4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0" h="468">
                  <a:moveTo>
                    <a:pt x="0" y="468"/>
                  </a:moveTo>
                  <a:cubicBezTo>
                    <a:pt x="14" y="458"/>
                    <a:pt x="63" y="427"/>
                    <a:pt x="87" y="405"/>
                  </a:cubicBezTo>
                  <a:cubicBezTo>
                    <a:pt x="111" y="383"/>
                    <a:pt x="130" y="355"/>
                    <a:pt x="147" y="336"/>
                  </a:cubicBezTo>
                  <a:cubicBezTo>
                    <a:pt x="164" y="317"/>
                    <a:pt x="174" y="312"/>
                    <a:pt x="188" y="289"/>
                  </a:cubicBezTo>
                  <a:cubicBezTo>
                    <a:pt x="202" y="266"/>
                    <a:pt x="221" y="229"/>
                    <a:pt x="233" y="198"/>
                  </a:cubicBezTo>
                  <a:cubicBezTo>
                    <a:pt x="245" y="167"/>
                    <a:pt x="255" y="135"/>
                    <a:pt x="261" y="102"/>
                  </a:cubicBezTo>
                  <a:cubicBezTo>
                    <a:pt x="267" y="69"/>
                    <a:pt x="268" y="21"/>
                    <a:pt x="270" y="0"/>
                  </a:cubicBezTo>
                </a:path>
              </a:pathLst>
            </a:cu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0" name="Text Box 105"/>
            <p:cNvSpPr txBox="1">
              <a:spLocks noChangeAspect="1" noChangeArrowheads="1"/>
            </p:cNvSpPr>
            <p:nvPr/>
          </p:nvSpPr>
          <p:spPr bwMode="auto">
            <a:xfrm>
              <a:off x="1980" y="2374"/>
              <a:ext cx="4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latin typeface="Arial" charset="0"/>
                </a:rPr>
                <a:t>透水层</a:t>
              </a:r>
            </a:p>
          </p:txBody>
        </p:sp>
        <p:sp>
          <p:nvSpPr>
            <p:cNvPr id="141" name="Text Box 106"/>
            <p:cNvSpPr txBox="1">
              <a:spLocks noChangeAspect="1" noChangeArrowheads="1"/>
            </p:cNvSpPr>
            <p:nvPr/>
          </p:nvSpPr>
          <p:spPr bwMode="auto">
            <a:xfrm>
              <a:off x="1198" y="2909"/>
              <a:ext cx="6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latin typeface="Arial" charset="0"/>
                </a:rPr>
                <a:t>不透水层</a:t>
              </a:r>
            </a:p>
          </p:txBody>
        </p:sp>
        <p:sp>
          <p:nvSpPr>
            <p:cNvPr id="142" name="Text Box 107"/>
            <p:cNvSpPr txBox="1">
              <a:spLocks noChangeAspect="1" noChangeArrowheads="1"/>
            </p:cNvSpPr>
            <p:nvPr/>
          </p:nvSpPr>
          <p:spPr bwMode="auto">
            <a:xfrm>
              <a:off x="1773" y="1549"/>
              <a:ext cx="3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latin typeface="Arial" charset="0"/>
                </a:rPr>
                <a:t>基坑</a:t>
              </a:r>
            </a:p>
          </p:txBody>
        </p:sp>
        <p:sp>
          <p:nvSpPr>
            <p:cNvPr id="143" name="AutoShape 108"/>
            <p:cNvSpPr>
              <a:spLocks noChangeAspect="1" noChangeArrowheads="1"/>
            </p:cNvSpPr>
            <p:nvPr/>
          </p:nvSpPr>
          <p:spPr bwMode="auto">
            <a:xfrm>
              <a:off x="1524" y="935"/>
              <a:ext cx="526" cy="277"/>
            </a:xfrm>
            <a:prstGeom prst="wedgeRoundRectCallout">
              <a:avLst>
                <a:gd name="adj1" fmla="val -65514"/>
                <a:gd name="adj2" fmla="val 105037"/>
                <a:gd name="adj3" fmla="val 16667"/>
              </a:avLst>
            </a:prstGeom>
            <a:noFill/>
            <a:ln w="19050" algn="ctr">
              <a:solidFill>
                <a:srgbClr val="FF66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990033"/>
                  </a:solidFill>
                  <a:latin typeface="Arial" charset="0"/>
                </a:rPr>
                <a:t>板桩墙</a:t>
              </a:r>
            </a:p>
          </p:txBody>
        </p:sp>
      </p:grpSp>
      <p:sp>
        <p:nvSpPr>
          <p:cNvPr id="210" name="Rectangle 109" descr="小棋盘"/>
          <p:cNvSpPr>
            <a:spLocks noChangeAspect="1" noChangeArrowheads="1"/>
          </p:cNvSpPr>
          <p:nvPr/>
        </p:nvSpPr>
        <p:spPr bwMode="auto">
          <a:xfrm rot="1110783">
            <a:off x="1421263" y="4153359"/>
            <a:ext cx="514350" cy="179388"/>
          </a:xfrm>
          <a:prstGeom prst="rect">
            <a:avLst/>
          </a:prstGeom>
          <a:pattFill prst="smCheck">
            <a:fgClr>
              <a:schemeClr val="accent2"/>
            </a:fgClr>
            <a:bgClr>
              <a:schemeClr val="bg1"/>
            </a:bgClr>
          </a:pattFill>
          <a:ln w="19050" algn="ctr">
            <a:solidFill>
              <a:srgbClr val="990033"/>
            </a:solidFill>
            <a:miter lim="800000"/>
            <a:headEnd/>
            <a:tailEnd/>
          </a:ln>
        </p:spPr>
        <p:txBody>
          <a:bodyPr lIns="0" rIns="0" anchor="ctr">
            <a:spAutoFit/>
          </a:bodyPr>
          <a:lstStyle/>
          <a:p>
            <a:endParaRPr lang="zh-CN" altLang="en-US"/>
          </a:p>
        </p:txBody>
      </p:sp>
      <p:sp>
        <p:nvSpPr>
          <p:cNvPr id="113" name="Line 23"/>
          <p:cNvSpPr>
            <a:spLocks noChangeAspect="1" noChangeShapeType="1"/>
          </p:cNvSpPr>
          <p:nvPr/>
        </p:nvSpPr>
        <p:spPr bwMode="auto">
          <a:xfrm>
            <a:off x="4130675" y="1086958"/>
            <a:ext cx="4267200" cy="0"/>
          </a:xfrm>
          <a:prstGeom prst="line">
            <a:avLst/>
          </a:prstGeom>
          <a:noFill/>
          <a:ln w="28575">
            <a:solidFill>
              <a:srgbClr val="99003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14" name="Line 26"/>
          <p:cNvSpPr>
            <a:spLocks noChangeAspect="1" noChangeShapeType="1"/>
          </p:cNvSpPr>
          <p:nvPr/>
        </p:nvSpPr>
        <p:spPr bwMode="auto">
          <a:xfrm>
            <a:off x="7296150" y="1404458"/>
            <a:ext cx="950913" cy="0"/>
          </a:xfrm>
          <a:prstGeom prst="line">
            <a:avLst/>
          </a:prstGeom>
          <a:noFill/>
          <a:ln w="28575">
            <a:solidFill>
              <a:srgbClr val="99003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115" name="组合 114"/>
          <p:cNvGrpSpPr/>
          <p:nvPr/>
        </p:nvGrpSpPr>
        <p:grpSpPr>
          <a:xfrm>
            <a:off x="5840413" y="837721"/>
            <a:ext cx="84138" cy="1084263"/>
            <a:chOff x="5840413" y="1371121"/>
            <a:chExt cx="84138" cy="1084263"/>
          </a:xfrm>
        </p:grpSpPr>
        <p:sp>
          <p:nvSpPr>
            <p:cNvPr id="118" name="Freeform 25"/>
            <p:cNvSpPr>
              <a:spLocks noChangeAspect="1"/>
            </p:cNvSpPr>
            <p:nvPr/>
          </p:nvSpPr>
          <p:spPr bwMode="auto">
            <a:xfrm>
              <a:off x="5840413" y="1371121"/>
              <a:ext cx="84138" cy="1071563"/>
            </a:xfrm>
            <a:custGeom>
              <a:avLst/>
              <a:gdLst>
                <a:gd name="T0" fmla="*/ 0 w 48"/>
                <a:gd name="T1" fmla="*/ 3 h 614"/>
                <a:gd name="T2" fmla="*/ 3 w 48"/>
                <a:gd name="T3" fmla="*/ 614 h 614"/>
                <a:gd name="T4" fmla="*/ 48 w 48"/>
                <a:gd name="T5" fmla="*/ 614 h 614"/>
                <a:gd name="T6" fmla="*/ 39 w 48"/>
                <a:gd name="T7" fmla="*/ 0 h 6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614"/>
                <a:gd name="T14" fmla="*/ 48 w 48"/>
                <a:gd name="T15" fmla="*/ 614 h 6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614">
                  <a:moveTo>
                    <a:pt x="0" y="3"/>
                  </a:moveTo>
                  <a:lnTo>
                    <a:pt x="3" y="614"/>
                  </a:lnTo>
                  <a:lnTo>
                    <a:pt x="48" y="614"/>
                  </a:lnTo>
                  <a:lnTo>
                    <a:pt x="39" y="0"/>
                  </a:lnTo>
                </a:path>
              </a:pathLst>
            </a:cu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11" name="Freeform 38"/>
            <p:cNvSpPr>
              <a:spLocks noChangeAspect="1"/>
            </p:cNvSpPr>
            <p:nvPr/>
          </p:nvSpPr>
          <p:spPr bwMode="auto">
            <a:xfrm>
              <a:off x="5851525" y="1609246"/>
              <a:ext cx="63500" cy="846138"/>
            </a:xfrm>
            <a:custGeom>
              <a:avLst/>
              <a:gdLst>
                <a:gd name="T0" fmla="*/ 0 w 36"/>
                <a:gd name="T1" fmla="*/ 3 h 484"/>
                <a:gd name="T2" fmla="*/ 32 w 36"/>
                <a:gd name="T3" fmla="*/ 0 h 484"/>
                <a:gd name="T4" fmla="*/ 36 w 36"/>
                <a:gd name="T5" fmla="*/ 484 h 484"/>
                <a:gd name="T6" fmla="*/ 2 w 36"/>
                <a:gd name="T7" fmla="*/ 484 h 484"/>
                <a:gd name="T8" fmla="*/ 0 w 36"/>
                <a:gd name="T9" fmla="*/ 3 h 4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"/>
                <a:gd name="T16" fmla="*/ 0 h 484"/>
                <a:gd name="T17" fmla="*/ 36 w 36"/>
                <a:gd name="T18" fmla="*/ 484 h 4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" h="484">
                  <a:moveTo>
                    <a:pt x="0" y="3"/>
                  </a:moveTo>
                  <a:lnTo>
                    <a:pt x="32" y="0"/>
                  </a:lnTo>
                  <a:lnTo>
                    <a:pt x="36" y="484"/>
                  </a:lnTo>
                  <a:lnTo>
                    <a:pt x="2" y="484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7239000" y="805971"/>
            <a:ext cx="84138" cy="1531937"/>
            <a:chOff x="7239000" y="1339371"/>
            <a:chExt cx="84138" cy="1531937"/>
          </a:xfrm>
        </p:grpSpPr>
        <p:sp>
          <p:nvSpPr>
            <p:cNvPr id="213" name="Freeform 24"/>
            <p:cNvSpPr>
              <a:spLocks noChangeAspect="1"/>
            </p:cNvSpPr>
            <p:nvPr/>
          </p:nvSpPr>
          <p:spPr bwMode="auto">
            <a:xfrm>
              <a:off x="7239000" y="1339371"/>
              <a:ext cx="84138" cy="1520825"/>
            </a:xfrm>
            <a:custGeom>
              <a:avLst/>
              <a:gdLst>
                <a:gd name="T0" fmla="*/ 0 w 48"/>
                <a:gd name="T1" fmla="*/ 0 h 871"/>
                <a:gd name="T2" fmla="*/ 1 w 48"/>
                <a:gd name="T3" fmla="*/ 871 h 871"/>
                <a:gd name="T4" fmla="*/ 46 w 48"/>
                <a:gd name="T5" fmla="*/ 871 h 871"/>
                <a:gd name="T6" fmla="*/ 48 w 48"/>
                <a:gd name="T7" fmla="*/ 0 h 8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871"/>
                <a:gd name="T14" fmla="*/ 48 w 48"/>
                <a:gd name="T15" fmla="*/ 871 h 8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871">
                  <a:moveTo>
                    <a:pt x="0" y="0"/>
                  </a:moveTo>
                  <a:lnTo>
                    <a:pt x="1" y="871"/>
                  </a:lnTo>
                  <a:lnTo>
                    <a:pt x="46" y="871"/>
                  </a:lnTo>
                  <a:lnTo>
                    <a:pt x="48" y="0"/>
                  </a:lnTo>
                </a:path>
              </a:pathLst>
            </a:cu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14" name="Freeform 39"/>
            <p:cNvSpPr>
              <a:spLocks noChangeAspect="1"/>
            </p:cNvSpPr>
            <p:nvPr/>
          </p:nvSpPr>
          <p:spPr bwMode="auto">
            <a:xfrm>
              <a:off x="7240588" y="1931508"/>
              <a:ext cx="80963" cy="939800"/>
            </a:xfrm>
            <a:custGeom>
              <a:avLst/>
              <a:gdLst>
                <a:gd name="T0" fmla="*/ 0 w 38"/>
                <a:gd name="T1" fmla="*/ 0 h 539"/>
                <a:gd name="T2" fmla="*/ 35 w 38"/>
                <a:gd name="T3" fmla="*/ 0 h 539"/>
                <a:gd name="T4" fmla="*/ 38 w 38"/>
                <a:gd name="T5" fmla="*/ 539 h 539"/>
                <a:gd name="T6" fmla="*/ 0 w 38"/>
                <a:gd name="T7" fmla="*/ 539 h 539"/>
                <a:gd name="T8" fmla="*/ 0 w 38"/>
                <a:gd name="T9" fmla="*/ 0 h 5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39"/>
                <a:gd name="T17" fmla="*/ 38 w 38"/>
                <a:gd name="T18" fmla="*/ 539 h 5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39">
                  <a:moveTo>
                    <a:pt x="0" y="0"/>
                  </a:moveTo>
                  <a:lnTo>
                    <a:pt x="35" y="0"/>
                  </a:lnTo>
                  <a:lnTo>
                    <a:pt x="38" y="539"/>
                  </a:lnTo>
                  <a:lnTo>
                    <a:pt x="0" y="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4140200" y="1086958"/>
            <a:ext cx="1020763" cy="2216151"/>
            <a:chOff x="4140200" y="1620358"/>
            <a:chExt cx="1020763" cy="2216151"/>
          </a:xfrm>
        </p:grpSpPr>
        <p:sp>
          <p:nvSpPr>
            <p:cNvPr id="216" name="Line 33"/>
            <p:cNvSpPr>
              <a:spLocks noChangeAspect="1" noChangeShapeType="1"/>
            </p:cNvSpPr>
            <p:nvPr/>
          </p:nvSpPr>
          <p:spPr bwMode="auto">
            <a:xfrm>
              <a:off x="4764088" y="2412521"/>
              <a:ext cx="396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17" name="Line 34"/>
            <p:cNvSpPr>
              <a:spLocks noChangeAspect="1" noChangeShapeType="1"/>
            </p:cNvSpPr>
            <p:nvPr/>
          </p:nvSpPr>
          <p:spPr bwMode="auto">
            <a:xfrm flipV="1">
              <a:off x="4991100" y="1620358"/>
              <a:ext cx="0" cy="792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18" name="Line 35"/>
            <p:cNvSpPr>
              <a:spLocks noChangeAspect="1" noChangeShapeType="1"/>
            </p:cNvSpPr>
            <p:nvPr/>
          </p:nvSpPr>
          <p:spPr bwMode="auto">
            <a:xfrm>
              <a:off x="5002213" y="2412521"/>
              <a:ext cx="0" cy="14239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19" name="Line 36"/>
            <p:cNvSpPr>
              <a:spLocks noChangeAspect="1" noChangeShapeType="1"/>
            </p:cNvSpPr>
            <p:nvPr/>
          </p:nvSpPr>
          <p:spPr bwMode="auto">
            <a:xfrm>
              <a:off x="4495800" y="1620358"/>
              <a:ext cx="0" cy="2216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0" name="Text Box 40"/>
            <p:cNvSpPr txBox="1">
              <a:spLocks noChangeArrowheads="1"/>
            </p:cNvSpPr>
            <p:nvPr/>
          </p:nvSpPr>
          <p:spPr bwMode="auto">
            <a:xfrm>
              <a:off x="4140200" y="2396646"/>
              <a:ext cx="3190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A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21" name="Text Box 42"/>
            <p:cNvSpPr txBox="1">
              <a:spLocks noChangeArrowheads="1"/>
            </p:cNvSpPr>
            <p:nvPr/>
          </p:nvSpPr>
          <p:spPr bwMode="auto">
            <a:xfrm>
              <a:off x="4662488" y="2769708"/>
              <a:ext cx="2730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z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A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2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0925599"/>
                </p:ext>
              </p:extLst>
            </p:nvPr>
          </p:nvGraphicFramePr>
          <p:xfrm>
            <a:off x="4562475" y="1667983"/>
            <a:ext cx="403225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54" name="公式" r:id="rId4" imgW="241200" imgH="431640" progId="Equation.3">
                    <p:embed/>
                  </p:oleObj>
                </mc:Choice>
                <mc:Fallback>
                  <p:oleObj name="公式" r:id="rId4" imgW="2412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2475" y="1667983"/>
                          <a:ext cx="403225" cy="720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3" name="组合 222"/>
          <p:cNvGrpSpPr/>
          <p:nvPr/>
        </p:nvGrpSpPr>
        <p:grpSpPr>
          <a:xfrm>
            <a:off x="7613650" y="1404458"/>
            <a:ext cx="1357313" cy="1898650"/>
            <a:chOff x="7613650" y="1937858"/>
            <a:chExt cx="1357313" cy="1898650"/>
          </a:xfrm>
        </p:grpSpPr>
        <p:sp>
          <p:nvSpPr>
            <p:cNvPr id="224" name="Line 28"/>
            <p:cNvSpPr>
              <a:spLocks noChangeAspect="1" noChangeShapeType="1"/>
            </p:cNvSpPr>
            <p:nvPr/>
          </p:nvSpPr>
          <p:spPr bwMode="auto">
            <a:xfrm>
              <a:off x="7613650" y="2887183"/>
              <a:ext cx="6334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" name="Line 29"/>
            <p:cNvSpPr>
              <a:spLocks noChangeAspect="1" noChangeShapeType="1"/>
            </p:cNvSpPr>
            <p:nvPr/>
          </p:nvSpPr>
          <p:spPr bwMode="auto">
            <a:xfrm>
              <a:off x="8326438" y="1937858"/>
              <a:ext cx="395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6" name="Line 30"/>
            <p:cNvSpPr>
              <a:spLocks noChangeAspect="1" noChangeShapeType="1"/>
            </p:cNvSpPr>
            <p:nvPr/>
          </p:nvSpPr>
          <p:spPr bwMode="auto">
            <a:xfrm>
              <a:off x="8088313" y="1937858"/>
              <a:ext cx="0" cy="9493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7" name="Line 31"/>
            <p:cNvSpPr>
              <a:spLocks noChangeAspect="1" noChangeShapeType="1"/>
            </p:cNvSpPr>
            <p:nvPr/>
          </p:nvSpPr>
          <p:spPr bwMode="auto">
            <a:xfrm>
              <a:off x="8088313" y="2887183"/>
              <a:ext cx="0" cy="9493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8" name="Line 32"/>
            <p:cNvSpPr>
              <a:spLocks noChangeAspect="1" noChangeShapeType="1"/>
            </p:cNvSpPr>
            <p:nvPr/>
          </p:nvSpPr>
          <p:spPr bwMode="auto">
            <a:xfrm>
              <a:off x="8562975" y="1937858"/>
              <a:ext cx="0" cy="18986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9" name="Text Box 41"/>
            <p:cNvSpPr txBox="1">
              <a:spLocks noChangeArrowheads="1"/>
            </p:cNvSpPr>
            <p:nvPr/>
          </p:nvSpPr>
          <p:spPr bwMode="auto">
            <a:xfrm>
              <a:off x="8662988" y="2531583"/>
              <a:ext cx="3079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B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30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5542205"/>
                </p:ext>
              </p:extLst>
            </p:nvPr>
          </p:nvGraphicFramePr>
          <p:xfrm>
            <a:off x="8116888" y="2099783"/>
            <a:ext cx="411163" cy="733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55" name="公式" r:id="rId6" imgW="241200" imgH="431640" progId="Equation.3">
                    <p:embed/>
                  </p:oleObj>
                </mc:Choice>
                <mc:Fallback>
                  <p:oleObj name="公式" r:id="rId6" imgW="24120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16888" y="2099783"/>
                          <a:ext cx="411163" cy="733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" name="Text Box 45"/>
            <p:cNvSpPr txBox="1">
              <a:spLocks noChangeArrowheads="1"/>
            </p:cNvSpPr>
            <p:nvPr/>
          </p:nvSpPr>
          <p:spPr bwMode="auto">
            <a:xfrm>
              <a:off x="8175625" y="3057046"/>
              <a:ext cx="2730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z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B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232" name="组合 231"/>
          <p:cNvGrpSpPr/>
          <p:nvPr/>
        </p:nvGrpSpPr>
        <p:grpSpPr>
          <a:xfrm>
            <a:off x="8088313" y="990121"/>
            <a:ext cx="558800" cy="461963"/>
            <a:chOff x="8088313" y="1523521"/>
            <a:chExt cx="558800" cy="461963"/>
          </a:xfrm>
        </p:grpSpPr>
        <p:sp>
          <p:nvSpPr>
            <p:cNvPr id="233" name="Line 27"/>
            <p:cNvSpPr>
              <a:spLocks noChangeAspect="1" noChangeShapeType="1"/>
            </p:cNvSpPr>
            <p:nvPr/>
          </p:nvSpPr>
          <p:spPr bwMode="auto">
            <a:xfrm>
              <a:off x="8088313" y="1620358"/>
              <a:ext cx="0" cy="317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234" name="Text Box 46"/>
            <p:cNvSpPr txBox="1">
              <a:spLocks noChangeArrowheads="1"/>
            </p:cNvSpPr>
            <p:nvPr/>
          </p:nvSpPr>
          <p:spPr bwMode="auto">
            <a:xfrm>
              <a:off x="8283575" y="1523521"/>
              <a:ext cx="36353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l-GR" altLang="zh-CN" sz="2400" b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Δ</a:t>
              </a:r>
              <a:r>
                <a:rPr lang="en-US" altLang="zh-CN" sz="2400" b="1" i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h</a:t>
              </a:r>
              <a:endParaRPr lang="el-GR" altLang="zh-CN" sz="2400" b="1" i="1" dirty="0">
                <a:solidFill>
                  <a:srgbClr val="C00000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>
            <a:off x="4130675" y="2934808"/>
            <a:ext cx="4621213" cy="382588"/>
            <a:chOff x="4130675" y="3468208"/>
            <a:chExt cx="4621213" cy="382588"/>
          </a:xfrm>
        </p:grpSpPr>
        <p:sp>
          <p:nvSpPr>
            <p:cNvPr id="236" name="Line 22"/>
            <p:cNvSpPr>
              <a:spLocks noChangeAspect="1" noChangeShapeType="1"/>
            </p:cNvSpPr>
            <p:nvPr/>
          </p:nvSpPr>
          <p:spPr bwMode="auto">
            <a:xfrm>
              <a:off x="4130675" y="3850796"/>
              <a:ext cx="4621213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37" name="Text Box 47"/>
            <p:cNvSpPr txBox="1">
              <a:spLocks noChangeArrowheads="1"/>
            </p:cNvSpPr>
            <p:nvPr/>
          </p:nvSpPr>
          <p:spPr bwMode="auto">
            <a:xfrm>
              <a:off x="5873750" y="3468208"/>
              <a:ext cx="7667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基准面</a:t>
              </a:r>
            </a:p>
          </p:txBody>
        </p:sp>
      </p:grpSp>
      <p:sp>
        <p:nvSpPr>
          <p:cNvPr id="238" name="Text Box 3"/>
          <p:cNvSpPr txBox="1">
            <a:spLocks noChangeArrowheads="1"/>
          </p:cNvSpPr>
          <p:nvPr/>
        </p:nvSpPr>
        <p:spPr bwMode="auto">
          <a:xfrm>
            <a:off x="4368772" y="3828236"/>
            <a:ext cx="4216428" cy="42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9875" indent="-269875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渗流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流向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，因此有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200" b="1" i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200" b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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200" b="1" i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endParaRPr lang="en-US" altLang="zh-CN" sz="2200" b="1" i="1" baseline="-25000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9" name="Text Box 3"/>
          <p:cNvSpPr txBox="1">
            <a:spLocks noChangeArrowheads="1"/>
          </p:cNvSpPr>
          <p:nvPr/>
        </p:nvSpPr>
        <p:spPr bwMode="auto">
          <a:xfrm>
            <a:off x="4408196" y="4298807"/>
            <a:ext cx="4342104" cy="1269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9875" indent="-269875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渗流水头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差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 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表示单位重量水体从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点向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点流动时，为克服阻力而损失的能量</a:t>
            </a:r>
          </a:p>
        </p:txBody>
      </p:sp>
    </p:spTree>
    <p:extLst>
      <p:ext uri="{BB962C8B-B14F-4D97-AF65-F5344CB8AC3E}">
        <p14:creationId xmlns:p14="http://schemas.microsoft.com/office/powerpoint/2010/main" val="252421965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05556E-6 7.10155E-7 L 0.53455 -0.2329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719" y="-116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6" grpId="0"/>
      <p:bldP spid="117" grpId="0"/>
      <p:bldP spid="210" grpId="0" animBg="1"/>
      <p:bldP spid="210" grpId="1" animBg="1"/>
      <p:bldP spid="210" grpId="2" animBg="1"/>
      <p:bldP spid="113" grpId="0" animBg="1"/>
      <p:bldP spid="114" grpId="0" animBg="1"/>
      <p:bldP spid="238" grpId="0"/>
      <p:bldP spid="2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275" name="Text Box 3"/>
          <p:cNvSpPr txBox="1">
            <a:spLocks noChangeArrowheads="1"/>
          </p:cNvSpPr>
          <p:nvPr/>
        </p:nvSpPr>
        <p:spPr bwMode="auto">
          <a:xfrm>
            <a:off x="535974" y="1357277"/>
            <a:ext cx="3621399" cy="2437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将图中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两点的测管水头连接起来，可得到测管水头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61950" indent="-36195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由于渗流过程中存在能量损失，测管水头线沿渗流方向逐步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下降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06" name="Text Box 5"/>
          <p:cNvSpPr txBox="1">
            <a:spLocks noChangeArrowheads="1"/>
          </p:cNvSpPr>
          <p:nvPr/>
        </p:nvSpPr>
        <p:spPr bwMode="auto">
          <a:xfrm>
            <a:off x="2215357" y="5663553"/>
            <a:ext cx="596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水力坡降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03888" y="2608266"/>
            <a:ext cx="1508125" cy="727076"/>
            <a:chOff x="5697538" y="2798766"/>
            <a:chExt cx="1508125" cy="727076"/>
          </a:xfrm>
        </p:grpSpPr>
        <p:sp>
          <p:nvSpPr>
            <p:cNvPr id="4140" name="Line 10"/>
            <p:cNvSpPr>
              <a:spLocks noChangeAspect="1" noChangeShapeType="1"/>
            </p:cNvSpPr>
            <p:nvPr/>
          </p:nvSpPr>
          <p:spPr bwMode="auto">
            <a:xfrm flipH="1">
              <a:off x="5697538" y="2798766"/>
              <a:ext cx="80963" cy="236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1" name="Line 11"/>
            <p:cNvSpPr>
              <a:spLocks noChangeAspect="1" noChangeShapeType="1"/>
            </p:cNvSpPr>
            <p:nvPr/>
          </p:nvSpPr>
          <p:spPr bwMode="auto">
            <a:xfrm flipH="1">
              <a:off x="7126288" y="3273429"/>
              <a:ext cx="79375" cy="236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2" name="Line 12"/>
            <p:cNvSpPr>
              <a:spLocks noChangeAspect="1" noChangeShapeType="1"/>
            </p:cNvSpPr>
            <p:nvPr/>
          </p:nvSpPr>
          <p:spPr bwMode="auto">
            <a:xfrm>
              <a:off x="5726113" y="2957516"/>
              <a:ext cx="1425575" cy="4746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51" name="Text Box 21"/>
            <p:cNvSpPr txBox="1">
              <a:spLocks noChangeArrowheads="1"/>
            </p:cNvSpPr>
            <p:nvPr/>
          </p:nvSpPr>
          <p:spPr bwMode="auto">
            <a:xfrm>
              <a:off x="6216650" y="3063879"/>
              <a:ext cx="1873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L</a:t>
              </a:r>
            </a:p>
          </p:txBody>
        </p:sp>
      </p:grpSp>
      <p:sp>
        <p:nvSpPr>
          <p:cNvPr id="4128" name="Line 37"/>
          <p:cNvSpPr>
            <a:spLocks noChangeAspect="1" noChangeShapeType="1"/>
          </p:cNvSpPr>
          <p:nvPr/>
        </p:nvSpPr>
        <p:spPr bwMode="auto">
          <a:xfrm>
            <a:off x="5872163" y="1419228"/>
            <a:ext cx="1423988" cy="3175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667250" y="1138240"/>
            <a:ext cx="4084638" cy="2511427"/>
            <a:chOff x="4667250" y="1328740"/>
            <a:chExt cx="4084638" cy="2511427"/>
          </a:xfrm>
        </p:grpSpPr>
        <p:sp>
          <p:nvSpPr>
            <p:cNvPr id="4139" name="Rectangle 9" descr="小棋盘"/>
            <p:cNvSpPr>
              <a:spLocks noChangeAspect="1" noChangeArrowheads="1"/>
            </p:cNvSpPr>
            <p:nvPr/>
          </p:nvSpPr>
          <p:spPr bwMode="auto">
            <a:xfrm rot="1110783">
              <a:off x="5505450" y="2273303"/>
              <a:ext cx="2060575" cy="717551"/>
            </a:xfrm>
            <a:prstGeom prst="rect">
              <a:avLst/>
            </a:prstGeom>
            <a:pattFill prst="smCheck">
              <a:fgClr>
                <a:schemeClr val="accent2"/>
              </a:fgClr>
              <a:bgClr>
                <a:schemeClr val="bg1"/>
              </a:bgClr>
            </a:pattFill>
            <a:ln w="19050" algn="ctr">
              <a:solidFill>
                <a:srgbClr val="990033"/>
              </a:solidFill>
              <a:miter lim="800000"/>
              <a:headEnd/>
              <a:tailEnd/>
            </a:ln>
          </p:spPr>
          <p:txBody>
            <a:bodyPr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30" name="Freeform 39"/>
            <p:cNvSpPr>
              <a:spLocks noChangeAspect="1"/>
            </p:cNvSpPr>
            <p:nvPr/>
          </p:nvSpPr>
          <p:spPr bwMode="auto">
            <a:xfrm>
              <a:off x="7240555" y="1920878"/>
              <a:ext cx="83976" cy="939801"/>
            </a:xfrm>
            <a:custGeom>
              <a:avLst/>
              <a:gdLst>
                <a:gd name="T0" fmla="*/ 0 w 38"/>
                <a:gd name="T1" fmla="*/ 0 h 539"/>
                <a:gd name="T2" fmla="*/ 35 w 38"/>
                <a:gd name="T3" fmla="*/ 0 h 539"/>
                <a:gd name="T4" fmla="*/ 38 w 38"/>
                <a:gd name="T5" fmla="*/ 539 h 539"/>
                <a:gd name="T6" fmla="*/ 0 w 38"/>
                <a:gd name="T7" fmla="*/ 539 h 539"/>
                <a:gd name="T8" fmla="*/ 0 w 38"/>
                <a:gd name="T9" fmla="*/ 0 h 5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39"/>
                <a:gd name="T17" fmla="*/ 38 w 38"/>
                <a:gd name="T18" fmla="*/ 539 h 5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39">
                  <a:moveTo>
                    <a:pt x="0" y="0"/>
                  </a:moveTo>
                  <a:lnTo>
                    <a:pt x="35" y="0"/>
                  </a:lnTo>
                  <a:lnTo>
                    <a:pt x="38" y="539"/>
                  </a:lnTo>
                  <a:lnTo>
                    <a:pt x="0" y="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3" name="Line 13"/>
            <p:cNvSpPr>
              <a:spLocks noChangeAspect="1" noChangeShapeType="1"/>
            </p:cNvSpPr>
            <p:nvPr/>
          </p:nvSpPr>
          <p:spPr bwMode="auto">
            <a:xfrm>
              <a:off x="5397500" y="1990728"/>
              <a:ext cx="238125" cy="793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4" name="Line 14"/>
            <p:cNvSpPr>
              <a:spLocks noChangeAspect="1" noChangeShapeType="1"/>
            </p:cNvSpPr>
            <p:nvPr/>
          </p:nvSpPr>
          <p:spPr bwMode="auto">
            <a:xfrm>
              <a:off x="5318125" y="2227266"/>
              <a:ext cx="236538" cy="8096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5" name="Line 15"/>
            <p:cNvSpPr>
              <a:spLocks noChangeAspect="1" noChangeShapeType="1"/>
            </p:cNvSpPr>
            <p:nvPr/>
          </p:nvSpPr>
          <p:spPr bwMode="auto">
            <a:xfrm>
              <a:off x="5238750" y="2481266"/>
              <a:ext cx="238125" cy="793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6" name="Freeform 16"/>
            <p:cNvSpPr>
              <a:spLocks noChangeAspect="1"/>
            </p:cNvSpPr>
            <p:nvPr/>
          </p:nvSpPr>
          <p:spPr bwMode="auto">
            <a:xfrm>
              <a:off x="7613650" y="2717804"/>
              <a:ext cx="206375" cy="61913"/>
            </a:xfrm>
            <a:custGeom>
              <a:avLst/>
              <a:gdLst>
                <a:gd name="T0" fmla="*/ 0 w 118"/>
                <a:gd name="T1" fmla="*/ 0 h 35"/>
                <a:gd name="T2" fmla="*/ 118 w 118"/>
                <a:gd name="T3" fmla="*/ 35 h 35"/>
                <a:gd name="T4" fmla="*/ 0 60000 65536"/>
                <a:gd name="T5" fmla="*/ 0 60000 65536"/>
                <a:gd name="T6" fmla="*/ 0 w 118"/>
                <a:gd name="T7" fmla="*/ 0 h 35"/>
                <a:gd name="T8" fmla="*/ 118 w 118"/>
                <a:gd name="T9" fmla="*/ 35 h 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35">
                  <a:moveTo>
                    <a:pt x="0" y="0"/>
                  </a:moveTo>
                  <a:lnTo>
                    <a:pt x="118" y="35"/>
                  </a:ln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7" name="Freeform 17"/>
            <p:cNvSpPr>
              <a:spLocks noChangeAspect="1"/>
            </p:cNvSpPr>
            <p:nvPr/>
          </p:nvSpPr>
          <p:spPr bwMode="auto">
            <a:xfrm>
              <a:off x="7534275" y="2957516"/>
              <a:ext cx="192088" cy="57150"/>
            </a:xfrm>
            <a:custGeom>
              <a:avLst/>
              <a:gdLst>
                <a:gd name="T0" fmla="*/ 0 w 110"/>
                <a:gd name="T1" fmla="*/ 0 h 33"/>
                <a:gd name="T2" fmla="*/ 110 w 110"/>
                <a:gd name="T3" fmla="*/ 33 h 33"/>
                <a:gd name="T4" fmla="*/ 0 60000 65536"/>
                <a:gd name="T5" fmla="*/ 0 60000 65536"/>
                <a:gd name="T6" fmla="*/ 0 w 110"/>
                <a:gd name="T7" fmla="*/ 0 h 33"/>
                <a:gd name="T8" fmla="*/ 110 w 110"/>
                <a:gd name="T9" fmla="*/ 33 h 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0" h="33">
                  <a:moveTo>
                    <a:pt x="0" y="0"/>
                  </a:moveTo>
                  <a:lnTo>
                    <a:pt x="110" y="33"/>
                  </a:ln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8" name="Freeform 18"/>
            <p:cNvSpPr>
              <a:spLocks noChangeAspect="1"/>
            </p:cNvSpPr>
            <p:nvPr/>
          </p:nvSpPr>
          <p:spPr bwMode="auto">
            <a:xfrm>
              <a:off x="7454900" y="3194054"/>
              <a:ext cx="207963" cy="61913"/>
            </a:xfrm>
            <a:custGeom>
              <a:avLst/>
              <a:gdLst>
                <a:gd name="T0" fmla="*/ 0 w 119"/>
                <a:gd name="T1" fmla="*/ 0 h 35"/>
                <a:gd name="T2" fmla="*/ 119 w 119"/>
                <a:gd name="T3" fmla="*/ 35 h 35"/>
                <a:gd name="T4" fmla="*/ 0 60000 65536"/>
                <a:gd name="T5" fmla="*/ 0 60000 65536"/>
                <a:gd name="T6" fmla="*/ 0 w 119"/>
                <a:gd name="T7" fmla="*/ 0 h 35"/>
                <a:gd name="T8" fmla="*/ 119 w 119"/>
                <a:gd name="T9" fmla="*/ 35 h 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9" h="35">
                  <a:moveTo>
                    <a:pt x="0" y="0"/>
                  </a:moveTo>
                  <a:lnTo>
                    <a:pt x="119" y="35"/>
                  </a:ln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49" name="Text Box 19"/>
            <p:cNvSpPr txBox="1">
              <a:spLocks noChangeArrowheads="1"/>
            </p:cNvSpPr>
            <p:nvPr/>
          </p:nvSpPr>
          <p:spPr bwMode="auto">
            <a:xfrm>
              <a:off x="5811838" y="2373316"/>
              <a:ext cx="2206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150" name="Text Box 20"/>
            <p:cNvSpPr txBox="1">
              <a:spLocks noChangeArrowheads="1"/>
            </p:cNvSpPr>
            <p:nvPr/>
          </p:nvSpPr>
          <p:spPr bwMode="auto">
            <a:xfrm>
              <a:off x="7137400" y="2776541"/>
              <a:ext cx="2047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113" name="Line 22"/>
            <p:cNvSpPr>
              <a:spLocks noChangeAspect="1" noChangeShapeType="1"/>
            </p:cNvSpPr>
            <p:nvPr/>
          </p:nvSpPr>
          <p:spPr bwMode="auto">
            <a:xfrm>
              <a:off x="4667250" y="3840167"/>
              <a:ext cx="4084638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14" name="Line 23"/>
            <p:cNvSpPr>
              <a:spLocks noChangeAspect="1" noChangeShapeType="1"/>
            </p:cNvSpPr>
            <p:nvPr/>
          </p:nvSpPr>
          <p:spPr bwMode="auto">
            <a:xfrm>
              <a:off x="4699000" y="1609728"/>
              <a:ext cx="3698875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17" name="Line 26"/>
            <p:cNvSpPr>
              <a:spLocks noChangeAspect="1" noChangeShapeType="1"/>
            </p:cNvSpPr>
            <p:nvPr/>
          </p:nvSpPr>
          <p:spPr bwMode="auto">
            <a:xfrm>
              <a:off x="7296150" y="1927228"/>
              <a:ext cx="950913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18" name="Line 27"/>
            <p:cNvSpPr>
              <a:spLocks noChangeAspect="1" noChangeShapeType="1"/>
            </p:cNvSpPr>
            <p:nvPr/>
          </p:nvSpPr>
          <p:spPr bwMode="auto">
            <a:xfrm>
              <a:off x="8066088" y="1609728"/>
              <a:ext cx="0" cy="317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3" name="Line 32"/>
            <p:cNvSpPr>
              <a:spLocks noChangeAspect="1" noChangeShapeType="1"/>
            </p:cNvSpPr>
            <p:nvPr/>
          </p:nvSpPr>
          <p:spPr bwMode="auto">
            <a:xfrm>
              <a:off x="8080375" y="1927228"/>
              <a:ext cx="0" cy="18986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7" name="Line 36"/>
            <p:cNvSpPr>
              <a:spLocks noChangeAspect="1" noChangeShapeType="1"/>
            </p:cNvSpPr>
            <p:nvPr/>
          </p:nvSpPr>
          <p:spPr bwMode="auto">
            <a:xfrm>
              <a:off x="4973638" y="1609728"/>
              <a:ext cx="0" cy="2216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9" name="Freeform 38"/>
            <p:cNvSpPr>
              <a:spLocks noChangeAspect="1"/>
            </p:cNvSpPr>
            <p:nvPr/>
          </p:nvSpPr>
          <p:spPr bwMode="auto">
            <a:xfrm>
              <a:off x="5842363" y="1598615"/>
              <a:ext cx="83820" cy="846138"/>
            </a:xfrm>
            <a:custGeom>
              <a:avLst/>
              <a:gdLst>
                <a:gd name="T0" fmla="*/ 0 w 36"/>
                <a:gd name="T1" fmla="*/ 3 h 484"/>
                <a:gd name="T2" fmla="*/ 32 w 36"/>
                <a:gd name="T3" fmla="*/ 0 h 484"/>
                <a:gd name="T4" fmla="*/ 36 w 36"/>
                <a:gd name="T5" fmla="*/ 484 h 484"/>
                <a:gd name="T6" fmla="*/ 2 w 36"/>
                <a:gd name="T7" fmla="*/ 484 h 484"/>
                <a:gd name="T8" fmla="*/ 0 w 36"/>
                <a:gd name="T9" fmla="*/ 3 h 4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"/>
                <a:gd name="T16" fmla="*/ 0 h 484"/>
                <a:gd name="T17" fmla="*/ 36 w 36"/>
                <a:gd name="T18" fmla="*/ 484 h 4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" h="484">
                  <a:moveTo>
                    <a:pt x="0" y="3"/>
                  </a:moveTo>
                  <a:lnTo>
                    <a:pt x="32" y="0"/>
                  </a:lnTo>
                  <a:lnTo>
                    <a:pt x="36" y="484"/>
                  </a:lnTo>
                  <a:lnTo>
                    <a:pt x="2" y="484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31" name="Text Box 40"/>
            <p:cNvSpPr txBox="1">
              <a:spLocks noChangeArrowheads="1"/>
            </p:cNvSpPr>
            <p:nvPr/>
          </p:nvSpPr>
          <p:spPr bwMode="auto">
            <a:xfrm>
              <a:off x="4673600" y="2386016"/>
              <a:ext cx="3190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A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32" name="Text Box 41"/>
            <p:cNvSpPr txBox="1">
              <a:spLocks noChangeArrowheads="1"/>
            </p:cNvSpPr>
            <p:nvPr/>
          </p:nvSpPr>
          <p:spPr bwMode="auto">
            <a:xfrm>
              <a:off x="8139113" y="2441578"/>
              <a:ext cx="3079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B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35" name="Text Box 46"/>
            <p:cNvSpPr txBox="1">
              <a:spLocks noChangeArrowheads="1"/>
            </p:cNvSpPr>
            <p:nvPr/>
          </p:nvSpPr>
          <p:spPr bwMode="auto">
            <a:xfrm>
              <a:off x="8148638" y="1512890"/>
              <a:ext cx="36353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l-GR" altLang="zh-CN" sz="24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Δ</a:t>
              </a: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endParaRPr lang="el-GR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36" name="Text Box 47"/>
            <p:cNvSpPr txBox="1">
              <a:spLocks noChangeArrowheads="1"/>
            </p:cNvSpPr>
            <p:nvPr/>
          </p:nvSpPr>
          <p:spPr bwMode="auto">
            <a:xfrm>
              <a:off x="5873750" y="3457579"/>
              <a:ext cx="7667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基准面</a:t>
              </a:r>
            </a:p>
          </p:txBody>
        </p:sp>
        <p:sp>
          <p:nvSpPr>
            <p:cNvPr id="4116" name="Freeform 25"/>
            <p:cNvSpPr>
              <a:spLocks noChangeAspect="1"/>
            </p:cNvSpPr>
            <p:nvPr/>
          </p:nvSpPr>
          <p:spPr bwMode="auto">
            <a:xfrm>
              <a:off x="5840413" y="1360490"/>
              <a:ext cx="84138" cy="1071563"/>
            </a:xfrm>
            <a:custGeom>
              <a:avLst/>
              <a:gdLst>
                <a:gd name="T0" fmla="*/ 0 w 48"/>
                <a:gd name="T1" fmla="*/ 3 h 614"/>
                <a:gd name="T2" fmla="*/ 3 w 48"/>
                <a:gd name="T3" fmla="*/ 614 h 614"/>
                <a:gd name="T4" fmla="*/ 48 w 48"/>
                <a:gd name="T5" fmla="*/ 614 h 614"/>
                <a:gd name="T6" fmla="*/ 39 w 48"/>
                <a:gd name="T7" fmla="*/ 0 h 6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614"/>
                <a:gd name="T14" fmla="*/ 48 w 48"/>
                <a:gd name="T15" fmla="*/ 614 h 6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614">
                  <a:moveTo>
                    <a:pt x="0" y="3"/>
                  </a:moveTo>
                  <a:lnTo>
                    <a:pt x="3" y="614"/>
                  </a:lnTo>
                  <a:lnTo>
                    <a:pt x="48" y="614"/>
                  </a:lnTo>
                  <a:lnTo>
                    <a:pt x="39" y="0"/>
                  </a:lnTo>
                </a:path>
              </a:pathLst>
            </a:cu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15" name="Freeform 24"/>
            <p:cNvSpPr>
              <a:spLocks noChangeAspect="1"/>
            </p:cNvSpPr>
            <p:nvPr/>
          </p:nvSpPr>
          <p:spPr bwMode="auto">
            <a:xfrm>
              <a:off x="7239000" y="1328740"/>
              <a:ext cx="84138" cy="1520826"/>
            </a:xfrm>
            <a:custGeom>
              <a:avLst/>
              <a:gdLst>
                <a:gd name="T0" fmla="*/ 0 w 48"/>
                <a:gd name="T1" fmla="*/ 0 h 871"/>
                <a:gd name="T2" fmla="*/ 1 w 48"/>
                <a:gd name="T3" fmla="*/ 871 h 871"/>
                <a:gd name="T4" fmla="*/ 46 w 48"/>
                <a:gd name="T5" fmla="*/ 871 h 871"/>
                <a:gd name="T6" fmla="*/ 48 w 48"/>
                <a:gd name="T7" fmla="*/ 0 h 8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871"/>
                <a:gd name="T14" fmla="*/ 48 w 48"/>
                <a:gd name="T15" fmla="*/ 871 h 8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871">
                  <a:moveTo>
                    <a:pt x="0" y="0"/>
                  </a:moveTo>
                  <a:lnTo>
                    <a:pt x="1" y="871"/>
                  </a:lnTo>
                  <a:lnTo>
                    <a:pt x="46" y="871"/>
                  </a:lnTo>
                  <a:lnTo>
                    <a:pt x="48" y="0"/>
                  </a:lnTo>
                </a:path>
              </a:pathLst>
            </a:cu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389688" y="603252"/>
            <a:ext cx="1827213" cy="919163"/>
            <a:chOff x="6389688" y="793752"/>
            <a:chExt cx="1827213" cy="919163"/>
          </a:xfrm>
        </p:grpSpPr>
        <p:sp>
          <p:nvSpPr>
            <p:cNvPr id="4137" name="Text Box 48"/>
            <p:cNvSpPr txBox="1">
              <a:spLocks noChangeArrowheads="1"/>
            </p:cNvSpPr>
            <p:nvPr/>
          </p:nvSpPr>
          <p:spPr bwMode="auto">
            <a:xfrm>
              <a:off x="6742113" y="793752"/>
              <a:ext cx="14747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 smtClean="0">
                  <a:solidFill>
                    <a:srgbClr val="000066"/>
                  </a:solidFill>
                  <a:ea typeface="幼圆" pitchFamily="49" charset="-122"/>
                </a:rPr>
                <a:t>測管水头线</a:t>
              </a:r>
              <a:endParaRPr lang="zh-CN" altLang="en-US" sz="2000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4138" name="Line 49"/>
            <p:cNvSpPr>
              <a:spLocks noChangeShapeType="1"/>
            </p:cNvSpPr>
            <p:nvPr/>
          </p:nvSpPr>
          <p:spPr bwMode="auto">
            <a:xfrm flipV="1">
              <a:off x="6389688" y="1163640"/>
              <a:ext cx="334963" cy="549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62327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188304"/>
              </p:ext>
            </p:extLst>
          </p:nvPr>
        </p:nvGraphicFramePr>
        <p:xfrm>
          <a:off x="6521032" y="4237697"/>
          <a:ext cx="9144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1" name="公式" r:id="rId4" imgW="457200" imgH="368280" progId="Equation.3">
                  <p:embed/>
                </p:oleObj>
              </mc:Choice>
              <mc:Fallback>
                <p:oleObj name="公式" r:id="rId4" imgW="4572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032" y="4237697"/>
                        <a:ext cx="91440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7"/>
          <p:cNvSpPr txBox="1">
            <a:spLocks noChangeArrowheads="1"/>
          </p:cNvSpPr>
          <p:nvPr/>
        </p:nvSpPr>
        <p:spPr bwMode="auto">
          <a:xfrm>
            <a:off x="-1" y="0"/>
            <a:ext cx="51444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水头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3" name="Text Box 3"/>
          <p:cNvSpPr txBox="1">
            <a:spLocks noChangeArrowheads="1"/>
          </p:cNvSpPr>
          <p:nvPr/>
        </p:nvSpPr>
        <p:spPr bwMode="auto">
          <a:xfrm>
            <a:off x="938576" y="4414644"/>
            <a:ext cx="5553664" cy="40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水力坡降 </a:t>
            </a:r>
            <a:r>
              <a:rPr lang="en-US" altLang="zh-CN" sz="2200" b="1" i="1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单位渗流长度上的水头损失</a:t>
            </a:r>
          </a:p>
        </p:txBody>
      </p:sp>
    </p:spTree>
    <p:extLst>
      <p:ext uri="{BB962C8B-B14F-4D97-AF65-F5344CB8AC3E}">
        <p14:creationId xmlns:p14="http://schemas.microsoft.com/office/powerpoint/2010/main" val="14177093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62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62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62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1000"/>
                                        <p:tgtEl>
                                          <p:spTgt spid="146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2275" grpId="0"/>
      <p:bldP spid="4128" grpId="0" animBg="1"/>
      <p:bldP spid="4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" name="Rectangle 5"/>
          <p:cNvSpPr>
            <a:spLocks noChangeArrowheads="1"/>
          </p:cNvSpPr>
          <p:nvPr/>
        </p:nvSpPr>
        <p:spPr bwMode="auto">
          <a:xfrm>
            <a:off x="4791658" y="554474"/>
            <a:ext cx="4256649" cy="47244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任意多边形 5"/>
          <p:cNvSpPr/>
          <p:nvPr/>
        </p:nvSpPr>
        <p:spPr bwMode="auto">
          <a:xfrm>
            <a:off x="6454354" y="1627626"/>
            <a:ext cx="1054100" cy="2768600"/>
          </a:xfrm>
          <a:custGeom>
            <a:avLst/>
            <a:gdLst>
              <a:gd name="connsiteX0" fmla="*/ 127000 w 1054100"/>
              <a:gd name="connsiteY0" fmla="*/ 2768600 h 2768600"/>
              <a:gd name="connsiteX1" fmla="*/ 127000 w 1054100"/>
              <a:gd name="connsiteY1" fmla="*/ 241300 h 2768600"/>
              <a:gd name="connsiteX2" fmla="*/ 0 w 1054100"/>
              <a:gd name="connsiteY2" fmla="*/ 241300 h 2768600"/>
              <a:gd name="connsiteX3" fmla="*/ 0 w 1054100"/>
              <a:gd name="connsiteY3" fmla="*/ 139700 h 2768600"/>
              <a:gd name="connsiteX4" fmla="*/ 139700 w 1054100"/>
              <a:gd name="connsiteY4" fmla="*/ 139700 h 2768600"/>
              <a:gd name="connsiteX5" fmla="*/ 139700 w 1054100"/>
              <a:gd name="connsiteY5" fmla="*/ 0 h 2768600"/>
              <a:gd name="connsiteX6" fmla="*/ 1054100 w 1054100"/>
              <a:gd name="connsiteY6" fmla="*/ 0 h 2768600"/>
              <a:gd name="connsiteX7" fmla="*/ 1054100 w 1054100"/>
              <a:gd name="connsiteY7" fmla="*/ 2755900 h 2768600"/>
              <a:gd name="connsiteX8" fmla="*/ 127000 w 1054100"/>
              <a:gd name="connsiteY8" fmla="*/ 2768600 h 276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100" h="2768600">
                <a:moveTo>
                  <a:pt x="127000" y="2768600"/>
                </a:moveTo>
                <a:lnTo>
                  <a:pt x="127000" y="241300"/>
                </a:lnTo>
                <a:lnTo>
                  <a:pt x="0" y="241300"/>
                </a:lnTo>
                <a:lnTo>
                  <a:pt x="0" y="139700"/>
                </a:lnTo>
                <a:lnTo>
                  <a:pt x="139700" y="139700"/>
                </a:lnTo>
                <a:lnTo>
                  <a:pt x="139700" y="0"/>
                </a:lnTo>
                <a:lnTo>
                  <a:pt x="1054100" y="0"/>
                </a:lnTo>
                <a:lnTo>
                  <a:pt x="1054100" y="2755900"/>
                </a:lnTo>
                <a:lnTo>
                  <a:pt x="127000" y="2768600"/>
                </a:lnTo>
                <a:close/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0" name="任意多边形 59"/>
          <p:cNvSpPr/>
          <p:nvPr/>
        </p:nvSpPr>
        <p:spPr bwMode="auto">
          <a:xfrm>
            <a:off x="5439562" y="3043209"/>
            <a:ext cx="1169646" cy="1096719"/>
          </a:xfrm>
          <a:custGeom>
            <a:avLst/>
            <a:gdLst>
              <a:gd name="connsiteX0" fmla="*/ 1166841 w 1169646"/>
              <a:gd name="connsiteY0" fmla="*/ 1018181 h 1096719"/>
              <a:gd name="connsiteX1" fmla="*/ 316954 w 1169646"/>
              <a:gd name="connsiteY1" fmla="*/ 1026596 h 1096719"/>
              <a:gd name="connsiteX2" fmla="*/ 316954 w 1169646"/>
              <a:gd name="connsiteY2" fmla="*/ 154269 h 1096719"/>
              <a:gd name="connsiteX3" fmla="*/ 538542 w 1169646"/>
              <a:gd name="connsiteY3" fmla="*/ 151465 h 1096719"/>
              <a:gd name="connsiteX4" fmla="*/ 538542 w 1169646"/>
              <a:gd name="connsiteY4" fmla="*/ 0 h 1096719"/>
              <a:gd name="connsiteX5" fmla="*/ 0 w 1169646"/>
              <a:gd name="connsiteY5" fmla="*/ 0 h 1096719"/>
              <a:gd name="connsiteX6" fmla="*/ 0 w 1169646"/>
              <a:gd name="connsiteY6" fmla="*/ 159879 h 1096719"/>
              <a:gd name="connsiteX7" fmla="*/ 227197 w 1169646"/>
              <a:gd name="connsiteY7" fmla="*/ 159879 h 1096719"/>
              <a:gd name="connsiteX8" fmla="*/ 227197 w 1169646"/>
              <a:gd name="connsiteY8" fmla="*/ 1096719 h 1096719"/>
              <a:gd name="connsiteX9" fmla="*/ 1169646 w 1169646"/>
              <a:gd name="connsiteY9" fmla="*/ 1096719 h 1096719"/>
              <a:gd name="connsiteX10" fmla="*/ 1166841 w 1169646"/>
              <a:gd name="connsiteY10" fmla="*/ 1018181 h 1096719"/>
              <a:gd name="connsiteX0" fmla="*/ 1166841 w 1169646"/>
              <a:gd name="connsiteY0" fmla="*/ 1018181 h 1096719"/>
              <a:gd name="connsiteX1" fmla="*/ 316954 w 1169646"/>
              <a:gd name="connsiteY1" fmla="*/ 1026596 h 1096719"/>
              <a:gd name="connsiteX2" fmla="*/ 316954 w 1169646"/>
              <a:gd name="connsiteY2" fmla="*/ 154269 h 1096719"/>
              <a:gd name="connsiteX3" fmla="*/ 535737 w 1169646"/>
              <a:gd name="connsiteY3" fmla="*/ 162684 h 1096719"/>
              <a:gd name="connsiteX4" fmla="*/ 538542 w 1169646"/>
              <a:gd name="connsiteY4" fmla="*/ 0 h 1096719"/>
              <a:gd name="connsiteX5" fmla="*/ 0 w 1169646"/>
              <a:gd name="connsiteY5" fmla="*/ 0 h 1096719"/>
              <a:gd name="connsiteX6" fmla="*/ 0 w 1169646"/>
              <a:gd name="connsiteY6" fmla="*/ 159879 h 1096719"/>
              <a:gd name="connsiteX7" fmla="*/ 227197 w 1169646"/>
              <a:gd name="connsiteY7" fmla="*/ 159879 h 1096719"/>
              <a:gd name="connsiteX8" fmla="*/ 227197 w 1169646"/>
              <a:gd name="connsiteY8" fmla="*/ 1096719 h 1096719"/>
              <a:gd name="connsiteX9" fmla="*/ 1169646 w 1169646"/>
              <a:gd name="connsiteY9" fmla="*/ 1096719 h 1096719"/>
              <a:gd name="connsiteX10" fmla="*/ 1166841 w 1169646"/>
              <a:gd name="connsiteY10" fmla="*/ 1018181 h 1096719"/>
              <a:gd name="connsiteX0" fmla="*/ 1166841 w 1169646"/>
              <a:gd name="connsiteY0" fmla="*/ 1018181 h 1096719"/>
              <a:gd name="connsiteX1" fmla="*/ 316954 w 1169646"/>
              <a:gd name="connsiteY1" fmla="*/ 1026596 h 1096719"/>
              <a:gd name="connsiteX2" fmla="*/ 314573 w 1169646"/>
              <a:gd name="connsiteY2" fmla="*/ 168557 h 1096719"/>
              <a:gd name="connsiteX3" fmla="*/ 535737 w 1169646"/>
              <a:gd name="connsiteY3" fmla="*/ 162684 h 1096719"/>
              <a:gd name="connsiteX4" fmla="*/ 538542 w 1169646"/>
              <a:gd name="connsiteY4" fmla="*/ 0 h 1096719"/>
              <a:gd name="connsiteX5" fmla="*/ 0 w 1169646"/>
              <a:gd name="connsiteY5" fmla="*/ 0 h 1096719"/>
              <a:gd name="connsiteX6" fmla="*/ 0 w 1169646"/>
              <a:gd name="connsiteY6" fmla="*/ 159879 h 1096719"/>
              <a:gd name="connsiteX7" fmla="*/ 227197 w 1169646"/>
              <a:gd name="connsiteY7" fmla="*/ 159879 h 1096719"/>
              <a:gd name="connsiteX8" fmla="*/ 227197 w 1169646"/>
              <a:gd name="connsiteY8" fmla="*/ 1096719 h 1096719"/>
              <a:gd name="connsiteX9" fmla="*/ 1169646 w 1169646"/>
              <a:gd name="connsiteY9" fmla="*/ 1096719 h 1096719"/>
              <a:gd name="connsiteX10" fmla="*/ 1166841 w 1169646"/>
              <a:gd name="connsiteY10" fmla="*/ 1018181 h 109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9646" h="1096719">
                <a:moveTo>
                  <a:pt x="1166841" y="1018181"/>
                </a:moveTo>
                <a:lnTo>
                  <a:pt x="316954" y="1026596"/>
                </a:lnTo>
                <a:cubicBezTo>
                  <a:pt x="316160" y="740583"/>
                  <a:pt x="315367" y="454570"/>
                  <a:pt x="314573" y="168557"/>
                </a:cubicBezTo>
                <a:lnTo>
                  <a:pt x="535737" y="162684"/>
                </a:lnTo>
                <a:lnTo>
                  <a:pt x="538542" y="0"/>
                </a:lnTo>
                <a:lnTo>
                  <a:pt x="0" y="0"/>
                </a:lnTo>
                <a:lnTo>
                  <a:pt x="0" y="159879"/>
                </a:lnTo>
                <a:lnTo>
                  <a:pt x="227197" y="159879"/>
                </a:lnTo>
                <a:lnTo>
                  <a:pt x="227197" y="1096719"/>
                </a:lnTo>
                <a:lnTo>
                  <a:pt x="1169646" y="1096719"/>
                </a:lnTo>
                <a:lnTo>
                  <a:pt x="1166841" y="1018181"/>
                </a:lnTo>
                <a:close/>
              </a:path>
            </a:pathLst>
          </a:custGeom>
          <a:solidFill>
            <a:srgbClr val="3399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6586769" y="3651874"/>
            <a:ext cx="908790" cy="726471"/>
          </a:xfrm>
          <a:prstGeom prst="rect">
            <a:avLst/>
          </a:prstGeom>
          <a:solidFill>
            <a:srgbClr val="3399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8" name="矩形 57"/>
          <p:cNvSpPr/>
          <p:nvPr/>
        </p:nvSpPr>
        <p:spPr bwMode="auto">
          <a:xfrm>
            <a:off x="6589574" y="3553702"/>
            <a:ext cx="900375" cy="9536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任意多边形 22"/>
          <p:cNvSpPr/>
          <p:nvPr/>
        </p:nvSpPr>
        <p:spPr bwMode="auto">
          <a:xfrm>
            <a:off x="7482992" y="3046133"/>
            <a:ext cx="455131" cy="517195"/>
          </a:xfrm>
          <a:custGeom>
            <a:avLst/>
            <a:gdLst>
              <a:gd name="connsiteX0" fmla="*/ 0 w 455131"/>
              <a:gd name="connsiteY0" fmla="*/ 442719 h 517195"/>
              <a:gd name="connsiteX1" fmla="*/ 372380 w 455131"/>
              <a:gd name="connsiteY1" fmla="*/ 442719 h 517195"/>
              <a:gd name="connsiteX2" fmla="*/ 372380 w 455131"/>
              <a:gd name="connsiteY2" fmla="*/ 0 h 517195"/>
              <a:gd name="connsiteX3" fmla="*/ 455131 w 455131"/>
              <a:gd name="connsiteY3" fmla="*/ 0 h 517195"/>
              <a:gd name="connsiteX4" fmla="*/ 455131 w 455131"/>
              <a:gd name="connsiteY4" fmla="*/ 517195 h 517195"/>
              <a:gd name="connsiteX5" fmla="*/ 8275 w 455131"/>
              <a:gd name="connsiteY5" fmla="*/ 517195 h 517195"/>
              <a:gd name="connsiteX6" fmla="*/ 0 w 455131"/>
              <a:gd name="connsiteY6" fmla="*/ 442719 h 517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131" h="517195">
                <a:moveTo>
                  <a:pt x="0" y="442719"/>
                </a:moveTo>
                <a:lnTo>
                  <a:pt x="372380" y="442719"/>
                </a:lnTo>
                <a:lnTo>
                  <a:pt x="372380" y="0"/>
                </a:lnTo>
                <a:lnTo>
                  <a:pt x="455131" y="0"/>
                </a:lnTo>
                <a:lnTo>
                  <a:pt x="455131" y="517195"/>
                </a:lnTo>
                <a:lnTo>
                  <a:pt x="8275" y="517195"/>
                </a:lnTo>
                <a:lnTo>
                  <a:pt x="0" y="442719"/>
                </a:lnTo>
                <a:close/>
              </a:path>
            </a:pathLst>
          </a:custGeom>
          <a:solidFill>
            <a:srgbClr val="3399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593342" y="2261204"/>
            <a:ext cx="911703" cy="1295400"/>
          </a:xfrm>
          <a:prstGeom prst="rect">
            <a:avLst/>
          </a:prstGeom>
          <a:pattFill prst="pct8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任意多边形 21"/>
          <p:cNvSpPr/>
          <p:nvPr/>
        </p:nvSpPr>
        <p:spPr bwMode="auto">
          <a:xfrm>
            <a:off x="7499754" y="1876050"/>
            <a:ext cx="218193" cy="439200"/>
          </a:xfrm>
          <a:custGeom>
            <a:avLst/>
            <a:gdLst>
              <a:gd name="connsiteX0" fmla="*/ 0 w 239979"/>
              <a:gd name="connsiteY0" fmla="*/ 393067 h 479956"/>
              <a:gd name="connsiteX1" fmla="*/ 169640 w 239979"/>
              <a:gd name="connsiteY1" fmla="*/ 393067 h 479956"/>
              <a:gd name="connsiteX2" fmla="*/ 169640 w 239979"/>
              <a:gd name="connsiteY2" fmla="*/ 0 h 479956"/>
              <a:gd name="connsiteX3" fmla="*/ 239979 w 239979"/>
              <a:gd name="connsiteY3" fmla="*/ 0 h 479956"/>
              <a:gd name="connsiteX4" fmla="*/ 239979 w 239979"/>
              <a:gd name="connsiteY4" fmla="*/ 479956 h 479956"/>
              <a:gd name="connsiteX5" fmla="*/ 0 w 239979"/>
              <a:gd name="connsiteY5" fmla="*/ 479956 h 479956"/>
              <a:gd name="connsiteX6" fmla="*/ 0 w 239979"/>
              <a:gd name="connsiteY6" fmla="*/ 393067 h 479956"/>
              <a:gd name="connsiteX0" fmla="*/ 0 w 239979"/>
              <a:gd name="connsiteY0" fmla="*/ 393067 h 487576"/>
              <a:gd name="connsiteX1" fmla="*/ 169640 w 239979"/>
              <a:gd name="connsiteY1" fmla="*/ 393067 h 487576"/>
              <a:gd name="connsiteX2" fmla="*/ 169640 w 239979"/>
              <a:gd name="connsiteY2" fmla="*/ 0 h 487576"/>
              <a:gd name="connsiteX3" fmla="*/ 239979 w 239979"/>
              <a:gd name="connsiteY3" fmla="*/ 0 h 487576"/>
              <a:gd name="connsiteX4" fmla="*/ 239979 w 239979"/>
              <a:gd name="connsiteY4" fmla="*/ 479956 h 487576"/>
              <a:gd name="connsiteX5" fmla="*/ 22860 w 239979"/>
              <a:gd name="connsiteY5" fmla="*/ 487576 h 487576"/>
              <a:gd name="connsiteX6" fmla="*/ 0 w 239979"/>
              <a:gd name="connsiteY6" fmla="*/ 393067 h 487576"/>
              <a:gd name="connsiteX0" fmla="*/ 3810 w 217119"/>
              <a:gd name="connsiteY0" fmla="*/ 404497 h 487576"/>
              <a:gd name="connsiteX1" fmla="*/ 146780 w 217119"/>
              <a:gd name="connsiteY1" fmla="*/ 393067 h 487576"/>
              <a:gd name="connsiteX2" fmla="*/ 146780 w 217119"/>
              <a:gd name="connsiteY2" fmla="*/ 0 h 487576"/>
              <a:gd name="connsiteX3" fmla="*/ 217119 w 217119"/>
              <a:gd name="connsiteY3" fmla="*/ 0 h 487576"/>
              <a:gd name="connsiteX4" fmla="*/ 217119 w 217119"/>
              <a:gd name="connsiteY4" fmla="*/ 479956 h 487576"/>
              <a:gd name="connsiteX5" fmla="*/ 0 w 217119"/>
              <a:gd name="connsiteY5" fmla="*/ 487576 h 487576"/>
              <a:gd name="connsiteX6" fmla="*/ 3810 w 217119"/>
              <a:gd name="connsiteY6" fmla="*/ 404497 h 487576"/>
              <a:gd name="connsiteX0" fmla="*/ 0 w 227431"/>
              <a:gd name="connsiteY0" fmla="*/ 397436 h 487576"/>
              <a:gd name="connsiteX1" fmla="*/ 157092 w 227431"/>
              <a:gd name="connsiteY1" fmla="*/ 393067 h 487576"/>
              <a:gd name="connsiteX2" fmla="*/ 157092 w 227431"/>
              <a:gd name="connsiteY2" fmla="*/ 0 h 487576"/>
              <a:gd name="connsiteX3" fmla="*/ 227431 w 227431"/>
              <a:gd name="connsiteY3" fmla="*/ 0 h 487576"/>
              <a:gd name="connsiteX4" fmla="*/ 227431 w 227431"/>
              <a:gd name="connsiteY4" fmla="*/ 479956 h 487576"/>
              <a:gd name="connsiteX5" fmla="*/ 10312 w 227431"/>
              <a:gd name="connsiteY5" fmla="*/ 487576 h 487576"/>
              <a:gd name="connsiteX6" fmla="*/ 0 w 227431"/>
              <a:gd name="connsiteY6" fmla="*/ 397436 h 487576"/>
              <a:gd name="connsiteX0" fmla="*/ 7341 w 217119"/>
              <a:gd name="connsiteY0" fmla="*/ 393906 h 487576"/>
              <a:gd name="connsiteX1" fmla="*/ 146780 w 217119"/>
              <a:gd name="connsiteY1" fmla="*/ 393067 h 487576"/>
              <a:gd name="connsiteX2" fmla="*/ 146780 w 217119"/>
              <a:gd name="connsiteY2" fmla="*/ 0 h 487576"/>
              <a:gd name="connsiteX3" fmla="*/ 217119 w 217119"/>
              <a:gd name="connsiteY3" fmla="*/ 0 h 487576"/>
              <a:gd name="connsiteX4" fmla="*/ 217119 w 217119"/>
              <a:gd name="connsiteY4" fmla="*/ 479956 h 487576"/>
              <a:gd name="connsiteX5" fmla="*/ 0 w 217119"/>
              <a:gd name="connsiteY5" fmla="*/ 487576 h 487576"/>
              <a:gd name="connsiteX6" fmla="*/ 7341 w 217119"/>
              <a:gd name="connsiteY6" fmla="*/ 393906 h 487576"/>
              <a:gd name="connsiteX0" fmla="*/ 0 w 218193"/>
              <a:gd name="connsiteY0" fmla="*/ 396711 h 487576"/>
              <a:gd name="connsiteX1" fmla="*/ 147854 w 218193"/>
              <a:gd name="connsiteY1" fmla="*/ 393067 h 487576"/>
              <a:gd name="connsiteX2" fmla="*/ 147854 w 218193"/>
              <a:gd name="connsiteY2" fmla="*/ 0 h 487576"/>
              <a:gd name="connsiteX3" fmla="*/ 218193 w 218193"/>
              <a:gd name="connsiteY3" fmla="*/ 0 h 487576"/>
              <a:gd name="connsiteX4" fmla="*/ 218193 w 218193"/>
              <a:gd name="connsiteY4" fmla="*/ 479956 h 487576"/>
              <a:gd name="connsiteX5" fmla="*/ 1074 w 218193"/>
              <a:gd name="connsiteY5" fmla="*/ 487576 h 487576"/>
              <a:gd name="connsiteX6" fmla="*/ 0 w 218193"/>
              <a:gd name="connsiteY6" fmla="*/ 396711 h 487576"/>
              <a:gd name="connsiteX0" fmla="*/ 0 w 218193"/>
              <a:gd name="connsiteY0" fmla="*/ 396711 h 484771"/>
              <a:gd name="connsiteX1" fmla="*/ 147854 w 218193"/>
              <a:gd name="connsiteY1" fmla="*/ 393067 h 484771"/>
              <a:gd name="connsiteX2" fmla="*/ 147854 w 218193"/>
              <a:gd name="connsiteY2" fmla="*/ 0 h 484771"/>
              <a:gd name="connsiteX3" fmla="*/ 218193 w 218193"/>
              <a:gd name="connsiteY3" fmla="*/ 0 h 484771"/>
              <a:gd name="connsiteX4" fmla="*/ 218193 w 218193"/>
              <a:gd name="connsiteY4" fmla="*/ 479956 h 484771"/>
              <a:gd name="connsiteX5" fmla="*/ 12294 w 218193"/>
              <a:gd name="connsiteY5" fmla="*/ 484771 h 484771"/>
              <a:gd name="connsiteX6" fmla="*/ 0 w 218193"/>
              <a:gd name="connsiteY6" fmla="*/ 396711 h 484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193" h="484771">
                <a:moveTo>
                  <a:pt x="0" y="396711"/>
                </a:moveTo>
                <a:lnTo>
                  <a:pt x="147854" y="393067"/>
                </a:lnTo>
                <a:lnTo>
                  <a:pt x="147854" y="0"/>
                </a:lnTo>
                <a:lnTo>
                  <a:pt x="218193" y="0"/>
                </a:lnTo>
                <a:lnTo>
                  <a:pt x="218193" y="479956"/>
                </a:lnTo>
                <a:lnTo>
                  <a:pt x="12294" y="484771"/>
                </a:lnTo>
                <a:lnTo>
                  <a:pt x="0" y="396711"/>
                </a:lnTo>
                <a:close/>
              </a:path>
            </a:pathLst>
          </a:custGeom>
          <a:solidFill>
            <a:srgbClr val="3399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7" name="矩形 56"/>
          <p:cNvSpPr/>
          <p:nvPr/>
        </p:nvSpPr>
        <p:spPr bwMode="auto">
          <a:xfrm>
            <a:off x="6593419" y="1875911"/>
            <a:ext cx="904875" cy="390525"/>
          </a:xfrm>
          <a:prstGeom prst="rect">
            <a:avLst/>
          </a:prstGeom>
          <a:solidFill>
            <a:srgbClr val="3399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124" name="Text Box 2"/>
          <p:cNvSpPr txBox="1">
            <a:spLocks noChangeArrowheads="1"/>
          </p:cNvSpPr>
          <p:nvPr/>
        </p:nvSpPr>
        <p:spPr bwMode="auto">
          <a:xfrm>
            <a:off x="3151188" y="5730767"/>
            <a:ext cx="40608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达西渗透试验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164" name="Line 50"/>
          <p:cNvSpPr>
            <a:spLocks noChangeShapeType="1"/>
          </p:cNvSpPr>
          <p:nvPr/>
        </p:nvSpPr>
        <p:spPr bwMode="auto">
          <a:xfrm>
            <a:off x="8208475" y="1861161"/>
            <a:ext cx="0" cy="11649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5" name="Text Box 61"/>
          <p:cNvSpPr txBox="1">
            <a:spLocks noChangeArrowheads="1"/>
          </p:cNvSpPr>
          <p:nvPr/>
        </p:nvSpPr>
        <p:spPr bwMode="auto">
          <a:xfrm>
            <a:off x="6100761" y="2660487"/>
            <a:ext cx="3417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000066"/>
                </a:solidFill>
              </a:rPr>
              <a:t>L</a:t>
            </a:r>
          </a:p>
        </p:txBody>
      </p:sp>
      <p:sp>
        <p:nvSpPr>
          <p:cNvPr id="5184" name="Text Box 70"/>
          <p:cNvSpPr txBox="1">
            <a:spLocks noChangeArrowheads="1"/>
          </p:cNvSpPr>
          <p:nvPr/>
        </p:nvSpPr>
        <p:spPr bwMode="auto">
          <a:xfrm>
            <a:off x="4898574" y="2689911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i="1" dirty="0">
                <a:solidFill>
                  <a:srgbClr val="000066"/>
                </a:solidFill>
              </a:rPr>
              <a:t>Q</a:t>
            </a:r>
          </a:p>
        </p:txBody>
      </p:sp>
      <p:sp>
        <p:nvSpPr>
          <p:cNvPr id="1463382" name="Text Box 86"/>
          <p:cNvSpPr txBox="1">
            <a:spLocks noChangeArrowheads="1"/>
          </p:cNvSpPr>
          <p:nvPr/>
        </p:nvSpPr>
        <p:spPr bwMode="auto">
          <a:xfrm>
            <a:off x="531813" y="1022350"/>
            <a:ext cx="4187825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1856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年达西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(Darcy)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在研究城市供水问题时进行的渗流试验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aphicFrame>
        <p:nvGraphicFramePr>
          <p:cNvPr id="1463383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706784"/>
              </p:ext>
            </p:extLst>
          </p:nvPr>
        </p:nvGraphicFramePr>
        <p:xfrm>
          <a:off x="2082800" y="2308225"/>
          <a:ext cx="1452528" cy="810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0" name="公式" r:id="rId4" imgW="660240" imgH="368280" progId="Equation.3">
                  <p:embed/>
                </p:oleObj>
              </mc:Choice>
              <mc:Fallback>
                <p:oleObj name="公式" r:id="rId4" imgW="6602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2308225"/>
                        <a:ext cx="1452528" cy="810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CC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3384" name="AutoShape 88"/>
          <p:cNvSpPr>
            <a:spLocks noChangeArrowheads="1"/>
          </p:cNvSpPr>
          <p:nvPr/>
        </p:nvSpPr>
        <p:spPr bwMode="auto">
          <a:xfrm>
            <a:off x="952500" y="2487613"/>
            <a:ext cx="590550" cy="466725"/>
          </a:xfrm>
          <a:prstGeom prst="homePlate">
            <a:avLst>
              <a:gd name="adj" fmla="val 3163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3385" name="Text Box 89"/>
          <p:cNvSpPr txBox="1">
            <a:spLocks noChangeArrowheads="1"/>
          </p:cNvSpPr>
          <p:nvPr/>
        </p:nvSpPr>
        <p:spPr bwMode="auto">
          <a:xfrm>
            <a:off x="1492250" y="3446463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或：</a:t>
            </a:r>
          </a:p>
        </p:txBody>
      </p:sp>
      <p:graphicFrame>
        <p:nvGraphicFramePr>
          <p:cNvPr id="1463386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208779"/>
              </p:ext>
            </p:extLst>
          </p:nvPr>
        </p:nvGraphicFramePr>
        <p:xfrm>
          <a:off x="2174875" y="3533775"/>
          <a:ext cx="1200672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51" name="公式" r:id="rId6" imgW="545760" imgH="203040" progId="Equation.3">
                  <p:embed/>
                </p:oleObj>
              </mc:Choice>
              <mc:Fallback>
                <p:oleObj name="公式" r:id="rId6" imgW="545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3533775"/>
                        <a:ext cx="1200672" cy="44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CC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3387" name="Text Box 91"/>
          <p:cNvSpPr txBox="1">
            <a:spLocks noChangeArrowheads="1"/>
          </p:cNvSpPr>
          <p:nvPr/>
        </p:nvSpPr>
        <p:spPr bwMode="auto">
          <a:xfrm>
            <a:off x="1279525" y="4354513"/>
            <a:ext cx="3468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其中，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A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是试样的断面积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92" name="Text Box 7"/>
          <p:cNvSpPr txBox="1">
            <a:spLocks noChangeArrowheads="1"/>
          </p:cNvSpPr>
          <p:nvPr/>
        </p:nvSpPr>
        <p:spPr bwMode="auto">
          <a:xfrm>
            <a:off x="-1" y="0"/>
            <a:ext cx="51444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达西定律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9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0" name="任意多边形 16"/>
          <p:cNvSpPr>
            <a:spLocks/>
          </p:cNvSpPr>
          <p:nvPr/>
        </p:nvSpPr>
        <p:spPr bwMode="auto">
          <a:xfrm>
            <a:off x="5341167" y="3039194"/>
            <a:ext cx="1244669" cy="1104961"/>
          </a:xfrm>
          <a:custGeom>
            <a:avLst/>
            <a:gdLst>
              <a:gd name="T0" fmla="*/ 1555793 w 1555707"/>
              <a:gd name="T1" fmla="*/ 1381445 h 1380805"/>
              <a:gd name="T2" fmla="*/ 398921 w 1555707"/>
              <a:gd name="T3" fmla="*/ 1381445 h 1380805"/>
              <a:gd name="T4" fmla="*/ 398921 w 1555707"/>
              <a:gd name="T5" fmla="*/ 208751 h 1380805"/>
              <a:gd name="T6" fmla="*/ 116607 w 1555707"/>
              <a:gd name="T7" fmla="*/ 208751 h 1380805"/>
              <a:gd name="T8" fmla="*/ 116607 w 1555707"/>
              <a:gd name="T9" fmla="*/ 0 h 1380805"/>
              <a:gd name="T10" fmla="*/ 0 w 1555707"/>
              <a:gd name="T11" fmla="*/ 0 h 138080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555707" h="1380805">
                <a:moveTo>
                  <a:pt x="1555707" y="1380805"/>
                </a:moveTo>
                <a:lnTo>
                  <a:pt x="398899" y="1380805"/>
                </a:lnTo>
                <a:lnTo>
                  <a:pt x="398899" y="208655"/>
                </a:lnTo>
                <a:lnTo>
                  <a:pt x="116601" y="208655"/>
                </a:lnTo>
                <a:lnTo>
                  <a:pt x="116601" y="0"/>
                </a:lnTo>
                <a:lnTo>
                  <a:pt x="0" y="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/>
          <a:p>
            <a:endParaRPr lang="zh-CN" altLang="en-US"/>
          </a:p>
        </p:txBody>
      </p:sp>
      <p:cxnSp>
        <p:nvCxnSpPr>
          <p:cNvPr id="131" name="直接连接符 12"/>
          <p:cNvCxnSpPr>
            <a:cxnSpLocks noChangeShapeType="1"/>
          </p:cNvCxnSpPr>
          <p:nvPr/>
        </p:nvCxnSpPr>
        <p:spPr bwMode="auto">
          <a:xfrm>
            <a:off x="5431342" y="3041734"/>
            <a:ext cx="54867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2" name="组合 13"/>
          <p:cNvGrpSpPr>
            <a:grpSpLocks/>
          </p:cNvGrpSpPr>
          <p:nvPr/>
        </p:nvGrpSpPr>
        <p:grpSpPr bwMode="auto">
          <a:xfrm>
            <a:off x="5094774" y="3224624"/>
            <a:ext cx="336568" cy="619794"/>
            <a:chOff x="149187" y="599766"/>
            <a:chExt cx="725487" cy="1220787"/>
          </a:xfrm>
        </p:grpSpPr>
        <p:sp>
          <p:nvSpPr>
            <p:cNvPr id="133" name="Oval 2306"/>
            <p:cNvSpPr>
              <a:spLocks noChangeArrowheads="1"/>
            </p:cNvSpPr>
            <p:nvPr/>
          </p:nvSpPr>
          <p:spPr bwMode="auto">
            <a:xfrm>
              <a:off x="149187" y="1606241"/>
              <a:ext cx="725487" cy="214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4" name="AutoShape 2307"/>
            <p:cNvSpPr>
              <a:spLocks noChangeArrowheads="1"/>
            </p:cNvSpPr>
            <p:nvPr/>
          </p:nvSpPr>
          <p:spPr bwMode="auto">
            <a:xfrm>
              <a:off x="212687" y="966478"/>
              <a:ext cx="598487" cy="779463"/>
            </a:xfrm>
            <a:prstGeom prst="can">
              <a:avLst>
                <a:gd name="adj" fmla="val 24341"/>
              </a:avLst>
            </a:pr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5" name="AutoShape 2351"/>
            <p:cNvSpPr>
              <a:spLocks noChangeArrowheads="1"/>
            </p:cNvSpPr>
            <p:nvPr/>
          </p:nvSpPr>
          <p:spPr bwMode="auto">
            <a:xfrm>
              <a:off x="207924" y="599766"/>
              <a:ext cx="598488" cy="1150937"/>
            </a:xfrm>
            <a:prstGeom prst="can">
              <a:avLst>
                <a:gd name="adj" fmla="val 2400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6" name="Oval 2352"/>
            <p:cNvSpPr>
              <a:spLocks noChangeArrowheads="1"/>
            </p:cNvSpPr>
            <p:nvPr/>
          </p:nvSpPr>
          <p:spPr bwMode="auto">
            <a:xfrm>
              <a:off x="209512" y="972828"/>
              <a:ext cx="593725" cy="1460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7" name="Freeform 2353"/>
            <p:cNvSpPr>
              <a:spLocks/>
            </p:cNvSpPr>
            <p:nvPr/>
          </p:nvSpPr>
          <p:spPr bwMode="auto">
            <a:xfrm>
              <a:off x="684174" y="798203"/>
              <a:ext cx="119063" cy="15875"/>
            </a:xfrm>
            <a:custGeom>
              <a:avLst/>
              <a:gdLst>
                <a:gd name="T0" fmla="*/ 0 w 62"/>
                <a:gd name="T1" fmla="*/ 2147483647 h 8"/>
                <a:gd name="T2" fmla="*/ 2147483647 w 62"/>
                <a:gd name="T3" fmla="*/ 2147483647 h 8"/>
                <a:gd name="T4" fmla="*/ 2147483647 w 62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8">
                  <a:moveTo>
                    <a:pt x="0" y="8"/>
                  </a:moveTo>
                  <a:cubicBezTo>
                    <a:pt x="15" y="5"/>
                    <a:pt x="29" y="3"/>
                    <a:pt x="45" y="2"/>
                  </a:cubicBezTo>
                  <a:cubicBezTo>
                    <a:pt x="59" y="0"/>
                    <a:pt x="54" y="0"/>
                    <a:pt x="6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2354"/>
            <p:cNvSpPr>
              <a:spLocks/>
            </p:cNvSpPr>
            <p:nvPr/>
          </p:nvSpPr>
          <p:spPr bwMode="auto">
            <a:xfrm>
              <a:off x="720687" y="863291"/>
              <a:ext cx="85725" cy="1587"/>
            </a:xfrm>
            <a:custGeom>
              <a:avLst/>
              <a:gdLst>
                <a:gd name="T0" fmla="*/ 0 w 45"/>
                <a:gd name="T1" fmla="*/ 2147483647 h 1"/>
                <a:gd name="T2" fmla="*/ 2147483647 w 4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" h="1">
                  <a:moveTo>
                    <a:pt x="0" y="1"/>
                  </a:moveTo>
                  <a:cubicBezTo>
                    <a:pt x="32" y="0"/>
                    <a:pt x="17" y="0"/>
                    <a:pt x="45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Freeform 2355"/>
            <p:cNvSpPr>
              <a:spLocks/>
            </p:cNvSpPr>
            <p:nvPr/>
          </p:nvSpPr>
          <p:spPr bwMode="auto">
            <a:xfrm>
              <a:off x="725449" y="910916"/>
              <a:ext cx="71438" cy="6350"/>
            </a:xfrm>
            <a:custGeom>
              <a:avLst/>
              <a:gdLst>
                <a:gd name="T0" fmla="*/ 0 w 38"/>
                <a:gd name="T1" fmla="*/ 2147483647 h 4"/>
                <a:gd name="T2" fmla="*/ 2147483647 w 38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4">
                  <a:moveTo>
                    <a:pt x="0" y="4"/>
                  </a:moveTo>
                  <a:cubicBezTo>
                    <a:pt x="13" y="0"/>
                    <a:pt x="25" y="0"/>
                    <a:pt x="3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2356"/>
            <p:cNvSpPr>
              <a:spLocks/>
            </p:cNvSpPr>
            <p:nvPr/>
          </p:nvSpPr>
          <p:spPr bwMode="auto">
            <a:xfrm>
              <a:off x="734974" y="952191"/>
              <a:ext cx="61913" cy="11112"/>
            </a:xfrm>
            <a:custGeom>
              <a:avLst/>
              <a:gdLst>
                <a:gd name="T0" fmla="*/ 0 w 33"/>
                <a:gd name="T1" fmla="*/ 2147483647 h 6"/>
                <a:gd name="T2" fmla="*/ 2147483647 w 33"/>
                <a:gd name="T3" fmla="*/ 214748364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6">
                  <a:moveTo>
                    <a:pt x="0" y="6"/>
                  </a:moveTo>
                  <a:cubicBezTo>
                    <a:pt x="13" y="0"/>
                    <a:pt x="3" y="4"/>
                    <a:pt x="33" y="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2357"/>
            <p:cNvSpPr>
              <a:spLocks/>
            </p:cNvSpPr>
            <p:nvPr/>
          </p:nvSpPr>
          <p:spPr bwMode="auto">
            <a:xfrm>
              <a:off x="739737" y="1002991"/>
              <a:ext cx="63500" cy="7937"/>
            </a:xfrm>
            <a:custGeom>
              <a:avLst/>
              <a:gdLst>
                <a:gd name="T0" fmla="*/ 0 w 33"/>
                <a:gd name="T1" fmla="*/ 2147483647 h 4"/>
                <a:gd name="T2" fmla="*/ 2147483647 w 33"/>
                <a:gd name="T3" fmla="*/ 2147483647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4">
                  <a:moveTo>
                    <a:pt x="0" y="4"/>
                  </a:moveTo>
                  <a:cubicBezTo>
                    <a:pt x="22" y="0"/>
                    <a:pt x="11" y="1"/>
                    <a:pt x="33" y="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2358"/>
            <p:cNvSpPr>
              <a:spLocks/>
            </p:cNvSpPr>
            <p:nvPr/>
          </p:nvSpPr>
          <p:spPr bwMode="auto">
            <a:xfrm>
              <a:off x="730212" y="1129991"/>
              <a:ext cx="66675" cy="1587"/>
            </a:xfrm>
            <a:custGeom>
              <a:avLst/>
              <a:gdLst>
                <a:gd name="T0" fmla="*/ 0 w 35"/>
                <a:gd name="T1" fmla="*/ 0 h 1"/>
                <a:gd name="T2" fmla="*/ 2147483647 w 3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1">
                  <a:moveTo>
                    <a:pt x="0" y="0"/>
                  </a:moveTo>
                  <a:cubicBezTo>
                    <a:pt x="12" y="0"/>
                    <a:pt x="23" y="0"/>
                    <a:pt x="35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2359"/>
            <p:cNvSpPr>
              <a:spLocks/>
            </p:cNvSpPr>
            <p:nvPr/>
          </p:nvSpPr>
          <p:spPr bwMode="auto">
            <a:xfrm>
              <a:off x="746087" y="1182378"/>
              <a:ext cx="50800" cy="1588"/>
            </a:xfrm>
            <a:custGeom>
              <a:avLst/>
              <a:gdLst>
                <a:gd name="T0" fmla="*/ 0 w 27"/>
                <a:gd name="T1" fmla="*/ 0 h 1"/>
                <a:gd name="T2" fmla="*/ 2147483647 w 2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">
                  <a:moveTo>
                    <a:pt x="0" y="0"/>
                  </a:moveTo>
                  <a:cubicBezTo>
                    <a:pt x="9" y="0"/>
                    <a:pt x="18" y="0"/>
                    <a:pt x="27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2360"/>
            <p:cNvSpPr>
              <a:spLocks/>
            </p:cNvSpPr>
            <p:nvPr/>
          </p:nvSpPr>
          <p:spPr bwMode="auto">
            <a:xfrm>
              <a:off x="739737" y="1241116"/>
              <a:ext cx="61912" cy="1587"/>
            </a:xfrm>
            <a:custGeom>
              <a:avLst/>
              <a:gdLst>
                <a:gd name="T0" fmla="*/ 0 w 32"/>
                <a:gd name="T1" fmla="*/ 0 h 1"/>
                <a:gd name="T2" fmla="*/ 2147483647 w 3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1">
                  <a:moveTo>
                    <a:pt x="0" y="0"/>
                  </a:moveTo>
                  <a:cubicBezTo>
                    <a:pt x="11" y="0"/>
                    <a:pt x="21" y="0"/>
                    <a:pt x="3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2361"/>
            <p:cNvSpPr>
              <a:spLocks/>
            </p:cNvSpPr>
            <p:nvPr/>
          </p:nvSpPr>
          <p:spPr bwMode="auto">
            <a:xfrm>
              <a:off x="730212" y="1295091"/>
              <a:ext cx="65087" cy="3175"/>
            </a:xfrm>
            <a:custGeom>
              <a:avLst/>
              <a:gdLst>
                <a:gd name="T0" fmla="*/ 0 w 34"/>
                <a:gd name="T1" fmla="*/ 0 h 1"/>
                <a:gd name="T2" fmla="*/ 2147483647 w 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">
                  <a:moveTo>
                    <a:pt x="0" y="0"/>
                  </a:moveTo>
                  <a:cubicBezTo>
                    <a:pt x="11" y="0"/>
                    <a:pt x="23" y="0"/>
                    <a:pt x="3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2362"/>
            <p:cNvSpPr>
              <a:spLocks/>
            </p:cNvSpPr>
            <p:nvPr/>
          </p:nvSpPr>
          <p:spPr bwMode="auto">
            <a:xfrm>
              <a:off x="688937" y="1358591"/>
              <a:ext cx="106362" cy="1587"/>
            </a:xfrm>
            <a:custGeom>
              <a:avLst/>
              <a:gdLst>
                <a:gd name="T0" fmla="*/ 0 w 56"/>
                <a:gd name="T1" fmla="*/ 0 h 1"/>
                <a:gd name="T2" fmla="*/ 2147483647 w 5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6" h="1">
                  <a:moveTo>
                    <a:pt x="0" y="0"/>
                  </a:moveTo>
                  <a:cubicBezTo>
                    <a:pt x="19" y="0"/>
                    <a:pt x="37" y="0"/>
                    <a:pt x="56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2363"/>
            <p:cNvSpPr>
              <a:spLocks/>
            </p:cNvSpPr>
            <p:nvPr/>
          </p:nvSpPr>
          <p:spPr bwMode="auto">
            <a:xfrm>
              <a:off x="730212" y="1409391"/>
              <a:ext cx="61912" cy="1587"/>
            </a:xfrm>
            <a:custGeom>
              <a:avLst/>
              <a:gdLst>
                <a:gd name="T0" fmla="*/ 0 w 32"/>
                <a:gd name="T1" fmla="*/ 0 h 1"/>
                <a:gd name="T2" fmla="*/ 2147483647 w 3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1">
                  <a:moveTo>
                    <a:pt x="0" y="0"/>
                  </a:moveTo>
                  <a:cubicBezTo>
                    <a:pt x="11" y="0"/>
                    <a:pt x="21" y="0"/>
                    <a:pt x="3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2364"/>
            <p:cNvSpPr>
              <a:spLocks/>
            </p:cNvSpPr>
            <p:nvPr/>
          </p:nvSpPr>
          <p:spPr bwMode="auto">
            <a:xfrm>
              <a:off x="746087" y="1450666"/>
              <a:ext cx="50800" cy="3175"/>
            </a:xfrm>
            <a:custGeom>
              <a:avLst/>
              <a:gdLst>
                <a:gd name="T0" fmla="*/ 0 w 27"/>
                <a:gd name="T1" fmla="*/ 2147483647 h 2"/>
                <a:gd name="T2" fmla="*/ 2147483647 w 27"/>
                <a:gd name="T3" fmla="*/ 2147483647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2">
                  <a:moveTo>
                    <a:pt x="0" y="2"/>
                  </a:moveTo>
                  <a:cubicBezTo>
                    <a:pt x="9" y="0"/>
                    <a:pt x="18" y="2"/>
                    <a:pt x="27" y="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2365"/>
            <p:cNvSpPr>
              <a:spLocks/>
            </p:cNvSpPr>
            <p:nvPr/>
          </p:nvSpPr>
          <p:spPr bwMode="auto">
            <a:xfrm>
              <a:off x="739737" y="1509403"/>
              <a:ext cx="61912" cy="6350"/>
            </a:xfrm>
            <a:custGeom>
              <a:avLst/>
              <a:gdLst>
                <a:gd name="T0" fmla="*/ 0 w 32"/>
                <a:gd name="T1" fmla="*/ 0 h 3"/>
                <a:gd name="T2" fmla="*/ 2147483647 w 32"/>
                <a:gd name="T3" fmla="*/ 2147483647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3">
                  <a:moveTo>
                    <a:pt x="0" y="0"/>
                  </a:moveTo>
                  <a:cubicBezTo>
                    <a:pt x="20" y="3"/>
                    <a:pt x="9" y="2"/>
                    <a:pt x="32" y="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2366"/>
            <p:cNvSpPr>
              <a:spLocks/>
            </p:cNvSpPr>
            <p:nvPr/>
          </p:nvSpPr>
          <p:spPr bwMode="auto">
            <a:xfrm>
              <a:off x="741324" y="1564966"/>
              <a:ext cx="55563" cy="1587"/>
            </a:xfrm>
            <a:custGeom>
              <a:avLst/>
              <a:gdLst>
                <a:gd name="T0" fmla="*/ 0 w 29"/>
                <a:gd name="T1" fmla="*/ 0 h 1"/>
                <a:gd name="T2" fmla="*/ 2147483647 w 29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">
                  <a:moveTo>
                    <a:pt x="0" y="0"/>
                  </a:moveTo>
                  <a:cubicBezTo>
                    <a:pt x="10" y="0"/>
                    <a:pt x="19" y="0"/>
                    <a:pt x="2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2367"/>
            <p:cNvSpPr>
              <a:spLocks/>
            </p:cNvSpPr>
            <p:nvPr/>
          </p:nvSpPr>
          <p:spPr bwMode="auto">
            <a:xfrm>
              <a:off x="709574" y="1609416"/>
              <a:ext cx="92075" cy="1587"/>
            </a:xfrm>
            <a:custGeom>
              <a:avLst/>
              <a:gdLst>
                <a:gd name="T0" fmla="*/ 0 w 48"/>
                <a:gd name="T1" fmla="*/ 0 h 1"/>
                <a:gd name="T2" fmla="*/ 2147483647 w 4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1">
                  <a:moveTo>
                    <a:pt x="0" y="0"/>
                  </a:moveTo>
                  <a:cubicBezTo>
                    <a:pt x="16" y="0"/>
                    <a:pt x="32" y="0"/>
                    <a:pt x="4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2" name="Text Box 2378"/>
          <p:cNvSpPr txBox="1">
            <a:spLocks noChangeArrowheads="1"/>
          </p:cNvSpPr>
          <p:nvPr/>
        </p:nvSpPr>
        <p:spPr bwMode="auto">
          <a:xfrm>
            <a:off x="4838219" y="3361792"/>
            <a:ext cx="309897" cy="30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438" tIns="43719" rIns="87438" bIns="43719">
            <a:spAutoFit/>
          </a:bodyPr>
          <a:lstStyle>
            <a:lvl1pPr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400" b="1">
                <a:latin typeface="Times New Roman" pitchFamily="18" charset="0"/>
                <a:ea typeface="幼圆" pitchFamily="49" charset="-122"/>
              </a:rPr>
              <a:t>V</a:t>
            </a:r>
          </a:p>
        </p:txBody>
      </p:sp>
      <p:sp>
        <p:nvSpPr>
          <p:cNvPr id="153" name="任意多边形 14"/>
          <p:cNvSpPr>
            <a:spLocks/>
          </p:cNvSpPr>
          <p:nvPr/>
        </p:nvSpPr>
        <p:spPr bwMode="auto">
          <a:xfrm>
            <a:off x="5231275" y="3015063"/>
            <a:ext cx="97192" cy="155153"/>
          </a:xfrm>
          <a:custGeom>
            <a:avLst/>
            <a:gdLst>
              <a:gd name="T0" fmla="*/ 87769 w 86859"/>
              <a:gd name="T1" fmla="*/ 689 h 160998"/>
              <a:gd name="T2" fmla="*/ 9771 w 86859"/>
              <a:gd name="T3" fmla="*/ 24713 h 160998"/>
              <a:gd name="T4" fmla="*/ 3772 w 86859"/>
              <a:gd name="T5" fmla="*/ 162857 h 1609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6859" h="160998">
                <a:moveTo>
                  <a:pt x="86859" y="681"/>
                </a:moveTo>
                <a:cubicBezTo>
                  <a:pt x="55191" y="-804"/>
                  <a:pt x="23523" y="-2288"/>
                  <a:pt x="9669" y="24431"/>
                </a:cubicBezTo>
                <a:cubicBezTo>
                  <a:pt x="-4185" y="51150"/>
                  <a:pt x="-227" y="106074"/>
                  <a:pt x="3732" y="160998"/>
                </a:cubicBezTo>
              </a:path>
            </a:pathLst>
          </a:custGeom>
          <a:noFill/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/>
          <a:p>
            <a:endParaRPr lang="zh-CN" altLang="en-US"/>
          </a:p>
        </p:txBody>
      </p:sp>
      <p:sp>
        <p:nvSpPr>
          <p:cNvPr id="154" name="任意多边形 17"/>
          <p:cNvSpPr>
            <a:spLocks/>
          </p:cNvSpPr>
          <p:nvPr/>
        </p:nvSpPr>
        <p:spPr bwMode="auto">
          <a:xfrm>
            <a:off x="5756480" y="2933778"/>
            <a:ext cx="829356" cy="1131633"/>
          </a:xfrm>
          <a:custGeom>
            <a:avLst/>
            <a:gdLst>
              <a:gd name="T0" fmla="*/ 1036138 w 1037138"/>
              <a:gd name="T1" fmla="*/ 1414367 h 1414559"/>
              <a:gd name="T2" fmla="*/ 0 w 1037138"/>
              <a:gd name="T3" fmla="*/ 1414367 h 1414559"/>
              <a:gd name="T4" fmla="*/ 0 w 1037138"/>
              <a:gd name="T5" fmla="*/ 340553 h 1414559"/>
              <a:gd name="T6" fmla="*/ 278959 w 1037138"/>
              <a:gd name="T7" fmla="*/ 340553 h 1414559"/>
              <a:gd name="T8" fmla="*/ 278959 w 1037138"/>
              <a:gd name="T9" fmla="*/ 0 h 14145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7138" h="1414559">
                <a:moveTo>
                  <a:pt x="1037138" y="1414559"/>
                </a:moveTo>
                <a:lnTo>
                  <a:pt x="0" y="1414559"/>
                </a:lnTo>
                <a:lnTo>
                  <a:pt x="0" y="340599"/>
                </a:lnTo>
                <a:lnTo>
                  <a:pt x="279229" y="340599"/>
                </a:lnTo>
                <a:lnTo>
                  <a:pt x="279229" y="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/>
          <a:p>
            <a:endParaRPr lang="zh-CN" altLang="en-US"/>
          </a:p>
        </p:txBody>
      </p:sp>
      <p:sp>
        <p:nvSpPr>
          <p:cNvPr id="155" name="等腰三角形 152"/>
          <p:cNvSpPr>
            <a:spLocks noChangeArrowheads="1"/>
          </p:cNvSpPr>
          <p:nvPr/>
        </p:nvSpPr>
        <p:spPr bwMode="auto">
          <a:xfrm flipV="1">
            <a:off x="5635824" y="2978231"/>
            <a:ext cx="153678" cy="57153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3152" tIns="36576" rIns="73152" bIns="36576"/>
          <a:lstStyle>
            <a:lvl1pPr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156" name="直接连接符 153"/>
          <p:cNvCxnSpPr>
            <a:cxnSpLocks noChangeShapeType="1"/>
          </p:cNvCxnSpPr>
          <p:nvPr/>
        </p:nvCxnSpPr>
        <p:spPr bwMode="auto">
          <a:xfrm>
            <a:off x="5615502" y="3067135"/>
            <a:ext cx="21337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7" name="直接连接符 154"/>
          <p:cNvCxnSpPr>
            <a:cxnSpLocks noChangeShapeType="1"/>
          </p:cNvCxnSpPr>
          <p:nvPr/>
        </p:nvCxnSpPr>
        <p:spPr bwMode="auto">
          <a:xfrm>
            <a:off x="5658685" y="3093806"/>
            <a:ext cx="127007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8" name="直接连接符 155"/>
          <p:cNvCxnSpPr>
            <a:cxnSpLocks noChangeShapeType="1"/>
          </p:cNvCxnSpPr>
          <p:nvPr/>
        </p:nvCxnSpPr>
        <p:spPr bwMode="auto">
          <a:xfrm>
            <a:off x="5705677" y="3120478"/>
            <a:ext cx="44453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9" name="任意多边形 70"/>
          <p:cNvSpPr>
            <a:spLocks/>
          </p:cNvSpPr>
          <p:nvPr/>
        </p:nvSpPr>
        <p:spPr bwMode="auto">
          <a:xfrm>
            <a:off x="5344977" y="2933777"/>
            <a:ext cx="95256" cy="41913"/>
          </a:xfrm>
          <a:custGeom>
            <a:avLst/>
            <a:gdLst>
              <a:gd name="T0" fmla="*/ 0 w 119063"/>
              <a:gd name="T1" fmla="*/ 53181 h 52388"/>
              <a:gd name="T2" fmla="*/ 119063 w 119063"/>
              <a:gd name="T3" fmla="*/ 53181 h 52388"/>
              <a:gd name="T4" fmla="*/ 119063 w 119063"/>
              <a:gd name="T5" fmla="*/ 0 h 523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9063" h="52388">
                <a:moveTo>
                  <a:pt x="0" y="52388"/>
                </a:moveTo>
                <a:lnTo>
                  <a:pt x="119063" y="52388"/>
                </a:lnTo>
                <a:lnTo>
                  <a:pt x="119063" y="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/>
          <a:p>
            <a:endParaRPr lang="zh-CN" altLang="en-US"/>
          </a:p>
        </p:txBody>
      </p:sp>
      <p:cxnSp>
        <p:nvCxnSpPr>
          <p:cNvPr id="160" name="直接连接符 71"/>
          <p:cNvCxnSpPr>
            <a:cxnSpLocks noChangeShapeType="1"/>
          </p:cNvCxnSpPr>
          <p:nvPr/>
        </p:nvCxnSpPr>
        <p:spPr bwMode="auto">
          <a:xfrm>
            <a:off x="6234026" y="3987936"/>
            <a:ext cx="116846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1" name="直接连接符 72"/>
          <p:cNvCxnSpPr>
            <a:cxnSpLocks noChangeShapeType="1"/>
          </p:cNvCxnSpPr>
          <p:nvPr/>
        </p:nvCxnSpPr>
        <p:spPr bwMode="auto">
          <a:xfrm>
            <a:off x="6292449" y="3987936"/>
            <a:ext cx="0" cy="156219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2" name="Text Box 2378"/>
          <p:cNvSpPr txBox="1">
            <a:spLocks noChangeArrowheads="1"/>
          </p:cNvSpPr>
          <p:nvPr/>
        </p:nvSpPr>
        <p:spPr bwMode="auto">
          <a:xfrm>
            <a:off x="6198464" y="3707251"/>
            <a:ext cx="259094" cy="285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438" tIns="43719" rIns="87438" bIns="43719">
            <a:spAutoFit/>
          </a:bodyPr>
          <a:lstStyle>
            <a:lvl1pPr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300">
                <a:latin typeface="Times New Roman" pitchFamily="18" charset="0"/>
                <a:ea typeface="幼圆" pitchFamily="49" charset="-122"/>
              </a:rPr>
              <a:t>d</a:t>
            </a:r>
          </a:p>
        </p:txBody>
      </p:sp>
      <p:sp>
        <p:nvSpPr>
          <p:cNvPr id="163" name="Text Box 2378"/>
          <p:cNvSpPr txBox="1">
            <a:spLocks noChangeArrowheads="1"/>
          </p:cNvSpPr>
          <p:nvPr/>
        </p:nvSpPr>
        <p:spPr bwMode="auto">
          <a:xfrm>
            <a:off x="5084897" y="4285386"/>
            <a:ext cx="330472" cy="478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438" tIns="43719" rIns="87438" bIns="43719">
            <a:spAutoFit/>
          </a:bodyPr>
          <a:lstStyle>
            <a:lvl1pPr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Times New Roman" pitchFamily="18" charset="0"/>
                <a:ea typeface="幼圆" pitchFamily="49" charset="-122"/>
              </a:rPr>
              <a:t>0</a:t>
            </a:r>
            <a:endParaRPr lang="en-US" altLang="zh-CN" sz="2400" b="1" dirty="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6491980" y="4396226"/>
            <a:ext cx="1143000" cy="171450"/>
          </a:xfrm>
          <a:custGeom>
            <a:avLst/>
            <a:gdLst>
              <a:gd name="connsiteX0" fmla="*/ 0 w 1143000"/>
              <a:gd name="connsiteY0" fmla="*/ 171450 h 171450"/>
              <a:gd name="connsiteX1" fmla="*/ 12700 w 1143000"/>
              <a:gd name="connsiteY1" fmla="*/ 76200 h 171450"/>
              <a:gd name="connsiteX2" fmla="*/ 69850 w 1143000"/>
              <a:gd name="connsiteY2" fmla="*/ 0 h 171450"/>
              <a:gd name="connsiteX3" fmla="*/ 1035050 w 1143000"/>
              <a:gd name="connsiteY3" fmla="*/ 0 h 171450"/>
              <a:gd name="connsiteX4" fmla="*/ 1098550 w 1143000"/>
              <a:gd name="connsiteY4" fmla="*/ 44450 h 171450"/>
              <a:gd name="connsiteX5" fmla="*/ 1130300 w 1143000"/>
              <a:gd name="connsiteY5" fmla="*/ 95250 h 171450"/>
              <a:gd name="connsiteX6" fmla="*/ 1143000 w 1143000"/>
              <a:gd name="connsiteY6" fmla="*/ 158750 h 171450"/>
              <a:gd name="connsiteX7" fmla="*/ 0 w 1143000"/>
              <a:gd name="connsiteY7" fmla="*/ 1714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" h="171450">
                <a:moveTo>
                  <a:pt x="0" y="171450"/>
                </a:moveTo>
                <a:lnTo>
                  <a:pt x="12700" y="76200"/>
                </a:lnTo>
                <a:lnTo>
                  <a:pt x="69850" y="0"/>
                </a:lnTo>
                <a:lnTo>
                  <a:pt x="1035050" y="0"/>
                </a:lnTo>
                <a:lnTo>
                  <a:pt x="1098550" y="44450"/>
                </a:lnTo>
                <a:lnTo>
                  <a:pt x="1130300" y="95250"/>
                </a:lnTo>
                <a:lnTo>
                  <a:pt x="1143000" y="158750"/>
                </a:lnTo>
                <a:lnTo>
                  <a:pt x="0" y="171450"/>
                </a:lnTo>
                <a:close/>
              </a:path>
            </a:pathLst>
          </a:custGeom>
          <a:solidFill>
            <a:schemeClr val="accent2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6273939" y="2268229"/>
            <a:ext cx="244116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0" name="直接连接符 169"/>
          <p:cNvCxnSpPr/>
          <p:nvPr/>
        </p:nvCxnSpPr>
        <p:spPr bwMode="auto">
          <a:xfrm>
            <a:off x="6281525" y="3570870"/>
            <a:ext cx="244116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直接连接符 172"/>
          <p:cNvCxnSpPr/>
          <p:nvPr/>
        </p:nvCxnSpPr>
        <p:spPr bwMode="auto">
          <a:xfrm>
            <a:off x="7994473" y="1857921"/>
            <a:ext cx="600636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5" name="直接连接符 174"/>
          <p:cNvCxnSpPr/>
          <p:nvPr/>
        </p:nvCxnSpPr>
        <p:spPr bwMode="auto">
          <a:xfrm>
            <a:off x="8051710" y="3036435"/>
            <a:ext cx="28273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7" name="任意多边形 14"/>
          <p:cNvSpPr>
            <a:spLocks/>
          </p:cNvSpPr>
          <p:nvPr/>
        </p:nvSpPr>
        <p:spPr bwMode="auto">
          <a:xfrm>
            <a:off x="6295059" y="1847583"/>
            <a:ext cx="120896" cy="188664"/>
          </a:xfrm>
          <a:custGeom>
            <a:avLst/>
            <a:gdLst>
              <a:gd name="T0" fmla="*/ 87769 w 86859"/>
              <a:gd name="T1" fmla="*/ 689 h 160998"/>
              <a:gd name="T2" fmla="*/ 9771 w 86859"/>
              <a:gd name="T3" fmla="*/ 24713 h 160998"/>
              <a:gd name="T4" fmla="*/ 3772 w 86859"/>
              <a:gd name="T5" fmla="*/ 162857 h 1609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6859" h="160998">
                <a:moveTo>
                  <a:pt x="86859" y="681"/>
                </a:moveTo>
                <a:cubicBezTo>
                  <a:pt x="55191" y="-804"/>
                  <a:pt x="23523" y="-2288"/>
                  <a:pt x="9669" y="24431"/>
                </a:cubicBezTo>
                <a:cubicBezTo>
                  <a:pt x="-4185" y="51150"/>
                  <a:pt x="-227" y="106074"/>
                  <a:pt x="3732" y="160998"/>
                </a:cubicBezTo>
              </a:path>
            </a:pathLst>
          </a:custGeom>
          <a:noFill/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/>
          <a:p>
            <a:endParaRPr lang="zh-CN" altLang="en-US"/>
          </a:p>
        </p:txBody>
      </p:sp>
      <p:cxnSp>
        <p:nvCxnSpPr>
          <p:cNvPr id="178" name="直接连接符 12"/>
          <p:cNvCxnSpPr>
            <a:cxnSpLocks noChangeShapeType="1"/>
          </p:cNvCxnSpPr>
          <p:nvPr/>
        </p:nvCxnSpPr>
        <p:spPr bwMode="auto">
          <a:xfrm>
            <a:off x="6585031" y="1870116"/>
            <a:ext cx="909487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任意多边形 14"/>
          <p:cNvSpPr/>
          <p:nvPr/>
        </p:nvSpPr>
        <p:spPr bwMode="auto">
          <a:xfrm>
            <a:off x="6427029" y="1424167"/>
            <a:ext cx="393068" cy="268942"/>
          </a:xfrm>
          <a:custGeom>
            <a:avLst/>
            <a:gdLst>
              <a:gd name="connsiteX0" fmla="*/ 8275 w 393068"/>
              <a:gd name="connsiteY0" fmla="*/ 66201 h 268942"/>
              <a:gd name="connsiteX1" fmla="*/ 223428 w 393068"/>
              <a:gd name="connsiteY1" fmla="*/ 66201 h 268942"/>
              <a:gd name="connsiteX2" fmla="*/ 293766 w 393068"/>
              <a:gd name="connsiteY2" fmla="*/ 99302 h 268942"/>
              <a:gd name="connsiteX3" fmla="*/ 318592 w 393068"/>
              <a:gd name="connsiteY3" fmla="*/ 177915 h 268942"/>
              <a:gd name="connsiteX4" fmla="*/ 318592 w 393068"/>
              <a:gd name="connsiteY4" fmla="*/ 268942 h 268942"/>
              <a:gd name="connsiteX5" fmla="*/ 388930 w 393068"/>
              <a:gd name="connsiteY5" fmla="*/ 268942 h 268942"/>
              <a:gd name="connsiteX6" fmla="*/ 393068 w 393068"/>
              <a:gd name="connsiteY6" fmla="*/ 169640 h 268942"/>
              <a:gd name="connsiteX7" fmla="*/ 376518 w 393068"/>
              <a:gd name="connsiteY7" fmla="*/ 103439 h 268942"/>
              <a:gd name="connsiteX8" fmla="*/ 314454 w 393068"/>
              <a:gd name="connsiteY8" fmla="*/ 24826 h 268942"/>
              <a:gd name="connsiteX9" fmla="*/ 244116 w 393068"/>
              <a:gd name="connsiteY9" fmla="*/ 0 h 268942"/>
              <a:gd name="connsiteX10" fmla="*/ 182052 w 393068"/>
              <a:gd name="connsiteY10" fmla="*/ 0 h 268942"/>
              <a:gd name="connsiteX11" fmla="*/ 0 w 393068"/>
              <a:gd name="connsiteY11" fmla="*/ 0 h 26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3068" h="268942">
                <a:moveTo>
                  <a:pt x="8275" y="66201"/>
                </a:moveTo>
                <a:lnTo>
                  <a:pt x="223428" y="66201"/>
                </a:lnTo>
                <a:lnTo>
                  <a:pt x="293766" y="99302"/>
                </a:lnTo>
                <a:lnTo>
                  <a:pt x="318592" y="177915"/>
                </a:lnTo>
                <a:lnTo>
                  <a:pt x="318592" y="268942"/>
                </a:lnTo>
                <a:lnTo>
                  <a:pt x="388930" y="268942"/>
                </a:lnTo>
                <a:lnTo>
                  <a:pt x="393068" y="169640"/>
                </a:lnTo>
                <a:lnTo>
                  <a:pt x="376518" y="103439"/>
                </a:lnTo>
                <a:lnTo>
                  <a:pt x="314454" y="24826"/>
                </a:lnTo>
                <a:lnTo>
                  <a:pt x="244116" y="0"/>
                </a:lnTo>
                <a:lnTo>
                  <a:pt x="182052" y="0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 bwMode="auto">
          <a:xfrm>
            <a:off x="6108733" y="1448993"/>
            <a:ext cx="252095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8" name="任意多边形 17"/>
          <p:cNvSpPr/>
          <p:nvPr/>
        </p:nvSpPr>
        <p:spPr bwMode="auto">
          <a:xfrm>
            <a:off x="7502794" y="1453130"/>
            <a:ext cx="140677" cy="777861"/>
          </a:xfrm>
          <a:custGeom>
            <a:avLst/>
            <a:gdLst>
              <a:gd name="connsiteX0" fmla="*/ 0 w 140677"/>
              <a:gd name="connsiteY0" fmla="*/ 777861 h 777861"/>
              <a:gd name="connsiteX1" fmla="*/ 140677 w 140677"/>
              <a:gd name="connsiteY1" fmla="*/ 777861 h 777861"/>
              <a:gd name="connsiteX2" fmla="*/ 140677 w 140677"/>
              <a:gd name="connsiteY2" fmla="*/ 0 h 77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677" h="777861">
                <a:moveTo>
                  <a:pt x="0" y="777861"/>
                </a:moveTo>
                <a:lnTo>
                  <a:pt x="140677" y="777861"/>
                </a:lnTo>
                <a:lnTo>
                  <a:pt x="140677" y="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任意多边形 18"/>
          <p:cNvSpPr/>
          <p:nvPr/>
        </p:nvSpPr>
        <p:spPr bwMode="auto">
          <a:xfrm>
            <a:off x="7502794" y="1448993"/>
            <a:ext cx="219290" cy="868887"/>
          </a:xfrm>
          <a:custGeom>
            <a:avLst/>
            <a:gdLst>
              <a:gd name="connsiteX0" fmla="*/ 0 w 219290"/>
              <a:gd name="connsiteY0" fmla="*/ 868887 h 868887"/>
              <a:gd name="connsiteX1" fmla="*/ 219290 w 219290"/>
              <a:gd name="connsiteY1" fmla="*/ 868887 h 868887"/>
              <a:gd name="connsiteX2" fmla="*/ 219290 w 219290"/>
              <a:gd name="connsiteY2" fmla="*/ 0 h 86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290" h="868887">
                <a:moveTo>
                  <a:pt x="0" y="868887"/>
                </a:moveTo>
                <a:lnTo>
                  <a:pt x="219290" y="868887"/>
                </a:lnTo>
                <a:lnTo>
                  <a:pt x="219290" y="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任意多边形 19"/>
          <p:cNvSpPr/>
          <p:nvPr/>
        </p:nvSpPr>
        <p:spPr bwMode="auto">
          <a:xfrm>
            <a:off x="7506931" y="1448993"/>
            <a:ext cx="339280" cy="2031540"/>
          </a:xfrm>
          <a:custGeom>
            <a:avLst/>
            <a:gdLst>
              <a:gd name="connsiteX0" fmla="*/ 0 w 339280"/>
              <a:gd name="connsiteY0" fmla="*/ 2031540 h 2031540"/>
              <a:gd name="connsiteX1" fmla="*/ 339280 w 339280"/>
              <a:gd name="connsiteY1" fmla="*/ 2031540 h 2031540"/>
              <a:gd name="connsiteX2" fmla="*/ 339280 w 339280"/>
              <a:gd name="connsiteY2" fmla="*/ 0 h 203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280" h="2031540">
                <a:moveTo>
                  <a:pt x="0" y="2031540"/>
                </a:moveTo>
                <a:lnTo>
                  <a:pt x="339280" y="2031540"/>
                </a:lnTo>
                <a:lnTo>
                  <a:pt x="339280" y="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任意多边形 20"/>
          <p:cNvSpPr/>
          <p:nvPr/>
        </p:nvSpPr>
        <p:spPr bwMode="auto">
          <a:xfrm>
            <a:off x="7515206" y="1440718"/>
            <a:ext cx="430306" cy="2126704"/>
          </a:xfrm>
          <a:custGeom>
            <a:avLst/>
            <a:gdLst>
              <a:gd name="connsiteX0" fmla="*/ 0 w 430306"/>
              <a:gd name="connsiteY0" fmla="*/ 2126704 h 2126704"/>
              <a:gd name="connsiteX1" fmla="*/ 430306 w 430306"/>
              <a:gd name="connsiteY1" fmla="*/ 2126704 h 2126704"/>
              <a:gd name="connsiteX2" fmla="*/ 430306 w 430306"/>
              <a:gd name="connsiteY2" fmla="*/ 0 h 2126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306" h="2126704">
                <a:moveTo>
                  <a:pt x="0" y="2126704"/>
                </a:moveTo>
                <a:lnTo>
                  <a:pt x="430306" y="2126704"/>
                </a:lnTo>
                <a:lnTo>
                  <a:pt x="430306" y="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 bwMode="auto">
          <a:xfrm>
            <a:off x="6588394" y="3646035"/>
            <a:ext cx="922675" cy="0"/>
          </a:xfrm>
          <a:prstGeom prst="line">
            <a:avLst/>
          </a:prstGeom>
          <a:noFill/>
          <a:ln w="12700" cap="flat" cmpd="sng" algn="ctr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/>
          <p:cNvCxnSpPr/>
          <p:nvPr/>
        </p:nvCxnSpPr>
        <p:spPr bwMode="auto">
          <a:xfrm>
            <a:off x="6815959" y="3561812"/>
            <a:ext cx="0" cy="78613"/>
          </a:xfrm>
          <a:prstGeom prst="line">
            <a:avLst/>
          </a:prstGeom>
          <a:noFill/>
          <a:ln w="5715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3" name="直接连接符 192"/>
          <p:cNvCxnSpPr/>
          <p:nvPr/>
        </p:nvCxnSpPr>
        <p:spPr bwMode="auto">
          <a:xfrm>
            <a:off x="7018010" y="3559650"/>
            <a:ext cx="0" cy="78613"/>
          </a:xfrm>
          <a:prstGeom prst="line">
            <a:avLst/>
          </a:prstGeom>
          <a:noFill/>
          <a:ln w="5715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4" name="直接连接符 193"/>
          <p:cNvCxnSpPr/>
          <p:nvPr/>
        </p:nvCxnSpPr>
        <p:spPr bwMode="auto">
          <a:xfrm>
            <a:off x="7186957" y="3558960"/>
            <a:ext cx="0" cy="78613"/>
          </a:xfrm>
          <a:prstGeom prst="line">
            <a:avLst/>
          </a:prstGeom>
          <a:noFill/>
          <a:ln w="5715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5" name="直接连接符 194"/>
          <p:cNvCxnSpPr/>
          <p:nvPr/>
        </p:nvCxnSpPr>
        <p:spPr bwMode="auto">
          <a:xfrm>
            <a:off x="7347628" y="3558270"/>
            <a:ext cx="0" cy="78613"/>
          </a:xfrm>
          <a:prstGeom prst="line">
            <a:avLst/>
          </a:prstGeom>
          <a:noFill/>
          <a:ln w="5715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任意多边形 28"/>
          <p:cNvSpPr/>
          <p:nvPr/>
        </p:nvSpPr>
        <p:spPr bwMode="auto">
          <a:xfrm>
            <a:off x="6608194" y="3658448"/>
            <a:ext cx="207765" cy="161365"/>
          </a:xfrm>
          <a:custGeom>
            <a:avLst/>
            <a:gdLst>
              <a:gd name="connsiteX0" fmla="*/ 42263 w 207765"/>
              <a:gd name="connsiteY0" fmla="*/ 16550 h 161365"/>
              <a:gd name="connsiteX1" fmla="*/ 21575 w 207765"/>
              <a:gd name="connsiteY1" fmla="*/ 28963 h 161365"/>
              <a:gd name="connsiteX2" fmla="*/ 17438 w 207765"/>
              <a:gd name="connsiteY2" fmla="*/ 41376 h 161365"/>
              <a:gd name="connsiteX3" fmla="*/ 9162 w 207765"/>
              <a:gd name="connsiteY3" fmla="*/ 49651 h 161365"/>
              <a:gd name="connsiteX4" fmla="*/ 9162 w 207765"/>
              <a:gd name="connsiteY4" fmla="*/ 128264 h 161365"/>
              <a:gd name="connsiteX5" fmla="*/ 33988 w 207765"/>
              <a:gd name="connsiteY5" fmla="*/ 136539 h 161365"/>
              <a:gd name="connsiteX6" fmla="*/ 71226 w 207765"/>
              <a:gd name="connsiteY6" fmla="*/ 153090 h 161365"/>
              <a:gd name="connsiteX7" fmla="*/ 83639 w 207765"/>
              <a:gd name="connsiteY7" fmla="*/ 157227 h 161365"/>
              <a:gd name="connsiteX8" fmla="*/ 96051 w 207765"/>
              <a:gd name="connsiteY8" fmla="*/ 161365 h 161365"/>
              <a:gd name="connsiteX9" fmla="*/ 158115 w 207765"/>
              <a:gd name="connsiteY9" fmla="*/ 157227 h 161365"/>
              <a:gd name="connsiteX10" fmla="*/ 178802 w 207765"/>
              <a:gd name="connsiteY10" fmla="*/ 144814 h 161365"/>
              <a:gd name="connsiteX11" fmla="*/ 191215 w 207765"/>
              <a:gd name="connsiteY11" fmla="*/ 140677 h 161365"/>
              <a:gd name="connsiteX12" fmla="*/ 203628 w 207765"/>
              <a:gd name="connsiteY12" fmla="*/ 115852 h 161365"/>
              <a:gd name="connsiteX13" fmla="*/ 207765 w 207765"/>
              <a:gd name="connsiteY13" fmla="*/ 103439 h 161365"/>
              <a:gd name="connsiteX14" fmla="*/ 203628 w 207765"/>
              <a:gd name="connsiteY14" fmla="*/ 28963 h 161365"/>
              <a:gd name="connsiteX15" fmla="*/ 195353 w 207765"/>
              <a:gd name="connsiteY15" fmla="*/ 16550 h 161365"/>
              <a:gd name="connsiteX16" fmla="*/ 166390 w 207765"/>
              <a:gd name="connsiteY16" fmla="*/ 8275 h 161365"/>
              <a:gd name="connsiteX17" fmla="*/ 141564 w 207765"/>
              <a:gd name="connsiteY17" fmla="*/ 0 h 161365"/>
              <a:gd name="connsiteX18" fmla="*/ 108464 w 207765"/>
              <a:gd name="connsiteY18" fmla="*/ 4138 h 161365"/>
              <a:gd name="connsiteX19" fmla="*/ 83639 w 207765"/>
              <a:gd name="connsiteY19" fmla="*/ 8275 h 161365"/>
              <a:gd name="connsiteX20" fmla="*/ 42263 w 207765"/>
              <a:gd name="connsiteY20" fmla="*/ 16550 h 161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7765" h="161365">
                <a:moveTo>
                  <a:pt x="42263" y="16550"/>
                </a:moveTo>
                <a:cubicBezTo>
                  <a:pt x="31919" y="19998"/>
                  <a:pt x="27261" y="23276"/>
                  <a:pt x="21575" y="28963"/>
                </a:cubicBezTo>
                <a:cubicBezTo>
                  <a:pt x="18491" y="32047"/>
                  <a:pt x="19682" y="37636"/>
                  <a:pt x="17438" y="41376"/>
                </a:cubicBezTo>
                <a:cubicBezTo>
                  <a:pt x="15431" y="44721"/>
                  <a:pt x="11921" y="46893"/>
                  <a:pt x="9162" y="49651"/>
                </a:cubicBezTo>
                <a:cubicBezTo>
                  <a:pt x="130" y="76749"/>
                  <a:pt x="-5875" y="89597"/>
                  <a:pt x="9162" y="128264"/>
                </a:cubicBezTo>
                <a:cubicBezTo>
                  <a:pt x="12324" y="136394"/>
                  <a:pt x="33988" y="136539"/>
                  <a:pt x="33988" y="136539"/>
                </a:cubicBezTo>
                <a:cubicBezTo>
                  <a:pt x="53657" y="149652"/>
                  <a:pt x="41685" y="143243"/>
                  <a:pt x="71226" y="153090"/>
                </a:cubicBezTo>
                <a:lnTo>
                  <a:pt x="83639" y="157227"/>
                </a:lnTo>
                <a:lnTo>
                  <a:pt x="96051" y="161365"/>
                </a:lnTo>
                <a:cubicBezTo>
                  <a:pt x="116739" y="159986"/>
                  <a:pt x="137508" y="159517"/>
                  <a:pt x="158115" y="157227"/>
                </a:cubicBezTo>
                <a:cubicBezTo>
                  <a:pt x="177297" y="155096"/>
                  <a:pt x="164698" y="153276"/>
                  <a:pt x="178802" y="144814"/>
                </a:cubicBezTo>
                <a:cubicBezTo>
                  <a:pt x="182542" y="142570"/>
                  <a:pt x="187077" y="142056"/>
                  <a:pt x="191215" y="140677"/>
                </a:cubicBezTo>
                <a:cubicBezTo>
                  <a:pt x="201619" y="109469"/>
                  <a:pt x="187583" y="147943"/>
                  <a:pt x="203628" y="115852"/>
                </a:cubicBezTo>
                <a:cubicBezTo>
                  <a:pt x="205578" y="111951"/>
                  <a:pt x="206386" y="107577"/>
                  <a:pt x="207765" y="103439"/>
                </a:cubicBezTo>
                <a:cubicBezTo>
                  <a:pt x="206386" y="78614"/>
                  <a:pt x="207144" y="53577"/>
                  <a:pt x="203628" y="28963"/>
                </a:cubicBezTo>
                <a:cubicBezTo>
                  <a:pt x="202925" y="24040"/>
                  <a:pt x="199236" y="19656"/>
                  <a:pt x="195353" y="16550"/>
                </a:cubicBezTo>
                <a:cubicBezTo>
                  <a:pt x="192575" y="14327"/>
                  <a:pt x="167575" y="8631"/>
                  <a:pt x="166390" y="8275"/>
                </a:cubicBezTo>
                <a:cubicBezTo>
                  <a:pt x="158035" y="5768"/>
                  <a:pt x="141564" y="0"/>
                  <a:pt x="141564" y="0"/>
                </a:cubicBezTo>
                <a:lnTo>
                  <a:pt x="108464" y="4138"/>
                </a:lnTo>
                <a:cubicBezTo>
                  <a:pt x="100159" y="5324"/>
                  <a:pt x="92028" y="8275"/>
                  <a:pt x="83639" y="8275"/>
                </a:cubicBezTo>
                <a:cubicBezTo>
                  <a:pt x="71150" y="8275"/>
                  <a:pt x="52607" y="13102"/>
                  <a:pt x="42263" y="165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0" name="任意多边形 29"/>
          <p:cNvSpPr/>
          <p:nvPr/>
        </p:nvSpPr>
        <p:spPr bwMode="auto">
          <a:xfrm>
            <a:off x="6818192" y="3662586"/>
            <a:ext cx="163269" cy="136539"/>
          </a:xfrm>
          <a:custGeom>
            <a:avLst/>
            <a:gdLst>
              <a:gd name="connsiteX0" fmla="*/ 6042 w 163269"/>
              <a:gd name="connsiteY0" fmla="*/ 49650 h 136539"/>
              <a:gd name="connsiteX1" fmla="*/ 26730 w 163269"/>
              <a:gd name="connsiteY1" fmla="*/ 28962 h 136539"/>
              <a:gd name="connsiteX2" fmla="*/ 39143 w 163269"/>
              <a:gd name="connsiteY2" fmla="*/ 24825 h 136539"/>
              <a:gd name="connsiteX3" fmla="*/ 51555 w 163269"/>
              <a:gd name="connsiteY3" fmla="*/ 16550 h 136539"/>
              <a:gd name="connsiteX4" fmla="*/ 63968 w 163269"/>
              <a:gd name="connsiteY4" fmla="*/ 12412 h 136539"/>
              <a:gd name="connsiteX5" fmla="*/ 88793 w 163269"/>
              <a:gd name="connsiteY5" fmla="*/ 0 h 136539"/>
              <a:gd name="connsiteX6" fmla="*/ 109481 w 163269"/>
              <a:gd name="connsiteY6" fmla="*/ 4137 h 136539"/>
              <a:gd name="connsiteX7" fmla="*/ 134307 w 163269"/>
              <a:gd name="connsiteY7" fmla="*/ 12412 h 136539"/>
              <a:gd name="connsiteX8" fmla="*/ 150857 w 163269"/>
              <a:gd name="connsiteY8" fmla="*/ 37238 h 136539"/>
              <a:gd name="connsiteX9" fmla="*/ 159132 w 163269"/>
              <a:gd name="connsiteY9" fmla="*/ 49650 h 136539"/>
              <a:gd name="connsiteX10" fmla="*/ 163269 w 163269"/>
              <a:gd name="connsiteY10" fmla="*/ 62063 h 136539"/>
              <a:gd name="connsiteX11" fmla="*/ 134307 w 163269"/>
              <a:gd name="connsiteY11" fmla="*/ 103438 h 136539"/>
              <a:gd name="connsiteX12" fmla="*/ 109481 w 163269"/>
              <a:gd name="connsiteY12" fmla="*/ 111714 h 136539"/>
              <a:gd name="connsiteX13" fmla="*/ 97069 w 163269"/>
              <a:gd name="connsiteY13" fmla="*/ 115851 h 136539"/>
              <a:gd name="connsiteX14" fmla="*/ 88793 w 163269"/>
              <a:gd name="connsiteY14" fmla="*/ 124126 h 136539"/>
              <a:gd name="connsiteX15" fmla="*/ 76381 w 163269"/>
              <a:gd name="connsiteY15" fmla="*/ 128264 h 136539"/>
              <a:gd name="connsiteX16" fmla="*/ 63968 w 163269"/>
              <a:gd name="connsiteY16" fmla="*/ 136539 h 136539"/>
              <a:gd name="connsiteX17" fmla="*/ 26730 w 163269"/>
              <a:gd name="connsiteY17" fmla="*/ 128264 h 136539"/>
              <a:gd name="connsiteX18" fmla="*/ 18455 w 163269"/>
              <a:gd name="connsiteY18" fmla="*/ 115851 h 136539"/>
              <a:gd name="connsiteX19" fmla="*/ 10180 w 163269"/>
              <a:gd name="connsiteY19" fmla="*/ 91026 h 136539"/>
              <a:gd name="connsiteX20" fmla="*/ 6042 w 163269"/>
              <a:gd name="connsiteY20" fmla="*/ 78613 h 136539"/>
              <a:gd name="connsiteX21" fmla="*/ 1905 w 163269"/>
              <a:gd name="connsiteY21" fmla="*/ 66200 h 136539"/>
              <a:gd name="connsiteX22" fmla="*/ 6042 w 163269"/>
              <a:gd name="connsiteY22" fmla="*/ 49650 h 1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3269" h="136539">
                <a:moveTo>
                  <a:pt x="6042" y="49650"/>
                </a:moveTo>
                <a:cubicBezTo>
                  <a:pt x="10179" y="43444"/>
                  <a:pt x="18928" y="34813"/>
                  <a:pt x="26730" y="28962"/>
                </a:cubicBezTo>
                <a:cubicBezTo>
                  <a:pt x="30219" y="26345"/>
                  <a:pt x="35242" y="26775"/>
                  <a:pt x="39143" y="24825"/>
                </a:cubicBezTo>
                <a:cubicBezTo>
                  <a:pt x="43591" y="22601"/>
                  <a:pt x="47107" y="18774"/>
                  <a:pt x="51555" y="16550"/>
                </a:cubicBezTo>
                <a:cubicBezTo>
                  <a:pt x="55456" y="14599"/>
                  <a:pt x="60067" y="14363"/>
                  <a:pt x="63968" y="12412"/>
                </a:cubicBezTo>
                <a:cubicBezTo>
                  <a:pt x="96046" y="-3627"/>
                  <a:pt x="57599" y="10397"/>
                  <a:pt x="88793" y="0"/>
                </a:cubicBezTo>
                <a:cubicBezTo>
                  <a:pt x="95689" y="1379"/>
                  <a:pt x="102696" y="2287"/>
                  <a:pt x="109481" y="4137"/>
                </a:cubicBezTo>
                <a:cubicBezTo>
                  <a:pt x="117897" y="6432"/>
                  <a:pt x="134307" y="12412"/>
                  <a:pt x="134307" y="12412"/>
                </a:cubicBezTo>
                <a:lnTo>
                  <a:pt x="150857" y="37238"/>
                </a:lnTo>
                <a:lnTo>
                  <a:pt x="159132" y="49650"/>
                </a:lnTo>
                <a:cubicBezTo>
                  <a:pt x="160511" y="53788"/>
                  <a:pt x="163269" y="57702"/>
                  <a:pt x="163269" y="62063"/>
                </a:cubicBezTo>
                <a:cubicBezTo>
                  <a:pt x="163269" y="85832"/>
                  <a:pt x="159270" y="95116"/>
                  <a:pt x="134307" y="103438"/>
                </a:cubicBezTo>
                <a:lnTo>
                  <a:pt x="109481" y="111714"/>
                </a:lnTo>
                <a:lnTo>
                  <a:pt x="97069" y="115851"/>
                </a:lnTo>
                <a:cubicBezTo>
                  <a:pt x="94310" y="118609"/>
                  <a:pt x="92138" y="122119"/>
                  <a:pt x="88793" y="124126"/>
                </a:cubicBezTo>
                <a:cubicBezTo>
                  <a:pt x="85053" y="126370"/>
                  <a:pt x="80282" y="126314"/>
                  <a:pt x="76381" y="128264"/>
                </a:cubicBezTo>
                <a:cubicBezTo>
                  <a:pt x="71933" y="130488"/>
                  <a:pt x="68106" y="133781"/>
                  <a:pt x="63968" y="136539"/>
                </a:cubicBezTo>
                <a:cubicBezTo>
                  <a:pt x="63718" y="136497"/>
                  <a:pt x="32089" y="132551"/>
                  <a:pt x="26730" y="128264"/>
                </a:cubicBezTo>
                <a:cubicBezTo>
                  <a:pt x="22847" y="125158"/>
                  <a:pt x="20475" y="120395"/>
                  <a:pt x="18455" y="115851"/>
                </a:cubicBezTo>
                <a:cubicBezTo>
                  <a:pt x="14912" y="107880"/>
                  <a:pt x="12938" y="99301"/>
                  <a:pt x="10180" y="91026"/>
                </a:cubicBezTo>
                <a:lnTo>
                  <a:pt x="6042" y="78613"/>
                </a:lnTo>
                <a:lnTo>
                  <a:pt x="1905" y="66200"/>
                </a:lnTo>
                <a:cubicBezTo>
                  <a:pt x="-2669" y="52477"/>
                  <a:pt x="1905" y="55856"/>
                  <a:pt x="6042" y="496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1" name="任意多边形 30"/>
          <p:cNvSpPr/>
          <p:nvPr/>
        </p:nvSpPr>
        <p:spPr bwMode="auto">
          <a:xfrm>
            <a:off x="7000841" y="3670861"/>
            <a:ext cx="158535" cy="144814"/>
          </a:xfrm>
          <a:custGeom>
            <a:avLst/>
            <a:gdLst>
              <a:gd name="connsiteX0" fmla="*/ 9583 w 158535"/>
              <a:gd name="connsiteY0" fmla="*/ 33100 h 144814"/>
              <a:gd name="connsiteX1" fmla="*/ 30271 w 158535"/>
              <a:gd name="connsiteY1" fmla="*/ 24825 h 144814"/>
              <a:gd name="connsiteX2" fmla="*/ 75784 w 158535"/>
              <a:gd name="connsiteY2" fmla="*/ 12412 h 144814"/>
              <a:gd name="connsiteX3" fmla="*/ 100610 w 158535"/>
              <a:gd name="connsiteY3" fmla="*/ 0 h 144814"/>
              <a:gd name="connsiteX4" fmla="*/ 117160 w 158535"/>
              <a:gd name="connsiteY4" fmla="*/ 4137 h 144814"/>
              <a:gd name="connsiteX5" fmla="*/ 121297 w 158535"/>
              <a:gd name="connsiteY5" fmla="*/ 16550 h 144814"/>
              <a:gd name="connsiteX6" fmla="*/ 133710 w 158535"/>
              <a:gd name="connsiteY6" fmla="*/ 20687 h 144814"/>
              <a:gd name="connsiteX7" fmla="*/ 150260 w 158535"/>
              <a:gd name="connsiteY7" fmla="*/ 41375 h 144814"/>
              <a:gd name="connsiteX8" fmla="*/ 158535 w 158535"/>
              <a:gd name="connsiteY8" fmla="*/ 74476 h 144814"/>
              <a:gd name="connsiteX9" fmla="*/ 146123 w 158535"/>
              <a:gd name="connsiteY9" fmla="*/ 124126 h 144814"/>
              <a:gd name="connsiteX10" fmla="*/ 133710 w 158535"/>
              <a:gd name="connsiteY10" fmla="*/ 136539 h 144814"/>
              <a:gd name="connsiteX11" fmla="*/ 108885 w 158535"/>
              <a:gd name="connsiteY11" fmla="*/ 144814 h 144814"/>
              <a:gd name="connsiteX12" fmla="*/ 75784 w 158535"/>
              <a:gd name="connsiteY12" fmla="*/ 140677 h 144814"/>
              <a:gd name="connsiteX13" fmla="*/ 50959 w 158535"/>
              <a:gd name="connsiteY13" fmla="*/ 132401 h 144814"/>
              <a:gd name="connsiteX14" fmla="*/ 38546 w 158535"/>
              <a:gd name="connsiteY14" fmla="*/ 128264 h 144814"/>
              <a:gd name="connsiteX15" fmla="*/ 17858 w 158535"/>
              <a:gd name="connsiteY15" fmla="*/ 124126 h 144814"/>
              <a:gd name="connsiteX16" fmla="*/ 9583 w 158535"/>
              <a:gd name="connsiteY16" fmla="*/ 111714 h 144814"/>
              <a:gd name="connsiteX17" fmla="*/ 1308 w 158535"/>
              <a:gd name="connsiteY17" fmla="*/ 62063 h 144814"/>
              <a:gd name="connsiteX18" fmla="*/ 9583 w 158535"/>
              <a:gd name="connsiteY18" fmla="*/ 33100 h 14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8535" h="144814">
                <a:moveTo>
                  <a:pt x="9583" y="33100"/>
                </a:moveTo>
                <a:cubicBezTo>
                  <a:pt x="14410" y="26894"/>
                  <a:pt x="23157" y="26959"/>
                  <a:pt x="30271" y="24825"/>
                </a:cubicBezTo>
                <a:cubicBezTo>
                  <a:pt x="44401" y="20586"/>
                  <a:pt x="63030" y="20914"/>
                  <a:pt x="75784" y="12412"/>
                </a:cubicBezTo>
                <a:cubicBezTo>
                  <a:pt x="91826" y="1718"/>
                  <a:pt x="83479" y="5709"/>
                  <a:pt x="100610" y="0"/>
                </a:cubicBezTo>
                <a:cubicBezTo>
                  <a:pt x="106127" y="1379"/>
                  <a:pt x="112720" y="585"/>
                  <a:pt x="117160" y="4137"/>
                </a:cubicBezTo>
                <a:cubicBezTo>
                  <a:pt x="120566" y="6862"/>
                  <a:pt x="118213" y="13466"/>
                  <a:pt x="121297" y="16550"/>
                </a:cubicBezTo>
                <a:cubicBezTo>
                  <a:pt x="124381" y="19634"/>
                  <a:pt x="129572" y="19308"/>
                  <a:pt x="133710" y="20687"/>
                </a:cubicBezTo>
                <a:cubicBezTo>
                  <a:pt x="141405" y="28383"/>
                  <a:pt x="145041" y="30938"/>
                  <a:pt x="150260" y="41375"/>
                </a:cubicBezTo>
                <a:cubicBezTo>
                  <a:pt x="154502" y="49859"/>
                  <a:pt x="156961" y="66603"/>
                  <a:pt x="158535" y="74476"/>
                </a:cubicBezTo>
                <a:cubicBezTo>
                  <a:pt x="155317" y="103440"/>
                  <a:pt x="160741" y="106584"/>
                  <a:pt x="146123" y="124126"/>
                </a:cubicBezTo>
                <a:cubicBezTo>
                  <a:pt x="142377" y="128621"/>
                  <a:pt x="138825" y="133697"/>
                  <a:pt x="133710" y="136539"/>
                </a:cubicBezTo>
                <a:cubicBezTo>
                  <a:pt x="126085" y="140775"/>
                  <a:pt x="108885" y="144814"/>
                  <a:pt x="108885" y="144814"/>
                </a:cubicBezTo>
                <a:cubicBezTo>
                  <a:pt x="97851" y="143435"/>
                  <a:pt x="86657" y="143007"/>
                  <a:pt x="75784" y="140677"/>
                </a:cubicBezTo>
                <a:cubicBezTo>
                  <a:pt x="67255" y="138849"/>
                  <a:pt x="59234" y="135159"/>
                  <a:pt x="50959" y="132401"/>
                </a:cubicBezTo>
                <a:cubicBezTo>
                  <a:pt x="46821" y="131022"/>
                  <a:pt x="42823" y="129119"/>
                  <a:pt x="38546" y="128264"/>
                </a:cubicBezTo>
                <a:lnTo>
                  <a:pt x="17858" y="124126"/>
                </a:lnTo>
                <a:cubicBezTo>
                  <a:pt x="15100" y="119989"/>
                  <a:pt x="11807" y="116162"/>
                  <a:pt x="9583" y="111714"/>
                </a:cubicBezTo>
                <a:cubicBezTo>
                  <a:pt x="1509" y="95566"/>
                  <a:pt x="5893" y="80403"/>
                  <a:pt x="1308" y="62063"/>
                </a:cubicBezTo>
                <a:cubicBezTo>
                  <a:pt x="-3130" y="44311"/>
                  <a:pt x="4756" y="39306"/>
                  <a:pt x="9583" y="3310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任意多边形 31"/>
          <p:cNvSpPr/>
          <p:nvPr/>
        </p:nvSpPr>
        <p:spPr bwMode="auto">
          <a:xfrm>
            <a:off x="7171181" y="3670861"/>
            <a:ext cx="137295" cy="136539"/>
          </a:xfrm>
          <a:custGeom>
            <a:avLst/>
            <a:gdLst>
              <a:gd name="connsiteX0" fmla="*/ 4746 w 137295"/>
              <a:gd name="connsiteY0" fmla="*/ 37238 h 136539"/>
              <a:gd name="connsiteX1" fmla="*/ 25433 w 137295"/>
              <a:gd name="connsiteY1" fmla="*/ 28963 h 136539"/>
              <a:gd name="connsiteX2" fmla="*/ 50259 w 137295"/>
              <a:gd name="connsiteY2" fmla="*/ 8275 h 136539"/>
              <a:gd name="connsiteX3" fmla="*/ 62671 w 137295"/>
              <a:gd name="connsiteY3" fmla="*/ 0 h 136539"/>
              <a:gd name="connsiteX4" fmla="*/ 91634 w 137295"/>
              <a:gd name="connsiteY4" fmla="*/ 8275 h 136539"/>
              <a:gd name="connsiteX5" fmla="*/ 95772 w 137295"/>
              <a:gd name="connsiteY5" fmla="*/ 20687 h 136539"/>
              <a:gd name="connsiteX6" fmla="*/ 116460 w 137295"/>
              <a:gd name="connsiteY6" fmla="*/ 45513 h 136539"/>
              <a:gd name="connsiteX7" fmla="*/ 128872 w 137295"/>
              <a:gd name="connsiteY7" fmla="*/ 49650 h 136539"/>
              <a:gd name="connsiteX8" fmla="*/ 137147 w 137295"/>
              <a:gd name="connsiteY8" fmla="*/ 74476 h 136539"/>
              <a:gd name="connsiteX9" fmla="*/ 133010 w 137295"/>
              <a:gd name="connsiteY9" fmla="*/ 103439 h 136539"/>
              <a:gd name="connsiteX10" fmla="*/ 112322 w 137295"/>
              <a:gd name="connsiteY10" fmla="*/ 124126 h 136539"/>
              <a:gd name="connsiteX11" fmla="*/ 46121 w 137295"/>
              <a:gd name="connsiteY11" fmla="*/ 136539 h 136539"/>
              <a:gd name="connsiteX12" fmla="*/ 13021 w 137295"/>
              <a:gd name="connsiteY12" fmla="*/ 124126 h 136539"/>
              <a:gd name="connsiteX13" fmla="*/ 8883 w 137295"/>
              <a:gd name="connsiteY13" fmla="*/ 111714 h 136539"/>
              <a:gd name="connsiteX14" fmla="*/ 4746 w 137295"/>
              <a:gd name="connsiteY14" fmla="*/ 78613 h 136539"/>
              <a:gd name="connsiteX15" fmla="*/ 4746 w 137295"/>
              <a:gd name="connsiteY15" fmla="*/ 37238 h 136539"/>
              <a:gd name="connsiteX16" fmla="*/ 4746 w 137295"/>
              <a:gd name="connsiteY16" fmla="*/ 37238 h 1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7295" h="136539">
                <a:moveTo>
                  <a:pt x="4746" y="37238"/>
                </a:moveTo>
                <a:cubicBezTo>
                  <a:pt x="8194" y="35859"/>
                  <a:pt x="18790" y="32285"/>
                  <a:pt x="25433" y="28963"/>
                </a:cubicBezTo>
                <a:cubicBezTo>
                  <a:pt x="40839" y="21260"/>
                  <a:pt x="36536" y="19710"/>
                  <a:pt x="50259" y="8275"/>
                </a:cubicBezTo>
                <a:cubicBezTo>
                  <a:pt x="54079" y="5092"/>
                  <a:pt x="58534" y="2758"/>
                  <a:pt x="62671" y="0"/>
                </a:cubicBezTo>
                <a:cubicBezTo>
                  <a:pt x="62817" y="36"/>
                  <a:pt x="89653" y="6294"/>
                  <a:pt x="91634" y="8275"/>
                </a:cubicBezTo>
                <a:cubicBezTo>
                  <a:pt x="94718" y="11359"/>
                  <a:pt x="93822" y="16786"/>
                  <a:pt x="95772" y="20687"/>
                </a:cubicBezTo>
                <a:cubicBezTo>
                  <a:pt x="99589" y="28321"/>
                  <a:pt x="109596" y="40937"/>
                  <a:pt x="116460" y="45513"/>
                </a:cubicBezTo>
                <a:cubicBezTo>
                  <a:pt x="120089" y="47932"/>
                  <a:pt x="124735" y="48271"/>
                  <a:pt x="128872" y="49650"/>
                </a:cubicBezTo>
                <a:cubicBezTo>
                  <a:pt x="131630" y="57925"/>
                  <a:pt x="138380" y="65841"/>
                  <a:pt x="137147" y="74476"/>
                </a:cubicBezTo>
                <a:cubicBezTo>
                  <a:pt x="135768" y="84130"/>
                  <a:pt x="135812" y="94098"/>
                  <a:pt x="133010" y="103439"/>
                </a:cubicBezTo>
                <a:cubicBezTo>
                  <a:pt x="130252" y="112633"/>
                  <a:pt x="120597" y="120448"/>
                  <a:pt x="112322" y="124126"/>
                </a:cubicBezTo>
                <a:cubicBezTo>
                  <a:pt x="86597" y="135559"/>
                  <a:pt x="76711" y="133480"/>
                  <a:pt x="46121" y="136539"/>
                </a:cubicBezTo>
                <a:cubicBezTo>
                  <a:pt x="34906" y="134296"/>
                  <a:pt x="21139" y="134273"/>
                  <a:pt x="13021" y="124126"/>
                </a:cubicBezTo>
                <a:cubicBezTo>
                  <a:pt x="10297" y="120721"/>
                  <a:pt x="10262" y="115851"/>
                  <a:pt x="8883" y="111714"/>
                </a:cubicBezTo>
                <a:cubicBezTo>
                  <a:pt x="7504" y="100680"/>
                  <a:pt x="6574" y="89581"/>
                  <a:pt x="4746" y="78613"/>
                </a:cubicBezTo>
                <a:cubicBezTo>
                  <a:pt x="778" y="54802"/>
                  <a:pt x="-3579" y="66377"/>
                  <a:pt x="4746" y="37238"/>
                </a:cubicBezTo>
                <a:lnTo>
                  <a:pt x="4746" y="372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任意多边形 32"/>
          <p:cNvSpPr/>
          <p:nvPr/>
        </p:nvSpPr>
        <p:spPr bwMode="auto">
          <a:xfrm>
            <a:off x="7324279" y="3662078"/>
            <a:ext cx="157827" cy="153089"/>
          </a:xfrm>
          <a:custGeom>
            <a:avLst/>
            <a:gdLst>
              <a:gd name="connsiteX0" fmla="*/ 600 w 157827"/>
              <a:gd name="connsiteY0" fmla="*/ 66201 h 153089"/>
              <a:gd name="connsiteX1" fmla="*/ 21287 w 157827"/>
              <a:gd name="connsiteY1" fmla="*/ 57926 h 153089"/>
              <a:gd name="connsiteX2" fmla="*/ 41975 w 157827"/>
              <a:gd name="connsiteY2" fmla="*/ 53788 h 153089"/>
              <a:gd name="connsiteX3" fmla="*/ 54388 w 157827"/>
              <a:gd name="connsiteY3" fmla="*/ 28963 h 153089"/>
              <a:gd name="connsiteX4" fmla="*/ 70938 w 157827"/>
              <a:gd name="connsiteY4" fmla="*/ 4137 h 153089"/>
              <a:gd name="connsiteX5" fmla="*/ 95763 w 157827"/>
              <a:gd name="connsiteY5" fmla="*/ 0 h 153089"/>
              <a:gd name="connsiteX6" fmla="*/ 108176 w 157827"/>
              <a:gd name="connsiteY6" fmla="*/ 4137 h 153089"/>
              <a:gd name="connsiteX7" fmla="*/ 133001 w 157827"/>
              <a:gd name="connsiteY7" fmla="*/ 20688 h 153089"/>
              <a:gd name="connsiteX8" fmla="*/ 145414 w 157827"/>
              <a:gd name="connsiteY8" fmla="*/ 24825 h 153089"/>
              <a:gd name="connsiteX9" fmla="*/ 157827 w 157827"/>
              <a:gd name="connsiteY9" fmla="*/ 74476 h 153089"/>
              <a:gd name="connsiteX10" fmla="*/ 153689 w 157827"/>
              <a:gd name="connsiteY10" fmla="*/ 119989 h 153089"/>
              <a:gd name="connsiteX11" fmla="*/ 116451 w 157827"/>
              <a:gd name="connsiteY11" fmla="*/ 140677 h 153089"/>
              <a:gd name="connsiteX12" fmla="*/ 104039 w 157827"/>
              <a:gd name="connsiteY12" fmla="*/ 144814 h 153089"/>
              <a:gd name="connsiteX13" fmla="*/ 37838 w 157827"/>
              <a:gd name="connsiteY13" fmla="*/ 153089 h 153089"/>
              <a:gd name="connsiteX14" fmla="*/ 8875 w 157827"/>
              <a:gd name="connsiteY14" fmla="*/ 136539 h 153089"/>
              <a:gd name="connsiteX15" fmla="*/ 600 w 157827"/>
              <a:gd name="connsiteY15" fmla="*/ 111714 h 153089"/>
              <a:gd name="connsiteX16" fmla="*/ 4737 w 157827"/>
              <a:gd name="connsiteY16" fmla="*/ 78613 h 153089"/>
              <a:gd name="connsiteX17" fmla="*/ 600 w 157827"/>
              <a:gd name="connsiteY17" fmla="*/ 66201 h 15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57827" h="153089">
                <a:moveTo>
                  <a:pt x="600" y="66201"/>
                </a:moveTo>
                <a:cubicBezTo>
                  <a:pt x="3358" y="62753"/>
                  <a:pt x="14173" y="60060"/>
                  <a:pt x="21287" y="57926"/>
                </a:cubicBezTo>
                <a:cubicBezTo>
                  <a:pt x="28023" y="55905"/>
                  <a:pt x="35869" y="57277"/>
                  <a:pt x="41975" y="53788"/>
                </a:cubicBezTo>
                <a:cubicBezTo>
                  <a:pt x="50944" y="48663"/>
                  <a:pt x="50190" y="36519"/>
                  <a:pt x="54388" y="28963"/>
                </a:cubicBezTo>
                <a:cubicBezTo>
                  <a:pt x="59218" y="20269"/>
                  <a:pt x="61128" y="5772"/>
                  <a:pt x="70938" y="4137"/>
                </a:cubicBezTo>
                <a:lnTo>
                  <a:pt x="95763" y="0"/>
                </a:lnTo>
                <a:cubicBezTo>
                  <a:pt x="99901" y="1379"/>
                  <a:pt x="104363" y="2019"/>
                  <a:pt x="108176" y="4137"/>
                </a:cubicBezTo>
                <a:cubicBezTo>
                  <a:pt x="116870" y="8967"/>
                  <a:pt x="123566" y="17543"/>
                  <a:pt x="133001" y="20688"/>
                </a:cubicBezTo>
                <a:lnTo>
                  <a:pt x="145414" y="24825"/>
                </a:lnTo>
                <a:cubicBezTo>
                  <a:pt x="156342" y="57610"/>
                  <a:pt x="152255" y="41047"/>
                  <a:pt x="157827" y="74476"/>
                </a:cubicBezTo>
                <a:cubicBezTo>
                  <a:pt x="156448" y="89647"/>
                  <a:pt x="157874" y="105342"/>
                  <a:pt x="153689" y="119989"/>
                </a:cubicBezTo>
                <a:cubicBezTo>
                  <a:pt x="149777" y="133681"/>
                  <a:pt x="124962" y="137840"/>
                  <a:pt x="116451" y="140677"/>
                </a:cubicBezTo>
                <a:lnTo>
                  <a:pt x="104039" y="144814"/>
                </a:lnTo>
                <a:cubicBezTo>
                  <a:pt x="74564" y="154639"/>
                  <a:pt x="95987" y="148617"/>
                  <a:pt x="37838" y="153089"/>
                </a:cubicBezTo>
                <a:cubicBezTo>
                  <a:pt x="18573" y="149237"/>
                  <a:pt x="16597" y="153913"/>
                  <a:pt x="8875" y="136539"/>
                </a:cubicBezTo>
                <a:cubicBezTo>
                  <a:pt x="5332" y="128568"/>
                  <a:pt x="600" y="111714"/>
                  <a:pt x="600" y="111714"/>
                </a:cubicBezTo>
                <a:cubicBezTo>
                  <a:pt x="1979" y="100680"/>
                  <a:pt x="2748" y="89553"/>
                  <a:pt x="4737" y="78613"/>
                </a:cubicBezTo>
                <a:cubicBezTo>
                  <a:pt x="5517" y="74322"/>
                  <a:pt x="-2158" y="69649"/>
                  <a:pt x="600" y="6620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4" name="任意多边形 33"/>
          <p:cNvSpPr/>
          <p:nvPr/>
        </p:nvSpPr>
        <p:spPr bwMode="auto">
          <a:xfrm>
            <a:off x="6600806" y="3819813"/>
            <a:ext cx="132737" cy="169639"/>
          </a:xfrm>
          <a:custGeom>
            <a:avLst/>
            <a:gdLst>
              <a:gd name="connsiteX0" fmla="*/ 37238 w 132737"/>
              <a:gd name="connsiteY0" fmla="*/ 8275 h 169639"/>
              <a:gd name="connsiteX1" fmla="*/ 70339 w 132737"/>
              <a:gd name="connsiteY1" fmla="*/ 4137 h 169639"/>
              <a:gd name="connsiteX2" fmla="*/ 95164 w 132737"/>
              <a:gd name="connsiteY2" fmla="*/ 0 h 169639"/>
              <a:gd name="connsiteX3" fmla="*/ 111714 w 132737"/>
              <a:gd name="connsiteY3" fmla="*/ 4137 h 169639"/>
              <a:gd name="connsiteX4" fmla="*/ 128265 w 132737"/>
              <a:gd name="connsiteY4" fmla="*/ 37238 h 169639"/>
              <a:gd name="connsiteX5" fmla="*/ 128265 w 132737"/>
              <a:gd name="connsiteY5" fmla="*/ 119989 h 169639"/>
              <a:gd name="connsiteX6" fmla="*/ 107577 w 132737"/>
              <a:gd name="connsiteY6" fmla="*/ 136539 h 169639"/>
              <a:gd name="connsiteX7" fmla="*/ 99302 w 132737"/>
              <a:gd name="connsiteY7" fmla="*/ 148952 h 169639"/>
              <a:gd name="connsiteX8" fmla="*/ 62064 w 132737"/>
              <a:gd name="connsiteY8" fmla="*/ 169639 h 169639"/>
              <a:gd name="connsiteX9" fmla="*/ 20688 w 132737"/>
              <a:gd name="connsiteY9" fmla="*/ 165502 h 169639"/>
              <a:gd name="connsiteX10" fmla="*/ 12413 w 132737"/>
              <a:gd name="connsiteY10" fmla="*/ 153089 h 169639"/>
              <a:gd name="connsiteX11" fmla="*/ 0 w 132737"/>
              <a:gd name="connsiteY11" fmla="*/ 107576 h 169639"/>
              <a:gd name="connsiteX12" fmla="*/ 4138 w 132737"/>
              <a:gd name="connsiteY12" fmla="*/ 20687 h 169639"/>
              <a:gd name="connsiteX13" fmla="*/ 8275 w 132737"/>
              <a:gd name="connsiteY13" fmla="*/ 8275 h 169639"/>
              <a:gd name="connsiteX14" fmla="*/ 33101 w 132737"/>
              <a:gd name="connsiteY14" fmla="*/ 4137 h 169639"/>
              <a:gd name="connsiteX15" fmla="*/ 37238 w 132737"/>
              <a:gd name="connsiteY15" fmla="*/ 8275 h 169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2737" h="169639">
                <a:moveTo>
                  <a:pt x="37238" y="8275"/>
                </a:moveTo>
                <a:cubicBezTo>
                  <a:pt x="43444" y="8275"/>
                  <a:pt x="59331" y="5710"/>
                  <a:pt x="70339" y="4137"/>
                </a:cubicBezTo>
                <a:cubicBezTo>
                  <a:pt x="78644" y="2951"/>
                  <a:pt x="86775" y="0"/>
                  <a:pt x="95164" y="0"/>
                </a:cubicBezTo>
                <a:cubicBezTo>
                  <a:pt x="100850" y="0"/>
                  <a:pt x="106197" y="2758"/>
                  <a:pt x="111714" y="4137"/>
                </a:cubicBezTo>
                <a:cubicBezTo>
                  <a:pt x="121223" y="32664"/>
                  <a:pt x="113821" y="22795"/>
                  <a:pt x="128265" y="37238"/>
                </a:cubicBezTo>
                <a:cubicBezTo>
                  <a:pt x="131924" y="70177"/>
                  <a:pt x="136167" y="85749"/>
                  <a:pt x="128265" y="119989"/>
                </a:cubicBezTo>
                <a:cubicBezTo>
                  <a:pt x="127193" y="124632"/>
                  <a:pt x="109570" y="135210"/>
                  <a:pt x="107577" y="136539"/>
                </a:cubicBezTo>
                <a:cubicBezTo>
                  <a:pt x="104819" y="140677"/>
                  <a:pt x="103044" y="145677"/>
                  <a:pt x="99302" y="148952"/>
                </a:cubicBezTo>
                <a:cubicBezTo>
                  <a:pt x="81792" y="164273"/>
                  <a:pt x="79112" y="163957"/>
                  <a:pt x="62064" y="169639"/>
                </a:cubicBezTo>
                <a:cubicBezTo>
                  <a:pt x="48272" y="168260"/>
                  <a:pt x="33838" y="169885"/>
                  <a:pt x="20688" y="165502"/>
                </a:cubicBezTo>
                <a:cubicBezTo>
                  <a:pt x="15970" y="163929"/>
                  <a:pt x="14433" y="157633"/>
                  <a:pt x="12413" y="153089"/>
                </a:cubicBezTo>
                <a:cubicBezTo>
                  <a:pt x="4778" y="135910"/>
                  <a:pt x="3540" y="125274"/>
                  <a:pt x="0" y="107576"/>
                </a:cubicBezTo>
                <a:cubicBezTo>
                  <a:pt x="1379" y="78613"/>
                  <a:pt x="1730" y="49583"/>
                  <a:pt x="4138" y="20687"/>
                </a:cubicBezTo>
                <a:cubicBezTo>
                  <a:pt x="4500" y="16341"/>
                  <a:pt x="4488" y="10439"/>
                  <a:pt x="8275" y="8275"/>
                </a:cubicBezTo>
                <a:cubicBezTo>
                  <a:pt x="15559" y="4113"/>
                  <a:pt x="24733" y="4735"/>
                  <a:pt x="33101" y="4137"/>
                </a:cubicBezTo>
                <a:cubicBezTo>
                  <a:pt x="44106" y="3351"/>
                  <a:pt x="31032" y="8275"/>
                  <a:pt x="37238" y="827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5" name="任意多边形 34"/>
          <p:cNvSpPr/>
          <p:nvPr/>
        </p:nvSpPr>
        <p:spPr bwMode="auto">
          <a:xfrm>
            <a:off x="6753896" y="3811702"/>
            <a:ext cx="119989" cy="136375"/>
          </a:xfrm>
          <a:custGeom>
            <a:avLst/>
            <a:gdLst>
              <a:gd name="connsiteX0" fmla="*/ 41375 w 119989"/>
              <a:gd name="connsiteY0" fmla="*/ 3973 h 136375"/>
              <a:gd name="connsiteX1" fmla="*/ 86889 w 119989"/>
              <a:gd name="connsiteY1" fmla="*/ 3973 h 136375"/>
              <a:gd name="connsiteX2" fmla="*/ 95164 w 119989"/>
              <a:gd name="connsiteY2" fmla="*/ 16386 h 136375"/>
              <a:gd name="connsiteX3" fmla="*/ 103439 w 119989"/>
              <a:gd name="connsiteY3" fmla="*/ 41211 h 136375"/>
              <a:gd name="connsiteX4" fmla="*/ 107576 w 119989"/>
              <a:gd name="connsiteY4" fmla="*/ 53624 h 136375"/>
              <a:gd name="connsiteX5" fmla="*/ 119989 w 119989"/>
              <a:gd name="connsiteY5" fmla="*/ 78449 h 136375"/>
              <a:gd name="connsiteX6" fmla="*/ 103439 w 119989"/>
              <a:gd name="connsiteY6" fmla="*/ 132237 h 136375"/>
              <a:gd name="connsiteX7" fmla="*/ 91026 w 119989"/>
              <a:gd name="connsiteY7" fmla="*/ 136375 h 136375"/>
              <a:gd name="connsiteX8" fmla="*/ 20688 w 119989"/>
              <a:gd name="connsiteY8" fmla="*/ 132237 h 136375"/>
              <a:gd name="connsiteX9" fmla="*/ 16550 w 119989"/>
              <a:gd name="connsiteY9" fmla="*/ 115687 h 136375"/>
              <a:gd name="connsiteX10" fmla="*/ 8275 w 119989"/>
              <a:gd name="connsiteY10" fmla="*/ 90862 h 136375"/>
              <a:gd name="connsiteX11" fmla="*/ 4137 w 119989"/>
              <a:gd name="connsiteY11" fmla="*/ 78449 h 136375"/>
              <a:gd name="connsiteX12" fmla="*/ 0 w 119989"/>
              <a:gd name="connsiteY12" fmla="*/ 66036 h 136375"/>
              <a:gd name="connsiteX13" fmla="*/ 12413 w 119989"/>
              <a:gd name="connsiteY13" fmla="*/ 20523 h 136375"/>
              <a:gd name="connsiteX14" fmla="*/ 24825 w 119989"/>
              <a:gd name="connsiteY14" fmla="*/ 12248 h 136375"/>
              <a:gd name="connsiteX15" fmla="*/ 41375 w 119989"/>
              <a:gd name="connsiteY15" fmla="*/ 3973 h 13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9989" h="136375">
                <a:moveTo>
                  <a:pt x="41375" y="3973"/>
                </a:moveTo>
                <a:cubicBezTo>
                  <a:pt x="51719" y="2594"/>
                  <a:pt x="72526" y="-4234"/>
                  <a:pt x="86889" y="3973"/>
                </a:cubicBezTo>
                <a:cubicBezTo>
                  <a:pt x="91207" y="6440"/>
                  <a:pt x="92406" y="12248"/>
                  <a:pt x="95164" y="16386"/>
                </a:cubicBezTo>
                <a:lnTo>
                  <a:pt x="103439" y="41211"/>
                </a:lnTo>
                <a:cubicBezTo>
                  <a:pt x="104818" y="45349"/>
                  <a:pt x="105157" y="49995"/>
                  <a:pt x="107576" y="53624"/>
                </a:cubicBezTo>
                <a:cubicBezTo>
                  <a:pt x="118270" y="69665"/>
                  <a:pt x="114278" y="61319"/>
                  <a:pt x="119989" y="78449"/>
                </a:cubicBezTo>
                <a:cubicBezTo>
                  <a:pt x="116621" y="115494"/>
                  <a:pt x="128128" y="119892"/>
                  <a:pt x="103439" y="132237"/>
                </a:cubicBezTo>
                <a:cubicBezTo>
                  <a:pt x="99538" y="134188"/>
                  <a:pt x="95164" y="134996"/>
                  <a:pt x="91026" y="136375"/>
                </a:cubicBezTo>
                <a:cubicBezTo>
                  <a:pt x="67580" y="134996"/>
                  <a:pt x="43318" y="138523"/>
                  <a:pt x="20688" y="132237"/>
                </a:cubicBezTo>
                <a:cubicBezTo>
                  <a:pt x="15209" y="130715"/>
                  <a:pt x="18184" y="121134"/>
                  <a:pt x="16550" y="115687"/>
                </a:cubicBezTo>
                <a:cubicBezTo>
                  <a:pt x="14043" y="107332"/>
                  <a:pt x="11033" y="99137"/>
                  <a:pt x="8275" y="90862"/>
                </a:cubicBezTo>
                <a:lnTo>
                  <a:pt x="4137" y="78449"/>
                </a:lnTo>
                <a:lnTo>
                  <a:pt x="0" y="66036"/>
                </a:lnTo>
                <a:cubicBezTo>
                  <a:pt x="3233" y="36937"/>
                  <a:pt x="-4278" y="33875"/>
                  <a:pt x="12413" y="20523"/>
                </a:cubicBezTo>
                <a:cubicBezTo>
                  <a:pt x="16296" y="17417"/>
                  <a:pt x="20281" y="14268"/>
                  <a:pt x="24825" y="12248"/>
                </a:cubicBezTo>
                <a:cubicBezTo>
                  <a:pt x="32796" y="8705"/>
                  <a:pt x="31031" y="5352"/>
                  <a:pt x="41375" y="397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任意多边形 35"/>
          <p:cNvSpPr/>
          <p:nvPr/>
        </p:nvSpPr>
        <p:spPr bwMode="auto">
          <a:xfrm>
            <a:off x="6884019" y="3811266"/>
            <a:ext cx="158542" cy="169464"/>
          </a:xfrm>
          <a:custGeom>
            <a:avLst/>
            <a:gdLst>
              <a:gd name="connsiteX0" fmla="*/ 3189 w 158542"/>
              <a:gd name="connsiteY0" fmla="*/ 42366 h 169464"/>
              <a:gd name="connsiteX1" fmla="*/ 20842 w 158542"/>
              <a:gd name="connsiteY1" fmla="*/ 24713 h 169464"/>
              <a:gd name="connsiteX2" fmla="*/ 42025 w 158542"/>
              <a:gd name="connsiteY2" fmla="*/ 17652 h 169464"/>
              <a:gd name="connsiteX3" fmla="*/ 63208 w 158542"/>
              <a:gd name="connsiteY3" fmla="*/ 10591 h 169464"/>
              <a:gd name="connsiteX4" fmla="*/ 84391 w 158542"/>
              <a:gd name="connsiteY4" fmla="*/ 3530 h 169464"/>
              <a:gd name="connsiteX5" fmla="*/ 94982 w 158542"/>
              <a:gd name="connsiteY5" fmla="*/ 0 h 169464"/>
              <a:gd name="connsiteX6" fmla="*/ 126757 w 158542"/>
              <a:gd name="connsiteY6" fmla="*/ 3530 h 169464"/>
              <a:gd name="connsiteX7" fmla="*/ 140879 w 158542"/>
              <a:gd name="connsiteY7" fmla="*/ 24713 h 169464"/>
              <a:gd name="connsiteX8" fmla="*/ 151470 w 158542"/>
              <a:gd name="connsiteY8" fmla="*/ 63549 h 169464"/>
              <a:gd name="connsiteX9" fmla="*/ 155001 w 158542"/>
              <a:gd name="connsiteY9" fmla="*/ 74141 h 169464"/>
              <a:gd name="connsiteX10" fmla="*/ 158531 w 158542"/>
              <a:gd name="connsiteY10" fmla="*/ 95324 h 169464"/>
              <a:gd name="connsiteX11" fmla="*/ 147940 w 158542"/>
              <a:gd name="connsiteY11" fmla="*/ 137690 h 169464"/>
              <a:gd name="connsiteX12" fmla="*/ 137348 w 158542"/>
              <a:gd name="connsiteY12" fmla="*/ 144751 h 169464"/>
              <a:gd name="connsiteX13" fmla="*/ 130287 w 158542"/>
              <a:gd name="connsiteY13" fmla="*/ 155342 h 169464"/>
              <a:gd name="connsiteX14" fmla="*/ 109104 w 158542"/>
              <a:gd name="connsiteY14" fmla="*/ 169464 h 169464"/>
              <a:gd name="connsiteX15" fmla="*/ 73799 w 158542"/>
              <a:gd name="connsiteY15" fmla="*/ 165934 h 169464"/>
              <a:gd name="connsiteX16" fmla="*/ 52616 w 158542"/>
              <a:gd name="connsiteY16" fmla="*/ 148281 h 169464"/>
              <a:gd name="connsiteX17" fmla="*/ 20842 w 158542"/>
              <a:gd name="connsiteY17" fmla="*/ 130629 h 169464"/>
              <a:gd name="connsiteX18" fmla="*/ 13781 w 158542"/>
              <a:gd name="connsiteY18" fmla="*/ 120037 h 169464"/>
              <a:gd name="connsiteX19" fmla="*/ 10250 w 158542"/>
              <a:gd name="connsiteY19" fmla="*/ 109446 h 169464"/>
              <a:gd name="connsiteX20" fmla="*/ 3189 w 158542"/>
              <a:gd name="connsiteY20" fmla="*/ 74141 h 169464"/>
              <a:gd name="connsiteX21" fmla="*/ 3189 w 158542"/>
              <a:gd name="connsiteY21" fmla="*/ 42366 h 169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8542" h="169464">
                <a:moveTo>
                  <a:pt x="3189" y="42366"/>
                </a:moveTo>
                <a:cubicBezTo>
                  <a:pt x="6131" y="34128"/>
                  <a:pt x="13821" y="29181"/>
                  <a:pt x="20842" y="24713"/>
                </a:cubicBezTo>
                <a:cubicBezTo>
                  <a:pt x="27121" y="20717"/>
                  <a:pt x="34964" y="20006"/>
                  <a:pt x="42025" y="17652"/>
                </a:cubicBezTo>
                <a:lnTo>
                  <a:pt x="63208" y="10591"/>
                </a:lnTo>
                <a:lnTo>
                  <a:pt x="84391" y="3530"/>
                </a:lnTo>
                <a:lnTo>
                  <a:pt x="94982" y="0"/>
                </a:lnTo>
                <a:cubicBezTo>
                  <a:pt x="105574" y="1177"/>
                  <a:pt x="117374" y="-1522"/>
                  <a:pt x="126757" y="3530"/>
                </a:cubicBezTo>
                <a:cubicBezTo>
                  <a:pt x="134229" y="7553"/>
                  <a:pt x="140879" y="24713"/>
                  <a:pt x="140879" y="24713"/>
                </a:cubicBezTo>
                <a:cubicBezTo>
                  <a:pt x="145868" y="49663"/>
                  <a:pt x="142512" y="36675"/>
                  <a:pt x="151470" y="63549"/>
                </a:cubicBezTo>
                <a:lnTo>
                  <a:pt x="155001" y="74141"/>
                </a:lnTo>
                <a:cubicBezTo>
                  <a:pt x="156178" y="81202"/>
                  <a:pt x="158531" y="88166"/>
                  <a:pt x="158531" y="95324"/>
                </a:cubicBezTo>
                <a:cubicBezTo>
                  <a:pt x="158531" y="111026"/>
                  <a:pt x="159320" y="126310"/>
                  <a:pt x="147940" y="137690"/>
                </a:cubicBezTo>
                <a:cubicBezTo>
                  <a:pt x="144940" y="140690"/>
                  <a:pt x="140879" y="142397"/>
                  <a:pt x="137348" y="144751"/>
                </a:cubicBezTo>
                <a:cubicBezTo>
                  <a:pt x="134994" y="148281"/>
                  <a:pt x="133480" y="152548"/>
                  <a:pt x="130287" y="155342"/>
                </a:cubicBezTo>
                <a:cubicBezTo>
                  <a:pt x="123900" y="160930"/>
                  <a:pt x="109104" y="169464"/>
                  <a:pt x="109104" y="169464"/>
                </a:cubicBezTo>
                <a:cubicBezTo>
                  <a:pt x="97336" y="168287"/>
                  <a:pt x="85323" y="168593"/>
                  <a:pt x="73799" y="165934"/>
                </a:cubicBezTo>
                <a:cubicBezTo>
                  <a:pt x="66113" y="164160"/>
                  <a:pt x="57901" y="152392"/>
                  <a:pt x="52616" y="148281"/>
                </a:cubicBezTo>
                <a:cubicBezTo>
                  <a:pt x="34406" y="134118"/>
                  <a:pt x="36822" y="135955"/>
                  <a:pt x="20842" y="130629"/>
                </a:cubicBezTo>
                <a:cubicBezTo>
                  <a:pt x="18488" y="127098"/>
                  <a:pt x="15679" y="123832"/>
                  <a:pt x="13781" y="120037"/>
                </a:cubicBezTo>
                <a:cubicBezTo>
                  <a:pt x="12117" y="116709"/>
                  <a:pt x="11272" y="113024"/>
                  <a:pt x="10250" y="109446"/>
                </a:cubicBezTo>
                <a:cubicBezTo>
                  <a:pt x="3222" y="84849"/>
                  <a:pt x="10117" y="105319"/>
                  <a:pt x="3189" y="74141"/>
                </a:cubicBezTo>
                <a:cubicBezTo>
                  <a:pt x="-2201" y="49883"/>
                  <a:pt x="247" y="50604"/>
                  <a:pt x="3189" y="423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任意多边形 36"/>
          <p:cNvSpPr/>
          <p:nvPr/>
        </p:nvSpPr>
        <p:spPr bwMode="auto">
          <a:xfrm>
            <a:off x="7056672" y="3828918"/>
            <a:ext cx="152897" cy="158873"/>
          </a:xfrm>
          <a:custGeom>
            <a:avLst/>
            <a:gdLst>
              <a:gd name="connsiteX0" fmla="*/ 0 w 152897"/>
              <a:gd name="connsiteY0" fmla="*/ 60019 h 158873"/>
              <a:gd name="connsiteX1" fmla="*/ 7061 w 152897"/>
              <a:gd name="connsiteY1" fmla="*/ 31775 h 158873"/>
              <a:gd name="connsiteX2" fmla="*/ 21183 w 152897"/>
              <a:gd name="connsiteY2" fmla="*/ 10592 h 158873"/>
              <a:gd name="connsiteX3" fmla="*/ 42366 w 152897"/>
              <a:gd name="connsiteY3" fmla="*/ 0 h 158873"/>
              <a:gd name="connsiteX4" fmla="*/ 109446 w 152897"/>
              <a:gd name="connsiteY4" fmla="*/ 3531 h 158873"/>
              <a:gd name="connsiteX5" fmla="*/ 120037 w 152897"/>
              <a:gd name="connsiteY5" fmla="*/ 7061 h 158873"/>
              <a:gd name="connsiteX6" fmla="*/ 144751 w 152897"/>
              <a:gd name="connsiteY6" fmla="*/ 35305 h 158873"/>
              <a:gd name="connsiteX7" fmla="*/ 144751 w 152897"/>
              <a:gd name="connsiteY7" fmla="*/ 141221 h 158873"/>
              <a:gd name="connsiteX8" fmla="*/ 137690 w 152897"/>
              <a:gd name="connsiteY8" fmla="*/ 151812 h 158873"/>
              <a:gd name="connsiteX9" fmla="*/ 116507 w 152897"/>
              <a:gd name="connsiteY9" fmla="*/ 158873 h 158873"/>
              <a:gd name="connsiteX10" fmla="*/ 56488 w 152897"/>
              <a:gd name="connsiteY10" fmla="*/ 155343 h 158873"/>
              <a:gd name="connsiteX11" fmla="*/ 38836 w 152897"/>
              <a:gd name="connsiteY11" fmla="*/ 151812 h 158873"/>
              <a:gd name="connsiteX12" fmla="*/ 24714 w 152897"/>
              <a:gd name="connsiteY12" fmla="*/ 130629 h 158873"/>
              <a:gd name="connsiteX13" fmla="*/ 17653 w 152897"/>
              <a:gd name="connsiteY13" fmla="*/ 120038 h 158873"/>
              <a:gd name="connsiteX14" fmla="*/ 7061 w 152897"/>
              <a:gd name="connsiteY14" fmla="*/ 112977 h 158873"/>
              <a:gd name="connsiteX15" fmla="*/ 3531 w 152897"/>
              <a:gd name="connsiteY15" fmla="*/ 88263 h 158873"/>
              <a:gd name="connsiteX16" fmla="*/ 7061 w 152897"/>
              <a:gd name="connsiteY16" fmla="*/ 45897 h 158873"/>
              <a:gd name="connsiteX17" fmla="*/ 0 w 152897"/>
              <a:gd name="connsiteY17" fmla="*/ 60019 h 158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52897" h="158873">
                <a:moveTo>
                  <a:pt x="0" y="60019"/>
                </a:moveTo>
                <a:cubicBezTo>
                  <a:pt x="0" y="57665"/>
                  <a:pt x="3670" y="37880"/>
                  <a:pt x="7061" y="31775"/>
                </a:cubicBezTo>
                <a:cubicBezTo>
                  <a:pt x="11182" y="24357"/>
                  <a:pt x="13132" y="13276"/>
                  <a:pt x="21183" y="10592"/>
                </a:cubicBezTo>
                <a:cubicBezTo>
                  <a:pt x="35800" y="5719"/>
                  <a:pt x="28678" y="9125"/>
                  <a:pt x="42366" y="0"/>
                </a:cubicBezTo>
                <a:cubicBezTo>
                  <a:pt x="64726" y="1177"/>
                  <a:pt x="87147" y="1504"/>
                  <a:pt x="109446" y="3531"/>
                </a:cubicBezTo>
                <a:cubicBezTo>
                  <a:pt x="113152" y="3868"/>
                  <a:pt x="117406" y="4430"/>
                  <a:pt x="120037" y="7061"/>
                </a:cubicBezTo>
                <a:cubicBezTo>
                  <a:pt x="161224" y="48248"/>
                  <a:pt x="114742" y="15300"/>
                  <a:pt x="144751" y="35305"/>
                </a:cubicBezTo>
                <a:cubicBezTo>
                  <a:pt x="157773" y="74378"/>
                  <a:pt x="153216" y="56571"/>
                  <a:pt x="144751" y="141221"/>
                </a:cubicBezTo>
                <a:cubicBezTo>
                  <a:pt x="144329" y="145443"/>
                  <a:pt x="141288" y="149563"/>
                  <a:pt x="137690" y="151812"/>
                </a:cubicBezTo>
                <a:cubicBezTo>
                  <a:pt x="131378" y="155757"/>
                  <a:pt x="116507" y="158873"/>
                  <a:pt x="116507" y="158873"/>
                </a:cubicBezTo>
                <a:cubicBezTo>
                  <a:pt x="96501" y="157696"/>
                  <a:pt x="76447" y="157157"/>
                  <a:pt x="56488" y="155343"/>
                </a:cubicBezTo>
                <a:cubicBezTo>
                  <a:pt x="50512" y="154800"/>
                  <a:pt x="43572" y="155496"/>
                  <a:pt x="38836" y="151812"/>
                </a:cubicBezTo>
                <a:cubicBezTo>
                  <a:pt x="32137" y="146602"/>
                  <a:pt x="29421" y="137690"/>
                  <a:pt x="24714" y="130629"/>
                </a:cubicBezTo>
                <a:cubicBezTo>
                  <a:pt x="22360" y="127099"/>
                  <a:pt x="21183" y="122392"/>
                  <a:pt x="17653" y="120038"/>
                </a:cubicBezTo>
                <a:lnTo>
                  <a:pt x="7061" y="112977"/>
                </a:lnTo>
                <a:cubicBezTo>
                  <a:pt x="5884" y="104739"/>
                  <a:pt x="3531" y="96585"/>
                  <a:pt x="3531" y="88263"/>
                </a:cubicBezTo>
                <a:cubicBezTo>
                  <a:pt x="3531" y="74092"/>
                  <a:pt x="6052" y="60032"/>
                  <a:pt x="7061" y="45897"/>
                </a:cubicBezTo>
                <a:cubicBezTo>
                  <a:pt x="7229" y="43549"/>
                  <a:pt x="0" y="62373"/>
                  <a:pt x="0" y="6001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任意多边形 37"/>
          <p:cNvSpPr/>
          <p:nvPr/>
        </p:nvSpPr>
        <p:spPr bwMode="auto">
          <a:xfrm>
            <a:off x="7201308" y="3825388"/>
            <a:ext cx="169579" cy="176771"/>
          </a:xfrm>
          <a:custGeom>
            <a:avLst/>
            <a:gdLst>
              <a:gd name="connsiteX0" fmla="*/ 115 w 169579"/>
              <a:gd name="connsiteY0" fmla="*/ 60019 h 176771"/>
              <a:gd name="connsiteX1" fmla="*/ 10706 w 169579"/>
              <a:gd name="connsiteY1" fmla="*/ 42366 h 176771"/>
              <a:gd name="connsiteX2" fmla="*/ 17767 w 169579"/>
              <a:gd name="connsiteY2" fmla="*/ 31774 h 176771"/>
              <a:gd name="connsiteX3" fmla="*/ 28359 w 169579"/>
              <a:gd name="connsiteY3" fmla="*/ 10591 h 176771"/>
              <a:gd name="connsiteX4" fmla="*/ 49542 w 169579"/>
              <a:gd name="connsiteY4" fmla="*/ 3530 h 176771"/>
              <a:gd name="connsiteX5" fmla="*/ 60133 w 169579"/>
              <a:gd name="connsiteY5" fmla="*/ 0 h 176771"/>
              <a:gd name="connsiteX6" fmla="*/ 134274 w 169579"/>
              <a:gd name="connsiteY6" fmla="*/ 3530 h 176771"/>
              <a:gd name="connsiteX7" fmla="*/ 151927 w 169579"/>
              <a:gd name="connsiteY7" fmla="*/ 31774 h 176771"/>
              <a:gd name="connsiteX8" fmla="*/ 158988 w 169579"/>
              <a:gd name="connsiteY8" fmla="*/ 42366 h 176771"/>
              <a:gd name="connsiteX9" fmla="*/ 169579 w 169579"/>
              <a:gd name="connsiteY9" fmla="*/ 81202 h 176771"/>
              <a:gd name="connsiteX10" fmla="*/ 166049 w 169579"/>
              <a:gd name="connsiteY10" fmla="*/ 134159 h 176771"/>
              <a:gd name="connsiteX11" fmla="*/ 151927 w 169579"/>
              <a:gd name="connsiteY11" fmla="*/ 151812 h 176771"/>
              <a:gd name="connsiteX12" fmla="*/ 134274 w 169579"/>
              <a:gd name="connsiteY12" fmla="*/ 165934 h 176771"/>
              <a:gd name="connsiteX13" fmla="*/ 102499 w 169579"/>
              <a:gd name="connsiteY13" fmla="*/ 172995 h 176771"/>
              <a:gd name="connsiteX14" fmla="*/ 91908 w 169579"/>
              <a:gd name="connsiteY14" fmla="*/ 176525 h 176771"/>
              <a:gd name="connsiteX15" fmla="*/ 35420 w 169579"/>
              <a:gd name="connsiteY15" fmla="*/ 165934 h 176771"/>
              <a:gd name="connsiteX16" fmla="*/ 31889 w 169579"/>
              <a:gd name="connsiteY16" fmla="*/ 155342 h 176771"/>
              <a:gd name="connsiteX17" fmla="*/ 24828 w 169579"/>
              <a:gd name="connsiteY17" fmla="*/ 144751 h 176771"/>
              <a:gd name="connsiteX18" fmla="*/ 17767 w 169579"/>
              <a:gd name="connsiteY18" fmla="*/ 123568 h 176771"/>
              <a:gd name="connsiteX19" fmla="*/ 115 w 169579"/>
              <a:gd name="connsiteY19" fmla="*/ 60019 h 17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69579" h="176771">
                <a:moveTo>
                  <a:pt x="115" y="60019"/>
                </a:moveTo>
                <a:cubicBezTo>
                  <a:pt x="-1062" y="46485"/>
                  <a:pt x="7069" y="48185"/>
                  <a:pt x="10706" y="42366"/>
                </a:cubicBezTo>
                <a:cubicBezTo>
                  <a:pt x="12955" y="38768"/>
                  <a:pt x="15869" y="35569"/>
                  <a:pt x="17767" y="31774"/>
                </a:cubicBezTo>
                <a:cubicBezTo>
                  <a:pt x="21089" y="25130"/>
                  <a:pt x="21002" y="15189"/>
                  <a:pt x="28359" y="10591"/>
                </a:cubicBezTo>
                <a:cubicBezTo>
                  <a:pt x="34671" y="6646"/>
                  <a:pt x="42481" y="5884"/>
                  <a:pt x="49542" y="3530"/>
                </a:cubicBezTo>
                <a:lnTo>
                  <a:pt x="60133" y="0"/>
                </a:lnTo>
                <a:cubicBezTo>
                  <a:pt x="84847" y="1177"/>
                  <a:pt x="109723" y="461"/>
                  <a:pt x="134274" y="3530"/>
                </a:cubicBezTo>
                <a:cubicBezTo>
                  <a:pt x="149670" y="5454"/>
                  <a:pt x="145957" y="22819"/>
                  <a:pt x="151927" y="31774"/>
                </a:cubicBezTo>
                <a:lnTo>
                  <a:pt x="158988" y="42366"/>
                </a:lnTo>
                <a:cubicBezTo>
                  <a:pt x="167947" y="69242"/>
                  <a:pt x="164590" y="56251"/>
                  <a:pt x="169579" y="81202"/>
                </a:cubicBezTo>
                <a:cubicBezTo>
                  <a:pt x="168402" y="98854"/>
                  <a:pt x="168003" y="116576"/>
                  <a:pt x="166049" y="134159"/>
                </a:cubicBezTo>
                <a:cubicBezTo>
                  <a:pt x="164547" y="147680"/>
                  <a:pt x="161772" y="143936"/>
                  <a:pt x="151927" y="151812"/>
                </a:cubicBezTo>
                <a:cubicBezTo>
                  <a:pt x="140986" y="160565"/>
                  <a:pt x="148755" y="158694"/>
                  <a:pt x="134274" y="165934"/>
                </a:cubicBezTo>
                <a:cubicBezTo>
                  <a:pt x="124741" y="170700"/>
                  <a:pt x="112254" y="170827"/>
                  <a:pt x="102499" y="172995"/>
                </a:cubicBezTo>
                <a:cubicBezTo>
                  <a:pt x="98866" y="173802"/>
                  <a:pt x="95438" y="175348"/>
                  <a:pt x="91908" y="176525"/>
                </a:cubicBezTo>
                <a:cubicBezTo>
                  <a:pt x="83784" y="175900"/>
                  <a:pt x="47163" y="180613"/>
                  <a:pt x="35420" y="165934"/>
                </a:cubicBezTo>
                <a:cubicBezTo>
                  <a:pt x="33095" y="163028"/>
                  <a:pt x="33553" y="158671"/>
                  <a:pt x="31889" y="155342"/>
                </a:cubicBezTo>
                <a:cubicBezTo>
                  <a:pt x="29991" y="151547"/>
                  <a:pt x="27182" y="148281"/>
                  <a:pt x="24828" y="144751"/>
                </a:cubicBezTo>
                <a:cubicBezTo>
                  <a:pt x="22474" y="137690"/>
                  <a:pt x="17354" y="130999"/>
                  <a:pt x="17767" y="123568"/>
                </a:cubicBezTo>
                <a:cubicBezTo>
                  <a:pt x="21494" y="56494"/>
                  <a:pt x="1292" y="73553"/>
                  <a:pt x="115" y="6001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9" name="任意多边形 38"/>
          <p:cNvSpPr/>
          <p:nvPr/>
        </p:nvSpPr>
        <p:spPr bwMode="auto">
          <a:xfrm>
            <a:off x="7374379" y="3821857"/>
            <a:ext cx="127137" cy="158873"/>
          </a:xfrm>
          <a:custGeom>
            <a:avLst/>
            <a:gdLst>
              <a:gd name="connsiteX0" fmla="*/ 39 w 127137"/>
              <a:gd name="connsiteY0" fmla="*/ 88263 h 158873"/>
              <a:gd name="connsiteX1" fmla="*/ 10630 w 127137"/>
              <a:gd name="connsiteY1" fmla="*/ 49427 h 158873"/>
              <a:gd name="connsiteX2" fmla="*/ 17691 w 127137"/>
              <a:gd name="connsiteY2" fmla="*/ 38836 h 158873"/>
              <a:gd name="connsiteX3" fmla="*/ 24752 w 127137"/>
              <a:gd name="connsiteY3" fmla="*/ 17653 h 158873"/>
              <a:gd name="connsiteX4" fmla="*/ 56527 w 127137"/>
              <a:gd name="connsiteY4" fmla="*/ 0 h 158873"/>
              <a:gd name="connsiteX5" fmla="*/ 77710 w 127137"/>
              <a:gd name="connsiteY5" fmla="*/ 3531 h 158873"/>
              <a:gd name="connsiteX6" fmla="*/ 88301 w 127137"/>
              <a:gd name="connsiteY6" fmla="*/ 7061 h 158873"/>
              <a:gd name="connsiteX7" fmla="*/ 102423 w 127137"/>
              <a:gd name="connsiteY7" fmla="*/ 21183 h 158873"/>
              <a:gd name="connsiteX8" fmla="*/ 109484 w 127137"/>
              <a:gd name="connsiteY8" fmla="*/ 31775 h 158873"/>
              <a:gd name="connsiteX9" fmla="*/ 120076 w 127137"/>
              <a:gd name="connsiteY9" fmla="*/ 67080 h 158873"/>
              <a:gd name="connsiteX10" fmla="*/ 123606 w 127137"/>
              <a:gd name="connsiteY10" fmla="*/ 84733 h 158873"/>
              <a:gd name="connsiteX11" fmla="*/ 127137 w 127137"/>
              <a:gd name="connsiteY11" fmla="*/ 95324 h 158873"/>
              <a:gd name="connsiteX12" fmla="*/ 120076 w 127137"/>
              <a:gd name="connsiteY12" fmla="*/ 127099 h 158873"/>
              <a:gd name="connsiteX13" fmla="*/ 113015 w 127137"/>
              <a:gd name="connsiteY13" fmla="*/ 137690 h 158873"/>
              <a:gd name="connsiteX14" fmla="*/ 102423 w 127137"/>
              <a:gd name="connsiteY14" fmla="*/ 148282 h 158873"/>
              <a:gd name="connsiteX15" fmla="*/ 81240 w 127137"/>
              <a:gd name="connsiteY15" fmla="*/ 155343 h 158873"/>
              <a:gd name="connsiteX16" fmla="*/ 70649 w 127137"/>
              <a:gd name="connsiteY16" fmla="*/ 158873 h 158873"/>
              <a:gd name="connsiteX17" fmla="*/ 52996 w 127137"/>
              <a:gd name="connsiteY17" fmla="*/ 155343 h 158873"/>
              <a:gd name="connsiteX18" fmla="*/ 31813 w 127137"/>
              <a:gd name="connsiteY18" fmla="*/ 137690 h 158873"/>
              <a:gd name="connsiteX19" fmla="*/ 21222 w 127137"/>
              <a:gd name="connsiteY19" fmla="*/ 130629 h 158873"/>
              <a:gd name="connsiteX20" fmla="*/ 14161 w 127137"/>
              <a:gd name="connsiteY20" fmla="*/ 109446 h 158873"/>
              <a:gd name="connsiteX21" fmla="*/ 39 w 127137"/>
              <a:gd name="connsiteY21" fmla="*/ 88263 h 158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7137" h="158873">
                <a:moveTo>
                  <a:pt x="39" y="88263"/>
                </a:moveTo>
                <a:cubicBezTo>
                  <a:pt x="-550" y="78260"/>
                  <a:pt x="5511" y="57106"/>
                  <a:pt x="10630" y="49427"/>
                </a:cubicBezTo>
                <a:cubicBezTo>
                  <a:pt x="12984" y="45897"/>
                  <a:pt x="15968" y="42713"/>
                  <a:pt x="17691" y="38836"/>
                </a:cubicBezTo>
                <a:cubicBezTo>
                  <a:pt x="20714" y="32035"/>
                  <a:pt x="18559" y="21782"/>
                  <a:pt x="24752" y="17653"/>
                </a:cubicBezTo>
                <a:cubicBezTo>
                  <a:pt x="49032" y="1467"/>
                  <a:pt x="37884" y="6215"/>
                  <a:pt x="56527" y="0"/>
                </a:cubicBezTo>
                <a:cubicBezTo>
                  <a:pt x="63588" y="1177"/>
                  <a:pt x="70722" y="1978"/>
                  <a:pt x="77710" y="3531"/>
                </a:cubicBezTo>
                <a:cubicBezTo>
                  <a:pt x="81343" y="4338"/>
                  <a:pt x="85670" y="4430"/>
                  <a:pt x="88301" y="7061"/>
                </a:cubicBezTo>
                <a:cubicBezTo>
                  <a:pt x="107130" y="25890"/>
                  <a:pt x="74182" y="11770"/>
                  <a:pt x="102423" y="21183"/>
                </a:cubicBezTo>
                <a:cubicBezTo>
                  <a:pt x="104777" y="24714"/>
                  <a:pt x="107761" y="27897"/>
                  <a:pt x="109484" y="31775"/>
                </a:cubicBezTo>
                <a:cubicBezTo>
                  <a:pt x="113393" y="40571"/>
                  <a:pt x="117795" y="56814"/>
                  <a:pt x="120076" y="67080"/>
                </a:cubicBezTo>
                <a:cubicBezTo>
                  <a:pt x="121378" y="72938"/>
                  <a:pt x="122151" y="78911"/>
                  <a:pt x="123606" y="84733"/>
                </a:cubicBezTo>
                <a:cubicBezTo>
                  <a:pt x="124509" y="88343"/>
                  <a:pt x="125960" y="91794"/>
                  <a:pt x="127137" y="95324"/>
                </a:cubicBezTo>
                <a:cubicBezTo>
                  <a:pt x="125782" y="103453"/>
                  <a:pt x="124420" y="118411"/>
                  <a:pt x="120076" y="127099"/>
                </a:cubicBezTo>
                <a:cubicBezTo>
                  <a:pt x="118179" y="130894"/>
                  <a:pt x="115731" y="134430"/>
                  <a:pt x="113015" y="137690"/>
                </a:cubicBezTo>
                <a:cubicBezTo>
                  <a:pt x="109818" y="141526"/>
                  <a:pt x="106788" y="145857"/>
                  <a:pt x="102423" y="148282"/>
                </a:cubicBezTo>
                <a:cubicBezTo>
                  <a:pt x="95917" y="151897"/>
                  <a:pt x="88301" y="152989"/>
                  <a:pt x="81240" y="155343"/>
                </a:cubicBezTo>
                <a:lnTo>
                  <a:pt x="70649" y="158873"/>
                </a:lnTo>
                <a:cubicBezTo>
                  <a:pt x="64765" y="157696"/>
                  <a:pt x="58615" y="157450"/>
                  <a:pt x="52996" y="155343"/>
                </a:cubicBezTo>
                <a:cubicBezTo>
                  <a:pt x="43436" y="151758"/>
                  <a:pt x="39303" y="143932"/>
                  <a:pt x="31813" y="137690"/>
                </a:cubicBezTo>
                <a:cubicBezTo>
                  <a:pt x="28553" y="134974"/>
                  <a:pt x="24752" y="132983"/>
                  <a:pt x="21222" y="130629"/>
                </a:cubicBezTo>
                <a:cubicBezTo>
                  <a:pt x="18868" y="123568"/>
                  <a:pt x="13666" y="116872"/>
                  <a:pt x="14161" y="109446"/>
                </a:cubicBezTo>
                <a:cubicBezTo>
                  <a:pt x="17926" y="52965"/>
                  <a:pt x="628" y="98266"/>
                  <a:pt x="39" y="8826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任意多边形 39"/>
          <p:cNvSpPr/>
          <p:nvPr/>
        </p:nvSpPr>
        <p:spPr bwMode="auto">
          <a:xfrm>
            <a:off x="6639428" y="3980106"/>
            <a:ext cx="177208" cy="163027"/>
          </a:xfrm>
          <a:custGeom>
            <a:avLst/>
            <a:gdLst>
              <a:gd name="connsiteX0" fmla="*/ 11237 w 177208"/>
              <a:gd name="connsiteY0" fmla="*/ 46521 h 163027"/>
              <a:gd name="connsiteX1" fmla="*/ 28889 w 177208"/>
              <a:gd name="connsiteY1" fmla="*/ 14746 h 163027"/>
              <a:gd name="connsiteX2" fmla="*/ 39481 w 177208"/>
              <a:gd name="connsiteY2" fmla="*/ 7685 h 163027"/>
              <a:gd name="connsiteX3" fmla="*/ 60664 w 177208"/>
              <a:gd name="connsiteY3" fmla="*/ 624 h 163027"/>
              <a:gd name="connsiteX4" fmla="*/ 155987 w 177208"/>
              <a:gd name="connsiteY4" fmla="*/ 4155 h 163027"/>
              <a:gd name="connsiteX5" fmla="*/ 163048 w 177208"/>
              <a:gd name="connsiteY5" fmla="*/ 25338 h 163027"/>
              <a:gd name="connsiteX6" fmla="*/ 166579 w 177208"/>
              <a:gd name="connsiteY6" fmla="*/ 35929 h 163027"/>
              <a:gd name="connsiteX7" fmla="*/ 170109 w 177208"/>
              <a:gd name="connsiteY7" fmla="*/ 57112 h 163027"/>
              <a:gd name="connsiteX8" fmla="*/ 173640 w 177208"/>
              <a:gd name="connsiteY8" fmla="*/ 71234 h 163027"/>
              <a:gd name="connsiteX9" fmla="*/ 177170 w 177208"/>
              <a:gd name="connsiteY9" fmla="*/ 88887 h 163027"/>
              <a:gd name="connsiteX10" fmla="*/ 173640 w 177208"/>
              <a:gd name="connsiteY10" fmla="*/ 138314 h 163027"/>
              <a:gd name="connsiteX11" fmla="*/ 141865 w 177208"/>
              <a:gd name="connsiteY11" fmla="*/ 155966 h 163027"/>
              <a:gd name="connsiteX12" fmla="*/ 124213 w 177208"/>
              <a:gd name="connsiteY12" fmla="*/ 159497 h 163027"/>
              <a:gd name="connsiteX13" fmla="*/ 113621 w 177208"/>
              <a:gd name="connsiteY13" fmla="*/ 163027 h 163027"/>
              <a:gd name="connsiteX14" fmla="*/ 53603 w 177208"/>
              <a:gd name="connsiteY14" fmla="*/ 159497 h 163027"/>
              <a:gd name="connsiteX15" fmla="*/ 32420 w 177208"/>
              <a:gd name="connsiteY15" fmla="*/ 145375 h 163027"/>
              <a:gd name="connsiteX16" fmla="*/ 18298 w 177208"/>
              <a:gd name="connsiteY16" fmla="*/ 124192 h 163027"/>
              <a:gd name="connsiteX17" fmla="*/ 7706 w 177208"/>
              <a:gd name="connsiteY17" fmla="*/ 110070 h 163027"/>
              <a:gd name="connsiteX18" fmla="*/ 4176 w 177208"/>
              <a:gd name="connsiteY18" fmla="*/ 60643 h 163027"/>
              <a:gd name="connsiteX19" fmla="*/ 11237 w 177208"/>
              <a:gd name="connsiteY19" fmla="*/ 50051 h 163027"/>
              <a:gd name="connsiteX20" fmla="*/ 14767 w 177208"/>
              <a:gd name="connsiteY20" fmla="*/ 39460 h 163027"/>
              <a:gd name="connsiteX21" fmla="*/ 11237 w 177208"/>
              <a:gd name="connsiteY21" fmla="*/ 46521 h 16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77208" h="163027">
                <a:moveTo>
                  <a:pt x="11237" y="46521"/>
                </a:moveTo>
                <a:cubicBezTo>
                  <a:pt x="13591" y="42402"/>
                  <a:pt x="23169" y="20466"/>
                  <a:pt x="28889" y="14746"/>
                </a:cubicBezTo>
                <a:cubicBezTo>
                  <a:pt x="31889" y="11746"/>
                  <a:pt x="35603" y="9408"/>
                  <a:pt x="39481" y="7685"/>
                </a:cubicBezTo>
                <a:cubicBezTo>
                  <a:pt x="46282" y="4662"/>
                  <a:pt x="60664" y="624"/>
                  <a:pt x="60664" y="624"/>
                </a:cubicBezTo>
                <a:cubicBezTo>
                  <a:pt x="92438" y="1801"/>
                  <a:pt x="125079" y="-3306"/>
                  <a:pt x="155987" y="4155"/>
                </a:cubicBezTo>
                <a:cubicBezTo>
                  <a:pt x="163222" y="5901"/>
                  <a:pt x="160694" y="18277"/>
                  <a:pt x="163048" y="25338"/>
                </a:cubicBezTo>
                <a:lnTo>
                  <a:pt x="166579" y="35929"/>
                </a:lnTo>
                <a:cubicBezTo>
                  <a:pt x="167756" y="42990"/>
                  <a:pt x="168705" y="50093"/>
                  <a:pt x="170109" y="57112"/>
                </a:cubicBezTo>
                <a:cubicBezTo>
                  <a:pt x="171061" y="61870"/>
                  <a:pt x="172587" y="66497"/>
                  <a:pt x="173640" y="71234"/>
                </a:cubicBezTo>
                <a:cubicBezTo>
                  <a:pt x="174942" y="77092"/>
                  <a:pt x="175993" y="83003"/>
                  <a:pt x="177170" y="88887"/>
                </a:cubicBezTo>
                <a:cubicBezTo>
                  <a:pt x="175993" y="105363"/>
                  <a:pt x="179627" y="122919"/>
                  <a:pt x="173640" y="138314"/>
                </a:cubicBezTo>
                <a:cubicBezTo>
                  <a:pt x="170807" y="145599"/>
                  <a:pt x="151103" y="153657"/>
                  <a:pt x="141865" y="155966"/>
                </a:cubicBezTo>
                <a:cubicBezTo>
                  <a:pt x="136044" y="157421"/>
                  <a:pt x="130034" y="158042"/>
                  <a:pt x="124213" y="159497"/>
                </a:cubicBezTo>
                <a:cubicBezTo>
                  <a:pt x="120603" y="160400"/>
                  <a:pt x="117152" y="161850"/>
                  <a:pt x="113621" y="163027"/>
                </a:cubicBezTo>
                <a:cubicBezTo>
                  <a:pt x="93615" y="161850"/>
                  <a:pt x="73544" y="161491"/>
                  <a:pt x="53603" y="159497"/>
                </a:cubicBezTo>
                <a:cubicBezTo>
                  <a:pt x="43667" y="158503"/>
                  <a:pt x="38409" y="153076"/>
                  <a:pt x="32420" y="145375"/>
                </a:cubicBezTo>
                <a:cubicBezTo>
                  <a:pt x="27210" y="138676"/>
                  <a:pt x="23390" y="130981"/>
                  <a:pt x="18298" y="124192"/>
                </a:cubicBezTo>
                <a:lnTo>
                  <a:pt x="7706" y="110070"/>
                </a:lnTo>
                <a:cubicBezTo>
                  <a:pt x="-85" y="86698"/>
                  <a:pt x="-3173" y="87588"/>
                  <a:pt x="4176" y="60643"/>
                </a:cubicBezTo>
                <a:cubicBezTo>
                  <a:pt x="5293" y="56549"/>
                  <a:pt x="8883" y="53582"/>
                  <a:pt x="11237" y="50051"/>
                </a:cubicBezTo>
                <a:cubicBezTo>
                  <a:pt x="12414" y="46521"/>
                  <a:pt x="12442" y="42366"/>
                  <a:pt x="14767" y="39460"/>
                </a:cubicBezTo>
                <a:cubicBezTo>
                  <a:pt x="26338" y="24996"/>
                  <a:pt x="8883" y="50640"/>
                  <a:pt x="11237" y="4652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" name="任意多边形 40"/>
          <p:cNvSpPr/>
          <p:nvPr/>
        </p:nvSpPr>
        <p:spPr bwMode="auto">
          <a:xfrm>
            <a:off x="6830720" y="3977200"/>
            <a:ext cx="141220" cy="162403"/>
          </a:xfrm>
          <a:custGeom>
            <a:avLst/>
            <a:gdLst>
              <a:gd name="connsiteX0" fmla="*/ 0 w 141220"/>
              <a:gd name="connsiteY0" fmla="*/ 84732 h 162403"/>
              <a:gd name="connsiteX1" fmla="*/ 3531 w 141220"/>
              <a:gd name="connsiteY1" fmla="*/ 21183 h 162403"/>
              <a:gd name="connsiteX2" fmla="*/ 14122 w 141220"/>
              <a:gd name="connsiteY2" fmla="*/ 14122 h 162403"/>
              <a:gd name="connsiteX3" fmla="*/ 35305 w 141220"/>
              <a:gd name="connsiteY3" fmla="*/ 7061 h 162403"/>
              <a:gd name="connsiteX4" fmla="*/ 45897 w 141220"/>
              <a:gd name="connsiteY4" fmla="*/ 3530 h 162403"/>
              <a:gd name="connsiteX5" fmla="*/ 56488 w 141220"/>
              <a:gd name="connsiteY5" fmla="*/ 0 h 162403"/>
              <a:gd name="connsiteX6" fmla="*/ 105915 w 141220"/>
              <a:gd name="connsiteY6" fmla="*/ 3530 h 162403"/>
              <a:gd name="connsiteX7" fmla="*/ 116507 w 141220"/>
              <a:gd name="connsiteY7" fmla="*/ 14122 h 162403"/>
              <a:gd name="connsiteX8" fmla="*/ 123568 w 141220"/>
              <a:gd name="connsiteY8" fmla="*/ 35305 h 162403"/>
              <a:gd name="connsiteX9" fmla="*/ 130629 w 141220"/>
              <a:gd name="connsiteY9" fmla="*/ 45896 h 162403"/>
              <a:gd name="connsiteX10" fmla="*/ 137690 w 141220"/>
              <a:gd name="connsiteY10" fmla="*/ 67079 h 162403"/>
              <a:gd name="connsiteX11" fmla="*/ 141220 w 141220"/>
              <a:gd name="connsiteY11" fmla="*/ 77671 h 162403"/>
              <a:gd name="connsiteX12" fmla="*/ 134159 w 141220"/>
              <a:gd name="connsiteY12" fmla="*/ 130628 h 162403"/>
              <a:gd name="connsiteX13" fmla="*/ 127098 w 141220"/>
              <a:gd name="connsiteY13" fmla="*/ 141220 h 162403"/>
              <a:gd name="connsiteX14" fmla="*/ 98854 w 141220"/>
              <a:gd name="connsiteY14" fmla="*/ 151811 h 162403"/>
              <a:gd name="connsiteX15" fmla="*/ 77671 w 141220"/>
              <a:gd name="connsiteY15" fmla="*/ 158872 h 162403"/>
              <a:gd name="connsiteX16" fmla="*/ 67080 w 141220"/>
              <a:gd name="connsiteY16" fmla="*/ 162403 h 162403"/>
              <a:gd name="connsiteX17" fmla="*/ 42366 w 141220"/>
              <a:gd name="connsiteY17" fmla="*/ 155342 h 162403"/>
              <a:gd name="connsiteX18" fmla="*/ 35305 w 141220"/>
              <a:gd name="connsiteY18" fmla="*/ 144750 h 162403"/>
              <a:gd name="connsiteX19" fmla="*/ 31775 w 141220"/>
              <a:gd name="connsiteY19" fmla="*/ 134159 h 162403"/>
              <a:gd name="connsiteX20" fmla="*/ 24714 w 141220"/>
              <a:gd name="connsiteY20" fmla="*/ 123567 h 162403"/>
              <a:gd name="connsiteX21" fmla="*/ 21183 w 141220"/>
              <a:gd name="connsiteY21" fmla="*/ 109445 h 162403"/>
              <a:gd name="connsiteX22" fmla="*/ 14122 w 141220"/>
              <a:gd name="connsiteY22" fmla="*/ 88262 h 162403"/>
              <a:gd name="connsiteX23" fmla="*/ 10592 w 141220"/>
              <a:gd name="connsiteY23" fmla="*/ 77671 h 162403"/>
              <a:gd name="connsiteX24" fmla="*/ 7061 w 141220"/>
              <a:gd name="connsiteY24" fmla="*/ 67079 h 162403"/>
              <a:gd name="connsiteX25" fmla="*/ 7061 w 141220"/>
              <a:gd name="connsiteY25" fmla="*/ 31774 h 1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41220" h="162403">
                <a:moveTo>
                  <a:pt x="0" y="84732"/>
                </a:moveTo>
                <a:cubicBezTo>
                  <a:pt x="1177" y="63549"/>
                  <a:pt x="-630" y="41987"/>
                  <a:pt x="3531" y="21183"/>
                </a:cubicBezTo>
                <a:cubicBezTo>
                  <a:pt x="4363" y="17022"/>
                  <a:pt x="10245" y="15845"/>
                  <a:pt x="14122" y="14122"/>
                </a:cubicBezTo>
                <a:cubicBezTo>
                  <a:pt x="20923" y="11099"/>
                  <a:pt x="28244" y="9415"/>
                  <a:pt x="35305" y="7061"/>
                </a:cubicBezTo>
                <a:lnTo>
                  <a:pt x="45897" y="3530"/>
                </a:lnTo>
                <a:lnTo>
                  <a:pt x="56488" y="0"/>
                </a:lnTo>
                <a:cubicBezTo>
                  <a:pt x="72964" y="1177"/>
                  <a:pt x="89836" y="-253"/>
                  <a:pt x="105915" y="3530"/>
                </a:cubicBezTo>
                <a:cubicBezTo>
                  <a:pt x="110775" y="4674"/>
                  <a:pt x="114082" y="9757"/>
                  <a:pt x="116507" y="14122"/>
                </a:cubicBezTo>
                <a:cubicBezTo>
                  <a:pt x="120122" y="20628"/>
                  <a:pt x="121214" y="28244"/>
                  <a:pt x="123568" y="35305"/>
                </a:cubicBezTo>
                <a:cubicBezTo>
                  <a:pt x="124910" y="39330"/>
                  <a:pt x="128275" y="42366"/>
                  <a:pt x="130629" y="45896"/>
                </a:cubicBezTo>
                <a:lnTo>
                  <a:pt x="137690" y="67079"/>
                </a:lnTo>
                <a:lnTo>
                  <a:pt x="141220" y="77671"/>
                </a:lnTo>
                <a:cubicBezTo>
                  <a:pt x="140430" y="87148"/>
                  <a:pt x="141371" y="116204"/>
                  <a:pt x="134159" y="130628"/>
                </a:cubicBezTo>
                <a:cubicBezTo>
                  <a:pt x="132261" y="134423"/>
                  <a:pt x="130358" y="138503"/>
                  <a:pt x="127098" y="141220"/>
                </a:cubicBezTo>
                <a:cubicBezTo>
                  <a:pt x="118219" y="148619"/>
                  <a:pt x="109247" y="148693"/>
                  <a:pt x="98854" y="151811"/>
                </a:cubicBezTo>
                <a:cubicBezTo>
                  <a:pt x="91725" y="153950"/>
                  <a:pt x="84732" y="156518"/>
                  <a:pt x="77671" y="158872"/>
                </a:cubicBezTo>
                <a:lnTo>
                  <a:pt x="67080" y="162403"/>
                </a:lnTo>
                <a:cubicBezTo>
                  <a:pt x="66161" y="162173"/>
                  <a:pt x="44666" y="157182"/>
                  <a:pt x="42366" y="155342"/>
                </a:cubicBezTo>
                <a:cubicBezTo>
                  <a:pt x="39053" y="152691"/>
                  <a:pt x="37659" y="148281"/>
                  <a:pt x="35305" y="144750"/>
                </a:cubicBezTo>
                <a:cubicBezTo>
                  <a:pt x="34128" y="141220"/>
                  <a:pt x="33439" y="137487"/>
                  <a:pt x="31775" y="134159"/>
                </a:cubicBezTo>
                <a:cubicBezTo>
                  <a:pt x="29877" y="130364"/>
                  <a:pt x="26386" y="127467"/>
                  <a:pt x="24714" y="123567"/>
                </a:cubicBezTo>
                <a:cubicBezTo>
                  <a:pt x="22803" y="119107"/>
                  <a:pt x="22577" y="114093"/>
                  <a:pt x="21183" y="109445"/>
                </a:cubicBezTo>
                <a:cubicBezTo>
                  <a:pt x="19044" y="102316"/>
                  <a:pt x="16476" y="95323"/>
                  <a:pt x="14122" y="88262"/>
                </a:cubicBezTo>
                <a:lnTo>
                  <a:pt x="10592" y="77671"/>
                </a:lnTo>
                <a:cubicBezTo>
                  <a:pt x="9415" y="74140"/>
                  <a:pt x="7061" y="70801"/>
                  <a:pt x="7061" y="67079"/>
                </a:cubicBezTo>
                <a:lnTo>
                  <a:pt x="7061" y="31774"/>
                </a:lnTo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任意多边形 41"/>
          <p:cNvSpPr/>
          <p:nvPr/>
        </p:nvSpPr>
        <p:spPr bwMode="auto">
          <a:xfrm>
            <a:off x="6975455" y="3994852"/>
            <a:ext cx="155379" cy="156604"/>
          </a:xfrm>
          <a:custGeom>
            <a:avLst/>
            <a:gdLst>
              <a:gd name="connsiteX0" fmla="*/ 16 w 155379"/>
              <a:gd name="connsiteY0" fmla="*/ 60019 h 156604"/>
              <a:gd name="connsiteX1" fmla="*/ 14138 w 155379"/>
              <a:gd name="connsiteY1" fmla="*/ 31775 h 156604"/>
              <a:gd name="connsiteX2" fmla="*/ 45912 w 155379"/>
              <a:gd name="connsiteY2" fmla="*/ 17653 h 156604"/>
              <a:gd name="connsiteX3" fmla="*/ 67095 w 155379"/>
              <a:gd name="connsiteY3" fmla="*/ 10592 h 156604"/>
              <a:gd name="connsiteX4" fmla="*/ 77687 w 155379"/>
              <a:gd name="connsiteY4" fmla="*/ 7061 h 156604"/>
              <a:gd name="connsiteX5" fmla="*/ 102400 w 155379"/>
              <a:gd name="connsiteY5" fmla="*/ 0 h 156604"/>
              <a:gd name="connsiteX6" fmla="*/ 127114 w 155379"/>
              <a:gd name="connsiteY6" fmla="*/ 3531 h 156604"/>
              <a:gd name="connsiteX7" fmla="*/ 141236 w 155379"/>
              <a:gd name="connsiteY7" fmla="*/ 24714 h 156604"/>
              <a:gd name="connsiteX8" fmla="*/ 144766 w 155379"/>
              <a:gd name="connsiteY8" fmla="*/ 35305 h 156604"/>
              <a:gd name="connsiteX9" fmla="*/ 151827 w 155379"/>
              <a:gd name="connsiteY9" fmla="*/ 45897 h 156604"/>
              <a:gd name="connsiteX10" fmla="*/ 155358 w 155379"/>
              <a:gd name="connsiteY10" fmla="*/ 70610 h 156604"/>
              <a:gd name="connsiteX11" fmla="*/ 144766 w 155379"/>
              <a:gd name="connsiteY11" fmla="*/ 123568 h 156604"/>
              <a:gd name="connsiteX12" fmla="*/ 134175 w 155379"/>
              <a:gd name="connsiteY12" fmla="*/ 127098 h 156604"/>
              <a:gd name="connsiteX13" fmla="*/ 112992 w 155379"/>
              <a:gd name="connsiteY13" fmla="*/ 144751 h 156604"/>
              <a:gd name="connsiteX14" fmla="*/ 102400 w 155379"/>
              <a:gd name="connsiteY14" fmla="*/ 148281 h 156604"/>
              <a:gd name="connsiteX15" fmla="*/ 91809 w 155379"/>
              <a:gd name="connsiteY15" fmla="*/ 155342 h 156604"/>
              <a:gd name="connsiteX16" fmla="*/ 38851 w 155379"/>
              <a:gd name="connsiteY16" fmla="*/ 144751 h 156604"/>
              <a:gd name="connsiteX17" fmla="*/ 28260 w 155379"/>
              <a:gd name="connsiteY17" fmla="*/ 123568 h 156604"/>
              <a:gd name="connsiteX18" fmla="*/ 21199 w 155379"/>
              <a:gd name="connsiteY18" fmla="*/ 102385 h 156604"/>
              <a:gd name="connsiteX19" fmla="*/ 14138 w 155379"/>
              <a:gd name="connsiteY19" fmla="*/ 81202 h 156604"/>
              <a:gd name="connsiteX20" fmla="*/ 10607 w 155379"/>
              <a:gd name="connsiteY20" fmla="*/ 63549 h 156604"/>
              <a:gd name="connsiteX21" fmla="*/ 16 w 155379"/>
              <a:gd name="connsiteY21" fmla="*/ 60019 h 15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5379" h="156604">
                <a:moveTo>
                  <a:pt x="16" y="60019"/>
                </a:moveTo>
                <a:cubicBezTo>
                  <a:pt x="604" y="54723"/>
                  <a:pt x="7086" y="38827"/>
                  <a:pt x="14138" y="31775"/>
                </a:cubicBezTo>
                <a:cubicBezTo>
                  <a:pt x="22531" y="23382"/>
                  <a:pt x="35423" y="21149"/>
                  <a:pt x="45912" y="17653"/>
                </a:cubicBezTo>
                <a:lnTo>
                  <a:pt x="67095" y="10592"/>
                </a:lnTo>
                <a:cubicBezTo>
                  <a:pt x="70626" y="9415"/>
                  <a:pt x="74076" y="7964"/>
                  <a:pt x="77687" y="7061"/>
                </a:cubicBezTo>
                <a:cubicBezTo>
                  <a:pt x="95419" y="2629"/>
                  <a:pt x="87206" y="5066"/>
                  <a:pt x="102400" y="0"/>
                </a:cubicBezTo>
                <a:cubicBezTo>
                  <a:pt x="110638" y="1177"/>
                  <a:pt x="120093" y="-937"/>
                  <a:pt x="127114" y="3531"/>
                </a:cubicBezTo>
                <a:cubicBezTo>
                  <a:pt x="134274" y="8087"/>
                  <a:pt x="141236" y="24714"/>
                  <a:pt x="141236" y="24714"/>
                </a:cubicBezTo>
                <a:cubicBezTo>
                  <a:pt x="142413" y="28244"/>
                  <a:pt x="143102" y="31977"/>
                  <a:pt x="144766" y="35305"/>
                </a:cubicBezTo>
                <a:cubicBezTo>
                  <a:pt x="146664" y="39100"/>
                  <a:pt x="150608" y="41833"/>
                  <a:pt x="151827" y="45897"/>
                </a:cubicBezTo>
                <a:cubicBezTo>
                  <a:pt x="154218" y="53867"/>
                  <a:pt x="154181" y="62372"/>
                  <a:pt x="155358" y="70610"/>
                </a:cubicBezTo>
                <a:cubicBezTo>
                  <a:pt x="154590" y="79828"/>
                  <a:pt x="158755" y="112377"/>
                  <a:pt x="144766" y="123568"/>
                </a:cubicBezTo>
                <a:cubicBezTo>
                  <a:pt x="141860" y="125893"/>
                  <a:pt x="137705" y="125921"/>
                  <a:pt x="134175" y="127098"/>
                </a:cubicBezTo>
                <a:cubicBezTo>
                  <a:pt x="126368" y="134905"/>
                  <a:pt x="122821" y="139837"/>
                  <a:pt x="112992" y="144751"/>
                </a:cubicBezTo>
                <a:cubicBezTo>
                  <a:pt x="109663" y="146415"/>
                  <a:pt x="105931" y="147104"/>
                  <a:pt x="102400" y="148281"/>
                </a:cubicBezTo>
                <a:cubicBezTo>
                  <a:pt x="98870" y="150635"/>
                  <a:pt x="96043" y="155060"/>
                  <a:pt x="91809" y="155342"/>
                </a:cubicBezTo>
                <a:cubicBezTo>
                  <a:pt x="54745" y="157813"/>
                  <a:pt x="58380" y="157770"/>
                  <a:pt x="38851" y="144751"/>
                </a:cubicBezTo>
                <a:cubicBezTo>
                  <a:pt x="25981" y="106135"/>
                  <a:pt x="46504" y="164616"/>
                  <a:pt x="28260" y="123568"/>
                </a:cubicBezTo>
                <a:cubicBezTo>
                  <a:pt x="25237" y="116767"/>
                  <a:pt x="23553" y="109446"/>
                  <a:pt x="21199" y="102385"/>
                </a:cubicBezTo>
                <a:lnTo>
                  <a:pt x="14138" y="81202"/>
                </a:lnTo>
                <a:lnTo>
                  <a:pt x="10607" y="63549"/>
                </a:lnTo>
                <a:cubicBezTo>
                  <a:pt x="14464" y="44265"/>
                  <a:pt x="-572" y="65315"/>
                  <a:pt x="16" y="6001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3" name="任意多边形 42"/>
          <p:cNvSpPr/>
          <p:nvPr/>
        </p:nvSpPr>
        <p:spPr bwMode="auto">
          <a:xfrm>
            <a:off x="7141027" y="4002639"/>
            <a:ext cx="147685" cy="155526"/>
          </a:xfrm>
          <a:custGeom>
            <a:avLst/>
            <a:gdLst>
              <a:gd name="connsiteX0" fmla="*/ 377 w 147685"/>
              <a:gd name="connsiteY0" fmla="*/ 56488 h 155526"/>
              <a:gd name="connsiteX1" fmla="*/ 18030 w 147685"/>
              <a:gd name="connsiteY1" fmla="*/ 42366 h 155526"/>
              <a:gd name="connsiteX2" fmla="*/ 28621 w 147685"/>
              <a:gd name="connsiteY2" fmla="*/ 35305 h 155526"/>
              <a:gd name="connsiteX3" fmla="*/ 46274 w 147685"/>
              <a:gd name="connsiteY3" fmla="*/ 21183 h 155526"/>
              <a:gd name="connsiteX4" fmla="*/ 67457 w 147685"/>
              <a:gd name="connsiteY4" fmla="*/ 3530 h 155526"/>
              <a:gd name="connsiteX5" fmla="*/ 78048 w 147685"/>
              <a:gd name="connsiteY5" fmla="*/ 0 h 155526"/>
              <a:gd name="connsiteX6" fmla="*/ 99231 w 147685"/>
              <a:gd name="connsiteY6" fmla="*/ 7061 h 155526"/>
              <a:gd name="connsiteX7" fmla="*/ 113353 w 147685"/>
              <a:gd name="connsiteY7" fmla="*/ 28244 h 155526"/>
              <a:gd name="connsiteX8" fmla="*/ 120414 w 147685"/>
              <a:gd name="connsiteY8" fmla="*/ 38835 h 155526"/>
              <a:gd name="connsiteX9" fmla="*/ 141597 w 147685"/>
              <a:gd name="connsiteY9" fmla="*/ 52957 h 155526"/>
              <a:gd name="connsiteX10" fmla="*/ 145128 w 147685"/>
              <a:gd name="connsiteY10" fmla="*/ 63549 h 155526"/>
              <a:gd name="connsiteX11" fmla="*/ 131006 w 147685"/>
              <a:gd name="connsiteY11" fmla="*/ 141220 h 155526"/>
              <a:gd name="connsiteX12" fmla="*/ 120414 w 147685"/>
              <a:gd name="connsiteY12" fmla="*/ 144750 h 155526"/>
              <a:gd name="connsiteX13" fmla="*/ 109823 w 147685"/>
              <a:gd name="connsiteY13" fmla="*/ 151811 h 155526"/>
              <a:gd name="connsiteX14" fmla="*/ 63926 w 147685"/>
              <a:gd name="connsiteY14" fmla="*/ 151811 h 155526"/>
              <a:gd name="connsiteX15" fmla="*/ 32152 w 147685"/>
              <a:gd name="connsiteY15" fmla="*/ 123567 h 155526"/>
              <a:gd name="connsiteX16" fmla="*/ 18030 w 147685"/>
              <a:gd name="connsiteY16" fmla="*/ 102384 h 155526"/>
              <a:gd name="connsiteX17" fmla="*/ 10969 w 147685"/>
              <a:gd name="connsiteY17" fmla="*/ 91793 h 155526"/>
              <a:gd name="connsiteX18" fmla="*/ 3908 w 147685"/>
              <a:gd name="connsiteY18" fmla="*/ 81201 h 155526"/>
              <a:gd name="connsiteX19" fmla="*/ 377 w 147685"/>
              <a:gd name="connsiteY19" fmla="*/ 56488 h 15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7685" h="155526">
                <a:moveTo>
                  <a:pt x="377" y="56488"/>
                </a:moveTo>
                <a:cubicBezTo>
                  <a:pt x="2731" y="50016"/>
                  <a:pt x="12002" y="46887"/>
                  <a:pt x="18030" y="42366"/>
                </a:cubicBezTo>
                <a:cubicBezTo>
                  <a:pt x="21424" y="39820"/>
                  <a:pt x="25621" y="38305"/>
                  <a:pt x="28621" y="35305"/>
                </a:cubicBezTo>
                <a:cubicBezTo>
                  <a:pt x="44589" y="19336"/>
                  <a:pt x="25655" y="28055"/>
                  <a:pt x="46274" y="21183"/>
                </a:cubicBezTo>
                <a:cubicBezTo>
                  <a:pt x="54083" y="13373"/>
                  <a:pt x="57625" y="8446"/>
                  <a:pt x="67457" y="3530"/>
                </a:cubicBezTo>
                <a:cubicBezTo>
                  <a:pt x="70785" y="1866"/>
                  <a:pt x="74518" y="1177"/>
                  <a:pt x="78048" y="0"/>
                </a:cubicBezTo>
                <a:cubicBezTo>
                  <a:pt x="85109" y="2354"/>
                  <a:pt x="95102" y="868"/>
                  <a:pt x="99231" y="7061"/>
                </a:cubicBezTo>
                <a:lnTo>
                  <a:pt x="113353" y="28244"/>
                </a:lnTo>
                <a:cubicBezTo>
                  <a:pt x="115707" y="31774"/>
                  <a:pt x="116884" y="36481"/>
                  <a:pt x="120414" y="38835"/>
                </a:cubicBezTo>
                <a:lnTo>
                  <a:pt x="141597" y="52957"/>
                </a:lnTo>
                <a:cubicBezTo>
                  <a:pt x="142774" y="56488"/>
                  <a:pt x="145128" y="59827"/>
                  <a:pt x="145128" y="63549"/>
                </a:cubicBezTo>
                <a:cubicBezTo>
                  <a:pt x="145128" y="93576"/>
                  <a:pt x="156583" y="124169"/>
                  <a:pt x="131006" y="141220"/>
                </a:cubicBezTo>
                <a:cubicBezTo>
                  <a:pt x="127909" y="143284"/>
                  <a:pt x="123945" y="143573"/>
                  <a:pt x="120414" y="144750"/>
                </a:cubicBezTo>
                <a:cubicBezTo>
                  <a:pt x="116884" y="147104"/>
                  <a:pt x="113887" y="150592"/>
                  <a:pt x="109823" y="151811"/>
                </a:cubicBezTo>
                <a:cubicBezTo>
                  <a:pt x="88730" y="158139"/>
                  <a:pt x="84107" y="155175"/>
                  <a:pt x="63926" y="151811"/>
                </a:cubicBezTo>
                <a:cubicBezTo>
                  <a:pt x="51192" y="143321"/>
                  <a:pt x="41825" y="138076"/>
                  <a:pt x="32152" y="123567"/>
                </a:cubicBezTo>
                <a:lnTo>
                  <a:pt x="18030" y="102384"/>
                </a:lnTo>
                <a:lnTo>
                  <a:pt x="10969" y="91793"/>
                </a:lnTo>
                <a:lnTo>
                  <a:pt x="3908" y="81201"/>
                </a:lnTo>
                <a:cubicBezTo>
                  <a:pt x="7584" y="51789"/>
                  <a:pt x="-1977" y="62960"/>
                  <a:pt x="377" y="5648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4" name="任意多边形 43"/>
          <p:cNvSpPr/>
          <p:nvPr/>
        </p:nvSpPr>
        <p:spPr bwMode="auto">
          <a:xfrm>
            <a:off x="7300073" y="3998383"/>
            <a:ext cx="188543" cy="148281"/>
          </a:xfrm>
          <a:custGeom>
            <a:avLst/>
            <a:gdLst>
              <a:gd name="connsiteX0" fmla="*/ 204 w 188543"/>
              <a:gd name="connsiteY0" fmla="*/ 67079 h 148281"/>
              <a:gd name="connsiteX1" fmla="*/ 7265 w 188543"/>
              <a:gd name="connsiteY1" fmla="*/ 49427 h 148281"/>
              <a:gd name="connsiteX2" fmla="*/ 21387 w 188543"/>
              <a:gd name="connsiteY2" fmla="*/ 42366 h 148281"/>
              <a:gd name="connsiteX3" fmla="*/ 31978 w 188543"/>
              <a:gd name="connsiteY3" fmla="*/ 35305 h 148281"/>
              <a:gd name="connsiteX4" fmla="*/ 46100 w 188543"/>
              <a:gd name="connsiteY4" fmla="*/ 28244 h 148281"/>
              <a:gd name="connsiteX5" fmla="*/ 53162 w 188543"/>
              <a:gd name="connsiteY5" fmla="*/ 21183 h 148281"/>
              <a:gd name="connsiteX6" fmla="*/ 63753 w 188543"/>
              <a:gd name="connsiteY6" fmla="*/ 14122 h 148281"/>
              <a:gd name="connsiteX7" fmla="*/ 77875 w 188543"/>
              <a:gd name="connsiteY7" fmla="*/ 7061 h 148281"/>
              <a:gd name="connsiteX8" fmla="*/ 99058 w 188543"/>
              <a:gd name="connsiteY8" fmla="*/ 0 h 148281"/>
              <a:gd name="connsiteX9" fmla="*/ 109650 w 188543"/>
              <a:gd name="connsiteY9" fmla="*/ 3530 h 148281"/>
              <a:gd name="connsiteX10" fmla="*/ 141424 w 188543"/>
              <a:gd name="connsiteY10" fmla="*/ 24713 h 148281"/>
              <a:gd name="connsiteX11" fmla="*/ 152016 w 188543"/>
              <a:gd name="connsiteY11" fmla="*/ 31774 h 148281"/>
              <a:gd name="connsiteX12" fmla="*/ 162607 w 188543"/>
              <a:gd name="connsiteY12" fmla="*/ 35305 h 148281"/>
              <a:gd name="connsiteX13" fmla="*/ 169668 w 188543"/>
              <a:gd name="connsiteY13" fmla="*/ 45896 h 148281"/>
              <a:gd name="connsiteX14" fmla="*/ 173199 w 188543"/>
              <a:gd name="connsiteY14" fmla="*/ 56488 h 148281"/>
              <a:gd name="connsiteX15" fmla="*/ 183790 w 188543"/>
              <a:gd name="connsiteY15" fmla="*/ 63549 h 148281"/>
              <a:gd name="connsiteX16" fmla="*/ 183790 w 188543"/>
              <a:gd name="connsiteY16" fmla="*/ 112976 h 148281"/>
              <a:gd name="connsiteX17" fmla="*/ 173199 w 188543"/>
              <a:gd name="connsiteY17" fmla="*/ 134159 h 148281"/>
              <a:gd name="connsiteX18" fmla="*/ 162607 w 188543"/>
              <a:gd name="connsiteY18" fmla="*/ 141220 h 148281"/>
              <a:gd name="connsiteX19" fmla="*/ 141424 w 188543"/>
              <a:gd name="connsiteY19" fmla="*/ 148281 h 148281"/>
              <a:gd name="connsiteX20" fmla="*/ 39039 w 188543"/>
              <a:gd name="connsiteY20" fmla="*/ 144750 h 148281"/>
              <a:gd name="connsiteX21" fmla="*/ 14326 w 188543"/>
              <a:gd name="connsiteY21" fmla="*/ 120037 h 148281"/>
              <a:gd name="connsiteX22" fmla="*/ 204 w 188543"/>
              <a:gd name="connsiteY22" fmla="*/ 67079 h 148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8543" h="148281">
                <a:moveTo>
                  <a:pt x="204" y="67079"/>
                </a:moveTo>
                <a:cubicBezTo>
                  <a:pt x="-973" y="55311"/>
                  <a:pt x="3141" y="54239"/>
                  <a:pt x="7265" y="49427"/>
                </a:cubicBezTo>
                <a:cubicBezTo>
                  <a:pt x="10690" y="45431"/>
                  <a:pt x="16817" y="44977"/>
                  <a:pt x="21387" y="42366"/>
                </a:cubicBezTo>
                <a:cubicBezTo>
                  <a:pt x="25071" y="40261"/>
                  <a:pt x="28294" y="37410"/>
                  <a:pt x="31978" y="35305"/>
                </a:cubicBezTo>
                <a:cubicBezTo>
                  <a:pt x="36548" y="32694"/>
                  <a:pt x="41721" y="31163"/>
                  <a:pt x="46100" y="28244"/>
                </a:cubicBezTo>
                <a:cubicBezTo>
                  <a:pt x="48870" y="26398"/>
                  <a:pt x="50563" y="23262"/>
                  <a:pt x="53162" y="21183"/>
                </a:cubicBezTo>
                <a:cubicBezTo>
                  <a:pt x="56475" y="18532"/>
                  <a:pt x="60069" y="16227"/>
                  <a:pt x="63753" y="14122"/>
                </a:cubicBezTo>
                <a:cubicBezTo>
                  <a:pt x="68323" y="11511"/>
                  <a:pt x="72988" y="9016"/>
                  <a:pt x="77875" y="7061"/>
                </a:cubicBezTo>
                <a:cubicBezTo>
                  <a:pt x="84786" y="4297"/>
                  <a:pt x="99058" y="0"/>
                  <a:pt x="99058" y="0"/>
                </a:cubicBezTo>
                <a:cubicBezTo>
                  <a:pt x="102589" y="1177"/>
                  <a:pt x="106397" y="1723"/>
                  <a:pt x="109650" y="3530"/>
                </a:cubicBezTo>
                <a:cubicBezTo>
                  <a:pt x="109660" y="3536"/>
                  <a:pt x="136123" y="21179"/>
                  <a:pt x="141424" y="24713"/>
                </a:cubicBezTo>
                <a:cubicBezTo>
                  <a:pt x="144955" y="27067"/>
                  <a:pt x="147991" y="30432"/>
                  <a:pt x="152016" y="31774"/>
                </a:cubicBezTo>
                <a:lnTo>
                  <a:pt x="162607" y="35305"/>
                </a:lnTo>
                <a:cubicBezTo>
                  <a:pt x="164961" y="38835"/>
                  <a:pt x="167770" y="42101"/>
                  <a:pt x="169668" y="45896"/>
                </a:cubicBezTo>
                <a:cubicBezTo>
                  <a:pt x="171332" y="49225"/>
                  <a:pt x="170874" y="53582"/>
                  <a:pt x="173199" y="56488"/>
                </a:cubicBezTo>
                <a:cubicBezTo>
                  <a:pt x="175850" y="59801"/>
                  <a:pt x="180260" y="61195"/>
                  <a:pt x="183790" y="63549"/>
                </a:cubicBezTo>
                <a:cubicBezTo>
                  <a:pt x="190989" y="85143"/>
                  <a:pt x="189205" y="75073"/>
                  <a:pt x="183790" y="112976"/>
                </a:cubicBezTo>
                <a:cubicBezTo>
                  <a:pt x="182833" y="119676"/>
                  <a:pt x="177860" y="129498"/>
                  <a:pt x="173199" y="134159"/>
                </a:cubicBezTo>
                <a:cubicBezTo>
                  <a:pt x="170199" y="137159"/>
                  <a:pt x="166485" y="139497"/>
                  <a:pt x="162607" y="141220"/>
                </a:cubicBezTo>
                <a:cubicBezTo>
                  <a:pt x="155806" y="144243"/>
                  <a:pt x="141424" y="148281"/>
                  <a:pt x="141424" y="148281"/>
                </a:cubicBezTo>
                <a:cubicBezTo>
                  <a:pt x="107296" y="147104"/>
                  <a:pt x="73121" y="146880"/>
                  <a:pt x="39039" y="144750"/>
                </a:cubicBezTo>
                <a:cubicBezTo>
                  <a:pt x="23909" y="143804"/>
                  <a:pt x="22503" y="132303"/>
                  <a:pt x="14326" y="120037"/>
                </a:cubicBezTo>
                <a:cubicBezTo>
                  <a:pt x="-1874" y="95737"/>
                  <a:pt x="1381" y="78847"/>
                  <a:pt x="204" y="6707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5" name="任意多边形 44"/>
          <p:cNvSpPr/>
          <p:nvPr/>
        </p:nvSpPr>
        <p:spPr bwMode="auto">
          <a:xfrm>
            <a:off x="6590233" y="4143133"/>
            <a:ext cx="179213" cy="172995"/>
          </a:xfrm>
          <a:custGeom>
            <a:avLst/>
            <a:gdLst>
              <a:gd name="connsiteX0" fmla="*/ 413 w 179213"/>
              <a:gd name="connsiteY0" fmla="*/ 35305 h 172995"/>
              <a:gd name="connsiteX1" fmla="*/ 28657 w 179213"/>
              <a:gd name="connsiteY1" fmla="*/ 14122 h 172995"/>
              <a:gd name="connsiteX2" fmla="*/ 53371 w 179213"/>
              <a:gd name="connsiteY2" fmla="*/ 7061 h 172995"/>
              <a:gd name="connsiteX3" fmla="*/ 81615 w 179213"/>
              <a:gd name="connsiteY3" fmla="*/ 0 h 172995"/>
              <a:gd name="connsiteX4" fmla="*/ 138103 w 179213"/>
              <a:gd name="connsiteY4" fmla="*/ 7061 h 172995"/>
              <a:gd name="connsiteX5" fmla="*/ 148694 w 179213"/>
              <a:gd name="connsiteY5" fmla="*/ 14122 h 172995"/>
              <a:gd name="connsiteX6" fmla="*/ 159286 w 179213"/>
              <a:gd name="connsiteY6" fmla="*/ 24714 h 172995"/>
              <a:gd name="connsiteX7" fmla="*/ 173408 w 179213"/>
              <a:gd name="connsiteY7" fmla="*/ 45897 h 172995"/>
              <a:gd name="connsiteX8" fmla="*/ 173408 w 179213"/>
              <a:gd name="connsiteY8" fmla="*/ 116507 h 172995"/>
              <a:gd name="connsiteX9" fmla="*/ 169877 w 179213"/>
              <a:gd name="connsiteY9" fmla="*/ 127098 h 172995"/>
              <a:gd name="connsiteX10" fmla="*/ 148694 w 179213"/>
              <a:gd name="connsiteY10" fmla="*/ 141220 h 172995"/>
              <a:gd name="connsiteX11" fmla="*/ 134572 w 179213"/>
              <a:gd name="connsiteY11" fmla="*/ 148281 h 172995"/>
              <a:gd name="connsiteX12" fmla="*/ 123981 w 179213"/>
              <a:gd name="connsiteY12" fmla="*/ 155342 h 172995"/>
              <a:gd name="connsiteX13" fmla="*/ 102798 w 179213"/>
              <a:gd name="connsiteY13" fmla="*/ 162403 h 172995"/>
              <a:gd name="connsiteX14" fmla="*/ 81615 w 179213"/>
              <a:gd name="connsiteY14" fmla="*/ 169464 h 172995"/>
              <a:gd name="connsiteX15" fmla="*/ 60432 w 179213"/>
              <a:gd name="connsiteY15" fmla="*/ 172995 h 172995"/>
              <a:gd name="connsiteX16" fmla="*/ 14535 w 179213"/>
              <a:gd name="connsiteY16" fmla="*/ 158873 h 172995"/>
              <a:gd name="connsiteX17" fmla="*/ 11005 w 179213"/>
              <a:gd name="connsiteY17" fmla="*/ 148281 h 172995"/>
              <a:gd name="connsiteX18" fmla="*/ 7474 w 179213"/>
              <a:gd name="connsiteY18" fmla="*/ 123568 h 172995"/>
              <a:gd name="connsiteX19" fmla="*/ 11005 w 179213"/>
              <a:gd name="connsiteY19" fmla="*/ 45897 h 172995"/>
              <a:gd name="connsiteX20" fmla="*/ 413 w 179213"/>
              <a:gd name="connsiteY20" fmla="*/ 35305 h 17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9213" h="172995">
                <a:moveTo>
                  <a:pt x="413" y="35305"/>
                </a:moveTo>
                <a:cubicBezTo>
                  <a:pt x="3355" y="30009"/>
                  <a:pt x="21166" y="17867"/>
                  <a:pt x="28657" y="14122"/>
                </a:cubicBezTo>
                <a:cubicBezTo>
                  <a:pt x="34294" y="11303"/>
                  <a:pt x="48100" y="8567"/>
                  <a:pt x="53371" y="7061"/>
                </a:cubicBezTo>
                <a:cubicBezTo>
                  <a:pt x="78696" y="-175"/>
                  <a:pt x="45733" y="7177"/>
                  <a:pt x="81615" y="0"/>
                </a:cubicBezTo>
                <a:cubicBezTo>
                  <a:pt x="90362" y="673"/>
                  <a:pt x="122864" y="-558"/>
                  <a:pt x="138103" y="7061"/>
                </a:cubicBezTo>
                <a:cubicBezTo>
                  <a:pt x="141898" y="8958"/>
                  <a:pt x="145434" y="11406"/>
                  <a:pt x="148694" y="14122"/>
                </a:cubicBezTo>
                <a:cubicBezTo>
                  <a:pt x="152530" y="17319"/>
                  <a:pt x="156221" y="20773"/>
                  <a:pt x="159286" y="24714"/>
                </a:cubicBezTo>
                <a:cubicBezTo>
                  <a:pt x="164496" y="31413"/>
                  <a:pt x="173408" y="45897"/>
                  <a:pt x="173408" y="45897"/>
                </a:cubicBezTo>
                <a:cubicBezTo>
                  <a:pt x="182900" y="74376"/>
                  <a:pt x="179176" y="58831"/>
                  <a:pt x="173408" y="116507"/>
                </a:cubicBezTo>
                <a:cubicBezTo>
                  <a:pt x="173038" y="120210"/>
                  <a:pt x="171941" y="124002"/>
                  <a:pt x="169877" y="127098"/>
                </a:cubicBezTo>
                <a:cubicBezTo>
                  <a:pt x="160995" y="140421"/>
                  <a:pt x="160787" y="136037"/>
                  <a:pt x="148694" y="141220"/>
                </a:cubicBezTo>
                <a:cubicBezTo>
                  <a:pt x="143857" y="143293"/>
                  <a:pt x="139142" y="145670"/>
                  <a:pt x="134572" y="148281"/>
                </a:cubicBezTo>
                <a:cubicBezTo>
                  <a:pt x="130888" y="150386"/>
                  <a:pt x="127858" y="153619"/>
                  <a:pt x="123981" y="155342"/>
                </a:cubicBezTo>
                <a:cubicBezTo>
                  <a:pt x="117180" y="158365"/>
                  <a:pt x="109859" y="160049"/>
                  <a:pt x="102798" y="162403"/>
                </a:cubicBezTo>
                <a:cubicBezTo>
                  <a:pt x="102794" y="162404"/>
                  <a:pt x="81620" y="169463"/>
                  <a:pt x="81615" y="169464"/>
                </a:cubicBezTo>
                <a:lnTo>
                  <a:pt x="60432" y="172995"/>
                </a:lnTo>
                <a:cubicBezTo>
                  <a:pt x="28825" y="170121"/>
                  <a:pt x="25068" y="179939"/>
                  <a:pt x="14535" y="158873"/>
                </a:cubicBezTo>
                <a:cubicBezTo>
                  <a:pt x="12871" y="155544"/>
                  <a:pt x="12182" y="151812"/>
                  <a:pt x="11005" y="148281"/>
                </a:cubicBezTo>
                <a:cubicBezTo>
                  <a:pt x="9828" y="140043"/>
                  <a:pt x="7474" y="131889"/>
                  <a:pt x="7474" y="123568"/>
                </a:cubicBezTo>
                <a:cubicBezTo>
                  <a:pt x="7474" y="97651"/>
                  <a:pt x="10009" y="71795"/>
                  <a:pt x="11005" y="45897"/>
                </a:cubicBezTo>
                <a:cubicBezTo>
                  <a:pt x="11186" y="41193"/>
                  <a:pt x="-2529" y="40601"/>
                  <a:pt x="413" y="3530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6" name="任意多边形 45"/>
          <p:cNvSpPr/>
          <p:nvPr/>
        </p:nvSpPr>
        <p:spPr bwMode="auto">
          <a:xfrm>
            <a:off x="6781293" y="4139603"/>
            <a:ext cx="190647" cy="180055"/>
          </a:xfrm>
          <a:custGeom>
            <a:avLst/>
            <a:gdLst>
              <a:gd name="connsiteX0" fmla="*/ 0 w 190647"/>
              <a:gd name="connsiteY0" fmla="*/ 67079 h 180055"/>
              <a:gd name="connsiteX1" fmla="*/ 7061 w 190647"/>
              <a:gd name="connsiteY1" fmla="*/ 49427 h 180055"/>
              <a:gd name="connsiteX2" fmla="*/ 17653 w 190647"/>
              <a:gd name="connsiteY2" fmla="*/ 38835 h 180055"/>
              <a:gd name="connsiteX3" fmla="*/ 52958 w 190647"/>
              <a:gd name="connsiteY3" fmla="*/ 14122 h 180055"/>
              <a:gd name="connsiteX4" fmla="*/ 63549 w 190647"/>
              <a:gd name="connsiteY4" fmla="*/ 7061 h 180055"/>
              <a:gd name="connsiteX5" fmla="*/ 84732 w 190647"/>
              <a:gd name="connsiteY5" fmla="*/ 0 h 180055"/>
              <a:gd name="connsiteX6" fmla="*/ 123568 w 190647"/>
              <a:gd name="connsiteY6" fmla="*/ 7061 h 180055"/>
              <a:gd name="connsiteX7" fmla="*/ 144751 w 190647"/>
              <a:gd name="connsiteY7" fmla="*/ 21183 h 180055"/>
              <a:gd name="connsiteX8" fmla="*/ 155342 w 190647"/>
              <a:gd name="connsiteY8" fmla="*/ 28244 h 180055"/>
              <a:gd name="connsiteX9" fmla="*/ 165934 w 190647"/>
              <a:gd name="connsiteY9" fmla="*/ 35305 h 180055"/>
              <a:gd name="connsiteX10" fmla="*/ 180056 w 190647"/>
              <a:gd name="connsiteY10" fmla="*/ 67079 h 180055"/>
              <a:gd name="connsiteX11" fmla="*/ 183586 w 190647"/>
              <a:gd name="connsiteY11" fmla="*/ 77671 h 180055"/>
              <a:gd name="connsiteX12" fmla="*/ 187117 w 190647"/>
              <a:gd name="connsiteY12" fmla="*/ 88262 h 180055"/>
              <a:gd name="connsiteX13" fmla="*/ 190647 w 190647"/>
              <a:gd name="connsiteY13" fmla="*/ 105915 h 180055"/>
              <a:gd name="connsiteX14" fmla="*/ 180056 w 190647"/>
              <a:gd name="connsiteY14" fmla="*/ 141220 h 180055"/>
              <a:gd name="connsiteX15" fmla="*/ 176525 w 190647"/>
              <a:gd name="connsiteY15" fmla="*/ 151811 h 180055"/>
              <a:gd name="connsiteX16" fmla="*/ 144751 w 190647"/>
              <a:gd name="connsiteY16" fmla="*/ 169464 h 180055"/>
              <a:gd name="connsiteX17" fmla="*/ 123568 w 190647"/>
              <a:gd name="connsiteY17" fmla="*/ 180055 h 180055"/>
              <a:gd name="connsiteX18" fmla="*/ 91793 w 190647"/>
              <a:gd name="connsiteY18" fmla="*/ 176525 h 180055"/>
              <a:gd name="connsiteX19" fmla="*/ 81202 w 190647"/>
              <a:gd name="connsiteY19" fmla="*/ 169464 h 180055"/>
              <a:gd name="connsiteX20" fmla="*/ 70610 w 190647"/>
              <a:gd name="connsiteY20" fmla="*/ 165933 h 180055"/>
              <a:gd name="connsiteX21" fmla="*/ 56488 w 190647"/>
              <a:gd name="connsiteY21" fmla="*/ 144750 h 180055"/>
              <a:gd name="connsiteX22" fmla="*/ 45897 w 190647"/>
              <a:gd name="connsiteY22" fmla="*/ 134159 h 180055"/>
              <a:gd name="connsiteX23" fmla="*/ 31775 w 190647"/>
              <a:gd name="connsiteY23" fmla="*/ 112976 h 180055"/>
              <a:gd name="connsiteX24" fmla="*/ 7061 w 190647"/>
              <a:gd name="connsiteY24" fmla="*/ 81201 h 180055"/>
              <a:gd name="connsiteX25" fmla="*/ 0 w 190647"/>
              <a:gd name="connsiteY25" fmla="*/ 67079 h 18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90647" h="180055">
                <a:moveTo>
                  <a:pt x="0" y="67079"/>
                </a:moveTo>
                <a:cubicBezTo>
                  <a:pt x="2354" y="61195"/>
                  <a:pt x="3702" y="54801"/>
                  <a:pt x="7061" y="49427"/>
                </a:cubicBezTo>
                <a:cubicBezTo>
                  <a:pt x="9707" y="45193"/>
                  <a:pt x="13862" y="42084"/>
                  <a:pt x="17653" y="38835"/>
                </a:cubicBezTo>
                <a:cubicBezTo>
                  <a:pt x="26799" y="30996"/>
                  <a:pt x="43847" y="20196"/>
                  <a:pt x="52958" y="14122"/>
                </a:cubicBezTo>
                <a:cubicBezTo>
                  <a:pt x="56488" y="11768"/>
                  <a:pt x="59524" y="8403"/>
                  <a:pt x="63549" y="7061"/>
                </a:cubicBezTo>
                <a:lnTo>
                  <a:pt x="84732" y="0"/>
                </a:lnTo>
                <a:cubicBezTo>
                  <a:pt x="90893" y="770"/>
                  <a:pt x="114086" y="1793"/>
                  <a:pt x="123568" y="7061"/>
                </a:cubicBezTo>
                <a:cubicBezTo>
                  <a:pt x="130986" y="11182"/>
                  <a:pt x="137690" y="16476"/>
                  <a:pt x="144751" y="21183"/>
                </a:cubicBezTo>
                <a:lnTo>
                  <a:pt x="155342" y="28244"/>
                </a:lnTo>
                <a:lnTo>
                  <a:pt x="165934" y="35305"/>
                </a:lnTo>
                <a:cubicBezTo>
                  <a:pt x="177123" y="52088"/>
                  <a:pt x="171654" y="41872"/>
                  <a:pt x="180056" y="67079"/>
                </a:cubicBezTo>
                <a:lnTo>
                  <a:pt x="183586" y="77671"/>
                </a:lnTo>
                <a:cubicBezTo>
                  <a:pt x="184763" y="81201"/>
                  <a:pt x="186387" y="84613"/>
                  <a:pt x="187117" y="88262"/>
                </a:cubicBezTo>
                <a:lnTo>
                  <a:pt x="190647" y="105915"/>
                </a:lnTo>
                <a:cubicBezTo>
                  <a:pt x="184228" y="150851"/>
                  <a:pt x="192900" y="115534"/>
                  <a:pt x="180056" y="141220"/>
                </a:cubicBezTo>
                <a:cubicBezTo>
                  <a:pt x="178392" y="144548"/>
                  <a:pt x="179156" y="149180"/>
                  <a:pt x="176525" y="151811"/>
                </a:cubicBezTo>
                <a:cubicBezTo>
                  <a:pt x="154263" y="174072"/>
                  <a:pt x="162508" y="160585"/>
                  <a:pt x="144751" y="169464"/>
                </a:cubicBezTo>
                <a:cubicBezTo>
                  <a:pt x="117383" y="183148"/>
                  <a:pt x="150181" y="171185"/>
                  <a:pt x="123568" y="180055"/>
                </a:cubicBezTo>
                <a:cubicBezTo>
                  <a:pt x="112976" y="178878"/>
                  <a:pt x="102132" y="179110"/>
                  <a:pt x="91793" y="176525"/>
                </a:cubicBezTo>
                <a:cubicBezTo>
                  <a:pt x="87677" y="175496"/>
                  <a:pt x="84997" y="171362"/>
                  <a:pt x="81202" y="169464"/>
                </a:cubicBezTo>
                <a:cubicBezTo>
                  <a:pt x="77873" y="167800"/>
                  <a:pt x="74141" y="167110"/>
                  <a:pt x="70610" y="165933"/>
                </a:cubicBezTo>
                <a:cubicBezTo>
                  <a:pt x="65903" y="158872"/>
                  <a:pt x="62489" y="150751"/>
                  <a:pt x="56488" y="144750"/>
                </a:cubicBezTo>
                <a:cubicBezTo>
                  <a:pt x="52958" y="141220"/>
                  <a:pt x="48962" y="138100"/>
                  <a:pt x="45897" y="134159"/>
                </a:cubicBezTo>
                <a:cubicBezTo>
                  <a:pt x="40687" y="127460"/>
                  <a:pt x="37776" y="118977"/>
                  <a:pt x="31775" y="112976"/>
                </a:cubicBezTo>
                <a:cubicBezTo>
                  <a:pt x="25121" y="106322"/>
                  <a:pt x="7061" y="89647"/>
                  <a:pt x="7061" y="81201"/>
                </a:cubicBezTo>
                <a:lnTo>
                  <a:pt x="0" y="6707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7" name="任意多边形 46"/>
          <p:cNvSpPr/>
          <p:nvPr/>
        </p:nvSpPr>
        <p:spPr bwMode="auto">
          <a:xfrm>
            <a:off x="6975437" y="4157255"/>
            <a:ext cx="155425" cy="144751"/>
          </a:xfrm>
          <a:custGeom>
            <a:avLst/>
            <a:gdLst>
              <a:gd name="connsiteX0" fmla="*/ 34 w 155425"/>
              <a:gd name="connsiteY0" fmla="*/ 45897 h 144751"/>
              <a:gd name="connsiteX1" fmla="*/ 10625 w 155425"/>
              <a:gd name="connsiteY1" fmla="*/ 28244 h 144751"/>
              <a:gd name="connsiteX2" fmla="*/ 42400 w 155425"/>
              <a:gd name="connsiteY2" fmla="*/ 3531 h 144751"/>
              <a:gd name="connsiteX3" fmla="*/ 56522 w 155425"/>
              <a:gd name="connsiteY3" fmla="*/ 0 h 144751"/>
              <a:gd name="connsiteX4" fmla="*/ 127132 w 155425"/>
              <a:gd name="connsiteY4" fmla="*/ 3531 h 144751"/>
              <a:gd name="connsiteX5" fmla="*/ 137723 w 155425"/>
              <a:gd name="connsiteY5" fmla="*/ 7061 h 144751"/>
              <a:gd name="connsiteX6" fmla="*/ 141254 w 155425"/>
              <a:gd name="connsiteY6" fmla="*/ 17653 h 144751"/>
              <a:gd name="connsiteX7" fmla="*/ 148315 w 155425"/>
              <a:gd name="connsiteY7" fmla="*/ 28244 h 144751"/>
              <a:gd name="connsiteX8" fmla="*/ 155376 w 155425"/>
              <a:gd name="connsiteY8" fmla="*/ 49427 h 144751"/>
              <a:gd name="connsiteX9" fmla="*/ 148315 w 155425"/>
              <a:gd name="connsiteY9" fmla="*/ 102385 h 144751"/>
              <a:gd name="connsiteX10" fmla="*/ 141254 w 155425"/>
              <a:gd name="connsiteY10" fmla="*/ 112976 h 144751"/>
              <a:gd name="connsiteX11" fmla="*/ 137723 w 155425"/>
              <a:gd name="connsiteY11" fmla="*/ 123568 h 144751"/>
              <a:gd name="connsiteX12" fmla="*/ 130662 w 155425"/>
              <a:gd name="connsiteY12" fmla="*/ 134159 h 144751"/>
              <a:gd name="connsiteX13" fmla="*/ 109479 w 155425"/>
              <a:gd name="connsiteY13" fmla="*/ 144751 h 144751"/>
              <a:gd name="connsiteX14" fmla="*/ 42400 w 155425"/>
              <a:gd name="connsiteY14" fmla="*/ 141220 h 144751"/>
              <a:gd name="connsiteX15" fmla="*/ 31808 w 155425"/>
              <a:gd name="connsiteY15" fmla="*/ 137690 h 144751"/>
              <a:gd name="connsiteX16" fmla="*/ 24747 w 155425"/>
              <a:gd name="connsiteY16" fmla="*/ 127098 h 144751"/>
              <a:gd name="connsiteX17" fmla="*/ 17686 w 155425"/>
              <a:gd name="connsiteY17" fmla="*/ 105915 h 144751"/>
              <a:gd name="connsiteX18" fmla="*/ 10625 w 155425"/>
              <a:gd name="connsiteY18" fmla="*/ 74141 h 144751"/>
              <a:gd name="connsiteX19" fmla="*/ 14156 w 155425"/>
              <a:gd name="connsiteY19" fmla="*/ 35305 h 144751"/>
              <a:gd name="connsiteX20" fmla="*/ 34 w 155425"/>
              <a:gd name="connsiteY20" fmla="*/ 45897 h 14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5425" h="144751">
                <a:moveTo>
                  <a:pt x="34" y="45897"/>
                </a:moveTo>
                <a:cubicBezTo>
                  <a:pt x="-554" y="44720"/>
                  <a:pt x="6508" y="33734"/>
                  <a:pt x="10625" y="28244"/>
                </a:cubicBezTo>
                <a:cubicBezTo>
                  <a:pt x="16378" y="20574"/>
                  <a:pt x="35488" y="5259"/>
                  <a:pt x="42400" y="3531"/>
                </a:cubicBezTo>
                <a:lnTo>
                  <a:pt x="56522" y="0"/>
                </a:lnTo>
                <a:cubicBezTo>
                  <a:pt x="80059" y="1177"/>
                  <a:pt x="103655" y="1489"/>
                  <a:pt x="127132" y="3531"/>
                </a:cubicBezTo>
                <a:cubicBezTo>
                  <a:pt x="130839" y="3853"/>
                  <a:pt x="135092" y="4430"/>
                  <a:pt x="137723" y="7061"/>
                </a:cubicBezTo>
                <a:cubicBezTo>
                  <a:pt x="140355" y="9693"/>
                  <a:pt x="139590" y="14324"/>
                  <a:pt x="141254" y="17653"/>
                </a:cubicBezTo>
                <a:cubicBezTo>
                  <a:pt x="143152" y="21448"/>
                  <a:pt x="145961" y="24714"/>
                  <a:pt x="148315" y="28244"/>
                </a:cubicBezTo>
                <a:cubicBezTo>
                  <a:pt x="150669" y="35305"/>
                  <a:pt x="155994" y="42010"/>
                  <a:pt x="155376" y="49427"/>
                </a:cubicBezTo>
                <a:cubicBezTo>
                  <a:pt x="154588" y="58880"/>
                  <a:pt x="155524" y="87966"/>
                  <a:pt x="148315" y="102385"/>
                </a:cubicBezTo>
                <a:cubicBezTo>
                  <a:pt x="146418" y="106180"/>
                  <a:pt x="143152" y="109181"/>
                  <a:pt x="141254" y="112976"/>
                </a:cubicBezTo>
                <a:cubicBezTo>
                  <a:pt x="139590" y="116305"/>
                  <a:pt x="139387" y="120239"/>
                  <a:pt x="137723" y="123568"/>
                </a:cubicBezTo>
                <a:cubicBezTo>
                  <a:pt x="135825" y="127363"/>
                  <a:pt x="133662" y="131159"/>
                  <a:pt x="130662" y="134159"/>
                </a:cubicBezTo>
                <a:cubicBezTo>
                  <a:pt x="123818" y="141003"/>
                  <a:pt x="118094" y="141879"/>
                  <a:pt x="109479" y="144751"/>
                </a:cubicBezTo>
                <a:cubicBezTo>
                  <a:pt x="87119" y="143574"/>
                  <a:pt x="64699" y="143247"/>
                  <a:pt x="42400" y="141220"/>
                </a:cubicBezTo>
                <a:cubicBezTo>
                  <a:pt x="38694" y="140883"/>
                  <a:pt x="34714" y="140015"/>
                  <a:pt x="31808" y="137690"/>
                </a:cubicBezTo>
                <a:cubicBezTo>
                  <a:pt x="28495" y="135039"/>
                  <a:pt x="27101" y="130629"/>
                  <a:pt x="24747" y="127098"/>
                </a:cubicBezTo>
                <a:cubicBezTo>
                  <a:pt x="22393" y="120037"/>
                  <a:pt x="18909" y="113257"/>
                  <a:pt x="17686" y="105915"/>
                </a:cubicBezTo>
                <a:cubicBezTo>
                  <a:pt x="13544" y="81061"/>
                  <a:pt x="16420" y="91523"/>
                  <a:pt x="10625" y="74141"/>
                </a:cubicBezTo>
                <a:cubicBezTo>
                  <a:pt x="11802" y="61196"/>
                  <a:pt x="12318" y="48173"/>
                  <a:pt x="14156" y="35305"/>
                </a:cubicBezTo>
                <a:cubicBezTo>
                  <a:pt x="15829" y="23597"/>
                  <a:pt x="622" y="47074"/>
                  <a:pt x="34" y="4589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8" name="任意多边形 47"/>
          <p:cNvSpPr/>
          <p:nvPr/>
        </p:nvSpPr>
        <p:spPr bwMode="auto">
          <a:xfrm>
            <a:off x="7137842" y="4164316"/>
            <a:ext cx="151843" cy="134159"/>
          </a:xfrm>
          <a:custGeom>
            <a:avLst/>
            <a:gdLst>
              <a:gd name="connsiteX0" fmla="*/ 32 w 151843"/>
              <a:gd name="connsiteY0" fmla="*/ 45897 h 134159"/>
              <a:gd name="connsiteX1" fmla="*/ 10623 w 151843"/>
              <a:gd name="connsiteY1" fmla="*/ 28244 h 134159"/>
              <a:gd name="connsiteX2" fmla="*/ 17684 w 151843"/>
              <a:gd name="connsiteY2" fmla="*/ 17653 h 134159"/>
              <a:gd name="connsiteX3" fmla="*/ 49459 w 151843"/>
              <a:gd name="connsiteY3" fmla="*/ 0 h 134159"/>
              <a:gd name="connsiteX4" fmla="*/ 91825 w 151843"/>
              <a:gd name="connsiteY4" fmla="*/ 3531 h 134159"/>
              <a:gd name="connsiteX5" fmla="*/ 120069 w 151843"/>
              <a:gd name="connsiteY5" fmla="*/ 10592 h 134159"/>
              <a:gd name="connsiteX6" fmla="*/ 134191 w 151843"/>
              <a:gd name="connsiteY6" fmla="*/ 14122 h 134159"/>
              <a:gd name="connsiteX7" fmla="*/ 144782 w 151843"/>
              <a:gd name="connsiteY7" fmla="*/ 21183 h 134159"/>
              <a:gd name="connsiteX8" fmla="*/ 148313 w 151843"/>
              <a:gd name="connsiteY8" fmla="*/ 31775 h 134159"/>
              <a:gd name="connsiteX9" fmla="*/ 151843 w 151843"/>
              <a:gd name="connsiteY9" fmla="*/ 56488 h 134159"/>
              <a:gd name="connsiteX10" fmla="*/ 148313 w 151843"/>
              <a:gd name="connsiteY10" fmla="*/ 91793 h 134159"/>
              <a:gd name="connsiteX11" fmla="*/ 141252 w 151843"/>
              <a:gd name="connsiteY11" fmla="*/ 102385 h 134159"/>
              <a:gd name="connsiteX12" fmla="*/ 137721 w 151843"/>
              <a:gd name="connsiteY12" fmla="*/ 112976 h 134159"/>
              <a:gd name="connsiteX13" fmla="*/ 130660 w 151843"/>
              <a:gd name="connsiteY13" fmla="*/ 123568 h 134159"/>
              <a:gd name="connsiteX14" fmla="*/ 109477 w 151843"/>
              <a:gd name="connsiteY14" fmla="*/ 134159 h 134159"/>
              <a:gd name="connsiteX15" fmla="*/ 49459 w 151843"/>
              <a:gd name="connsiteY15" fmla="*/ 130629 h 134159"/>
              <a:gd name="connsiteX16" fmla="*/ 35337 w 151843"/>
              <a:gd name="connsiteY16" fmla="*/ 127098 h 134159"/>
              <a:gd name="connsiteX17" fmla="*/ 24745 w 151843"/>
              <a:gd name="connsiteY17" fmla="*/ 120037 h 134159"/>
              <a:gd name="connsiteX18" fmla="*/ 21215 w 151843"/>
              <a:gd name="connsiteY18" fmla="*/ 109446 h 134159"/>
              <a:gd name="connsiteX19" fmla="*/ 14154 w 151843"/>
              <a:gd name="connsiteY19" fmla="*/ 98854 h 134159"/>
              <a:gd name="connsiteX20" fmla="*/ 32 w 151843"/>
              <a:gd name="connsiteY20" fmla="*/ 45897 h 13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1843" h="134159">
                <a:moveTo>
                  <a:pt x="32" y="45897"/>
                </a:moveTo>
                <a:cubicBezTo>
                  <a:pt x="-557" y="34129"/>
                  <a:pt x="6986" y="34063"/>
                  <a:pt x="10623" y="28244"/>
                </a:cubicBezTo>
                <a:cubicBezTo>
                  <a:pt x="12872" y="24646"/>
                  <a:pt x="14491" y="20447"/>
                  <a:pt x="17684" y="17653"/>
                </a:cubicBezTo>
                <a:cubicBezTo>
                  <a:pt x="32625" y="4580"/>
                  <a:pt x="34912" y="4850"/>
                  <a:pt x="49459" y="0"/>
                </a:cubicBezTo>
                <a:cubicBezTo>
                  <a:pt x="63581" y="1177"/>
                  <a:pt x="77751" y="1875"/>
                  <a:pt x="91825" y="3531"/>
                </a:cubicBezTo>
                <a:cubicBezTo>
                  <a:pt x="110137" y="5685"/>
                  <a:pt x="105639" y="6469"/>
                  <a:pt x="120069" y="10592"/>
                </a:cubicBezTo>
                <a:cubicBezTo>
                  <a:pt x="124734" y="11925"/>
                  <a:pt x="129484" y="12945"/>
                  <a:pt x="134191" y="14122"/>
                </a:cubicBezTo>
                <a:cubicBezTo>
                  <a:pt x="137721" y="16476"/>
                  <a:pt x="142131" y="17870"/>
                  <a:pt x="144782" y="21183"/>
                </a:cubicBezTo>
                <a:cubicBezTo>
                  <a:pt x="147107" y="24089"/>
                  <a:pt x="147583" y="28126"/>
                  <a:pt x="148313" y="31775"/>
                </a:cubicBezTo>
                <a:cubicBezTo>
                  <a:pt x="149945" y="39935"/>
                  <a:pt x="150666" y="48250"/>
                  <a:pt x="151843" y="56488"/>
                </a:cubicBezTo>
                <a:cubicBezTo>
                  <a:pt x="150666" y="68256"/>
                  <a:pt x="150972" y="80269"/>
                  <a:pt x="148313" y="91793"/>
                </a:cubicBezTo>
                <a:cubicBezTo>
                  <a:pt x="147359" y="95928"/>
                  <a:pt x="143150" y="98590"/>
                  <a:pt x="141252" y="102385"/>
                </a:cubicBezTo>
                <a:cubicBezTo>
                  <a:pt x="139588" y="105713"/>
                  <a:pt x="139385" y="109648"/>
                  <a:pt x="137721" y="112976"/>
                </a:cubicBezTo>
                <a:cubicBezTo>
                  <a:pt x="135823" y="116771"/>
                  <a:pt x="133660" y="120567"/>
                  <a:pt x="130660" y="123568"/>
                </a:cubicBezTo>
                <a:cubicBezTo>
                  <a:pt x="123816" y="130413"/>
                  <a:pt x="118092" y="131288"/>
                  <a:pt x="109477" y="134159"/>
                </a:cubicBezTo>
                <a:cubicBezTo>
                  <a:pt x="89471" y="132982"/>
                  <a:pt x="69409" y="132529"/>
                  <a:pt x="49459" y="130629"/>
                </a:cubicBezTo>
                <a:cubicBezTo>
                  <a:pt x="44629" y="130169"/>
                  <a:pt x="39797" y="129009"/>
                  <a:pt x="35337" y="127098"/>
                </a:cubicBezTo>
                <a:cubicBezTo>
                  <a:pt x="31437" y="125426"/>
                  <a:pt x="28276" y="122391"/>
                  <a:pt x="24745" y="120037"/>
                </a:cubicBezTo>
                <a:cubicBezTo>
                  <a:pt x="23568" y="116507"/>
                  <a:pt x="22879" y="112774"/>
                  <a:pt x="21215" y="109446"/>
                </a:cubicBezTo>
                <a:cubicBezTo>
                  <a:pt x="19317" y="105651"/>
                  <a:pt x="14522" y="103081"/>
                  <a:pt x="14154" y="98854"/>
                </a:cubicBezTo>
                <a:cubicBezTo>
                  <a:pt x="12115" y="75406"/>
                  <a:pt x="621" y="57665"/>
                  <a:pt x="32" y="4589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9" name="任意多边形 48"/>
          <p:cNvSpPr/>
          <p:nvPr/>
        </p:nvSpPr>
        <p:spPr bwMode="auto">
          <a:xfrm>
            <a:off x="7298963" y="4146664"/>
            <a:ext cx="155343" cy="141325"/>
          </a:xfrm>
          <a:custGeom>
            <a:avLst/>
            <a:gdLst>
              <a:gd name="connsiteX0" fmla="*/ 7061 w 155343"/>
              <a:gd name="connsiteY0" fmla="*/ 63549 h 141325"/>
              <a:gd name="connsiteX1" fmla="*/ 3531 w 155343"/>
              <a:gd name="connsiteY1" fmla="*/ 45896 h 141325"/>
              <a:gd name="connsiteX2" fmla="*/ 0 w 155343"/>
              <a:gd name="connsiteY2" fmla="*/ 35305 h 141325"/>
              <a:gd name="connsiteX3" fmla="*/ 10592 w 155343"/>
              <a:gd name="connsiteY3" fmla="*/ 14122 h 141325"/>
              <a:gd name="connsiteX4" fmla="*/ 21183 w 155343"/>
              <a:gd name="connsiteY4" fmla="*/ 3530 h 141325"/>
              <a:gd name="connsiteX5" fmla="*/ 52958 w 155343"/>
              <a:gd name="connsiteY5" fmla="*/ 0 h 141325"/>
              <a:gd name="connsiteX6" fmla="*/ 77672 w 155343"/>
              <a:gd name="connsiteY6" fmla="*/ 3530 h 141325"/>
              <a:gd name="connsiteX7" fmla="*/ 88263 w 155343"/>
              <a:gd name="connsiteY7" fmla="*/ 7061 h 141325"/>
              <a:gd name="connsiteX8" fmla="*/ 120038 w 155343"/>
              <a:gd name="connsiteY8" fmla="*/ 10591 h 141325"/>
              <a:gd name="connsiteX9" fmla="*/ 130629 w 155343"/>
              <a:gd name="connsiteY9" fmla="*/ 14122 h 141325"/>
              <a:gd name="connsiteX10" fmla="*/ 148282 w 155343"/>
              <a:gd name="connsiteY10" fmla="*/ 45896 h 141325"/>
              <a:gd name="connsiteX11" fmla="*/ 155343 w 155343"/>
              <a:gd name="connsiteY11" fmla="*/ 70610 h 141325"/>
              <a:gd name="connsiteX12" fmla="*/ 151812 w 155343"/>
              <a:gd name="connsiteY12" fmla="*/ 102384 h 141325"/>
              <a:gd name="connsiteX13" fmla="*/ 144751 w 155343"/>
              <a:gd name="connsiteY13" fmla="*/ 112976 h 141325"/>
              <a:gd name="connsiteX14" fmla="*/ 112977 w 155343"/>
              <a:gd name="connsiteY14" fmla="*/ 130628 h 141325"/>
              <a:gd name="connsiteX15" fmla="*/ 102385 w 155343"/>
              <a:gd name="connsiteY15" fmla="*/ 137689 h 141325"/>
              <a:gd name="connsiteX16" fmla="*/ 56489 w 155343"/>
              <a:gd name="connsiteY16" fmla="*/ 137689 h 141325"/>
              <a:gd name="connsiteX17" fmla="*/ 42367 w 155343"/>
              <a:gd name="connsiteY17" fmla="*/ 120037 h 141325"/>
              <a:gd name="connsiteX18" fmla="*/ 24714 w 155343"/>
              <a:gd name="connsiteY18" fmla="*/ 102384 h 141325"/>
              <a:gd name="connsiteX19" fmla="*/ 17653 w 155343"/>
              <a:gd name="connsiteY19" fmla="*/ 91793 h 141325"/>
              <a:gd name="connsiteX20" fmla="*/ 7061 w 155343"/>
              <a:gd name="connsiteY20" fmla="*/ 88262 h 141325"/>
              <a:gd name="connsiteX21" fmla="*/ 7061 w 155343"/>
              <a:gd name="connsiteY21" fmla="*/ 63549 h 141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5343" h="141325">
                <a:moveTo>
                  <a:pt x="7061" y="63549"/>
                </a:moveTo>
                <a:cubicBezTo>
                  <a:pt x="6473" y="56488"/>
                  <a:pt x="4986" y="51718"/>
                  <a:pt x="3531" y="45896"/>
                </a:cubicBezTo>
                <a:cubicBezTo>
                  <a:pt x="2628" y="42286"/>
                  <a:pt x="0" y="39026"/>
                  <a:pt x="0" y="35305"/>
                </a:cubicBezTo>
                <a:cubicBezTo>
                  <a:pt x="0" y="28936"/>
                  <a:pt x="7022" y="18406"/>
                  <a:pt x="10592" y="14122"/>
                </a:cubicBezTo>
                <a:cubicBezTo>
                  <a:pt x="13788" y="10286"/>
                  <a:pt x="16446" y="5109"/>
                  <a:pt x="21183" y="3530"/>
                </a:cubicBezTo>
                <a:cubicBezTo>
                  <a:pt x="31293" y="160"/>
                  <a:pt x="42366" y="1177"/>
                  <a:pt x="52958" y="0"/>
                </a:cubicBezTo>
                <a:cubicBezTo>
                  <a:pt x="61196" y="1177"/>
                  <a:pt x="69512" y="1898"/>
                  <a:pt x="77672" y="3530"/>
                </a:cubicBezTo>
                <a:cubicBezTo>
                  <a:pt x="81321" y="4260"/>
                  <a:pt x="84592" y="6449"/>
                  <a:pt x="88263" y="7061"/>
                </a:cubicBezTo>
                <a:cubicBezTo>
                  <a:pt x="98775" y="8813"/>
                  <a:pt x="109446" y="9414"/>
                  <a:pt x="120038" y="10591"/>
                </a:cubicBezTo>
                <a:cubicBezTo>
                  <a:pt x="123568" y="11768"/>
                  <a:pt x="127533" y="12058"/>
                  <a:pt x="130629" y="14122"/>
                </a:cubicBezTo>
                <a:cubicBezTo>
                  <a:pt x="143160" y="22476"/>
                  <a:pt x="144598" y="31156"/>
                  <a:pt x="148282" y="45896"/>
                </a:cubicBezTo>
                <a:cubicBezTo>
                  <a:pt x="152715" y="63629"/>
                  <a:pt x="150277" y="55415"/>
                  <a:pt x="155343" y="70610"/>
                </a:cubicBezTo>
                <a:cubicBezTo>
                  <a:pt x="154166" y="81201"/>
                  <a:pt x="154397" y="92046"/>
                  <a:pt x="151812" y="102384"/>
                </a:cubicBezTo>
                <a:cubicBezTo>
                  <a:pt x="150783" y="106501"/>
                  <a:pt x="147944" y="110182"/>
                  <a:pt x="144751" y="112976"/>
                </a:cubicBezTo>
                <a:cubicBezTo>
                  <a:pt x="129810" y="126050"/>
                  <a:pt x="127524" y="125779"/>
                  <a:pt x="112977" y="130628"/>
                </a:cubicBezTo>
                <a:cubicBezTo>
                  <a:pt x="109446" y="132982"/>
                  <a:pt x="106285" y="136017"/>
                  <a:pt x="102385" y="137689"/>
                </a:cubicBezTo>
                <a:cubicBezTo>
                  <a:pt x="86017" y="144704"/>
                  <a:pt x="75314" y="139781"/>
                  <a:pt x="56489" y="137689"/>
                </a:cubicBezTo>
                <a:cubicBezTo>
                  <a:pt x="28911" y="119305"/>
                  <a:pt x="59420" y="142774"/>
                  <a:pt x="42367" y="120037"/>
                </a:cubicBezTo>
                <a:cubicBezTo>
                  <a:pt x="37374" y="113380"/>
                  <a:pt x="29330" y="109308"/>
                  <a:pt x="24714" y="102384"/>
                </a:cubicBezTo>
                <a:cubicBezTo>
                  <a:pt x="22360" y="98854"/>
                  <a:pt x="20966" y="94444"/>
                  <a:pt x="17653" y="91793"/>
                </a:cubicBezTo>
                <a:cubicBezTo>
                  <a:pt x="14747" y="89468"/>
                  <a:pt x="10592" y="89439"/>
                  <a:pt x="7061" y="88262"/>
                </a:cubicBezTo>
                <a:cubicBezTo>
                  <a:pt x="-1460" y="75482"/>
                  <a:pt x="7649" y="70610"/>
                  <a:pt x="7061" y="6354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0" name="任意多边形 49"/>
          <p:cNvSpPr/>
          <p:nvPr/>
        </p:nvSpPr>
        <p:spPr bwMode="auto">
          <a:xfrm>
            <a:off x="7381479" y="4274911"/>
            <a:ext cx="112976" cy="102385"/>
          </a:xfrm>
          <a:custGeom>
            <a:avLst/>
            <a:gdLst>
              <a:gd name="connsiteX0" fmla="*/ 0 w 112976"/>
              <a:gd name="connsiteY0" fmla="*/ 52958 h 102385"/>
              <a:gd name="connsiteX1" fmla="*/ 31774 w 112976"/>
              <a:gd name="connsiteY1" fmla="*/ 17653 h 102385"/>
              <a:gd name="connsiteX2" fmla="*/ 63549 w 112976"/>
              <a:gd name="connsiteY2" fmla="*/ 3531 h 102385"/>
              <a:gd name="connsiteX3" fmla="*/ 74140 w 112976"/>
              <a:gd name="connsiteY3" fmla="*/ 0 h 102385"/>
              <a:gd name="connsiteX4" fmla="*/ 102384 w 112976"/>
              <a:gd name="connsiteY4" fmla="*/ 3531 h 102385"/>
              <a:gd name="connsiteX5" fmla="*/ 109445 w 112976"/>
              <a:gd name="connsiteY5" fmla="*/ 14122 h 102385"/>
              <a:gd name="connsiteX6" fmla="*/ 112976 w 112976"/>
              <a:gd name="connsiteY6" fmla="*/ 52958 h 102385"/>
              <a:gd name="connsiteX7" fmla="*/ 98854 w 112976"/>
              <a:gd name="connsiteY7" fmla="*/ 88263 h 102385"/>
              <a:gd name="connsiteX8" fmla="*/ 77671 w 112976"/>
              <a:gd name="connsiteY8" fmla="*/ 102385 h 102385"/>
              <a:gd name="connsiteX9" fmla="*/ 28244 w 112976"/>
              <a:gd name="connsiteY9" fmla="*/ 98854 h 102385"/>
              <a:gd name="connsiteX10" fmla="*/ 21183 w 112976"/>
              <a:gd name="connsiteY10" fmla="*/ 88263 h 102385"/>
              <a:gd name="connsiteX11" fmla="*/ 14122 w 112976"/>
              <a:gd name="connsiteY11" fmla="*/ 67080 h 102385"/>
              <a:gd name="connsiteX12" fmla="*/ 10591 w 112976"/>
              <a:gd name="connsiteY12" fmla="*/ 56488 h 102385"/>
              <a:gd name="connsiteX13" fmla="*/ 0 w 112976"/>
              <a:gd name="connsiteY13" fmla="*/ 52958 h 102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2976" h="102385">
                <a:moveTo>
                  <a:pt x="0" y="52958"/>
                </a:moveTo>
                <a:cubicBezTo>
                  <a:pt x="23247" y="18087"/>
                  <a:pt x="9107" y="25208"/>
                  <a:pt x="31774" y="17653"/>
                </a:cubicBezTo>
                <a:cubicBezTo>
                  <a:pt x="48560" y="6463"/>
                  <a:pt x="38339" y="11935"/>
                  <a:pt x="63549" y="3531"/>
                </a:cubicBezTo>
                <a:lnTo>
                  <a:pt x="74140" y="0"/>
                </a:lnTo>
                <a:cubicBezTo>
                  <a:pt x="83555" y="1177"/>
                  <a:pt x="93575" y="7"/>
                  <a:pt x="102384" y="3531"/>
                </a:cubicBezTo>
                <a:cubicBezTo>
                  <a:pt x="106324" y="5107"/>
                  <a:pt x="108556" y="9973"/>
                  <a:pt x="109445" y="14122"/>
                </a:cubicBezTo>
                <a:cubicBezTo>
                  <a:pt x="112169" y="26832"/>
                  <a:pt x="111799" y="40013"/>
                  <a:pt x="112976" y="52958"/>
                </a:cubicBezTo>
                <a:cubicBezTo>
                  <a:pt x="109720" y="75747"/>
                  <a:pt x="114740" y="75907"/>
                  <a:pt x="98854" y="88263"/>
                </a:cubicBezTo>
                <a:cubicBezTo>
                  <a:pt x="92155" y="93473"/>
                  <a:pt x="77671" y="102385"/>
                  <a:pt x="77671" y="102385"/>
                </a:cubicBezTo>
                <a:cubicBezTo>
                  <a:pt x="61195" y="101208"/>
                  <a:pt x="44268" y="102860"/>
                  <a:pt x="28244" y="98854"/>
                </a:cubicBezTo>
                <a:cubicBezTo>
                  <a:pt x="24128" y="97825"/>
                  <a:pt x="22906" y="92140"/>
                  <a:pt x="21183" y="88263"/>
                </a:cubicBezTo>
                <a:cubicBezTo>
                  <a:pt x="18160" y="81462"/>
                  <a:pt x="16476" y="74141"/>
                  <a:pt x="14122" y="67080"/>
                </a:cubicBezTo>
                <a:lnTo>
                  <a:pt x="10591" y="56488"/>
                </a:lnTo>
                <a:lnTo>
                  <a:pt x="0" y="529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1" name="任意多边形 50"/>
          <p:cNvSpPr/>
          <p:nvPr/>
        </p:nvSpPr>
        <p:spPr bwMode="auto">
          <a:xfrm>
            <a:off x="7233024" y="4289069"/>
            <a:ext cx="123172" cy="89622"/>
          </a:xfrm>
          <a:custGeom>
            <a:avLst/>
            <a:gdLst>
              <a:gd name="connsiteX0" fmla="*/ 39 w 94793"/>
              <a:gd name="connsiteY0" fmla="*/ 36653 h 71958"/>
              <a:gd name="connsiteX1" fmla="*/ 21222 w 94793"/>
              <a:gd name="connsiteY1" fmla="*/ 11940 h 71958"/>
              <a:gd name="connsiteX2" fmla="*/ 42405 w 94793"/>
              <a:gd name="connsiteY2" fmla="*/ 4879 h 71958"/>
              <a:gd name="connsiteX3" fmla="*/ 52997 w 94793"/>
              <a:gd name="connsiteY3" fmla="*/ 1348 h 71958"/>
              <a:gd name="connsiteX4" fmla="*/ 91833 w 94793"/>
              <a:gd name="connsiteY4" fmla="*/ 4879 h 71958"/>
              <a:gd name="connsiteX5" fmla="*/ 88302 w 94793"/>
              <a:gd name="connsiteY5" fmla="*/ 36653 h 71958"/>
              <a:gd name="connsiteX6" fmla="*/ 81241 w 94793"/>
              <a:gd name="connsiteY6" fmla="*/ 57836 h 71958"/>
              <a:gd name="connsiteX7" fmla="*/ 77710 w 94793"/>
              <a:gd name="connsiteY7" fmla="*/ 68428 h 71958"/>
              <a:gd name="connsiteX8" fmla="*/ 67119 w 94793"/>
              <a:gd name="connsiteY8" fmla="*/ 71958 h 71958"/>
              <a:gd name="connsiteX9" fmla="*/ 28283 w 94793"/>
              <a:gd name="connsiteY9" fmla="*/ 64897 h 71958"/>
              <a:gd name="connsiteX10" fmla="*/ 17692 w 94793"/>
              <a:gd name="connsiteY10" fmla="*/ 57836 h 71958"/>
              <a:gd name="connsiteX11" fmla="*/ 39 w 94793"/>
              <a:gd name="connsiteY11" fmla="*/ 36653 h 71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793" h="71958">
                <a:moveTo>
                  <a:pt x="39" y="36653"/>
                </a:moveTo>
                <a:cubicBezTo>
                  <a:pt x="627" y="29004"/>
                  <a:pt x="7886" y="17867"/>
                  <a:pt x="21222" y="11940"/>
                </a:cubicBezTo>
                <a:cubicBezTo>
                  <a:pt x="28023" y="8917"/>
                  <a:pt x="35344" y="7233"/>
                  <a:pt x="42405" y="4879"/>
                </a:cubicBezTo>
                <a:lnTo>
                  <a:pt x="52997" y="1348"/>
                </a:lnTo>
                <a:cubicBezTo>
                  <a:pt x="65942" y="2525"/>
                  <a:pt x="82642" y="-4312"/>
                  <a:pt x="91833" y="4879"/>
                </a:cubicBezTo>
                <a:cubicBezTo>
                  <a:pt x="99368" y="12414"/>
                  <a:pt x="90392" y="26203"/>
                  <a:pt x="88302" y="36653"/>
                </a:cubicBezTo>
                <a:cubicBezTo>
                  <a:pt x="86842" y="43951"/>
                  <a:pt x="83595" y="50775"/>
                  <a:pt x="81241" y="57836"/>
                </a:cubicBezTo>
                <a:cubicBezTo>
                  <a:pt x="80064" y="61367"/>
                  <a:pt x="81241" y="67251"/>
                  <a:pt x="77710" y="68428"/>
                </a:cubicBezTo>
                <a:lnTo>
                  <a:pt x="67119" y="71958"/>
                </a:lnTo>
                <a:cubicBezTo>
                  <a:pt x="61387" y="71139"/>
                  <a:pt x="36609" y="68466"/>
                  <a:pt x="28283" y="64897"/>
                </a:cubicBezTo>
                <a:cubicBezTo>
                  <a:pt x="24383" y="63226"/>
                  <a:pt x="21222" y="60190"/>
                  <a:pt x="17692" y="57836"/>
                </a:cubicBezTo>
                <a:cubicBezTo>
                  <a:pt x="5409" y="39412"/>
                  <a:pt x="-549" y="44302"/>
                  <a:pt x="39" y="3665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2" name="任意多边形 51"/>
          <p:cNvSpPr/>
          <p:nvPr/>
        </p:nvSpPr>
        <p:spPr bwMode="auto">
          <a:xfrm>
            <a:off x="7051248" y="4280823"/>
            <a:ext cx="148533" cy="95323"/>
          </a:xfrm>
          <a:custGeom>
            <a:avLst/>
            <a:gdLst>
              <a:gd name="connsiteX0" fmla="*/ 7313 w 148533"/>
              <a:gd name="connsiteY0" fmla="*/ 31774 h 95323"/>
              <a:gd name="connsiteX1" fmla="*/ 35557 w 148533"/>
              <a:gd name="connsiteY1" fmla="*/ 28244 h 95323"/>
              <a:gd name="connsiteX2" fmla="*/ 46149 w 148533"/>
              <a:gd name="connsiteY2" fmla="*/ 24713 h 95323"/>
              <a:gd name="connsiteX3" fmla="*/ 60271 w 148533"/>
              <a:gd name="connsiteY3" fmla="*/ 21183 h 95323"/>
              <a:gd name="connsiteX4" fmla="*/ 81454 w 148533"/>
              <a:gd name="connsiteY4" fmla="*/ 10591 h 95323"/>
              <a:gd name="connsiteX5" fmla="*/ 106167 w 148533"/>
              <a:gd name="connsiteY5" fmla="*/ 0 h 95323"/>
              <a:gd name="connsiteX6" fmla="*/ 130881 w 148533"/>
              <a:gd name="connsiteY6" fmla="*/ 10591 h 95323"/>
              <a:gd name="connsiteX7" fmla="*/ 145003 w 148533"/>
              <a:gd name="connsiteY7" fmla="*/ 31774 h 95323"/>
              <a:gd name="connsiteX8" fmla="*/ 148533 w 148533"/>
              <a:gd name="connsiteY8" fmla="*/ 45896 h 95323"/>
              <a:gd name="connsiteX9" fmla="*/ 145003 w 148533"/>
              <a:gd name="connsiteY9" fmla="*/ 77671 h 95323"/>
              <a:gd name="connsiteX10" fmla="*/ 134411 w 148533"/>
              <a:gd name="connsiteY10" fmla="*/ 84732 h 95323"/>
              <a:gd name="connsiteX11" fmla="*/ 123820 w 148533"/>
              <a:gd name="connsiteY11" fmla="*/ 88262 h 95323"/>
              <a:gd name="connsiteX12" fmla="*/ 92045 w 148533"/>
              <a:gd name="connsiteY12" fmla="*/ 95323 h 95323"/>
              <a:gd name="connsiteX13" fmla="*/ 39088 w 148533"/>
              <a:gd name="connsiteY13" fmla="*/ 91793 h 95323"/>
              <a:gd name="connsiteX14" fmla="*/ 28496 w 148533"/>
              <a:gd name="connsiteY14" fmla="*/ 88262 h 95323"/>
              <a:gd name="connsiteX15" fmla="*/ 21435 w 148533"/>
              <a:gd name="connsiteY15" fmla="*/ 77671 h 95323"/>
              <a:gd name="connsiteX16" fmla="*/ 10844 w 148533"/>
              <a:gd name="connsiteY16" fmla="*/ 70610 h 95323"/>
              <a:gd name="connsiteX17" fmla="*/ 252 w 148533"/>
              <a:gd name="connsiteY17" fmla="*/ 49427 h 95323"/>
              <a:gd name="connsiteX18" fmla="*/ 10844 w 148533"/>
              <a:gd name="connsiteY18" fmla="*/ 45896 h 95323"/>
              <a:gd name="connsiteX19" fmla="*/ 7313 w 148533"/>
              <a:gd name="connsiteY19" fmla="*/ 31774 h 95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8533" h="95323">
                <a:moveTo>
                  <a:pt x="7313" y="31774"/>
                </a:moveTo>
                <a:cubicBezTo>
                  <a:pt x="11432" y="28832"/>
                  <a:pt x="26222" y="29941"/>
                  <a:pt x="35557" y="28244"/>
                </a:cubicBezTo>
                <a:cubicBezTo>
                  <a:pt x="39219" y="27578"/>
                  <a:pt x="42571" y="25735"/>
                  <a:pt x="46149" y="24713"/>
                </a:cubicBezTo>
                <a:cubicBezTo>
                  <a:pt x="50814" y="23380"/>
                  <a:pt x="55564" y="22360"/>
                  <a:pt x="60271" y="21183"/>
                </a:cubicBezTo>
                <a:cubicBezTo>
                  <a:pt x="90622" y="948"/>
                  <a:pt x="52221" y="25208"/>
                  <a:pt x="81454" y="10591"/>
                </a:cubicBezTo>
                <a:cubicBezTo>
                  <a:pt x="105832" y="-1599"/>
                  <a:pt x="76779" y="7346"/>
                  <a:pt x="106167" y="0"/>
                </a:cubicBezTo>
                <a:cubicBezTo>
                  <a:pt x="115484" y="2329"/>
                  <a:pt x="124054" y="2789"/>
                  <a:pt x="130881" y="10591"/>
                </a:cubicBezTo>
                <a:cubicBezTo>
                  <a:pt x="136469" y="16978"/>
                  <a:pt x="145003" y="31774"/>
                  <a:pt x="145003" y="31774"/>
                </a:cubicBezTo>
                <a:cubicBezTo>
                  <a:pt x="146180" y="36481"/>
                  <a:pt x="148533" y="41044"/>
                  <a:pt x="148533" y="45896"/>
                </a:cubicBezTo>
                <a:cubicBezTo>
                  <a:pt x="148533" y="56553"/>
                  <a:pt x="148645" y="67656"/>
                  <a:pt x="145003" y="77671"/>
                </a:cubicBezTo>
                <a:cubicBezTo>
                  <a:pt x="143553" y="81659"/>
                  <a:pt x="138206" y="82834"/>
                  <a:pt x="134411" y="84732"/>
                </a:cubicBezTo>
                <a:cubicBezTo>
                  <a:pt x="131083" y="86396"/>
                  <a:pt x="127398" y="87240"/>
                  <a:pt x="123820" y="88262"/>
                </a:cubicBezTo>
                <a:cubicBezTo>
                  <a:pt x="112175" y="91589"/>
                  <a:pt x="104192" y="92894"/>
                  <a:pt x="92045" y="95323"/>
                </a:cubicBezTo>
                <a:cubicBezTo>
                  <a:pt x="74393" y="94146"/>
                  <a:pt x="56671" y="93747"/>
                  <a:pt x="39088" y="91793"/>
                </a:cubicBezTo>
                <a:cubicBezTo>
                  <a:pt x="35389" y="91382"/>
                  <a:pt x="31402" y="90587"/>
                  <a:pt x="28496" y="88262"/>
                </a:cubicBezTo>
                <a:cubicBezTo>
                  <a:pt x="25183" y="85611"/>
                  <a:pt x="24435" y="80671"/>
                  <a:pt x="21435" y="77671"/>
                </a:cubicBezTo>
                <a:cubicBezTo>
                  <a:pt x="18435" y="74671"/>
                  <a:pt x="14374" y="72964"/>
                  <a:pt x="10844" y="70610"/>
                </a:cubicBezTo>
                <a:cubicBezTo>
                  <a:pt x="9656" y="68827"/>
                  <a:pt x="-1836" y="53602"/>
                  <a:pt x="252" y="49427"/>
                </a:cubicBezTo>
                <a:cubicBezTo>
                  <a:pt x="1916" y="46098"/>
                  <a:pt x="7747" y="47960"/>
                  <a:pt x="10844" y="45896"/>
                </a:cubicBezTo>
                <a:cubicBezTo>
                  <a:pt x="11823" y="45243"/>
                  <a:pt x="3194" y="34716"/>
                  <a:pt x="7313" y="3177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3" name="任意多边形 52"/>
          <p:cNvSpPr/>
          <p:nvPr/>
        </p:nvSpPr>
        <p:spPr bwMode="auto">
          <a:xfrm>
            <a:off x="6890739" y="4305536"/>
            <a:ext cx="148593" cy="70610"/>
          </a:xfrm>
          <a:custGeom>
            <a:avLst/>
            <a:gdLst>
              <a:gd name="connsiteX0" fmla="*/ 0 w 148593"/>
              <a:gd name="connsiteY0" fmla="*/ 35305 h 70610"/>
              <a:gd name="connsiteX1" fmla="*/ 17652 w 148593"/>
              <a:gd name="connsiteY1" fmla="*/ 24714 h 70610"/>
              <a:gd name="connsiteX2" fmla="*/ 28244 w 148593"/>
              <a:gd name="connsiteY2" fmla="*/ 14122 h 70610"/>
              <a:gd name="connsiteX3" fmla="*/ 49427 w 148593"/>
              <a:gd name="connsiteY3" fmla="*/ 7061 h 70610"/>
              <a:gd name="connsiteX4" fmla="*/ 60018 w 148593"/>
              <a:gd name="connsiteY4" fmla="*/ 3531 h 70610"/>
              <a:gd name="connsiteX5" fmla="*/ 70610 w 148593"/>
              <a:gd name="connsiteY5" fmla="*/ 0 h 70610"/>
              <a:gd name="connsiteX6" fmla="*/ 116506 w 148593"/>
              <a:gd name="connsiteY6" fmla="*/ 3531 h 70610"/>
              <a:gd name="connsiteX7" fmla="*/ 141220 w 148593"/>
              <a:gd name="connsiteY7" fmla="*/ 10592 h 70610"/>
              <a:gd name="connsiteX8" fmla="*/ 148281 w 148593"/>
              <a:gd name="connsiteY8" fmla="*/ 31775 h 70610"/>
              <a:gd name="connsiteX9" fmla="*/ 137689 w 148593"/>
              <a:gd name="connsiteY9" fmla="*/ 56488 h 70610"/>
              <a:gd name="connsiteX10" fmla="*/ 98854 w 148593"/>
              <a:gd name="connsiteY10" fmla="*/ 67080 h 70610"/>
              <a:gd name="connsiteX11" fmla="*/ 88262 w 148593"/>
              <a:gd name="connsiteY11" fmla="*/ 70610 h 70610"/>
              <a:gd name="connsiteX12" fmla="*/ 21183 w 148593"/>
              <a:gd name="connsiteY12" fmla="*/ 67080 h 70610"/>
              <a:gd name="connsiteX13" fmla="*/ 10591 w 148593"/>
              <a:gd name="connsiteY13" fmla="*/ 60019 h 70610"/>
              <a:gd name="connsiteX14" fmla="*/ 14122 w 148593"/>
              <a:gd name="connsiteY14" fmla="*/ 35305 h 70610"/>
              <a:gd name="connsiteX15" fmla="*/ 17652 w 148593"/>
              <a:gd name="connsiteY15" fmla="*/ 24714 h 70610"/>
              <a:gd name="connsiteX16" fmla="*/ 28244 w 148593"/>
              <a:gd name="connsiteY16" fmla="*/ 17653 h 70610"/>
              <a:gd name="connsiteX17" fmla="*/ 49427 w 148593"/>
              <a:gd name="connsiteY17" fmla="*/ 10592 h 7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8593" h="70610">
                <a:moveTo>
                  <a:pt x="0" y="35305"/>
                </a:moveTo>
                <a:cubicBezTo>
                  <a:pt x="5884" y="31775"/>
                  <a:pt x="12163" y="28831"/>
                  <a:pt x="17652" y="24714"/>
                </a:cubicBezTo>
                <a:cubicBezTo>
                  <a:pt x="21646" y="21718"/>
                  <a:pt x="23879" y="16547"/>
                  <a:pt x="28244" y="14122"/>
                </a:cubicBezTo>
                <a:cubicBezTo>
                  <a:pt x="34750" y="10507"/>
                  <a:pt x="42366" y="9415"/>
                  <a:pt x="49427" y="7061"/>
                </a:cubicBezTo>
                <a:lnTo>
                  <a:pt x="60018" y="3531"/>
                </a:lnTo>
                <a:lnTo>
                  <a:pt x="70610" y="0"/>
                </a:lnTo>
                <a:cubicBezTo>
                  <a:pt x="85909" y="1177"/>
                  <a:pt x="101267" y="1738"/>
                  <a:pt x="116506" y="3531"/>
                </a:cubicBezTo>
                <a:cubicBezTo>
                  <a:pt x="123362" y="4338"/>
                  <a:pt x="134368" y="8308"/>
                  <a:pt x="141220" y="10592"/>
                </a:cubicBezTo>
                <a:cubicBezTo>
                  <a:pt x="143574" y="17653"/>
                  <a:pt x="150086" y="24554"/>
                  <a:pt x="148281" y="31775"/>
                </a:cubicBezTo>
                <a:cubicBezTo>
                  <a:pt x="146613" y="38448"/>
                  <a:pt x="144913" y="51973"/>
                  <a:pt x="137689" y="56488"/>
                </a:cubicBezTo>
                <a:cubicBezTo>
                  <a:pt x="127593" y="62798"/>
                  <a:pt x="110277" y="64224"/>
                  <a:pt x="98854" y="67080"/>
                </a:cubicBezTo>
                <a:cubicBezTo>
                  <a:pt x="95244" y="67983"/>
                  <a:pt x="91793" y="69433"/>
                  <a:pt x="88262" y="70610"/>
                </a:cubicBezTo>
                <a:cubicBezTo>
                  <a:pt x="65902" y="69433"/>
                  <a:pt x="43368" y="70105"/>
                  <a:pt x="21183" y="67080"/>
                </a:cubicBezTo>
                <a:cubicBezTo>
                  <a:pt x="16979" y="66507"/>
                  <a:pt x="11511" y="64161"/>
                  <a:pt x="10591" y="60019"/>
                </a:cubicBezTo>
                <a:cubicBezTo>
                  <a:pt x="8786" y="51896"/>
                  <a:pt x="12490" y="43465"/>
                  <a:pt x="14122" y="35305"/>
                </a:cubicBezTo>
                <a:cubicBezTo>
                  <a:pt x="14852" y="31656"/>
                  <a:pt x="15327" y="27620"/>
                  <a:pt x="17652" y="24714"/>
                </a:cubicBezTo>
                <a:cubicBezTo>
                  <a:pt x="20303" y="21401"/>
                  <a:pt x="24366" y="19376"/>
                  <a:pt x="28244" y="17653"/>
                </a:cubicBezTo>
                <a:cubicBezTo>
                  <a:pt x="35045" y="14630"/>
                  <a:pt x="49427" y="10592"/>
                  <a:pt x="49427" y="10592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4" name="任意多边形 53"/>
          <p:cNvSpPr/>
          <p:nvPr/>
        </p:nvSpPr>
        <p:spPr bwMode="auto">
          <a:xfrm>
            <a:off x="6693031" y="4287608"/>
            <a:ext cx="155342" cy="95599"/>
          </a:xfrm>
          <a:custGeom>
            <a:avLst/>
            <a:gdLst>
              <a:gd name="connsiteX0" fmla="*/ 0 w 155342"/>
              <a:gd name="connsiteY0" fmla="*/ 39111 h 95599"/>
              <a:gd name="connsiteX1" fmla="*/ 14122 w 155342"/>
              <a:gd name="connsiteY1" fmla="*/ 21459 h 95599"/>
              <a:gd name="connsiteX2" fmla="*/ 45896 w 155342"/>
              <a:gd name="connsiteY2" fmla="*/ 7337 h 95599"/>
              <a:gd name="connsiteX3" fmla="*/ 56488 w 155342"/>
              <a:gd name="connsiteY3" fmla="*/ 3806 h 95599"/>
              <a:gd name="connsiteX4" fmla="*/ 67079 w 155342"/>
              <a:gd name="connsiteY4" fmla="*/ 276 h 95599"/>
              <a:gd name="connsiteX5" fmla="*/ 137689 w 155342"/>
              <a:gd name="connsiteY5" fmla="*/ 3806 h 95599"/>
              <a:gd name="connsiteX6" fmla="*/ 155342 w 155342"/>
              <a:gd name="connsiteY6" fmla="*/ 35581 h 95599"/>
              <a:gd name="connsiteX7" fmla="*/ 151811 w 155342"/>
              <a:gd name="connsiteY7" fmla="*/ 67355 h 95599"/>
              <a:gd name="connsiteX8" fmla="*/ 141220 w 155342"/>
              <a:gd name="connsiteY8" fmla="*/ 77947 h 95599"/>
              <a:gd name="connsiteX9" fmla="*/ 95323 w 155342"/>
              <a:gd name="connsiteY9" fmla="*/ 88538 h 95599"/>
              <a:gd name="connsiteX10" fmla="*/ 70610 w 155342"/>
              <a:gd name="connsiteY10" fmla="*/ 95599 h 95599"/>
              <a:gd name="connsiteX11" fmla="*/ 31774 w 155342"/>
              <a:gd name="connsiteY11" fmla="*/ 92069 h 95599"/>
              <a:gd name="connsiteX12" fmla="*/ 17652 w 155342"/>
              <a:gd name="connsiteY12" fmla="*/ 74416 h 95599"/>
              <a:gd name="connsiteX13" fmla="*/ 14122 w 155342"/>
              <a:gd name="connsiteY13" fmla="*/ 60294 h 95599"/>
              <a:gd name="connsiteX14" fmla="*/ 0 w 155342"/>
              <a:gd name="connsiteY14" fmla="*/ 39111 h 95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5342" h="95599">
                <a:moveTo>
                  <a:pt x="0" y="39111"/>
                </a:moveTo>
                <a:cubicBezTo>
                  <a:pt x="0" y="32639"/>
                  <a:pt x="8794" y="26787"/>
                  <a:pt x="14122" y="21459"/>
                </a:cubicBezTo>
                <a:cubicBezTo>
                  <a:pt x="22515" y="13066"/>
                  <a:pt x="35407" y="10833"/>
                  <a:pt x="45896" y="7337"/>
                </a:cubicBezTo>
                <a:lnTo>
                  <a:pt x="56488" y="3806"/>
                </a:lnTo>
                <a:lnTo>
                  <a:pt x="67079" y="276"/>
                </a:lnTo>
                <a:cubicBezTo>
                  <a:pt x="90616" y="1453"/>
                  <a:pt x="115066" y="-2792"/>
                  <a:pt x="137689" y="3806"/>
                </a:cubicBezTo>
                <a:cubicBezTo>
                  <a:pt x="146653" y="6420"/>
                  <a:pt x="152295" y="26440"/>
                  <a:pt x="155342" y="35581"/>
                </a:cubicBezTo>
                <a:cubicBezTo>
                  <a:pt x="154165" y="46172"/>
                  <a:pt x="155181" y="57245"/>
                  <a:pt x="151811" y="67355"/>
                </a:cubicBezTo>
                <a:cubicBezTo>
                  <a:pt x="150232" y="72092"/>
                  <a:pt x="145585" y="75522"/>
                  <a:pt x="141220" y="77947"/>
                </a:cubicBezTo>
                <a:cubicBezTo>
                  <a:pt x="126440" y="86159"/>
                  <a:pt x="111420" y="85611"/>
                  <a:pt x="95323" y="88538"/>
                </a:cubicBezTo>
                <a:cubicBezTo>
                  <a:pt x="85576" y="90310"/>
                  <a:pt x="79680" y="92576"/>
                  <a:pt x="70610" y="95599"/>
                </a:cubicBezTo>
                <a:cubicBezTo>
                  <a:pt x="57665" y="94422"/>
                  <a:pt x="44484" y="94792"/>
                  <a:pt x="31774" y="92069"/>
                </a:cubicBezTo>
                <a:cubicBezTo>
                  <a:pt x="20817" y="89721"/>
                  <a:pt x="20130" y="83088"/>
                  <a:pt x="17652" y="74416"/>
                </a:cubicBezTo>
                <a:cubicBezTo>
                  <a:pt x="16319" y="69751"/>
                  <a:pt x="15299" y="65001"/>
                  <a:pt x="14122" y="60294"/>
                </a:cubicBezTo>
                <a:cubicBezTo>
                  <a:pt x="17944" y="29715"/>
                  <a:pt x="0" y="45583"/>
                  <a:pt x="0" y="391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5" name="任意多边形 54"/>
          <p:cNvSpPr/>
          <p:nvPr/>
        </p:nvSpPr>
        <p:spPr bwMode="auto">
          <a:xfrm>
            <a:off x="6587116" y="4316128"/>
            <a:ext cx="98854" cy="63682"/>
          </a:xfrm>
          <a:custGeom>
            <a:avLst/>
            <a:gdLst>
              <a:gd name="connsiteX0" fmla="*/ 7061 w 98854"/>
              <a:gd name="connsiteY0" fmla="*/ 17652 h 63682"/>
              <a:gd name="connsiteX1" fmla="*/ 28244 w 98854"/>
              <a:gd name="connsiteY1" fmla="*/ 14122 h 63682"/>
              <a:gd name="connsiteX2" fmla="*/ 38835 w 98854"/>
              <a:gd name="connsiteY2" fmla="*/ 10591 h 63682"/>
              <a:gd name="connsiteX3" fmla="*/ 52957 w 98854"/>
              <a:gd name="connsiteY3" fmla="*/ 7061 h 63682"/>
              <a:gd name="connsiteX4" fmla="*/ 74140 w 98854"/>
              <a:gd name="connsiteY4" fmla="*/ 0 h 63682"/>
              <a:gd name="connsiteX5" fmla="*/ 84732 w 98854"/>
              <a:gd name="connsiteY5" fmla="*/ 3530 h 63682"/>
              <a:gd name="connsiteX6" fmla="*/ 98854 w 98854"/>
              <a:gd name="connsiteY6" fmla="*/ 24713 h 63682"/>
              <a:gd name="connsiteX7" fmla="*/ 95323 w 98854"/>
              <a:gd name="connsiteY7" fmla="*/ 56488 h 63682"/>
              <a:gd name="connsiteX8" fmla="*/ 84732 w 98854"/>
              <a:gd name="connsiteY8" fmla="*/ 63549 h 63682"/>
              <a:gd name="connsiteX9" fmla="*/ 24713 w 98854"/>
              <a:gd name="connsiteY9" fmla="*/ 56488 h 63682"/>
              <a:gd name="connsiteX10" fmla="*/ 0 w 98854"/>
              <a:gd name="connsiteY10" fmla="*/ 31774 h 63682"/>
              <a:gd name="connsiteX11" fmla="*/ 7061 w 98854"/>
              <a:gd name="connsiteY11" fmla="*/ 17652 h 6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8854" h="63682">
                <a:moveTo>
                  <a:pt x="7061" y="17652"/>
                </a:moveTo>
                <a:cubicBezTo>
                  <a:pt x="14122" y="16475"/>
                  <a:pt x="21256" y="15675"/>
                  <a:pt x="28244" y="14122"/>
                </a:cubicBezTo>
                <a:cubicBezTo>
                  <a:pt x="31877" y="13315"/>
                  <a:pt x="35257" y="11613"/>
                  <a:pt x="38835" y="10591"/>
                </a:cubicBezTo>
                <a:cubicBezTo>
                  <a:pt x="43500" y="9258"/>
                  <a:pt x="48309" y="8455"/>
                  <a:pt x="52957" y="7061"/>
                </a:cubicBezTo>
                <a:cubicBezTo>
                  <a:pt x="60086" y="4922"/>
                  <a:pt x="74140" y="0"/>
                  <a:pt x="74140" y="0"/>
                </a:cubicBezTo>
                <a:cubicBezTo>
                  <a:pt x="77671" y="1177"/>
                  <a:pt x="81635" y="1466"/>
                  <a:pt x="84732" y="3530"/>
                </a:cubicBezTo>
                <a:cubicBezTo>
                  <a:pt x="96064" y="11085"/>
                  <a:pt x="95152" y="13610"/>
                  <a:pt x="98854" y="24713"/>
                </a:cubicBezTo>
                <a:cubicBezTo>
                  <a:pt x="97677" y="35305"/>
                  <a:pt x="98965" y="46473"/>
                  <a:pt x="95323" y="56488"/>
                </a:cubicBezTo>
                <a:cubicBezTo>
                  <a:pt x="93873" y="60476"/>
                  <a:pt x="88964" y="63247"/>
                  <a:pt x="84732" y="63549"/>
                </a:cubicBezTo>
                <a:cubicBezTo>
                  <a:pt x="70112" y="64593"/>
                  <a:pt x="41457" y="59278"/>
                  <a:pt x="24713" y="56488"/>
                </a:cubicBezTo>
                <a:cubicBezTo>
                  <a:pt x="14601" y="49747"/>
                  <a:pt x="0" y="46275"/>
                  <a:pt x="0" y="31774"/>
                </a:cubicBezTo>
                <a:lnTo>
                  <a:pt x="7061" y="1765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4" name="Line 50"/>
          <p:cNvSpPr>
            <a:spLocks noChangeShapeType="1"/>
          </p:cNvSpPr>
          <p:nvPr/>
        </p:nvSpPr>
        <p:spPr bwMode="auto">
          <a:xfrm>
            <a:off x="8209801" y="3036352"/>
            <a:ext cx="0" cy="15134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" name="Line 50"/>
          <p:cNvSpPr>
            <a:spLocks noChangeShapeType="1"/>
          </p:cNvSpPr>
          <p:nvPr/>
        </p:nvSpPr>
        <p:spPr bwMode="auto">
          <a:xfrm>
            <a:off x="8509914" y="1861714"/>
            <a:ext cx="0" cy="26889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6798362" y="2343472"/>
            <a:ext cx="494046" cy="1052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土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样</a:t>
            </a:r>
            <a:endParaRPr lang="zh-CN" altLang="en-US" sz="2400" b="1" dirty="0"/>
          </a:p>
        </p:txBody>
      </p:sp>
      <p:sp>
        <p:nvSpPr>
          <p:cNvPr id="227" name="Line 50"/>
          <p:cNvSpPr>
            <a:spLocks noChangeShapeType="1"/>
          </p:cNvSpPr>
          <p:nvPr/>
        </p:nvSpPr>
        <p:spPr bwMode="auto">
          <a:xfrm>
            <a:off x="6421753" y="2270212"/>
            <a:ext cx="0" cy="13051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" name="等腰三角形 152"/>
          <p:cNvSpPr>
            <a:spLocks noChangeArrowheads="1"/>
          </p:cNvSpPr>
          <p:nvPr/>
        </p:nvSpPr>
        <p:spPr bwMode="auto">
          <a:xfrm flipV="1">
            <a:off x="7144584" y="1805426"/>
            <a:ext cx="153678" cy="57153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3152" tIns="36576" rIns="73152" bIns="36576"/>
          <a:lstStyle>
            <a:lvl1pPr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49263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230" name="直接连接符 153"/>
          <p:cNvCxnSpPr>
            <a:cxnSpLocks noChangeShapeType="1"/>
          </p:cNvCxnSpPr>
          <p:nvPr/>
        </p:nvCxnSpPr>
        <p:spPr bwMode="auto">
          <a:xfrm>
            <a:off x="7124262" y="1894330"/>
            <a:ext cx="21337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1" name="直接连接符 154"/>
          <p:cNvCxnSpPr>
            <a:cxnSpLocks noChangeShapeType="1"/>
          </p:cNvCxnSpPr>
          <p:nvPr/>
        </p:nvCxnSpPr>
        <p:spPr bwMode="auto">
          <a:xfrm>
            <a:off x="7167445" y="1921001"/>
            <a:ext cx="127007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2" name="直接连接符 155"/>
          <p:cNvCxnSpPr>
            <a:cxnSpLocks noChangeShapeType="1"/>
          </p:cNvCxnSpPr>
          <p:nvPr/>
        </p:nvCxnSpPr>
        <p:spPr bwMode="auto">
          <a:xfrm>
            <a:off x="7214437" y="1947673"/>
            <a:ext cx="44453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6575981" y="2264091"/>
            <a:ext cx="91942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80" name="Text Box 66"/>
          <p:cNvSpPr txBox="1">
            <a:spLocks noChangeArrowheads="1"/>
          </p:cNvSpPr>
          <p:nvPr/>
        </p:nvSpPr>
        <p:spPr bwMode="auto">
          <a:xfrm>
            <a:off x="8021208" y="3598204"/>
            <a:ext cx="412292" cy="400110"/>
          </a:xfrm>
          <a:prstGeom prst="rect">
            <a:avLst/>
          </a:prstGeom>
          <a:solidFill>
            <a:srgbClr val="CCEC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000066"/>
                </a:solidFill>
              </a:rPr>
              <a:t>h</a:t>
            </a:r>
            <a:r>
              <a:rPr kumimoji="1" lang="en-US" altLang="zh-CN" sz="2000" b="1" i="1" baseline="-25000" dirty="0">
                <a:solidFill>
                  <a:srgbClr val="000066"/>
                </a:solidFill>
              </a:rPr>
              <a:t>2</a:t>
            </a:r>
          </a:p>
        </p:txBody>
      </p:sp>
      <p:sp>
        <p:nvSpPr>
          <p:cNvPr id="238" name="Text Box 66"/>
          <p:cNvSpPr txBox="1">
            <a:spLocks noChangeArrowheads="1"/>
          </p:cNvSpPr>
          <p:nvPr/>
        </p:nvSpPr>
        <p:spPr bwMode="auto">
          <a:xfrm>
            <a:off x="7982689" y="2298617"/>
            <a:ext cx="484428" cy="400110"/>
          </a:xfrm>
          <a:prstGeom prst="rect">
            <a:avLst/>
          </a:prstGeom>
          <a:solidFill>
            <a:srgbClr val="CCEC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66"/>
                </a:solidFill>
                <a:sym typeface="Symbol"/>
              </a:rPr>
              <a:t></a:t>
            </a:r>
            <a:r>
              <a:rPr kumimoji="1" lang="en-US" altLang="zh-CN" sz="2000" b="1" i="1" dirty="0" smtClean="0">
                <a:solidFill>
                  <a:srgbClr val="000066"/>
                </a:solidFill>
              </a:rPr>
              <a:t>h</a:t>
            </a:r>
            <a:endParaRPr kumimoji="1" lang="en-US" altLang="zh-CN" sz="2000" b="1" i="1" baseline="-25000" dirty="0">
              <a:solidFill>
                <a:srgbClr val="000066"/>
              </a:solidFill>
            </a:endParaRPr>
          </a:p>
        </p:txBody>
      </p:sp>
      <p:sp>
        <p:nvSpPr>
          <p:cNvPr id="5179" name="Text Box 65"/>
          <p:cNvSpPr txBox="1">
            <a:spLocks noChangeArrowheads="1"/>
          </p:cNvSpPr>
          <p:nvPr/>
        </p:nvSpPr>
        <p:spPr bwMode="auto">
          <a:xfrm>
            <a:off x="8383096" y="3036892"/>
            <a:ext cx="412292" cy="400110"/>
          </a:xfrm>
          <a:prstGeom prst="rect">
            <a:avLst/>
          </a:prstGeom>
          <a:solidFill>
            <a:srgbClr val="CCEC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000066"/>
                </a:solidFill>
              </a:rPr>
              <a:t>h</a:t>
            </a:r>
            <a:r>
              <a:rPr kumimoji="1" lang="en-US" altLang="zh-CN" sz="2000" b="1" i="1" baseline="-25000" dirty="0">
                <a:solidFill>
                  <a:srgbClr val="000066"/>
                </a:solidFill>
              </a:rPr>
              <a:t>1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5377603" y="4561628"/>
            <a:ext cx="3369101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1" name="Text Box 2378"/>
          <p:cNvSpPr txBox="1">
            <a:spLocks noChangeArrowheads="1"/>
          </p:cNvSpPr>
          <p:nvPr/>
        </p:nvSpPr>
        <p:spPr bwMode="auto">
          <a:xfrm>
            <a:off x="8717476" y="4314957"/>
            <a:ext cx="330472" cy="478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438" tIns="43719" rIns="87438" bIns="43719">
            <a:spAutoFit/>
          </a:bodyPr>
          <a:lstStyle>
            <a:lvl1pPr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400" b="1" dirty="0" smtClean="0">
                <a:latin typeface="Times New Roman" pitchFamily="18" charset="0"/>
                <a:ea typeface="幼圆" pitchFamily="49" charset="-122"/>
              </a:rPr>
              <a:t>0</a:t>
            </a:r>
            <a:endParaRPr lang="en-US" altLang="zh-CN" sz="2400" b="1" dirty="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65" name="椭圆 64"/>
          <p:cNvSpPr/>
          <p:nvPr/>
        </p:nvSpPr>
        <p:spPr bwMode="auto">
          <a:xfrm>
            <a:off x="4960187" y="1345710"/>
            <a:ext cx="923026" cy="92302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2">
                <a:lumMod val="40000"/>
                <a:lumOff val="60000"/>
              </a:schemeClr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3" name="Text Box 2378"/>
          <p:cNvSpPr txBox="1">
            <a:spLocks noChangeArrowheads="1"/>
          </p:cNvSpPr>
          <p:nvPr/>
        </p:nvSpPr>
        <p:spPr bwMode="auto">
          <a:xfrm>
            <a:off x="5017534" y="1461679"/>
            <a:ext cx="796946" cy="69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438" tIns="43719" rIns="87438" bIns="43719">
            <a:spAutoFit/>
          </a:bodyPr>
          <a:lstStyle>
            <a:lvl1pPr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2200" eaLnBrk="0" hangingPunct="0"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22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600" b="1" dirty="0" smtClean="0">
                <a:latin typeface="Times New Roman" pitchFamily="18" charset="0"/>
                <a:ea typeface="幼圆" pitchFamily="49" charset="-122"/>
              </a:rPr>
              <a:t>断面积</a:t>
            </a:r>
            <a:r>
              <a:rPr lang="en-US" altLang="zh-CN" sz="1800" b="1" dirty="0" smtClean="0">
                <a:latin typeface="Times New Roman" pitchFamily="18" charset="0"/>
                <a:ea typeface="幼圆" pitchFamily="49" charset="-122"/>
              </a:rPr>
              <a:t/>
            </a:r>
            <a:br>
              <a:rPr lang="en-US" altLang="zh-CN" sz="1800" b="1" dirty="0" smtClean="0">
                <a:latin typeface="Times New Roman" pitchFamily="18" charset="0"/>
                <a:ea typeface="幼圆" pitchFamily="49" charset="-122"/>
              </a:rPr>
            </a:br>
            <a:r>
              <a:rPr lang="en-US" altLang="zh-CN" sz="2000" b="1" i="1" dirty="0" smtClean="0">
                <a:latin typeface="Times New Roman" pitchFamily="18" charset="0"/>
                <a:ea typeface="幼圆" pitchFamily="49" charset="-122"/>
              </a:rPr>
              <a:t>A</a:t>
            </a:r>
            <a:endParaRPr lang="en-US" altLang="zh-CN" sz="2000" b="1" i="1" dirty="0">
              <a:latin typeface="Times New Roman" pitchFamily="18" charset="0"/>
              <a:ea typeface="幼圆" pitchFamily="49" charset="-122"/>
            </a:endParaRPr>
          </a:p>
        </p:txBody>
      </p:sp>
      <p:cxnSp>
        <p:nvCxnSpPr>
          <p:cNvPr id="67" name="直接连接符 66"/>
          <p:cNvCxnSpPr/>
          <p:nvPr/>
        </p:nvCxnSpPr>
        <p:spPr bwMode="auto">
          <a:xfrm>
            <a:off x="5818909" y="2125683"/>
            <a:ext cx="823432" cy="57438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7696492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63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63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6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63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63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6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63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63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46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3382" grpId="0"/>
      <p:bldP spid="1463384" grpId="0" animBg="1"/>
      <p:bldP spid="1463385" grpId="0"/>
      <p:bldP spid="146338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43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012375"/>
              </p:ext>
            </p:extLst>
          </p:nvPr>
        </p:nvGraphicFramePr>
        <p:xfrm>
          <a:off x="2628900" y="636588"/>
          <a:ext cx="157464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6" name="公式" r:id="rId4" imgW="787320" imgH="368280" progId="Equation.3">
                  <p:embed/>
                </p:oleObj>
              </mc:Choice>
              <mc:Fallback>
                <p:oleObj name="公式" r:id="rId4" imgW="7873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636588"/>
                        <a:ext cx="157464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3875088" y="5897563"/>
            <a:ext cx="3419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达西定律</a:t>
            </a:r>
          </a:p>
        </p:txBody>
      </p:sp>
      <p:sp>
        <p:nvSpPr>
          <p:cNvPr id="1464325" name="AutoShape 5"/>
          <p:cNvSpPr>
            <a:spLocks noChangeArrowheads="1"/>
          </p:cNvSpPr>
          <p:nvPr/>
        </p:nvSpPr>
        <p:spPr bwMode="auto">
          <a:xfrm>
            <a:off x="1419225" y="833438"/>
            <a:ext cx="590550" cy="436562"/>
          </a:xfrm>
          <a:prstGeom prst="homePlate">
            <a:avLst>
              <a:gd name="adj" fmla="val 33818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26" name="Text Box 6"/>
          <p:cNvSpPr txBox="1">
            <a:spLocks noChangeArrowheads="1"/>
          </p:cNvSpPr>
          <p:nvPr/>
        </p:nvSpPr>
        <p:spPr bwMode="auto">
          <a:xfrm>
            <a:off x="781050" y="1504950"/>
            <a:ext cx="8074025" cy="29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达西定律：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在层流状态的渗流中，渗透速度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v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与水力坡降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i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的一次方成正比，并与土的性质有关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渗透系数</a:t>
            </a:r>
            <a:r>
              <a:rPr lang="en-US" altLang="zh-CN" sz="2400" b="1" i="1" dirty="0">
                <a:solidFill>
                  <a:srgbClr val="A50021"/>
                </a:solidFill>
                <a:ea typeface="幼圆" pitchFamily="49" charset="-122"/>
              </a:rPr>
              <a:t>k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</a:rPr>
              <a:t>: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反映土的透水性能的比例系数，其物理意义为水力坡降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i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＝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时的渗流速度，单位：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cm/s, m/s, m/day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渗透速度</a:t>
            </a:r>
            <a:r>
              <a:rPr lang="en-US" altLang="zh-CN" sz="2400" b="1" i="1" dirty="0">
                <a:solidFill>
                  <a:srgbClr val="A50021"/>
                </a:solidFill>
                <a:ea typeface="幼圆" pitchFamily="49" charset="-122"/>
              </a:rPr>
              <a:t>v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土体试样全断面的平均渗流速度，也称假想渗流速度</a:t>
            </a:r>
          </a:p>
        </p:txBody>
      </p:sp>
      <p:graphicFrame>
        <p:nvGraphicFramePr>
          <p:cNvPr id="1464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411022"/>
              </p:ext>
            </p:extLst>
          </p:nvPr>
        </p:nvGraphicFramePr>
        <p:xfrm>
          <a:off x="2697163" y="4184650"/>
          <a:ext cx="1345680" cy="76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7" name="公式" r:id="rId6" imgW="672840" imgH="380880" progId="Equation.3">
                  <p:embed/>
                </p:oleObj>
              </mc:Choice>
              <mc:Fallback>
                <p:oleObj name="公式" r:id="rId6" imgW="67284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4184650"/>
                        <a:ext cx="1345680" cy="761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28" name="Text Box 8"/>
          <p:cNvSpPr txBox="1">
            <a:spLocks noChangeArrowheads="1"/>
          </p:cNvSpPr>
          <p:nvPr/>
        </p:nvSpPr>
        <p:spPr bwMode="auto">
          <a:xfrm>
            <a:off x="2370138" y="5168900"/>
            <a:ext cx="6416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其中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为实际平均流速，孔隙断面的平均流速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1" y="0"/>
            <a:ext cx="51444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达西定律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30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54332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6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64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64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64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64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64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64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64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64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46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6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25" grpId="0" animBg="1"/>
      <p:bldP spid="1464326" grpId="0" build="p" advAuto="500"/>
      <p:bldP spid="14643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2657541" y="5738813"/>
            <a:ext cx="53260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达西定律的适用范围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65348" name="Rectangle 4"/>
          <p:cNvSpPr>
            <a:spLocks noChangeArrowheads="1"/>
          </p:cNvSpPr>
          <p:nvPr/>
        </p:nvSpPr>
        <p:spPr bwMode="auto">
          <a:xfrm>
            <a:off x="280987" y="692150"/>
            <a:ext cx="65344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达西定律的适用条件：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层流（线性流动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465349" name="Rectangle 5"/>
          <p:cNvSpPr>
            <a:spLocks noChangeArrowheads="1"/>
          </p:cNvSpPr>
          <p:nvPr/>
        </p:nvSpPr>
        <p:spPr bwMode="auto">
          <a:xfrm>
            <a:off x="606574" y="1194792"/>
            <a:ext cx="763270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</a:pP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岩土工程中，绝大多数渗流，无论是发生于砂土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或</a:t>
            </a: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一般黏土中，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均属层流</a:t>
            </a: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范围，故达西定律均可使用</a:t>
            </a:r>
            <a:endParaRPr kumimoji="1" lang="zh-CN" altLang="en-US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-1" y="0"/>
            <a:ext cx="51444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达西定律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3" name="Rectangle 24"/>
          <p:cNvSpPr>
            <a:spLocks noChangeArrowheads="1"/>
          </p:cNvSpPr>
          <p:nvPr/>
        </p:nvSpPr>
        <p:spPr bwMode="auto">
          <a:xfrm>
            <a:off x="719161" y="3463333"/>
            <a:ext cx="1890540" cy="4846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Text Box 72"/>
          <p:cNvSpPr txBox="1">
            <a:spLocks noChangeArrowheads="1"/>
          </p:cNvSpPr>
          <p:nvPr/>
        </p:nvSpPr>
        <p:spPr bwMode="auto">
          <a:xfrm>
            <a:off x="3296030" y="2240345"/>
            <a:ext cx="5598588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在很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粗的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粗粒土中，水力坡降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较大时，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水流可能会呈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紊流状态，达西定律不再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适用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可用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雷诺数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来判断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753914" y="2637382"/>
            <a:ext cx="1855787" cy="2019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45000"/>
              </a:lnSpc>
              <a:spcAft>
                <a:spcPts val="1200"/>
              </a:spcAft>
            </a:pPr>
            <a:r>
              <a:rPr kumimoji="1" lang="zh-CN" altLang="en-US" sz="2400" b="1" dirty="0">
                <a:solidFill>
                  <a:srgbClr val="A5002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个例外</a:t>
            </a:r>
            <a:endParaRPr kumimoji="1" lang="zh-CN" altLang="en-US" sz="2400" b="1" dirty="0">
              <a:solidFill>
                <a:srgbClr val="A5002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紊流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致密黏土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6" name="AutoShape 71"/>
          <p:cNvSpPr>
            <a:spLocks noChangeArrowheads="1"/>
          </p:cNvSpPr>
          <p:nvPr/>
        </p:nvSpPr>
        <p:spPr bwMode="auto">
          <a:xfrm>
            <a:off x="2769196" y="3495992"/>
            <a:ext cx="400050" cy="430213"/>
          </a:xfrm>
          <a:prstGeom prst="homePlate">
            <a:avLst>
              <a:gd name="adj" fmla="val 2500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Rectangle 97"/>
          <p:cNvSpPr>
            <a:spLocks noChangeArrowheads="1"/>
          </p:cNvSpPr>
          <p:nvPr/>
        </p:nvSpPr>
        <p:spPr bwMode="auto">
          <a:xfrm>
            <a:off x="729721" y="2519155"/>
            <a:ext cx="1879980" cy="2592000"/>
          </a:xfrm>
          <a:prstGeom prst="rect">
            <a:avLst/>
          </a:prstGeom>
          <a:noFill/>
          <a:ln w="38100" cmpd="dbl" algn="ctr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279645" y="3662890"/>
            <a:ext cx="2705325" cy="2159335"/>
            <a:chOff x="6287383" y="3974115"/>
            <a:chExt cx="2705325" cy="1809632"/>
          </a:xfrm>
        </p:grpSpPr>
        <p:grpSp>
          <p:nvGrpSpPr>
            <p:cNvPr id="71" name="Group 22"/>
            <p:cNvGrpSpPr>
              <a:grpSpLocks/>
            </p:cNvGrpSpPr>
            <p:nvPr/>
          </p:nvGrpSpPr>
          <p:grpSpPr bwMode="auto">
            <a:xfrm>
              <a:off x="6658198" y="4066134"/>
              <a:ext cx="1667095" cy="1371238"/>
              <a:chOff x="3898" y="1071"/>
              <a:chExt cx="1086" cy="909"/>
            </a:xfrm>
          </p:grpSpPr>
          <p:sp>
            <p:nvSpPr>
              <p:cNvPr id="80" name="Freeform 23"/>
              <p:cNvSpPr>
                <a:spLocks/>
              </p:cNvSpPr>
              <p:nvPr/>
            </p:nvSpPr>
            <p:spPr bwMode="auto">
              <a:xfrm>
                <a:off x="3898" y="1979"/>
                <a:ext cx="1086" cy="1"/>
              </a:xfrm>
              <a:custGeom>
                <a:avLst/>
                <a:gdLst>
                  <a:gd name="T0" fmla="*/ 0 w 1086"/>
                  <a:gd name="T1" fmla="*/ 0 h 1"/>
                  <a:gd name="T2" fmla="*/ 1086 w 1086"/>
                  <a:gd name="T3" fmla="*/ 1 h 1"/>
                  <a:gd name="T4" fmla="*/ 0 60000 65536"/>
                  <a:gd name="T5" fmla="*/ 0 60000 65536"/>
                  <a:gd name="T6" fmla="*/ 0 w 1086"/>
                  <a:gd name="T7" fmla="*/ 0 h 1"/>
                  <a:gd name="T8" fmla="*/ 1086 w 108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86" h="1">
                    <a:moveTo>
                      <a:pt x="0" y="0"/>
                    </a:moveTo>
                    <a:lnTo>
                      <a:pt x="1086" y="1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1" name="Line 24"/>
              <p:cNvSpPr>
                <a:spLocks noChangeShapeType="1"/>
              </p:cNvSpPr>
              <p:nvPr/>
            </p:nvSpPr>
            <p:spPr bwMode="auto">
              <a:xfrm flipV="1">
                <a:off x="3898" y="1071"/>
                <a:ext cx="0" cy="90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2" name="Text Box 25"/>
            <p:cNvSpPr txBox="1">
              <a:spLocks noChangeArrowheads="1"/>
            </p:cNvSpPr>
            <p:nvPr/>
          </p:nvSpPr>
          <p:spPr bwMode="auto">
            <a:xfrm>
              <a:off x="8216925" y="5396848"/>
              <a:ext cx="84960" cy="38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i</a:t>
              </a:r>
              <a:endPara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3" name="Text Box 26"/>
            <p:cNvSpPr txBox="1">
              <a:spLocks noChangeArrowheads="1"/>
            </p:cNvSpPr>
            <p:nvPr/>
          </p:nvSpPr>
          <p:spPr bwMode="auto">
            <a:xfrm>
              <a:off x="6361325" y="3974115"/>
              <a:ext cx="136255" cy="38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74" name="Text Box 27"/>
            <p:cNvSpPr txBox="1">
              <a:spLocks noChangeArrowheads="1"/>
            </p:cNvSpPr>
            <p:nvPr/>
          </p:nvSpPr>
          <p:spPr bwMode="auto">
            <a:xfrm>
              <a:off x="6365022" y="5179417"/>
              <a:ext cx="1538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75" name="Text Box 28"/>
            <p:cNvSpPr txBox="1">
              <a:spLocks noChangeArrowheads="1"/>
            </p:cNvSpPr>
            <p:nvPr/>
          </p:nvSpPr>
          <p:spPr bwMode="auto">
            <a:xfrm>
              <a:off x="6287383" y="4563944"/>
              <a:ext cx="307777" cy="38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cr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" name="Freeform 29"/>
            <p:cNvSpPr>
              <a:spLocks/>
            </p:cNvSpPr>
            <p:nvPr/>
          </p:nvSpPr>
          <p:spPr bwMode="auto">
            <a:xfrm>
              <a:off x="6648464" y="4357277"/>
              <a:ext cx="1353012" cy="1078587"/>
            </a:xfrm>
            <a:custGeom>
              <a:avLst/>
              <a:gdLst>
                <a:gd name="T0" fmla="*/ 0 w 973"/>
                <a:gd name="T1" fmla="*/ 715 h 715"/>
                <a:gd name="T2" fmla="*/ 973 w 973"/>
                <a:gd name="T3" fmla="*/ 0 h 715"/>
                <a:gd name="T4" fmla="*/ 0 60000 65536"/>
                <a:gd name="T5" fmla="*/ 0 60000 65536"/>
                <a:gd name="T6" fmla="*/ 0 w 973"/>
                <a:gd name="T7" fmla="*/ 0 h 715"/>
                <a:gd name="T8" fmla="*/ 973 w 973"/>
                <a:gd name="T9" fmla="*/ 715 h 71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73" h="715">
                  <a:moveTo>
                    <a:pt x="0" y="715"/>
                  </a:moveTo>
                  <a:lnTo>
                    <a:pt x="973" y="0"/>
                  </a:lnTo>
                </a:path>
              </a:pathLst>
            </a:custGeom>
            <a:noFill/>
            <a:ln w="28575">
              <a:solidFill>
                <a:srgbClr val="9900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Freeform 30"/>
            <p:cNvSpPr>
              <a:spLocks/>
            </p:cNvSpPr>
            <p:nvPr/>
          </p:nvSpPr>
          <p:spPr bwMode="auto">
            <a:xfrm>
              <a:off x="6656808" y="4661997"/>
              <a:ext cx="1422540" cy="773867"/>
            </a:xfrm>
            <a:custGeom>
              <a:avLst/>
              <a:gdLst>
                <a:gd name="T0" fmla="*/ 0 w 1023"/>
                <a:gd name="T1" fmla="*/ 513 h 513"/>
                <a:gd name="T2" fmla="*/ 182 w 1023"/>
                <a:gd name="T3" fmla="*/ 376 h 513"/>
                <a:gd name="T4" fmla="*/ 363 w 1023"/>
                <a:gd name="T5" fmla="*/ 244 h 513"/>
                <a:gd name="T6" fmla="*/ 506 w 1023"/>
                <a:gd name="T7" fmla="*/ 148 h 513"/>
                <a:gd name="T8" fmla="*/ 635 w 1023"/>
                <a:gd name="T9" fmla="*/ 85 h 513"/>
                <a:gd name="T10" fmla="*/ 732 w 1023"/>
                <a:gd name="T11" fmla="*/ 52 h 513"/>
                <a:gd name="T12" fmla="*/ 870 w 1023"/>
                <a:gd name="T13" fmla="*/ 18 h 513"/>
                <a:gd name="T14" fmla="*/ 963 w 1023"/>
                <a:gd name="T15" fmla="*/ 6 h 513"/>
                <a:gd name="T16" fmla="*/ 1023 w 1023"/>
                <a:gd name="T17" fmla="*/ 0 h 5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23"/>
                <a:gd name="T28" fmla="*/ 0 h 513"/>
                <a:gd name="T29" fmla="*/ 1023 w 1023"/>
                <a:gd name="T30" fmla="*/ 513 h 5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23" h="513">
                  <a:moveTo>
                    <a:pt x="0" y="513"/>
                  </a:moveTo>
                  <a:cubicBezTo>
                    <a:pt x="60" y="467"/>
                    <a:pt x="122" y="421"/>
                    <a:pt x="182" y="376"/>
                  </a:cubicBezTo>
                  <a:cubicBezTo>
                    <a:pt x="242" y="331"/>
                    <a:pt x="309" y="282"/>
                    <a:pt x="363" y="244"/>
                  </a:cubicBezTo>
                  <a:cubicBezTo>
                    <a:pt x="417" y="206"/>
                    <a:pt x="461" y="175"/>
                    <a:pt x="506" y="148"/>
                  </a:cubicBezTo>
                  <a:cubicBezTo>
                    <a:pt x="551" y="121"/>
                    <a:pt x="597" y="101"/>
                    <a:pt x="635" y="85"/>
                  </a:cubicBezTo>
                  <a:cubicBezTo>
                    <a:pt x="673" y="69"/>
                    <a:pt x="693" y="63"/>
                    <a:pt x="732" y="52"/>
                  </a:cubicBezTo>
                  <a:cubicBezTo>
                    <a:pt x="771" y="41"/>
                    <a:pt x="832" y="26"/>
                    <a:pt x="870" y="18"/>
                  </a:cubicBezTo>
                  <a:cubicBezTo>
                    <a:pt x="908" y="10"/>
                    <a:pt x="938" y="9"/>
                    <a:pt x="963" y="6"/>
                  </a:cubicBezTo>
                  <a:cubicBezTo>
                    <a:pt x="988" y="3"/>
                    <a:pt x="1011" y="1"/>
                    <a:pt x="1023" y="0"/>
                  </a:cubicBezTo>
                </a:path>
              </a:pathLst>
            </a:cu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8" name="Line 31"/>
            <p:cNvSpPr>
              <a:spLocks noChangeShapeType="1"/>
            </p:cNvSpPr>
            <p:nvPr/>
          </p:nvSpPr>
          <p:spPr bwMode="auto">
            <a:xfrm>
              <a:off x="6658198" y="4924478"/>
              <a:ext cx="6313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79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3748577"/>
                </p:ext>
              </p:extLst>
            </p:nvPr>
          </p:nvGraphicFramePr>
          <p:xfrm>
            <a:off x="7951588" y="4265032"/>
            <a:ext cx="1041120" cy="766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52" name="公式" r:id="rId4" imgW="520560" imgH="457200" progId="Equation.3">
                    <p:embed/>
                  </p:oleObj>
                </mc:Choice>
                <mc:Fallback>
                  <p:oleObj name="公式" r:id="rId4" imgW="52056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1588" y="4265032"/>
                          <a:ext cx="1041120" cy="766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3633850" y="3551201"/>
            <a:ext cx="2398815" cy="2089093"/>
            <a:chOff x="3633850" y="3532276"/>
            <a:chExt cx="2398815" cy="2089093"/>
          </a:xfrm>
        </p:grpSpPr>
        <p:grpSp>
          <p:nvGrpSpPr>
            <p:cNvPr id="5" name="组合 4"/>
            <p:cNvGrpSpPr/>
            <p:nvPr/>
          </p:nvGrpSpPr>
          <p:grpSpPr>
            <a:xfrm>
              <a:off x="3690950" y="3532276"/>
              <a:ext cx="1430141" cy="831481"/>
              <a:chOff x="3939275" y="3905485"/>
              <a:chExt cx="1430141" cy="831481"/>
            </a:xfrm>
          </p:grpSpPr>
          <p:sp>
            <p:nvSpPr>
              <p:cNvPr id="84" name="Line 40"/>
              <p:cNvSpPr>
                <a:spLocks noChangeShapeType="1"/>
              </p:cNvSpPr>
              <p:nvPr/>
            </p:nvSpPr>
            <p:spPr bwMode="auto">
              <a:xfrm>
                <a:off x="4503843" y="4345028"/>
                <a:ext cx="865573" cy="1587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Rectangle 41"/>
              <p:cNvSpPr>
                <a:spLocks noChangeArrowheads="1"/>
              </p:cNvSpPr>
              <p:nvPr/>
            </p:nvSpPr>
            <p:spPr bwMode="auto">
              <a:xfrm>
                <a:off x="4785251" y="4352961"/>
                <a:ext cx="194075" cy="3840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500" i="1" dirty="0">
                    <a:solidFill>
                      <a:srgbClr val="000066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h</a:t>
                </a:r>
                <a:endParaRPr lang="en-US" altLang="zh-CN" sz="2400" i="1" dirty="0">
                  <a:solidFill>
                    <a:srgbClr val="000066"/>
                  </a:solidFill>
                  <a:latin typeface="Symbol" panose="05050102010706020507" pitchFamily="18" charset="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Rectangle 42"/>
              <p:cNvSpPr>
                <a:spLocks noChangeArrowheads="1"/>
              </p:cNvSpPr>
              <p:nvPr/>
            </p:nvSpPr>
            <p:spPr bwMode="auto">
              <a:xfrm>
                <a:off x="5084126" y="4137157"/>
                <a:ext cx="192134" cy="2300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500" b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10</a:t>
                </a:r>
                <a:endParaRPr lang="en-US" altLang="zh-CN" sz="2400" b="1" dirty="0">
                  <a:solidFill>
                    <a:srgbClr val="000066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Rectangle 43"/>
              <p:cNvSpPr>
                <a:spLocks noChangeArrowheads="1"/>
              </p:cNvSpPr>
              <p:nvPr/>
            </p:nvSpPr>
            <p:spPr bwMode="auto">
              <a:xfrm>
                <a:off x="4893933" y="3941981"/>
                <a:ext cx="160300" cy="3847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5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d</a:t>
                </a:r>
                <a:endPara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Rectangle 44"/>
              <p:cNvSpPr>
                <a:spLocks noChangeArrowheads="1"/>
              </p:cNvSpPr>
              <p:nvPr/>
            </p:nvSpPr>
            <p:spPr bwMode="auto">
              <a:xfrm>
                <a:off x="4523250" y="3941981"/>
                <a:ext cx="142668" cy="3847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5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v</a:t>
                </a:r>
                <a:endPara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Rectangle 45"/>
              <p:cNvSpPr>
                <a:spLocks noChangeArrowheads="1"/>
              </p:cNvSpPr>
              <p:nvPr/>
            </p:nvSpPr>
            <p:spPr bwMode="auto">
              <a:xfrm>
                <a:off x="3939275" y="4122238"/>
                <a:ext cx="213200" cy="3847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5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R</a:t>
                </a:r>
                <a:endPara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Rectangle 46"/>
              <p:cNvSpPr>
                <a:spLocks noChangeArrowheads="1"/>
              </p:cNvSpPr>
              <p:nvPr/>
            </p:nvSpPr>
            <p:spPr bwMode="auto">
              <a:xfrm>
                <a:off x="4166342" y="4315828"/>
                <a:ext cx="85393" cy="2300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500" b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e</a:t>
                </a:r>
                <a:endParaRPr lang="en-US" altLang="zh-CN" sz="2400" b="1" dirty="0">
                  <a:solidFill>
                    <a:srgbClr val="000066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Rectangle 47"/>
              <p:cNvSpPr>
                <a:spLocks noChangeArrowheads="1"/>
              </p:cNvSpPr>
              <p:nvPr/>
            </p:nvSpPr>
            <p:spPr bwMode="auto">
              <a:xfrm>
                <a:off x="4748377" y="3905485"/>
                <a:ext cx="79571" cy="3840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50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</a:t>
                </a:r>
                <a:endParaRPr lang="en-US" altLang="zh-CN" sz="240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92" name="Rectangle 48"/>
              <p:cNvSpPr>
                <a:spLocks noChangeArrowheads="1"/>
              </p:cNvSpPr>
              <p:nvPr/>
            </p:nvSpPr>
            <p:spPr bwMode="auto">
              <a:xfrm>
                <a:off x="4248429" y="4149540"/>
                <a:ext cx="180489" cy="3840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500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=</a:t>
                </a:r>
                <a:endParaRPr lang="en-US" altLang="zh-CN" sz="2400" dirty="0">
                  <a:solidFill>
                    <a:srgbClr val="000066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4" name="Text Box 49"/>
            <p:cNvSpPr txBox="1">
              <a:spLocks noChangeArrowheads="1"/>
            </p:cNvSpPr>
            <p:nvPr/>
          </p:nvSpPr>
          <p:spPr bwMode="auto">
            <a:xfrm>
              <a:off x="3633850" y="4421040"/>
              <a:ext cx="2398815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</a:rPr>
                <a:t>R</a:t>
              </a:r>
              <a:r>
                <a:rPr lang="en-US" altLang="zh-CN" sz="2000" b="1" baseline="-25000" dirty="0">
                  <a:solidFill>
                    <a:srgbClr val="000066"/>
                  </a:solidFill>
                </a:rPr>
                <a:t>e</a:t>
              </a:r>
              <a:r>
                <a:rPr lang="zh-CN" altLang="en-US" sz="2000" dirty="0">
                  <a:solidFill>
                    <a:srgbClr val="000066"/>
                  </a:solidFill>
                  <a:latin typeface="Arial" charset="0"/>
                </a:rPr>
                <a:t>＜</a:t>
              </a:r>
              <a:r>
                <a:rPr lang="en-US" altLang="zh-CN" sz="2000" b="1" dirty="0" smtClean="0">
                  <a:solidFill>
                    <a:srgbClr val="000066"/>
                  </a:solidFill>
                </a:rPr>
                <a:t>5</a:t>
              </a:r>
              <a:r>
                <a:rPr lang="en-US" altLang="zh-CN" sz="2000" dirty="0" smtClean="0">
                  <a:solidFill>
                    <a:srgbClr val="000066"/>
                  </a:solidFill>
                </a:rPr>
                <a:t> </a:t>
              </a:r>
              <a:r>
                <a:rPr lang="zh-CN" altLang="en-US" sz="2000" b="1" dirty="0" smtClean="0">
                  <a:solidFill>
                    <a:srgbClr val="000066"/>
                  </a:solidFill>
                  <a:latin typeface="Arial" charset="0"/>
                </a:rPr>
                <a:t>层流</a:t>
              </a:r>
              <a:r>
                <a:rPr lang="zh-CN" altLang="en-US" sz="2000" dirty="0">
                  <a:solidFill>
                    <a:srgbClr val="000066"/>
                  </a:solidFill>
                  <a:latin typeface="Arial" charset="0"/>
                </a:rPr>
                <a:t/>
              </a:r>
              <a:br>
                <a:rPr lang="zh-CN" altLang="en-US" sz="2000" dirty="0">
                  <a:solidFill>
                    <a:srgbClr val="000066"/>
                  </a:solidFill>
                  <a:latin typeface="Arial" charset="0"/>
                </a:rPr>
              </a:br>
              <a:r>
                <a:rPr lang="en-US" altLang="zh-CN" sz="2000" b="1" i="1" dirty="0">
                  <a:solidFill>
                    <a:srgbClr val="000066"/>
                  </a:solidFill>
                </a:rPr>
                <a:t>R</a:t>
              </a:r>
              <a:r>
                <a:rPr lang="en-US" altLang="zh-CN" sz="2000" b="1" baseline="-25000" dirty="0">
                  <a:solidFill>
                    <a:srgbClr val="000066"/>
                  </a:solidFill>
                </a:rPr>
                <a:t>e</a:t>
              </a:r>
              <a:r>
                <a:rPr lang="zh-CN" altLang="en-US" sz="2000" b="1" i="1" dirty="0">
                  <a:solidFill>
                    <a:srgbClr val="000066"/>
                  </a:solidFill>
                </a:rPr>
                <a:t> </a:t>
              </a:r>
              <a:r>
                <a:rPr lang="zh-CN" altLang="en-US" sz="2000" dirty="0">
                  <a:solidFill>
                    <a:srgbClr val="000066"/>
                  </a:solidFill>
                  <a:latin typeface="Arial" charset="0"/>
                </a:rPr>
                <a:t>＞</a:t>
              </a:r>
              <a:r>
                <a:rPr lang="en-US" altLang="zh-CN" sz="2000" b="1" dirty="0" smtClean="0">
                  <a:solidFill>
                    <a:srgbClr val="000066"/>
                  </a:solidFill>
                </a:rPr>
                <a:t>200</a:t>
              </a:r>
              <a:r>
                <a:rPr lang="en-US" altLang="zh-CN" sz="2000" dirty="0" smtClean="0">
                  <a:solidFill>
                    <a:srgbClr val="000066"/>
                  </a:solidFill>
                </a:rPr>
                <a:t> </a:t>
              </a:r>
              <a:r>
                <a:rPr lang="zh-CN" altLang="en-US" sz="2000" b="1" dirty="0" smtClean="0">
                  <a:solidFill>
                    <a:srgbClr val="000066"/>
                  </a:solidFill>
                  <a:latin typeface="Arial" charset="0"/>
                </a:rPr>
                <a:t>紊流</a:t>
              </a:r>
              <a:r>
                <a:rPr lang="zh-CN" altLang="en-US" sz="2000" dirty="0">
                  <a:solidFill>
                    <a:srgbClr val="000066"/>
                  </a:solidFill>
                  <a:latin typeface="Arial" charset="0"/>
                </a:rPr>
                <a:t/>
              </a:r>
              <a:br>
                <a:rPr lang="zh-CN" altLang="en-US" sz="2000" dirty="0">
                  <a:solidFill>
                    <a:srgbClr val="000066"/>
                  </a:solidFill>
                  <a:latin typeface="Arial" charset="0"/>
                </a:rPr>
              </a:br>
              <a:r>
                <a:rPr lang="en-US" altLang="zh-CN" sz="2000" b="1" dirty="0">
                  <a:solidFill>
                    <a:srgbClr val="000066"/>
                  </a:solidFill>
                </a:rPr>
                <a:t>200</a:t>
              </a:r>
              <a:r>
                <a:rPr lang="zh-CN" altLang="en-US" sz="2000" dirty="0">
                  <a:solidFill>
                    <a:srgbClr val="000066"/>
                  </a:solidFill>
                </a:rPr>
                <a:t>＞</a:t>
              </a:r>
              <a:r>
                <a:rPr lang="zh-CN" altLang="en-US" sz="2000" i="1" dirty="0">
                  <a:solidFill>
                    <a:srgbClr val="000066"/>
                  </a:solidFill>
                </a:rPr>
                <a:t> </a:t>
              </a:r>
              <a:r>
                <a:rPr lang="en-US" altLang="zh-CN" sz="2000" b="1" i="1" dirty="0">
                  <a:solidFill>
                    <a:srgbClr val="000066"/>
                  </a:solidFill>
                </a:rPr>
                <a:t>R</a:t>
              </a:r>
              <a:r>
                <a:rPr lang="en-US" altLang="zh-CN" sz="2000" b="1" baseline="-25000" dirty="0">
                  <a:solidFill>
                    <a:srgbClr val="000066"/>
                  </a:solidFill>
                </a:rPr>
                <a:t>e</a:t>
              </a:r>
              <a:r>
                <a:rPr lang="zh-CN" altLang="en-US" sz="2000" dirty="0">
                  <a:solidFill>
                    <a:srgbClr val="000066"/>
                  </a:solidFill>
                </a:rPr>
                <a:t> ＞</a:t>
              </a:r>
              <a:r>
                <a:rPr lang="en-US" altLang="zh-CN" sz="2000" b="1" dirty="0" smtClean="0">
                  <a:solidFill>
                    <a:srgbClr val="000066"/>
                  </a:solidFill>
                </a:rPr>
                <a:t>5 </a:t>
              </a:r>
              <a:r>
                <a:rPr lang="zh-CN" altLang="en-US" sz="2000" b="1" dirty="0" smtClean="0">
                  <a:solidFill>
                    <a:srgbClr val="000066"/>
                  </a:solidFill>
                  <a:latin typeface="Arial" charset="0"/>
                </a:rPr>
                <a:t>过渡</a:t>
              </a:r>
              <a:r>
                <a:rPr lang="zh-CN" altLang="en-US" sz="2000" dirty="0" smtClean="0">
                  <a:solidFill>
                    <a:srgbClr val="000066"/>
                  </a:solidFill>
                  <a:latin typeface="Arial" charset="0"/>
                </a:rPr>
                <a:t> </a:t>
              </a:r>
              <a:endParaRPr lang="zh-CN" altLang="en-US" sz="2000" dirty="0">
                <a:solidFill>
                  <a:srgbClr val="000066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294335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/>
      <p:bldP spid="5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2657541" y="5738813"/>
            <a:ext cx="53260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达西定律的适用范围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65348" name="Rectangle 4"/>
          <p:cNvSpPr>
            <a:spLocks noChangeArrowheads="1"/>
          </p:cNvSpPr>
          <p:nvPr/>
        </p:nvSpPr>
        <p:spPr bwMode="auto">
          <a:xfrm>
            <a:off x="280987" y="692150"/>
            <a:ext cx="65344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达西定律的适用条件：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层流（线性流动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465349" name="Rectangle 5"/>
          <p:cNvSpPr>
            <a:spLocks noChangeArrowheads="1"/>
          </p:cNvSpPr>
          <p:nvPr/>
        </p:nvSpPr>
        <p:spPr bwMode="auto">
          <a:xfrm>
            <a:off x="606574" y="1194792"/>
            <a:ext cx="763270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</a:pP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岩土工程中，绝大多数渗流，无论是发生于砂土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或</a:t>
            </a: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一般黏土中，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均属层流</a:t>
            </a: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范围，故达西定律均可使用</a:t>
            </a:r>
            <a:endParaRPr kumimoji="1" lang="zh-CN" altLang="en-US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-1" y="0"/>
            <a:ext cx="51444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达西定律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3" name="Rectangle 24"/>
          <p:cNvSpPr>
            <a:spLocks noChangeArrowheads="1"/>
          </p:cNvSpPr>
          <p:nvPr/>
        </p:nvSpPr>
        <p:spPr bwMode="auto">
          <a:xfrm>
            <a:off x="719161" y="4116458"/>
            <a:ext cx="1890540" cy="4846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Text Box 72"/>
          <p:cNvSpPr txBox="1">
            <a:spLocks noChangeArrowheads="1"/>
          </p:cNvSpPr>
          <p:nvPr/>
        </p:nvSpPr>
        <p:spPr bwMode="auto">
          <a:xfrm>
            <a:off x="3296030" y="2280795"/>
            <a:ext cx="5598588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5125" indent="-365125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致密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的黏性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土，存在起始水力坡降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2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？</a:t>
            </a:r>
            <a:endParaRPr kumimoji="1" lang="en-US" altLang="zh-CN" sz="2200" b="1" dirty="0" smtClean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65125" indent="-365125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黏土颗粒外具有较厚的结合水膜，占据了土体孔隙的过水通道</a:t>
            </a:r>
            <a:endParaRPr kumimoji="1"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753914" y="2637382"/>
            <a:ext cx="1855787" cy="2019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45000"/>
              </a:lnSpc>
              <a:spcAft>
                <a:spcPts val="1200"/>
              </a:spcAft>
            </a:pPr>
            <a:r>
              <a:rPr kumimoji="1" lang="zh-CN" altLang="en-US" sz="2400" b="1" dirty="0">
                <a:solidFill>
                  <a:srgbClr val="A5002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个例外</a:t>
            </a:r>
            <a:endParaRPr kumimoji="1" lang="zh-CN" altLang="en-US" sz="2400" b="1" dirty="0">
              <a:solidFill>
                <a:srgbClr val="A5002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紊流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致密黏土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6" name="AutoShape 71"/>
          <p:cNvSpPr>
            <a:spLocks noChangeArrowheads="1"/>
          </p:cNvSpPr>
          <p:nvPr/>
        </p:nvSpPr>
        <p:spPr bwMode="auto">
          <a:xfrm>
            <a:off x="2769196" y="4149117"/>
            <a:ext cx="400050" cy="430213"/>
          </a:xfrm>
          <a:prstGeom prst="homePlate">
            <a:avLst>
              <a:gd name="adj" fmla="val 2500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Rectangle 97"/>
          <p:cNvSpPr>
            <a:spLocks noChangeArrowheads="1"/>
          </p:cNvSpPr>
          <p:nvPr/>
        </p:nvSpPr>
        <p:spPr bwMode="auto">
          <a:xfrm>
            <a:off x="729721" y="2519155"/>
            <a:ext cx="1879980" cy="2592000"/>
          </a:xfrm>
          <a:prstGeom prst="rect">
            <a:avLst/>
          </a:prstGeom>
          <a:noFill/>
          <a:ln w="38100" cmpd="dbl" algn="ctr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6662530" y="3845492"/>
            <a:ext cx="1901825" cy="1511300"/>
            <a:chOff x="3863925" y="3916800"/>
            <a:chExt cx="1901825" cy="1511300"/>
          </a:xfrm>
        </p:grpSpPr>
        <p:sp>
          <p:nvSpPr>
            <p:cNvPr id="50" name="Freeform 34"/>
            <p:cNvSpPr>
              <a:spLocks noChangeAspect="1"/>
            </p:cNvSpPr>
            <p:nvPr/>
          </p:nvSpPr>
          <p:spPr bwMode="auto">
            <a:xfrm>
              <a:off x="3863925" y="3916800"/>
              <a:ext cx="935038" cy="1508125"/>
            </a:xfrm>
            <a:custGeom>
              <a:avLst/>
              <a:gdLst>
                <a:gd name="T0" fmla="*/ 673 w 748"/>
                <a:gd name="T1" fmla="*/ 193 h 1293"/>
                <a:gd name="T2" fmla="*/ 746 w 748"/>
                <a:gd name="T3" fmla="*/ 721 h 1293"/>
                <a:gd name="T4" fmla="*/ 660 w 748"/>
                <a:gd name="T5" fmla="*/ 1075 h 1293"/>
                <a:gd name="T6" fmla="*/ 471 w 748"/>
                <a:gd name="T7" fmla="*/ 1261 h 1293"/>
                <a:gd name="T8" fmla="*/ 131 w 748"/>
                <a:gd name="T9" fmla="*/ 1180 h 1293"/>
                <a:gd name="T10" fmla="*/ 2 w 748"/>
                <a:gd name="T11" fmla="*/ 583 h 1293"/>
                <a:gd name="T12" fmla="*/ 113 w 748"/>
                <a:gd name="T13" fmla="*/ 156 h 1293"/>
                <a:gd name="T14" fmla="*/ 448 w 748"/>
                <a:gd name="T15" fmla="*/ 7 h 1293"/>
                <a:gd name="T16" fmla="*/ 673 w 748"/>
                <a:gd name="T17" fmla="*/ 193 h 12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8"/>
                <a:gd name="T28" fmla="*/ 0 h 1293"/>
                <a:gd name="T29" fmla="*/ 748 w 748"/>
                <a:gd name="T30" fmla="*/ 1293 h 129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8" h="1293">
                  <a:moveTo>
                    <a:pt x="673" y="193"/>
                  </a:moveTo>
                  <a:cubicBezTo>
                    <a:pt x="726" y="289"/>
                    <a:pt x="748" y="574"/>
                    <a:pt x="746" y="721"/>
                  </a:cubicBezTo>
                  <a:cubicBezTo>
                    <a:pt x="744" y="868"/>
                    <a:pt x="706" y="985"/>
                    <a:pt x="660" y="1075"/>
                  </a:cubicBezTo>
                  <a:cubicBezTo>
                    <a:pt x="614" y="1165"/>
                    <a:pt x="559" y="1244"/>
                    <a:pt x="471" y="1261"/>
                  </a:cubicBezTo>
                  <a:cubicBezTo>
                    <a:pt x="383" y="1278"/>
                    <a:pt x="209" y="1293"/>
                    <a:pt x="131" y="1180"/>
                  </a:cubicBezTo>
                  <a:cubicBezTo>
                    <a:pt x="53" y="1067"/>
                    <a:pt x="5" y="753"/>
                    <a:pt x="2" y="583"/>
                  </a:cubicBezTo>
                  <a:cubicBezTo>
                    <a:pt x="0" y="413"/>
                    <a:pt x="39" y="252"/>
                    <a:pt x="113" y="156"/>
                  </a:cubicBezTo>
                  <a:cubicBezTo>
                    <a:pt x="186" y="60"/>
                    <a:pt x="354" y="0"/>
                    <a:pt x="448" y="7"/>
                  </a:cubicBezTo>
                  <a:cubicBezTo>
                    <a:pt x="542" y="14"/>
                    <a:pt x="627" y="154"/>
                    <a:pt x="673" y="193"/>
                  </a:cubicBezTo>
                  <a:close/>
                </a:path>
              </a:pathLst>
            </a:custGeom>
            <a:solidFill>
              <a:srgbClr val="6699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Freeform 35" descr="沙滩"/>
            <p:cNvSpPr>
              <a:spLocks/>
            </p:cNvSpPr>
            <p:nvPr/>
          </p:nvSpPr>
          <p:spPr bwMode="auto">
            <a:xfrm>
              <a:off x="4003625" y="4145400"/>
              <a:ext cx="679450" cy="1057275"/>
            </a:xfrm>
            <a:custGeom>
              <a:avLst/>
              <a:gdLst>
                <a:gd name="T0" fmla="*/ 293 w 334"/>
                <a:gd name="T1" fmla="*/ 84 h 559"/>
                <a:gd name="T2" fmla="*/ 325 w 334"/>
                <a:gd name="T3" fmla="*/ 314 h 559"/>
                <a:gd name="T4" fmla="*/ 236 w 334"/>
                <a:gd name="T5" fmla="*/ 522 h 559"/>
                <a:gd name="T6" fmla="*/ 57 w 334"/>
                <a:gd name="T7" fmla="*/ 514 h 559"/>
                <a:gd name="T8" fmla="*/ 1 w 334"/>
                <a:gd name="T9" fmla="*/ 254 h 559"/>
                <a:gd name="T10" fmla="*/ 49 w 334"/>
                <a:gd name="T11" fmla="*/ 68 h 559"/>
                <a:gd name="T12" fmla="*/ 195 w 334"/>
                <a:gd name="T13" fmla="*/ 3 h 559"/>
                <a:gd name="T14" fmla="*/ 293 w 334"/>
                <a:gd name="T15" fmla="*/ 84 h 5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34"/>
                <a:gd name="T25" fmla="*/ 0 h 559"/>
                <a:gd name="T26" fmla="*/ 334 w 334"/>
                <a:gd name="T27" fmla="*/ 559 h 5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34" h="559">
                  <a:moveTo>
                    <a:pt x="293" y="84"/>
                  </a:moveTo>
                  <a:cubicBezTo>
                    <a:pt x="316" y="126"/>
                    <a:pt x="334" y="241"/>
                    <a:pt x="325" y="314"/>
                  </a:cubicBezTo>
                  <a:cubicBezTo>
                    <a:pt x="316" y="387"/>
                    <a:pt x="281" y="489"/>
                    <a:pt x="236" y="522"/>
                  </a:cubicBezTo>
                  <a:cubicBezTo>
                    <a:pt x="191" y="555"/>
                    <a:pt x="96" y="559"/>
                    <a:pt x="57" y="514"/>
                  </a:cubicBezTo>
                  <a:cubicBezTo>
                    <a:pt x="18" y="469"/>
                    <a:pt x="2" y="328"/>
                    <a:pt x="1" y="254"/>
                  </a:cubicBezTo>
                  <a:cubicBezTo>
                    <a:pt x="0" y="180"/>
                    <a:pt x="17" y="110"/>
                    <a:pt x="49" y="68"/>
                  </a:cubicBezTo>
                  <a:cubicBezTo>
                    <a:pt x="81" y="26"/>
                    <a:pt x="154" y="0"/>
                    <a:pt x="195" y="3"/>
                  </a:cubicBezTo>
                  <a:cubicBezTo>
                    <a:pt x="236" y="6"/>
                    <a:pt x="273" y="67"/>
                    <a:pt x="293" y="84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Freeform 36"/>
            <p:cNvSpPr>
              <a:spLocks noChangeAspect="1"/>
            </p:cNvSpPr>
            <p:nvPr/>
          </p:nvSpPr>
          <p:spPr bwMode="auto">
            <a:xfrm>
              <a:off x="4805313" y="3950138"/>
              <a:ext cx="960437" cy="1477962"/>
            </a:xfrm>
            <a:custGeom>
              <a:avLst/>
              <a:gdLst>
                <a:gd name="T0" fmla="*/ 676 w 769"/>
                <a:gd name="T1" fmla="*/ 191 h 1266"/>
                <a:gd name="T2" fmla="*/ 749 w 769"/>
                <a:gd name="T3" fmla="*/ 713 h 1266"/>
                <a:gd name="T4" fmla="*/ 546 w 769"/>
                <a:gd name="T5" fmla="*/ 1186 h 1266"/>
                <a:gd name="T6" fmla="*/ 219 w 769"/>
                <a:gd name="T7" fmla="*/ 1196 h 1266"/>
                <a:gd name="T8" fmla="*/ 48 w 769"/>
                <a:gd name="T9" fmla="*/ 938 h 1266"/>
                <a:gd name="T10" fmla="*/ 12 w 769"/>
                <a:gd name="T11" fmla="*/ 577 h 1266"/>
                <a:gd name="T12" fmla="*/ 121 w 769"/>
                <a:gd name="T13" fmla="*/ 154 h 1266"/>
                <a:gd name="T14" fmla="*/ 453 w 769"/>
                <a:gd name="T15" fmla="*/ 7 h 1266"/>
                <a:gd name="T16" fmla="*/ 676 w 769"/>
                <a:gd name="T17" fmla="*/ 191 h 12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9"/>
                <a:gd name="T28" fmla="*/ 0 h 1266"/>
                <a:gd name="T29" fmla="*/ 769 w 769"/>
                <a:gd name="T30" fmla="*/ 1266 h 126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9" h="1266">
                  <a:moveTo>
                    <a:pt x="676" y="191"/>
                  </a:moveTo>
                  <a:cubicBezTo>
                    <a:pt x="728" y="286"/>
                    <a:pt x="769" y="548"/>
                    <a:pt x="749" y="713"/>
                  </a:cubicBezTo>
                  <a:cubicBezTo>
                    <a:pt x="728" y="879"/>
                    <a:pt x="634" y="1106"/>
                    <a:pt x="546" y="1186"/>
                  </a:cubicBezTo>
                  <a:cubicBezTo>
                    <a:pt x="458" y="1266"/>
                    <a:pt x="302" y="1237"/>
                    <a:pt x="219" y="1196"/>
                  </a:cubicBezTo>
                  <a:cubicBezTo>
                    <a:pt x="136" y="1155"/>
                    <a:pt x="82" y="1041"/>
                    <a:pt x="48" y="938"/>
                  </a:cubicBezTo>
                  <a:cubicBezTo>
                    <a:pt x="14" y="835"/>
                    <a:pt x="0" y="708"/>
                    <a:pt x="12" y="577"/>
                  </a:cubicBezTo>
                  <a:cubicBezTo>
                    <a:pt x="24" y="446"/>
                    <a:pt x="49" y="250"/>
                    <a:pt x="121" y="154"/>
                  </a:cubicBezTo>
                  <a:cubicBezTo>
                    <a:pt x="194" y="59"/>
                    <a:pt x="360" y="0"/>
                    <a:pt x="453" y="7"/>
                  </a:cubicBezTo>
                  <a:cubicBezTo>
                    <a:pt x="546" y="14"/>
                    <a:pt x="630" y="152"/>
                    <a:pt x="676" y="191"/>
                  </a:cubicBezTo>
                  <a:close/>
                </a:path>
              </a:pathLst>
            </a:custGeom>
            <a:solidFill>
              <a:srgbClr val="6699FF"/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Freeform 37" descr="沙滩"/>
            <p:cNvSpPr>
              <a:spLocks/>
            </p:cNvSpPr>
            <p:nvPr/>
          </p:nvSpPr>
          <p:spPr bwMode="auto">
            <a:xfrm>
              <a:off x="4929138" y="4210488"/>
              <a:ext cx="738187" cy="1003300"/>
            </a:xfrm>
            <a:custGeom>
              <a:avLst/>
              <a:gdLst>
                <a:gd name="T0" fmla="*/ 293 w 334"/>
                <a:gd name="T1" fmla="*/ 84 h 559"/>
                <a:gd name="T2" fmla="*/ 325 w 334"/>
                <a:gd name="T3" fmla="*/ 314 h 559"/>
                <a:gd name="T4" fmla="*/ 236 w 334"/>
                <a:gd name="T5" fmla="*/ 522 h 559"/>
                <a:gd name="T6" fmla="*/ 57 w 334"/>
                <a:gd name="T7" fmla="*/ 514 h 559"/>
                <a:gd name="T8" fmla="*/ 1 w 334"/>
                <a:gd name="T9" fmla="*/ 254 h 559"/>
                <a:gd name="T10" fmla="*/ 49 w 334"/>
                <a:gd name="T11" fmla="*/ 68 h 559"/>
                <a:gd name="T12" fmla="*/ 195 w 334"/>
                <a:gd name="T13" fmla="*/ 3 h 559"/>
                <a:gd name="T14" fmla="*/ 293 w 334"/>
                <a:gd name="T15" fmla="*/ 84 h 5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34"/>
                <a:gd name="T25" fmla="*/ 0 h 559"/>
                <a:gd name="T26" fmla="*/ 334 w 334"/>
                <a:gd name="T27" fmla="*/ 559 h 5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34" h="559">
                  <a:moveTo>
                    <a:pt x="293" y="84"/>
                  </a:moveTo>
                  <a:cubicBezTo>
                    <a:pt x="316" y="126"/>
                    <a:pt x="334" y="241"/>
                    <a:pt x="325" y="314"/>
                  </a:cubicBezTo>
                  <a:cubicBezTo>
                    <a:pt x="316" y="387"/>
                    <a:pt x="281" y="489"/>
                    <a:pt x="236" y="522"/>
                  </a:cubicBezTo>
                  <a:cubicBezTo>
                    <a:pt x="191" y="555"/>
                    <a:pt x="96" y="559"/>
                    <a:pt x="57" y="514"/>
                  </a:cubicBezTo>
                  <a:cubicBezTo>
                    <a:pt x="18" y="469"/>
                    <a:pt x="2" y="328"/>
                    <a:pt x="1" y="254"/>
                  </a:cubicBezTo>
                  <a:cubicBezTo>
                    <a:pt x="0" y="180"/>
                    <a:pt x="17" y="110"/>
                    <a:pt x="49" y="68"/>
                  </a:cubicBezTo>
                  <a:cubicBezTo>
                    <a:pt x="81" y="26"/>
                    <a:pt x="154" y="0"/>
                    <a:pt x="195" y="3"/>
                  </a:cubicBezTo>
                  <a:cubicBezTo>
                    <a:pt x="236" y="6"/>
                    <a:pt x="273" y="67"/>
                    <a:pt x="293" y="84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1" name="Freeform 38"/>
          <p:cNvSpPr>
            <a:spLocks/>
          </p:cNvSpPr>
          <p:nvPr/>
        </p:nvSpPr>
        <p:spPr bwMode="auto">
          <a:xfrm>
            <a:off x="7621380" y="3899467"/>
            <a:ext cx="4763" cy="1398588"/>
          </a:xfrm>
          <a:custGeom>
            <a:avLst/>
            <a:gdLst>
              <a:gd name="T0" fmla="*/ 0 w 4"/>
              <a:gd name="T1" fmla="*/ 1199 h 1199"/>
              <a:gd name="T2" fmla="*/ 4 w 4"/>
              <a:gd name="T3" fmla="*/ 0 h 1199"/>
              <a:gd name="T4" fmla="*/ 0 60000 65536"/>
              <a:gd name="T5" fmla="*/ 0 60000 65536"/>
              <a:gd name="T6" fmla="*/ 0 w 4"/>
              <a:gd name="T7" fmla="*/ 0 h 1199"/>
              <a:gd name="T8" fmla="*/ 4 w 4"/>
              <a:gd name="T9" fmla="*/ 1199 h 11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1199">
                <a:moveTo>
                  <a:pt x="0" y="1199"/>
                </a:moveTo>
                <a:lnTo>
                  <a:pt x="4" y="0"/>
                </a:lnTo>
              </a:path>
            </a:pathLst>
          </a:custGeom>
          <a:noFill/>
          <a:ln w="152400">
            <a:solidFill>
              <a:srgbClr val="00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548228" y="3511957"/>
            <a:ext cx="2712857" cy="2288878"/>
            <a:chOff x="6265350" y="3448575"/>
            <a:chExt cx="2712857" cy="2288878"/>
          </a:xfrm>
        </p:grpSpPr>
        <p:grpSp>
          <p:nvGrpSpPr>
            <p:cNvPr id="37" name="Group 7"/>
            <p:cNvGrpSpPr>
              <a:grpSpLocks/>
            </p:cNvGrpSpPr>
            <p:nvPr/>
          </p:nvGrpSpPr>
          <p:grpSpPr bwMode="auto">
            <a:xfrm>
              <a:off x="6589150" y="3605738"/>
              <a:ext cx="1819275" cy="1579563"/>
              <a:chOff x="3974" y="2876"/>
              <a:chExt cx="1146" cy="995"/>
            </a:xfrm>
          </p:grpSpPr>
          <p:sp>
            <p:nvSpPr>
              <p:cNvPr id="47" name="Freeform 8"/>
              <p:cNvSpPr>
                <a:spLocks/>
              </p:cNvSpPr>
              <p:nvPr/>
            </p:nvSpPr>
            <p:spPr bwMode="auto">
              <a:xfrm>
                <a:off x="3974" y="3870"/>
                <a:ext cx="1146" cy="1"/>
              </a:xfrm>
              <a:custGeom>
                <a:avLst/>
                <a:gdLst>
                  <a:gd name="T0" fmla="*/ 0 w 1146"/>
                  <a:gd name="T1" fmla="*/ 0 h 1"/>
                  <a:gd name="T2" fmla="*/ 1146 w 1146"/>
                  <a:gd name="T3" fmla="*/ 0 h 1"/>
                  <a:gd name="T4" fmla="*/ 0 60000 65536"/>
                  <a:gd name="T5" fmla="*/ 0 60000 65536"/>
                  <a:gd name="T6" fmla="*/ 0 w 1146"/>
                  <a:gd name="T7" fmla="*/ 0 h 1"/>
                  <a:gd name="T8" fmla="*/ 1146 w 114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46" h="1">
                    <a:moveTo>
                      <a:pt x="0" y="0"/>
                    </a:moveTo>
                    <a:lnTo>
                      <a:pt x="1146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9"/>
              <p:cNvSpPr>
                <a:spLocks/>
              </p:cNvSpPr>
              <p:nvPr/>
            </p:nvSpPr>
            <p:spPr bwMode="auto">
              <a:xfrm>
                <a:off x="3974" y="2876"/>
                <a:ext cx="1" cy="994"/>
              </a:xfrm>
              <a:custGeom>
                <a:avLst/>
                <a:gdLst>
                  <a:gd name="T0" fmla="*/ 0 w 1"/>
                  <a:gd name="T1" fmla="*/ 994 h 994"/>
                  <a:gd name="T2" fmla="*/ 0 w 1"/>
                  <a:gd name="T3" fmla="*/ 0 h 994"/>
                  <a:gd name="T4" fmla="*/ 0 60000 65536"/>
                  <a:gd name="T5" fmla="*/ 0 60000 65536"/>
                  <a:gd name="T6" fmla="*/ 0 w 1"/>
                  <a:gd name="T7" fmla="*/ 0 h 994"/>
                  <a:gd name="T8" fmla="*/ 1 w 1"/>
                  <a:gd name="T9" fmla="*/ 994 h 99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94">
                    <a:moveTo>
                      <a:pt x="0" y="994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8" name="Text Box 10"/>
            <p:cNvSpPr txBox="1">
              <a:spLocks noChangeArrowheads="1"/>
            </p:cNvSpPr>
            <p:nvPr/>
          </p:nvSpPr>
          <p:spPr bwMode="auto">
            <a:xfrm>
              <a:off x="8244913" y="5177363"/>
              <a:ext cx="841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i</a:t>
              </a:r>
              <a:endPara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9" name="Text Box 11"/>
            <p:cNvSpPr txBox="1">
              <a:spLocks noChangeArrowheads="1"/>
            </p:cNvSpPr>
            <p:nvPr/>
          </p:nvSpPr>
          <p:spPr bwMode="auto">
            <a:xfrm>
              <a:off x="6320203" y="3448575"/>
              <a:ext cx="1362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0" name="Text Box 12"/>
            <p:cNvSpPr txBox="1">
              <a:spLocks noChangeArrowheads="1"/>
            </p:cNvSpPr>
            <p:nvPr/>
          </p:nvSpPr>
          <p:spPr bwMode="auto">
            <a:xfrm>
              <a:off x="6265350" y="4913838"/>
              <a:ext cx="1538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1" name="Text Box 13"/>
            <p:cNvSpPr txBox="1">
              <a:spLocks noChangeArrowheads="1"/>
            </p:cNvSpPr>
            <p:nvPr/>
          </p:nvSpPr>
          <p:spPr bwMode="auto">
            <a:xfrm>
              <a:off x="6698574" y="5275788"/>
              <a:ext cx="18755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" name="Freeform 14"/>
            <p:cNvSpPr>
              <a:spLocks/>
            </p:cNvSpPr>
            <p:nvPr/>
          </p:nvSpPr>
          <p:spPr bwMode="auto">
            <a:xfrm>
              <a:off x="6936813" y="3621613"/>
              <a:ext cx="1265238" cy="1562100"/>
            </a:xfrm>
            <a:custGeom>
              <a:avLst/>
              <a:gdLst>
                <a:gd name="T0" fmla="*/ 0 w 797"/>
                <a:gd name="T1" fmla="*/ 984 h 984"/>
                <a:gd name="T2" fmla="*/ 797 w 797"/>
                <a:gd name="T3" fmla="*/ 0 h 984"/>
                <a:gd name="T4" fmla="*/ 0 60000 65536"/>
                <a:gd name="T5" fmla="*/ 0 60000 65536"/>
                <a:gd name="T6" fmla="*/ 0 w 797"/>
                <a:gd name="T7" fmla="*/ 0 h 984"/>
                <a:gd name="T8" fmla="*/ 797 w 797"/>
                <a:gd name="T9" fmla="*/ 984 h 9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97" h="984">
                  <a:moveTo>
                    <a:pt x="0" y="984"/>
                  </a:moveTo>
                  <a:lnTo>
                    <a:pt x="797" y="0"/>
                  </a:lnTo>
                </a:path>
              </a:pathLst>
            </a:custGeom>
            <a:noFill/>
            <a:ln w="28575">
              <a:solidFill>
                <a:srgbClr val="9900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Freeform 15"/>
            <p:cNvSpPr>
              <a:spLocks/>
            </p:cNvSpPr>
            <p:nvPr/>
          </p:nvSpPr>
          <p:spPr bwMode="auto">
            <a:xfrm>
              <a:off x="6801875" y="3751788"/>
              <a:ext cx="1282700" cy="1431925"/>
            </a:xfrm>
            <a:custGeom>
              <a:avLst/>
              <a:gdLst>
                <a:gd name="T0" fmla="*/ 0 w 808"/>
                <a:gd name="T1" fmla="*/ 902 h 902"/>
                <a:gd name="T2" fmla="*/ 106 w 808"/>
                <a:gd name="T3" fmla="*/ 824 h 902"/>
                <a:gd name="T4" fmla="*/ 270 w 808"/>
                <a:gd name="T5" fmla="*/ 682 h 902"/>
                <a:gd name="T6" fmla="*/ 394 w 808"/>
                <a:gd name="T7" fmla="*/ 552 h 902"/>
                <a:gd name="T8" fmla="*/ 496 w 808"/>
                <a:gd name="T9" fmla="*/ 434 h 902"/>
                <a:gd name="T10" fmla="*/ 582 w 808"/>
                <a:gd name="T11" fmla="*/ 322 h 902"/>
                <a:gd name="T12" fmla="*/ 670 w 808"/>
                <a:gd name="T13" fmla="*/ 204 h 902"/>
                <a:gd name="T14" fmla="*/ 728 w 808"/>
                <a:gd name="T15" fmla="*/ 116 h 902"/>
                <a:gd name="T16" fmla="*/ 808 w 808"/>
                <a:gd name="T17" fmla="*/ 0 h 9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08"/>
                <a:gd name="T28" fmla="*/ 0 h 902"/>
                <a:gd name="T29" fmla="*/ 808 w 808"/>
                <a:gd name="T30" fmla="*/ 902 h 90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08" h="902">
                  <a:moveTo>
                    <a:pt x="0" y="902"/>
                  </a:moveTo>
                  <a:cubicBezTo>
                    <a:pt x="18" y="889"/>
                    <a:pt x="61" y="861"/>
                    <a:pt x="106" y="824"/>
                  </a:cubicBezTo>
                  <a:cubicBezTo>
                    <a:pt x="151" y="787"/>
                    <a:pt x="222" y="727"/>
                    <a:pt x="270" y="682"/>
                  </a:cubicBezTo>
                  <a:cubicBezTo>
                    <a:pt x="318" y="637"/>
                    <a:pt x="356" y="593"/>
                    <a:pt x="394" y="552"/>
                  </a:cubicBezTo>
                  <a:cubicBezTo>
                    <a:pt x="432" y="511"/>
                    <a:pt x="465" y="472"/>
                    <a:pt x="496" y="434"/>
                  </a:cubicBezTo>
                  <a:cubicBezTo>
                    <a:pt x="527" y="396"/>
                    <a:pt x="553" y="360"/>
                    <a:pt x="582" y="322"/>
                  </a:cubicBezTo>
                  <a:cubicBezTo>
                    <a:pt x="611" y="284"/>
                    <a:pt x="646" y="238"/>
                    <a:pt x="670" y="204"/>
                  </a:cubicBezTo>
                  <a:cubicBezTo>
                    <a:pt x="694" y="170"/>
                    <a:pt x="705" y="150"/>
                    <a:pt x="728" y="116"/>
                  </a:cubicBezTo>
                  <a:cubicBezTo>
                    <a:pt x="751" y="82"/>
                    <a:pt x="791" y="24"/>
                    <a:pt x="808" y="0"/>
                  </a:cubicBezTo>
                </a:path>
              </a:pathLst>
            </a:cu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16"/>
            <p:cNvSpPr>
              <a:spLocks noChangeShapeType="1"/>
            </p:cNvSpPr>
            <p:nvPr/>
          </p:nvSpPr>
          <p:spPr bwMode="auto">
            <a:xfrm>
              <a:off x="6581213" y="5277375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17"/>
            <p:cNvSpPr>
              <a:spLocks noChangeShapeType="1"/>
            </p:cNvSpPr>
            <p:nvPr/>
          </p:nvSpPr>
          <p:spPr bwMode="auto">
            <a:xfrm>
              <a:off x="6939988" y="5283725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18"/>
            <p:cNvSpPr>
              <a:spLocks noChangeShapeType="1"/>
            </p:cNvSpPr>
            <p:nvPr/>
          </p:nvSpPr>
          <p:spPr bwMode="auto">
            <a:xfrm>
              <a:off x="6581213" y="5332938"/>
              <a:ext cx="3587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Text Box 39"/>
            <p:cNvSpPr txBox="1">
              <a:spLocks noChangeArrowheads="1"/>
            </p:cNvSpPr>
            <p:nvPr/>
          </p:nvSpPr>
          <p:spPr bwMode="auto">
            <a:xfrm>
              <a:off x="7405341" y="4523423"/>
              <a:ext cx="15728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 smtClean="0">
                  <a:solidFill>
                    <a:srgbClr val="000066"/>
                  </a:solidFill>
                  <a:ea typeface="幼圆" pitchFamily="49" charset="-122"/>
                </a:rPr>
                <a:t>v</a:t>
              </a: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</a:rPr>
                <a:t>=</a:t>
              </a:r>
              <a:r>
                <a:rPr kumimoji="1" lang="en-US" altLang="zh-CN" sz="2400" b="1" i="1" dirty="0" smtClean="0">
                  <a:solidFill>
                    <a:srgbClr val="000066"/>
                  </a:solidFill>
                  <a:ea typeface="幼圆" pitchFamily="49" charset="-122"/>
                </a:rPr>
                <a:t>k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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(</a:t>
              </a:r>
              <a:r>
                <a:rPr kumimoji="1" lang="en-US" altLang="zh-CN" sz="2400" b="1" i="1" dirty="0" err="1">
                  <a:solidFill>
                    <a:srgbClr val="000066"/>
                  </a:solidFill>
                  <a:ea typeface="幼圆" pitchFamily="49" charset="-122"/>
                </a:rPr>
                <a:t>i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 - </a:t>
              </a: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</a:rPr>
                <a:t>i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</a:rPr>
                <a:t>0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 )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188229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/>
      <p:bldP spid="56" grpId="0" animBg="1"/>
      <p:bldP spid="6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2836863" y="5764213"/>
            <a:ext cx="51831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渗透系数的测定方法 </a:t>
            </a:r>
          </a:p>
        </p:txBody>
      </p:sp>
      <p:sp>
        <p:nvSpPr>
          <p:cNvPr id="1467395" name="Text Box 3"/>
          <p:cNvSpPr txBox="1">
            <a:spLocks noChangeArrowheads="1"/>
          </p:cNvSpPr>
          <p:nvPr/>
        </p:nvSpPr>
        <p:spPr bwMode="auto">
          <a:xfrm>
            <a:off x="4970463" y="1509713"/>
            <a:ext cx="2395537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常水头试验法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 变水头试验法</a:t>
            </a:r>
          </a:p>
        </p:txBody>
      </p:sp>
      <p:sp>
        <p:nvSpPr>
          <p:cNvPr id="1467396" name="Text Box 4"/>
          <p:cNvSpPr txBox="1">
            <a:spLocks noChangeArrowheads="1"/>
          </p:cNvSpPr>
          <p:nvPr/>
        </p:nvSpPr>
        <p:spPr bwMode="auto">
          <a:xfrm>
            <a:off x="4959350" y="2941638"/>
            <a:ext cx="2425700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井孔抽水试验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 井孔注水试验</a:t>
            </a:r>
          </a:p>
        </p:txBody>
      </p:sp>
      <p:sp>
        <p:nvSpPr>
          <p:cNvPr id="1467397" name="AutoShape 5"/>
          <p:cNvSpPr>
            <a:spLocks/>
          </p:cNvSpPr>
          <p:nvPr/>
        </p:nvSpPr>
        <p:spPr bwMode="auto">
          <a:xfrm>
            <a:off x="4556125" y="1917700"/>
            <a:ext cx="223838" cy="796925"/>
          </a:xfrm>
          <a:prstGeom prst="leftBrace">
            <a:avLst>
              <a:gd name="adj1" fmla="val 29669"/>
              <a:gd name="adj2" fmla="val 50000"/>
            </a:avLst>
          </a:prstGeom>
          <a:noFill/>
          <a:ln w="2857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67399" name="Text Box 7"/>
          <p:cNvSpPr txBox="1">
            <a:spLocks noChangeArrowheads="1"/>
          </p:cNvSpPr>
          <p:nvPr/>
        </p:nvSpPr>
        <p:spPr bwMode="auto">
          <a:xfrm>
            <a:off x="1225550" y="2082800"/>
            <a:ext cx="29384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 室内试验方法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F"/>
            </a:pP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F"/>
            </a:pP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 野外试验方法</a:t>
            </a:r>
          </a:p>
        </p:txBody>
      </p:sp>
      <p:sp>
        <p:nvSpPr>
          <p:cNvPr id="1467400" name="AutoShape 8"/>
          <p:cNvSpPr>
            <a:spLocks/>
          </p:cNvSpPr>
          <p:nvPr/>
        </p:nvSpPr>
        <p:spPr bwMode="auto">
          <a:xfrm>
            <a:off x="4586288" y="3309938"/>
            <a:ext cx="223837" cy="796925"/>
          </a:xfrm>
          <a:prstGeom prst="leftBrace">
            <a:avLst>
              <a:gd name="adj1" fmla="val 29669"/>
              <a:gd name="adj2" fmla="val 50000"/>
            </a:avLst>
          </a:prstGeom>
          <a:noFill/>
          <a:ln w="2857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1" y="0"/>
            <a:ext cx="5619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渗透系数测定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06923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1951038" y="5673078"/>
            <a:ext cx="65547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室内试验方法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常水头试验法</a:t>
            </a:r>
          </a:p>
        </p:txBody>
      </p:sp>
      <p:sp>
        <p:nvSpPr>
          <p:cNvPr id="1468419" name="Rectangle 3"/>
          <p:cNvSpPr>
            <a:spLocks noChangeArrowheads="1"/>
          </p:cNvSpPr>
          <p:nvPr/>
        </p:nvSpPr>
        <p:spPr bwMode="auto">
          <a:xfrm>
            <a:off x="238125" y="996950"/>
            <a:ext cx="4725988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试验条件</a:t>
            </a:r>
            <a:r>
              <a:rPr kumimoji="1"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Δ</a:t>
            </a:r>
            <a:r>
              <a:rPr kumimoji="1" lang="en-US" altLang="zh-CN" sz="24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h</a:t>
            </a:r>
            <a:r>
              <a:rPr kumimoji="1" lang="zh-CN" altLang="en-US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A</a:t>
            </a:r>
            <a:r>
              <a:rPr kumimoji="1" lang="zh-CN" altLang="en-US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L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=</a:t>
            </a:r>
            <a:r>
              <a:rPr kumimoji="1" lang="en-US" altLang="zh-CN" sz="24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const</a:t>
            </a:r>
            <a:endParaRPr kumimoji="1" lang="en-US" altLang="zh-CN" sz="2400" b="1" dirty="0">
              <a:solidFill>
                <a:srgbClr val="000066"/>
              </a:solidFill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量测变量</a:t>
            </a:r>
            <a:r>
              <a:rPr kumimoji="1"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体积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468420" name="Text Box 4"/>
          <p:cNvSpPr txBox="1">
            <a:spLocks noChangeArrowheads="1"/>
          </p:cNvSpPr>
          <p:nvPr/>
        </p:nvSpPr>
        <p:spPr bwMode="auto">
          <a:xfrm>
            <a:off x="336550" y="4583113"/>
            <a:ext cx="4611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 适用土类：</a:t>
            </a: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透水性较大</a:t>
            </a:r>
            <a:r>
              <a:rPr lang="zh-CN" altLang="en-US" sz="2400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的粗粒土</a:t>
            </a:r>
            <a:endParaRPr lang="zh-CN" altLang="en-US" sz="2400" b="1" dirty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76263" y="2516189"/>
            <a:ext cx="2378076" cy="1595438"/>
            <a:chOff x="363" y="1585"/>
            <a:chExt cx="1498" cy="1005"/>
          </a:xfrm>
        </p:grpSpPr>
        <p:sp>
          <p:nvSpPr>
            <p:cNvPr id="8280" name="Rectangle 7"/>
            <p:cNvSpPr>
              <a:spLocks noChangeArrowheads="1"/>
            </p:cNvSpPr>
            <p:nvPr/>
          </p:nvSpPr>
          <p:spPr bwMode="auto">
            <a:xfrm>
              <a:off x="432" y="2357"/>
              <a:ext cx="69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 cap="rnd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en-US" altLang="zh-CN" sz="2400" b="1" i="1" dirty="0" err="1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1" i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dirty="0" err="1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Δ</a:t>
              </a:r>
              <a:r>
                <a:rPr kumimoji="1" lang="en-US" altLang="zh-CN" sz="2400" b="1" i="1" dirty="0" err="1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kumimoji="1" lang="en-US" altLang="zh-CN" sz="2400" b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/</a:t>
              </a:r>
              <a:r>
                <a:rPr kumimoji="1" lang="en-US" altLang="zh-CN" sz="2400" b="1" i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L</a:t>
              </a:r>
              <a:endParaRPr kumimoji="1" lang="zh-CN" altLang="en-US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281" name="Text Box 8"/>
            <p:cNvSpPr txBox="1">
              <a:spLocks noChangeArrowheads="1"/>
            </p:cNvSpPr>
            <p:nvPr/>
          </p:nvSpPr>
          <p:spPr bwMode="auto">
            <a:xfrm>
              <a:off x="363" y="1585"/>
              <a:ext cx="10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V </a:t>
              </a:r>
              <a:r>
                <a:rPr lang="en-US" altLang="zh-CN" sz="2400" b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= </a:t>
              </a:r>
              <a:r>
                <a:rPr lang="en-US" altLang="zh-CN" sz="2400" b="1" i="1" dirty="0" err="1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Qt</a:t>
              </a:r>
              <a:r>
                <a:rPr lang="en-US" altLang="zh-CN" sz="2400" b="1" i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= </a:t>
              </a:r>
              <a:r>
                <a:rPr lang="en-US" altLang="zh-CN" sz="2400" b="1" i="1" dirty="0" err="1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vAt</a:t>
              </a:r>
              <a:endPara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282" name="Text Box 9"/>
            <p:cNvSpPr txBox="1">
              <a:spLocks noChangeArrowheads="1"/>
            </p:cNvSpPr>
            <p:nvPr/>
          </p:nvSpPr>
          <p:spPr bwMode="auto">
            <a:xfrm>
              <a:off x="530" y="1948"/>
              <a:ext cx="44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v </a:t>
              </a:r>
              <a:r>
                <a:rPr lang="en-US" altLang="zh-CN" sz="2400" b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= </a:t>
              </a:r>
              <a:r>
                <a:rPr lang="en-US" altLang="zh-CN" sz="2400" b="1" i="1" dirty="0" err="1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ki</a:t>
              </a:r>
              <a:endPara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284" name="AutoShape 12"/>
            <p:cNvSpPr>
              <a:spLocks noChangeArrowheads="1"/>
            </p:cNvSpPr>
            <p:nvPr/>
          </p:nvSpPr>
          <p:spPr bwMode="auto">
            <a:xfrm>
              <a:off x="1489" y="1994"/>
              <a:ext cx="372" cy="275"/>
            </a:xfrm>
            <a:prstGeom prst="homePlate">
              <a:avLst>
                <a:gd name="adj" fmla="val 33818"/>
              </a:avLst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5133975" y="1020763"/>
            <a:ext cx="3581400" cy="4373562"/>
            <a:chOff x="3234" y="643"/>
            <a:chExt cx="2256" cy="2755"/>
          </a:xfrm>
        </p:grpSpPr>
        <p:grpSp>
          <p:nvGrpSpPr>
            <p:cNvPr id="8201" name="Group 14"/>
            <p:cNvGrpSpPr>
              <a:grpSpLocks/>
            </p:cNvGrpSpPr>
            <p:nvPr/>
          </p:nvGrpSpPr>
          <p:grpSpPr bwMode="auto">
            <a:xfrm>
              <a:off x="3234" y="643"/>
              <a:ext cx="2256" cy="2755"/>
              <a:chOff x="3234" y="643"/>
              <a:chExt cx="2256" cy="2755"/>
            </a:xfrm>
          </p:grpSpPr>
          <p:grpSp>
            <p:nvGrpSpPr>
              <p:cNvPr id="8203" name="Group 15"/>
              <p:cNvGrpSpPr>
                <a:grpSpLocks/>
              </p:cNvGrpSpPr>
              <p:nvPr/>
            </p:nvGrpSpPr>
            <p:grpSpPr bwMode="auto">
              <a:xfrm>
                <a:off x="3234" y="643"/>
                <a:ext cx="2256" cy="2755"/>
                <a:chOff x="3234" y="643"/>
                <a:chExt cx="2256" cy="2755"/>
              </a:xfrm>
            </p:grpSpPr>
            <p:sp>
              <p:nvSpPr>
                <p:cNvPr id="8205" name="Rectangle 16"/>
                <p:cNvSpPr>
                  <a:spLocks noChangeArrowheads="1"/>
                </p:cNvSpPr>
                <p:nvPr/>
              </p:nvSpPr>
              <p:spPr bwMode="auto">
                <a:xfrm>
                  <a:off x="3234" y="643"/>
                  <a:ext cx="2256" cy="2755"/>
                </a:xfrm>
                <a:prstGeom prst="rect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8206" name="Oval 17"/>
                <p:cNvSpPr>
                  <a:spLocks noChangeArrowheads="1"/>
                </p:cNvSpPr>
                <p:nvPr/>
              </p:nvSpPr>
              <p:spPr bwMode="auto">
                <a:xfrm>
                  <a:off x="4839" y="3158"/>
                  <a:ext cx="381" cy="11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8207" name="AutoShape 18"/>
                <p:cNvSpPr>
                  <a:spLocks noChangeArrowheads="1"/>
                </p:cNvSpPr>
                <p:nvPr/>
              </p:nvSpPr>
              <p:spPr bwMode="auto">
                <a:xfrm>
                  <a:off x="4872" y="2820"/>
                  <a:ext cx="314" cy="412"/>
                </a:xfrm>
                <a:prstGeom prst="can">
                  <a:avLst>
                    <a:gd name="adj" fmla="val 24523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8208" name="Rectangle 19"/>
                <p:cNvSpPr>
                  <a:spLocks noChangeArrowheads="1"/>
                </p:cNvSpPr>
                <p:nvPr/>
              </p:nvSpPr>
              <p:spPr bwMode="auto">
                <a:xfrm>
                  <a:off x="3696" y="2179"/>
                  <a:ext cx="1075" cy="404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8209" name="Rectangle 20"/>
                <p:cNvSpPr>
                  <a:spLocks noChangeArrowheads="1"/>
                </p:cNvSpPr>
                <p:nvPr/>
              </p:nvSpPr>
              <p:spPr bwMode="auto">
                <a:xfrm>
                  <a:off x="3931" y="1426"/>
                  <a:ext cx="591" cy="244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8210" name="Rectangle 21" descr="沙滩"/>
                <p:cNvSpPr>
                  <a:spLocks noChangeArrowheads="1"/>
                </p:cNvSpPr>
                <p:nvPr/>
              </p:nvSpPr>
              <p:spPr bwMode="auto">
                <a:xfrm>
                  <a:off x="3922" y="1709"/>
                  <a:ext cx="604" cy="537"/>
                </a:xfrm>
                <a:prstGeom prst="rect">
                  <a:avLst/>
                </a:prstGeom>
                <a:blipFill dpi="0" rotWithShape="1">
                  <a:blip r:embed="rId4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grpSp>
              <p:nvGrpSpPr>
                <p:cNvPr id="8211" name="Group 22"/>
                <p:cNvGrpSpPr>
                  <a:grpSpLocks/>
                </p:cNvGrpSpPr>
                <p:nvPr/>
              </p:nvGrpSpPr>
              <p:grpSpPr bwMode="auto">
                <a:xfrm>
                  <a:off x="3974" y="738"/>
                  <a:ext cx="349" cy="411"/>
                  <a:chOff x="3974" y="738"/>
                  <a:chExt cx="349" cy="411"/>
                </a:xfrm>
              </p:grpSpPr>
              <p:sp>
                <p:nvSpPr>
                  <p:cNvPr id="8277" name="Freeform 23"/>
                  <p:cNvSpPr>
                    <a:spLocks/>
                  </p:cNvSpPr>
                  <p:nvPr/>
                </p:nvSpPr>
                <p:spPr bwMode="auto">
                  <a:xfrm>
                    <a:off x="3974" y="824"/>
                    <a:ext cx="349" cy="325"/>
                  </a:xfrm>
                  <a:custGeom>
                    <a:avLst/>
                    <a:gdLst>
                      <a:gd name="T0" fmla="*/ 26 w 349"/>
                      <a:gd name="T1" fmla="*/ 210 h 325"/>
                      <a:gd name="T2" fmla="*/ 80 w 349"/>
                      <a:gd name="T3" fmla="*/ 210 h 325"/>
                      <a:gd name="T4" fmla="*/ 138 w 349"/>
                      <a:gd name="T5" fmla="*/ 245 h 325"/>
                      <a:gd name="T6" fmla="*/ 202 w 349"/>
                      <a:gd name="T7" fmla="*/ 213 h 325"/>
                      <a:gd name="T8" fmla="*/ 247 w 349"/>
                      <a:gd name="T9" fmla="*/ 219 h 325"/>
                      <a:gd name="T10" fmla="*/ 256 w 349"/>
                      <a:gd name="T11" fmla="*/ 306 h 325"/>
                      <a:gd name="T12" fmla="*/ 317 w 349"/>
                      <a:gd name="T13" fmla="*/ 317 h 325"/>
                      <a:gd name="T14" fmla="*/ 346 w 349"/>
                      <a:gd name="T15" fmla="*/ 302 h 325"/>
                      <a:gd name="T16" fmla="*/ 336 w 349"/>
                      <a:gd name="T17" fmla="*/ 178 h 325"/>
                      <a:gd name="T18" fmla="*/ 317 w 349"/>
                      <a:gd name="T19" fmla="*/ 126 h 325"/>
                      <a:gd name="T20" fmla="*/ 247 w 349"/>
                      <a:gd name="T21" fmla="*/ 114 h 325"/>
                      <a:gd name="T22" fmla="*/ 202 w 349"/>
                      <a:gd name="T23" fmla="*/ 82 h 325"/>
                      <a:gd name="T24" fmla="*/ 205 w 349"/>
                      <a:gd name="T25" fmla="*/ 30 h 325"/>
                      <a:gd name="T26" fmla="*/ 157 w 349"/>
                      <a:gd name="T27" fmla="*/ 2 h 325"/>
                      <a:gd name="T28" fmla="*/ 106 w 349"/>
                      <a:gd name="T29" fmla="*/ 18 h 325"/>
                      <a:gd name="T30" fmla="*/ 77 w 349"/>
                      <a:gd name="T31" fmla="*/ 78 h 325"/>
                      <a:gd name="T32" fmla="*/ 29 w 349"/>
                      <a:gd name="T33" fmla="*/ 114 h 325"/>
                      <a:gd name="T34" fmla="*/ 0 w 349"/>
                      <a:gd name="T35" fmla="*/ 110 h 32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49"/>
                      <a:gd name="T55" fmla="*/ 0 h 325"/>
                      <a:gd name="T56" fmla="*/ 349 w 349"/>
                      <a:gd name="T57" fmla="*/ 325 h 325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49" h="325">
                        <a:moveTo>
                          <a:pt x="26" y="210"/>
                        </a:moveTo>
                        <a:cubicBezTo>
                          <a:pt x="43" y="207"/>
                          <a:pt x="61" y="204"/>
                          <a:pt x="80" y="210"/>
                        </a:cubicBezTo>
                        <a:cubicBezTo>
                          <a:pt x="99" y="216"/>
                          <a:pt x="118" y="244"/>
                          <a:pt x="138" y="245"/>
                        </a:cubicBezTo>
                        <a:cubicBezTo>
                          <a:pt x="158" y="246"/>
                          <a:pt x="184" y="217"/>
                          <a:pt x="202" y="213"/>
                        </a:cubicBezTo>
                        <a:cubicBezTo>
                          <a:pt x="220" y="209"/>
                          <a:pt x="238" y="204"/>
                          <a:pt x="247" y="219"/>
                        </a:cubicBezTo>
                        <a:cubicBezTo>
                          <a:pt x="256" y="234"/>
                          <a:pt x="244" y="290"/>
                          <a:pt x="256" y="306"/>
                        </a:cubicBezTo>
                        <a:cubicBezTo>
                          <a:pt x="268" y="322"/>
                          <a:pt x="302" y="318"/>
                          <a:pt x="317" y="317"/>
                        </a:cubicBezTo>
                        <a:cubicBezTo>
                          <a:pt x="332" y="316"/>
                          <a:pt x="343" y="325"/>
                          <a:pt x="346" y="302"/>
                        </a:cubicBezTo>
                        <a:cubicBezTo>
                          <a:pt x="349" y="279"/>
                          <a:pt x="341" y="207"/>
                          <a:pt x="336" y="178"/>
                        </a:cubicBezTo>
                        <a:cubicBezTo>
                          <a:pt x="331" y="149"/>
                          <a:pt x="332" y="137"/>
                          <a:pt x="317" y="126"/>
                        </a:cubicBezTo>
                        <a:cubicBezTo>
                          <a:pt x="302" y="115"/>
                          <a:pt x="266" y="121"/>
                          <a:pt x="247" y="114"/>
                        </a:cubicBezTo>
                        <a:cubicBezTo>
                          <a:pt x="228" y="107"/>
                          <a:pt x="209" y="96"/>
                          <a:pt x="202" y="82"/>
                        </a:cubicBezTo>
                        <a:cubicBezTo>
                          <a:pt x="195" y="68"/>
                          <a:pt x="213" y="43"/>
                          <a:pt x="205" y="30"/>
                        </a:cubicBezTo>
                        <a:cubicBezTo>
                          <a:pt x="197" y="17"/>
                          <a:pt x="173" y="4"/>
                          <a:pt x="157" y="2"/>
                        </a:cubicBezTo>
                        <a:cubicBezTo>
                          <a:pt x="141" y="0"/>
                          <a:pt x="119" y="5"/>
                          <a:pt x="106" y="18"/>
                        </a:cubicBezTo>
                        <a:cubicBezTo>
                          <a:pt x="93" y="31"/>
                          <a:pt x="90" y="62"/>
                          <a:pt x="77" y="78"/>
                        </a:cubicBezTo>
                        <a:cubicBezTo>
                          <a:pt x="64" y="94"/>
                          <a:pt x="42" y="109"/>
                          <a:pt x="29" y="114"/>
                        </a:cubicBezTo>
                        <a:cubicBezTo>
                          <a:pt x="16" y="119"/>
                          <a:pt x="8" y="114"/>
                          <a:pt x="0" y="110"/>
                        </a:cubicBezTo>
                      </a:path>
                    </a:pathLst>
                  </a:custGeom>
                  <a:solidFill>
                    <a:srgbClr val="666633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78" name="Freeform 24"/>
                  <p:cNvSpPr>
                    <a:spLocks/>
                  </p:cNvSpPr>
                  <p:nvPr/>
                </p:nvSpPr>
                <p:spPr bwMode="auto">
                  <a:xfrm>
                    <a:off x="4067" y="848"/>
                    <a:ext cx="106" cy="19"/>
                  </a:xfrm>
                  <a:custGeom>
                    <a:avLst/>
                    <a:gdLst>
                      <a:gd name="T0" fmla="*/ 0 w 106"/>
                      <a:gd name="T1" fmla="*/ 16 h 19"/>
                      <a:gd name="T2" fmla="*/ 61 w 106"/>
                      <a:gd name="T3" fmla="*/ 16 h 19"/>
                      <a:gd name="T4" fmla="*/ 106 w 106"/>
                      <a:gd name="T5" fmla="*/ 0 h 19"/>
                      <a:gd name="T6" fmla="*/ 0 60000 65536"/>
                      <a:gd name="T7" fmla="*/ 0 60000 65536"/>
                      <a:gd name="T8" fmla="*/ 0 60000 65536"/>
                      <a:gd name="T9" fmla="*/ 0 w 106"/>
                      <a:gd name="T10" fmla="*/ 0 h 19"/>
                      <a:gd name="T11" fmla="*/ 106 w 106"/>
                      <a:gd name="T12" fmla="*/ 19 h 1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6" h="19">
                        <a:moveTo>
                          <a:pt x="0" y="16"/>
                        </a:moveTo>
                        <a:cubicBezTo>
                          <a:pt x="21" y="17"/>
                          <a:pt x="43" y="19"/>
                          <a:pt x="61" y="16"/>
                        </a:cubicBezTo>
                        <a:cubicBezTo>
                          <a:pt x="79" y="13"/>
                          <a:pt x="92" y="6"/>
                          <a:pt x="106" y="0"/>
                        </a:cubicBezTo>
                      </a:path>
                    </a:pathLst>
                  </a:custGeom>
                  <a:solidFill>
                    <a:srgbClr val="666633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79" name="Freeform 25"/>
                  <p:cNvSpPr>
                    <a:spLocks/>
                  </p:cNvSpPr>
                  <p:nvPr/>
                </p:nvSpPr>
                <p:spPr bwMode="auto">
                  <a:xfrm>
                    <a:off x="4005" y="738"/>
                    <a:ext cx="230" cy="89"/>
                  </a:xfrm>
                  <a:custGeom>
                    <a:avLst/>
                    <a:gdLst>
                      <a:gd name="T0" fmla="*/ 101 w 230"/>
                      <a:gd name="T1" fmla="*/ 88 h 89"/>
                      <a:gd name="T2" fmla="*/ 101 w 230"/>
                      <a:gd name="T3" fmla="*/ 59 h 89"/>
                      <a:gd name="T4" fmla="*/ 83 w 230"/>
                      <a:gd name="T5" fmla="*/ 43 h 89"/>
                      <a:gd name="T6" fmla="*/ 43 w 230"/>
                      <a:gd name="T7" fmla="*/ 44 h 89"/>
                      <a:gd name="T8" fmla="*/ 6 w 230"/>
                      <a:gd name="T9" fmla="*/ 43 h 89"/>
                      <a:gd name="T10" fmla="*/ 6 w 230"/>
                      <a:gd name="T11" fmla="*/ 28 h 89"/>
                      <a:gd name="T12" fmla="*/ 11 w 230"/>
                      <a:gd name="T13" fmla="*/ 17 h 89"/>
                      <a:gd name="T14" fmla="*/ 49 w 230"/>
                      <a:gd name="T15" fmla="*/ 17 h 89"/>
                      <a:gd name="T16" fmla="*/ 83 w 230"/>
                      <a:gd name="T17" fmla="*/ 16 h 89"/>
                      <a:gd name="T18" fmla="*/ 97 w 230"/>
                      <a:gd name="T19" fmla="*/ 3 h 89"/>
                      <a:gd name="T20" fmla="*/ 128 w 230"/>
                      <a:gd name="T21" fmla="*/ 3 h 89"/>
                      <a:gd name="T22" fmla="*/ 145 w 230"/>
                      <a:gd name="T23" fmla="*/ 19 h 89"/>
                      <a:gd name="T24" fmla="*/ 192 w 230"/>
                      <a:gd name="T25" fmla="*/ 16 h 89"/>
                      <a:gd name="T26" fmla="*/ 222 w 230"/>
                      <a:gd name="T27" fmla="*/ 16 h 89"/>
                      <a:gd name="T28" fmla="*/ 221 w 230"/>
                      <a:gd name="T29" fmla="*/ 41 h 89"/>
                      <a:gd name="T30" fmla="*/ 168 w 230"/>
                      <a:gd name="T31" fmla="*/ 41 h 89"/>
                      <a:gd name="T32" fmla="*/ 142 w 230"/>
                      <a:gd name="T33" fmla="*/ 43 h 89"/>
                      <a:gd name="T34" fmla="*/ 131 w 230"/>
                      <a:gd name="T35" fmla="*/ 56 h 89"/>
                      <a:gd name="T36" fmla="*/ 128 w 230"/>
                      <a:gd name="T37" fmla="*/ 72 h 89"/>
                      <a:gd name="T38" fmla="*/ 129 w 230"/>
                      <a:gd name="T39" fmla="*/ 89 h 89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230"/>
                      <a:gd name="T61" fmla="*/ 0 h 89"/>
                      <a:gd name="T62" fmla="*/ 230 w 230"/>
                      <a:gd name="T63" fmla="*/ 89 h 89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230" h="89">
                        <a:moveTo>
                          <a:pt x="101" y="88"/>
                        </a:moveTo>
                        <a:cubicBezTo>
                          <a:pt x="102" y="77"/>
                          <a:pt x="104" y="66"/>
                          <a:pt x="101" y="59"/>
                        </a:cubicBezTo>
                        <a:cubicBezTo>
                          <a:pt x="98" y="52"/>
                          <a:pt x="93" y="46"/>
                          <a:pt x="83" y="43"/>
                        </a:cubicBezTo>
                        <a:cubicBezTo>
                          <a:pt x="73" y="40"/>
                          <a:pt x="56" y="44"/>
                          <a:pt x="43" y="44"/>
                        </a:cubicBezTo>
                        <a:cubicBezTo>
                          <a:pt x="30" y="44"/>
                          <a:pt x="12" y="46"/>
                          <a:pt x="6" y="43"/>
                        </a:cubicBezTo>
                        <a:cubicBezTo>
                          <a:pt x="0" y="40"/>
                          <a:pt x="5" y="32"/>
                          <a:pt x="6" y="28"/>
                        </a:cubicBezTo>
                        <a:cubicBezTo>
                          <a:pt x="7" y="24"/>
                          <a:pt x="4" y="19"/>
                          <a:pt x="11" y="17"/>
                        </a:cubicBezTo>
                        <a:cubicBezTo>
                          <a:pt x="18" y="15"/>
                          <a:pt x="37" y="17"/>
                          <a:pt x="49" y="17"/>
                        </a:cubicBezTo>
                        <a:cubicBezTo>
                          <a:pt x="61" y="17"/>
                          <a:pt x="75" y="18"/>
                          <a:pt x="83" y="16"/>
                        </a:cubicBezTo>
                        <a:cubicBezTo>
                          <a:pt x="91" y="14"/>
                          <a:pt x="90" y="5"/>
                          <a:pt x="97" y="3"/>
                        </a:cubicBezTo>
                        <a:cubicBezTo>
                          <a:pt x="104" y="1"/>
                          <a:pt x="120" y="0"/>
                          <a:pt x="128" y="3"/>
                        </a:cubicBezTo>
                        <a:cubicBezTo>
                          <a:pt x="136" y="6"/>
                          <a:pt x="134" y="17"/>
                          <a:pt x="145" y="19"/>
                        </a:cubicBezTo>
                        <a:cubicBezTo>
                          <a:pt x="156" y="21"/>
                          <a:pt x="179" y="16"/>
                          <a:pt x="192" y="16"/>
                        </a:cubicBezTo>
                        <a:cubicBezTo>
                          <a:pt x="205" y="16"/>
                          <a:pt x="217" y="12"/>
                          <a:pt x="222" y="16"/>
                        </a:cubicBezTo>
                        <a:cubicBezTo>
                          <a:pt x="227" y="20"/>
                          <a:pt x="230" y="37"/>
                          <a:pt x="221" y="41"/>
                        </a:cubicBezTo>
                        <a:cubicBezTo>
                          <a:pt x="212" y="45"/>
                          <a:pt x="181" y="41"/>
                          <a:pt x="168" y="41"/>
                        </a:cubicBezTo>
                        <a:cubicBezTo>
                          <a:pt x="155" y="41"/>
                          <a:pt x="148" y="41"/>
                          <a:pt x="142" y="43"/>
                        </a:cubicBezTo>
                        <a:cubicBezTo>
                          <a:pt x="136" y="45"/>
                          <a:pt x="133" y="51"/>
                          <a:pt x="131" y="56"/>
                        </a:cubicBezTo>
                        <a:cubicBezTo>
                          <a:pt x="129" y="61"/>
                          <a:pt x="128" y="67"/>
                          <a:pt x="128" y="72"/>
                        </a:cubicBezTo>
                        <a:cubicBezTo>
                          <a:pt x="128" y="77"/>
                          <a:pt x="128" y="83"/>
                          <a:pt x="129" y="89"/>
                        </a:cubicBezTo>
                      </a:path>
                    </a:pathLst>
                  </a:custGeom>
                  <a:solidFill>
                    <a:srgbClr val="666633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</p:grpSp>
            <p:grpSp>
              <p:nvGrpSpPr>
                <p:cNvPr id="8212" name="Group 26"/>
                <p:cNvGrpSpPr>
                  <a:grpSpLocks/>
                </p:cNvGrpSpPr>
                <p:nvPr/>
              </p:nvGrpSpPr>
              <p:grpSpPr bwMode="auto">
                <a:xfrm>
                  <a:off x="4230" y="1154"/>
                  <a:ext cx="101" cy="116"/>
                  <a:chOff x="4230" y="1154"/>
                  <a:chExt cx="101" cy="116"/>
                </a:xfrm>
              </p:grpSpPr>
              <p:sp>
                <p:nvSpPr>
                  <p:cNvPr id="8273" name="Freeform 27"/>
                  <p:cNvSpPr>
                    <a:spLocks/>
                  </p:cNvSpPr>
                  <p:nvPr/>
                </p:nvSpPr>
                <p:spPr bwMode="auto">
                  <a:xfrm>
                    <a:off x="4230" y="1162"/>
                    <a:ext cx="15" cy="97"/>
                  </a:xfrm>
                  <a:custGeom>
                    <a:avLst/>
                    <a:gdLst>
                      <a:gd name="T0" fmla="*/ 15 w 15"/>
                      <a:gd name="T1" fmla="*/ 0 h 97"/>
                      <a:gd name="T2" fmla="*/ 5 w 15"/>
                      <a:gd name="T3" fmla="*/ 65 h 97"/>
                      <a:gd name="T4" fmla="*/ 0 w 15"/>
                      <a:gd name="T5" fmla="*/ 97 h 97"/>
                      <a:gd name="T6" fmla="*/ 0 60000 65536"/>
                      <a:gd name="T7" fmla="*/ 0 60000 65536"/>
                      <a:gd name="T8" fmla="*/ 0 60000 65536"/>
                      <a:gd name="T9" fmla="*/ 0 w 15"/>
                      <a:gd name="T10" fmla="*/ 0 h 97"/>
                      <a:gd name="T11" fmla="*/ 15 w 15"/>
                      <a:gd name="T12" fmla="*/ 97 h 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5" h="97">
                        <a:moveTo>
                          <a:pt x="15" y="0"/>
                        </a:moveTo>
                        <a:cubicBezTo>
                          <a:pt x="8" y="21"/>
                          <a:pt x="12" y="44"/>
                          <a:pt x="5" y="65"/>
                        </a:cubicBezTo>
                        <a:cubicBezTo>
                          <a:pt x="4" y="76"/>
                          <a:pt x="0" y="87"/>
                          <a:pt x="0" y="97"/>
                        </a:cubicBezTo>
                      </a:path>
                    </a:pathLst>
                  </a:custGeom>
                  <a:solidFill>
                    <a:schemeClr val="hlink"/>
                  </a:solidFill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74" name="Freeform 28"/>
                  <p:cNvSpPr>
                    <a:spLocks/>
                  </p:cNvSpPr>
                  <p:nvPr/>
                </p:nvSpPr>
                <p:spPr bwMode="auto">
                  <a:xfrm>
                    <a:off x="4259" y="1173"/>
                    <a:ext cx="10" cy="97"/>
                  </a:xfrm>
                  <a:custGeom>
                    <a:avLst/>
                    <a:gdLst>
                      <a:gd name="T0" fmla="*/ 10 w 10"/>
                      <a:gd name="T1" fmla="*/ 0 h 97"/>
                      <a:gd name="T2" fmla="*/ 8 w 10"/>
                      <a:gd name="T3" fmla="*/ 97 h 97"/>
                      <a:gd name="T4" fmla="*/ 0 60000 65536"/>
                      <a:gd name="T5" fmla="*/ 0 60000 65536"/>
                      <a:gd name="T6" fmla="*/ 0 w 10"/>
                      <a:gd name="T7" fmla="*/ 0 h 97"/>
                      <a:gd name="T8" fmla="*/ 10 w 10"/>
                      <a:gd name="T9" fmla="*/ 97 h 9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" h="97">
                        <a:moveTo>
                          <a:pt x="10" y="0"/>
                        </a:moveTo>
                        <a:cubicBezTo>
                          <a:pt x="0" y="31"/>
                          <a:pt x="8" y="65"/>
                          <a:pt x="8" y="97"/>
                        </a:cubicBezTo>
                      </a:path>
                    </a:pathLst>
                  </a:custGeom>
                  <a:solidFill>
                    <a:schemeClr val="hlink"/>
                  </a:solidFill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75" name="Freeform 29"/>
                  <p:cNvSpPr>
                    <a:spLocks/>
                  </p:cNvSpPr>
                  <p:nvPr/>
                </p:nvSpPr>
                <p:spPr bwMode="auto">
                  <a:xfrm>
                    <a:off x="4290" y="1195"/>
                    <a:ext cx="6" cy="72"/>
                  </a:xfrm>
                  <a:custGeom>
                    <a:avLst/>
                    <a:gdLst>
                      <a:gd name="T0" fmla="*/ 0 w 6"/>
                      <a:gd name="T1" fmla="*/ 0 h 72"/>
                      <a:gd name="T2" fmla="*/ 6 w 6"/>
                      <a:gd name="T3" fmla="*/ 72 h 72"/>
                      <a:gd name="T4" fmla="*/ 0 60000 65536"/>
                      <a:gd name="T5" fmla="*/ 0 60000 65536"/>
                      <a:gd name="T6" fmla="*/ 0 w 6"/>
                      <a:gd name="T7" fmla="*/ 0 h 72"/>
                      <a:gd name="T8" fmla="*/ 6 w 6"/>
                      <a:gd name="T9" fmla="*/ 72 h 72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6" h="72">
                        <a:moveTo>
                          <a:pt x="0" y="0"/>
                        </a:moveTo>
                        <a:cubicBezTo>
                          <a:pt x="1" y="24"/>
                          <a:pt x="6" y="49"/>
                          <a:pt x="6" y="72"/>
                        </a:cubicBezTo>
                      </a:path>
                    </a:pathLst>
                  </a:custGeom>
                  <a:solidFill>
                    <a:schemeClr val="hlink"/>
                  </a:solidFill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76" name="Freeform 30"/>
                  <p:cNvSpPr>
                    <a:spLocks/>
                  </p:cNvSpPr>
                  <p:nvPr/>
                </p:nvSpPr>
                <p:spPr bwMode="auto">
                  <a:xfrm>
                    <a:off x="4301" y="1154"/>
                    <a:ext cx="30" cy="80"/>
                  </a:xfrm>
                  <a:custGeom>
                    <a:avLst/>
                    <a:gdLst>
                      <a:gd name="T0" fmla="*/ 0 w 30"/>
                      <a:gd name="T1" fmla="*/ 0 h 80"/>
                      <a:gd name="T2" fmla="*/ 14 w 30"/>
                      <a:gd name="T3" fmla="*/ 48 h 80"/>
                      <a:gd name="T4" fmla="*/ 25 w 30"/>
                      <a:gd name="T5" fmla="*/ 64 h 80"/>
                      <a:gd name="T6" fmla="*/ 29 w 30"/>
                      <a:gd name="T7" fmla="*/ 72 h 80"/>
                      <a:gd name="T8" fmla="*/ 30 w 30"/>
                      <a:gd name="T9" fmla="*/ 80 h 8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"/>
                      <a:gd name="T16" fmla="*/ 0 h 80"/>
                      <a:gd name="T17" fmla="*/ 30 w 30"/>
                      <a:gd name="T18" fmla="*/ 80 h 8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" h="80">
                        <a:moveTo>
                          <a:pt x="0" y="0"/>
                        </a:moveTo>
                        <a:cubicBezTo>
                          <a:pt x="3" y="18"/>
                          <a:pt x="5" y="33"/>
                          <a:pt x="14" y="48"/>
                        </a:cubicBezTo>
                        <a:cubicBezTo>
                          <a:pt x="17" y="53"/>
                          <a:pt x="22" y="59"/>
                          <a:pt x="25" y="64"/>
                        </a:cubicBezTo>
                        <a:cubicBezTo>
                          <a:pt x="26" y="67"/>
                          <a:pt x="29" y="72"/>
                          <a:pt x="29" y="72"/>
                        </a:cubicBezTo>
                        <a:cubicBezTo>
                          <a:pt x="29" y="75"/>
                          <a:pt x="30" y="80"/>
                          <a:pt x="30" y="80"/>
                        </a:cubicBezTo>
                      </a:path>
                    </a:pathLst>
                  </a:custGeom>
                  <a:solidFill>
                    <a:schemeClr val="hlink"/>
                  </a:solidFill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</p:grpSp>
            <p:grpSp>
              <p:nvGrpSpPr>
                <p:cNvPr id="8213" name="Group 31"/>
                <p:cNvGrpSpPr>
                  <a:grpSpLocks/>
                </p:cNvGrpSpPr>
                <p:nvPr/>
              </p:nvGrpSpPr>
              <p:grpSpPr bwMode="auto">
                <a:xfrm>
                  <a:off x="4672" y="1478"/>
                  <a:ext cx="101" cy="242"/>
                  <a:chOff x="4672" y="1478"/>
                  <a:chExt cx="101" cy="242"/>
                </a:xfrm>
              </p:grpSpPr>
              <p:sp>
                <p:nvSpPr>
                  <p:cNvPr id="8268" name="Freeform 32"/>
                  <p:cNvSpPr>
                    <a:spLocks/>
                  </p:cNvSpPr>
                  <p:nvPr/>
                </p:nvSpPr>
                <p:spPr bwMode="auto">
                  <a:xfrm>
                    <a:off x="4741" y="1517"/>
                    <a:ext cx="32" cy="94"/>
                  </a:xfrm>
                  <a:custGeom>
                    <a:avLst/>
                    <a:gdLst>
                      <a:gd name="T0" fmla="*/ 0 w 32"/>
                      <a:gd name="T1" fmla="*/ 0 h 94"/>
                      <a:gd name="T2" fmla="*/ 3 w 32"/>
                      <a:gd name="T3" fmla="*/ 13 h 94"/>
                      <a:gd name="T4" fmla="*/ 13 w 32"/>
                      <a:gd name="T5" fmla="*/ 32 h 94"/>
                      <a:gd name="T6" fmla="*/ 25 w 32"/>
                      <a:gd name="T7" fmla="*/ 59 h 94"/>
                      <a:gd name="T8" fmla="*/ 32 w 32"/>
                      <a:gd name="T9" fmla="*/ 94 h 9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"/>
                      <a:gd name="T16" fmla="*/ 0 h 94"/>
                      <a:gd name="T17" fmla="*/ 32 w 32"/>
                      <a:gd name="T18" fmla="*/ 94 h 9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" h="94">
                        <a:moveTo>
                          <a:pt x="0" y="0"/>
                        </a:moveTo>
                        <a:cubicBezTo>
                          <a:pt x="2" y="8"/>
                          <a:pt x="6" y="5"/>
                          <a:pt x="3" y="13"/>
                        </a:cubicBezTo>
                        <a:cubicBezTo>
                          <a:pt x="8" y="19"/>
                          <a:pt x="8" y="26"/>
                          <a:pt x="13" y="32"/>
                        </a:cubicBezTo>
                        <a:cubicBezTo>
                          <a:pt x="15" y="41"/>
                          <a:pt x="17" y="53"/>
                          <a:pt x="25" y="59"/>
                        </a:cubicBezTo>
                        <a:cubicBezTo>
                          <a:pt x="27" y="70"/>
                          <a:pt x="32" y="83"/>
                          <a:pt x="32" y="94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69" name="Freeform 33"/>
                  <p:cNvSpPr>
                    <a:spLocks/>
                  </p:cNvSpPr>
                  <p:nvPr/>
                </p:nvSpPr>
                <p:spPr bwMode="auto">
                  <a:xfrm>
                    <a:off x="4698" y="1478"/>
                    <a:ext cx="60" cy="196"/>
                  </a:xfrm>
                  <a:custGeom>
                    <a:avLst/>
                    <a:gdLst>
                      <a:gd name="T0" fmla="*/ 0 w 60"/>
                      <a:gd name="T1" fmla="*/ 0 h 196"/>
                      <a:gd name="T2" fmla="*/ 24 w 60"/>
                      <a:gd name="T3" fmla="*/ 40 h 196"/>
                      <a:gd name="T4" fmla="*/ 35 w 60"/>
                      <a:gd name="T5" fmla="*/ 58 h 196"/>
                      <a:gd name="T6" fmla="*/ 41 w 60"/>
                      <a:gd name="T7" fmla="*/ 72 h 196"/>
                      <a:gd name="T8" fmla="*/ 51 w 60"/>
                      <a:gd name="T9" fmla="*/ 122 h 196"/>
                      <a:gd name="T10" fmla="*/ 56 w 60"/>
                      <a:gd name="T11" fmla="*/ 154 h 196"/>
                      <a:gd name="T12" fmla="*/ 60 w 60"/>
                      <a:gd name="T13" fmla="*/ 196 h 19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60"/>
                      <a:gd name="T22" fmla="*/ 0 h 196"/>
                      <a:gd name="T23" fmla="*/ 60 w 60"/>
                      <a:gd name="T24" fmla="*/ 196 h 19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60" h="196">
                        <a:moveTo>
                          <a:pt x="0" y="0"/>
                        </a:moveTo>
                        <a:cubicBezTo>
                          <a:pt x="8" y="13"/>
                          <a:pt x="17" y="27"/>
                          <a:pt x="24" y="40"/>
                        </a:cubicBezTo>
                        <a:cubicBezTo>
                          <a:pt x="25" y="46"/>
                          <a:pt x="31" y="52"/>
                          <a:pt x="35" y="58"/>
                        </a:cubicBezTo>
                        <a:cubicBezTo>
                          <a:pt x="36" y="64"/>
                          <a:pt x="38" y="67"/>
                          <a:pt x="41" y="72"/>
                        </a:cubicBezTo>
                        <a:cubicBezTo>
                          <a:pt x="46" y="88"/>
                          <a:pt x="49" y="105"/>
                          <a:pt x="51" y="122"/>
                        </a:cubicBezTo>
                        <a:cubicBezTo>
                          <a:pt x="52" y="135"/>
                          <a:pt x="54" y="142"/>
                          <a:pt x="56" y="154"/>
                        </a:cubicBezTo>
                        <a:cubicBezTo>
                          <a:pt x="57" y="164"/>
                          <a:pt x="56" y="187"/>
                          <a:pt x="60" y="196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70" name="Freeform 34"/>
                  <p:cNvSpPr>
                    <a:spLocks/>
                  </p:cNvSpPr>
                  <p:nvPr/>
                </p:nvSpPr>
                <p:spPr bwMode="auto">
                  <a:xfrm>
                    <a:off x="4691" y="1501"/>
                    <a:ext cx="39" cy="147"/>
                  </a:xfrm>
                  <a:custGeom>
                    <a:avLst/>
                    <a:gdLst>
                      <a:gd name="T0" fmla="*/ 0 w 39"/>
                      <a:gd name="T1" fmla="*/ 0 h 147"/>
                      <a:gd name="T2" fmla="*/ 7 w 39"/>
                      <a:gd name="T3" fmla="*/ 22 h 147"/>
                      <a:gd name="T4" fmla="*/ 18 w 39"/>
                      <a:gd name="T5" fmla="*/ 41 h 147"/>
                      <a:gd name="T6" fmla="*/ 29 w 39"/>
                      <a:gd name="T7" fmla="*/ 65 h 147"/>
                      <a:gd name="T8" fmla="*/ 37 w 39"/>
                      <a:gd name="T9" fmla="*/ 118 h 147"/>
                      <a:gd name="T10" fmla="*/ 39 w 39"/>
                      <a:gd name="T11" fmla="*/ 147 h 14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9"/>
                      <a:gd name="T19" fmla="*/ 0 h 147"/>
                      <a:gd name="T20" fmla="*/ 39 w 39"/>
                      <a:gd name="T21" fmla="*/ 147 h 147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9" h="147">
                        <a:moveTo>
                          <a:pt x="0" y="0"/>
                        </a:moveTo>
                        <a:cubicBezTo>
                          <a:pt x="4" y="7"/>
                          <a:pt x="4" y="15"/>
                          <a:pt x="7" y="22"/>
                        </a:cubicBezTo>
                        <a:cubicBezTo>
                          <a:pt x="10" y="29"/>
                          <a:pt x="15" y="34"/>
                          <a:pt x="18" y="41"/>
                        </a:cubicBezTo>
                        <a:cubicBezTo>
                          <a:pt x="19" y="48"/>
                          <a:pt x="24" y="59"/>
                          <a:pt x="29" y="65"/>
                        </a:cubicBezTo>
                        <a:cubicBezTo>
                          <a:pt x="33" y="82"/>
                          <a:pt x="33" y="100"/>
                          <a:pt x="37" y="118"/>
                        </a:cubicBezTo>
                        <a:cubicBezTo>
                          <a:pt x="39" y="140"/>
                          <a:pt x="39" y="131"/>
                          <a:pt x="39" y="147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71" name="Freeform 35"/>
                  <p:cNvSpPr>
                    <a:spLocks/>
                  </p:cNvSpPr>
                  <p:nvPr/>
                </p:nvSpPr>
                <p:spPr bwMode="auto">
                  <a:xfrm>
                    <a:off x="4672" y="1510"/>
                    <a:ext cx="24" cy="96"/>
                  </a:xfrm>
                  <a:custGeom>
                    <a:avLst/>
                    <a:gdLst>
                      <a:gd name="T0" fmla="*/ 0 w 24"/>
                      <a:gd name="T1" fmla="*/ 0 h 96"/>
                      <a:gd name="T2" fmla="*/ 10 w 24"/>
                      <a:gd name="T3" fmla="*/ 24 h 96"/>
                      <a:gd name="T4" fmla="*/ 18 w 24"/>
                      <a:gd name="T5" fmla="*/ 64 h 96"/>
                      <a:gd name="T6" fmla="*/ 21 w 24"/>
                      <a:gd name="T7" fmla="*/ 85 h 96"/>
                      <a:gd name="T8" fmla="*/ 24 w 24"/>
                      <a:gd name="T9" fmla="*/ 96 h 9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96"/>
                      <a:gd name="T17" fmla="*/ 24 w 24"/>
                      <a:gd name="T18" fmla="*/ 96 h 9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96">
                        <a:moveTo>
                          <a:pt x="0" y="0"/>
                        </a:moveTo>
                        <a:cubicBezTo>
                          <a:pt x="4" y="8"/>
                          <a:pt x="6" y="16"/>
                          <a:pt x="10" y="24"/>
                        </a:cubicBezTo>
                        <a:cubicBezTo>
                          <a:pt x="13" y="37"/>
                          <a:pt x="15" y="51"/>
                          <a:pt x="18" y="64"/>
                        </a:cubicBezTo>
                        <a:cubicBezTo>
                          <a:pt x="19" y="82"/>
                          <a:pt x="18" y="71"/>
                          <a:pt x="21" y="85"/>
                        </a:cubicBezTo>
                        <a:cubicBezTo>
                          <a:pt x="22" y="89"/>
                          <a:pt x="24" y="96"/>
                          <a:pt x="24" y="96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72" name="Freeform 36"/>
                  <p:cNvSpPr>
                    <a:spLocks/>
                  </p:cNvSpPr>
                  <p:nvPr/>
                </p:nvSpPr>
                <p:spPr bwMode="auto">
                  <a:xfrm>
                    <a:off x="4699" y="1642"/>
                    <a:ext cx="10" cy="78"/>
                  </a:xfrm>
                  <a:custGeom>
                    <a:avLst/>
                    <a:gdLst>
                      <a:gd name="T0" fmla="*/ 0 w 10"/>
                      <a:gd name="T1" fmla="*/ 0 h 78"/>
                      <a:gd name="T2" fmla="*/ 10 w 10"/>
                      <a:gd name="T3" fmla="*/ 78 h 78"/>
                      <a:gd name="T4" fmla="*/ 0 60000 65536"/>
                      <a:gd name="T5" fmla="*/ 0 60000 65536"/>
                      <a:gd name="T6" fmla="*/ 0 w 10"/>
                      <a:gd name="T7" fmla="*/ 0 h 78"/>
                      <a:gd name="T8" fmla="*/ 10 w 10"/>
                      <a:gd name="T9" fmla="*/ 78 h 7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" h="78">
                        <a:moveTo>
                          <a:pt x="0" y="0"/>
                        </a:moveTo>
                        <a:cubicBezTo>
                          <a:pt x="9" y="19"/>
                          <a:pt x="10" y="55"/>
                          <a:pt x="10" y="78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</p:grpSp>
            <p:grpSp>
              <p:nvGrpSpPr>
                <p:cNvPr id="8214" name="Group 37"/>
                <p:cNvGrpSpPr>
                  <a:grpSpLocks/>
                </p:cNvGrpSpPr>
                <p:nvPr/>
              </p:nvGrpSpPr>
              <p:grpSpPr bwMode="auto">
                <a:xfrm>
                  <a:off x="4958" y="2267"/>
                  <a:ext cx="112" cy="186"/>
                  <a:chOff x="4958" y="2267"/>
                  <a:chExt cx="112" cy="186"/>
                </a:xfrm>
              </p:grpSpPr>
              <p:sp>
                <p:nvSpPr>
                  <p:cNvPr id="8262" name="Freeform 38"/>
                  <p:cNvSpPr>
                    <a:spLocks/>
                  </p:cNvSpPr>
                  <p:nvPr/>
                </p:nvSpPr>
                <p:spPr bwMode="auto">
                  <a:xfrm>
                    <a:off x="5028" y="2294"/>
                    <a:ext cx="10" cy="29"/>
                  </a:xfrm>
                  <a:custGeom>
                    <a:avLst/>
                    <a:gdLst>
                      <a:gd name="T0" fmla="*/ 1 w 10"/>
                      <a:gd name="T1" fmla="*/ 0 h 29"/>
                      <a:gd name="T2" fmla="*/ 10 w 10"/>
                      <a:gd name="T3" fmla="*/ 29 h 29"/>
                      <a:gd name="T4" fmla="*/ 0 60000 65536"/>
                      <a:gd name="T5" fmla="*/ 0 60000 65536"/>
                      <a:gd name="T6" fmla="*/ 0 w 10"/>
                      <a:gd name="T7" fmla="*/ 0 h 29"/>
                      <a:gd name="T8" fmla="*/ 10 w 10"/>
                      <a:gd name="T9" fmla="*/ 29 h 2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0" h="29">
                        <a:moveTo>
                          <a:pt x="1" y="0"/>
                        </a:moveTo>
                        <a:cubicBezTo>
                          <a:pt x="5" y="5"/>
                          <a:pt x="0" y="19"/>
                          <a:pt x="10" y="29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63" name="Freeform 39"/>
                  <p:cNvSpPr>
                    <a:spLocks/>
                  </p:cNvSpPr>
                  <p:nvPr/>
                </p:nvSpPr>
                <p:spPr bwMode="auto">
                  <a:xfrm>
                    <a:off x="5051" y="2331"/>
                    <a:ext cx="19" cy="93"/>
                  </a:xfrm>
                  <a:custGeom>
                    <a:avLst/>
                    <a:gdLst>
                      <a:gd name="T0" fmla="*/ 0 w 19"/>
                      <a:gd name="T1" fmla="*/ 0 h 93"/>
                      <a:gd name="T2" fmla="*/ 7 w 19"/>
                      <a:gd name="T3" fmla="*/ 31 h 93"/>
                      <a:gd name="T4" fmla="*/ 11 w 19"/>
                      <a:gd name="T5" fmla="*/ 56 h 93"/>
                      <a:gd name="T6" fmla="*/ 15 w 19"/>
                      <a:gd name="T7" fmla="*/ 66 h 93"/>
                      <a:gd name="T8" fmla="*/ 19 w 19"/>
                      <a:gd name="T9" fmla="*/ 93 h 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"/>
                      <a:gd name="T16" fmla="*/ 0 h 93"/>
                      <a:gd name="T17" fmla="*/ 19 w 19"/>
                      <a:gd name="T18" fmla="*/ 93 h 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" h="93">
                        <a:moveTo>
                          <a:pt x="0" y="0"/>
                        </a:moveTo>
                        <a:cubicBezTo>
                          <a:pt x="4" y="10"/>
                          <a:pt x="3" y="21"/>
                          <a:pt x="7" y="31"/>
                        </a:cubicBezTo>
                        <a:cubicBezTo>
                          <a:pt x="8" y="39"/>
                          <a:pt x="9" y="48"/>
                          <a:pt x="11" y="56"/>
                        </a:cubicBezTo>
                        <a:cubicBezTo>
                          <a:pt x="12" y="59"/>
                          <a:pt x="15" y="66"/>
                          <a:pt x="15" y="66"/>
                        </a:cubicBezTo>
                        <a:cubicBezTo>
                          <a:pt x="17" y="75"/>
                          <a:pt x="19" y="84"/>
                          <a:pt x="19" y="93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64" name="Freeform 40"/>
                  <p:cNvSpPr>
                    <a:spLocks/>
                  </p:cNvSpPr>
                  <p:nvPr/>
                </p:nvSpPr>
                <p:spPr bwMode="auto">
                  <a:xfrm>
                    <a:off x="4989" y="2267"/>
                    <a:ext cx="65" cy="162"/>
                  </a:xfrm>
                  <a:custGeom>
                    <a:avLst/>
                    <a:gdLst>
                      <a:gd name="T0" fmla="*/ 0 w 65"/>
                      <a:gd name="T1" fmla="*/ 0 h 162"/>
                      <a:gd name="T2" fmla="*/ 21 w 65"/>
                      <a:gd name="T3" fmla="*/ 50 h 162"/>
                      <a:gd name="T4" fmla="*/ 43 w 65"/>
                      <a:gd name="T5" fmla="*/ 80 h 162"/>
                      <a:gd name="T6" fmla="*/ 51 w 65"/>
                      <a:gd name="T7" fmla="*/ 99 h 162"/>
                      <a:gd name="T8" fmla="*/ 56 w 65"/>
                      <a:gd name="T9" fmla="*/ 119 h 162"/>
                      <a:gd name="T10" fmla="*/ 64 w 65"/>
                      <a:gd name="T11" fmla="*/ 154 h 162"/>
                      <a:gd name="T12" fmla="*/ 65 w 65"/>
                      <a:gd name="T13" fmla="*/ 162 h 16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65"/>
                      <a:gd name="T22" fmla="*/ 0 h 162"/>
                      <a:gd name="T23" fmla="*/ 65 w 65"/>
                      <a:gd name="T24" fmla="*/ 162 h 162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65" h="162">
                        <a:moveTo>
                          <a:pt x="0" y="0"/>
                        </a:moveTo>
                        <a:cubicBezTo>
                          <a:pt x="4" y="18"/>
                          <a:pt x="5" y="38"/>
                          <a:pt x="21" y="50"/>
                        </a:cubicBezTo>
                        <a:cubicBezTo>
                          <a:pt x="27" y="61"/>
                          <a:pt x="38" y="69"/>
                          <a:pt x="43" y="80"/>
                        </a:cubicBezTo>
                        <a:cubicBezTo>
                          <a:pt x="46" y="87"/>
                          <a:pt x="46" y="93"/>
                          <a:pt x="51" y="99"/>
                        </a:cubicBezTo>
                        <a:cubicBezTo>
                          <a:pt x="53" y="106"/>
                          <a:pt x="53" y="113"/>
                          <a:pt x="56" y="119"/>
                        </a:cubicBezTo>
                        <a:cubicBezTo>
                          <a:pt x="58" y="131"/>
                          <a:pt x="60" y="143"/>
                          <a:pt x="64" y="154"/>
                        </a:cubicBezTo>
                        <a:cubicBezTo>
                          <a:pt x="64" y="157"/>
                          <a:pt x="65" y="162"/>
                          <a:pt x="65" y="162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65" name="Freeform 41"/>
                  <p:cNvSpPr>
                    <a:spLocks/>
                  </p:cNvSpPr>
                  <p:nvPr/>
                </p:nvSpPr>
                <p:spPr bwMode="auto">
                  <a:xfrm>
                    <a:off x="4958" y="2277"/>
                    <a:ext cx="37" cy="61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7 w 37"/>
                      <a:gd name="T3" fmla="*/ 16 h 61"/>
                      <a:gd name="T4" fmla="*/ 37 w 37"/>
                      <a:gd name="T5" fmla="*/ 61 h 61"/>
                      <a:gd name="T6" fmla="*/ 0 60000 65536"/>
                      <a:gd name="T7" fmla="*/ 0 60000 65536"/>
                      <a:gd name="T8" fmla="*/ 0 60000 65536"/>
                      <a:gd name="T9" fmla="*/ 0 w 37"/>
                      <a:gd name="T10" fmla="*/ 0 h 61"/>
                      <a:gd name="T11" fmla="*/ 37 w 37"/>
                      <a:gd name="T12" fmla="*/ 61 h 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7" h="61">
                        <a:moveTo>
                          <a:pt x="0" y="0"/>
                        </a:moveTo>
                        <a:cubicBezTo>
                          <a:pt x="6" y="5"/>
                          <a:pt x="4" y="9"/>
                          <a:pt x="7" y="16"/>
                        </a:cubicBezTo>
                        <a:cubicBezTo>
                          <a:pt x="13" y="31"/>
                          <a:pt x="37" y="44"/>
                          <a:pt x="37" y="61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66" name="Freeform 42"/>
                  <p:cNvSpPr>
                    <a:spLocks/>
                  </p:cNvSpPr>
                  <p:nvPr/>
                </p:nvSpPr>
                <p:spPr bwMode="auto">
                  <a:xfrm>
                    <a:off x="4968" y="2325"/>
                    <a:ext cx="21" cy="81"/>
                  </a:xfrm>
                  <a:custGeom>
                    <a:avLst/>
                    <a:gdLst>
                      <a:gd name="T0" fmla="*/ 0 w 21"/>
                      <a:gd name="T1" fmla="*/ 0 h 81"/>
                      <a:gd name="T2" fmla="*/ 10 w 21"/>
                      <a:gd name="T3" fmla="*/ 33 h 81"/>
                      <a:gd name="T4" fmla="*/ 21 w 21"/>
                      <a:gd name="T5" fmla="*/ 81 h 81"/>
                      <a:gd name="T6" fmla="*/ 0 60000 65536"/>
                      <a:gd name="T7" fmla="*/ 0 60000 65536"/>
                      <a:gd name="T8" fmla="*/ 0 60000 65536"/>
                      <a:gd name="T9" fmla="*/ 0 w 21"/>
                      <a:gd name="T10" fmla="*/ 0 h 81"/>
                      <a:gd name="T11" fmla="*/ 21 w 21"/>
                      <a:gd name="T12" fmla="*/ 81 h 8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" h="81">
                        <a:moveTo>
                          <a:pt x="0" y="0"/>
                        </a:moveTo>
                        <a:cubicBezTo>
                          <a:pt x="5" y="11"/>
                          <a:pt x="4" y="22"/>
                          <a:pt x="10" y="33"/>
                        </a:cubicBezTo>
                        <a:cubicBezTo>
                          <a:pt x="13" y="49"/>
                          <a:pt x="21" y="63"/>
                          <a:pt x="21" y="81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67" name="Freeform 43"/>
                  <p:cNvSpPr>
                    <a:spLocks/>
                  </p:cNvSpPr>
                  <p:nvPr/>
                </p:nvSpPr>
                <p:spPr bwMode="auto">
                  <a:xfrm>
                    <a:off x="5005" y="2363"/>
                    <a:ext cx="10" cy="90"/>
                  </a:xfrm>
                  <a:custGeom>
                    <a:avLst/>
                    <a:gdLst>
                      <a:gd name="T0" fmla="*/ 0 w 10"/>
                      <a:gd name="T1" fmla="*/ 0 h 90"/>
                      <a:gd name="T2" fmla="*/ 8 w 10"/>
                      <a:gd name="T3" fmla="*/ 23 h 90"/>
                      <a:gd name="T4" fmla="*/ 9 w 10"/>
                      <a:gd name="T5" fmla="*/ 90 h 90"/>
                      <a:gd name="T6" fmla="*/ 0 60000 65536"/>
                      <a:gd name="T7" fmla="*/ 0 60000 65536"/>
                      <a:gd name="T8" fmla="*/ 0 60000 65536"/>
                      <a:gd name="T9" fmla="*/ 0 w 10"/>
                      <a:gd name="T10" fmla="*/ 0 h 90"/>
                      <a:gd name="T11" fmla="*/ 10 w 10"/>
                      <a:gd name="T12" fmla="*/ 90 h 9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" h="90">
                        <a:moveTo>
                          <a:pt x="0" y="0"/>
                        </a:moveTo>
                        <a:cubicBezTo>
                          <a:pt x="4" y="7"/>
                          <a:pt x="4" y="15"/>
                          <a:pt x="8" y="23"/>
                        </a:cubicBezTo>
                        <a:cubicBezTo>
                          <a:pt x="10" y="58"/>
                          <a:pt x="9" y="36"/>
                          <a:pt x="9" y="90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</p:grpSp>
            <p:sp>
              <p:nvSpPr>
                <p:cNvPr id="8215" name="Freeform 44"/>
                <p:cNvSpPr>
                  <a:spLocks/>
                </p:cNvSpPr>
                <p:nvPr/>
              </p:nvSpPr>
              <p:spPr bwMode="auto">
                <a:xfrm>
                  <a:off x="4773" y="2014"/>
                  <a:ext cx="197" cy="232"/>
                </a:xfrm>
                <a:custGeom>
                  <a:avLst/>
                  <a:gdLst>
                    <a:gd name="T0" fmla="*/ 0 w 197"/>
                    <a:gd name="T1" fmla="*/ 0 h 232"/>
                    <a:gd name="T2" fmla="*/ 0 w 197"/>
                    <a:gd name="T3" fmla="*/ 108 h 232"/>
                    <a:gd name="T4" fmla="*/ 197 w 197"/>
                    <a:gd name="T5" fmla="*/ 232 h 232"/>
                    <a:gd name="T6" fmla="*/ 0 60000 65536"/>
                    <a:gd name="T7" fmla="*/ 0 60000 65536"/>
                    <a:gd name="T8" fmla="*/ 0 60000 65536"/>
                    <a:gd name="T9" fmla="*/ 0 w 197"/>
                    <a:gd name="T10" fmla="*/ 0 h 232"/>
                    <a:gd name="T11" fmla="*/ 197 w 197"/>
                    <a:gd name="T12" fmla="*/ 232 h 2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7" h="232">
                      <a:moveTo>
                        <a:pt x="0" y="0"/>
                      </a:moveTo>
                      <a:lnTo>
                        <a:pt x="0" y="108"/>
                      </a:lnTo>
                      <a:lnTo>
                        <a:pt x="197" y="232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16" name="Freeform 45"/>
                <p:cNvSpPr>
                  <a:spLocks/>
                </p:cNvSpPr>
                <p:nvPr/>
              </p:nvSpPr>
              <p:spPr bwMode="auto">
                <a:xfrm>
                  <a:off x="3703" y="2035"/>
                  <a:ext cx="1241" cy="547"/>
                </a:xfrm>
                <a:custGeom>
                  <a:avLst/>
                  <a:gdLst>
                    <a:gd name="T0" fmla="*/ 0 w 1241"/>
                    <a:gd name="T1" fmla="*/ 0 h 547"/>
                    <a:gd name="T2" fmla="*/ 0 w 1241"/>
                    <a:gd name="T3" fmla="*/ 547 h 547"/>
                    <a:gd name="T4" fmla="*/ 1068 w 1241"/>
                    <a:gd name="T5" fmla="*/ 547 h 547"/>
                    <a:gd name="T6" fmla="*/ 1068 w 1241"/>
                    <a:gd name="T7" fmla="*/ 147 h 547"/>
                    <a:gd name="T8" fmla="*/ 1241 w 1241"/>
                    <a:gd name="T9" fmla="*/ 267 h 5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41"/>
                    <a:gd name="T16" fmla="*/ 0 h 547"/>
                    <a:gd name="T17" fmla="*/ 1241 w 1241"/>
                    <a:gd name="T18" fmla="*/ 547 h 5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41" h="547">
                      <a:moveTo>
                        <a:pt x="0" y="0"/>
                      </a:moveTo>
                      <a:lnTo>
                        <a:pt x="0" y="547"/>
                      </a:lnTo>
                      <a:lnTo>
                        <a:pt x="1068" y="547"/>
                      </a:lnTo>
                      <a:lnTo>
                        <a:pt x="1068" y="147"/>
                      </a:lnTo>
                      <a:lnTo>
                        <a:pt x="1241" y="267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17" name="Line 46"/>
                <p:cNvSpPr>
                  <a:spLocks noChangeShapeType="1"/>
                </p:cNvSpPr>
                <p:nvPr/>
              </p:nvSpPr>
              <p:spPr bwMode="auto">
                <a:xfrm>
                  <a:off x="3703" y="2181"/>
                  <a:ext cx="22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18" name="Line 47"/>
                <p:cNvSpPr>
                  <a:spLocks noChangeShapeType="1"/>
                </p:cNvSpPr>
                <p:nvPr/>
              </p:nvSpPr>
              <p:spPr bwMode="auto">
                <a:xfrm>
                  <a:off x="4527" y="2180"/>
                  <a:ext cx="2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grpSp>
              <p:nvGrpSpPr>
                <p:cNvPr id="8219" name="Group 48"/>
                <p:cNvGrpSpPr>
                  <a:grpSpLocks/>
                </p:cNvGrpSpPr>
                <p:nvPr/>
              </p:nvGrpSpPr>
              <p:grpSpPr bwMode="auto">
                <a:xfrm>
                  <a:off x="4574" y="2114"/>
                  <a:ext cx="144" cy="133"/>
                  <a:chOff x="4574" y="2114"/>
                  <a:chExt cx="144" cy="133"/>
                </a:xfrm>
              </p:grpSpPr>
              <p:sp>
                <p:nvSpPr>
                  <p:cNvPr id="8258" name="AutoShape 4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601" y="2114"/>
                    <a:ext cx="91" cy="6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59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4574" y="2202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60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610" y="2225"/>
                    <a:ext cx="8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61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4633" y="2247"/>
                    <a:ext cx="53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</p:grpSp>
            <p:sp>
              <p:nvSpPr>
                <p:cNvPr id="8220" name="Freeform 53"/>
                <p:cNvSpPr>
                  <a:spLocks/>
                </p:cNvSpPr>
                <p:nvPr/>
              </p:nvSpPr>
              <p:spPr bwMode="auto">
                <a:xfrm>
                  <a:off x="3924" y="1286"/>
                  <a:ext cx="749" cy="1085"/>
                </a:xfrm>
                <a:custGeom>
                  <a:avLst/>
                  <a:gdLst>
                    <a:gd name="T0" fmla="*/ 0 w 749"/>
                    <a:gd name="T1" fmla="*/ 1085 h 1085"/>
                    <a:gd name="T2" fmla="*/ 0 w 749"/>
                    <a:gd name="T3" fmla="*/ 0 h 1085"/>
                    <a:gd name="T4" fmla="*/ 593 w 749"/>
                    <a:gd name="T5" fmla="*/ 0 h 1085"/>
                    <a:gd name="T6" fmla="*/ 593 w 749"/>
                    <a:gd name="T7" fmla="*/ 65 h 1085"/>
                    <a:gd name="T8" fmla="*/ 749 w 749"/>
                    <a:gd name="T9" fmla="*/ 159 h 108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49"/>
                    <a:gd name="T16" fmla="*/ 0 h 1085"/>
                    <a:gd name="T17" fmla="*/ 749 w 749"/>
                    <a:gd name="T18" fmla="*/ 1085 h 108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49" h="1085">
                      <a:moveTo>
                        <a:pt x="0" y="1085"/>
                      </a:moveTo>
                      <a:lnTo>
                        <a:pt x="0" y="0"/>
                      </a:lnTo>
                      <a:lnTo>
                        <a:pt x="593" y="0"/>
                      </a:lnTo>
                      <a:lnTo>
                        <a:pt x="593" y="65"/>
                      </a:lnTo>
                      <a:lnTo>
                        <a:pt x="749" y="159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21" name="Freeform 54"/>
                <p:cNvSpPr>
                  <a:spLocks/>
                </p:cNvSpPr>
                <p:nvPr/>
              </p:nvSpPr>
              <p:spPr bwMode="auto">
                <a:xfrm>
                  <a:off x="4526" y="1423"/>
                  <a:ext cx="120" cy="919"/>
                </a:xfrm>
                <a:custGeom>
                  <a:avLst/>
                  <a:gdLst>
                    <a:gd name="T0" fmla="*/ 0 w 120"/>
                    <a:gd name="T1" fmla="*/ 919 h 919"/>
                    <a:gd name="T2" fmla="*/ 0 w 120"/>
                    <a:gd name="T3" fmla="*/ 0 h 919"/>
                    <a:gd name="T4" fmla="*/ 120 w 120"/>
                    <a:gd name="T5" fmla="*/ 84 h 919"/>
                    <a:gd name="T6" fmla="*/ 0 60000 65536"/>
                    <a:gd name="T7" fmla="*/ 0 60000 65536"/>
                    <a:gd name="T8" fmla="*/ 0 60000 65536"/>
                    <a:gd name="T9" fmla="*/ 0 w 120"/>
                    <a:gd name="T10" fmla="*/ 0 h 919"/>
                    <a:gd name="T11" fmla="*/ 120 w 120"/>
                    <a:gd name="T12" fmla="*/ 919 h 91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0" h="919">
                      <a:moveTo>
                        <a:pt x="0" y="919"/>
                      </a:moveTo>
                      <a:lnTo>
                        <a:pt x="0" y="0"/>
                      </a:lnTo>
                      <a:lnTo>
                        <a:pt x="120" y="84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22" name="Line 55"/>
                <p:cNvSpPr>
                  <a:spLocks noChangeShapeType="1"/>
                </p:cNvSpPr>
                <p:nvPr/>
              </p:nvSpPr>
              <p:spPr bwMode="auto">
                <a:xfrm>
                  <a:off x="3926" y="1426"/>
                  <a:ext cx="5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23" name="Rectangle 56" descr="浅色竖线"/>
                <p:cNvSpPr>
                  <a:spLocks noChangeArrowheads="1"/>
                </p:cNvSpPr>
                <p:nvPr/>
              </p:nvSpPr>
              <p:spPr bwMode="auto">
                <a:xfrm>
                  <a:off x="3922" y="1666"/>
                  <a:ext cx="600" cy="46"/>
                </a:xfrm>
                <a:prstGeom prst="rect">
                  <a:avLst/>
                </a:prstGeom>
                <a:pattFill prst="ltVert">
                  <a:fgClr>
                    <a:srgbClr val="6600CC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8224" name="Rectangle 57" descr="浅色竖线"/>
                <p:cNvSpPr>
                  <a:spLocks noChangeArrowheads="1"/>
                </p:cNvSpPr>
                <p:nvPr/>
              </p:nvSpPr>
              <p:spPr bwMode="auto">
                <a:xfrm>
                  <a:off x="3926" y="2242"/>
                  <a:ext cx="600" cy="46"/>
                </a:xfrm>
                <a:prstGeom prst="rect">
                  <a:avLst/>
                </a:prstGeom>
                <a:pattFill prst="ltVert">
                  <a:fgClr>
                    <a:srgbClr val="6600CC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8225" name="Line 58"/>
                <p:cNvSpPr>
                  <a:spLocks noChangeShapeType="1"/>
                </p:cNvSpPr>
                <p:nvPr/>
              </p:nvSpPr>
              <p:spPr bwMode="auto">
                <a:xfrm>
                  <a:off x="5106" y="1718"/>
                  <a:ext cx="18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26" name="Line 59"/>
                <p:cNvSpPr>
                  <a:spLocks noChangeShapeType="1"/>
                </p:cNvSpPr>
                <p:nvPr/>
              </p:nvSpPr>
              <p:spPr bwMode="auto">
                <a:xfrm>
                  <a:off x="5102" y="2262"/>
                  <a:ext cx="18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27" name="Line 60"/>
                <p:cNvSpPr>
                  <a:spLocks noChangeShapeType="1"/>
                </p:cNvSpPr>
                <p:nvPr/>
              </p:nvSpPr>
              <p:spPr bwMode="auto">
                <a:xfrm>
                  <a:off x="5185" y="1721"/>
                  <a:ext cx="0" cy="5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28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3396" y="1438"/>
                  <a:ext cx="22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29" name="Line 62"/>
                <p:cNvSpPr>
                  <a:spLocks noChangeShapeType="1"/>
                </p:cNvSpPr>
                <p:nvPr/>
              </p:nvSpPr>
              <p:spPr bwMode="auto">
                <a:xfrm flipH="1">
                  <a:off x="3417" y="2181"/>
                  <a:ext cx="22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30" name="Line 63"/>
                <p:cNvSpPr>
                  <a:spLocks noChangeShapeType="1"/>
                </p:cNvSpPr>
                <p:nvPr/>
              </p:nvSpPr>
              <p:spPr bwMode="auto">
                <a:xfrm>
                  <a:off x="3504" y="1440"/>
                  <a:ext cx="0" cy="7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31" name="AutoShape 64"/>
                <p:cNvSpPr>
                  <a:spLocks noChangeArrowheads="1"/>
                </p:cNvSpPr>
                <p:nvPr/>
              </p:nvSpPr>
              <p:spPr bwMode="auto">
                <a:xfrm>
                  <a:off x="4870" y="2626"/>
                  <a:ext cx="314" cy="609"/>
                </a:xfrm>
                <a:prstGeom prst="can">
                  <a:avLst>
                    <a:gd name="adj" fmla="val 24208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8232" name="Oval 65"/>
                <p:cNvSpPr>
                  <a:spLocks noChangeArrowheads="1"/>
                </p:cNvSpPr>
                <p:nvPr/>
              </p:nvSpPr>
              <p:spPr bwMode="auto">
                <a:xfrm>
                  <a:off x="4871" y="2823"/>
                  <a:ext cx="311" cy="77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8233" name="Freeform 66"/>
                <p:cNvSpPr>
                  <a:spLocks/>
                </p:cNvSpPr>
                <p:nvPr/>
              </p:nvSpPr>
              <p:spPr bwMode="auto">
                <a:xfrm>
                  <a:off x="5120" y="2731"/>
                  <a:ext cx="62" cy="8"/>
                </a:xfrm>
                <a:custGeom>
                  <a:avLst/>
                  <a:gdLst>
                    <a:gd name="T0" fmla="*/ 0 w 62"/>
                    <a:gd name="T1" fmla="*/ 8 h 8"/>
                    <a:gd name="T2" fmla="*/ 45 w 62"/>
                    <a:gd name="T3" fmla="*/ 2 h 8"/>
                    <a:gd name="T4" fmla="*/ 62 w 62"/>
                    <a:gd name="T5" fmla="*/ 0 h 8"/>
                    <a:gd name="T6" fmla="*/ 0 60000 65536"/>
                    <a:gd name="T7" fmla="*/ 0 60000 65536"/>
                    <a:gd name="T8" fmla="*/ 0 60000 65536"/>
                    <a:gd name="T9" fmla="*/ 0 w 62"/>
                    <a:gd name="T10" fmla="*/ 0 h 8"/>
                    <a:gd name="T11" fmla="*/ 62 w 62"/>
                    <a:gd name="T12" fmla="*/ 8 h 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2" h="8">
                      <a:moveTo>
                        <a:pt x="0" y="8"/>
                      </a:moveTo>
                      <a:cubicBezTo>
                        <a:pt x="15" y="5"/>
                        <a:pt x="29" y="3"/>
                        <a:pt x="45" y="2"/>
                      </a:cubicBezTo>
                      <a:cubicBezTo>
                        <a:pt x="59" y="0"/>
                        <a:pt x="54" y="0"/>
                        <a:pt x="62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34" name="Freeform 67"/>
                <p:cNvSpPr>
                  <a:spLocks/>
                </p:cNvSpPr>
                <p:nvPr/>
              </p:nvSpPr>
              <p:spPr bwMode="auto">
                <a:xfrm>
                  <a:off x="5139" y="2765"/>
                  <a:ext cx="45" cy="1"/>
                </a:xfrm>
                <a:custGeom>
                  <a:avLst/>
                  <a:gdLst>
                    <a:gd name="T0" fmla="*/ 0 w 45"/>
                    <a:gd name="T1" fmla="*/ 1 h 1"/>
                    <a:gd name="T2" fmla="*/ 45 w 45"/>
                    <a:gd name="T3" fmla="*/ 0 h 1"/>
                    <a:gd name="T4" fmla="*/ 0 60000 65536"/>
                    <a:gd name="T5" fmla="*/ 0 60000 65536"/>
                    <a:gd name="T6" fmla="*/ 0 w 45"/>
                    <a:gd name="T7" fmla="*/ 0 h 1"/>
                    <a:gd name="T8" fmla="*/ 45 w 45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5" h="1">
                      <a:moveTo>
                        <a:pt x="0" y="1"/>
                      </a:moveTo>
                      <a:cubicBezTo>
                        <a:pt x="32" y="0"/>
                        <a:pt x="17" y="0"/>
                        <a:pt x="45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35" name="Freeform 68"/>
                <p:cNvSpPr>
                  <a:spLocks/>
                </p:cNvSpPr>
                <p:nvPr/>
              </p:nvSpPr>
              <p:spPr bwMode="auto">
                <a:xfrm>
                  <a:off x="5141" y="2790"/>
                  <a:ext cx="38" cy="4"/>
                </a:xfrm>
                <a:custGeom>
                  <a:avLst/>
                  <a:gdLst>
                    <a:gd name="T0" fmla="*/ 0 w 38"/>
                    <a:gd name="T1" fmla="*/ 4 h 4"/>
                    <a:gd name="T2" fmla="*/ 38 w 38"/>
                    <a:gd name="T3" fmla="*/ 0 h 4"/>
                    <a:gd name="T4" fmla="*/ 0 60000 65536"/>
                    <a:gd name="T5" fmla="*/ 0 60000 65536"/>
                    <a:gd name="T6" fmla="*/ 0 w 38"/>
                    <a:gd name="T7" fmla="*/ 0 h 4"/>
                    <a:gd name="T8" fmla="*/ 38 w 38"/>
                    <a:gd name="T9" fmla="*/ 4 h 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8" h="4">
                      <a:moveTo>
                        <a:pt x="0" y="4"/>
                      </a:moveTo>
                      <a:cubicBezTo>
                        <a:pt x="13" y="0"/>
                        <a:pt x="25" y="0"/>
                        <a:pt x="38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36" name="Freeform 69"/>
                <p:cNvSpPr>
                  <a:spLocks/>
                </p:cNvSpPr>
                <p:nvPr/>
              </p:nvSpPr>
              <p:spPr bwMode="auto">
                <a:xfrm>
                  <a:off x="5146" y="2812"/>
                  <a:ext cx="33" cy="6"/>
                </a:xfrm>
                <a:custGeom>
                  <a:avLst/>
                  <a:gdLst>
                    <a:gd name="T0" fmla="*/ 0 w 33"/>
                    <a:gd name="T1" fmla="*/ 6 h 6"/>
                    <a:gd name="T2" fmla="*/ 33 w 33"/>
                    <a:gd name="T3" fmla="*/ 4 h 6"/>
                    <a:gd name="T4" fmla="*/ 0 60000 65536"/>
                    <a:gd name="T5" fmla="*/ 0 60000 65536"/>
                    <a:gd name="T6" fmla="*/ 0 w 33"/>
                    <a:gd name="T7" fmla="*/ 0 h 6"/>
                    <a:gd name="T8" fmla="*/ 33 w 33"/>
                    <a:gd name="T9" fmla="*/ 6 h 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3" h="6">
                      <a:moveTo>
                        <a:pt x="0" y="6"/>
                      </a:moveTo>
                      <a:cubicBezTo>
                        <a:pt x="13" y="0"/>
                        <a:pt x="3" y="4"/>
                        <a:pt x="33" y="4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37" name="Freeform 70"/>
                <p:cNvSpPr>
                  <a:spLocks/>
                </p:cNvSpPr>
                <p:nvPr/>
              </p:nvSpPr>
              <p:spPr bwMode="auto">
                <a:xfrm>
                  <a:off x="5149" y="2839"/>
                  <a:ext cx="33" cy="4"/>
                </a:xfrm>
                <a:custGeom>
                  <a:avLst/>
                  <a:gdLst>
                    <a:gd name="T0" fmla="*/ 0 w 33"/>
                    <a:gd name="T1" fmla="*/ 4 h 4"/>
                    <a:gd name="T2" fmla="*/ 33 w 33"/>
                    <a:gd name="T3" fmla="*/ 1 h 4"/>
                    <a:gd name="T4" fmla="*/ 0 60000 65536"/>
                    <a:gd name="T5" fmla="*/ 0 60000 65536"/>
                    <a:gd name="T6" fmla="*/ 0 w 33"/>
                    <a:gd name="T7" fmla="*/ 0 h 4"/>
                    <a:gd name="T8" fmla="*/ 33 w 33"/>
                    <a:gd name="T9" fmla="*/ 4 h 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3" h="4">
                      <a:moveTo>
                        <a:pt x="0" y="4"/>
                      </a:moveTo>
                      <a:cubicBezTo>
                        <a:pt x="22" y="0"/>
                        <a:pt x="11" y="1"/>
                        <a:pt x="33" y="1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38" name="Freeform 71"/>
                <p:cNvSpPr>
                  <a:spLocks/>
                </p:cNvSpPr>
                <p:nvPr/>
              </p:nvSpPr>
              <p:spPr bwMode="auto">
                <a:xfrm>
                  <a:off x="5144" y="2906"/>
                  <a:ext cx="35" cy="1"/>
                </a:xfrm>
                <a:custGeom>
                  <a:avLst/>
                  <a:gdLst>
                    <a:gd name="T0" fmla="*/ 0 w 35"/>
                    <a:gd name="T1" fmla="*/ 0 h 1"/>
                    <a:gd name="T2" fmla="*/ 35 w 35"/>
                    <a:gd name="T3" fmla="*/ 0 h 1"/>
                    <a:gd name="T4" fmla="*/ 0 60000 65536"/>
                    <a:gd name="T5" fmla="*/ 0 60000 65536"/>
                    <a:gd name="T6" fmla="*/ 0 w 35"/>
                    <a:gd name="T7" fmla="*/ 0 h 1"/>
                    <a:gd name="T8" fmla="*/ 35 w 35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5" h="1">
                      <a:moveTo>
                        <a:pt x="0" y="0"/>
                      </a:moveTo>
                      <a:cubicBezTo>
                        <a:pt x="12" y="0"/>
                        <a:pt x="23" y="0"/>
                        <a:pt x="35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39" name="Freeform 72"/>
                <p:cNvSpPr>
                  <a:spLocks/>
                </p:cNvSpPr>
                <p:nvPr/>
              </p:nvSpPr>
              <p:spPr bwMode="auto">
                <a:xfrm>
                  <a:off x="5152" y="2934"/>
                  <a:ext cx="27" cy="1"/>
                </a:xfrm>
                <a:custGeom>
                  <a:avLst/>
                  <a:gdLst>
                    <a:gd name="T0" fmla="*/ 0 w 27"/>
                    <a:gd name="T1" fmla="*/ 0 h 1"/>
                    <a:gd name="T2" fmla="*/ 27 w 27"/>
                    <a:gd name="T3" fmla="*/ 0 h 1"/>
                    <a:gd name="T4" fmla="*/ 0 60000 65536"/>
                    <a:gd name="T5" fmla="*/ 0 60000 65536"/>
                    <a:gd name="T6" fmla="*/ 0 w 27"/>
                    <a:gd name="T7" fmla="*/ 0 h 1"/>
                    <a:gd name="T8" fmla="*/ 27 w 27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7" h="1">
                      <a:moveTo>
                        <a:pt x="0" y="0"/>
                      </a:moveTo>
                      <a:cubicBezTo>
                        <a:pt x="9" y="0"/>
                        <a:pt x="18" y="0"/>
                        <a:pt x="27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40" name="Freeform 73"/>
                <p:cNvSpPr>
                  <a:spLocks/>
                </p:cNvSpPr>
                <p:nvPr/>
              </p:nvSpPr>
              <p:spPr bwMode="auto">
                <a:xfrm>
                  <a:off x="5149" y="2965"/>
                  <a:ext cx="32" cy="1"/>
                </a:xfrm>
                <a:custGeom>
                  <a:avLst/>
                  <a:gdLst>
                    <a:gd name="T0" fmla="*/ 0 w 32"/>
                    <a:gd name="T1" fmla="*/ 0 h 1"/>
                    <a:gd name="T2" fmla="*/ 32 w 32"/>
                    <a:gd name="T3" fmla="*/ 0 h 1"/>
                    <a:gd name="T4" fmla="*/ 0 60000 65536"/>
                    <a:gd name="T5" fmla="*/ 0 60000 65536"/>
                    <a:gd name="T6" fmla="*/ 0 w 32"/>
                    <a:gd name="T7" fmla="*/ 0 h 1"/>
                    <a:gd name="T8" fmla="*/ 32 w 32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2" h="1">
                      <a:moveTo>
                        <a:pt x="0" y="0"/>
                      </a:moveTo>
                      <a:cubicBezTo>
                        <a:pt x="11" y="0"/>
                        <a:pt x="21" y="0"/>
                        <a:pt x="32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41" name="Freeform 74"/>
                <p:cNvSpPr>
                  <a:spLocks/>
                </p:cNvSpPr>
                <p:nvPr/>
              </p:nvSpPr>
              <p:spPr bwMode="auto">
                <a:xfrm>
                  <a:off x="5144" y="2994"/>
                  <a:ext cx="34" cy="1"/>
                </a:xfrm>
                <a:custGeom>
                  <a:avLst/>
                  <a:gdLst>
                    <a:gd name="T0" fmla="*/ 0 w 34"/>
                    <a:gd name="T1" fmla="*/ 0 h 1"/>
                    <a:gd name="T2" fmla="*/ 34 w 34"/>
                    <a:gd name="T3" fmla="*/ 0 h 1"/>
                    <a:gd name="T4" fmla="*/ 0 60000 65536"/>
                    <a:gd name="T5" fmla="*/ 0 60000 65536"/>
                    <a:gd name="T6" fmla="*/ 0 w 34"/>
                    <a:gd name="T7" fmla="*/ 0 h 1"/>
                    <a:gd name="T8" fmla="*/ 34 w 34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4" h="1">
                      <a:moveTo>
                        <a:pt x="0" y="0"/>
                      </a:moveTo>
                      <a:cubicBezTo>
                        <a:pt x="11" y="0"/>
                        <a:pt x="23" y="0"/>
                        <a:pt x="34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42" name="Freeform 75"/>
                <p:cNvSpPr>
                  <a:spLocks/>
                </p:cNvSpPr>
                <p:nvPr/>
              </p:nvSpPr>
              <p:spPr bwMode="auto">
                <a:xfrm>
                  <a:off x="5122" y="3027"/>
                  <a:ext cx="56" cy="1"/>
                </a:xfrm>
                <a:custGeom>
                  <a:avLst/>
                  <a:gdLst>
                    <a:gd name="T0" fmla="*/ 0 w 56"/>
                    <a:gd name="T1" fmla="*/ 0 h 1"/>
                    <a:gd name="T2" fmla="*/ 56 w 56"/>
                    <a:gd name="T3" fmla="*/ 0 h 1"/>
                    <a:gd name="T4" fmla="*/ 0 60000 65536"/>
                    <a:gd name="T5" fmla="*/ 0 60000 65536"/>
                    <a:gd name="T6" fmla="*/ 0 w 56"/>
                    <a:gd name="T7" fmla="*/ 0 h 1"/>
                    <a:gd name="T8" fmla="*/ 56 w 56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6" h="1">
                      <a:moveTo>
                        <a:pt x="0" y="0"/>
                      </a:moveTo>
                      <a:cubicBezTo>
                        <a:pt x="19" y="0"/>
                        <a:pt x="37" y="0"/>
                        <a:pt x="56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43" name="Freeform 76"/>
                <p:cNvSpPr>
                  <a:spLocks/>
                </p:cNvSpPr>
                <p:nvPr/>
              </p:nvSpPr>
              <p:spPr bwMode="auto">
                <a:xfrm>
                  <a:off x="5144" y="3054"/>
                  <a:ext cx="32" cy="1"/>
                </a:xfrm>
                <a:custGeom>
                  <a:avLst/>
                  <a:gdLst>
                    <a:gd name="T0" fmla="*/ 0 w 32"/>
                    <a:gd name="T1" fmla="*/ 0 h 1"/>
                    <a:gd name="T2" fmla="*/ 32 w 32"/>
                    <a:gd name="T3" fmla="*/ 0 h 1"/>
                    <a:gd name="T4" fmla="*/ 0 60000 65536"/>
                    <a:gd name="T5" fmla="*/ 0 60000 65536"/>
                    <a:gd name="T6" fmla="*/ 0 w 32"/>
                    <a:gd name="T7" fmla="*/ 0 h 1"/>
                    <a:gd name="T8" fmla="*/ 32 w 32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2" h="1">
                      <a:moveTo>
                        <a:pt x="0" y="0"/>
                      </a:moveTo>
                      <a:cubicBezTo>
                        <a:pt x="11" y="0"/>
                        <a:pt x="21" y="0"/>
                        <a:pt x="32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44" name="Freeform 77"/>
                <p:cNvSpPr>
                  <a:spLocks/>
                </p:cNvSpPr>
                <p:nvPr/>
              </p:nvSpPr>
              <p:spPr bwMode="auto">
                <a:xfrm>
                  <a:off x="5152" y="3076"/>
                  <a:ext cx="27" cy="2"/>
                </a:xfrm>
                <a:custGeom>
                  <a:avLst/>
                  <a:gdLst>
                    <a:gd name="T0" fmla="*/ 0 w 27"/>
                    <a:gd name="T1" fmla="*/ 2 h 2"/>
                    <a:gd name="T2" fmla="*/ 27 w 27"/>
                    <a:gd name="T3" fmla="*/ 2 h 2"/>
                    <a:gd name="T4" fmla="*/ 0 60000 65536"/>
                    <a:gd name="T5" fmla="*/ 0 60000 65536"/>
                    <a:gd name="T6" fmla="*/ 0 w 27"/>
                    <a:gd name="T7" fmla="*/ 0 h 2"/>
                    <a:gd name="T8" fmla="*/ 27 w 27"/>
                    <a:gd name="T9" fmla="*/ 2 h 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7" h="2">
                      <a:moveTo>
                        <a:pt x="0" y="2"/>
                      </a:moveTo>
                      <a:cubicBezTo>
                        <a:pt x="9" y="0"/>
                        <a:pt x="18" y="2"/>
                        <a:pt x="27" y="2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45" name="Freeform 78"/>
                <p:cNvSpPr>
                  <a:spLocks/>
                </p:cNvSpPr>
                <p:nvPr/>
              </p:nvSpPr>
              <p:spPr bwMode="auto">
                <a:xfrm>
                  <a:off x="5149" y="3107"/>
                  <a:ext cx="32" cy="3"/>
                </a:xfrm>
                <a:custGeom>
                  <a:avLst/>
                  <a:gdLst>
                    <a:gd name="T0" fmla="*/ 0 w 32"/>
                    <a:gd name="T1" fmla="*/ 0 h 3"/>
                    <a:gd name="T2" fmla="*/ 32 w 32"/>
                    <a:gd name="T3" fmla="*/ 2 h 3"/>
                    <a:gd name="T4" fmla="*/ 0 60000 65536"/>
                    <a:gd name="T5" fmla="*/ 0 60000 65536"/>
                    <a:gd name="T6" fmla="*/ 0 w 32"/>
                    <a:gd name="T7" fmla="*/ 0 h 3"/>
                    <a:gd name="T8" fmla="*/ 32 w 32"/>
                    <a:gd name="T9" fmla="*/ 3 h 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2" h="3">
                      <a:moveTo>
                        <a:pt x="0" y="0"/>
                      </a:moveTo>
                      <a:cubicBezTo>
                        <a:pt x="20" y="3"/>
                        <a:pt x="9" y="2"/>
                        <a:pt x="32" y="2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46" name="Freeform 79"/>
                <p:cNvSpPr>
                  <a:spLocks/>
                </p:cNvSpPr>
                <p:nvPr/>
              </p:nvSpPr>
              <p:spPr bwMode="auto">
                <a:xfrm>
                  <a:off x="5150" y="3136"/>
                  <a:ext cx="29" cy="1"/>
                </a:xfrm>
                <a:custGeom>
                  <a:avLst/>
                  <a:gdLst>
                    <a:gd name="T0" fmla="*/ 0 w 29"/>
                    <a:gd name="T1" fmla="*/ 0 h 1"/>
                    <a:gd name="T2" fmla="*/ 29 w 29"/>
                    <a:gd name="T3" fmla="*/ 0 h 1"/>
                    <a:gd name="T4" fmla="*/ 0 60000 65536"/>
                    <a:gd name="T5" fmla="*/ 0 60000 65536"/>
                    <a:gd name="T6" fmla="*/ 0 w 29"/>
                    <a:gd name="T7" fmla="*/ 0 h 1"/>
                    <a:gd name="T8" fmla="*/ 29 w 29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9" h="1">
                      <a:moveTo>
                        <a:pt x="0" y="0"/>
                      </a:moveTo>
                      <a:cubicBezTo>
                        <a:pt x="10" y="0"/>
                        <a:pt x="19" y="0"/>
                        <a:pt x="29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8247" name="Freeform 80"/>
                <p:cNvSpPr>
                  <a:spLocks/>
                </p:cNvSpPr>
                <p:nvPr/>
              </p:nvSpPr>
              <p:spPr bwMode="auto">
                <a:xfrm>
                  <a:off x="5133" y="3160"/>
                  <a:ext cx="48" cy="1"/>
                </a:xfrm>
                <a:custGeom>
                  <a:avLst/>
                  <a:gdLst>
                    <a:gd name="T0" fmla="*/ 0 w 48"/>
                    <a:gd name="T1" fmla="*/ 0 h 1"/>
                    <a:gd name="T2" fmla="*/ 48 w 48"/>
                    <a:gd name="T3" fmla="*/ 0 h 1"/>
                    <a:gd name="T4" fmla="*/ 0 60000 65536"/>
                    <a:gd name="T5" fmla="*/ 0 60000 65536"/>
                    <a:gd name="T6" fmla="*/ 0 w 48"/>
                    <a:gd name="T7" fmla="*/ 0 h 1"/>
                    <a:gd name="T8" fmla="*/ 48 w 48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8" h="1">
                      <a:moveTo>
                        <a:pt x="0" y="0"/>
                      </a:moveTo>
                      <a:cubicBezTo>
                        <a:pt x="16" y="0"/>
                        <a:pt x="32" y="0"/>
                        <a:pt x="48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grpSp>
              <p:nvGrpSpPr>
                <p:cNvPr id="8248" name="Group 81"/>
                <p:cNvGrpSpPr>
                  <a:grpSpLocks/>
                </p:cNvGrpSpPr>
                <p:nvPr/>
              </p:nvGrpSpPr>
              <p:grpSpPr bwMode="auto">
                <a:xfrm>
                  <a:off x="4042" y="1358"/>
                  <a:ext cx="144" cy="133"/>
                  <a:chOff x="4574" y="2114"/>
                  <a:chExt cx="144" cy="133"/>
                </a:xfrm>
              </p:grpSpPr>
              <p:sp>
                <p:nvSpPr>
                  <p:cNvPr id="8254" name="AutoShape 82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601" y="2114"/>
                    <a:ext cx="91" cy="6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55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4574" y="2202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56" name="Line 84"/>
                  <p:cNvSpPr>
                    <a:spLocks noChangeShapeType="1"/>
                  </p:cNvSpPr>
                  <p:nvPr/>
                </p:nvSpPr>
                <p:spPr bwMode="auto">
                  <a:xfrm>
                    <a:off x="4610" y="2225"/>
                    <a:ext cx="8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  <p:sp>
                <p:nvSpPr>
                  <p:cNvPr id="8257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4633" y="2247"/>
                    <a:ext cx="53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b="1"/>
                  </a:p>
                </p:txBody>
              </p:sp>
            </p:grpSp>
            <p:sp>
              <p:nvSpPr>
                <p:cNvPr id="8249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3327" y="1618"/>
                  <a:ext cx="344" cy="291"/>
                </a:xfrm>
                <a:prstGeom prst="rect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400" b="1" dirty="0">
                      <a:solidFill>
                        <a:srgbClr val="000066"/>
                      </a:solidFill>
                      <a:ea typeface="幼圆" pitchFamily="49" charset="-122"/>
                      <a:sym typeface="Symbol" pitchFamily="18" charset="2"/>
                    </a:rPr>
                    <a:t></a:t>
                  </a:r>
                  <a:r>
                    <a:rPr lang="en-US" altLang="zh-CN" sz="2400" b="1" i="1" dirty="0">
                      <a:solidFill>
                        <a:srgbClr val="000066"/>
                      </a:solidFill>
                      <a:ea typeface="幼圆" pitchFamily="49" charset="-122"/>
                      <a:sym typeface="Symbol" pitchFamily="18" charset="2"/>
                    </a:rPr>
                    <a:t>h</a:t>
                  </a:r>
                </a:p>
              </p:txBody>
            </p:sp>
            <p:sp>
              <p:nvSpPr>
                <p:cNvPr id="8250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5082" y="1843"/>
                  <a:ext cx="233" cy="288"/>
                </a:xfrm>
                <a:prstGeom prst="rect">
                  <a:avLst/>
                </a:prstGeom>
                <a:solidFill>
                  <a:srgbClr val="CCE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400" b="1" i="1" dirty="0">
                      <a:solidFill>
                        <a:srgbClr val="000066"/>
                      </a:solidFill>
                      <a:ea typeface="幼圆" pitchFamily="49" charset="-122"/>
                      <a:sym typeface="Symbol" pitchFamily="18" charset="2"/>
                    </a:rPr>
                    <a:t>L</a:t>
                  </a:r>
                </a:p>
              </p:txBody>
            </p:sp>
            <p:sp>
              <p:nvSpPr>
                <p:cNvPr id="8251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3974" y="1808"/>
                  <a:ext cx="50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400" b="1">
                      <a:solidFill>
                        <a:srgbClr val="000066"/>
                      </a:solidFill>
                      <a:ea typeface="幼圆" pitchFamily="49" charset="-122"/>
                    </a:rPr>
                    <a:t>土样</a:t>
                  </a:r>
                  <a:endParaRPr lang="en-US" altLang="zh-CN" sz="2400" b="1">
                    <a:solidFill>
                      <a:srgbClr val="000066"/>
                    </a:solidFill>
                    <a:ea typeface="幼圆" pitchFamily="49" charset="-122"/>
                  </a:endParaRPr>
                </a:p>
              </p:txBody>
            </p:sp>
            <p:sp>
              <p:nvSpPr>
                <p:cNvPr id="8252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3310" y="2396"/>
                  <a:ext cx="24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400" b="1" i="1" dirty="0">
                      <a:solidFill>
                        <a:srgbClr val="000066"/>
                      </a:solidFill>
                      <a:ea typeface="幼圆" pitchFamily="49" charset="-122"/>
                    </a:rPr>
                    <a:t>A</a:t>
                  </a:r>
                </a:p>
              </p:txBody>
            </p:sp>
            <p:sp>
              <p:nvSpPr>
                <p:cNvPr id="8253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3529" y="2129"/>
                  <a:ext cx="496" cy="3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8204" name="Text Box 91"/>
              <p:cNvSpPr txBox="1">
                <a:spLocks noChangeArrowheads="1"/>
              </p:cNvSpPr>
              <p:nvPr/>
            </p:nvSpPr>
            <p:spPr bwMode="auto">
              <a:xfrm>
                <a:off x="4886" y="2906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chemeClr val="accent1"/>
                    </a:solidFill>
                    <a:ea typeface="幼圆" pitchFamily="49" charset="-122"/>
                  </a:rPr>
                  <a:t>V</a:t>
                </a:r>
              </a:p>
            </p:txBody>
          </p:sp>
        </p:grpSp>
        <p:sp>
          <p:nvSpPr>
            <p:cNvPr id="8202" name="Text Box 92"/>
            <p:cNvSpPr txBox="1">
              <a:spLocks noChangeArrowheads="1"/>
            </p:cNvSpPr>
            <p:nvPr/>
          </p:nvSpPr>
          <p:spPr bwMode="auto">
            <a:xfrm>
              <a:off x="5056" y="2301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</a:rPr>
                <a:t>Q</a:t>
              </a:r>
            </a:p>
          </p:txBody>
        </p:sp>
      </p:grpSp>
      <p:sp>
        <p:nvSpPr>
          <p:cNvPr id="9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5" name="Text Box 7"/>
          <p:cNvSpPr txBox="1">
            <a:spLocks noChangeArrowheads="1"/>
          </p:cNvSpPr>
          <p:nvPr/>
        </p:nvSpPr>
        <p:spPr bwMode="auto">
          <a:xfrm>
            <a:off x="-1" y="0"/>
            <a:ext cx="5619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渗透系数测定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194406"/>
              </p:ext>
            </p:extLst>
          </p:nvPr>
        </p:nvGraphicFramePr>
        <p:xfrm>
          <a:off x="3225798" y="2962275"/>
          <a:ext cx="1345680" cy="76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6" name="公式" r:id="rId5" imgW="672840" imgH="380880" progId="Equation.3">
                  <p:embed/>
                </p:oleObj>
              </mc:Choice>
              <mc:Fallback>
                <p:oleObj name="公式" r:id="rId5" imgW="672840" imgH="3808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25798" y="2962275"/>
                        <a:ext cx="1345680" cy="761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76313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68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68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6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8419" grpId="0"/>
      <p:bldP spid="14684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2049463" y="5700713"/>
            <a:ext cx="65547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室内试验方法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变水头试验法</a:t>
            </a:r>
          </a:p>
        </p:txBody>
      </p:sp>
      <p:sp>
        <p:nvSpPr>
          <p:cNvPr id="1469443" name="Rectangle 3"/>
          <p:cNvSpPr>
            <a:spLocks noChangeArrowheads="1"/>
          </p:cNvSpPr>
          <p:nvPr/>
        </p:nvSpPr>
        <p:spPr bwMode="auto">
          <a:xfrm>
            <a:off x="223838" y="1308100"/>
            <a:ext cx="4725987" cy="171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试验条件</a:t>
            </a:r>
            <a:r>
              <a:rPr kumimoji="1"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b="1" dirty="0" err="1" smtClean="0">
                <a:solidFill>
                  <a:srgbClr val="000066"/>
                </a:solidFill>
                <a:cs typeface="Times New Roman" panose="02020603050405020304" pitchFamily="18" charset="0"/>
              </a:rPr>
              <a:t>Δ</a:t>
            </a:r>
            <a:r>
              <a:rPr kumimoji="1" lang="en-US" altLang="zh-CN" sz="2800" b="1" i="1" dirty="0" err="1" smtClean="0">
                <a:solidFill>
                  <a:srgbClr val="000066"/>
                </a:solidFill>
                <a:cs typeface="Times New Roman" panose="02020603050405020304" pitchFamily="18" charset="0"/>
              </a:rPr>
              <a:t>h</a:t>
            </a:r>
            <a:r>
              <a:rPr kumimoji="1" lang="zh-CN" altLang="en-US" sz="2800" b="1" dirty="0">
                <a:solidFill>
                  <a:srgbClr val="000066"/>
                </a:solidFill>
                <a:cs typeface="Times New Roman" panose="02020603050405020304" pitchFamily="18" charset="0"/>
              </a:rPr>
              <a:t>变化</a:t>
            </a:r>
            <a:br>
              <a:rPr kumimoji="1" lang="zh-CN" altLang="en-US" sz="2800" b="1" dirty="0">
                <a:solidFill>
                  <a:srgbClr val="000066"/>
                </a:solidFill>
                <a:cs typeface="Times New Roman" panose="02020603050405020304" pitchFamily="18" charset="0"/>
              </a:rPr>
            </a:br>
            <a:r>
              <a:rPr kumimoji="1" lang="zh-CN" altLang="en-US" sz="2800" b="1" dirty="0">
                <a:solidFill>
                  <a:srgbClr val="000066"/>
                </a:solidFill>
                <a:cs typeface="Times New Roman" panose="02020603050405020304" pitchFamily="18" charset="0"/>
              </a:rPr>
              <a:t>                      </a:t>
            </a:r>
            <a:r>
              <a:rPr kumimoji="1" lang="en-US" altLang="zh-CN" sz="2800" b="1" i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A</a:t>
            </a:r>
            <a:r>
              <a:rPr kumimoji="1" lang="zh-CN" altLang="en-US" sz="2800" b="1" dirty="0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8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a</a:t>
            </a:r>
            <a:r>
              <a:rPr kumimoji="1" lang="zh-CN" altLang="en-US" sz="2800" b="1" dirty="0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8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L</a:t>
            </a:r>
            <a:r>
              <a:rPr kumimoji="1" lang="en-US" altLang="zh-CN" sz="2800" b="1" dirty="0">
                <a:solidFill>
                  <a:srgbClr val="000066"/>
                </a:solidFill>
                <a:cs typeface="Times New Roman" panose="02020603050405020304" pitchFamily="18" charset="0"/>
              </a:rPr>
              <a:t>=</a:t>
            </a:r>
            <a:r>
              <a:rPr kumimoji="1" lang="en-US" altLang="zh-CN" sz="28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const</a:t>
            </a:r>
            <a:endParaRPr kumimoji="1" lang="en-US" altLang="zh-CN" sz="2800" b="1" dirty="0">
              <a:solidFill>
                <a:srgbClr val="000066"/>
              </a:solidFill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 量测变量</a:t>
            </a:r>
            <a:r>
              <a:rPr kumimoji="1"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endParaRPr kumimoji="1" lang="en-US" altLang="zh-CN" sz="28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69444" name="Text Box 4"/>
          <p:cNvSpPr txBox="1">
            <a:spLocks noChangeArrowheads="1"/>
          </p:cNvSpPr>
          <p:nvPr/>
        </p:nvSpPr>
        <p:spPr bwMode="auto">
          <a:xfrm>
            <a:off x="327025" y="3473450"/>
            <a:ext cx="3986213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 适用土类：</a:t>
            </a:r>
            <a:r>
              <a:rPr lang="zh-CN" altLang="en-US" sz="28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透水性较小</a:t>
            </a:r>
            <a:br>
              <a:rPr lang="zh-CN" altLang="en-US" sz="28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</a:br>
            <a:r>
              <a:rPr lang="zh-CN" altLang="en-US" sz="28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                  </a:t>
            </a:r>
            <a:r>
              <a:rPr lang="zh-CN" altLang="en-US" sz="2800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的细粒土</a:t>
            </a:r>
            <a:endParaRPr lang="zh-CN" altLang="en-US" sz="2800" b="1" dirty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5119687" y="944563"/>
            <a:ext cx="3747865" cy="447516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469447" name="Rectangle 7"/>
          <p:cNvSpPr>
            <a:spLocks noChangeArrowheads="1"/>
          </p:cNvSpPr>
          <p:nvPr/>
        </p:nvSpPr>
        <p:spPr bwMode="auto">
          <a:xfrm>
            <a:off x="7512050" y="1431925"/>
            <a:ext cx="79375" cy="137477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51208" name="Freeform 8"/>
          <p:cNvSpPr>
            <a:spLocks/>
          </p:cNvSpPr>
          <p:nvPr/>
        </p:nvSpPr>
        <p:spPr bwMode="auto">
          <a:xfrm>
            <a:off x="6183313" y="2800350"/>
            <a:ext cx="1397000" cy="2173288"/>
          </a:xfrm>
          <a:custGeom>
            <a:avLst/>
            <a:gdLst>
              <a:gd name="T0" fmla="*/ 57 w 880"/>
              <a:gd name="T1" fmla="*/ 1124 h 1369"/>
              <a:gd name="T2" fmla="*/ 51 w 880"/>
              <a:gd name="T3" fmla="*/ 1328 h 1369"/>
              <a:gd name="T4" fmla="*/ 835 w 880"/>
              <a:gd name="T5" fmla="*/ 1328 h 1369"/>
              <a:gd name="T6" fmla="*/ 835 w 880"/>
              <a:gd name="T7" fmla="*/ 0 h 1369"/>
              <a:gd name="T8" fmla="*/ 880 w 880"/>
              <a:gd name="T9" fmla="*/ 0 h 1369"/>
              <a:gd name="T10" fmla="*/ 880 w 880"/>
              <a:gd name="T11" fmla="*/ 1369 h 1369"/>
              <a:gd name="T12" fmla="*/ 0 w 880"/>
              <a:gd name="T13" fmla="*/ 1369 h 1369"/>
              <a:gd name="T14" fmla="*/ 4 w 880"/>
              <a:gd name="T15" fmla="*/ 1124 h 1369"/>
              <a:gd name="T16" fmla="*/ 57 w 880"/>
              <a:gd name="T17" fmla="*/ 1124 h 13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880"/>
              <a:gd name="T28" fmla="*/ 0 h 1369"/>
              <a:gd name="T29" fmla="*/ 880 w 880"/>
              <a:gd name="T30" fmla="*/ 1369 h 136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880" h="1369">
                <a:moveTo>
                  <a:pt x="57" y="1124"/>
                </a:moveTo>
                <a:lnTo>
                  <a:pt x="51" y="1328"/>
                </a:lnTo>
                <a:lnTo>
                  <a:pt x="835" y="1328"/>
                </a:lnTo>
                <a:lnTo>
                  <a:pt x="835" y="0"/>
                </a:lnTo>
                <a:lnTo>
                  <a:pt x="880" y="0"/>
                </a:lnTo>
                <a:lnTo>
                  <a:pt x="880" y="1369"/>
                </a:lnTo>
                <a:lnTo>
                  <a:pt x="0" y="1369"/>
                </a:lnTo>
                <a:lnTo>
                  <a:pt x="4" y="1124"/>
                </a:lnTo>
                <a:lnTo>
                  <a:pt x="57" y="1124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5743575" y="4527550"/>
            <a:ext cx="9493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 flipH="1">
            <a:off x="6829425" y="4467225"/>
            <a:ext cx="350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 flipH="1">
            <a:off x="5748338" y="3162300"/>
            <a:ext cx="954087" cy="38735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51212" name="Rectangle 12" descr="沙滩"/>
          <p:cNvSpPr>
            <a:spLocks noChangeArrowheads="1"/>
          </p:cNvSpPr>
          <p:nvPr/>
        </p:nvSpPr>
        <p:spPr bwMode="auto">
          <a:xfrm flipH="1">
            <a:off x="5741988" y="3611563"/>
            <a:ext cx="958850" cy="85248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51213" name="Group 13"/>
          <p:cNvGrpSpPr>
            <a:grpSpLocks/>
          </p:cNvGrpSpPr>
          <p:nvPr/>
        </p:nvGrpSpPr>
        <p:grpSpPr bwMode="auto">
          <a:xfrm flipH="1">
            <a:off x="5349875" y="3244850"/>
            <a:ext cx="160338" cy="384175"/>
            <a:chOff x="4672" y="1478"/>
            <a:chExt cx="101" cy="242"/>
          </a:xfrm>
        </p:grpSpPr>
        <p:sp>
          <p:nvSpPr>
            <p:cNvPr id="51256" name="Freeform 14"/>
            <p:cNvSpPr>
              <a:spLocks/>
            </p:cNvSpPr>
            <p:nvPr/>
          </p:nvSpPr>
          <p:spPr bwMode="auto">
            <a:xfrm>
              <a:off x="4741" y="1517"/>
              <a:ext cx="32" cy="94"/>
            </a:xfrm>
            <a:custGeom>
              <a:avLst/>
              <a:gdLst>
                <a:gd name="T0" fmla="*/ 0 w 32"/>
                <a:gd name="T1" fmla="*/ 0 h 94"/>
                <a:gd name="T2" fmla="*/ 3 w 32"/>
                <a:gd name="T3" fmla="*/ 13 h 94"/>
                <a:gd name="T4" fmla="*/ 13 w 32"/>
                <a:gd name="T5" fmla="*/ 32 h 94"/>
                <a:gd name="T6" fmla="*/ 25 w 32"/>
                <a:gd name="T7" fmla="*/ 59 h 94"/>
                <a:gd name="T8" fmla="*/ 32 w 32"/>
                <a:gd name="T9" fmla="*/ 94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94"/>
                <a:gd name="T17" fmla="*/ 32 w 32"/>
                <a:gd name="T18" fmla="*/ 94 h 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94">
                  <a:moveTo>
                    <a:pt x="0" y="0"/>
                  </a:moveTo>
                  <a:cubicBezTo>
                    <a:pt x="2" y="8"/>
                    <a:pt x="6" y="5"/>
                    <a:pt x="3" y="13"/>
                  </a:cubicBezTo>
                  <a:cubicBezTo>
                    <a:pt x="8" y="19"/>
                    <a:pt x="8" y="26"/>
                    <a:pt x="13" y="32"/>
                  </a:cubicBezTo>
                  <a:cubicBezTo>
                    <a:pt x="15" y="41"/>
                    <a:pt x="17" y="53"/>
                    <a:pt x="25" y="59"/>
                  </a:cubicBezTo>
                  <a:cubicBezTo>
                    <a:pt x="27" y="70"/>
                    <a:pt x="32" y="83"/>
                    <a:pt x="32" y="94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57" name="Freeform 15"/>
            <p:cNvSpPr>
              <a:spLocks/>
            </p:cNvSpPr>
            <p:nvPr/>
          </p:nvSpPr>
          <p:spPr bwMode="auto">
            <a:xfrm>
              <a:off x="4698" y="1478"/>
              <a:ext cx="60" cy="196"/>
            </a:xfrm>
            <a:custGeom>
              <a:avLst/>
              <a:gdLst>
                <a:gd name="T0" fmla="*/ 0 w 60"/>
                <a:gd name="T1" fmla="*/ 0 h 196"/>
                <a:gd name="T2" fmla="*/ 24 w 60"/>
                <a:gd name="T3" fmla="*/ 40 h 196"/>
                <a:gd name="T4" fmla="*/ 35 w 60"/>
                <a:gd name="T5" fmla="*/ 58 h 196"/>
                <a:gd name="T6" fmla="*/ 41 w 60"/>
                <a:gd name="T7" fmla="*/ 72 h 196"/>
                <a:gd name="T8" fmla="*/ 51 w 60"/>
                <a:gd name="T9" fmla="*/ 122 h 196"/>
                <a:gd name="T10" fmla="*/ 56 w 60"/>
                <a:gd name="T11" fmla="*/ 154 h 196"/>
                <a:gd name="T12" fmla="*/ 60 w 60"/>
                <a:gd name="T13" fmla="*/ 196 h 1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"/>
                <a:gd name="T22" fmla="*/ 0 h 196"/>
                <a:gd name="T23" fmla="*/ 60 w 60"/>
                <a:gd name="T24" fmla="*/ 196 h 1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" h="196">
                  <a:moveTo>
                    <a:pt x="0" y="0"/>
                  </a:moveTo>
                  <a:cubicBezTo>
                    <a:pt x="8" y="13"/>
                    <a:pt x="17" y="27"/>
                    <a:pt x="24" y="40"/>
                  </a:cubicBezTo>
                  <a:cubicBezTo>
                    <a:pt x="25" y="46"/>
                    <a:pt x="31" y="52"/>
                    <a:pt x="35" y="58"/>
                  </a:cubicBezTo>
                  <a:cubicBezTo>
                    <a:pt x="36" y="64"/>
                    <a:pt x="38" y="67"/>
                    <a:pt x="41" y="72"/>
                  </a:cubicBezTo>
                  <a:cubicBezTo>
                    <a:pt x="46" y="88"/>
                    <a:pt x="49" y="105"/>
                    <a:pt x="51" y="122"/>
                  </a:cubicBezTo>
                  <a:cubicBezTo>
                    <a:pt x="52" y="135"/>
                    <a:pt x="54" y="142"/>
                    <a:pt x="56" y="154"/>
                  </a:cubicBezTo>
                  <a:cubicBezTo>
                    <a:pt x="57" y="164"/>
                    <a:pt x="56" y="187"/>
                    <a:pt x="60" y="196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58" name="Freeform 16"/>
            <p:cNvSpPr>
              <a:spLocks/>
            </p:cNvSpPr>
            <p:nvPr/>
          </p:nvSpPr>
          <p:spPr bwMode="auto">
            <a:xfrm>
              <a:off x="4691" y="1501"/>
              <a:ext cx="39" cy="147"/>
            </a:xfrm>
            <a:custGeom>
              <a:avLst/>
              <a:gdLst>
                <a:gd name="T0" fmla="*/ 0 w 39"/>
                <a:gd name="T1" fmla="*/ 0 h 147"/>
                <a:gd name="T2" fmla="*/ 7 w 39"/>
                <a:gd name="T3" fmla="*/ 22 h 147"/>
                <a:gd name="T4" fmla="*/ 18 w 39"/>
                <a:gd name="T5" fmla="*/ 41 h 147"/>
                <a:gd name="T6" fmla="*/ 29 w 39"/>
                <a:gd name="T7" fmla="*/ 65 h 147"/>
                <a:gd name="T8" fmla="*/ 37 w 39"/>
                <a:gd name="T9" fmla="*/ 118 h 147"/>
                <a:gd name="T10" fmla="*/ 39 w 39"/>
                <a:gd name="T11" fmla="*/ 147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"/>
                <a:gd name="T19" fmla="*/ 0 h 147"/>
                <a:gd name="T20" fmla="*/ 39 w 39"/>
                <a:gd name="T21" fmla="*/ 147 h 1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" h="147">
                  <a:moveTo>
                    <a:pt x="0" y="0"/>
                  </a:moveTo>
                  <a:cubicBezTo>
                    <a:pt x="4" y="7"/>
                    <a:pt x="4" y="15"/>
                    <a:pt x="7" y="22"/>
                  </a:cubicBezTo>
                  <a:cubicBezTo>
                    <a:pt x="10" y="29"/>
                    <a:pt x="15" y="34"/>
                    <a:pt x="18" y="41"/>
                  </a:cubicBezTo>
                  <a:cubicBezTo>
                    <a:pt x="19" y="48"/>
                    <a:pt x="24" y="59"/>
                    <a:pt x="29" y="65"/>
                  </a:cubicBezTo>
                  <a:cubicBezTo>
                    <a:pt x="33" y="82"/>
                    <a:pt x="33" y="100"/>
                    <a:pt x="37" y="118"/>
                  </a:cubicBezTo>
                  <a:cubicBezTo>
                    <a:pt x="39" y="140"/>
                    <a:pt x="39" y="131"/>
                    <a:pt x="39" y="147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59" name="Freeform 17"/>
            <p:cNvSpPr>
              <a:spLocks/>
            </p:cNvSpPr>
            <p:nvPr/>
          </p:nvSpPr>
          <p:spPr bwMode="auto">
            <a:xfrm>
              <a:off x="4672" y="1510"/>
              <a:ext cx="24" cy="96"/>
            </a:xfrm>
            <a:custGeom>
              <a:avLst/>
              <a:gdLst>
                <a:gd name="T0" fmla="*/ 0 w 24"/>
                <a:gd name="T1" fmla="*/ 0 h 96"/>
                <a:gd name="T2" fmla="*/ 10 w 24"/>
                <a:gd name="T3" fmla="*/ 24 h 96"/>
                <a:gd name="T4" fmla="*/ 18 w 24"/>
                <a:gd name="T5" fmla="*/ 64 h 96"/>
                <a:gd name="T6" fmla="*/ 21 w 24"/>
                <a:gd name="T7" fmla="*/ 85 h 96"/>
                <a:gd name="T8" fmla="*/ 24 w 24"/>
                <a:gd name="T9" fmla="*/ 96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96"/>
                <a:gd name="T17" fmla="*/ 24 w 24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96">
                  <a:moveTo>
                    <a:pt x="0" y="0"/>
                  </a:moveTo>
                  <a:cubicBezTo>
                    <a:pt x="4" y="8"/>
                    <a:pt x="6" y="16"/>
                    <a:pt x="10" y="24"/>
                  </a:cubicBezTo>
                  <a:cubicBezTo>
                    <a:pt x="13" y="37"/>
                    <a:pt x="15" y="51"/>
                    <a:pt x="18" y="64"/>
                  </a:cubicBezTo>
                  <a:cubicBezTo>
                    <a:pt x="19" y="82"/>
                    <a:pt x="18" y="71"/>
                    <a:pt x="21" y="85"/>
                  </a:cubicBezTo>
                  <a:cubicBezTo>
                    <a:pt x="22" y="89"/>
                    <a:pt x="24" y="96"/>
                    <a:pt x="24" y="96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60" name="Freeform 18"/>
            <p:cNvSpPr>
              <a:spLocks/>
            </p:cNvSpPr>
            <p:nvPr/>
          </p:nvSpPr>
          <p:spPr bwMode="auto">
            <a:xfrm>
              <a:off x="4699" y="1642"/>
              <a:ext cx="10" cy="78"/>
            </a:xfrm>
            <a:custGeom>
              <a:avLst/>
              <a:gdLst>
                <a:gd name="T0" fmla="*/ 0 w 10"/>
                <a:gd name="T1" fmla="*/ 0 h 78"/>
                <a:gd name="T2" fmla="*/ 10 w 10"/>
                <a:gd name="T3" fmla="*/ 78 h 78"/>
                <a:gd name="T4" fmla="*/ 0 60000 65536"/>
                <a:gd name="T5" fmla="*/ 0 60000 65536"/>
                <a:gd name="T6" fmla="*/ 0 w 10"/>
                <a:gd name="T7" fmla="*/ 0 h 78"/>
                <a:gd name="T8" fmla="*/ 10 w 10"/>
                <a:gd name="T9" fmla="*/ 78 h 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" h="78">
                  <a:moveTo>
                    <a:pt x="0" y="0"/>
                  </a:moveTo>
                  <a:cubicBezTo>
                    <a:pt x="9" y="19"/>
                    <a:pt x="10" y="55"/>
                    <a:pt x="10" y="78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51214" name="Freeform 19"/>
          <p:cNvSpPr>
            <a:spLocks/>
          </p:cNvSpPr>
          <p:nvPr/>
        </p:nvSpPr>
        <p:spPr bwMode="auto">
          <a:xfrm>
            <a:off x="5510213" y="2940050"/>
            <a:ext cx="1189037" cy="1668463"/>
          </a:xfrm>
          <a:custGeom>
            <a:avLst/>
            <a:gdLst>
              <a:gd name="T0" fmla="*/ 476 w 749"/>
              <a:gd name="T1" fmla="*/ 1051 h 1051"/>
              <a:gd name="T2" fmla="*/ 747 w 749"/>
              <a:gd name="T3" fmla="*/ 1051 h 1051"/>
              <a:gd name="T4" fmla="*/ 749 w 749"/>
              <a:gd name="T5" fmla="*/ 0 h 1051"/>
              <a:gd name="T6" fmla="*/ 156 w 749"/>
              <a:gd name="T7" fmla="*/ 0 h 1051"/>
              <a:gd name="T8" fmla="*/ 156 w 749"/>
              <a:gd name="T9" fmla="*/ 65 h 1051"/>
              <a:gd name="T10" fmla="*/ 0 w 749"/>
              <a:gd name="T11" fmla="*/ 159 h 10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49"/>
              <a:gd name="T19" fmla="*/ 0 h 1051"/>
              <a:gd name="T20" fmla="*/ 749 w 749"/>
              <a:gd name="T21" fmla="*/ 1051 h 10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49" h="1051">
                <a:moveTo>
                  <a:pt x="476" y="1051"/>
                </a:moveTo>
                <a:lnTo>
                  <a:pt x="747" y="1051"/>
                </a:lnTo>
                <a:lnTo>
                  <a:pt x="749" y="0"/>
                </a:lnTo>
                <a:lnTo>
                  <a:pt x="156" y="0"/>
                </a:lnTo>
                <a:lnTo>
                  <a:pt x="156" y="65"/>
                </a:lnTo>
                <a:lnTo>
                  <a:pt x="0" y="1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15" name="Freeform 20"/>
          <p:cNvSpPr>
            <a:spLocks/>
          </p:cNvSpPr>
          <p:nvPr/>
        </p:nvSpPr>
        <p:spPr bwMode="auto">
          <a:xfrm>
            <a:off x="5551488" y="3157538"/>
            <a:ext cx="633412" cy="1450975"/>
          </a:xfrm>
          <a:custGeom>
            <a:avLst/>
            <a:gdLst>
              <a:gd name="T0" fmla="*/ 399 w 399"/>
              <a:gd name="T1" fmla="*/ 914 h 914"/>
              <a:gd name="T2" fmla="*/ 121 w 399"/>
              <a:gd name="T3" fmla="*/ 914 h 914"/>
              <a:gd name="T4" fmla="*/ 120 w 399"/>
              <a:gd name="T5" fmla="*/ 0 h 914"/>
              <a:gd name="T6" fmla="*/ 0 w 399"/>
              <a:gd name="T7" fmla="*/ 84 h 914"/>
              <a:gd name="T8" fmla="*/ 0 60000 65536"/>
              <a:gd name="T9" fmla="*/ 0 60000 65536"/>
              <a:gd name="T10" fmla="*/ 0 60000 65536"/>
              <a:gd name="T11" fmla="*/ 0 60000 65536"/>
              <a:gd name="T12" fmla="*/ 0 w 399"/>
              <a:gd name="T13" fmla="*/ 0 h 914"/>
              <a:gd name="T14" fmla="*/ 399 w 399"/>
              <a:gd name="T15" fmla="*/ 914 h 91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9" h="914">
                <a:moveTo>
                  <a:pt x="399" y="914"/>
                </a:moveTo>
                <a:lnTo>
                  <a:pt x="121" y="914"/>
                </a:lnTo>
                <a:lnTo>
                  <a:pt x="120" y="0"/>
                </a:lnTo>
                <a:lnTo>
                  <a:pt x="0" y="8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16" name="Line 21"/>
          <p:cNvSpPr>
            <a:spLocks noChangeShapeType="1"/>
          </p:cNvSpPr>
          <p:nvPr/>
        </p:nvSpPr>
        <p:spPr bwMode="auto">
          <a:xfrm flipH="1">
            <a:off x="5748338" y="3162300"/>
            <a:ext cx="946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17" name="Rectangle 22" descr="浅色竖线"/>
          <p:cNvSpPr>
            <a:spLocks noChangeArrowheads="1"/>
          </p:cNvSpPr>
          <p:nvPr/>
        </p:nvSpPr>
        <p:spPr bwMode="auto">
          <a:xfrm flipH="1">
            <a:off x="5748338" y="3543300"/>
            <a:ext cx="952500" cy="73025"/>
          </a:xfrm>
          <a:prstGeom prst="rect">
            <a:avLst/>
          </a:prstGeom>
          <a:pattFill prst="ltVert">
            <a:fgClr>
              <a:srgbClr val="6600CC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51218" name="Rectangle 23" descr="浅色竖线"/>
          <p:cNvSpPr>
            <a:spLocks noChangeArrowheads="1"/>
          </p:cNvSpPr>
          <p:nvPr/>
        </p:nvSpPr>
        <p:spPr bwMode="auto">
          <a:xfrm flipH="1">
            <a:off x="5741988" y="4457700"/>
            <a:ext cx="952500" cy="73025"/>
          </a:xfrm>
          <a:prstGeom prst="rect">
            <a:avLst/>
          </a:prstGeom>
          <a:pattFill prst="ltVert">
            <a:fgClr>
              <a:srgbClr val="6600CC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51219" name="Group 24"/>
          <p:cNvGrpSpPr>
            <a:grpSpLocks/>
          </p:cNvGrpSpPr>
          <p:nvPr/>
        </p:nvGrpSpPr>
        <p:grpSpPr bwMode="auto">
          <a:xfrm flipH="1">
            <a:off x="6281738" y="3054350"/>
            <a:ext cx="228600" cy="211138"/>
            <a:chOff x="4574" y="2114"/>
            <a:chExt cx="144" cy="133"/>
          </a:xfrm>
        </p:grpSpPr>
        <p:sp>
          <p:nvSpPr>
            <p:cNvPr id="51252" name="AutoShape 25"/>
            <p:cNvSpPr>
              <a:spLocks noChangeArrowheads="1"/>
            </p:cNvSpPr>
            <p:nvPr/>
          </p:nvSpPr>
          <p:spPr bwMode="auto">
            <a:xfrm flipV="1">
              <a:off x="4601" y="2114"/>
              <a:ext cx="91" cy="6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51253" name="Line 26"/>
            <p:cNvSpPr>
              <a:spLocks noChangeShapeType="1"/>
            </p:cNvSpPr>
            <p:nvPr/>
          </p:nvSpPr>
          <p:spPr bwMode="auto">
            <a:xfrm>
              <a:off x="4574" y="2202"/>
              <a:ext cx="14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54" name="Line 27"/>
            <p:cNvSpPr>
              <a:spLocks noChangeShapeType="1"/>
            </p:cNvSpPr>
            <p:nvPr/>
          </p:nvSpPr>
          <p:spPr bwMode="auto">
            <a:xfrm>
              <a:off x="4610" y="2225"/>
              <a:ext cx="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55" name="Line 28"/>
            <p:cNvSpPr>
              <a:spLocks noChangeShapeType="1"/>
            </p:cNvSpPr>
            <p:nvPr/>
          </p:nvSpPr>
          <p:spPr bwMode="auto">
            <a:xfrm>
              <a:off x="4633" y="2247"/>
              <a:ext cx="5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51220" name="Text Box 29"/>
          <p:cNvSpPr txBox="1">
            <a:spLocks noChangeArrowheads="1"/>
          </p:cNvSpPr>
          <p:nvPr/>
        </p:nvSpPr>
        <p:spPr bwMode="auto">
          <a:xfrm>
            <a:off x="5815013" y="3808413"/>
            <a:ext cx="81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土样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1221" name="Text Box 30"/>
          <p:cNvSpPr txBox="1">
            <a:spLocks noChangeArrowheads="1"/>
          </p:cNvSpPr>
          <p:nvPr/>
        </p:nvSpPr>
        <p:spPr bwMode="auto">
          <a:xfrm>
            <a:off x="5249863" y="4502150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A</a:t>
            </a:r>
          </a:p>
        </p:txBody>
      </p:sp>
      <p:sp>
        <p:nvSpPr>
          <p:cNvPr id="51222" name="Freeform 31"/>
          <p:cNvSpPr>
            <a:spLocks/>
          </p:cNvSpPr>
          <p:nvPr/>
        </p:nvSpPr>
        <p:spPr bwMode="auto">
          <a:xfrm>
            <a:off x="6188075" y="1323975"/>
            <a:ext cx="1397000" cy="3648075"/>
          </a:xfrm>
          <a:custGeom>
            <a:avLst/>
            <a:gdLst>
              <a:gd name="T0" fmla="*/ 0 w 880"/>
              <a:gd name="T1" fmla="*/ 2024 h 2298"/>
              <a:gd name="T2" fmla="*/ 0 w 880"/>
              <a:gd name="T3" fmla="*/ 2298 h 2298"/>
              <a:gd name="T4" fmla="*/ 877 w 880"/>
              <a:gd name="T5" fmla="*/ 2298 h 2298"/>
              <a:gd name="T6" fmla="*/ 880 w 880"/>
              <a:gd name="T7" fmla="*/ 0 h 2298"/>
              <a:gd name="T8" fmla="*/ 0 60000 65536"/>
              <a:gd name="T9" fmla="*/ 0 60000 65536"/>
              <a:gd name="T10" fmla="*/ 0 60000 65536"/>
              <a:gd name="T11" fmla="*/ 0 60000 65536"/>
              <a:gd name="T12" fmla="*/ 0 w 880"/>
              <a:gd name="T13" fmla="*/ 0 h 2298"/>
              <a:gd name="T14" fmla="*/ 880 w 880"/>
              <a:gd name="T15" fmla="*/ 2298 h 22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0" h="2298">
                <a:moveTo>
                  <a:pt x="0" y="2024"/>
                </a:moveTo>
                <a:lnTo>
                  <a:pt x="0" y="2298"/>
                </a:lnTo>
                <a:lnTo>
                  <a:pt x="877" y="2298"/>
                </a:lnTo>
                <a:lnTo>
                  <a:pt x="88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23" name="Freeform 32"/>
          <p:cNvSpPr>
            <a:spLocks/>
          </p:cNvSpPr>
          <p:nvPr/>
        </p:nvSpPr>
        <p:spPr bwMode="auto">
          <a:xfrm>
            <a:off x="6267450" y="1320800"/>
            <a:ext cx="1246188" cy="3582988"/>
          </a:xfrm>
          <a:custGeom>
            <a:avLst/>
            <a:gdLst>
              <a:gd name="T0" fmla="*/ 0 w 785"/>
              <a:gd name="T1" fmla="*/ 2023 h 2257"/>
              <a:gd name="T2" fmla="*/ 1 w 785"/>
              <a:gd name="T3" fmla="*/ 2257 h 2257"/>
              <a:gd name="T4" fmla="*/ 782 w 785"/>
              <a:gd name="T5" fmla="*/ 2257 h 2257"/>
              <a:gd name="T6" fmla="*/ 785 w 785"/>
              <a:gd name="T7" fmla="*/ 0 h 2257"/>
              <a:gd name="T8" fmla="*/ 0 60000 65536"/>
              <a:gd name="T9" fmla="*/ 0 60000 65536"/>
              <a:gd name="T10" fmla="*/ 0 60000 65536"/>
              <a:gd name="T11" fmla="*/ 0 60000 65536"/>
              <a:gd name="T12" fmla="*/ 0 w 785"/>
              <a:gd name="T13" fmla="*/ 0 h 2257"/>
              <a:gd name="T14" fmla="*/ 785 w 785"/>
              <a:gd name="T15" fmla="*/ 2257 h 225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5" h="2257">
                <a:moveTo>
                  <a:pt x="0" y="2023"/>
                </a:moveTo>
                <a:lnTo>
                  <a:pt x="1" y="2257"/>
                </a:lnTo>
                <a:lnTo>
                  <a:pt x="782" y="2257"/>
                </a:lnTo>
                <a:lnTo>
                  <a:pt x="785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6603998" y="1062038"/>
            <a:ext cx="2022475" cy="2093912"/>
            <a:chOff x="4160" y="669"/>
            <a:chExt cx="1274" cy="1319"/>
          </a:xfrm>
        </p:grpSpPr>
        <p:sp>
          <p:nvSpPr>
            <p:cNvPr id="51245" name="Line 34"/>
            <p:cNvSpPr>
              <a:spLocks noChangeShapeType="1"/>
            </p:cNvSpPr>
            <p:nvPr/>
          </p:nvSpPr>
          <p:spPr bwMode="auto">
            <a:xfrm>
              <a:off x="4278" y="1988"/>
              <a:ext cx="4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46" name="Line 35"/>
            <p:cNvSpPr>
              <a:spLocks noChangeShapeType="1"/>
            </p:cNvSpPr>
            <p:nvPr/>
          </p:nvSpPr>
          <p:spPr bwMode="auto">
            <a:xfrm flipH="1">
              <a:off x="4311" y="903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pSp>
          <p:nvGrpSpPr>
            <p:cNvPr id="51247" name="Group 36"/>
            <p:cNvGrpSpPr>
              <a:grpSpLocks/>
            </p:cNvGrpSpPr>
            <p:nvPr/>
          </p:nvGrpSpPr>
          <p:grpSpPr bwMode="auto">
            <a:xfrm>
              <a:off x="4160" y="669"/>
              <a:ext cx="1274" cy="1319"/>
              <a:chOff x="4160" y="669"/>
              <a:chExt cx="1274" cy="1319"/>
            </a:xfrm>
          </p:grpSpPr>
          <p:sp>
            <p:nvSpPr>
              <p:cNvPr id="51248" name="Line 37"/>
              <p:cNvSpPr>
                <a:spLocks noChangeShapeType="1"/>
              </p:cNvSpPr>
              <p:nvPr/>
            </p:nvSpPr>
            <p:spPr bwMode="auto">
              <a:xfrm>
                <a:off x="4339" y="906"/>
                <a:ext cx="0" cy="10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51249" name="Line 38"/>
              <p:cNvSpPr>
                <a:spLocks noChangeShapeType="1"/>
              </p:cNvSpPr>
              <p:nvPr/>
            </p:nvSpPr>
            <p:spPr bwMode="auto">
              <a:xfrm>
                <a:off x="4779" y="90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51250" name="Text Box 39"/>
              <p:cNvSpPr txBox="1">
                <a:spLocks noChangeArrowheads="1"/>
              </p:cNvSpPr>
              <p:nvPr/>
            </p:nvSpPr>
            <p:spPr bwMode="auto">
              <a:xfrm>
                <a:off x="5037" y="669"/>
                <a:ext cx="39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 smtClean="0">
                    <a:solidFill>
                      <a:srgbClr val="000066"/>
                    </a:solidFill>
                    <a:ea typeface="幼圆" pitchFamily="49" charset="-122"/>
                  </a:rPr>
                  <a:t>t</a:t>
                </a:r>
                <a:r>
                  <a:rPr lang="en-US" altLang="zh-CN" sz="2400" b="1" dirty="0" smtClean="0">
                    <a:solidFill>
                      <a:srgbClr val="000066"/>
                    </a:solidFill>
                    <a:ea typeface="幼圆" pitchFamily="49" charset="-122"/>
                  </a:rPr>
                  <a:t>=</a:t>
                </a:r>
                <a:r>
                  <a:rPr lang="en-US" altLang="zh-CN" sz="2400" b="1" i="1" dirty="0" smtClean="0">
                    <a:solidFill>
                      <a:srgbClr val="000066"/>
                    </a:solidFill>
                    <a:ea typeface="幼圆" pitchFamily="49" charset="-122"/>
                  </a:rPr>
                  <a:t>t</a:t>
                </a:r>
                <a:r>
                  <a:rPr lang="en-US" altLang="zh-CN" sz="2400" b="1" baseline="-25000" dirty="0" smtClean="0">
                    <a:solidFill>
                      <a:srgbClr val="000066"/>
                    </a:solidFill>
                    <a:ea typeface="幼圆" pitchFamily="49" charset="-122"/>
                  </a:rPr>
                  <a:t>1</a:t>
                </a:r>
                <a:endParaRPr lang="en-US" altLang="zh-CN" sz="2400" b="1" dirty="0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  <p:sp>
            <p:nvSpPr>
              <p:cNvPr id="51251" name="Text Box 40"/>
              <p:cNvSpPr txBox="1">
                <a:spLocks noChangeArrowheads="1"/>
              </p:cNvSpPr>
              <p:nvPr/>
            </p:nvSpPr>
            <p:spPr bwMode="auto">
              <a:xfrm>
                <a:off x="4160" y="1289"/>
                <a:ext cx="359" cy="252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</a:t>
                </a:r>
                <a:r>
                  <a:rPr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h</a:t>
                </a:r>
                <a:r>
                  <a:rPr lang="en-US" altLang="zh-CN" sz="2000" b="1" baseline="-25000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1</a:t>
                </a:r>
                <a:endParaRPr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</p:grpSp>
      </p:grp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7581897" y="2419350"/>
            <a:ext cx="1016000" cy="779463"/>
            <a:chOff x="4776" y="1524"/>
            <a:chExt cx="640" cy="491"/>
          </a:xfrm>
        </p:grpSpPr>
        <p:sp>
          <p:nvSpPr>
            <p:cNvPr id="51240" name="Line 42"/>
            <p:cNvSpPr>
              <a:spLocks noChangeShapeType="1"/>
            </p:cNvSpPr>
            <p:nvPr/>
          </p:nvSpPr>
          <p:spPr bwMode="auto">
            <a:xfrm>
              <a:off x="4776" y="1767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41" name="Text Box 43"/>
            <p:cNvSpPr txBox="1">
              <a:spLocks noChangeArrowheads="1"/>
            </p:cNvSpPr>
            <p:nvPr/>
          </p:nvSpPr>
          <p:spPr bwMode="auto">
            <a:xfrm>
              <a:off x="5019" y="1524"/>
              <a:ext cx="39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</a:rPr>
                <a:t>t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</a:rPr>
                <a:t>=</a:t>
              </a: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</a:rPr>
                <a:t>t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2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51242" name="Line 44"/>
            <p:cNvSpPr>
              <a:spLocks noChangeShapeType="1"/>
            </p:cNvSpPr>
            <p:nvPr/>
          </p:nvSpPr>
          <p:spPr bwMode="auto">
            <a:xfrm flipH="1">
              <a:off x="4792" y="1987"/>
              <a:ext cx="1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43" name="Line 45"/>
            <p:cNvSpPr>
              <a:spLocks noChangeShapeType="1"/>
            </p:cNvSpPr>
            <p:nvPr/>
          </p:nvSpPr>
          <p:spPr bwMode="auto">
            <a:xfrm>
              <a:off x="4897" y="1769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51244" name="Text Box 46"/>
            <p:cNvSpPr txBox="1">
              <a:spLocks noChangeArrowheads="1"/>
            </p:cNvSpPr>
            <p:nvPr/>
          </p:nvSpPr>
          <p:spPr bwMode="auto">
            <a:xfrm>
              <a:off x="4883" y="1763"/>
              <a:ext cx="35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h</a:t>
              </a:r>
              <a:r>
                <a:rPr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2</a:t>
              </a: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51226" name="Line 47"/>
          <p:cNvSpPr>
            <a:spLocks noChangeShapeType="1"/>
          </p:cNvSpPr>
          <p:nvPr/>
        </p:nvSpPr>
        <p:spPr bwMode="auto">
          <a:xfrm>
            <a:off x="6978650" y="3629025"/>
            <a:ext cx="0" cy="841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27" name="Line 48"/>
          <p:cNvSpPr>
            <a:spLocks noChangeShapeType="1"/>
          </p:cNvSpPr>
          <p:nvPr/>
        </p:nvSpPr>
        <p:spPr bwMode="auto">
          <a:xfrm flipH="1">
            <a:off x="6786563" y="3622675"/>
            <a:ext cx="350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28" name="Text Box 49"/>
          <p:cNvSpPr txBox="1">
            <a:spLocks noChangeArrowheads="1"/>
          </p:cNvSpPr>
          <p:nvPr/>
        </p:nvSpPr>
        <p:spPr bwMode="auto">
          <a:xfrm>
            <a:off x="6823075" y="3836988"/>
            <a:ext cx="339725" cy="396875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L</a:t>
            </a:r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7432675" y="4086225"/>
            <a:ext cx="228600" cy="228600"/>
            <a:chOff x="4880" y="2340"/>
            <a:chExt cx="144" cy="144"/>
          </a:xfrm>
        </p:grpSpPr>
        <p:sp>
          <p:nvSpPr>
            <p:cNvPr id="51238" name="Oval 51"/>
            <p:cNvSpPr>
              <a:spLocks noChangeArrowheads="1"/>
            </p:cNvSpPr>
            <p:nvPr/>
          </p:nvSpPr>
          <p:spPr bwMode="auto">
            <a:xfrm>
              <a:off x="4880" y="234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51239" name="Line 52"/>
            <p:cNvSpPr>
              <a:spLocks noChangeShapeType="1"/>
            </p:cNvSpPr>
            <p:nvPr/>
          </p:nvSpPr>
          <p:spPr bwMode="auto">
            <a:xfrm>
              <a:off x="4902" y="2413"/>
              <a:ext cx="1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51230" name="Line 53"/>
          <p:cNvSpPr>
            <a:spLocks noChangeShapeType="1"/>
          </p:cNvSpPr>
          <p:nvPr/>
        </p:nvSpPr>
        <p:spPr bwMode="auto">
          <a:xfrm flipH="1">
            <a:off x="5524500" y="4318000"/>
            <a:ext cx="355600" cy="24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31" name="Text Box 54"/>
          <p:cNvSpPr txBox="1">
            <a:spLocks noChangeArrowheads="1"/>
          </p:cNvSpPr>
          <p:nvPr/>
        </p:nvSpPr>
        <p:spPr bwMode="auto">
          <a:xfrm>
            <a:off x="5229225" y="360045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Q</a:t>
            </a:r>
          </a:p>
        </p:txBody>
      </p:sp>
      <p:sp>
        <p:nvSpPr>
          <p:cNvPr id="51232" name="Text Box 55"/>
          <p:cNvSpPr txBox="1">
            <a:spLocks noChangeArrowheads="1"/>
          </p:cNvSpPr>
          <p:nvPr/>
        </p:nvSpPr>
        <p:spPr bwMode="auto">
          <a:xfrm>
            <a:off x="7908925" y="3421063"/>
            <a:ext cx="722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水头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测管</a:t>
            </a:r>
            <a:endParaRPr lang="en-US" altLang="zh-CN" sz="20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1233" name="Line 56"/>
          <p:cNvSpPr>
            <a:spLocks noChangeShapeType="1"/>
          </p:cNvSpPr>
          <p:nvPr/>
        </p:nvSpPr>
        <p:spPr bwMode="auto">
          <a:xfrm>
            <a:off x="7535863" y="3575050"/>
            <a:ext cx="396875" cy="82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34" name="Text Box 57"/>
          <p:cNvSpPr txBox="1">
            <a:spLocks noChangeArrowheads="1"/>
          </p:cNvSpPr>
          <p:nvPr/>
        </p:nvSpPr>
        <p:spPr bwMode="auto">
          <a:xfrm>
            <a:off x="7799388" y="4252913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开关</a:t>
            </a:r>
          </a:p>
        </p:txBody>
      </p:sp>
      <p:sp>
        <p:nvSpPr>
          <p:cNvPr id="51235" name="Line 58"/>
          <p:cNvSpPr>
            <a:spLocks noChangeShapeType="1"/>
          </p:cNvSpPr>
          <p:nvPr/>
        </p:nvSpPr>
        <p:spPr bwMode="auto">
          <a:xfrm>
            <a:off x="7627938" y="4267200"/>
            <a:ext cx="233362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1236" name="Text Box 59"/>
          <p:cNvSpPr txBox="1">
            <a:spLocks noChangeArrowheads="1"/>
          </p:cNvSpPr>
          <p:nvPr/>
        </p:nvSpPr>
        <p:spPr bwMode="auto">
          <a:xfrm>
            <a:off x="7772400" y="45974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a</a:t>
            </a:r>
          </a:p>
        </p:txBody>
      </p:sp>
      <p:sp>
        <p:nvSpPr>
          <p:cNvPr id="51237" name="Line 60"/>
          <p:cNvSpPr>
            <a:spLocks noChangeShapeType="1"/>
          </p:cNvSpPr>
          <p:nvPr/>
        </p:nvSpPr>
        <p:spPr bwMode="auto">
          <a:xfrm>
            <a:off x="7543800" y="4694238"/>
            <a:ext cx="258763" cy="166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6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3" name="Text Box 7"/>
          <p:cNvSpPr txBox="1">
            <a:spLocks noChangeArrowheads="1"/>
          </p:cNvSpPr>
          <p:nvPr/>
        </p:nvSpPr>
        <p:spPr bwMode="auto">
          <a:xfrm>
            <a:off x="-1" y="0"/>
            <a:ext cx="5619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渗透系数测定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30549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469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469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0"/>
                                        <p:tgtEl>
                                          <p:spTgt spid="1469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46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469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469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9443" grpId="0"/>
      <p:bldP spid="1469444" grpId="0"/>
      <p:bldP spid="146944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465763" y="760413"/>
            <a:ext cx="3521075" cy="4187825"/>
            <a:chOff x="3415" y="509"/>
            <a:chExt cx="2256" cy="2638"/>
          </a:xfrm>
        </p:grpSpPr>
        <p:sp>
          <p:nvSpPr>
            <p:cNvPr id="9245" name="Rectangle 3"/>
            <p:cNvSpPr>
              <a:spLocks noChangeArrowheads="1"/>
            </p:cNvSpPr>
            <p:nvPr/>
          </p:nvSpPr>
          <p:spPr bwMode="auto">
            <a:xfrm>
              <a:off x="3415" y="509"/>
              <a:ext cx="2256" cy="2638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pSp>
          <p:nvGrpSpPr>
            <p:cNvPr id="9246" name="Group 4"/>
            <p:cNvGrpSpPr>
              <a:grpSpLocks/>
            </p:cNvGrpSpPr>
            <p:nvPr/>
          </p:nvGrpSpPr>
          <p:grpSpPr bwMode="auto">
            <a:xfrm>
              <a:off x="3484" y="509"/>
              <a:ext cx="2147" cy="2464"/>
              <a:chOff x="3294" y="669"/>
              <a:chExt cx="2147" cy="2464"/>
            </a:xfrm>
          </p:grpSpPr>
          <p:sp>
            <p:nvSpPr>
              <p:cNvPr id="9247" name="Rectangle 5"/>
              <p:cNvSpPr>
                <a:spLocks noChangeArrowheads="1"/>
              </p:cNvSpPr>
              <p:nvPr/>
            </p:nvSpPr>
            <p:spPr bwMode="auto">
              <a:xfrm>
                <a:off x="4732" y="902"/>
                <a:ext cx="50" cy="866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9248" name="Freeform 6"/>
              <p:cNvSpPr>
                <a:spLocks/>
              </p:cNvSpPr>
              <p:nvPr/>
            </p:nvSpPr>
            <p:spPr bwMode="auto">
              <a:xfrm>
                <a:off x="3895" y="1764"/>
                <a:ext cx="880" cy="1369"/>
              </a:xfrm>
              <a:custGeom>
                <a:avLst/>
                <a:gdLst>
                  <a:gd name="T0" fmla="*/ 57 w 880"/>
                  <a:gd name="T1" fmla="*/ 1124 h 1369"/>
                  <a:gd name="T2" fmla="*/ 51 w 880"/>
                  <a:gd name="T3" fmla="*/ 1328 h 1369"/>
                  <a:gd name="T4" fmla="*/ 835 w 880"/>
                  <a:gd name="T5" fmla="*/ 1328 h 1369"/>
                  <a:gd name="T6" fmla="*/ 835 w 880"/>
                  <a:gd name="T7" fmla="*/ 0 h 1369"/>
                  <a:gd name="T8" fmla="*/ 880 w 880"/>
                  <a:gd name="T9" fmla="*/ 0 h 1369"/>
                  <a:gd name="T10" fmla="*/ 880 w 880"/>
                  <a:gd name="T11" fmla="*/ 1369 h 1369"/>
                  <a:gd name="T12" fmla="*/ 0 w 880"/>
                  <a:gd name="T13" fmla="*/ 1369 h 1369"/>
                  <a:gd name="T14" fmla="*/ 4 w 880"/>
                  <a:gd name="T15" fmla="*/ 1124 h 1369"/>
                  <a:gd name="T16" fmla="*/ 57 w 880"/>
                  <a:gd name="T17" fmla="*/ 1124 h 136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80"/>
                  <a:gd name="T28" fmla="*/ 0 h 1369"/>
                  <a:gd name="T29" fmla="*/ 880 w 880"/>
                  <a:gd name="T30" fmla="*/ 1369 h 136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80" h="1369">
                    <a:moveTo>
                      <a:pt x="57" y="1124"/>
                    </a:moveTo>
                    <a:lnTo>
                      <a:pt x="51" y="1328"/>
                    </a:lnTo>
                    <a:lnTo>
                      <a:pt x="835" y="1328"/>
                    </a:lnTo>
                    <a:lnTo>
                      <a:pt x="835" y="0"/>
                    </a:lnTo>
                    <a:lnTo>
                      <a:pt x="880" y="0"/>
                    </a:lnTo>
                    <a:lnTo>
                      <a:pt x="880" y="1369"/>
                    </a:lnTo>
                    <a:lnTo>
                      <a:pt x="0" y="1369"/>
                    </a:lnTo>
                    <a:lnTo>
                      <a:pt x="4" y="1124"/>
                    </a:lnTo>
                    <a:lnTo>
                      <a:pt x="57" y="1124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49" name="Rectangle 7"/>
              <p:cNvSpPr>
                <a:spLocks noChangeArrowheads="1"/>
              </p:cNvSpPr>
              <p:nvPr/>
            </p:nvSpPr>
            <p:spPr bwMode="auto">
              <a:xfrm>
                <a:off x="3618" y="2852"/>
                <a:ext cx="598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9250" name="Line 8"/>
              <p:cNvSpPr>
                <a:spLocks noChangeShapeType="1"/>
              </p:cNvSpPr>
              <p:nvPr/>
            </p:nvSpPr>
            <p:spPr bwMode="auto">
              <a:xfrm flipH="1">
                <a:off x="4302" y="2814"/>
                <a:ext cx="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51" name="Line 9"/>
              <p:cNvSpPr>
                <a:spLocks noChangeShapeType="1"/>
              </p:cNvSpPr>
              <p:nvPr/>
            </p:nvSpPr>
            <p:spPr bwMode="auto">
              <a:xfrm>
                <a:off x="4339" y="906"/>
                <a:ext cx="0" cy="10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52" name="Rectangle 10"/>
              <p:cNvSpPr>
                <a:spLocks noChangeArrowheads="1"/>
              </p:cNvSpPr>
              <p:nvPr/>
            </p:nvSpPr>
            <p:spPr bwMode="auto">
              <a:xfrm flipH="1">
                <a:off x="3621" y="1992"/>
                <a:ext cx="601" cy="244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9253" name="Rectangle 11" descr="沙滩"/>
              <p:cNvSpPr>
                <a:spLocks noChangeArrowheads="1"/>
              </p:cNvSpPr>
              <p:nvPr/>
            </p:nvSpPr>
            <p:spPr bwMode="auto">
              <a:xfrm flipH="1">
                <a:off x="3617" y="2275"/>
                <a:ext cx="604" cy="537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grpSp>
            <p:nvGrpSpPr>
              <p:cNvPr id="9254" name="Group 12"/>
              <p:cNvGrpSpPr>
                <a:grpSpLocks/>
              </p:cNvGrpSpPr>
              <p:nvPr/>
            </p:nvGrpSpPr>
            <p:grpSpPr bwMode="auto">
              <a:xfrm flipH="1">
                <a:off x="3370" y="2044"/>
                <a:ext cx="101" cy="242"/>
                <a:chOff x="4672" y="1478"/>
                <a:chExt cx="101" cy="242"/>
              </a:xfrm>
            </p:grpSpPr>
            <p:sp>
              <p:nvSpPr>
                <p:cNvPr id="9291" name="Freeform 13"/>
                <p:cNvSpPr>
                  <a:spLocks/>
                </p:cNvSpPr>
                <p:nvPr/>
              </p:nvSpPr>
              <p:spPr bwMode="auto">
                <a:xfrm>
                  <a:off x="4741" y="1517"/>
                  <a:ext cx="32" cy="94"/>
                </a:xfrm>
                <a:custGeom>
                  <a:avLst/>
                  <a:gdLst>
                    <a:gd name="T0" fmla="*/ 0 w 32"/>
                    <a:gd name="T1" fmla="*/ 0 h 94"/>
                    <a:gd name="T2" fmla="*/ 3 w 32"/>
                    <a:gd name="T3" fmla="*/ 13 h 94"/>
                    <a:gd name="T4" fmla="*/ 13 w 32"/>
                    <a:gd name="T5" fmla="*/ 32 h 94"/>
                    <a:gd name="T6" fmla="*/ 25 w 32"/>
                    <a:gd name="T7" fmla="*/ 59 h 94"/>
                    <a:gd name="T8" fmla="*/ 32 w 32"/>
                    <a:gd name="T9" fmla="*/ 94 h 9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"/>
                    <a:gd name="T16" fmla="*/ 0 h 94"/>
                    <a:gd name="T17" fmla="*/ 32 w 32"/>
                    <a:gd name="T18" fmla="*/ 94 h 9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" h="94">
                      <a:moveTo>
                        <a:pt x="0" y="0"/>
                      </a:moveTo>
                      <a:cubicBezTo>
                        <a:pt x="2" y="8"/>
                        <a:pt x="6" y="5"/>
                        <a:pt x="3" y="13"/>
                      </a:cubicBezTo>
                      <a:cubicBezTo>
                        <a:pt x="8" y="19"/>
                        <a:pt x="8" y="26"/>
                        <a:pt x="13" y="32"/>
                      </a:cubicBezTo>
                      <a:cubicBezTo>
                        <a:pt x="15" y="41"/>
                        <a:pt x="17" y="53"/>
                        <a:pt x="25" y="59"/>
                      </a:cubicBezTo>
                      <a:cubicBezTo>
                        <a:pt x="27" y="70"/>
                        <a:pt x="32" y="83"/>
                        <a:pt x="32" y="94"/>
                      </a:cubicBezTo>
                    </a:path>
                  </a:pathLst>
                </a:cu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9292" name="Freeform 14"/>
                <p:cNvSpPr>
                  <a:spLocks/>
                </p:cNvSpPr>
                <p:nvPr/>
              </p:nvSpPr>
              <p:spPr bwMode="auto">
                <a:xfrm>
                  <a:off x="4698" y="1478"/>
                  <a:ext cx="60" cy="196"/>
                </a:xfrm>
                <a:custGeom>
                  <a:avLst/>
                  <a:gdLst>
                    <a:gd name="T0" fmla="*/ 0 w 60"/>
                    <a:gd name="T1" fmla="*/ 0 h 196"/>
                    <a:gd name="T2" fmla="*/ 24 w 60"/>
                    <a:gd name="T3" fmla="*/ 40 h 196"/>
                    <a:gd name="T4" fmla="*/ 35 w 60"/>
                    <a:gd name="T5" fmla="*/ 58 h 196"/>
                    <a:gd name="T6" fmla="*/ 41 w 60"/>
                    <a:gd name="T7" fmla="*/ 72 h 196"/>
                    <a:gd name="T8" fmla="*/ 51 w 60"/>
                    <a:gd name="T9" fmla="*/ 122 h 196"/>
                    <a:gd name="T10" fmla="*/ 56 w 60"/>
                    <a:gd name="T11" fmla="*/ 154 h 196"/>
                    <a:gd name="T12" fmla="*/ 60 w 60"/>
                    <a:gd name="T13" fmla="*/ 196 h 19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0"/>
                    <a:gd name="T22" fmla="*/ 0 h 196"/>
                    <a:gd name="T23" fmla="*/ 60 w 60"/>
                    <a:gd name="T24" fmla="*/ 196 h 19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0" h="196">
                      <a:moveTo>
                        <a:pt x="0" y="0"/>
                      </a:moveTo>
                      <a:cubicBezTo>
                        <a:pt x="8" y="13"/>
                        <a:pt x="17" y="27"/>
                        <a:pt x="24" y="40"/>
                      </a:cubicBezTo>
                      <a:cubicBezTo>
                        <a:pt x="25" y="46"/>
                        <a:pt x="31" y="52"/>
                        <a:pt x="35" y="58"/>
                      </a:cubicBezTo>
                      <a:cubicBezTo>
                        <a:pt x="36" y="64"/>
                        <a:pt x="38" y="67"/>
                        <a:pt x="41" y="72"/>
                      </a:cubicBezTo>
                      <a:cubicBezTo>
                        <a:pt x="46" y="88"/>
                        <a:pt x="49" y="105"/>
                        <a:pt x="51" y="122"/>
                      </a:cubicBezTo>
                      <a:cubicBezTo>
                        <a:pt x="52" y="135"/>
                        <a:pt x="54" y="142"/>
                        <a:pt x="56" y="154"/>
                      </a:cubicBezTo>
                      <a:cubicBezTo>
                        <a:pt x="57" y="164"/>
                        <a:pt x="56" y="187"/>
                        <a:pt x="60" y="196"/>
                      </a:cubicBezTo>
                    </a:path>
                  </a:pathLst>
                </a:cu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9293" name="Freeform 15"/>
                <p:cNvSpPr>
                  <a:spLocks/>
                </p:cNvSpPr>
                <p:nvPr/>
              </p:nvSpPr>
              <p:spPr bwMode="auto">
                <a:xfrm>
                  <a:off x="4691" y="1501"/>
                  <a:ext cx="39" cy="147"/>
                </a:xfrm>
                <a:custGeom>
                  <a:avLst/>
                  <a:gdLst>
                    <a:gd name="T0" fmla="*/ 0 w 39"/>
                    <a:gd name="T1" fmla="*/ 0 h 147"/>
                    <a:gd name="T2" fmla="*/ 7 w 39"/>
                    <a:gd name="T3" fmla="*/ 22 h 147"/>
                    <a:gd name="T4" fmla="*/ 18 w 39"/>
                    <a:gd name="T5" fmla="*/ 41 h 147"/>
                    <a:gd name="T6" fmla="*/ 29 w 39"/>
                    <a:gd name="T7" fmla="*/ 65 h 147"/>
                    <a:gd name="T8" fmla="*/ 37 w 39"/>
                    <a:gd name="T9" fmla="*/ 118 h 147"/>
                    <a:gd name="T10" fmla="*/ 39 w 39"/>
                    <a:gd name="T11" fmla="*/ 147 h 14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9"/>
                    <a:gd name="T19" fmla="*/ 0 h 147"/>
                    <a:gd name="T20" fmla="*/ 39 w 39"/>
                    <a:gd name="T21" fmla="*/ 147 h 14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9" h="147">
                      <a:moveTo>
                        <a:pt x="0" y="0"/>
                      </a:moveTo>
                      <a:cubicBezTo>
                        <a:pt x="4" y="7"/>
                        <a:pt x="4" y="15"/>
                        <a:pt x="7" y="22"/>
                      </a:cubicBezTo>
                      <a:cubicBezTo>
                        <a:pt x="10" y="29"/>
                        <a:pt x="15" y="34"/>
                        <a:pt x="18" y="41"/>
                      </a:cubicBezTo>
                      <a:cubicBezTo>
                        <a:pt x="19" y="48"/>
                        <a:pt x="24" y="59"/>
                        <a:pt x="29" y="65"/>
                      </a:cubicBezTo>
                      <a:cubicBezTo>
                        <a:pt x="33" y="82"/>
                        <a:pt x="33" y="100"/>
                        <a:pt x="37" y="118"/>
                      </a:cubicBezTo>
                      <a:cubicBezTo>
                        <a:pt x="39" y="140"/>
                        <a:pt x="39" y="131"/>
                        <a:pt x="39" y="147"/>
                      </a:cubicBezTo>
                    </a:path>
                  </a:pathLst>
                </a:cu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9294" name="Freeform 16"/>
                <p:cNvSpPr>
                  <a:spLocks/>
                </p:cNvSpPr>
                <p:nvPr/>
              </p:nvSpPr>
              <p:spPr bwMode="auto">
                <a:xfrm>
                  <a:off x="4672" y="1510"/>
                  <a:ext cx="24" cy="96"/>
                </a:xfrm>
                <a:custGeom>
                  <a:avLst/>
                  <a:gdLst>
                    <a:gd name="T0" fmla="*/ 0 w 24"/>
                    <a:gd name="T1" fmla="*/ 0 h 96"/>
                    <a:gd name="T2" fmla="*/ 10 w 24"/>
                    <a:gd name="T3" fmla="*/ 24 h 96"/>
                    <a:gd name="T4" fmla="*/ 18 w 24"/>
                    <a:gd name="T5" fmla="*/ 64 h 96"/>
                    <a:gd name="T6" fmla="*/ 21 w 24"/>
                    <a:gd name="T7" fmla="*/ 85 h 96"/>
                    <a:gd name="T8" fmla="*/ 24 w 24"/>
                    <a:gd name="T9" fmla="*/ 96 h 9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96"/>
                    <a:gd name="T17" fmla="*/ 24 w 24"/>
                    <a:gd name="T18" fmla="*/ 96 h 9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96">
                      <a:moveTo>
                        <a:pt x="0" y="0"/>
                      </a:moveTo>
                      <a:cubicBezTo>
                        <a:pt x="4" y="8"/>
                        <a:pt x="6" y="16"/>
                        <a:pt x="10" y="24"/>
                      </a:cubicBezTo>
                      <a:cubicBezTo>
                        <a:pt x="13" y="37"/>
                        <a:pt x="15" y="51"/>
                        <a:pt x="18" y="64"/>
                      </a:cubicBezTo>
                      <a:cubicBezTo>
                        <a:pt x="19" y="82"/>
                        <a:pt x="18" y="71"/>
                        <a:pt x="21" y="85"/>
                      </a:cubicBezTo>
                      <a:cubicBezTo>
                        <a:pt x="22" y="89"/>
                        <a:pt x="24" y="96"/>
                        <a:pt x="24" y="96"/>
                      </a:cubicBezTo>
                    </a:path>
                  </a:pathLst>
                </a:cu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9295" name="Freeform 17"/>
                <p:cNvSpPr>
                  <a:spLocks/>
                </p:cNvSpPr>
                <p:nvPr/>
              </p:nvSpPr>
              <p:spPr bwMode="auto">
                <a:xfrm>
                  <a:off x="4699" y="1642"/>
                  <a:ext cx="10" cy="78"/>
                </a:xfrm>
                <a:custGeom>
                  <a:avLst/>
                  <a:gdLst>
                    <a:gd name="T0" fmla="*/ 0 w 10"/>
                    <a:gd name="T1" fmla="*/ 0 h 78"/>
                    <a:gd name="T2" fmla="*/ 10 w 10"/>
                    <a:gd name="T3" fmla="*/ 78 h 78"/>
                    <a:gd name="T4" fmla="*/ 0 60000 65536"/>
                    <a:gd name="T5" fmla="*/ 0 60000 65536"/>
                    <a:gd name="T6" fmla="*/ 0 w 10"/>
                    <a:gd name="T7" fmla="*/ 0 h 78"/>
                    <a:gd name="T8" fmla="*/ 10 w 10"/>
                    <a:gd name="T9" fmla="*/ 78 h 7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0" h="78">
                      <a:moveTo>
                        <a:pt x="0" y="0"/>
                      </a:moveTo>
                      <a:cubicBezTo>
                        <a:pt x="9" y="19"/>
                        <a:pt x="10" y="55"/>
                        <a:pt x="10" y="78"/>
                      </a:cubicBezTo>
                    </a:path>
                  </a:pathLst>
                </a:cu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9255" name="Freeform 18"/>
              <p:cNvSpPr>
                <a:spLocks/>
              </p:cNvSpPr>
              <p:nvPr/>
            </p:nvSpPr>
            <p:spPr bwMode="auto">
              <a:xfrm>
                <a:off x="3471" y="1852"/>
                <a:ext cx="749" cy="1051"/>
              </a:xfrm>
              <a:custGeom>
                <a:avLst/>
                <a:gdLst>
                  <a:gd name="T0" fmla="*/ 476 w 749"/>
                  <a:gd name="T1" fmla="*/ 1051 h 1051"/>
                  <a:gd name="T2" fmla="*/ 747 w 749"/>
                  <a:gd name="T3" fmla="*/ 1051 h 1051"/>
                  <a:gd name="T4" fmla="*/ 749 w 749"/>
                  <a:gd name="T5" fmla="*/ 0 h 1051"/>
                  <a:gd name="T6" fmla="*/ 156 w 749"/>
                  <a:gd name="T7" fmla="*/ 0 h 1051"/>
                  <a:gd name="T8" fmla="*/ 156 w 749"/>
                  <a:gd name="T9" fmla="*/ 65 h 1051"/>
                  <a:gd name="T10" fmla="*/ 0 w 749"/>
                  <a:gd name="T11" fmla="*/ 159 h 10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49"/>
                  <a:gd name="T19" fmla="*/ 0 h 1051"/>
                  <a:gd name="T20" fmla="*/ 749 w 749"/>
                  <a:gd name="T21" fmla="*/ 1051 h 105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49" h="1051">
                    <a:moveTo>
                      <a:pt x="476" y="1051"/>
                    </a:moveTo>
                    <a:lnTo>
                      <a:pt x="747" y="1051"/>
                    </a:lnTo>
                    <a:lnTo>
                      <a:pt x="749" y="0"/>
                    </a:lnTo>
                    <a:lnTo>
                      <a:pt x="156" y="0"/>
                    </a:lnTo>
                    <a:lnTo>
                      <a:pt x="156" y="65"/>
                    </a:ln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56" name="Freeform 19"/>
              <p:cNvSpPr>
                <a:spLocks/>
              </p:cNvSpPr>
              <p:nvPr/>
            </p:nvSpPr>
            <p:spPr bwMode="auto">
              <a:xfrm>
                <a:off x="3497" y="1989"/>
                <a:ext cx="399" cy="914"/>
              </a:xfrm>
              <a:custGeom>
                <a:avLst/>
                <a:gdLst>
                  <a:gd name="T0" fmla="*/ 399 w 399"/>
                  <a:gd name="T1" fmla="*/ 914 h 914"/>
                  <a:gd name="T2" fmla="*/ 121 w 399"/>
                  <a:gd name="T3" fmla="*/ 914 h 914"/>
                  <a:gd name="T4" fmla="*/ 120 w 399"/>
                  <a:gd name="T5" fmla="*/ 0 h 914"/>
                  <a:gd name="T6" fmla="*/ 0 w 399"/>
                  <a:gd name="T7" fmla="*/ 84 h 9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9"/>
                  <a:gd name="T13" fmla="*/ 0 h 914"/>
                  <a:gd name="T14" fmla="*/ 399 w 399"/>
                  <a:gd name="T15" fmla="*/ 914 h 9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9" h="914">
                    <a:moveTo>
                      <a:pt x="399" y="914"/>
                    </a:moveTo>
                    <a:lnTo>
                      <a:pt x="121" y="914"/>
                    </a:lnTo>
                    <a:lnTo>
                      <a:pt x="120" y="0"/>
                    </a:lnTo>
                    <a:lnTo>
                      <a:pt x="0" y="84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57" name="Line 20"/>
              <p:cNvSpPr>
                <a:spLocks noChangeShapeType="1"/>
              </p:cNvSpPr>
              <p:nvPr/>
            </p:nvSpPr>
            <p:spPr bwMode="auto">
              <a:xfrm flipH="1">
                <a:off x="3621" y="1992"/>
                <a:ext cx="5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58" name="Rectangle 21" descr="浅色竖线"/>
              <p:cNvSpPr>
                <a:spLocks noChangeArrowheads="1"/>
              </p:cNvSpPr>
              <p:nvPr/>
            </p:nvSpPr>
            <p:spPr bwMode="auto">
              <a:xfrm flipH="1">
                <a:off x="3621" y="2232"/>
                <a:ext cx="600" cy="46"/>
              </a:xfrm>
              <a:prstGeom prst="rect">
                <a:avLst/>
              </a:prstGeom>
              <a:pattFill prst="ltVert">
                <a:fgClr>
                  <a:srgbClr val="6600CC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9259" name="Rectangle 22" descr="浅色竖线"/>
              <p:cNvSpPr>
                <a:spLocks noChangeArrowheads="1"/>
              </p:cNvSpPr>
              <p:nvPr/>
            </p:nvSpPr>
            <p:spPr bwMode="auto">
              <a:xfrm flipH="1">
                <a:off x="3617" y="2808"/>
                <a:ext cx="600" cy="46"/>
              </a:xfrm>
              <a:prstGeom prst="rect">
                <a:avLst/>
              </a:prstGeom>
              <a:pattFill prst="ltVert">
                <a:fgClr>
                  <a:srgbClr val="6600CC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grpSp>
            <p:nvGrpSpPr>
              <p:cNvPr id="9260" name="Group 23"/>
              <p:cNvGrpSpPr>
                <a:grpSpLocks/>
              </p:cNvGrpSpPr>
              <p:nvPr/>
            </p:nvGrpSpPr>
            <p:grpSpPr bwMode="auto">
              <a:xfrm flipH="1">
                <a:off x="3957" y="1924"/>
                <a:ext cx="144" cy="133"/>
                <a:chOff x="4574" y="2114"/>
                <a:chExt cx="144" cy="133"/>
              </a:xfrm>
            </p:grpSpPr>
            <p:sp>
              <p:nvSpPr>
                <p:cNvPr id="9287" name="AutoShape 24"/>
                <p:cNvSpPr>
                  <a:spLocks noChangeArrowheads="1"/>
                </p:cNvSpPr>
                <p:nvPr/>
              </p:nvSpPr>
              <p:spPr bwMode="auto">
                <a:xfrm flipV="1">
                  <a:off x="4601" y="2114"/>
                  <a:ext cx="91" cy="6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9288" name="Line 25"/>
                <p:cNvSpPr>
                  <a:spLocks noChangeShapeType="1"/>
                </p:cNvSpPr>
                <p:nvPr/>
              </p:nvSpPr>
              <p:spPr bwMode="auto">
                <a:xfrm>
                  <a:off x="4574" y="220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9289" name="Line 26"/>
                <p:cNvSpPr>
                  <a:spLocks noChangeShapeType="1"/>
                </p:cNvSpPr>
                <p:nvPr/>
              </p:nvSpPr>
              <p:spPr bwMode="auto">
                <a:xfrm>
                  <a:off x="4610" y="2225"/>
                  <a:ext cx="84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9290" name="Line 27"/>
                <p:cNvSpPr>
                  <a:spLocks noChangeShapeType="1"/>
                </p:cNvSpPr>
                <p:nvPr/>
              </p:nvSpPr>
              <p:spPr bwMode="auto">
                <a:xfrm>
                  <a:off x="4633" y="2247"/>
                  <a:ext cx="53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9261" name="Text Box 28"/>
              <p:cNvSpPr txBox="1">
                <a:spLocks noChangeArrowheads="1"/>
              </p:cNvSpPr>
              <p:nvPr/>
            </p:nvSpPr>
            <p:spPr bwMode="auto">
              <a:xfrm>
                <a:off x="3663" y="2399"/>
                <a:ext cx="51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>
                    <a:solidFill>
                      <a:srgbClr val="000066"/>
                    </a:solidFill>
                    <a:ea typeface="幼圆" pitchFamily="49" charset="-122"/>
                  </a:rPr>
                  <a:t>土样</a:t>
                </a:r>
                <a:endParaRPr lang="en-US" altLang="zh-CN" sz="2400" b="1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  <p:sp>
            <p:nvSpPr>
              <p:cNvPr id="9262" name="Text Box 29"/>
              <p:cNvSpPr txBox="1">
                <a:spLocks noChangeArrowheads="1"/>
              </p:cNvSpPr>
              <p:nvPr/>
            </p:nvSpPr>
            <p:spPr bwMode="auto">
              <a:xfrm>
                <a:off x="3357" y="2836"/>
                <a:ext cx="25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</a:rPr>
                  <a:t>A</a:t>
                </a:r>
              </a:p>
            </p:txBody>
          </p:sp>
          <p:sp>
            <p:nvSpPr>
              <p:cNvPr id="9263" name="Freeform 30"/>
              <p:cNvSpPr>
                <a:spLocks/>
              </p:cNvSpPr>
              <p:nvPr/>
            </p:nvSpPr>
            <p:spPr bwMode="auto">
              <a:xfrm>
                <a:off x="3898" y="834"/>
                <a:ext cx="880" cy="2298"/>
              </a:xfrm>
              <a:custGeom>
                <a:avLst/>
                <a:gdLst>
                  <a:gd name="T0" fmla="*/ 0 w 880"/>
                  <a:gd name="T1" fmla="*/ 2024 h 2298"/>
                  <a:gd name="T2" fmla="*/ 0 w 880"/>
                  <a:gd name="T3" fmla="*/ 2298 h 2298"/>
                  <a:gd name="T4" fmla="*/ 877 w 880"/>
                  <a:gd name="T5" fmla="*/ 2298 h 2298"/>
                  <a:gd name="T6" fmla="*/ 880 w 880"/>
                  <a:gd name="T7" fmla="*/ 0 h 229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80"/>
                  <a:gd name="T13" fmla="*/ 0 h 2298"/>
                  <a:gd name="T14" fmla="*/ 880 w 880"/>
                  <a:gd name="T15" fmla="*/ 2298 h 229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80" h="2298">
                    <a:moveTo>
                      <a:pt x="0" y="2024"/>
                    </a:moveTo>
                    <a:lnTo>
                      <a:pt x="0" y="2298"/>
                    </a:lnTo>
                    <a:lnTo>
                      <a:pt x="877" y="2298"/>
                    </a:lnTo>
                    <a:lnTo>
                      <a:pt x="88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64" name="Freeform 31"/>
              <p:cNvSpPr>
                <a:spLocks/>
              </p:cNvSpPr>
              <p:nvPr/>
            </p:nvSpPr>
            <p:spPr bwMode="auto">
              <a:xfrm>
                <a:off x="3948" y="832"/>
                <a:ext cx="785" cy="2257"/>
              </a:xfrm>
              <a:custGeom>
                <a:avLst/>
                <a:gdLst>
                  <a:gd name="T0" fmla="*/ 0 w 785"/>
                  <a:gd name="T1" fmla="*/ 2023 h 2257"/>
                  <a:gd name="T2" fmla="*/ 1 w 785"/>
                  <a:gd name="T3" fmla="*/ 2257 h 2257"/>
                  <a:gd name="T4" fmla="*/ 782 w 785"/>
                  <a:gd name="T5" fmla="*/ 2257 h 2257"/>
                  <a:gd name="T6" fmla="*/ 785 w 785"/>
                  <a:gd name="T7" fmla="*/ 0 h 22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5"/>
                  <a:gd name="T13" fmla="*/ 0 h 2257"/>
                  <a:gd name="T14" fmla="*/ 785 w 785"/>
                  <a:gd name="T15" fmla="*/ 2257 h 22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5" h="2257">
                    <a:moveTo>
                      <a:pt x="0" y="2023"/>
                    </a:moveTo>
                    <a:lnTo>
                      <a:pt x="1" y="2257"/>
                    </a:lnTo>
                    <a:lnTo>
                      <a:pt x="782" y="2257"/>
                    </a:lnTo>
                    <a:lnTo>
                      <a:pt x="785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65" name="Line 32"/>
              <p:cNvSpPr>
                <a:spLocks noChangeShapeType="1"/>
              </p:cNvSpPr>
              <p:nvPr/>
            </p:nvSpPr>
            <p:spPr bwMode="auto">
              <a:xfrm>
                <a:off x="4779" y="90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66" name="Text Box 33"/>
              <p:cNvSpPr txBox="1">
                <a:spLocks noChangeArrowheads="1"/>
              </p:cNvSpPr>
              <p:nvPr/>
            </p:nvSpPr>
            <p:spPr bwMode="auto">
              <a:xfrm>
                <a:off x="5037" y="669"/>
                <a:ext cx="40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 smtClean="0">
                    <a:solidFill>
                      <a:srgbClr val="000066"/>
                    </a:solidFill>
                    <a:ea typeface="幼圆" pitchFamily="49" charset="-122"/>
                  </a:rPr>
                  <a:t>t</a:t>
                </a:r>
                <a:r>
                  <a:rPr lang="en-US" altLang="zh-CN" sz="2400" b="1" dirty="0" smtClean="0">
                    <a:solidFill>
                      <a:srgbClr val="000066"/>
                    </a:solidFill>
                    <a:ea typeface="幼圆" pitchFamily="49" charset="-122"/>
                  </a:rPr>
                  <a:t>=</a:t>
                </a:r>
                <a:r>
                  <a:rPr lang="en-US" altLang="zh-CN" sz="2400" b="1" i="1" dirty="0" smtClean="0">
                    <a:solidFill>
                      <a:srgbClr val="000066"/>
                    </a:solidFill>
                    <a:ea typeface="幼圆" pitchFamily="49" charset="-122"/>
                  </a:rPr>
                  <a:t>t</a:t>
                </a:r>
                <a:r>
                  <a:rPr lang="en-US" altLang="zh-CN" sz="2400" b="1" baseline="-25000" dirty="0" smtClean="0">
                    <a:solidFill>
                      <a:srgbClr val="000066"/>
                    </a:solidFill>
                    <a:ea typeface="幼圆" pitchFamily="49" charset="-122"/>
                  </a:rPr>
                  <a:t>1</a:t>
                </a:r>
                <a:endParaRPr lang="en-US" altLang="zh-CN" sz="2400" b="1" dirty="0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  <p:sp>
            <p:nvSpPr>
              <p:cNvPr id="9267" name="Line 34"/>
              <p:cNvSpPr>
                <a:spLocks noChangeShapeType="1"/>
              </p:cNvSpPr>
              <p:nvPr/>
            </p:nvSpPr>
            <p:spPr bwMode="auto">
              <a:xfrm>
                <a:off x="4776" y="1767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68" name="Text Box 35"/>
              <p:cNvSpPr txBox="1">
                <a:spLocks noChangeArrowheads="1"/>
              </p:cNvSpPr>
              <p:nvPr/>
            </p:nvSpPr>
            <p:spPr bwMode="auto">
              <a:xfrm>
                <a:off x="5019" y="1524"/>
                <a:ext cx="40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</a:rPr>
                  <a:t>t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</a:rPr>
                  <a:t>=</a:t>
                </a: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</a:rPr>
                  <a:t>t</a:t>
                </a:r>
                <a:r>
                  <a:rPr lang="en-US" altLang="zh-CN" sz="2400" b="1" baseline="-25000" dirty="0">
                    <a:solidFill>
                      <a:srgbClr val="000066"/>
                    </a:solidFill>
                    <a:ea typeface="幼圆" pitchFamily="49" charset="-122"/>
                  </a:rPr>
                  <a:t>2</a:t>
                </a:r>
                <a:endParaRPr lang="en-US" altLang="zh-CN" sz="2400" b="1" dirty="0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  <p:sp>
            <p:nvSpPr>
              <p:cNvPr id="9269" name="Line 36"/>
              <p:cNvSpPr>
                <a:spLocks noChangeShapeType="1"/>
              </p:cNvSpPr>
              <p:nvPr/>
            </p:nvSpPr>
            <p:spPr bwMode="auto">
              <a:xfrm>
                <a:off x="4278" y="1988"/>
                <a:ext cx="4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70" name="Line 37"/>
              <p:cNvSpPr>
                <a:spLocks noChangeShapeType="1"/>
              </p:cNvSpPr>
              <p:nvPr/>
            </p:nvSpPr>
            <p:spPr bwMode="auto">
              <a:xfrm flipH="1">
                <a:off x="4311" y="903"/>
                <a:ext cx="1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71" name="Line 38"/>
              <p:cNvSpPr>
                <a:spLocks noChangeShapeType="1"/>
              </p:cNvSpPr>
              <p:nvPr/>
            </p:nvSpPr>
            <p:spPr bwMode="auto">
              <a:xfrm flipH="1">
                <a:off x="4792" y="1987"/>
                <a:ext cx="1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72" name="Line 39"/>
              <p:cNvSpPr>
                <a:spLocks noChangeShapeType="1"/>
              </p:cNvSpPr>
              <p:nvPr/>
            </p:nvSpPr>
            <p:spPr bwMode="auto">
              <a:xfrm>
                <a:off x="4897" y="1769"/>
                <a:ext cx="0" cy="2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73" name="Text Box 40"/>
              <p:cNvSpPr txBox="1">
                <a:spLocks noChangeArrowheads="1"/>
              </p:cNvSpPr>
              <p:nvPr/>
            </p:nvSpPr>
            <p:spPr bwMode="auto">
              <a:xfrm>
                <a:off x="4160" y="1289"/>
                <a:ext cx="365" cy="252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</a:t>
                </a:r>
                <a:r>
                  <a:rPr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h</a:t>
                </a:r>
                <a:r>
                  <a:rPr lang="en-US" altLang="zh-CN" sz="2000" b="1" baseline="-25000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1</a:t>
                </a:r>
                <a:endParaRPr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9274" name="Text Box 41"/>
              <p:cNvSpPr txBox="1">
                <a:spLocks noChangeArrowheads="1"/>
              </p:cNvSpPr>
              <p:nvPr/>
            </p:nvSpPr>
            <p:spPr bwMode="auto">
              <a:xfrm>
                <a:off x="4883" y="1763"/>
                <a:ext cx="36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</a:t>
                </a:r>
                <a:r>
                  <a:rPr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h</a:t>
                </a:r>
                <a:r>
                  <a:rPr lang="en-US" altLang="zh-CN" sz="2000" b="1" baseline="-25000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2</a:t>
                </a:r>
                <a:endParaRPr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9275" name="Line 42"/>
              <p:cNvSpPr>
                <a:spLocks noChangeShapeType="1"/>
              </p:cNvSpPr>
              <p:nvPr/>
            </p:nvSpPr>
            <p:spPr bwMode="auto">
              <a:xfrm>
                <a:off x="4396" y="2286"/>
                <a:ext cx="0" cy="5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76" name="Line 43"/>
              <p:cNvSpPr>
                <a:spLocks noChangeShapeType="1"/>
              </p:cNvSpPr>
              <p:nvPr/>
            </p:nvSpPr>
            <p:spPr bwMode="auto">
              <a:xfrm flipH="1">
                <a:off x="4275" y="2282"/>
                <a:ext cx="2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77" name="Text Box 44"/>
              <p:cNvSpPr txBox="1">
                <a:spLocks noChangeArrowheads="1"/>
              </p:cNvSpPr>
              <p:nvPr/>
            </p:nvSpPr>
            <p:spPr bwMode="auto">
              <a:xfrm>
                <a:off x="4298" y="2417"/>
                <a:ext cx="218" cy="250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L</a:t>
                </a:r>
              </a:p>
            </p:txBody>
          </p:sp>
          <p:grpSp>
            <p:nvGrpSpPr>
              <p:cNvPr id="9278" name="Group 45"/>
              <p:cNvGrpSpPr>
                <a:grpSpLocks/>
              </p:cNvGrpSpPr>
              <p:nvPr/>
            </p:nvGrpSpPr>
            <p:grpSpPr bwMode="auto">
              <a:xfrm>
                <a:off x="4682" y="2574"/>
                <a:ext cx="144" cy="144"/>
                <a:chOff x="4880" y="2340"/>
                <a:chExt cx="144" cy="144"/>
              </a:xfrm>
            </p:grpSpPr>
            <p:sp>
              <p:nvSpPr>
                <p:cNvPr id="9285" name="Oval 46"/>
                <p:cNvSpPr>
                  <a:spLocks noChangeArrowheads="1"/>
                </p:cNvSpPr>
                <p:nvPr/>
              </p:nvSpPr>
              <p:spPr bwMode="auto">
                <a:xfrm>
                  <a:off x="4880" y="2340"/>
                  <a:ext cx="144" cy="144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9286" name="Line 47"/>
                <p:cNvSpPr>
                  <a:spLocks noChangeShapeType="1"/>
                </p:cNvSpPr>
                <p:nvPr/>
              </p:nvSpPr>
              <p:spPr bwMode="auto">
                <a:xfrm>
                  <a:off x="4902" y="2413"/>
                  <a:ext cx="1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9279" name="Line 48"/>
              <p:cNvSpPr>
                <a:spLocks noChangeShapeType="1"/>
              </p:cNvSpPr>
              <p:nvPr/>
            </p:nvSpPr>
            <p:spPr bwMode="auto">
              <a:xfrm flipH="1">
                <a:off x="3480" y="2720"/>
                <a:ext cx="224" cy="1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80" name="Text Box 49"/>
              <p:cNvSpPr txBox="1">
                <a:spLocks noChangeArrowheads="1"/>
              </p:cNvSpPr>
              <p:nvPr/>
            </p:nvSpPr>
            <p:spPr bwMode="auto">
              <a:xfrm>
                <a:off x="3294" y="226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</a:rPr>
                  <a:t>Q</a:t>
                </a:r>
              </a:p>
            </p:txBody>
          </p:sp>
          <p:sp>
            <p:nvSpPr>
              <p:cNvPr id="9281" name="Text Box 50"/>
              <p:cNvSpPr txBox="1">
                <a:spLocks noChangeArrowheads="1"/>
              </p:cNvSpPr>
              <p:nvPr/>
            </p:nvSpPr>
            <p:spPr bwMode="auto">
              <a:xfrm>
                <a:off x="4982" y="2155"/>
                <a:ext cx="44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rgbClr val="000066"/>
                    </a:solidFill>
                    <a:ea typeface="幼圆" pitchFamily="49" charset="-122"/>
                  </a:rPr>
                  <a:t>水头</a:t>
                </a: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rgbClr val="000066"/>
                    </a:solidFill>
                    <a:ea typeface="幼圆" pitchFamily="49" charset="-122"/>
                  </a:rPr>
                  <a:t>测管</a:t>
                </a:r>
                <a:endParaRPr lang="en-US" altLang="zh-CN" sz="2000" b="1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  <p:sp>
            <p:nvSpPr>
              <p:cNvPr id="9282" name="Line 51"/>
              <p:cNvSpPr>
                <a:spLocks noChangeShapeType="1"/>
              </p:cNvSpPr>
              <p:nvPr/>
            </p:nvSpPr>
            <p:spPr bwMode="auto">
              <a:xfrm>
                <a:off x="4747" y="2252"/>
                <a:ext cx="250" cy="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9283" name="Text Box 52"/>
              <p:cNvSpPr txBox="1">
                <a:spLocks noChangeArrowheads="1"/>
              </p:cNvSpPr>
              <p:nvPr/>
            </p:nvSpPr>
            <p:spPr bwMode="auto">
              <a:xfrm>
                <a:off x="4913" y="2679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rgbClr val="000066"/>
                    </a:solidFill>
                    <a:ea typeface="幼圆" pitchFamily="49" charset="-122"/>
                  </a:rPr>
                  <a:t>开关</a:t>
                </a:r>
              </a:p>
            </p:txBody>
          </p:sp>
          <p:sp>
            <p:nvSpPr>
              <p:cNvPr id="9284" name="Line 53"/>
              <p:cNvSpPr>
                <a:spLocks noChangeShapeType="1"/>
              </p:cNvSpPr>
              <p:nvPr/>
            </p:nvSpPr>
            <p:spPr bwMode="auto">
              <a:xfrm>
                <a:off x="4805" y="2688"/>
                <a:ext cx="147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</p:grpSp>
      <p:sp>
        <p:nvSpPr>
          <p:cNvPr id="1470518" name="Rectangle 54"/>
          <p:cNvSpPr>
            <a:spLocks noChangeArrowheads="1"/>
          </p:cNvSpPr>
          <p:nvPr/>
        </p:nvSpPr>
        <p:spPr bwMode="auto">
          <a:xfrm>
            <a:off x="7825064" y="1528763"/>
            <a:ext cx="64639" cy="1476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470519" name="Text Box 55"/>
          <p:cNvSpPr txBox="1">
            <a:spLocks noChangeArrowheads="1"/>
          </p:cNvSpPr>
          <p:nvPr/>
        </p:nvSpPr>
        <p:spPr bwMode="auto">
          <a:xfrm>
            <a:off x="411899" y="566738"/>
            <a:ext cx="232114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000066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22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2200" b="1" dirty="0" err="1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en-US" altLang="zh-CN" sz="2200" b="1" i="1" dirty="0" err="1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zh-CN" sz="2200" b="1" dirty="0" err="1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+d</a:t>
            </a:r>
            <a:r>
              <a:rPr lang="en-US" altLang="zh-CN" sz="2200" b="1" i="1" dirty="0" err="1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时段内：</a:t>
            </a:r>
            <a:r>
              <a:rPr lang="zh-CN" altLang="en-US" sz="2200" b="1" dirty="0">
                <a:solidFill>
                  <a:srgbClr val="000066"/>
                </a:solidFill>
                <a:cs typeface="Times New Roman" panose="02020603050405020304" pitchFamily="18" charset="0"/>
              </a:rPr>
              <a:t> </a:t>
            </a:r>
            <a:endParaRPr kumimoji="1" lang="en-US" altLang="zh-CN" sz="2200" b="1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7302503" y="1111250"/>
            <a:ext cx="1373188" cy="1744663"/>
            <a:chOff x="4410" y="890"/>
            <a:chExt cx="865" cy="1099"/>
          </a:xfrm>
        </p:grpSpPr>
        <p:sp>
          <p:nvSpPr>
            <p:cNvPr id="9232" name="Line 65"/>
            <p:cNvSpPr>
              <a:spLocks noChangeShapeType="1"/>
            </p:cNvSpPr>
            <p:nvPr/>
          </p:nvSpPr>
          <p:spPr bwMode="auto">
            <a:xfrm>
              <a:off x="4602" y="1161"/>
              <a:ext cx="0" cy="8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9233" name="Text Box 66"/>
            <p:cNvSpPr txBox="1">
              <a:spLocks noChangeArrowheads="1"/>
            </p:cNvSpPr>
            <p:nvPr/>
          </p:nvSpPr>
          <p:spPr bwMode="auto">
            <a:xfrm>
              <a:off x="4410" y="1568"/>
              <a:ext cx="305" cy="25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h</a:t>
              </a:r>
            </a:p>
          </p:txBody>
        </p:sp>
        <p:sp>
          <p:nvSpPr>
            <p:cNvPr id="9234" name="Line 67"/>
            <p:cNvSpPr>
              <a:spLocks noChangeShapeType="1"/>
            </p:cNvSpPr>
            <p:nvPr/>
          </p:nvSpPr>
          <p:spPr bwMode="auto">
            <a:xfrm flipH="1">
              <a:off x="4538" y="1158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9235" name="Line 68"/>
            <p:cNvSpPr>
              <a:spLocks noChangeShapeType="1"/>
            </p:cNvSpPr>
            <p:nvPr/>
          </p:nvSpPr>
          <p:spPr bwMode="auto">
            <a:xfrm flipH="1">
              <a:off x="4790" y="1246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9236" name="Text Box 69"/>
            <p:cNvSpPr txBox="1">
              <a:spLocks noChangeArrowheads="1"/>
            </p:cNvSpPr>
            <p:nvPr/>
          </p:nvSpPr>
          <p:spPr bwMode="auto">
            <a:xfrm>
              <a:off x="4425" y="890"/>
              <a:ext cx="2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d</a:t>
              </a: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h</a:t>
              </a:r>
            </a:p>
          </p:txBody>
        </p:sp>
        <p:sp>
          <p:nvSpPr>
            <p:cNvPr id="9237" name="Line 70"/>
            <p:cNvSpPr>
              <a:spLocks noChangeShapeType="1"/>
            </p:cNvSpPr>
            <p:nvPr/>
          </p:nvSpPr>
          <p:spPr bwMode="auto">
            <a:xfrm flipH="1">
              <a:off x="4788" y="1159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9238" name="Text Box 71"/>
            <p:cNvSpPr txBox="1">
              <a:spLocks noChangeArrowheads="1"/>
            </p:cNvSpPr>
            <p:nvPr/>
          </p:nvSpPr>
          <p:spPr bwMode="auto">
            <a:xfrm>
              <a:off x="4902" y="1001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</a:rPr>
                <a:t>t</a:t>
              </a:r>
            </a:p>
          </p:txBody>
        </p:sp>
        <p:sp>
          <p:nvSpPr>
            <p:cNvPr id="9239" name="Text Box 72"/>
            <p:cNvSpPr txBox="1">
              <a:spLocks noChangeArrowheads="1"/>
            </p:cNvSpPr>
            <p:nvPr/>
          </p:nvSpPr>
          <p:spPr bwMode="auto">
            <a:xfrm>
              <a:off x="4888" y="1134"/>
              <a:ext cx="38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err="1" smtClean="0">
                  <a:solidFill>
                    <a:srgbClr val="000066"/>
                  </a:solidFill>
                  <a:ea typeface="幼圆" pitchFamily="49" charset="-122"/>
                </a:rPr>
                <a:t>t</a:t>
              </a:r>
              <a:r>
                <a:rPr lang="en-US" altLang="zh-CN" sz="2000" b="1" dirty="0" err="1" smtClean="0">
                  <a:solidFill>
                    <a:srgbClr val="000066"/>
                  </a:solidFill>
                  <a:ea typeface="幼圆" pitchFamily="49" charset="-122"/>
                </a:rPr>
                <a:t>+d</a:t>
              </a:r>
              <a:r>
                <a:rPr lang="en-US" altLang="zh-CN" sz="2000" b="1" i="1" dirty="0" err="1" smtClean="0">
                  <a:solidFill>
                    <a:srgbClr val="000066"/>
                  </a:solidFill>
                  <a:ea typeface="幼圆" pitchFamily="49" charset="-122"/>
                </a:rPr>
                <a:t>t</a:t>
              </a:r>
              <a:endParaRPr lang="en-US" altLang="zh-CN" sz="2000" b="1" i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9240" name="Line 73"/>
            <p:cNvSpPr>
              <a:spLocks noChangeShapeType="1"/>
            </p:cNvSpPr>
            <p:nvPr/>
          </p:nvSpPr>
          <p:spPr bwMode="auto">
            <a:xfrm flipH="1" flipV="1">
              <a:off x="4649" y="1104"/>
              <a:ext cx="103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9228" name="Rectangle 75"/>
          <p:cNvSpPr>
            <a:spLocks noChangeArrowheads="1"/>
          </p:cNvSpPr>
          <p:nvPr/>
        </p:nvSpPr>
        <p:spPr bwMode="auto">
          <a:xfrm>
            <a:off x="1992313" y="5719763"/>
            <a:ext cx="65547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室内试验方法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变水头试验法</a:t>
            </a:r>
          </a:p>
        </p:txBody>
      </p:sp>
      <p:sp>
        <p:nvSpPr>
          <p:cNvPr id="8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1" name="Text Box 7"/>
          <p:cNvSpPr txBox="1">
            <a:spLocks noChangeArrowheads="1"/>
          </p:cNvSpPr>
          <p:nvPr/>
        </p:nvSpPr>
        <p:spPr bwMode="auto">
          <a:xfrm>
            <a:off x="-1" y="0"/>
            <a:ext cx="5619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渗透系数测定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65217" y="1077913"/>
            <a:ext cx="3740096" cy="1050925"/>
            <a:chOff x="665217" y="1077913"/>
            <a:chExt cx="3740096" cy="1050925"/>
          </a:xfrm>
        </p:grpSpPr>
        <p:sp>
          <p:nvSpPr>
            <p:cNvPr id="9241" name="Text Box 57"/>
            <p:cNvSpPr txBox="1">
              <a:spLocks noChangeArrowheads="1"/>
            </p:cNvSpPr>
            <p:nvPr/>
          </p:nvSpPr>
          <p:spPr bwMode="auto">
            <a:xfrm>
              <a:off x="665217" y="1077913"/>
              <a:ext cx="14060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Tx/>
                <a:buChar char="•"/>
              </a:pP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入流</a:t>
              </a: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量：</a:t>
              </a:r>
              <a:endParaRPr lang="zh-CN" altLang="en-US" sz="2200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242" name="Text Box 58"/>
            <p:cNvSpPr txBox="1">
              <a:spLocks noChangeArrowheads="1"/>
            </p:cNvSpPr>
            <p:nvPr/>
          </p:nvSpPr>
          <p:spPr bwMode="auto">
            <a:xfrm>
              <a:off x="665217" y="1619412"/>
              <a:ext cx="14060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Tx/>
                <a:buChar char="•"/>
              </a:pP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出流量</a:t>
              </a: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：</a:t>
              </a:r>
              <a:endParaRPr kumimoji="1" lang="zh-CN" altLang="en-US" sz="2200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1111781"/>
                </p:ext>
              </p:extLst>
            </p:nvPr>
          </p:nvGraphicFramePr>
          <p:xfrm>
            <a:off x="1920875" y="1476375"/>
            <a:ext cx="2484438" cy="652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76" name="Equation" r:id="rId5" imgW="1549080" imgH="406080" progId="Equation.DSMT4">
                    <p:embed/>
                  </p:oleObj>
                </mc:Choice>
                <mc:Fallback>
                  <p:oleObj name="Equation" r:id="rId5" imgW="154908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0875" y="1476375"/>
                          <a:ext cx="2484438" cy="6524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对象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2880500"/>
                </p:ext>
              </p:extLst>
            </p:nvPr>
          </p:nvGraphicFramePr>
          <p:xfrm>
            <a:off x="1962150" y="1095375"/>
            <a:ext cx="1241425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77" name="Equation" r:id="rId7" imgW="774360" imgH="228600" progId="Equation.DSMT4">
                    <p:embed/>
                  </p:oleObj>
                </mc:Choice>
                <mc:Fallback>
                  <p:oleObj name="Equation" r:id="rId7" imgW="7743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62150" y="1095375"/>
                          <a:ext cx="1241425" cy="3667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678405" y="2189163"/>
            <a:ext cx="4288883" cy="2038350"/>
            <a:chOff x="678405" y="2189163"/>
            <a:chExt cx="4288883" cy="2038350"/>
          </a:xfrm>
        </p:grpSpPr>
        <p:sp>
          <p:nvSpPr>
            <p:cNvPr id="9243" name="Text Box 59"/>
            <p:cNvSpPr txBox="1">
              <a:spLocks noChangeArrowheads="1"/>
            </p:cNvSpPr>
            <p:nvPr/>
          </p:nvSpPr>
          <p:spPr bwMode="auto">
            <a:xfrm>
              <a:off x="678405" y="2189419"/>
              <a:ext cx="187433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Tx/>
                <a:buChar char="•"/>
              </a:pP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连续性条件</a:t>
              </a: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2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</a:t>
              </a:r>
              <a:endPara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3" name="对象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297935"/>
                </p:ext>
              </p:extLst>
            </p:nvPr>
          </p:nvGraphicFramePr>
          <p:xfrm>
            <a:off x="2511425" y="2189163"/>
            <a:ext cx="1079500" cy="366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78" name="Equation" r:id="rId9" imgW="672840" imgH="228600" progId="Equation.DSMT4">
                    <p:embed/>
                  </p:oleObj>
                </mc:Choice>
                <mc:Fallback>
                  <p:oleObj name="Equation" r:id="rId9" imgW="6728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11425" y="2189163"/>
                          <a:ext cx="1079500" cy="3667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" name="对象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6483891"/>
                </p:ext>
              </p:extLst>
            </p:nvPr>
          </p:nvGraphicFramePr>
          <p:xfrm>
            <a:off x="801688" y="2774950"/>
            <a:ext cx="1792287" cy="652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79" name="Equation" r:id="rId11" imgW="1117440" imgH="406080" progId="Equation.DSMT4">
                    <p:embed/>
                  </p:oleObj>
                </mc:Choice>
                <mc:Fallback>
                  <p:oleObj name="Equation" r:id="rId11" imgW="111744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01688" y="2774950"/>
                          <a:ext cx="1792287" cy="6524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" name="对象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1296038"/>
                </p:ext>
              </p:extLst>
            </p:nvPr>
          </p:nvGraphicFramePr>
          <p:xfrm>
            <a:off x="2868613" y="2733675"/>
            <a:ext cx="2098675" cy="652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80" name="Equation" r:id="rId13" imgW="1307880" imgH="406080" progId="Equation.DSMT4">
                    <p:embed/>
                  </p:oleObj>
                </mc:Choice>
                <mc:Fallback>
                  <p:oleObj name="Equation" r:id="rId13" imgW="130788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68613" y="2733675"/>
                          <a:ext cx="2098675" cy="6524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对象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0923732"/>
                </p:ext>
              </p:extLst>
            </p:nvPr>
          </p:nvGraphicFramePr>
          <p:xfrm>
            <a:off x="2886075" y="3514725"/>
            <a:ext cx="1874838" cy="712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81" name="Equation" r:id="rId15" imgW="1168200" imgH="444240" progId="Equation.DSMT4">
                    <p:embed/>
                  </p:oleObj>
                </mc:Choice>
                <mc:Fallback>
                  <p:oleObj name="Equation" r:id="rId15" imgW="116820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886075" y="3514725"/>
                          <a:ext cx="1874838" cy="7127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" name="Text Box 78"/>
          <p:cNvSpPr txBox="1">
            <a:spLocks noChangeArrowheads="1"/>
          </p:cNvSpPr>
          <p:nvPr/>
        </p:nvSpPr>
        <p:spPr bwMode="auto">
          <a:xfrm>
            <a:off x="2873487" y="5164314"/>
            <a:ext cx="567623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选择几组量测结果</a:t>
            </a:r>
            <a:r>
              <a:rPr lang="en-US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，计算相应的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，取平均值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071252" y="4365625"/>
            <a:ext cx="2380098" cy="714375"/>
            <a:chOff x="2071252" y="4346575"/>
            <a:chExt cx="2380098" cy="714375"/>
          </a:xfrm>
        </p:grpSpPr>
        <p:sp>
          <p:nvSpPr>
            <p:cNvPr id="92" name="AutoShape 79"/>
            <p:cNvSpPr>
              <a:spLocks noChangeArrowheads="1"/>
            </p:cNvSpPr>
            <p:nvPr/>
          </p:nvSpPr>
          <p:spPr bwMode="auto">
            <a:xfrm>
              <a:off x="2071252" y="4485525"/>
              <a:ext cx="590550" cy="436563"/>
            </a:xfrm>
            <a:prstGeom prst="homePlate">
              <a:avLst>
                <a:gd name="adj" fmla="val 33818"/>
              </a:avLst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" name="对象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7701656"/>
                </p:ext>
              </p:extLst>
            </p:nvPr>
          </p:nvGraphicFramePr>
          <p:xfrm>
            <a:off x="2841625" y="4346575"/>
            <a:ext cx="1609725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82" name="Equation" r:id="rId17" imgW="1002960" imgH="444240" progId="Equation.DSMT4">
                    <p:embed/>
                  </p:oleObj>
                </mc:Choice>
                <mc:Fallback>
                  <p:oleObj name="Equation" r:id="rId17" imgW="100296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841625" y="4346575"/>
                          <a:ext cx="1609725" cy="714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451789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70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70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35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147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0518" grpId="0" animBg="1"/>
      <p:bldP spid="1470518" grpId="1" animBg="1"/>
      <p:bldP spid="1470519" grpId="0"/>
      <p:bldP spid="9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2514601" y="5763566"/>
            <a:ext cx="53467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两种室内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试验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方法比较</a:t>
            </a:r>
            <a:endParaRPr kumimoji="1"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247" name="Rectangle 4"/>
          <p:cNvSpPr>
            <a:spLocks noChangeArrowheads="1"/>
          </p:cNvSpPr>
          <p:nvPr/>
        </p:nvSpPr>
        <p:spPr bwMode="auto">
          <a:xfrm>
            <a:off x="265812" y="833438"/>
            <a:ext cx="8495304" cy="4425950"/>
          </a:xfrm>
          <a:prstGeom prst="rect">
            <a:avLst/>
          </a:prstGeom>
          <a:solidFill>
            <a:srgbClr val="CCECFF"/>
          </a:solidFill>
          <a:ln w="31750" cap="rnd">
            <a:solidFill>
              <a:srgbClr val="663300"/>
            </a:solidFill>
            <a:prstDash val="sysDot"/>
            <a:miter lim="800000"/>
            <a:headEnd/>
            <a:tailEnd/>
          </a:ln>
        </p:spPr>
        <p:txBody>
          <a:bodyPr wrap="none" lIns="107442" tIns="53721" rIns="107442" bIns="53721" anchor="ctr"/>
          <a:lstStyle/>
          <a:p>
            <a:pPr algn="ctr"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3300" b="1">
              <a:cs typeface="Times New Roman" panose="02020603050405020304" pitchFamily="18" charset="0"/>
            </a:endParaRPr>
          </a:p>
        </p:txBody>
      </p:sp>
      <p:sp>
        <p:nvSpPr>
          <p:cNvPr id="10248" name="Line 5"/>
          <p:cNvSpPr>
            <a:spLocks noChangeShapeType="1"/>
          </p:cNvSpPr>
          <p:nvPr/>
        </p:nvSpPr>
        <p:spPr bwMode="auto">
          <a:xfrm>
            <a:off x="5241926" y="819150"/>
            <a:ext cx="0" cy="4425950"/>
          </a:xfrm>
          <a:prstGeom prst="line">
            <a:avLst/>
          </a:prstGeom>
          <a:noFill/>
          <a:ln w="31750" cap="rnd">
            <a:solidFill>
              <a:srgbClr val="66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0249" name="Line 6"/>
          <p:cNvSpPr>
            <a:spLocks noChangeShapeType="1"/>
          </p:cNvSpPr>
          <p:nvPr/>
        </p:nvSpPr>
        <p:spPr bwMode="auto">
          <a:xfrm>
            <a:off x="2192869" y="833438"/>
            <a:ext cx="0" cy="4411663"/>
          </a:xfrm>
          <a:prstGeom prst="line">
            <a:avLst/>
          </a:prstGeom>
          <a:noFill/>
          <a:ln w="31750" cap="rnd">
            <a:solidFill>
              <a:srgbClr val="66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0250" name="Rectangle 7"/>
          <p:cNvSpPr>
            <a:spLocks noChangeArrowheads="1"/>
          </p:cNvSpPr>
          <p:nvPr/>
        </p:nvSpPr>
        <p:spPr bwMode="auto">
          <a:xfrm>
            <a:off x="2514601" y="990600"/>
            <a:ext cx="1793875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常水头试验</a:t>
            </a:r>
          </a:p>
        </p:txBody>
      </p:sp>
      <p:sp>
        <p:nvSpPr>
          <p:cNvPr id="10251" name="Rectangle 8"/>
          <p:cNvSpPr>
            <a:spLocks noChangeArrowheads="1"/>
          </p:cNvSpPr>
          <p:nvPr/>
        </p:nvSpPr>
        <p:spPr bwMode="auto">
          <a:xfrm>
            <a:off x="6134101" y="990600"/>
            <a:ext cx="18097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变水头试验</a:t>
            </a:r>
          </a:p>
        </p:txBody>
      </p:sp>
      <p:sp>
        <p:nvSpPr>
          <p:cNvPr id="10252" name="Rectangle 9"/>
          <p:cNvSpPr>
            <a:spLocks noChangeArrowheads="1"/>
          </p:cNvSpPr>
          <p:nvPr/>
        </p:nvSpPr>
        <p:spPr bwMode="auto">
          <a:xfrm>
            <a:off x="340236" y="1641922"/>
            <a:ext cx="1764611" cy="47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试验特征</a:t>
            </a:r>
            <a:endParaRPr kumimoji="1" lang="zh-CN" altLang="en-US" sz="24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53" name="Rectangle 10"/>
          <p:cNvSpPr>
            <a:spLocks noChangeArrowheads="1"/>
          </p:cNvSpPr>
          <p:nvPr/>
        </p:nvSpPr>
        <p:spPr bwMode="auto">
          <a:xfrm>
            <a:off x="350864" y="2157860"/>
            <a:ext cx="1775641" cy="47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已知条件</a:t>
            </a:r>
            <a:endParaRPr kumimoji="1" lang="zh-CN" altLang="en-US" sz="24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54" name="Rectangle 11"/>
          <p:cNvSpPr>
            <a:spLocks noChangeArrowheads="1"/>
          </p:cNvSpPr>
          <p:nvPr/>
        </p:nvSpPr>
        <p:spPr bwMode="auto">
          <a:xfrm>
            <a:off x="376963" y="2679668"/>
            <a:ext cx="1855868" cy="47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测定变量</a:t>
            </a:r>
            <a:endParaRPr kumimoji="1" lang="zh-CN" altLang="en-US" sz="24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55" name="Rectangle 12"/>
          <p:cNvSpPr>
            <a:spLocks noChangeArrowheads="1"/>
          </p:cNvSpPr>
          <p:nvPr/>
        </p:nvSpPr>
        <p:spPr bwMode="auto">
          <a:xfrm>
            <a:off x="383164" y="3305622"/>
            <a:ext cx="1796504" cy="47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计算公式</a:t>
            </a:r>
            <a:endParaRPr kumimoji="1" lang="zh-CN" altLang="en-US" sz="24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56" name="Rectangle 13"/>
          <p:cNvSpPr>
            <a:spLocks noChangeArrowheads="1"/>
          </p:cNvSpPr>
          <p:nvPr/>
        </p:nvSpPr>
        <p:spPr bwMode="auto">
          <a:xfrm>
            <a:off x="355697" y="3921093"/>
            <a:ext cx="1818440" cy="47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5. </a:t>
            </a:r>
            <a:r>
              <a:rPr kumimoji="1" lang="zh-CN" altLang="en-US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取值方法</a:t>
            </a:r>
            <a:endParaRPr kumimoji="1" lang="zh-CN" altLang="en-US" sz="24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57" name="Rectangle 14"/>
          <p:cNvSpPr>
            <a:spLocks noChangeArrowheads="1"/>
          </p:cNvSpPr>
          <p:nvPr/>
        </p:nvSpPr>
        <p:spPr bwMode="auto">
          <a:xfrm>
            <a:off x="2713038" y="1641922"/>
            <a:ext cx="1347100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100" b="1" dirty="0" err="1" smtClean="0">
                <a:solidFill>
                  <a:srgbClr val="000066"/>
                </a:solidFill>
                <a:cs typeface="Times New Roman" panose="02020603050405020304" pitchFamily="18" charset="0"/>
              </a:rPr>
              <a:t>Δ</a:t>
            </a:r>
            <a:r>
              <a:rPr kumimoji="1" lang="en-US" altLang="zh-CN" sz="2100" b="1" i="1" dirty="0" err="1" smtClean="0">
                <a:solidFill>
                  <a:srgbClr val="000066"/>
                </a:solidFill>
                <a:cs typeface="Times New Roman" panose="02020603050405020304" pitchFamily="18" charset="0"/>
              </a:rPr>
              <a:t>h</a:t>
            </a:r>
            <a:r>
              <a:rPr kumimoji="1" lang="zh-CN" altLang="en-US" sz="2100" b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为常数</a:t>
            </a:r>
            <a:endParaRPr kumimoji="1" lang="zh-CN" altLang="en-US" sz="2100" b="1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sp>
        <p:nvSpPr>
          <p:cNvPr id="10258" name="Rectangle 15"/>
          <p:cNvSpPr>
            <a:spLocks noChangeArrowheads="1"/>
          </p:cNvSpPr>
          <p:nvPr/>
        </p:nvSpPr>
        <p:spPr bwMode="auto">
          <a:xfrm>
            <a:off x="6237288" y="1641922"/>
            <a:ext cx="1076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1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Δ</a:t>
            </a:r>
            <a:r>
              <a:rPr kumimoji="1" lang="en-US" altLang="zh-CN" sz="21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h</a:t>
            </a:r>
            <a:r>
              <a:rPr kumimoji="1" lang="zh-CN" altLang="en-US" sz="2100" b="1" dirty="0">
                <a:solidFill>
                  <a:srgbClr val="000066"/>
                </a:solidFill>
                <a:cs typeface="Times New Roman" panose="02020603050405020304" pitchFamily="18" charset="0"/>
              </a:rPr>
              <a:t>变化</a:t>
            </a:r>
          </a:p>
        </p:txBody>
      </p:sp>
      <p:sp>
        <p:nvSpPr>
          <p:cNvPr id="10259" name="Rectangle 16"/>
          <p:cNvSpPr>
            <a:spLocks noChangeArrowheads="1"/>
          </p:cNvSpPr>
          <p:nvPr/>
        </p:nvSpPr>
        <p:spPr bwMode="auto">
          <a:xfrm>
            <a:off x="2713038" y="2176910"/>
            <a:ext cx="200818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1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Δ</a:t>
            </a:r>
            <a:r>
              <a:rPr kumimoji="1" lang="en-US" altLang="zh-CN" sz="21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h</a:t>
            </a:r>
            <a:r>
              <a:rPr kumimoji="1" lang="en-US" altLang="zh-CN" sz="21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1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A</a:t>
            </a:r>
            <a:r>
              <a:rPr kumimoji="1" lang="en-US" altLang="zh-CN" sz="21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1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L</a:t>
            </a:r>
            <a:endParaRPr kumimoji="1" lang="en-US" altLang="zh-CN" sz="2100" b="1" i="1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sp>
        <p:nvSpPr>
          <p:cNvPr id="10260" name="Rectangle 17"/>
          <p:cNvSpPr>
            <a:spLocks noChangeArrowheads="1"/>
          </p:cNvSpPr>
          <p:nvPr/>
        </p:nvSpPr>
        <p:spPr bwMode="auto">
          <a:xfrm>
            <a:off x="2747558" y="2669035"/>
            <a:ext cx="7651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1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V</a:t>
            </a:r>
            <a:r>
              <a:rPr kumimoji="1" lang="en-US" altLang="zh-CN" sz="21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1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t</a:t>
            </a:r>
            <a:endParaRPr kumimoji="1" lang="en-US" altLang="zh-CN" sz="2100" b="1" i="1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sp>
        <p:nvSpPr>
          <p:cNvPr id="10261" name="Rectangle 18"/>
          <p:cNvSpPr>
            <a:spLocks noChangeArrowheads="1"/>
          </p:cNvSpPr>
          <p:nvPr/>
        </p:nvSpPr>
        <p:spPr bwMode="auto">
          <a:xfrm>
            <a:off x="2371745" y="3915222"/>
            <a:ext cx="2710631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重复试验，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取均值</a:t>
            </a:r>
          </a:p>
        </p:txBody>
      </p:sp>
      <p:sp>
        <p:nvSpPr>
          <p:cNvPr id="10262" name="Rectangle 19"/>
          <p:cNvSpPr>
            <a:spLocks noChangeArrowheads="1"/>
          </p:cNvSpPr>
          <p:nvPr/>
        </p:nvSpPr>
        <p:spPr bwMode="auto">
          <a:xfrm>
            <a:off x="6234113" y="2191197"/>
            <a:ext cx="20780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1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a</a:t>
            </a:r>
            <a:r>
              <a:rPr kumimoji="1" lang="en-US" altLang="zh-CN" sz="21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1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A</a:t>
            </a:r>
            <a:r>
              <a:rPr kumimoji="1" lang="en-US" altLang="zh-CN" sz="21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1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L</a:t>
            </a:r>
            <a:endParaRPr kumimoji="1" lang="en-US" altLang="zh-CN" sz="2100" b="1" i="1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sp>
        <p:nvSpPr>
          <p:cNvPr id="10263" name="Rectangle 20"/>
          <p:cNvSpPr>
            <a:spLocks noChangeArrowheads="1"/>
          </p:cNvSpPr>
          <p:nvPr/>
        </p:nvSpPr>
        <p:spPr bwMode="auto">
          <a:xfrm>
            <a:off x="5996763" y="2669035"/>
            <a:ext cx="1988288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100" b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Δ</a:t>
            </a:r>
            <a:r>
              <a:rPr kumimoji="1" lang="en-US" altLang="zh-CN" sz="2100" b="1" i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h</a:t>
            </a:r>
            <a:r>
              <a:rPr kumimoji="1" lang="en-US" altLang="zh-CN" sz="2100" b="1" baseline="-25000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1</a:t>
            </a:r>
            <a:r>
              <a:rPr kumimoji="1" lang="en-US" altLang="zh-CN" sz="2100" b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，Δ</a:t>
            </a:r>
            <a:r>
              <a:rPr kumimoji="1" lang="en-US" altLang="zh-CN" sz="2100" b="1" i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h</a:t>
            </a:r>
            <a:r>
              <a:rPr kumimoji="1" lang="en-US" altLang="zh-CN" sz="2100" b="1" baseline="-25000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2</a:t>
            </a:r>
            <a:r>
              <a:rPr kumimoji="1" lang="zh-CN" altLang="en-US" sz="2100" b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100" b="1" dirty="0" err="1" smtClean="0">
                <a:solidFill>
                  <a:srgbClr val="000066"/>
                </a:solidFill>
                <a:cs typeface="Times New Roman" panose="02020603050405020304" pitchFamily="18" charset="0"/>
              </a:rPr>
              <a:t>Δ</a:t>
            </a:r>
            <a:r>
              <a:rPr kumimoji="1" lang="en-US" altLang="zh-CN" sz="2100" b="1" i="1" dirty="0" err="1" smtClean="0">
                <a:solidFill>
                  <a:srgbClr val="000066"/>
                </a:solidFill>
                <a:cs typeface="Times New Roman" panose="02020603050405020304" pitchFamily="18" charset="0"/>
              </a:rPr>
              <a:t>t</a:t>
            </a:r>
            <a:endParaRPr kumimoji="1" lang="en-US" altLang="zh-CN" sz="2100" b="1" i="1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sp>
        <p:nvSpPr>
          <p:cNvPr id="10264" name="Rectangle 23"/>
          <p:cNvSpPr>
            <a:spLocks noChangeArrowheads="1"/>
          </p:cNvSpPr>
          <p:nvPr/>
        </p:nvSpPr>
        <p:spPr bwMode="auto">
          <a:xfrm>
            <a:off x="5449888" y="3934272"/>
            <a:ext cx="330993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不同时段试验，取均值</a:t>
            </a:r>
          </a:p>
        </p:txBody>
      </p:sp>
      <p:sp>
        <p:nvSpPr>
          <p:cNvPr id="10265" name="Rectangle 24"/>
          <p:cNvSpPr>
            <a:spLocks noChangeArrowheads="1"/>
          </p:cNvSpPr>
          <p:nvPr/>
        </p:nvSpPr>
        <p:spPr bwMode="auto">
          <a:xfrm>
            <a:off x="408235" y="4541805"/>
            <a:ext cx="1792698" cy="47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6. </a:t>
            </a:r>
            <a:r>
              <a:rPr kumimoji="1" lang="zh-CN" altLang="en-US" sz="24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适用土类</a:t>
            </a:r>
            <a:endParaRPr kumimoji="1" lang="en-US" altLang="zh-CN" sz="24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66" name="Rectangle 25"/>
          <p:cNvSpPr>
            <a:spLocks noChangeArrowheads="1"/>
          </p:cNvSpPr>
          <p:nvPr/>
        </p:nvSpPr>
        <p:spPr bwMode="auto">
          <a:xfrm>
            <a:off x="2884488" y="4535935"/>
            <a:ext cx="118110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粗粒土</a:t>
            </a:r>
          </a:p>
        </p:txBody>
      </p:sp>
      <p:sp>
        <p:nvSpPr>
          <p:cNvPr id="10267" name="Rectangle 26"/>
          <p:cNvSpPr>
            <a:spLocks noChangeArrowheads="1"/>
          </p:cNvSpPr>
          <p:nvPr/>
        </p:nvSpPr>
        <p:spPr bwMode="auto">
          <a:xfrm>
            <a:off x="6394451" y="4543872"/>
            <a:ext cx="1150938" cy="47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细粒土</a:t>
            </a:r>
            <a:endParaRPr kumimoji="1" lang="zh-CN" altLang="en-US" sz="2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-1" y="0"/>
            <a:ext cx="5619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渗透系数测定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687773"/>
              </p:ext>
            </p:extLst>
          </p:nvPr>
        </p:nvGraphicFramePr>
        <p:xfrm>
          <a:off x="6018213" y="3116710"/>
          <a:ext cx="17589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0" name="Equation" r:id="rId4" imgW="1002960" imgH="444240" progId="Equation.DSMT4">
                  <p:embed/>
                </p:oleObj>
              </mc:Choice>
              <mc:Fallback>
                <p:oleObj name="Equation" r:id="rId4" imgW="1002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8213" y="3116710"/>
                        <a:ext cx="1758950" cy="779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147939"/>
              </p:ext>
            </p:extLst>
          </p:nvPr>
        </p:nvGraphicFramePr>
        <p:xfrm>
          <a:off x="2789238" y="3124647"/>
          <a:ext cx="115728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1" name="Equation" r:id="rId6" imgW="660240" imgH="406080" progId="Equation.DSMT4">
                  <p:embed/>
                </p:oleObj>
              </mc:Choice>
              <mc:Fallback>
                <p:oleObj name="Equation" r:id="rId6" imgW="660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9238" y="3124647"/>
                        <a:ext cx="1157287" cy="712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51913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514" name="Rectangle 2"/>
          <p:cNvSpPr>
            <a:spLocks noChangeArrowheads="1"/>
          </p:cNvSpPr>
          <p:nvPr/>
        </p:nvSpPr>
        <p:spPr bwMode="auto">
          <a:xfrm>
            <a:off x="3316288" y="712788"/>
            <a:ext cx="5649912" cy="35687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3381586" y="1910080"/>
            <a:ext cx="5112174" cy="548640"/>
            <a:chOff x="3381586" y="1910080"/>
            <a:chExt cx="5112174" cy="548640"/>
          </a:xfrm>
        </p:grpSpPr>
        <p:sp>
          <p:nvSpPr>
            <p:cNvPr id="13" name="任意多边形 12"/>
            <p:cNvSpPr/>
            <p:nvPr/>
          </p:nvSpPr>
          <p:spPr bwMode="auto">
            <a:xfrm>
              <a:off x="3381586" y="1910080"/>
              <a:ext cx="2367280" cy="543560"/>
            </a:xfrm>
            <a:custGeom>
              <a:avLst/>
              <a:gdLst>
                <a:gd name="connsiteX0" fmla="*/ 0 w 2367280"/>
                <a:gd name="connsiteY0" fmla="*/ 0 h 543560"/>
                <a:gd name="connsiteX1" fmla="*/ 868680 w 2367280"/>
                <a:gd name="connsiteY1" fmla="*/ 101600 h 543560"/>
                <a:gd name="connsiteX2" fmla="*/ 1711960 w 2367280"/>
                <a:gd name="connsiteY2" fmla="*/ 299720 h 543560"/>
                <a:gd name="connsiteX3" fmla="*/ 2367280 w 2367280"/>
                <a:gd name="connsiteY3" fmla="*/ 543560 h 54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7280" h="543560">
                  <a:moveTo>
                    <a:pt x="0" y="0"/>
                  </a:moveTo>
                  <a:cubicBezTo>
                    <a:pt x="291676" y="25823"/>
                    <a:pt x="583353" y="51647"/>
                    <a:pt x="868680" y="101600"/>
                  </a:cubicBezTo>
                  <a:cubicBezTo>
                    <a:pt x="1154007" y="151553"/>
                    <a:pt x="1462193" y="226060"/>
                    <a:pt x="1711960" y="299720"/>
                  </a:cubicBezTo>
                  <a:cubicBezTo>
                    <a:pt x="1961727" y="373380"/>
                    <a:pt x="2164503" y="458470"/>
                    <a:pt x="2367280" y="543560"/>
                  </a:cubicBezTo>
                </a:path>
              </a:pathLst>
            </a:cu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2" name="任意多边形 151"/>
            <p:cNvSpPr/>
            <p:nvPr/>
          </p:nvSpPr>
          <p:spPr bwMode="auto">
            <a:xfrm flipH="1">
              <a:off x="6126480" y="1915160"/>
              <a:ext cx="2367280" cy="543560"/>
            </a:xfrm>
            <a:custGeom>
              <a:avLst/>
              <a:gdLst>
                <a:gd name="connsiteX0" fmla="*/ 0 w 2367280"/>
                <a:gd name="connsiteY0" fmla="*/ 0 h 543560"/>
                <a:gd name="connsiteX1" fmla="*/ 868680 w 2367280"/>
                <a:gd name="connsiteY1" fmla="*/ 101600 h 543560"/>
                <a:gd name="connsiteX2" fmla="*/ 1711960 w 2367280"/>
                <a:gd name="connsiteY2" fmla="*/ 299720 h 543560"/>
                <a:gd name="connsiteX3" fmla="*/ 2367280 w 2367280"/>
                <a:gd name="connsiteY3" fmla="*/ 543560 h 54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7280" h="543560">
                  <a:moveTo>
                    <a:pt x="0" y="0"/>
                  </a:moveTo>
                  <a:cubicBezTo>
                    <a:pt x="291676" y="25823"/>
                    <a:pt x="583353" y="51647"/>
                    <a:pt x="868680" y="101600"/>
                  </a:cubicBezTo>
                  <a:cubicBezTo>
                    <a:pt x="1154007" y="151553"/>
                    <a:pt x="1462193" y="226060"/>
                    <a:pt x="1711960" y="299720"/>
                  </a:cubicBezTo>
                  <a:cubicBezTo>
                    <a:pt x="1961727" y="373380"/>
                    <a:pt x="2164503" y="458470"/>
                    <a:pt x="2367280" y="543560"/>
                  </a:cubicBezTo>
                </a:path>
              </a:pathLst>
            </a:cu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2343149" y="5702301"/>
            <a:ext cx="5356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现场测定法－抽水试验</a:t>
            </a:r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691313" y="1670050"/>
            <a:ext cx="66675" cy="971550"/>
            <a:chOff x="4257" y="1268"/>
            <a:chExt cx="42" cy="612"/>
          </a:xfrm>
        </p:grpSpPr>
        <p:sp>
          <p:nvSpPr>
            <p:cNvPr id="52364" name="Line 14"/>
            <p:cNvSpPr>
              <a:spLocks noChangeShapeType="1"/>
            </p:cNvSpPr>
            <p:nvPr/>
          </p:nvSpPr>
          <p:spPr bwMode="auto">
            <a:xfrm>
              <a:off x="4257" y="1268"/>
              <a:ext cx="0" cy="612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65" name="Line 15"/>
            <p:cNvSpPr>
              <a:spLocks noChangeShapeType="1"/>
            </p:cNvSpPr>
            <p:nvPr/>
          </p:nvSpPr>
          <p:spPr bwMode="auto">
            <a:xfrm>
              <a:off x="4299" y="1268"/>
              <a:ext cx="0" cy="612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66" name="Freeform 16"/>
            <p:cNvSpPr>
              <a:spLocks/>
            </p:cNvSpPr>
            <p:nvPr/>
          </p:nvSpPr>
          <p:spPr bwMode="auto">
            <a:xfrm>
              <a:off x="4261" y="1620"/>
              <a:ext cx="33" cy="257"/>
            </a:xfrm>
            <a:custGeom>
              <a:avLst/>
              <a:gdLst>
                <a:gd name="T0" fmla="*/ 2 w 33"/>
                <a:gd name="T1" fmla="*/ 0 h 257"/>
                <a:gd name="T2" fmla="*/ 33 w 33"/>
                <a:gd name="T3" fmla="*/ 0 h 257"/>
                <a:gd name="T4" fmla="*/ 32 w 33"/>
                <a:gd name="T5" fmla="*/ 257 h 257"/>
                <a:gd name="T6" fmla="*/ 0 w 33"/>
                <a:gd name="T7" fmla="*/ 257 h 257"/>
                <a:gd name="T8" fmla="*/ 2 w 33"/>
                <a:gd name="T9" fmla="*/ 0 h 2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257"/>
                <a:gd name="T17" fmla="*/ 33 w 33"/>
                <a:gd name="T18" fmla="*/ 257 h 2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257">
                  <a:moveTo>
                    <a:pt x="2" y="0"/>
                  </a:moveTo>
                  <a:lnTo>
                    <a:pt x="33" y="0"/>
                  </a:lnTo>
                  <a:lnTo>
                    <a:pt x="32" y="257"/>
                  </a:lnTo>
                  <a:lnTo>
                    <a:pt x="0" y="25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8178800" y="1646243"/>
            <a:ext cx="65088" cy="725489"/>
            <a:chOff x="5194" y="1253"/>
            <a:chExt cx="41" cy="457"/>
          </a:xfrm>
        </p:grpSpPr>
        <p:sp>
          <p:nvSpPr>
            <p:cNvPr id="52361" name="Freeform 18"/>
            <p:cNvSpPr>
              <a:spLocks/>
            </p:cNvSpPr>
            <p:nvPr/>
          </p:nvSpPr>
          <p:spPr bwMode="auto">
            <a:xfrm>
              <a:off x="5194" y="1255"/>
              <a:ext cx="1" cy="451"/>
            </a:xfrm>
            <a:custGeom>
              <a:avLst/>
              <a:gdLst>
                <a:gd name="T0" fmla="*/ 0 w 1"/>
                <a:gd name="T1" fmla="*/ 0 h 451"/>
                <a:gd name="T2" fmla="*/ 0 w 1"/>
                <a:gd name="T3" fmla="*/ 451 h 451"/>
                <a:gd name="T4" fmla="*/ 0 60000 65536"/>
                <a:gd name="T5" fmla="*/ 0 60000 65536"/>
                <a:gd name="T6" fmla="*/ 0 w 1"/>
                <a:gd name="T7" fmla="*/ 0 h 451"/>
                <a:gd name="T8" fmla="*/ 1 w 1"/>
                <a:gd name="T9" fmla="*/ 451 h 4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51">
                  <a:moveTo>
                    <a:pt x="0" y="0"/>
                  </a:moveTo>
                  <a:lnTo>
                    <a:pt x="0" y="451"/>
                  </a:lnTo>
                </a:path>
              </a:pathLst>
            </a:cu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62" name="Freeform 19"/>
            <p:cNvSpPr>
              <a:spLocks/>
            </p:cNvSpPr>
            <p:nvPr/>
          </p:nvSpPr>
          <p:spPr bwMode="auto">
            <a:xfrm>
              <a:off x="5232" y="1253"/>
              <a:ext cx="3" cy="457"/>
            </a:xfrm>
            <a:custGeom>
              <a:avLst/>
              <a:gdLst>
                <a:gd name="T0" fmla="*/ 3 w 3"/>
                <a:gd name="T1" fmla="*/ 0 h 457"/>
                <a:gd name="T2" fmla="*/ 0 w 3"/>
                <a:gd name="T3" fmla="*/ 457 h 457"/>
                <a:gd name="T4" fmla="*/ 0 60000 65536"/>
                <a:gd name="T5" fmla="*/ 0 60000 65536"/>
                <a:gd name="T6" fmla="*/ 0 w 3"/>
                <a:gd name="T7" fmla="*/ 0 h 457"/>
                <a:gd name="T8" fmla="*/ 3 w 3"/>
                <a:gd name="T9" fmla="*/ 457 h 45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457">
                  <a:moveTo>
                    <a:pt x="3" y="0"/>
                  </a:moveTo>
                  <a:lnTo>
                    <a:pt x="0" y="457"/>
                  </a:lnTo>
                </a:path>
              </a:pathLst>
            </a:cu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63" name="Freeform 20"/>
            <p:cNvSpPr>
              <a:spLocks/>
            </p:cNvSpPr>
            <p:nvPr/>
          </p:nvSpPr>
          <p:spPr bwMode="auto">
            <a:xfrm>
              <a:off x="5197" y="1444"/>
              <a:ext cx="33" cy="257"/>
            </a:xfrm>
            <a:custGeom>
              <a:avLst/>
              <a:gdLst>
                <a:gd name="T0" fmla="*/ 2 w 33"/>
                <a:gd name="T1" fmla="*/ 0 h 257"/>
                <a:gd name="T2" fmla="*/ 33 w 33"/>
                <a:gd name="T3" fmla="*/ 0 h 257"/>
                <a:gd name="T4" fmla="*/ 32 w 33"/>
                <a:gd name="T5" fmla="*/ 257 h 257"/>
                <a:gd name="T6" fmla="*/ 0 w 33"/>
                <a:gd name="T7" fmla="*/ 257 h 257"/>
                <a:gd name="T8" fmla="*/ 2 w 33"/>
                <a:gd name="T9" fmla="*/ 0 h 2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257"/>
                <a:gd name="T17" fmla="*/ 33 w 33"/>
                <a:gd name="T18" fmla="*/ 257 h 2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257">
                  <a:moveTo>
                    <a:pt x="2" y="0"/>
                  </a:moveTo>
                  <a:lnTo>
                    <a:pt x="33" y="0"/>
                  </a:lnTo>
                  <a:lnTo>
                    <a:pt x="32" y="257"/>
                  </a:lnTo>
                  <a:lnTo>
                    <a:pt x="0" y="25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4668838" y="1003300"/>
            <a:ext cx="1304925" cy="595313"/>
            <a:chOff x="2983" y="848"/>
            <a:chExt cx="822" cy="375"/>
          </a:xfrm>
        </p:grpSpPr>
        <p:sp>
          <p:nvSpPr>
            <p:cNvPr id="52359" name="AutoShape 22"/>
            <p:cNvSpPr>
              <a:spLocks noChangeArrowheads="1"/>
            </p:cNvSpPr>
            <p:nvPr/>
          </p:nvSpPr>
          <p:spPr bwMode="auto">
            <a:xfrm flipH="1">
              <a:off x="3623" y="1042"/>
              <a:ext cx="182" cy="181"/>
            </a:xfrm>
            <a:custGeom>
              <a:avLst/>
              <a:gdLst>
                <a:gd name="T0" fmla="*/ 127 w 21600"/>
                <a:gd name="T1" fmla="*/ 0 h 21600"/>
                <a:gd name="T2" fmla="*/ 127 w 21600"/>
                <a:gd name="T3" fmla="*/ 102 h 21600"/>
                <a:gd name="T4" fmla="*/ 27 w 21600"/>
                <a:gd name="T5" fmla="*/ 181 h 21600"/>
                <a:gd name="T6" fmla="*/ 182 w 21600"/>
                <a:gd name="T7" fmla="*/ 51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2 w 21600"/>
                <a:gd name="T13" fmla="*/ 2864 h 21600"/>
                <a:gd name="T14" fmla="*/ 18277 w 21600"/>
                <a:gd name="T15" fmla="*/ 91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19050" algn="ctr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60" name="Text Box 23"/>
            <p:cNvSpPr txBox="1">
              <a:spLocks noChangeArrowheads="1"/>
            </p:cNvSpPr>
            <p:nvPr/>
          </p:nvSpPr>
          <p:spPr bwMode="auto">
            <a:xfrm>
              <a:off x="2983" y="848"/>
              <a:ext cx="6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抽水量</a:t>
              </a: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5934075" y="1093800"/>
            <a:ext cx="792163" cy="504829"/>
            <a:chOff x="3780" y="905"/>
            <a:chExt cx="499" cy="318"/>
          </a:xfrm>
        </p:grpSpPr>
        <p:sp>
          <p:nvSpPr>
            <p:cNvPr id="52356" name="Line 25"/>
            <p:cNvSpPr>
              <a:spLocks noChangeShapeType="1"/>
            </p:cNvSpPr>
            <p:nvPr/>
          </p:nvSpPr>
          <p:spPr bwMode="auto">
            <a:xfrm>
              <a:off x="4277" y="1087"/>
              <a:ext cx="0" cy="136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57" name="Line 26"/>
            <p:cNvSpPr>
              <a:spLocks noChangeShapeType="1"/>
            </p:cNvSpPr>
            <p:nvPr/>
          </p:nvSpPr>
          <p:spPr bwMode="auto">
            <a:xfrm>
              <a:off x="3780" y="1159"/>
              <a:ext cx="499" cy="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58" name="Text Box 27"/>
            <p:cNvSpPr txBox="1">
              <a:spLocks noChangeArrowheads="1"/>
            </p:cNvSpPr>
            <p:nvPr/>
          </p:nvSpPr>
          <p:spPr bwMode="auto">
            <a:xfrm>
              <a:off x="3946" y="905"/>
              <a:ext cx="12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altLang="zh-CN" sz="22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5937250" y="554044"/>
            <a:ext cx="2278063" cy="1023943"/>
            <a:chOff x="3782" y="565"/>
            <a:chExt cx="1435" cy="645"/>
          </a:xfrm>
        </p:grpSpPr>
        <p:sp>
          <p:nvSpPr>
            <p:cNvPr id="52353" name="Line 29"/>
            <p:cNvSpPr>
              <a:spLocks noChangeShapeType="1"/>
            </p:cNvSpPr>
            <p:nvPr/>
          </p:nvSpPr>
          <p:spPr bwMode="auto">
            <a:xfrm flipV="1">
              <a:off x="5217" y="779"/>
              <a:ext cx="0" cy="431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54" name="Freeform 30"/>
            <p:cNvSpPr>
              <a:spLocks/>
            </p:cNvSpPr>
            <p:nvPr/>
          </p:nvSpPr>
          <p:spPr bwMode="auto">
            <a:xfrm>
              <a:off x="3782" y="831"/>
              <a:ext cx="1429" cy="2"/>
            </a:xfrm>
            <a:custGeom>
              <a:avLst/>
              <a:gdLst>
                <a:gd name="T0" fmla="*/ 0 w 1420"/>
                <a:gd name="T1" fmla="*/ 0 h 2"/>
                <a:gd name="T2" fmla="*/ 1420 w 1420"/>
                <a:gd name="T3" fmla="*/ 2 h 2"/>
                <a:gd name="T4" fmla="*/ 0 60000 65536"/>
                <a:gd name="T5" fmla="*/ 0 60000 65536"/>
                <a:gd name="T6" fmla="*/ 0 w 1420"/>
                <a:gd name="T7" fmla="*/ 0 h 2"/>
                <a:gd name="T8" fmla="*/ 1420 w 1420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20" h="2">
                  <a:moveTo>
                    <a:pt x="0" y="0"/>
                  </a:moveTo>
                  <a:lnTo>
                    <a:pt x="1420" y="2"/>
                  </a:lnTo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55" name="Text Box 31"/>
            <p:cNvSpPr txBox="1">
              <a:spLocks noChangeArrowheads="1"/>
            </p:cNvSpPr>
            <p:nvPr/>
          </p:nvSpPr>
          <p:spPr bwMode="auto">
            <a:xfrm>
              <a:off x="4399" y="565"/>
              <a:ext cx="12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altLang="zh-CN" sz="22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6804025" y="2235200"/>
            <a:ext cx="455613" cy="1441450"/>
            <a:chOff x="4328" y="1624"/>
            <a:chExt cx="287" cy="908"/>
          </a:xfrm>
        </p:grpSpPr>
        <p:sp>
          <p:nvSpPr>
            <p:cNvPr id="52350" name="Line 33"/>
            <p:cNvSpPr>
              <a:spLocks noChangeShapeType="1"/>
            </p:cNvSpPr>
            <p:nvPr/>
          </p:nvSpPr>
          <p:spPr bwMode="auto">
            <a:xfrm>
              <a:off x="4328" y="1624"/>
              <a:ext cx="227" cy="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51" name="Freeform 34"/>
            <p:cNvSpPr>
              <a:spLocks/>
            </p:cNvSpPr>
            <p:nvPr/>
          </p:nvSpPr>
          <p:spPr bwMode="auto">
            <a:xfrm>
              <a:off x="4419" y="1625"/>
              <a:ext cx="1" cy="907"/>
            </a:xfrm>
            <a:custGeom>
              <a:avLst/>
              <a:gdLst>
                <a:gd name="T0" fmla="*/ 0 w 1"/>
                <a:gd name="T1" fmla="*/ 0 h 765"/>
                <a:gd name="T2" fmla="*/ 1 w 1"/>
                <a:gd name="T3" fmla="*/ 765 h 765"/>
                <a:gd name="T4" fmla="*/ 0 60000 65536"/>
                <a:gd name="T5" fmla="*/ 0 60000 65536"/>
                <a:gd name="T6" fmla="*/ 0 w 1"/>
                <a:gd name="T7" fmla="*/ 0 h 765"/>
                <a:gd name="T8" fmla="*/ 1 w 1"/>
                <a:gd name="T9" fmla="*/ 765 h 7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65">
                  <a:moveTo>
                    <a:pt x="0" y="0"/>
                  </a:moveTo>
                  <a:lnTo>
                    <a:pt x="1" y="765"/>
                  </a:lnTo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52" name="Text Box 35"/>
            <p:cNvSpPr txBox="1">
              <a:spLocks noChangeArrowheads="1"/>
            </p:cNvSpPr>
            <p:nvPr/>
          </p:nvSpPr>
          <p:spPr bwMode="auto">
            <a:xfrm>
              <a:off x="4456" y="1976"/>
              <a:ext cx="15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altLang="zh-CN" sz="22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8388350" y="1955800"/>
            <a:ext cx="515938" cy="1727200"/>
            <a:chOff x="5326" y="1448"/>
            <a:chExt cx="325" cy="1088"/>
          </a:xfrm>
        </p:grpSpPr>
        <p:sp>
          <p:nvSpPr>
            <p:cNvPr id="52347" name="Line 37"/>
            <p:cNvSpPr>
              <a:spLocks noChangeShapeType="1"/>
            </p:cNvSpPr>
            <p:nvPr/>
          </p:nvSpPr>
          <p:spPr bwMode="auto">
            <a:xfrm>
              <a:off x="5326" y="1450"/>
              <a:ext cx="227" cy="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48" name="Line 38"/>
            <p:cNvSpPr>
              <a:spLocks noChangeShapeType="1"/>
            </p:cNvSpPr>
            <p:nvPr/>
          </p:nvSpPr>
          <p:spPr bwMode="auto">
            <a:xfrm>
              <a:off x="5462" y="1448"/>
              <a:ext cx="0" cy="1088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49" name="Text Box 39"/>
            <p:cNvSpPr txBox="1">
              <a:spLocks noChangeArrowheads="1"/>
            </p:cNvSpPr>
            <p:nvPr/>
          </p:nvSpPr>
          <p:spPr bwMode="auto">
            <a:xfrm>
              <a:off x="5492" y="1840"/>
              <a:ext cx="15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altLang="zh-CN" sz="22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2" name="Group 43"/>
          <p:cNvGrpSpPr>
            <a:grpSpLocks/>
          </p:cNvGrpSpPr>
          <p:nvPr/>
        </p:nvGrpSpPr>
        <p:grpSpPr bwMode="auto">
          <a:xfrm>
            <a:off x="3408363" y="1662113"/>
            <a:ext cx="5507037" cy="2549525"/>
            <a:chOff x="2189" y="1263"/>
            <a:chExt cx="3469" cy="1606"/>
          </a:xfrm>
        </p:grpSpPr>
        <p:grpSp>
          <p:nvGrpSpPr>
            <p:cNvPr id="52251" name="Group 44"/>
            <p:cNvGrpSpPr>
              <a:grpSpLocks/>
            </p:cNvGrpSpPr>
            <p:nvPr/>
          </p:nvGrpSpPr>
          <p:grpSpPr bwMode="auto">
            <a:xfrm>
              <a:off x="3630" y="2534"/>
              <a:ext cx="481" cy="83"/>
              <a:chOff x="2644" y="2807"/>
              <a:chExt cx="481" cy="83"/>
            </a:xfrm>
          </p:grpSpPr>
          <p:sp>
            <p:nvSpPr>
              <p:cNvPr id="52333" name="Freeform 45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34" name="Freeform 46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35" name="Freeform 47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36" name="Freeform 48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37" name="Freeform 49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38" name="Freeform 50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39" name="Freeform 51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40" name="Freeform 52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41" name="Freeform 53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42" name="Freeform 54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43" name="Freeform 55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44" name="Freeform 56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2252" name="Group 57"/>
            <p:cNvGrpSpPr>
              <a:grpSpLocks/>
            </p:cNvGrpSpPr>
            <p:nvPr/>
          </p:nvGrpSpPr>
          <p:grpSpPr bwMode="auto">
            <a:xfrm>
              <a:off x="3182" y="2534"/>
              <a:ext cx="481" cy="83"/>
              <a:chOff x="2644" y="2807"/>
              <a:chExt cx="481" cy="83"/>
            </a:xfrm>
          </p:grpSpPr>
          <p:sp>
            <p:nvSpPr>
              <p:cNvPr id="52321" name="Freeform 58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22" name="Freeform 59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23" name="Freeform 60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24" name="Freeform 61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25" name="Freeform 62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26" name="Freeform 63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27" name="Freeform 64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28" name="Freeform 65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29" name="Freeform 66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30" name="Freeform 67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31" name="Freeform 68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32" name="Freeform 69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2253" name="Group 70"/>
            <p:cNvGrpSpPr>
              <a:grpSpLocks/>
            </p:cNvGrpSpPr>
            <p:nvPr/>
          </p:nvGrpSpPr>
          <p:grpSpPr bwMode="auto">
            <a:xfrm>
              <a:off x="2735" y="2534"/>
              <a:ext cx="481" cy="83"/>
              <a:chOff x="2644" y="2807"/>
              <a:chExt cx="481" cy="83"/>
            </a:xfrm>
          </p:grpSpPr>
          <p:sp>
            <p:nvSpPr>
              <p:cNvPr id="52309" name="Freeform 71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0" name="Freeform 72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1" name="Freeform 73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2" name="Freeform 74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3" name="Freeform 75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4" name="Freeform 76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5" name="Freeform 77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6" name="Freeform 78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7" name="Freeform 79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8" name="Freeform 80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19" name="Freeform 81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20" name="Freeform 82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2254" name="Group 83"/>
            <p:cNvGrpSpPr>
              <a:grpSpLocks/>
            </p:cNvGrpSpPr>
            <p:nvPr/>
          </p:nvGrpSpPr>
          <p:grpSpPr bwMode="auto">
            <a:xfrm>
              <a:off x="2287" y="2534"/>
              <a:ext cx="481" cy="83"/>
              <a:chOff x="2644" y="2807"/>
              <a:chExt cx="481" cy="83"/>
            </a:xfrm>
          </p:grpSpPr>
          <p:sp>
            <p:nvSpPr>
              <p:cNvPr id="52297" name="Freeform 84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98" name="Freeform 85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99" name="Freeform 86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00" name="Freeform 87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01" name="Freeform 88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02" name="Freeform 89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03" name="Freeform 90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04" name="Freeform 91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05" name="Freeform 92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06" name="Freeform 93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07" name="Freeform 94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308" name="Freeform 95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2255" name="Group 96"/>
            <p:cNvGrpSpPr>
              <a:grpSpLocks/>
            </p:cNvGrpSpPr>
            <p:nvPr/>
          </p:nvGrpSpPr>
          <p:grpSpPr bwMode="auto">
            <a:xfrm>
              <a:off x="4526" y="2534"/>
              <a:ext cx="481" cy="83"/>
              <a:chOff x="2644" y="2807"/>
              <a:chExt cx="481" cy="83"/>
            </a:xfrm>
          </p:grpSpPr>
          <p:sp>
            <p:nvSpPr>
              <p:cNvPr id="52285" name="Freeform 97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86" name="Freeform 98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87" name="Freeform 99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88" name="Freeform 100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89" name="Freeform 101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90" name="Freeform 102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91" name="Freeform 103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92" name="Freeform 104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93" name="Freeform 105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94" name="Freeform 106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95" name="Freeform 107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96" name="Freeform 108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2256" name="Group 109"/>
            <p:cNvGrpSpPr>
              <a:grpSpLocks/>
            </p:cNvGrpSpPr>
            <p:nvPr/>
          </p:nvGrpSpPr>
          <p:grpSpPr bwMode="auto">
            <a:xfrm>
              <a:off x="4078" y="2534"/>
              <a:ext cx="481" cy="83"/>
              <a:chOff x="2644" y="2807"/>
              <a:chExt cx="481" cy="83"/>
            </a:xfrm>
          </p:grpSpPr>
          <p:sp>
            <p:nvSpPr>
              <p:cNvPr id="52273" name="Freeform 110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4" name="Freeform 111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5" name="Freeform 112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6" name="Freeform 113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7" name="Freeform 114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8" name="Freeform 115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9" name="Freeform 116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80" name="Freeform 117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81" name="Freeform 118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82" name="Freeform 119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83" name="Freeform 120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84" name="Freeform 121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2257" name="Freeform 122"/>
            <p:cNvSpPr>
              <a:spLocks/>
            </p:cNvSpPr>
            <p:nvPr/>
          </p:nvSpPr>
          <p:spPr bwMode="auto">
            <a:xfrm>
              <a:off x="2287" y="2534"/>
              <a:ext cx="3359" cy="3"/>
            </a:xfrm>
            <a:custGeom>
              <a:avLst/>
              <a:gdLst>
                <a:gd name="T0" fmla="*/ 0 w 3359"/>
                <a:gd name="T1" fmla="*/ 0 h 3"/>
                <a:gd name="T2" fmla="*/ 3359 w 3359"/>
                <a:gd name="T3" fmla="*/ 3 h 3"/>
                <a:gd name="T4" fmla="*/ 0 60000 65536"/>
                <a:gd name="T5" fmla="*/ 0 60000 65536"/>
                <a:gd name="T6" fmla="*/ 0 w 3359"/>
                <a:gd name="T7" fmla="*/ 0 h 3"/>
                <a:gd name="T8" fmla="*/ 3359 w 3359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59" h="3">
                  <a:moveTo>
                    <a:pt x="0" y="0"/>
                  </a:moveTo>
                  <a:lnTo>
                    <a:pt x="3359" y="3"/>
                  </a:lnTo>
                </a:path>
              </a:pathLst>
            </a:custGeom>
            <a:noFill/>
            <a:ln w="2857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2258" name="Group 123"/>
            <p:cNvGrpSpPr>
              <a:grpSpLocks/>
            </p:cNvGrpSpPr>
            <p:nvPr/>
          </p:nvGrpSpPr>
          <p:grpSpPr bwMode="auto">
            <a:xfrm>
              <a:off x="4966" y="2540"/>
              <a:ext cx="481" cy="83"/>
              <a:chOff x="2644" y="2807"/>
              <a:chExt cx="481" cy="83"/>
            </a:xfrm>
          </p:grpSpPr>
          <p:sp>
            <p:nvSpPr>
              <p:cNvPr id="52261" name="Freeform 124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2" name="Freeform 125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3" name="Freeform 126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4" name="Freeform 127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5" name="Freeform 128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6" name="Freeform 129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7" name="Freeform 130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8" name="Freeform 131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69" name="Freeform 132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  <a:gd name="T4" fmla="*/ 0 60000 65536"/>
                  <a:gd name="T5" fmla="*/ 0 60000 65536"/>
                  <a:gd name="T6" fmla="*/ 0 w 97"/>
                  <a:gd name="T7" fmla="*/ 0 h 73"/>
                  <a:gd name="T8" fmla="*/ 97 w 97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0" name="Freeform 133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1" name="Freeform 134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  <a:gd name="T4" fmla="*/ 0 60000 65536"/>
                  <a:gd name="T5" fmla="*/ 0 60000 65536"/>
                  <a:gd name="T6" fmla="*/ 0 w 54"/>
                  <a:gd name="T7" fmla="*/ 0 h 30"/>
                  <a:gd name="T8" fmla="*/ 54 w 54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272" name="Freeform 135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  <a:gd name="T4" fmla="*/ 0 60000 65536"/>
                  <a:gd name="T5" fmla="*/ 0 60000 65536"/>
                  <a:gd name="T6" fmla="*/ 0 w 72"/>
                  <a:gd name="T7" fmla="*/ 0 h 40"/>
                  <a:gd name="T8" fmla="*/ 72 w 72"/>
                  <a:gd name="T9" fmla="*/ 40 h 4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2259" name="Text Box 136"/>
            <p:cNvSpPr txBox="1">
              <a:spLocks noChangeArrowheads="1"/>
            </p:cNvSpPr>
            <p:nvPr/>
          </p:nvSpPr>
          <p:spPr bwMode="auto">
            <a:xfrm>
              <a:off x="2415" y="2619"/>
              <a:ext cx="91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不透水层</a:t>
              </a:r>
            </a:p>
          </p:txBody>
        </p:sp>
        <p:sp>
          <p:nvSpPr>
            <p:cNvPr id="52260" name="Line 137"/>
            <p:cNvSpPr>
              <a:spLocks noChangeShapeType="1"/>
            </p:cNvSpPr>
            <p:nvPr/>
          </p:nvSpPr>
          <p:spPr bwMode="auto">
            <a:xfrm>
              <a:off x="2189" y="1263"/>
              <a:ext cx="3469" cy="0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72650" name="Rectangle 138"/>
          <p:cNvSpPr>
            <a:spLocks noChangeArrowheads="1"/>
          </p:cNvSpPr>
          <p:nvPr/>
        </p:nvSpPr>
        <p:spPr bwMode="auto">
          <a:xfrm>
            <a:off x="446088" y="1060450"/>
            <a:ext cx="3049587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试验条件</a:t>
            </a:r>
            <a:r>
              <a:rPr kumimoji="1"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en-US" altLang="zh-CN" sz="2800" b="1" dirty="0">
                <a:solidFill>
                  <a:srgbClr val="000066"/>
                </a:solidFill>
                <a:cs typeface="Times New Roman" panose="02020603050405020304" pitchFamily="18" charset="0"/>
              </a:rPr>
              <a:t>    </a:t>
            </a:r>
            <a:r>
              <a:rPr kumimoji="1" lang="en-US" altLang="zh-CN" sz="2800" b="1" i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Q </a:t>
            </a:r>
            <a:r>
              <a:rPr kumimoji="1" lang="en-US" altLang="zh-CN" sz="2800" b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= </a:t>
            </a:r>
            <a:r>
              <a:rPr kumimoji="1" lang="en-US" altLang="zh-CN" sz="2800" b="1" dirty="0" err="1" smtClean="0">
                <a:solidFill>
                  <a:srgbClr val="000066"/>
                </a:solidFill>
                <a:cs typeface="Times New Roman" panose="02020603050405020304" pitchFamily="18" charset="0"/>
              </a:rPr>
              <a:t>const</a:t>
            </a:r>
            <a:endParaRPr kumimoji="1" lang="en-US" altLang="zh-CN" sz="2800" b="1" dirty="0">
              <a:solidFill>
                <a:srgbClr val="000066"/>
              </a:solidFill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 量测变量</a:t>
            </a:r>
            <a:r>
              <a:rPr kumimoji="1"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？</a:t>
            </a: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？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72651" name="Text Box 139"/>
          <p:cNvSpPr txBox="1">
            <a:spLocks noChangeArrowheads="1"/>
          </p:cNvSpPr>
          <p:nvPr/>
        </p:nvSpPr>
        <p:spPr bwMode="auto">
          <a:xfrm>
            <a:off x="1858963" y="4459288"/>
            <a:ext cx="671353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4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  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</a:rPr>
              <a:t>优点：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可获得现场较为可靠的平均渗透系数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  缺点：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费用较高，耗时较长</a:t>
            </a:r>
            <a:endParaRPr lang="zh-CN" altLang="en-US" sz="2400" b="1" dirty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</p:txBody>
      </p:sp>
      <p:sp>
        <p:nvSpPr>
          <p:cNvPr id="1472656" name="Line 144"/>
          <p:cNvSpPr>
            <a:spLocks noChangeShapeType="1"/>
          </p:cNvSpPr>
          <p:nvPr/>
        </p:nvSpPr>
        <p:spPr bwMode="auto">
          <a:xfrm>
            <a:off x="3395132" y="1851025"/>
            <a:ext cx="5424488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145"/>
          <p:cNvGrpSpPr>
            <a:grpSpLocks/>
          </p:cNvGrpSpPr>
          <p:nvPr/>
        </p:nvGrpSpPr>
        <p:grpSpPr bwMode="auto">
          <a:xfrm>
            <a:off x="5734050" y="885919"/>
            <a:ext cx="388938" cy="3132069"/>
            <a:chOff x="3654" y="772"/>
            <a:chExt cx="245" cy="1975"/>
          </a:xfrm>
        </p:grpSpPr>
        <p:sp>
          <p:nvSpPr>
            <p:cNvPr id="52246" name="Rectangle 147" descr="20%"/>
            <p:cNvSpPr>
              <a:spLocks noChangeArrowheads="1"/>
            </p:cNvSpPr>
            <p:nvPr/>
          </p:nvSpPr>
          <p:spPr bwMode="auto">
            <a:xfrm>
              <a:off x="3855" y="1268"/>
              <a:ext cx="44" cy="1257"/>
            </a:xfrm>
            <a:prstGeom prst="rect">
              <a:avLst/>
            </a:prstGeom>
            <a:pattFill prst="pct20">
              <a:fgClr>
                <a:srgbClr val="000000"/>
              </a:fgClr>
              <a:bgClr>
                <a:srgbClr val="FFFFFF"/>
              </a:bgClr>
            </a:pattFill>
            <a:ln w="19050" algn="ctr">
              <a:solidFill>
                <a:srgbClr val="990033"/>
              </a:solidFill>
              <a:miter lim="800000"/>
              <a:headEnd/>
              <a:tailEnd/>
            </a:ln>
          </p:spPr>
          <p:txBody>
            <a:bodyPr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47" name="Line 148"/>
            <p:cNvSpPr>
              <a:spLocks noChangeShapeType="1"/>
            </p:cNvSpPr>
            <p:nvPr/>
          </p:nvSpPr>
          <p:spPr bwMode="auto">
            <a:xfrm>
              <a:off x="3776" y="772"/>
              <a:ext cx="0" cy="1975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45" name="Rectangle 146" descr="20%"/>
            <p:cNvSpPr>
              <a:spLocks noChangeArrowheads="1"/>
            </p:cNvSpPr>
            <p:nvPr/>
          </p:nvSpPr>
          <p:spPr bwMode="auto">
            <a:xfrm>
              <a:off x="3654" y="1268"/>
              <a:ext cx="45" cy="1258"/>
            </a:xfrm>
            <a:prstGeom prst="rect">
              <a:avLst/>
            </a:prstGeom>
            <a:pattFill prst="pct20">
              <a:fgClr>
                <a:srgbClr val="000000"/>
              </a:fgClr>
              <a:bgClr>
                <a:srgbClr val="FFFFFF"/>
              </a:bgClr>
            </a:pattFill>
            <a:ln w="19050" algn="ctr">
              <a:solidFill>
                <a:srgbClr val="990033"/>
              </a:solidFill>
              <a:miter lim="800000"/>
              <a:headEnd/>
              <a:tailEnd/>
            </a:ln>
          </p:spPr>
          <p:txBody>
            <a:bodyPr lIns="0" r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0" name="Text Box 7"/>
          <p:cNvSpPr txBox="1">
            <a:spLocks noChangeArrowheads="1"/>
          </p:cNvSpPr>
          <p:nvPr/>
        </p:nvSpPr>
        <p:spPr bwMode="auto">
          <a:xfrm>
            <a:off x="-1" y="0"/>
            <a:ext cx="5619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渗透系数测定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808050" y="1758155"/>
            <a:ext cx="230188" cy="165108"/>
            <a:chOff x="3700" y="2010"/>
            <a:chExt cx="145" cy="104"/>
          </a:xfrm>
        </p:grpSpPr>
        <p:sp>
          <p:nvSpPr>
            <p:cNvPr id="52367" name="Line 9"/>
            <p:cNvSpPr>
              <a:spLocks noChangeShapeType="1"/>
            </p:cNvSpPr>
            <p:nvPr/>
          </p:nvSpPr>
          <p:spPr bwMode="auto">
            <a:xfrm>
              <a:off x="3723" y="2093"/>
              <a:ext cx="9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68" name="Line 10"/>
            <p:cNvSpPr>
              <a:spLocks noChangeShapeType="1"/>
            </p:cNvSpPr>
            <p:nvPr/>
          </p:nvSpPr>
          <p:spPr bwMode="auto">
            <a:xfrm>
              <a:off x="3748" y="2114"/>
              <a:ext cx="4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69" name="AutoShape 11"/>
            <p:cNvSpPr>
              <a:spLocks noChangeArrowheads="1"/>
            </p:cNvSpPr>
            <p:nvPr/>
          </p:nvSpPr>
          <p:spPr bwMode="auto">
            <a:xfrm flipV="1">
              <a:off x="3737" y="2010"/>
              <a:ext cx="75" cy="57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370" name="Line 12"/>
            <p:cNvSpPr>
              <a:spLocks noChangeShapeType="1"/>
            </p:cNvSpPr>
            <p:nvPr/>
          </p:nvSpPr>
          <p:spPr bwMode="auto">
            <a:xfrm>
              <a:off x="3700" y="2069"/>
              <a:ext cx="14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348560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47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472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72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47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96296E-6 L -3.05556E-6 0.0879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472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472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472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2514" grpId="0" animBg="1"/>
      <p:bldP spid="1472650" grpId="0"/>
      <p:bldP spid="1472651" grpId="0"/>
      <p:bldP spid="1472656" grpId="0" animBg="1"/>
      <p:bldP spid="1472656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316288" y="712788"/>
            <a:ext cx="5649912" cy="3568700"/>
            <a:chOff x="3316288" y="712788"/>
            <a:chExt cx="5649912" cy="3568700"/>
          </a:xfrm>
        </p:grpSpPr>
        <p:sp>
          <p:nvSpPr>
            <p:cNvPr id="309" name="Rectangle 2"/>
            <p:cNvSpPr>
              <a:spLocks noChangeArrowheads="1"/>
            </p:cNvSpPr>
            <p:nvPr/>
          </p:nvSpPr>
          <p:spPr bwMode="auto">
            <a:xfrm>
              <a:off x="3316288" y="712788"/>
              <a:ext cx="5649912" cy="35687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0" name="组合 309"/>
            <p:cNvGrpSpPr/>
            <p:nvPr/>
          </p:nvGrpSpPr>
          <p:grpSpPr>
            <a:xfrm>
              <a:off x="3381586" y="1910080"/>
              <a:ext cx="5112174" cy="548640"/>
              <a:chOff x="3381586" y="1910080"/>
              <a:chExt cx="5112174" cy="548640"/>
            </a:xfrm>
          </p:grpSpPr>
          <p:sp>
            <p:nvSpPr>
              <p:cNvPr id="311" name="任意多边形 310"/>
              <p:cNvSpPr/>
              <p:nvPr/>
            </p:nvSpPr>
            <p:spPr bwMode="auto">
              <a:xfrm>
                <a:off x="3381586" y="1910080"/>
                <a:ext cx="2367280" cy="543560"/>
              </a:xfrm>
              <a:custGeom>
                <a:avLst/>
                <a:gdLst>
                  <a:gd name="connsiteX0" fmla="*/ 0 w 2367280"/>
                  <a:gd name="connsiteY0" fmla="*/ 0 h 543560"/>
                  <a:gd name="connsiteX1" fmla="*/ 868680 w 2367280"/>
                  <a:gd name="connsiteY1" fmla="*/ 101600 h 543560"/>
                  <a:gd name="connsiteX2" fmla="*/ 1711960 w 2367280"/>
                  <a:gd name="connsiteY2" fmla="*/ 299720 h 543560"/>
                  <a:gd name="connsiteX3" fmla="*/ 2367280 w 2367280"/>
                  <a:gd name="connsiteY3" fmla="*/ 543560 h 543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67280" h="543560">
                    <a:moveTo>
                      <a:pt x="0" y="0"/>
                    </a:moveTo>
                    <a:cubicBezTo>
                      <a:pt x="291676" y="25823"/>
                      <a:pt x="583353" y="51647"/>
                      <a:pt x="868680" y="101600"/>
                    </a:cubicBezTo>
                    <a:cubicBezTo>
                      <a:pt x="1154007" y="151553"/>
                      <a:pt x="1462193" y="226060"/>
                      <a:pt x="1711960" y="299720"/>
                    </a:cubicBezTo>
                    <a:cubicBezTo>
                      <a:pt x="1961727" y="373380"/>
                      <a:pt x="2164503" y="458470"/>
                      <a:pt x="2367280" y="543560"/>
                    </a:cubicBezTo>
                  </a:path>
                </a:pathLst>
              </a:custGeom>
              <a:noFill/>
              <a:ln w="19050" cap="flat" cmpd="sng" algn="ctr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12" name="任意多边形 311"/>
              <p:cNvSpPr/>
              <p:nvPr/>
            </p:nvSpPr>
            <p:spPr bwMode="auto">
              <a:xfrm flipH="1">
                <a:off x="6126480" y="1915160"/>
                <a:ext cx="2367280" cy="543560"/>
              </a:xfrm>
              <a:custGeom>
                <a:avLst/>
                <a:gdLst>
                  <a:gd name="connsiteX0" fmla="*/ 0 w 2367280"/>
                  <a:gd name="connsiteY0" fmla="*/ 0 h 543560"/>
                  <a:gd name="connsiteX1" fmla="*/ 868680 w 2367280"/>
                  <a:gd name="connsiteY1" fmla="*/ 101600 h 543560"/>
                  <a:gd name="connsiteX2" fmla="*/ 1711960 w 2367280"/>
                  <a:gd name="connsiteY2" fmla="*/ 299720 h 543560"/>
                  <a:gd name="connsiteX3" fmla="*/ 2367280 w 2367280"/>
                  <a:gd name="connsiteY3" fmla="*/ 543560 h 543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67280" h="543560">
                    <a:moveTo>
                      <a:pt x="0" y="0"/>
                    </a:moveTo>
                    <a:cubicBezTo>
                      <a:pt x="291676" y="25823"/>
                      <a:pt x="583353" y="51647"/>
                      <a:pt x="868680" y="101600"/>
                    </a:cubicBezTo>
                    <a:cubicBezTo>
                      <a:pt x="1154007" y="151553"/>
                      <a:pt x="1462193" y="226060"/>
                      <a:pt x="1711960" y="299720"/>
                    </a:cubicBezTo>
                    <a:cubicBezTo>
                      <a:pt x="1961727" y="373380"/>
                      <a:pt x="2164503" y="458470"/>
                      <a:pt x="2367280" y="543560"/>
                    </a:cubicBezTo>
                  </a:path>
                </a:pathLst>
              </a:custGeom>
              <a:noFill/>
              <a:ln w="19050" cap="flat" cmpd="sng" algn="ctr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13" name="Group 13"/>
            <p:cNvGrpSpPr>
              <a:grpSpLocks/>
            </p:cNvGrpSpPr>
            <p:nvPr/>
          </p:nvGrpSpPr>
          <p:grpSpPr bwMode="auto">
            <a:xfrm>
              <a:off x="6691313" y="1670050"/>
              <a:ext cx="66675" cy="971550"/>
              <a:chOff x="4257" y="1268"/>
              <a:chExt cx="42" cy="612"/>
            </a:xfrm>
          </p:grpSpPr>
          <p:sp>
            <p:nvSpPr>
              <p:cNvPr id="314" name="Line 14"/>
              <p:cNvSpPr>
                <a:spLocks noChangeShapeType="1"/>
              </p:cNvSpPr>
              <p:nvPr/>
            </p:nvSpPr>
            <p:spPr bwMode="auto">
              <a:xfrm>
                <a:off x="4257" y="1268"/>
                <a:ext cx="0" cy="612"/>
              </a:xfrm>
              <a:prstGeom prst="line">
                <a:avLst/>
              </a:prstGeom>
              <a:noFill/>
              <a:ln w="1905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5" name="Line 15"/>
              <p:cNvSpPr>
                <a:spLocks noChangeShapeType="1"/>
              </p:cNvSpPr>
              <p:nvPr/>
            </p:nvSpPr>
            <p:spPr bwMode="auto">
              <a:xfrm>
                <a:off x="4299" y="1268"/>
                <a:ext cx="0" cy="612"/>
              </a:xfrm>
              <a:prstGeom prst="line">
                <a:avLst/>
              </a:prstGeom>
              <a:noFill/>
              <a:ln w="1905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16"/>
              <p:cNvSpPr>
                <a:spLocks/>
              </p:cNvSpPr>
              <p:nvPr/>
            </p:nvSpPr>
            <p:spPr bwMode="auto">
              <a:xfrm>
                <a:off x="4261" y="1620"/>
                <a:ext cx="33" cy="257"/>
              </a:xfrm>
              <a:custGeom>
                <a:avLst/>
                <a:gdLst>
                  <a:gd name="T0" fmla="*/ 2 w 33"/>
                  <a:gd name="T1" fmla="*/ 0 h 257"/>
                  <a:gd name="T2" fmla="*/ 33 w 33"/>
                  <a:gd name="T3" fmla="*/ 0 h 257"/>
                  <a:gd name="T4" fmla="*/ 32 w 33"/>
                  <a:gd name="T5" fmla="*/ 257 h 257"/>
                  <a:gd name="T6" fmla="*/ 0 w 33"/>
                  <a:gd name="T7" fmla="*/ 257 h 257"/>
                  <a:gd name="T8" fmla="*/ 2 w 33"/>
                  <a:gd name="T9" fmla="*/ 0 h 2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"/>
                  <a:gd name="T16" fmla="*/ 0 h 257"/>
                  <a:gd name="T17" fmla="*/ 33 w 33"/>
                  <a:gd name="T18" fmla="*/ 257 h 2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" h="257">
                    <a:moveTo>
                      <a:pt x="2" y="0"/>
                    </a:moveTo>
                    <a:lnTo>
                      <a:pt x="33" y="0"/>
                    </a:lnTo>
                    <a:lnTo>
                      <a:pt x="32" y="257"/>
                    </a:lnTo>
                    <a:lnTo>
                      <a:pt x="0" y="257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17" name="Group 17"/>
            <p:cNvGrpSpPr>
              <a:grpSpLocks/>
            </p:cNvGrpSpPr>
            <p:nvPr/>
          </p:nvGrpSpPr>
          <p:grpSpPr bwMode="auto">
            <a:xfrm>
              <a:off x="8178800" y="1646243"/>
              <a:ext cx="65088" cy="725489"/>
              <a:chOff x="5194" y="1253"/>
              <a:chExt cx="41" cy="457"/>
            </a:xfrm>
          </p:grpSpPr>
          <p:sp>
            <p:nvSpPr>
              <p:cNvPr id="318" name="Freeform 18"/>
              <p:cNvSpPr>
                <a:spLocks/>
              </p:cNvSpPr>
              <p:nvPr/>
            </p:nvSpPr>
            <p:spPr bwMode="auto">
              <a:xfrm>
                <a:off x="5194" y="1255"/>
                <a:ext cx="1" cy="451"/>
              </a:xfrm>
              <a:custGeom>
                <a:avLst/>
                <a:gdLst>
                  <a:gd name="T0" fmla="*/ 0 w 1"/>
                  <a:gd name="T1" fmla="*/ 0 h 451"/>
                  <a:gd name="T2" fmla="*/ 0 w 1"/>
                  <a:gd name="T3" fmla="*/ 451 h 451"/>
                  <a:gd name="T4" fmla="*/ 0 60000 65536"/>
                  <a:gd name="T5" fmla="*/ 0 60000 65536"/>
                  <a:gd name="T6" fmla="*/ 0 w 1"/>
                  <a:gd name="T7" fmla="*/ 0 h 451"/>
                  <a:gd name="T8" fmla="*/ 1 w 1"/>
                  <a:gd name="T9" fmla="*/ 451 h 45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51">
                    <a:moveTo>
                      <a:pt x="0" y="0"/>
                    </a:moveTo>
                    <a:lnTo>
                      <a:pt x="0" y="451"/>
                    </a:lnTo>
                  </a:path>
                </a:pathLst>
              </a:custGeom>
              <a:noFill/>
              <a:ln w="1905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9" name="Freeform 19"/>
              <p:cNvSpPr>
                <a:spLocks/>
              </p:cNvSpPr>
              <p:nvPr/>
            </p:nvSpPr>
            <p:spPr bwMode="auto">
              <a:xfrm>
                <a:off x="5232" y="1253"/>
                <a:ext cx="3" cy="457"/>
              </a:xfrm>
              <a:custGeom>
                <a:avLst/>
                <a:gdLst>
                  <a:gd name="T0" fmla="*/ 3 w 3"/>
                  <a:gd name="T1" fmla="*/ 0 h 457"/>
                  <a:gd name="T2" fmla="*/ 0 w 3"/>
                  <a:gd name="T3" fmla="*/ 457 h 457"/>
                  <a:gd name="T4" fmla="*/ 0 60000 65536"/>
                  <a:gd name="T5" fmla="*/ 0 60000 65536"/>
                  <a:gd name="T6" fmla="*/ 0 w 3"/>
                  <a:gd name="T7" fmla="*/ 0 h 457"/>
                  <a:gd name="T8" fmla="*/ 3 w 3"/>
                  <a:gd name="T9" fmla="*/ 457 h 45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457">
                    <a:moveTo>
                      <a:pt x="3" y="0"/>
                    </a:moveTo>
                    <a:lnTo>
                      <a:pt x="0" y="457"/>
                    </a:lnTo>
                  </a:path>
                </a:pathLst>
              </a:custGeom>
              <a:noFill/>
              <a:ln w="1905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0" name="Freeform 20"/>
              <p:cNvSpPr>
                <a:spLocks/>
              </p:cNvSpPr>
              <p:nvPr/>
            </p:nvSpPr>
            <p:spPr bwMode="auto">
              <a:xfrm>
                <a:off x="5197" y="1444"/>
                <a:ext cx="33" cy="257"/>
              </a:xfrm>
              <a:custGeom>
                <a:avLst/>
                <a:gdLst>
                  <a:gd name="T0" fmla="*/ 2 w 33"/>
                  <a:gd name="T1" fmla="*/ 0 h 257"/>
                  <a:gd name="T2" fmla="*/ 33 w 33"/>
                  <a:gd name="T3" fmla="*/ 0 h 257"/>
                  <a:gd name="T4" fmla="*/ 32 w 33"/>
                  <a:gd name="T5" fmla="*/ 257 h 257"/>
                  <a:gd name="T6" fmla="*/ 0 w 33"/>
                  <a:gd name="T7" fmla="*/ 257 h 257"/>
                  <a:gd name="T8" fmla="*/ 2 w 33"/>
                  <a:gd name="T9" fmla="*/ 0 h 2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"/>
                  <a:gd name="T16" fmla="*/ 0 h 257"/>
                  <a:gd name="T17" fmla="*/ 33 w 33"/>
                  <a:gd name="T18" fmla="*/ 257 h 2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" h="257">
                    <a:moveTo>
                      <a:pt x="2" y="0"/>
                    </a:moveTo>
                    <a:lnTo>
                      <a:pt x="33" y="0"/>
                    </a:lnTo>
                    <a:lnTo>
                      <a:pt x="32" y="257"/>
                    </a:lnTo>
                    <a:lnTo>
                      <a:pt x="0" y="257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21" name="Group 21"/>
            <p:cNvGrpSpPr>
              <a:grpSpLocks/>
            </p:cNvGrpSpPr>
            <p:nvPr/>
          </p:nvGrpSpPr>
          <p:grpSpPr bwMode="auto">
            <a:xfrm>
              <a:off x="4668838" y="1003300"/>
              <a:ext cx="1304925" cy="595313"/>
              <a:chOff x="2983" y="848"/>
              <a:chExt cx="822" cy="375"/>
            </a:xfrm>
          </p:grpSpPr>
          <p:sp>
            <p:nvSpPr>
              <p:cNvPr id="322" name="AutoShape 22"/>
              <p:cNvSpPr>
                <a:spLocks noChangeArrowheads="1"/>
              </p:cNvSpPr>
              <p:nvPr/>
            </p:nvSpPr>
            <p:spPr bwMode="auto">
              <a:xfrm flipH="1">
                <a:off x="3623" y="1042"/>
                <a:ext cx="182" cy="181"/>
              </a:xfrm>
              <a:custGeom>
                <a:avLst/>
                <a:gdLst>
                  <a:gd name="T0" fmla="*/ 127 w 21600"/>
                  <a:gd name="T1" fmla="*/ 0 h 21600"/>
                  <a:gd name="T2" fmla="*/ 127 w 21600"/>
                  <a:gd name="T3" fmla="*/ 102 h 21600"/>
                  <a:gd name="T4" fmla="*/ 27 w 21600"/>
                  <a:gd name="T5" fmla="*/ 181 h 21600"/>
                  <a:gd name="T6" fmla="*/ 182 w 21600"/>
                  <a:gd name="T7" fmla="*/ 51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62 w 21600"/>
                  <a:gd name="T13" fmla="*/ 2864 h 21600"/>
                  <a:gd name="T14" fmla="*/ 18277 w 21600"/>
                  <a:gd name="T15" fmla="*/ 9189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algn="ctr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3" name="Text Box 23"/>
              <p:cNvSpPr txBox="1">
                <a:spLocks noChangeArrowheads="1"/>
              </p:cNvSpPr>
              <p:nvPr/>
            </p:nvSpPr>
            <p:spPr bwMode="auto">
              <a:xfrm>
                <a:off x="2983" y="848"/>
                <a:ext cx="6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抽水量</a:t>
                </a:r>
                <a:r>
                  <a:rPr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Q</a:t>
                </a:r>
              </a:p>
            </p:txBody>
          </p:sp>
        </p:grpSp>
        <p:grpSp>
          <p:nvGrpSpPr>
            <p:cNvPr id="324" name="Group 24"/>
            <p:cNvGrpSpPr>
              <a:grpSpLocks/>
            </p:cNvGrpSpPr>
            <p:nvPr/>
          </p:nvGrpSpPr>
          <p:grpSpPr bwMode="auto">
            <a:xfrm>
              <a:off x="5934075" y="1093800"/>
              <a:ext cx="792163" cy="504829"/>
              <a:chOff x="3780" y="905"/>
              <a:chExt cx="499" cy="318"/>
            </a:xfrm>
          </p:grpSpPr>
          <p:sp>
            <p:nvSpPr>
              <p:cNvPr id="325" name="Line 25"/>
              <p:cNvSpPr>
                <a:spLocks noChangeShapeType="1"/>
              </p:cNvSpPr>
              <p:nvPr/>
            </p:nvSpPr>
            <p:spPr bwMode="auto">
              <a:xfrm>
                <a:off x="4277" y="1087"/>
                <a:ext cx="0" cy="136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6" name="Line 26"/>
              <p:cNvSpPr>
                <a:spLocks noChangeShapeType="1"/>
              </p:cNvSpPr>
              <p:nvPr/>
            </p:nvSpPr>
            <p:spPr bwMode="auto">
              <a:xfrm>
                <a:off x="3780" y="1159"/>
                <a:ext cx="499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" name="Text Box 27"/>
              <p:cNvSpPr txBox="1">
                <a:spLocks noChangeArrowheads="1"/>
              </p:cNvSpPr>
              <p:nvPr/>
            </p:nvSpPr>
            <p:spPr bwMode="auto">
              <a:xfrm>
                <a:off x="3946" y="905"/>
                <a:ext cx="128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2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r</a:t>
                </a:r>
                <a:r>
                  <a:rPr lang="en-US" altLang="zh-CN" sz="2200" b="1" baseline="-25000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328" name="Group 32"/>
            <p:cNvGrpSpPr>
              <a:grpSpLocks/>
            </p:cNvGrpSpPr>
            <p:nvPr/>
          </p:nvGrpSpPr>
          <p:grpSpPr bwMode="auto">
            <a:xfrm>
              <a:off x="6804024" y="2235200"/>
              <a:ext cx="455613" cy="1441450"/>
              <a:chOff x="4328" y="1624"/>
              <a:chExt cx="287" cy="908"/>
            </a:xfrm>
          </p:grpSpPr>
          <p:sp>
            <p:nvSpPr>
              <p:cNvPr id="329" name="Line 33"/>
              <p:cNvSpPr>
                <a:spLocks noChangeShapeType="1"/>
              </p:cNvSpPr>
              <p:nvPr/>
            </p:nvSpPr>
            <p:spPr bwMode="auto">
              <a:xfrm>
                <a:off x="4328" y="1624"/>
                <a:ext cx="227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0" name="Freeform 34"/>
              <p:cNvSpPr>
                <a:spLocks/>
              </p:cNvSpPr>
              <p:nvPr/>
            </p:nvSpPr>
            <p:spPr bwMode="auto">
              <a:xfrm>
                <a:off x="4419" y="1625"/>
                <a:ext cx="1" cy="907"/>
              </a:xfrm>
              <a:custGeom>
                <a:avLst/>
                <a:gdLst>
                  <a:gd name="T0" fmla="*/ 0 w 1"/>
                  <a:gd name="T1" fmla="*/ 0 h 765"/>
                  <a:gd name="T2" fmla="*/ 1 w 1"/>
                  <a:gd name="T3" fmla="*/ 765 h 765"/>
                  <a:gd name="T4" fmla="*/ 0 60000 65536"/>
                  <a:gd name="T5" fmla="*/ 0 60000 65536"/>
                  <a:gd name="T6" fmla="*/ 0 w 1"/>
                  <a:gd name="T7" fmla="*/ 0 h 765"/>
                  <a:gd name="T8" fmla="*/ 1 w 1"/>
                  <a:gd name="T9" fmla="*/ 765 h 7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765">
                    <a:moveTo>
                      <a:pt x="0" y="0"/>
                    </a:moveTo>
                    <a:lnTo>
                      <a:pt x="1" y="765"/>
                    </a:lnTo>
                  </a:path>
                </a:pathLst>
              </a:custGeom>
              <a:noFill/>
              <a:ln w="12700">
                <a:solidFill>
                  <a:srgbClr val="333333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1" name="Text Box 35"/>
              <p:cNvSpPr txBox="1">
                <a:spLocks noChangeArrowheads="1"/>
              </p:cNvSpPr>
              <p:nvPr/>
            </p:nvSpPr>
            <p:spPr bwMode="auto">
              <a:xfrm>
                <a:off x="4456" y="1976"/>
                <a:ext cx="15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2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en-US" altLang="zh-CN" sz="2200" b="1" baseline="-25000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332" name="Group 36"/>
            <p:cNvGrpSpPr>
              <a:grpSpLocks/>
            </p:cNvGrpSpPr>
            <p:nvPr/>
          </p:nvGrpSpPr>
          <p:grpSpPr bwMode="auto">
            <a:xfrm>
              <a:off x="8388350" y="1955800"/>
              <a:ext cx="515938" cy="1727200"/>
              <a:chOff x="5326" y="1448"/>
              <a:chExt cx="325" cy="1088"/>
            </a:xfrm>
          </p:grpSpPr>
          <p:sp>
            <p:nvSpPr>
              <p:cNvPr id="333" name="Line 37"/>
              <p:cNvSpPr>
                <a:spLocks noChangeShapeType="1"/>
              </p:cNvSpPr>
              <p:nvPr/>
            </p:nvSpPr>
            <p:spPr bwMode="auto">
              <a:xfrm>
                <a:off x="5326" y="1450"/>
                <a:ext cx="227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4" name="Line 38"/>
              <p:cNvSpPr>
                <a:spLocks noChangeShapeType="1"/>
              </p:cNvSpPr>
              <p:nvPr/>
            </p:nvSpPr>
            <p:spPr bwMode="auto">
              <a:xfrm>
                <a:off x="5462" y="1448"/>
                <a:ext cx="0" cy="1088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5" name="Text Box 39"/>
              <p:cNvSpPr txBox="1">
                <a:spLocks noChangeArrowheads="1"/>
              </p:cNvSpPr>
              <p:nvPr/>
            </p:nvSpPr>
            <p:spPr bwMode="auto">
              <a:xfrm>
                <a:off x="5492" y="1840"/>
                <a:ext cx="15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2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en-US" altLang="zh-CN" sz="2200" b="1" baseline="-25000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336" name="Group 43"/>
            <p:cNvGrpSpPr>
              <a:grpSpLocks/>
            </p:cNvGrpSpPr>
            <p:nvPr/>
          </p:nvGrpSpPr>
          <p:grpSpPr bwMode="auto">
            <a:xfrm>
              <a:off x="3408363" y="1662113"/>
              <a:ext cx="5507037" cy="2549525"/>
              <a:chOff x="2189" y="1263"/>
              <a:chExt cx="3469" cy="1606"/>
            </a:xfrm>
          </p:grpSpPr>
          <p:grpSp>
            <p:nvGrpSpPr>
              <p:cNvPr id="337" name="Group 44"/>
              <p:cNvGrpSpPr>
                <a:grpSpLocks/>
              </p:cNvGrpSpPr>
              <p:nvPr/>
            </p:nvGrpSpPr>
            <p:grpSpPr bwMode="auto">
              <a:xfrm>
                <a:off x="3630" y="2534"/>
                <a:ext cx="481" cy="83"/>
                <a:chOff x="2644" y="2807"/>
                <a:chExt cx="481" cy="83"/>
              </a:xfrm>
            </p:grpSpPr>
            <p:sp>
              <p:nvSpPr>
                <p:cNvPr id="419" name="Freeform 45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0" name="Freeform 46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1" name="Freeform 47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2" name="Freeform 48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3" name="Freeform 49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4" name="Freeform 50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5" name="Freeform 51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6" name="Freeform 52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7" name="Freeform 53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8" name="Freeform 54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9" name="Freeform 55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0" name="Freeform 56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8" name="Group 57"/>
              <p:cNvGrpSpPr>
                <a:grpSpLocks/>
              </p:cNvGrpSpPr>
              <p:nvPr/>
            </p:nvGrpSpPr>
            <p:grpSpPr bwMode="auto">
              <a:xfrm>
                <a:off x="3182" y="2534"/>
                <a:ext cx="481" cy="83"/>
                <a:chOff x="2644" y="2807"/>
                <a:chExt cx="481" cy="83"/>
              </a:xfrm>
            </p:grpSpPr>
            <p:sp>
              <p:nvSpPr>
                <p:cNvPr id="407" name="Freeform 58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8" name="Freeform 59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9" name="Freeform 60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0" name="Freeform 61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1" name="Freeform 62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2" name="Freeform 63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3" name="Freeform 64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4" name="Freeform 65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5" name="Freeform 66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6" name="Freeform 67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7" name="Freeform 68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8" name="Freeform 69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9" name="Group 70"/>
              <p:cNvGrpSpPr>
                <a:grpSpLocks/>
              </p:cNvGrpSpPr>
              <p:nvPr/>
            </p:nvGrpSpPr>
            <p:grpSpPr bwMode="auto">
              <a:xfrm>
                <a:off x="2735" y="2534"/>
                <a:ext cx="481" cy="83"/>
                <a:chOff x="2644" y="2807"/>
                <a:chExt cx="481" cy="83"/>
              </a:xfrm>
            </p:grpSpPr>
            <p:sp>
              <p:nvSpPr>
                <p:cNvPr id="395" name="Freeform 71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6" name="Freeform 72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7" name="Freeform 73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8" name="Freeform 74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9" name="Freeform 75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0" name="Freeform 76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1" name="Freeform 77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2" name="Freeform 78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3" name="Freeform 79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4" name="Freeform 80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5" name="Freeform 81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6" name="Freeform 82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0" name="Group 83"/>
              <p:cNvGrpSpPr>
                <a:grpSpLocks/>
              </p:cNvGrpSpPr>
              <p:nvPr/>
            </p:nvGrpSpPr>
            <p:grpSpPr bwMode="auto">
              <a:xfrm>
                <a:off x="2287" y="2534"/>
                <a:ext cx="481" cy="83"/>
                <a:chOff x="2644" y="2807"/>
                <a:chExt cx="481" cy="83"/>
              </a:xfrm>
            </p:grpSpPr>
            <p:sp>
              <p:nvSpPr>
                <p:cNvPr id="383" name="Freeform 84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4" name="Freeform 85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5" name="Freeform 86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6" name="Freeform 87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7" name="Freeform 88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8" name="Freeform 89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9" name="Freeform 90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0" name="Freeform 91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1" name="Freeform 92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2" name="Freeform 93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3" name="Freeform 94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4" name="Freeform 95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1" name="Group 96"/>
              <p:cNvGrpSpPr>
                <a:grpSpLocks/>
              </p:cNvGrpSpPr>
              <p:nvPr/>
            </p:nvGrpSpPr>
            <p:grpSpPr bwMode="auto">
              <a:xfrm>
                <a:off x="4526" y="2534"/>
                <a:ext cx="481" cy="83"/>
                <a:chOff x="2644" y="2807"/>
                <a:chExt cx="481" cy="83"/>
              </a:xfrm>
            </p:grpSpPr>
            <p:sp>
              <p:nvSpPr>
                <p:cNvPr id="371" name="Freeform 97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2" name="Freeform 98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3" name="Freeform 99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4" name="Freeform 100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5" name="Freeform 101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6" name="Freeform 102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7" name="Freeform 103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8" name="Freeform 104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9" name="Freeform 105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0" name="Freeform 106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1" name="Freeform 107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2" name="Freeform 108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2" name="Group 109"/>
              <p:cNvGrpSpPr>
                <a:grpSpLocks/>
              </p:cNvGrpSpPr>
              <p:nvPr/>
            </p:nvGrpSpPr>
            <p:grpSpPr bwMode="auto">
              <a:xfrm>
                <a:off x="4078" y="2534"/>
                <a:ext cx="481" cy="83"/>
                <a:chOff x="2644" y="2807"/>
                <a:chExt cx="481" cy="83"/>
              </a:xfrm>
            </p:grpSpPr>
            <p:sp>
              <p:nvSpPr>
                <p:cNvPr id="359" name="Freeform 110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0" name="Freeform 111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1" name="Freeform 112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2" name="Freeform 113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3" name="Freeform 114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4" name="Freeform 115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5" name="Freeform 116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6" name="Freeform 117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7" name="Freeform 118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" name="Freeform 119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" name="Freeform 120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0" name="Freeform 121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43" name="Freeform 122"/>
              <p:cNvSpPr>
                <a:spLocks/>
              </p:cNvSpPr>
              <p:nvPr/>
            </p:nvSpPr>
            <p:spPr bwMode="auto">
              <a:xfrm>
                <a:off x="2287" y="2534"/>
                <a:ext cx="3359" cy="3"/>
              </a:xfrm>
              <a:custGeom>
                <a:avLst/>
                <a:gdLst>
                  <a:gd name="T0" fmla="*/ 0 w 3359"/>
                  <a:gd name="T1" fmla="*/ 0 h 3"/>
                  <a:gd name="T2" fmla="*/ 3359 w 3359"/>
                  <a:gd name="T3" fmla="*/ 3 h 3"/>
                  <a:gd name="T4" fmla="*/ 0 60000 65536"/>
                  <a:gd name="T5" fmla="*/ 0 60000 65536"/>
                  <a:gd name="T6" fmla="*/ 0 w 3359"/>
                  <a:gd name="T7" fmla="*/ 0 h 3"/>
                  <a:gd name="T8" fmla="*/ 3359 w 3359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359" h="3">
                    <a:moveTo>
                      <a:pt x="0" y="0"/>
                    </a:moveTo>
                    <a:lnTo>
                      <a:pt x="3359" y="3"/>
                    </a:lnTo>
                  </a:path>
                </a:pathLst>
              </a:custGeom>
              <a:noFill/>
              <a:ln w="28575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44" name="Group 123"/>
              <p:cNvGrpSpPr>
                <a:grpSpLocks/>
              </p:cNvGrpSpPr>
              <p:nvPr/>
            </p:nvGrpSpPr>
            <p:grpSpPr bwMode="auto">
              <a:xfrm>
                <a:off x="4966" y="2540"/>
                <a:ext cx="481" cy="83"/>
                <a:chOff x="2644" y="2807"/>
                <a:chExt cx="481" cy="83"/>
              </a:xfrm>
            </p:grpSpPr>
            <p:sp>
              <p:nvSpPr>
                <p:cNvPr id="347" name="Freeform 124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8" name="Freeform 125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9" name="Freeform 126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0" name="Freeform 127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1" name="Freeform 128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2" name="Freeform 129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3" name="Freeform 130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4" name="Freeform 131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5" name="Freeform 132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6" name="Freeform 133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7" name="Freeform 134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8" name="Freeform 135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rgbClr val="9900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45" name="Text Box 136"/>
              <p:cNvSpPr txBox="1">
                <a:spLocks noChangeArrowheads="1"/>
              </p:cNvSpPr>
              <p:nvPr/>
            </p:nvSpPr>
            <p:spPr bwMode="auto">
              <a:xfrm>
                <a:off x="2415" y="2619"/>
                <a:ext cx="91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rgbClr val="000066"/>
                    </a:solidFill>
                    <a:latin typeface="Arial" charset="0"/>
                    <a:ea typeface="幼圆" pitchFamily="49" charset="-122"/>
                  </a:rPr>
                  <a:t>不透水层</a:t>
                </a:r>
              </a:p>
            </p:txBody>
          </p:sp>
          <p:sp>
            <p:nvSpPr>
              <p:cNvPr id="346" name="Line 137"/>
              <p:cNvSpPr>
                <a:spLocks noChangeShapeType="1"/>
              </p:cNvSpPr>
              <p:nvPr/>
            </p:nvSpPr>
            <p:spPr bwMode="auto">
              <a:xfrm>
                <a:off x="2189" y="1263"/>
                <a:ext cx="3469" cy="0"/>
              </a:xfrm>
              <a:prstGeom prst="line">
                <a:avLst/>
              </a:prstGeom>
              <a:noFill/>
              <a:ln w="28575">
                <a:solidFill>
                  <a:srgbClr val="99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" name="Group 145"/>
            <p:cNvGrpSpPr>
              <a:grpSpLocks/>
            </p:cNvGrpSpPr>
            <p:nvPr/>
          </p:nvGrpSpPr>
          <p:grpSpPr bwMode="auto">
            <a:xfrm>
              <a:off x="5734050" y="885919"/>
              <a:ext cx="388938" cy="3132069"/>
              <a:chOff x="3654" y="772"/>
              <a:chExt cx="245" cy="1975"/>
            </a:xfrm>
          </p:grpSpPr>
          <p:sp>
            <p:nvSpPr>
              <p:cNvPr id="433" name="Rectangle 147" descr="20%"/>
              <p:cNvSpPr>
                <a:spLocks noChangeArrowheads="1"/>
              </p:cNvSpPr>
              <p:nvPr/>
            </p:nvSpPr>
            <p:spPr bwMode="auto">
              <a:xfrm>
                <a:off x="3855" y="1268"/>
                <a:ext cx="44" cy="1257"/>
              </a:xfrm>
              <a:prstGeom prst="rect">
                <a:avLst/>
              </a:prstGeom>
              <a:pattFill prst="pct20">
                <a:fgClr>
                  <a:srgbClr val="000000"/>
                </a:fgClr>
                <a:bgClr>
                  <a:srgbClr val="FFFFFF"/>
                </a:bgClr>
              </a:pattFill>
              <a:ln w="19050" algn="ctr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4" name="Line 148"/>
              <p:cNvSpPr>
                <a:spLocks noChangeShapeType="1"/>
              </p:cNvSpPr>
              <p:nvPr/>
            </p:nvSpPr>
            <p:spPr bwMode="auto">
              <a:xfrm>
                <a:off x="3776" y="772"/>
                <a:ext cx="0" cy="1975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5" name="Rectangle 146" descr="20%"/>
              <p:cNvSpPr>
                <a:spLocks noChangeArrowheads="1"/>
              </p:cNvSpPr>
              <p:nvPr/>
            </p:nvSpPr>
            <p:spPr bwMode="auto">
              <a:xfrm>
                <a:off x="3654" y="1268"/>
                <a:ext cx="45" cy="1258"/>
              </a:xfrm>
              <a:prstGeom prst="rect">
                <a:avLst/>
              </a:prstGeom>
              <a:pattFill prst="pct20">
                <a:fgClr>
                  <a:srgbClr val="000000"/>
                </a:fgClr>
                <a:bgClr>
                  <a:srgbClr val="FFFFFF"/>
                </a:bgClr>
              </a:pattFill>
              <a:ln w="19050" algn="ctr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 lIns="0" r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36" name="Group 8"/>
            <p:cNvGrpSpPr>
              <a:grpSpLocks/>
            </p:cNvGrpSpPr>
            <p:nvPr/>
          </p:nvGrpSpPr>
          <p:grpSpPr bwMode="auto">
            <a:xfrm>
              <a:off x="5808050" y="2377311"/>
              <a:ext cx="230188" cy="165108"/>
              <a:chOff x="3700" y="2400"/>
              <a:chExt cx="145" cy="104"/>
            </a:xfrm>
          </p:grpSpPr>
          <p:sp>
            <p:nvSpPr>
              <p:cNvPr id="437" name="Line 9"/>
              <p:cNvSpPr>
                <a:spLocks noChangeShapeType="1"/>
              </p:cNvSpPr>
              <p:nvPr/>
            </p:nvSpPr>
            <p:spPr bwMode="auto">
              <a:xfrm>
                <a:off x="3723" y="2483"/>
                <a:ext cx="90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8" name="Line 10"/>
              <p:cNvSpPr>
                <a:spLocks noChangeShapeType="1"/>
              </p:cNvSpPr>
              <p:nvPr/>
            </p:nvSpPr>
            <p:spPr bwMode="auto">
              <a:xfrm>
                <a:off x="3748" y="2504"/>
                <a:ext cx="45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9" name="AutoShape 11"/>
              <p:cNvSpPr>
                <a:spLocks noChangeArrowheads="1"/>
              </p:cNvSpPr>
              <p:nvPr/>
            </p:nvSpPr>
            <p:spPr bwMode="auto">
              <a:xfrm flipV="1">
                <a:off x="3737" y="2400"/>
                <a:ext cx="75" cy="57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2700" algn="ctr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square"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" name="Line 12"/>
              <p:cNvSpPr>
                <a:spLocks noChangeShapeType="1"/>
              </p:cNvSpPr>
              <p:nvPr/>
            </p:nvSpPr>
            <p:spPr bwMode="auto">
              <a:xfrm>
                <a:off x="3700" y="2459"/>
                <a:ext cx="145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473539" name="Object 3"/>
          <p:cNvGraphicFramePr>
            <a:graphicFrameLocks noChangeAspect="1"/>
          </p:cNvGraphicFramePr>
          <p:nvPr>
            <p:extLst/>
          </p:nvPr>
        </p:nvGraphicFramePr>
        <p:xfrm>
          <a:off x="4298950" y="4689475"/>
          <a:ext cx="203184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0" name="公式" r:id="rId4" imgW="1015920" imgH="444240" progId="Equation.3">
                  <p:embed/>
                </p:oleObj>
              </mc:Choice>
              <mc:Fallback>
                <p:oleObj name="公式" r:id="rId4" imgW="10159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4689475"/>
                        <a:ext cx="2031840" cy="888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41313" y="917575"/>
            <a:ext cx="2946251" cy="3962400"/>
            <a:chOff x="215" y="650"/>
            <a:chExt cx="1827" cy="2496"/>
          </a:xfrm>
        </p:grpSpPr>
        <p:graphicFrame>
          <p:nvGraphicFramePr>
            <p:cNvPr id="11267" name="Object 5"/>
            <p:cNvGraphicFramePr>
              <a:graphicFrameLocks noChangeAspect="1"/>
            </p:cNvGraphicFramePr>
            <p:nvPr>
              <p:extLst/>
            </p:nvPr>
          </p:nvGraphicFramePr>
          <p:xfrm>
            <a:off x="313" y="2618"/>
            <a:ext cx="1669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91" name="公式" r:id="rId6" imgW="1346040" imgH="419040" progId="Equation.3">
                    <p:embed/>
                  </p:oleObj>
                </mc:Choice>
                <mc:Fallback>
                  <p:oleObj name="公式" r:id="rId6" imgW="134604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" y="2618"/>
                          <a:ext cx="1669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428" name="Group 6"/>
            <p:cNvGrpSpPr>
              <a:grpSpLocks/>
            </p:cNvGrpSpPr>
            <p:nvPr/>
          </p:nvGrpSpPr>
          <p:grpSpPr bwMode="auto">
            <a:xfrm>
              <a:off x="215" y="650"/>
              <a:ext cx="1827" cy="1973"/>
              <a:chOff x="215" y="650"/>
              <a:chExt cx="1827" cy="1973"/>
            </a:xfrm>
          </p:grpSpPr>
          <p:sp>
            <p:nvSpPr>
              <p:cNvPr id="11429" name="Text Box 7"/>
              <p:cNvSpPr txBox="1">
                <a:spLocks noChangeArrowheads="1"/>
              </p:cNvSpPr>
              <p:nvPr/>
            </p:nvSpPr>
            <p:spPr bwMode="auto">
              <a:xfrm>
                <a:off x="444" y="1026"/>
                <a:ext cx="52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b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=2</a:t>
                </a:r>
                <a:r>
                  <a:rPr lang="en-US" altLang="zh-CN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</a:t>
                </a:r>
                <a:r>
                  <a:rPr lang="en-US" altLang="zh-CN" sz="20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rh</a:t>
                </a:r>
                <a:endParaRPr lang="el-GR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11430" name="Text Box 8"/>
              <p:cNvSpPr txBox="1">
                <a:spLocks noChangeArrowheads="1"/>
              </p:cNvSpPr>
              <p:nvPr/>
            </p:nvSpPr>
            <p:spPr bwMode="auto">
              <a:xfrm>
                <a:off x="424" y="1368"/>
                <a:ext cx="50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 err="1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b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=d</a:t>
                </a:r>
                <a:r>
                  <a:rPr lang="en-US" altLang="zh-CN" sz="20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en-US" altLang="zh-CN" sz="2000" b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/</a:t>
                </a:r>
                <a:r>
                  <a:rPr lang="en-US" altLang="zh-CN" sz="2000" b="1" dirty="0" err="1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d</a:t>
                </a:r>
                <a:r>
                  <a:rPr lang="en-US" altLang="zh-CN" sz="2000" b="1" i="1" dirty="0" err="1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r</a:t>
                </a:r>
                <a:endParaRPr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1268" name="Object 9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10" y="1649"/>
              <a:ext cx="1732" cy="4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392" name="公式" r:id="rId8" imgW="1396800" imgH="380880" progId="Equation.3">
                      <p:embed/>
                    </p:oleObj>
                  </mc:Choice>
                  <mc:Fallback>
                    <p:oleObj name="公式" r:id="rId8" imgW="1396800" imgH="380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" y="1649"/>
                            <a:ext cx="1732" cy="4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69" name="Object 10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32" y="2159"/>
              <a:ext cx="1228" cy="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393" name="公式" r:id="rId10" imgW="990360" imgH="368280" progId="Equation.3">
                      <p:embed/>
                    </p:oleObj>
                  </mc:Choice>
                  <mc:Fallback>
                    <p:oleObj name="公式" r:id="rId10" imgW="990360" imgH="3682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2" y="2159"/>
                            <a:ext cx="1228" cy="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31" name="Text Box 11"/>
              <p:cNvSpPr txBox="1">
                <a:spLocks noChangeArrowheads="1"/>
              </p:cNvSpPr>
              <p:nvPr/>
            </p:nvSpPr>
            <p:spPr bwMode="auto">
              <a:xfrm>
                <a:off x="215" y="650"/>
                <a:ext cx="135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n"/>
                </a:pPr>
                <a:r>
                  <a:rPr lang="zh-CN" altLang="en-US" sz="2800" b="1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 计算公式：</a:t>
                </a:r>
              </a:p>
            </p:txBody>
          </p:sp>
        </p:grpSp>
      </p:grpSp>
      <p:sp>
        <p:nvSpPr>
          <p:cNvPr id="1473548" name="AutoShape 12"/>
          <p:cNvSpPr>
            <a:spLocks noChangeArrowheads="1"/>
          </p:cNvSpPr>
          <p:nvPr/>
        </p:nvSpPr>
        <p:spPr bwMode="auto">
          <a:xfrm>
            <a:off x="3321050" y="4892675"/>
            <a:ext cx="671513" cy="496888"/>
          </a:xfrm>
          <a:prstGeom prst="homePlate">
            <a:avLst>
              <a:gd name="adj" fmla="val 33786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5931926" y="884429"/>
            <a:ext cx="1805269" cy="677220"/>
            <a:chOff x="5931926" y="884429"/>
            <a:chExt cx="1805269" cy="677220"/>
          </a:xfrm>
        </p:grpSpPr>
        <p:sp>
          <p:nvSpPr>
            <p:cNvPr id="11276" name="Line 15"/>
            <p:cNvSpPr>
              <a:spLocks noChangeShapeType="1"/>
            </p:cNvSpPr>
            <p:nvPr/>
          </p:nvSpPr>
          <p:spPr bwMode="auto">
            <a:xfrm>
              <a:off x="5931926" y="1234377"/>
              <a:ext cx="1800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77" name="Text Box 16"/>
            <p:cNvSpPr txBox="1">
              <a:spLocks noChangeArrowheads="1"/>
            </p:cNvSpPr>
            <p:nvPr/>
          </p:nvSpPr>
          <p:spPr bwMode="auto">
            <a:xfrm>
              <a:off x="6689217" y="884429"/>
              <a:ext cx="176040" cy="43021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squar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1299" name="Line 161"/>
            <p:cNvSpPr>
              <a:spLocks noChangeShapeType="1"/>
            </p:cNvSpPr>
            <p:nvPr/>
          </p:nvSpPr>
          <p:spPr bwMode="auto">
            <a:xfrm>
              <a:off x="7737195" y="1129649"/>
              <a:ext cx="0" cy="432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742238" y="2017313"/>
            <a:ext cx="207962" cy="1656000"/>
            <a:chOff x="7742238" y="2017313"/>
            <a:chExt cx="207962" cy="1656000"/>
          </a:xfrm>
        </p:grpSpPr>
        <p:sp>
          <p:nvSpPr>
            <p:cNvPr id="11300" name="Line 162"/>
            <p:cNvSpPr>
              <a:spLocks noChangeShapeType="1"/>
            </p:cNvSpPr>
            <p:nvPr/>
          </p:nvSpPr>
          <p:spPr bwMode="auto">
            <a:xfrm>
              <a:off x="7742238" y="2017313"/>
              <a:ext cx="0" cy="1656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3" name="Text Box 165"/>
            <p:cNvSpPr txBox="1">
              <a:spLocks noChangeArrowheads="1"/>
            </p:cNvSpPr>
            <p:nvPr/>
          </p:nvSpPr>
          <p:spPr bwMode="auto">
            <a:xfrm>
              <a:off x="7793038" y="2685706"/>
              <a:ext cx="15716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11274" name="Rectangle 167"/>
          <p:cNvSpPr>
            <a:spLocks noChangeArrowheads="1"/>
          </p:cNvSpPr>
          <p:nvPr/>
        </p:nvSpPr>
        <p:spPr bwMode="auto">
          <a:xfrm>
            <a:off x="2460625" y="5732463"/>
            <a:ext cx="5372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现场测定法－抽水试验</a:t>
            </a:r>
          </a:p>
        </p:txBody>
      </p:sp>
      <p:sp>
        <p:nvSpPr>
          <p:cNvPr id="16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69" name="Text Box 7"/>
          <p:cNvSpPr txBox="1">
            <a:spLocks noChangeArrowheads="1"/>
          </p:cNvSpPr>
          <p:nvPr/>
        </p:nvSpPr>
        <p:spPr bwMode="auto">
          <a:xfrm>
            <a:off x="-1" y="0"/>
            <a:ext cx="5619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渗透系数测定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106643" y="1589769"/>
            <a:ext cx="879843" cy="558183"/>
            <a:chOff x="7106643" y="1589769"/>
            <a:chExt cx="879843" cy="558183"/>
          </a:xfrm>
        </p:grpSpPr>
        <p:sp>
          <p:nvSpPr>
            <p:cNvPr id="11301" name="Text Box 163"/>
            <p:cNvSpPr txBox="1">
              <a:spLocks noChangeArrowheads="1"/>
            </p:cNvSpPr>
            <p:nvPr/>
          </p:nvSpPr>
          <p:spPr bwMode="auto">
            <a:xfrm>
              <a:off x="7106643" y="1720914"/>
              <a:ext cx="311150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>
                  <a:solidFill>
                    <a:srgbClr val="C00000"/>
                  </a:solidFill>
                </a:rPr>
                <a:t>d</a:t>
              </a:r>
              <a:r>
                <a:rPr lang="en-US" altLang="zh-CN" sz="2200" b="1" i="1" dirty="0">
                  <a:solidFill>
                    <a:srgbClr val="C00000"/>
                  </a:solidFill>
                </a:rPr>
                <a:t>h</a:t>
              </a:r>
            </a:p>
          </p:txBody>
        </p:sp>
        <p:sp>
          <p:nvSpPr>
            <p:cNvPr id="11302" name="Text Box 164"/>
            <p:cNvSpPr txBox="1">
              <a:spLocks noChangeArrowheads="1"/>
            </p:cNvSpPr>
            <p:nvPr/>
          </p:nvSpPr>
          <p:spPr bwMode="auto">
            <a:xfrm>
              <a:off x="7575030" y="1589769"/>
              <a:ext cx="2667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 err="1">
                  <a:solidFill>
                    <a:srgbClr val="C00000"/>
                  </a:solidFill>
                </a:rPr>
                <a:t>d</a:t>
              </a:r>
              <a:r>
                <a:rPr lang="en-US" altLang="zh-CN" sz="2200" b="1" i="1" dirty="0" err="1">
                  <a:solidFill>
                    <a:srgbClr val="C00000"/>
                  </a:solidFill>
                </a:rPr>
                <a:t>r</a:t>
              </a:r>
              <a:endParaRPr lang="en-US" altLang="zh-CN" sz="2200" b="1" i="1" dirty="0">
                <a:solidFill>
                  <a:srgbClr val="C00000"/>
                </a:solidFill>
              </a:endParaRPr>
            </a:p>
          </p:txBody>
        </p:sp>
        <p:sp>
          <p:nvSpPr>
            <p:cNvPr id="6" name="任意多边形 5"/>
            <p:cNvSpPr/>
            <p:nvPr/>
          </p:nvSpPr>
          <p:spPr bwMode="auto">
            <a:xfrm>
              <a:off x="7473696" y="1958645"/>
              <a:ext cx="512790" cy="80614"/>
            </a:xfrm>
            <a:custGeom>
              <a:avLst/>
              <a:gdLst>
                <a:gd name="connsiteX0" fmla="*/ 432955 w 432955"/>
                <a:gd name="connsiteY0" fmla="*/ 0 h 86591"/>
                <a:gd name="connsiteX1" fmla="*/ 0 w 432955"/>
                <a:gd name="connsiteY1" fmla="*/ 0 h 86591"/>
                <a:gd name="connsiteX2" fmla="*/ 0 w 432955"/>
                <a:gd name="connsiteY2" fmla="*/ 86591 h 86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955" h="86591">
                  <a:moveTo>
                    <a:pt x="432955" y="0"/>
                  </a:moveTo>
                  <a:lnTo>
                    <a:pt x="0" y="0"/>
                  </a:lnTo>
                  <a:lnTo>
                    <a:pt x="0" y="86591"/>
                  </a:lnTo>
                </a:path>
              </a:pathLst>
            </a:cu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43" name="Line 29"/>
          <p:cNvSpPr>
            <a:spLocks noChangeShapeType="1"/>
          </p:cNvSpPr>
          <p:nvPr/>
        </p:nvSpPr>
        <p:spPr bwMode="auto">
          <a:xfrm flipV="1">
            <a:off x="8215313" y="893771"/>
            <a:ext cx="0" cy="684216"/>
          </a:xfrm>
          <a:prstGeom prst="line">
            <a:avLst/>
          </a:prstGeom>
          <a:noFill/>
          <a:ln w="127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444" name="Text Box 31"/>
          <p:cNvSpPr txBox="1">
            <a:spLocks noChangeArrowheads="1"/>
          </p:cNvSpPr>
          <p:nvPr/>
        </p:nvSpPr>
        <p:spPr bwMode="auto">
          <a:xfrm>
            <a:off x="7041706" y="569284"/>
            <a:ext cx="203200" cy="430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sz="2200" b="1" baseline="-25000" dirty="0">
                <a:solidFill>
                  <a:srgbClr val="000066"/>
                </a:solidFill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45" name="Freeform 30"/>
          <p:cNvSpPr>
            <a:spLocks/>
          </p:cNvSpPr>
          <p:nvPr/>
        </p:nvSpPr>
        <p:spPr bwMode="auto">
          <a:xfrm>
            <a:off x="5937250" y="976321"/>
            <a:ext cx="2268538" cy="3175"/>
          </a:xfrm>
          <a:custGeom>
            <a:avLst/>
            <a:gdLst>
              <a:gd name="T0" fmla="*/ 0 w 1420"/>
              <a:gd name="T1" fmla="*/ 0 h 2"/>
              <a:gd name="T2" fmla="*/ 1420 w 1420"/>
              <a:gd name="T3" fmla="*/ 2 h 2"/>
              <a:gd name="T4" fmla="*/ 0 60000 65536"/>
              <a:gd name="T5" fmla="*/ 0 60000 65536"/>
              <a:gd name="T6" fmla="*/ 0 w 1420"/>
              <a:gd name="T7" fmla="*/ 0 h 2"/>
              <a:gd name="T8" fmla="*/ 1420 w 1420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20" h="2">
                <a:moveTo>
                  <a:pt x="0" y="0"/>
                </a:moveTo>
                <a:lnTo>
                  <a:pt x="1420" y="2"/>
                </a:lnTo>
              </a:path>
            </a:pathLst>
          </a:custGeom>
          <a:noFill/>
          <a:ln w="12700">
            <a:solidFill>
              <a:srgbClr val="333333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7862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7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7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354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8" name="Rectangle 48"/>
          <p:cNvSpPr>
            <a:spLocks noChangeArrowheads="1"/>
          </p:cNvSpPr>
          <p:nvPr/>
        </p:nvSpPr>
        <p:spPr bwMode="auto">
          <a:xfrm>
            <a:off x="703263" y="1885950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024313" y="993775"/>
            <a:ext cx="4713287" cy="3994151"/>
            <a:chOff x="2309" y="743"/>
            <a:chExt cx="2969" cy="2516"/>
          </a:xfrm>
        </p:grpSpPr>
        <p:sp>
          <p:nvSpPr>
            <p:cNvPr id="12298" name="Text Box 5"/>
            <p:cNvSpPr txBox="1">
              <a:spLocks noChangeArrowheads="1"/>
            </p:cNvSpPr>
            <p:nvPr/>
          </p:nvSpPr>
          <p:spPr bwMode="auto">
            <a:xfrm>
              <a:off x="2309" y="743"/>
              <a:ext cx="2969" cy="2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41325" indent="-441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n"/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是土中孔隙直径大小的主要影响因素</a:t>
              </a:r>
            </a:p>
            <a:p>
              <a:pPr eaLnBrk="1" hangingPunct="1"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n"/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因由粗颗粒形成的大孔隙可被细颗粒充填，故土体孔隙的大小一般由细颗粒所控制。因此，土的渗透系数常用有效粒径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</a:rPr>
                <a:t>d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</a:rPr>
                <a:t>10</a:t>
              </a: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来表示，如哈臣公式：</a:t>
              </a:r>
            </a:p>
          </p:txBody>
        </p:sp>
        <p:graphicFrame>
          <p:nvGraphicFramePr>
            <p:cNvPr id="1229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116984"/>
                </p:ext>
              </p:extLst>
            </p:nvPr>
          </p:nvGraphicFramePr>
          <p:xfrm>
            <a:off x="3174" y="2955"/>
            <a:ext cx="76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72" name="公式" r:id="rId4" imgW="609480" imgH="241200" progId="Equation.3">
                    <p:embed/>
                  </p:oleObj>
                </mc:Choice>
                <mc:Fallback>
                  <p:oleObj name="公式" r:id="rId4" imgW="609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4" y="2955"/>
                          <a:ext cx="76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5" name="Rectangle 35"/>
          <p:cNvSpPr>
            <a:spLocks noChangeArrowheads="1"/>
          </p:cNvSpPr>
          <p:nvPr/>
        </p:nvSpPr>
        <p:spPr bwMode="auto">
          <a:xfrm>
            <a:off x="217488" y="1109663"/>
            <a:ext cx="3178175" cy="4038600"/>
          </a:xfrm>
          <a:prstGeom prst="rect">
            <a:avLst/>
          </a:prstGeom>
          <a:noFill/>
          <a:ln w="38100" cmpd="dbl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24"/>
          <p:cNvSpPr>
            <a:spLocks noChangeArrowheads="1"/>
          </p:cNvSpPr>
          <p:nvPr/>
        </p:nvSpPr>
        <p:spPr bwMode="auto">
          <a:xfrm>
            <a:off x="3518980" y="1924843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39"/>
          <p:cNvSpPr>
            <a:spLocks noChangeArrowheads="1"/>
          </p:cNvSpPr>
          <p:nvPr/>
        </p:nvSpPr>
        <p:spPr bwMode="auto">
          <a:xfrm>
            <a:off x="2725738" y="5670550"/>
            <a:ext cx="4778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渗透系数的影响因素 </a:t>
            </a:r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266700" y="1117600"/>
            <a:ext cx="18637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土的性质</a:t>
            </a:r>
            <a:endParaRPr kumimoji="1"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水的性质</a:t>
            </a:r>
            <a:endParaRPr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6" name="Text Box 51"/>
          <p:cNvSpPr txBox="1">
            <a:spLocks noChangeArrowheads="1"/>
          </p:cNvSpPr>
          <p:nvPr/>
        </p:nvSpPr>
        <p:spPr bwMode="auto">
          <a:xfrm>
            <a:off x="673100" y="1827213"/>
            <a:ext cx="2709863" cy="260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粒径大小及级配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孔隙比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矿物成分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结构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饱和度</a:t>
            </a:r>
          </a:p>
        </p:txBody>
      </p:sp>
    </p:spTree>
    <p:extLst>
      <p:ext uri="{BB962C8B-B14F-4D97-AF65-F5344CB8AC3E}">
        <p14:creationId xmlns:p14="http://schemas.microsoft.com/office/powerpoint/2010/main" val="324488772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7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08" grpId="0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Text Box 8"/>
          <p:cNvSpPr txBox="1">
            <a:spLocks noChangeArrowheads="1"/>
          </p:cNvSpPr>
          <p:nvPr/>
        </p:nvSpPr>
        <p:spPr bwMode="auto">
          <a:xfrm>
            <a:off x="4119563" y="962025"/>
            <a:ext cx="4810681" cy="1429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单位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土体中孔隙体积的直接度量</a:t>
            </a: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对于砂性土，常建立孔隙比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e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与渗透系数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之间的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关系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32976" name="Rectangle 48"/>
          <p:cNvSpPr>
            <a:spLocks noChangeArrowheads="1"/>
          </p:cNvSpPr>
          <p:nvPr/>
        </p:nvSpPr>
        <p:spPr bwMode="auto">
          <a:xfrm>
            <a:off x="703263" y="2393950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320" name="Rectangle 50"/>
          <p:cNvSpPr>
            <a:spLocks noChangeArrowheads="1"/>
          </p:cNvSpPr>
          <p:nvPr/>
        </p:nvSpPr>
        <p:spPr bwMode="auto">
          <a:xfrm>
            <a:off x="217488" y="1109663"/>
            <a:ext cx="3178175" cy="4038600"/>
          </a:xfrm>
          <a:prstGeom prst="rect">
            <a:avLst/>
          </a:prstGeom>
          <a:noFill/>
          <a:ln w="38100" cmpd="dbl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24"/>
          <p:cNvSpPr>
            <a:spLocks noChangeArrowheads="1"/>
          </p:cNvSpPr>
          <p:nvPr/>
        </p:nvSpPr>
        <p:spPr bwMode="auto">
          <a:xfrm>
            <a:off x="3518980" y="2429668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39"/>
          <p:cNvSpPr>
            <a:spLocks noChangeArrowheads="1"/>
          </p:cNvSpPr>
          <p:nvPr/>
        </p:nvSpPr>
        <p:spPr bwMode="auto">
          <a:xfrm>
            <a:off x="2725738" y="5670550"/>
            <a:ext cx="4778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渗透系数的影响因素 </a:t>
            </a:r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354781" y="2465378"/>
            <a:ext cx="4575463" cy="3105874"/>
            <a:chOff x="4354781" y="2465378"/>
            <a:chExt cx="4575463" cy="3105874"/>
          </a:xfrm>
        </p:grpSpPr>
        <p:pic>
          <p:nvPicPr>
            <p:cNvPr id="13346" name="Picture 34" descr="F:\ZW2.tif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4781" y="2465378"/>
              <a:ext cx="2841666" cy="3105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" name="直接连接符 3"/>
            <p:cNvCxnSpPr/>
            <p:nvPr/>
          </p:nvCxnSpPr>
          <p:spPr bwMode="auto">
            <a:xfrm flipV="1">
              <a:off x="4797630" y="2641235"/>
              <a:ext cx="2103130" cy="2620515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/>
          </p:nvCxnSpPr>
          <p:spPr bwMode="auto">
            <a:xfrm>
              <a:off x="5052951" y="3366655"/>
              <a:ext cx="249381" cy="0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 bwMode="auto">
            <a:xfrm flipV="1">
              <a:off x="4797629" y="3675413"/>
              <a:ext cx="2155374" cy="1586337"/>
            </a:xfrm>
            <a:prstGeom prst="line">
              <a:avLst/>
            </a:prstGeom>
            <a:noFill/>
            <a:ln w="1905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/>
          </p:nvCxnSpPr>
          <p:spPr bwMode="auto">
            <a:xfrm>
              <a:off x="5052950" y="3141976"/>
              <a:ext cx="249381" cy="0"/>
            </a:xfrm>
            <a:prstGeom prst="line">
              <a:avLst/>
            </a:prstGeom>
            <a:noFill/>
            <a:ln w="1905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/>
          </p:nvCxnSpPr>
          <p:spPr bwMode="auto">
            <a:xfrm flipV="1">
              <a:off x="4797630" y="4120738"/>
              <a:ext cx="2238500" cy="1141013"/>
            </a:xfrm>
            <a:prstGeom prst="line">
              <a:avLst/>
            </a:prstGeom>
            <a:noFill/>
            <a:ln w="1905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/>
          </p:nvCxnSpPr>
          <p:spPr bwMode="auto">
            <a:xfrm>
              <a:off x="5037684" y="2875873"/>
              <a:ext cx="249381" cy="0"/>
            </a:xfrm>
            <a:prstGeom prst="line">
              <a:avLst/>
            </a:prstGeom>
            <a:noFill/>
            <a:ln w="1905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Box 16"/>
            <p:cNvSpPr txBox="1"/>
            <p:nvPr/>
          </p:nvSpPr>
          <p:spPr>
            <a:xfrm>
              <a:off x="7328523" y="4425367"/>
              <a:ext cx="1601721" cy="8710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200" b="1" dirty="0" smtClean="0">
                  <a:solidFill>
                    <a:srgbClr val="C00000"/>
                  </a:solidFill>
                </a:rPr>
                <a:t>某砂土</a:t>
              </a:r>
              <a:r>
                <a:rPr lang="en-US" altLang="zh-CN" sz="2200" b="1" i="1" dirty="0" smtClean="0">
                  <a:solidFill>
                    <a:srgbClr val="C00000"/>
                  </a:solidFill>
                </a:rPr>
                <a:t>e</a:t>
              </a:r>
              <a:r>
                <a:rPr lang="zh-CN" altLang="en-US" sz="2200" b="1" dirty="0" smtClean="0">
                  <a:solidFill>
                    <a:srgbClr val="C00000"/>
                  </a:solidFill>
                </a:rPr>
                <a:t>～</a:t>
              </a:r>
              <a:r>
                <a:rPr lang="en-US" altLang="zh-CN" sz="2200" b="1" i="1" dirty="0" smtClean="0">
                  <a:solidFill>
                    <a:srgbClr val="C00000"/>
                  </a:solidFill>
                </a:rPr>
                <a:t>k</a:t>
              </a:r>
              <a:br>
                <a:rPr lang="en-US" altLang="zh-CN" sz="2200" b="1" i="1" dirty="0" smtClean="0">
                  <a:solidFill>
                    <a:srgbClr val="C00000"/>
                  </a:solidFill>
                </a:rPr>
              </a:br>
              <a:r>
                <a:rPr lang="zh-CN" altLang="en-US" sz="2200" b="1" dirty="0" smtClean="0">
                  <a:solidFill>
                    <a:srgbClr val="C00000"/>
                  </a:solidFill>
                </a:rPr>
                <a:t>试验结果</a:t>
              </a:r>
              <a:endParaRPr lang="zh-CN" altLang="en-US" sz="22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32" name="Text Box 49"/>
          <p:cNvSpPr txBox="1">
            <a:spLocks noChangeArrowheads="1"/>
          </p:cNvSpPr>
          <p:nvPr/>
        </p:nvSpPr>
        <p:spPr bwMode="auto">
          <a:xfrm>
            <a:off x="266700" y="1117600"/>
            <a:ext cx="18637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土的性质</a:t>
            </a:r>
            <a:endParaRPr kumimoji="1"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水的性质</a:t>
            </a:r>
            <a:endParaRPr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3" name="Text Box 51"/>
          <p:cNvSpPr txBox="1">
            <a:spLocks noChangeArrowheads="1"/>
          </p:cNvSpPr>
          <p:nvPr/>
        </p:nvSpPr>
        <p:spPr bwMode="auto">
          <a:xfrm>
            <a:off x="673100" y="1827213"/>
            <a:ext cx="2709863" cy="260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粒径大小及级配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孔隙比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矿物成分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结构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饱和度</a:t>
            </a:r>
          </a:p>
        </p:txBody>
      </p:sp>
    </p:spTree>
    <p:extLst>
      <p:ext uri="{BB962C8B-B14F-4D97-AF65-F5344CB8AC3E}">
        <p14:creationId xmlns:p14="http://schemas.microsoft.com/office/powerpoint/2010/main" val="362039064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32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" grpId="0"/>
      <p:bldP spid="1532976" grpId="0" animBg="1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984" name="Text Box 32"/>
          <p:cNvSpPr txBox="1">
            <a:spLocks noChangeArrowheads="1"/>
          </p:cNvSpPr>
          <p:nvPr/>
        </p:nvSpPr>
        <p:spPr bwMode="auto">
          <a:xfrm>
            <a:off x="4079875" y="945811"/>
            <a:ext cx="4778375" cy="446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对黏性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土，影响颗粒的表面力</a:t>
            </a: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不同黏土矿物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之间渗透系数相差极大，其渗透性大小的次序为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高岭石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</a:rPr>
              <a:t>&gt;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伊里石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</a:rPr>
              <a:t>&gt;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蒙脱石 </a:t>
            </a:r>
            <a:endParaRPr lang="en-US" altLang="zh-CN" sz="2400" b="1" dirty="0" smtClean="0">
              <a:solidFill>
                <a:srgbClr val="A50021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当黏土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中含有可交换的钠离子越多时，其渗透性将越低</a:t>
            </a: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塑性指数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I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</a:rPr>
              <a:t>p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综合反映土的颗粒大小和矿物成份，常是渗透系数的参数</a:t>
            </a:r>
          </a:p>
        </p:txBody>
      </p:sp>
      <p:sp>
        <p:nvSpPr>
          <p:cNvPr id="53252" name="Rectangle 39"/>
          <p:cNvSpPr>
            <a:spLocks noChangeArrowheads="1"/>
          </p:cNvSpPr>
          <p:nvPr/>
        </p:nvSpPr>
        <p:spPr bwMode="auto">
          <a:xfrm>
            <a:off x="2725738" y="5670550"/>
            <a:ext cx="4778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渗透系数的影响因素 </a:t>
            </a:r>
          </a:p>
        </p:txBody>
      </p:sp>
      <p:sp>
        <p:nvSpPr>
          <p:cNvPr id="1534000" name="Rectangle 48"/>
          <p:cNvSpPr>
            <a:spLocks noChangeArrowheads="1"/>
          </p:cNvSpPr>
          <p:nvPr/>
        </p:nvSpPr>
        <p:spPr bwMode="auto">
          <a:xfrm>
            <a:off x="703263" y="2914650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3255" name="Rectangle 50"/>
          <p:cNvSpPr>
            <a:spLocks noChangeArrowheads="1"/>
          </p:cNvSpPr>
          <p:nvPr/>
        </p:nvSpPr>
        <p:spPr bwMode="auto">
          <a:xfrm>
            <a:off x="217488" y="1109663"/>
            <a:ext cx="3178175" cy="4038600"/>
          </a:xfrm>
          <a:prstGeom prst="rect">
            <a:avLst/>
          </a:prstGeom>
          <a:noFill/>
          <a:ln w="38100" cmpd="dbl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24"/>
          <p:cNvSpPr>
            <a:spLocks noChangeArrowheads="1"/>
          </p:cNvSpPr>
          <p:nvPr/>
        </p:nvSpPr>
        <p:spPr bwMode="auto">
          <a:xfrm>
            <a:off x="3518980" y="2953543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2" name="Text Box 49"/>
          <p:cNvSpPr txBox="1">
            <a:spLocks noChangeArrowheads="1"/>
          </p:cNvSpPr>
          <p:nvPr/>
        </p:nvSpPr>
        <p:spPr bwMode="auto">
          <a:xfrm>
            <a:off x="266700" y="1117600"/>
            <a:ext cx="18637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土的性质</a:t>
            </a:r>
            <a:endParaRPr kumimoji="1"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水的性质</a:t>
            </a:r>
            <a:endParaRPr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" name="Text Box 51"/>
          <p:cNvSpPr txBox="1">
            <a:spLocks noChangeArrowheads="1"/>
          </p:cNvSpPr>
          <p:nvPr/>
        </p:nvSpPr>
        <p:spPr bwMode="auto">
          <a:xfrm>
            <a:off x="673100" y="1827213"/>
            <a:ext cx="2709863" cy="260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粒径大小及级配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孔隙比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矿物成分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结构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饱和度</a:t>
            </a:r>
          </a:p>
        </p:txBody>
      </p:sp>
    </p:spTree>
    <p:extLst>
      <p:ext uri="{BB962C8B-B14F-4D97-AF65-F5344CB8AC3E}">
        <p14:creationId xmlns:p14="http://schemas.microsoft.com/office/powerpoint/2010/main" val="428497480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3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533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533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3984" grpId="0"/>
      <p:bldP spid="1534000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978" name="Text Box 2"/>
          <p:cNvSpPr txBox="1">
            <a:spLocks noChangeArrowheads="1"/>
          </p:cNvSpPr>
          <p:nvPr/>
        </p:nvSpPr>
        <p:spPr bwMode="auto">
          <a:xfrm>
            <a:off x="4051300" y="1201738"/>
            <a:ext cx="4849813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影响孔隙系统的构成和方向性，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对黏性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土影响更大</a:t>
            </a: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在宏观构造上，天然沉积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层状黏性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土层，扁平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状黏土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颗粒常呈水平排列，常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使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水平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﹥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垂直</a:t>
            </a: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在微观结构上，当孔隙比相同时，凝聚结构将比分散结构具有更大的透水性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5024" name="Rectangle 48"/>
          <p:cNvSpPr>
            <a:spLocks noChangeArrowheads="1"/>
          </p:cNvSpPr>
          <p:nvPr/>
        </p:nvSpPr>
        <p:spPr bwMode="auto">
          <a:xfrm>
            <a:off x="703263" y="3432175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4279" name="Rectangle 50"/>
          <p:cNvSpPr>
            <a:spLocks noChangeArrowheads="1"/>
          </p:cNvSpPr>
          <p:nvPr/>
        </p:nvSpPr>
        <p:spPr bwMode="auto">
          <a:xfrm>
            <a:off x="217488" y="1109663"/>
            <a:ext cx="3178175" cy="4038600"/>
          </a:xfrm>
          <a:prstGeom prst="rect">
            <a:avLst/>
          </a:prstGeom>
          <a:noFill/>
          <a:ln w="38100" cmpd="dbl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39"/>
          <p:cNvSpPr>
            <a:spLocks noChangeArrowheads="1"/>
          </p:cNvSpPr>
          <p:nvPr/>
        </p:nvSpPr>
        <p:spPr bwMode="auto">
          <a:xfrm>
            <a:off x="2725738" y="5670550"/>
            <a:ext cx="4778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渗透系数的影响因素 </a:t>
            </a:r>
          </a:p>
        </p:txBody>
      </p:sp>
      <p:sp>
        <p:nvSpPr>
          <p:cNvPr id="10" name="AutoShape 24"/>
          <p:cNvSpPr>
            <a:spLocks noChangeArrowheads="1"/>
          </p:cNvSpPr>
          <p:nvPr/>
        </p:nvSpPr>
        <p:spPr bwMode="auto">
          <a:xfrm>
            <a:off x="3518980" y="3467893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266700" y="1117600"/>
            <a:ext cx="18637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土的性质</a:t>
            </a:r>
            <a:endParaRPr kumimoji="1"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水的性质</a:t>
            </a:r>
            <a:endParaRPr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4" name="Text Box 51"/>
          <p:cNvSpPr txBox="1">
            <a:spLocks noChangeArrowheads="1"/>
          </p:cNvSpPr>
          <p:nvPr/>
        </p:nvSpPr>
        <p:spPr bwMode="auto">
          <a:xfrm>
            <a:off x="673100" y="1827213"/>
            <a:ext cx="2709863" cy="260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粒径大小及级配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孔隙比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矿物成分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结构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饱和度</a:t>
            </a:r>
          </a:p>
        </p:txBody>
      </p:sp>
    </p:spTree>
    <p:extLst>
      <p:ext uri="{BB962C8B-B14F-4D97-AF65-F5344CB8AC3E}">
        <p14:creationId xmlns:p14="http://schemas.microsoft.com/office/powerpoint/2010/main" val="426480035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3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4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4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4978" grpId="0"/>
      <p:bldP spid="1535024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325939" y="694801"/>
            <a:ext cx="4256088" cy="5002213"/>
            <a:chOff x="1509" y="762"/>
            <a:chExt cx="2652" cy="3151"/>
          </a:xfrm>
        </p:grpSpPr>
        <p:sp>
          <p:nvSpPr>
            <p:cNvPr id="55305" name="Rectangle 11"/>
            <p:cNvSpPr>
              <a:spLocks noChangeArrowheads="1"/>
            </p:cNvSpPr>
            <p:nvPr/>
          </p:nvSpPr>
          <p:spPr bwMode="auto">
            <a:xfrm>
              <a:off x="1509" y="762"/>
              <a:ext cx="2652" cy="3151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06" name="Freeform 12"/>
            <p:cNvSpPr>
              <a:spLocks/>
            </p:cNvSpPr>
            <p:nvPr/>
          </p:nvSpPr>
          <p:spPr bwMode="auto">
            <a:xfrm>
              <a:off x="1915" y="985"/>
              <a:ext cx="1935" cy="1234"/>
            </a:xfrm>
            <a:custGeom>
              <a:avLst/>
              <a:gdLst>
                <a:gd name="T0" fmla="*/ 0 w 1656"/>
                <a:gd name="T1" fmla="*/ 0 h 1122"/>
                <a:gd name="T2" fmla="*/ 0 w 1656"/>
                <a:gd name="T3" fmla="*/ 1122 h 1122"/>
                <a:gd name="T4" fmla="*/ 1656 w 1656"/>
                <a:gd name="T5" fmla="*/ 1122 h 1122"/>
                <a:gd name="T6" fmla="*/ 0 60000 65536"/>
                <a:gd name="T7" fmla="*/ 0 60000 65536"/>
                <a:gd name="T8" fmla="*/ 0 60000 65536"/>
                <a:gd name="T9" fmla="*/ 0 w 1656"/>
                <a:gd name="T10" fmla="*/ 0 h 1122"/>
                <a:gd name="T11" fmla="*/ 1656 w 1656"/>
                <a:gd name="T12" fmla="*/ 1122 h 1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56" h="1122">
                  <a:moveTo>
                    <a:pt x="0" y="0"/>
                  </a:moveTo>
                  <a:lnTo>
                    <a:pt x="0" y="1122"/>
                  </a:lnTo>
                  <a:lnTo>
                    <a:pt x="1656" y="112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07" name="Freeform 13"/>
            <p:cNvSpPr>
              <a:spLocks/>
            </p:cNvSpPr>
            <p:nvPr/>
          </p:nvSpPr>
          <p:spPr bwMode="auto">
            <a:xfrm>
              <a:off x="1915" y="2554"/>
              <a:ext cx="1935" cy="1072"/>
            </a:xfrm>
            <a:custGeom>
              <a:avLst/>
              <a:gdLst>
                <a:gd name="T0" fmla="*/ 0 w 1656"/>
                <a:gd name="T1" fmla="*/ 0 h 1122"/>
                <a:gd name="T2" fmla="*/ 0 w 1656"/>
                <a:gd name="T3" fmla="*/ 1122 h 1122"/>
                <a:gd name="T4" fmla="*/ 1656 w 1656"/>
                <a:gd name="T5" fmla="*/ 1122 h 1122"/>
                <a:gd name="T6" fmla="*/ 0 60000 65536"/>
                <a:gd name="T7" fmla="*/ 0 60000 65536"/>
                <a:gd name="T8" fmla="*/ 0 60000 65536"/>
                <a:gd name="T9" fmla="*/ 0 w 1656"/>
                <a:gd name="T10" fmla="*/ 0 h 1122"/>
                <a:gd name="T11" fmla="*/ 1656 w 1656"/>
                <a:gd name="T12" fmla="*/ 1122 h 1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56" h="1122">
                  <a:moveTo>
                    <a:pt x="0" y="0"/>
                  </a:moveTo>
                  <a:lnTo>
                    <a:pt x="0" y="1122"/>
                  </a:lnTo>
                  <a:lnTo>
                    <a:pt x="1656" y="112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08" name="Freeform 14"/>
            <p:cNvSpPr>
              <a:spLocks/>
            </p:cNvSpPr>
            <p:nvPr/>
          </p:nvSpPr>
          <p:spPr bwMode="auto">
            <a:xfrm>
              <a:off x="1993" y="1244"/>
              <a:ext cx="1560" cy="725"/>
            </a:xfrm>
            <a:custGeom>
              <a:avLst/>
              <a:gdLst>
                <a:gd name="T0" fmla="*/ 0 w 1335"/>
                <a:gd name="T1" fmla="*/ 638 h 659"/>
                <a:gd name="T2" fmla="*/ 108 w 1335"/>
                <a:gd name="T3" fmla="*/ 464 h 659"/>
                <a:gd name="T4" fmla="*/ 264 w 1335"/>
                <a:gd name="T5" fmla="*/ 224 h 659"/>
                <a:gd name="T6" fmla="*/ 411 w 1335"/>
                <a:gd name="T7" fmla="*/ 65 h 659"/>
                <a:gd name="T8" fmla="*/ 525 w 1335"/>
                <a:gd name="T9" fmla="*/ 8 h 659"/>
                <a:gd name="T10" fmla="*/ 639 w 1335"/>
                <a:gd name="T11" fmla="*/ 20 h 659"/>
                <a:gd name="T12" fmla="*/ 795 w 1335"/>
                <a:gd name="T13" fmla="*/ 107 h 659"/>
                <a:gd name="T14" fmla="*/ 984 w 1335"/>
                <a:gd name="T15" fmla="*/ 281 h 659"/>
                <a:gd name="T16" fmla="*/ 1335 w 1335"/>
                <a:gd name="T17" fmla="*/ 659 h 6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35"/>
                <a:gd name="T28" fmla="*/ 0 h 659"/>
                <a:gd name="T29" fmla="*/ 1335 w 1335"/>
                <a:gd name="T30" fmla="*/ 659 h 65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35" h="659">
                  <a:moveTo>
                    <a:pt x="0" y="638"/>
                  </a:moveTo>
                  <a:cubicBezTo>
                    <a:pt x="32" y="585"/>
                    <a:pt x="64" y="533"/>
                    <a:pt x="108" y="464"/>
                  </a:cubicBezTo>
                  <a:cubicBezTo>
                    <a:pt x="152" y="395"/>
                    <a:pt x="214" y="290"/>
                    <a:pt x="264" y="224"/>
                  </a:cubicBezTo>
                  <a:cubicBezTo>
                    <a:pt x="314" y="158"/>
                    <a:pt x="368" y="101"/>
                    <a:pt x="411" y="65"/>
                  </a:cubicBezTo>
                  <a:cubicBezTo>
                    <a:pt x="454" y="29"/>
                    <a:pt x="487" y="16"/>
                    <a:pt x="525" y="8"/>
                  </a:cubicBezTo>
                  <a:cubicBezTo>
                    <a:pt x="563" y="0"/>
                    <a:pt x="594" y="4"/>
                    <a:pt x="639" y="20"/>
                  </a:cubicBezTo>
                  <a:cubicBezTo>
                    <a:pt x="684" y="36"/>
                    <a:pt x="738" y="63"/>
                    <a:pt x="795" y="107"/>
                  </a:cubicBezTo>
                  <a:cubicBezTo>
                    <a:pt x="852" y="151"/>
                    <a:pt x="894" y="189"/>
                    <a:pt x="984" y="281"/>
                  </a:cubicBezTo>
                  <a:cubicBezTo>
                    <a:pt x="1074" y="373"/>
                    <a:pt x="1276" y="595"/>
                    <a:pt x="1335" y="659"/>
                  </a:cubicBezTo>
                </a:path>
              </a:pathLst>
            </a:cu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09" name="Freeform 15"/>
            <p:cNvSpPr>
              <a:spLocks/>
            </p:cNvSpPr>
            <p:nvPr/>
          </p:nvSpPr>
          <p:spPr bwMode="auto">
            <a:xfrm>
              <a:off x="2694" y="1048"/>
              <a:ext cx="1107" cy="1000"/>
            </a:xfrm>
            <a:custGeom>
              <a:avLst/>
              <a:gdLst>
                <a:gd name="T0" fmla="*/ 0 w 948"/>
                <a:gd name="T1" fmla="*/ 0 h 909"/>
                <a:gd name="T2" fmla="*/ 273 w 948"/>
                <a:gd name="T3" fmla="*/ 270 h 909"/>
                <a:gd name="T4" fmla="*/ 537 w 948"/>
                <a:gd name="T5" fmla="*/ 516 h 909"/>
                <a:gd name="T6" fmla="*/ 804 w 948"/>
                <a:gd name="T7" fmla="*/ 780 h 909"/>
                <a:gd name="T8" fmla="*/ 948 w 948"/>
                <a:gd name="T9" fmla="*/ 909 h 9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8"/>
                <a:gd name="T16" fmla="*/ 0 h 909"/>
                <a:gd name="T17" fmla="*/ 948 w 948"/>
                <a:gd name="T18" fmla="*/ 909 h 9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8" h="909">
                  <a:moveTo>
                    <a:pt x="0" y="0"/>
                  </a:moveTo>
                  <a:cubicBezTo>
                    <a:pt x="91" y="92"/>
                    <a:pt x="183" y="184"/>
                    <a:pt x="273" y="270"/>
                  </a:cubicBezTo>
                  <a:cubicBezTo>
                    <a:pt x="363" y="356"/>
                    <a:pt x="448" y="431"/>
                    <a:pt x="537" y="516"/>
                  </a:cubicBezTo>
                  <a:cubicBezTo>
                    <a:pt x="626" y="601"/>
                    <a:pt x="736" y="715"/>
                    <a:pt x="804" y="780"/>
                  </a:cubicBezTo>
                  <a:cubicBezTo>
                    <a:pt x="872" y="845"/>
                    <a:pt x="910" y="877"/>
                    <a:pt x="948" y="909"/>
                  </a:cubicBezTo>
                </a:path>
              </a:pathLst>
            </a:cu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10" name="Text Box 16"/>
            <p:cNvSpPr txBox="1">
              <a:spLocks noChangeArrowheads="1"/>
            </p:cNvSpPr>
            <p:nvPr/>
          </p:nvSpPr>
          <p:spPr bwMode="auto">
            <a:xfrm rot="2740226">
              <a:off x="2760" y="1124"/>
              <a:ext cx="731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cs typeface="Times New Roman" panose="02020603050405020304" pitchFamily="18" charset="0"/>
                </a:rPr>
                <a:t>饱和曲线</a:t>
              </a:r>
            </a:p>
          </p:txBody>
        </p:sp>
        <p:sp>
          <p:nvSpPr>
            <p:cNvPr id="55311" name="Text Box 17"/>
            <p:cNvSpPr txBox="1">
              <a:spLocks noChangeArrowheads="1"/>
            </p:cNvSpPr>
            <p:nvPr/>
          </p:nvSpPr>
          <p:spPr bwMode="auto">
            <a:xfrm>
              <a:off x="3289" y="2216"/>
              <a:ext cx="72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含水量 </a:t>
              </a:r>
              <a:r>
                <a:rPr lang="en-US" altLang="zh-CN" sz="18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55312" name="Text Box 18"/>
            <p:cNvSpPr txBox="1">
              <a:spLocks noChangeArrowheads="1"/>
            </p:cNvSpPr>
            <p:nvPr/>
          </p:nvSpPr>
          <p:spPr bwMode="auto">
            <a:xfrm>
              <a:off x="2590" y="2221"/>
              <a:ext cx="37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W</a:t>
              </a:r>
              <a:r>
                <a:rPr lang="en-US" altLang="zh-CN" sz="18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op</a:t>
              </a:r>
              <a:endParaRPr lang="en-US" altLang="zh-CN" sz="1800" b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5313" name="Text Box 19"/>
            <p:cNvSpPr txBox="1">
              <a:spLocks noChangeArrowheads="1"/>
            </p:cNvSpPr>
            <p:nvPr/>
          </p:nvSpPr>
          <p:spPr bwMode="auto">
            <a:xfrm>
              <a:off x="1586" y="843"/>
              <a:ext cx="312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 </a:t>
              </a:r>
              <a:r>
                <a:rPr lang="zh-CN" altLang="en-US" sz="1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</a:t>
              </a:r>
              <a:r>
                <a:rPr lang="en-US" altLang="zh-CN" sz="18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d</a:t>
              </a:r>
            </a:p>
          </p:txBody>
        </p:sp>
        <p:sp>
          <p:nvSpPr>
            <p:cNvPr id="55314" name="Line 20"/>
            <p:cNvSpPr>
              <a:spLocks noChangeShapeType="1"/>
            </p:cNvSpPr>
            <p:nvPr/>
          </p:nvSpPr>
          <p:spPr bwMode="auto">
            <a:xfrm>
              <a:off x="1916" y="1246"/>
              <a:ext cx="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15" name="Text Box 21"/>
            <p:cNvSpPr txBox="1">
              <a:spLocks noChangeArrowheads="1"/>
            </p:cNvSpPr>
            <p:nvPr/>
          </p:nvSpPr>
          <p:spPr bwMode="auto">
            <a:xfrm>
              <a:off x="1540" y="1109"/>
              <a:ext cx="40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</a:t>
              </a:r>
              <a:r>
                <a:rPr lang="en-US" altLang="zh-CN" sz="18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max</a:t>
              </a:r>
            </a:p>
          </p:txBody>
        </p:sp>
        <p:sp>
          <p:nvSpPr>
            <p:cNvPr id="55316" name="Line 22"/>
            <p:cNvSpPr>
              <a:spLocks noChangeShapeType="1"/>
            </p:cNvSpPr>
            <p:nvPr/>
          </p:nvSpPr>
          <p:spPr bwMode="auto">
            <a:xfrm>
              <a:off x="1916" y="1506"/>
              <a:ext cx="11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17" name="Text Box 23"/>
            <p:cNvSpPr txBox="1">
              <a:spLocks noChangeArrowheads="1"/>
            </p:cNvSpPr>
            <p:nvPr/>
          </p:nvSpPr>
          <p:spPr bwMode="auto">
            <a:xfrm>
              <a:off x="1661" y="1393"/>
              <a:ext cx="27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</a:t>
              </a:r>
              <a:r>
                <a:rPr lang="en-US" altLang="zh-CN" sz="18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55318" name="Freeform 24"/>
            <p:cNvSpPr>
              <a:spLocks/>
            </p:cNvSpPr>
            <p:nvPr/>
          </p:nvSpPr>
          <p:spPr bwMode="auto">
            <a:xfrm>
              <a:off x="2105" y="2654"/>
              <a:ext cx="1445" cy="814"/>
            </a:xfrm>
            <a:custGeom>
              <a:avLst/>
              <a:gdLst>
                <a:gd name="T0" fmla="*/ 0 w 1236"/>
                <a:gd name="T1" fmla="*/ 0 h 740"/>
                <a:gd name="T2" fmla="*/ 147 w 1236"/>
                <a:gd name="T3" fmla="*/ 321 h 740"/>
                <a:gd name="T4" fmla="*/ 264 w 1236"/>
                <a:gd name="T5" fmla="*/ 537 h 740"/>
                <a:gd name="T6" fmla="*/ 360 w 1236"/>
                <a:gd name="T7" fmla="*/ 675 h 740"/>
                <a:gd name="T8" fmla="*/ 441 w 1236"/>
                <a:gd name="T9" fmla="*/ 726 h 740"/>
                <a:gd name="T10" fmla="*/ 543 w 1236"/>
                <a:gd name="T11" fmla="*/ 738 h 740"/>
                <a:gd name="T12" fmla="*/ 681 w 1236"/>
                <a:gd name="T13" fmla="*/ 714 h 740"/>
                <a:gd name="T14" fmla="*/ 954 w 1236"/>
                <a:gd name="T15" fmla="*/ 633 h 740"/>
                <a:gd name="T16" fmla="*/ 1098 w 1236"/>
                <a:gd name="T17" fmla="*/ 585 h 740"/>
                <a:gd name="T18" fmla="*/ 1236 w 1236"/>
                <a:gd name="T19" fmla="*/ 552 h 7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36"/>
                <a:gd name="T31" fmla="*/ 0 h 740"/>
                <a:gd name="T32" fmla="*/ 1236 w 1236"/>
                <a:gd name="T33" fmla="*/ 740 h 7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36" h="740">
                  <a:moveTo>
                    <a:pt x="0" y="0"/>
                  </a:moveTo>
                  <a:cubicBezTo>
                    <a:pt x="51" y="116"/>
                    <a:pt x="103" y="232"/>
                    <a:pt x="147" y="321"/>
                  </a:cubicBezTo>
                  <a:cubicBezTo>
                    <a:pt x="191" y="410"/>
                    <a:pt x="229" y="478"/>
                    <a:pt x="264" y="537"/>
                  </a:cubicBezTo>
                  <a:cubicBezTo>
                    <a:pt x="299" y="596"/>
                    <a:pt x="331" y="643"/>
                    <a:pt x="360" y="675"/>
                  </a:cubicBezTo>
                  <a:cubicBezTo>
                    <a:pt x="389" y="707"/>
                    <a:pt x="411" y="715"/>
                    <a:pt x="441" y="726"/>
                  </a:cubicBezTo>
                  <a:cubicBezTo>
                    <a:pt x="471" y="737"/>
                    <a:pt x="503" y="740"/>
                    <a:pt x="543" y="738"/>
                  </a:cubicBezTo>
                  <a:cubicBezTo>
                    <a:pt x="583" y="736"/>
                    <a:pt x="613" y="731"/>
                    <a:pt x="681" y="714"/>
                  </a:cubicBezTo>
                  <a:cubicBezTo>
                    <a:pt x="749" y="697"/>
                    <a:pt x="885" y="654"/>
                    <a:pt x="954" y="633"/>
                  </a:cubicBezTo>
                  <a:cubicBezTo>
                    <a:pt x="1023" y="612"/>
                    <a:pt x="1051" y="598"/>
                    <a:pt x="1098" y="585"/>
                  </a:cubicBezTo>
                  <a:cubicBezTo>
                    <a:pt x="1145" y="572"/>
                    <a:pt x="1191" y="561"/>
                    <a:pt x="1236" y="552"/>
                  </a:cubicBezTo>
                </a:path>
              </a:pathLst>
            </a:cu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19" name="Text Box 25"/>
            <p:cNvSpPr txBox="1">
              <a:spLocks noChangeArrowheads="1"/>
            </p:cNvSpPr>
            <p:nvPr/>
          </p:nvSpPr>
          <p:spPr bwMode="auto">
            <a:xfrm>
              <a:off x="3265" y="3666"/>
              <a:ext cx="72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含水量 </a:t>
              </a:r>
              <a:r>
                <a:rPr lang="en-US" altLang="zh-CN" sz="18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55320" name="Text Box 26"/>
            <p:cNvSpPr txBox="1">
              <a:spLocks noChangeArrowheads="1"/>
            </p:cNvSpPr>
            <p:nvPr/>
          </p:nvSpPr>
          <p:spPr bwMode="auto">
            <a:xfrm>
              <a:off x="1670" y="2504"/>
              <a:ext cx="216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k</a:t>
              </a:r>
              <a:endParaRPr lang="en-US" altLang="zh-CN" sz="18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5321" name="Line 27"/>
            <p:cNvSpPr>
              <a:spLocks noChangeShapeType="1"/>
            </p:cNvSpPr>
            <p:nvPr/>
          </p:nvSpPr>
          <p:spPr bwMode="auto">
            <a:xfrm>
              <a:off x="2301" y="1506"/>
              <a:ext cx="0" cy="15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22" name="Line 28"/>
            <p:cNvSpPr>
              <a:spLocks noChangeShapeType="1"/>
            </p:cNvSpPr>
            <p:nvPr/>
          </p:nvSpPr>
          <p:spPr bwMode="auto">
            <a:xfrm>
              <a:off x="3094" y="1515"/>
              <a:ext cx="0" cy="18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23" name="Line 29"/>
            <p:cNvSpPr>
              <a:spLocks noChangeShapeType="1"/>
            </p:cNvSpPr>
            <p:nvPr/>
          </p:nvSpPr>
          <p:spPr bwMode="auto">
            <a:xfrm>
              <a:off x="2640" y="1246"/>
              <a:ext cx="0" cy="2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24" name="Line 30"/>
            <p:cNvSpPr>
              <a:spLocks noChangeShapeType="1"/>
            </p:cNvSpPr>
            <p:nvPr/>
          </p:nvSpPr>
          <p:spPr bwMode="auto">
            <a:xfrm>
              <a:off x="2353" y="2123"/>
              <a:ext cx="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325" name="Text Box 31"/>
            <p:cNvSpPr txBox="1">
              <a:spLocks noChangeArrowheads="1"/>
            </p:cNvSpPr>
            <p:nvPr/>
          </p:nvSpPr>
          <p:spPr bwMode="auto">
            <a:xfrm>
              <a:off x="1958" y="1823"/>
              <a:ext cx="1424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絮凝结构   </a:t>
              </a:r>
              <a:r>
                <a:rPr lang="zh-CN" altLang="en-US" sz="18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分散结构</a:t>
              </a:r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>
              <a:off x="1913" y="3016"/>
              <a:ext cx="3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35" name="Line 20"/>
            <p:cNvSpPr>
              <a:spLocks noChangeShapeType="1"/>
            </p:cNvSpPr>
            <p:nvPr/>
          </p:nvSpPr>
          <p:spPr bwMode="auto">
            <a:xfrm>
              <a:off x="1927" y="3467"/>
              <a:ext cx="6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>
              <a:off x="1907" y="3380"/>
              <a:ext cx="12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37" name="Text Box 26"/>
            <p:cNvSpPr txBox="1">
              <a:spLocks noChangeArrowheads="1"/>
            </p:cNvSpPr>
            <p:nvPr/>
          </p:nvSpPr>
          <p:spPr bwMode="auto">
            <a:xfrm>
              <a:off x="1574" y="3337"/>
              <a:ext cx="376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err="1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z="1800" b="1" baseline="-25000" dirty="0" err="1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min</a:t>
              </a:r>
              <a:endParaRPr lang="en-US" altLang="zh-CN" sz="1800" b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8" name="Text Box 26"/>
            <p:cNvSpPr txBox="1">
              <a:spLocks noChangeArrowheads="1"/>
            </p:cNvSpPr>
            <p:nvPr/>
          </p:nvSpPr>
          <p:spPr bwMode="auto">
            <a:xfrm>
              <a:off x="1604" y="2877"/>
              <a:ext cx="285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z="1800" b="1" baseline="-25000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A</a:t>
              </a:r>
              <a:endParaRPr lang="en-US" altLang="zh-CN" sz="1800" b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9" name="Text Box 26"/>
            <p:cNvSpPr txBox="1">
              <a:spLocks noChangeArrowheads="1"/>
            </p:cNvSpPr>
            <p:nvPr/>
          </p:nvSpPr>
          <p:spPr bwMode="auto">
            <a:xfrm>
              <a:off x="1614" y="3194"/>
              <a:ext cx="280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z="1800" b="1" baseline="-25000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B</a:t>
              </a:r>
              <a:endParaRPr lang="en-US" altLang="zh-CN" sz="1800" b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0" name="Text Box 26"/>
            <p:cNvSpPr txBox="1">
              <a:spLocks noChangeArrowheads="1"/>
            </p:cNvSpPr>
            <p:nvPr/>
          </p:nvSpPr>
          <p:spPr bwMode="auto">
            <a:xfrm>
              <a:off x="2230" y="1438"/>
              <a:ext cx="248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 smtClean="0">
                  <a:solidFill>
                    <a:srgbClr val="000066"/>
                  </a:solidFill>
                  <a:cs typeface="Times New Roman" panose="02020603050405020304" pitchFamily="18" charset="0"/>
                </a:rPr>
                <a:t>A</a:t>
              </a:r>
              <a:endParaRPr lang="en-US" altLang="zh-CN" sz="1800" b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" name="Text Box 26"/>
            <p:cNvSpPr txBox="1">
              <a:spLocks noChangeArrowheads="1"/>
            </p:cNvSpPr>
            <p:nvPr/>
          </p:nvSpPr>
          <p:spPr bwMode="auto">
            <a:xfrm>
              <a:off x="2897" y="1449"/>
              <a:ext cx="240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4300" tIns="57150" rIns="114300" bIns="57150">
              <a:spAutoFit/>
            </a:bodyPr>
            <a:lstStyle>
              <a:lvl1pPr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430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430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B</a:t>
              </a:r>
              <a:endParaRPr lang="en-US" altLang="zh-CN" sz="1800" b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55301" name="Rectangle 48"/>
          <p:cNvSpPr>
            <a:spLocks noChangeArrowheads="1"/>
          </p:cNvSpPr>
          <p:nvPr/>
        </p:nvSpPr>
        <p:spPr bwMode="auto">
          <a:xfrm>
            <a:off x="703263" y="3420184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5302" name="Text Box 49"/>
          <p:cNvSpPr txBox="1">
            <a:spLocks noChangeArrowheads="1"/>
          </p:cNvSpPr>
          <p:nvPr/>
        </p:nvSpPr>
        <p:spPr bwMode="auto">
          <a:xfrm>
            <a:off x="266700" y="1117600"/>
            <a:ext cx="18637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土的性质</a:t>
            </a:r>
            <a:endParaRPr kumimoji="1"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水的性质</a:t>
            </a:r>
            <a:endParaRPr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5303" name="Rectangle 50"/>
          <p:cNvSpPr>
            <a:spLocks noChangeArrowheads="1"/>
          </p:cNvSpPr>
          <p:nvPr/>
        </p:nvSpPr>
        <p:spPr bwMode="auto">
          <a:xfrm>
            <a:off x="217488" y="1109663"/>
            <a:ext cx="3178175" cy="4038600"/>
          </a:xfrm>
          <a:prstGeom prst="rect">
            <a:avLst/>
          </a:prstGeom>
          <a:noFill/>
          <a:ln w="38100" cmpd="dbl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4" name="Text Box 51"/>
          <p:cNvSpPr txBox="1">
            <a:spLocks noChangeArrowheads="1"/>
          </p:cNvSpPr>
          <p:nvPr/>
        </p:nvSpPr>
        <p:spPr bwMode="auto">
          <a:xfrm>
            <a:off x="673100" y="1827213"/>
            <a:ext cx="2709863" cy="260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粒径大小及级配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孔隙比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矿物成分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结构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饱和度</a:t>
            </a:r>
          </a:p>
        </p:txBody>
      </p:sp>
      <p:sp>
        <p:nvSpPr>
          <p:cNvPr id="30" name="AutoShape 24"/>
          <p:cNvSpPr>
            <a:spLocks noChangeArrowheads="1"/>
          </p:cNvSpPr>
          <p:nvPr/>
        </p:nvSpPr>
        <p:spPr bwMode="auto">
          <a:xfrm>
            <a:off x="3518980" y="3435619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3" name="Rectangle 39"/>
          <p:cNvSpPr>
            <a:spLocks noChangeArrowheads="1"/>
          </p:cNvSpPr>
          <p:nvPr/>
        </p:nvSpPr>
        <p:spPr bwMode="auto">
          <a:xfrm>
            <a:off x="2725738" y="5670550"/>
            <a:ext cx="4778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渗透系数的影响因素 </a:t>
            </a:r>
          </a:p>
        </p:txBody>
      </p:sp>
    </p:spTree>
    <p:extLst>
      <p:ext uri="{BB962C8B-B14F-4D97-AF65-F5344CB8AC3E}">
        <p14:creationId xmlns:p14="http://schemas.microsoft.com/office/powerpoint/2010/main" val="316335229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8"/>
          <p:cNvSpPr>
            <a:spLocks noChangeArrowheads="1"/>
          </p:cNvSpPr>
          <p:nvPr/>
        </p:nvSpPr>
        <p:spPr bwMode="auto">
          <a:xfrm>
            <a:off x="703263" y="3923892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6" name="AutoShape 24"/>
          <p:cNvSpPr>
            <a:spLocks noChangeArrowheads="1"/>
          </p:cNvSpPr>
          <p:nvPr/>
        </p:nvSpPr>
        <p:spPr bwMode="auto">
          <a:xfrm>
            <a:off x="3518980" y="3962785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2" name="Text Box 49"/>
          <p:cNvSpPr txBox="1">
            <a:spLocks noChangeArrowheads="1"/>
          </p:cNvSpPr>
          <p:nvPr/>
        </p:nvSpPr>
        <p:spPr bwMode="auto">
          <a:xfrm>
            <a:off x="266700" y="1117600"/>
            <a:ext cx="18637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土的性质</a:t>
            </a:r>
            <a:endParaRPr kumimoji="1"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水的性质</a:t>
            </a:r>
            <a:endParaRPr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5303" name="Rectangle 50"/>
          <p:cNvSpPr>
            <a:spLocks noChangeArrowheads="1"/>
          </p:cNvSpPr>
          <p:nvPr/>
        </p:nvSpPr>
        <p:spPr bwMode="auto">
          <a:xfrm>
            <a:off x="217488" y="1109663"/>
            <a:ext cx="3178175" cy="4038600"/>
          </a:xfrm>
          <a:prstGeom prst="rect">
            <a:avLst/>
          </a:prstGeom>
          <a:noFill/>
          <a:ln w="38100" cmpd="dbl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4" name="Text Box 51"/>
          <p:cNvSpPr txBox="1">
            <a:spLocks noChangeArrowheads="1"/>
          </p:cNvSpPr>
          <p:nvPr/>
        </p:nvSpPr>
        <p:spPr bwMode="auto">
          <a:xfrm>
            <a:off x="673100" y="1827213"/>
            <a:ext cx="2709863" cy="260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粒径大小及级配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孔隙比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矿物成分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结构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饱和度</a:t>
            </a:r>
          </a:p>
        </p:txBody>
      </p:sp>
      <p:sp>
        <p:nvSpPr>
          <p:cNvPr id="3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3" name="Rectangle 39"/>
          <p:cNvSpPr>
            <a:spLocks noChangeArrowheads="1"/>
          </p:cNvSpPr>
          <p:nvPr/>
        </p:nvSpPr>
        <p:spPr bwMode="auto">
          <a:xfrm>
            <a:off x="2725738" y="5670550"/>
            <a:ext cx="4778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渗透系数的影响因素 </a:t>
            </a:r>
          </a:p>
        </p:txBody>
      </p:sp>
      <p:sp>
        <p:nvSpPr>
          <p:cNvPr id="34" name="Text Box 8"/>
          <p:cNvSpPr txBox="1">
            <a:spLocks noChangeArrowheads="1"/>
          </p:cNvSpPr>
          <p:nvPr/>
        </p:nvSpPr>
        <p:spPr bwMode="auto">
          <a:xfrm>
            <a:off x="4119563" y="962025"/>
            <a:ext cx="4810681" cy="1852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反映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</a:rPr>
              <a:t>了土体中含气体量的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</a:rPr>
              <a:t>多少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</a:rPr>
              <a:t>封闭气泡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可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</a:rPr>
              <a:t>使土体的有效渗透面积减少，堵塞孔隙通道，从而使渗透系数 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k 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</a:rPr>
              <a:t>值大为降低。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13817" y="2835053"/>
            <a:ext cx="4673458" cy="2788318"/>
            <a:chOff x="4313817" y="2835053"/>
            <a:chExt cx="4673458" cy="2788318"/>
          </a:xfrm>
        </p:grpSpPr>
        <p:sp>
          <p:nvSpPr>
            <p:cNvPr id="43" name="TextBox 42"/>
            <p:cNvSpPr txBox="1"/>
            <p:nvPr/>
          </p:nvSpPr>
          <p:spPr>
            <a:xfrm>
              <a:off x="7228460" y="4382335"/>
              <a:ext cx="1758815" cy="8710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200" b="1" dirty="0" smtClean="0">
                  <a:solidFill>
                    <a:srgbClr val="C00000"/>
                  </a:solidFill>
                </a:rPr>
                <a:t>某砂土</a:t>
              </a:r>
              <a:r>
                <a:rPr lang="en-US" altLang="zh-CN" sz="2200" b="1" i="1" dirty="0" err="1" smtClean="0">
                  <a:solidFill>
                    <a:srgbClr val="C00000"/>
                  </a:solidFill>
                </a:rPr>
                <a:t>S</a:t>
              </a:r>
              <a:r>
                <a:rPr lang="en-US" altLang="zh-CN" sz="2200" b="1" baseline="-25000" dirty="0" err="1" smtClean="0">
                  <a:solidFill>
                    <a:srgbClr val="C00000"/>
                  </a:solidFill>
                </a:rPr>
                <a:t>r</a:t>
              </a:r>
              <a:r>
                <a:rPr lang="zh-CN" altLang="en-US" sz="2200" b="1" dirty="0" smtClean="0">
                  <a:solidFill>
                    <a:srgbClr val="C00000"/>
                  </a:solidFill>
                </a:rPr>
                <a:t>～</a:t>
              </a:r>
              <a:r>
                <a:rPr lang="en-US" altLang="zh-CN" sz="2200" b="1" i="1" dirty="0" smtClean="0">
                  <a:solidFill>
                    <a:srgbClr val="C00000"/>
                  </a:solidFill>
                </a:rPr>
                <a:t>k</a:t>
              </a:r>
              <a:r>
                <a:rPr lang="en-US" altLang="zh-CN" sz="2200" b="1" dirty="0" smtClean="0">
                  <a:solidFill>
                    <a:srgbClr val="C00000"/>
                  </a:solidFill>
                </a:rPr>
                <a:t/>
              </a:r>
              <a:br>
                <a:rPr lang="en-US" altLang="zh-CN" sz="2200" b="1" dirty="0" smtClean="0">
                  <a:solidFill>
                    <a:srgbClr val="C00000"/>
                  </a:solidFill>
                </a:rPr>
              </a:br>
              <a:r>
                <a:rPr lang="zh-CN" altLang="en-US" sz="2200" b="1" dirty="0" smtClean="0">
                  <a:solidFill>
                    <a:srgbClr val="C00000"/>
                  </a:solidFill>
                </a:rPr>
                <a:t>试验结果</a:t>
              </a:r>
              <a:endParaRPr lang="zh-CN" altLang="en-US" sz="2200" b="1" dirty="0">
                <a:solidFill>
                  <a:srgbClr val="C00000"/>
                </a:solidFill>
              </a:endParaRPr>
            </a:p>
          </p:txBody>
        </p:sp>
        <p:pic>
          <p:nvPicPr>
            <p:cNvPr id="33794" name="Picture 2" descr="F:\ZW2.tif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3817" y="2835053"/>
              <a:ext cx="2848934" cy="27883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任意多边形 2"/>
            <p:cNvSpPr/>
            <p:nvPr/>
          </p:nvSpPr>
          <p:spPr bwMode="auto">
            <a:xfrm>
              <a:off x="5353050" y="3752850"/>
              <a:ext cx="1695450" cy="1149350"/>
            </a:xfrm>
            <a:custGeom>
              <a:avLst/>
              <a:gdLst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28750 w 1695450"/>
                <a:gd name="connsiteY5" fmla="*/ 374650 h 1149350"/>
                <a:gd name="connsiteX6" fmla="*/ 1606550 w 1695450"/>
                <a:gd name="connsiteY6" fmla="*/ 152400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28750 w 1695450"/>
                <a:gd name="connsiteY5" fmla="*/ 374650 h 1149350"/>
                <a:gd name="connsiteX6" fmla="*/ 1606550 w 1695450"/>
                <a:gd name="connsiteY6" fmla="*/ 152400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28750 w 1695450"/>
                <a:gd name="connsiteY5" fmla="*/ 374650 h 1149350"/>
                <a:gd name="connsiteX6" fmla="*/ 1606550 w 1695450"/>
                <a:gd name="connsiteY6" fmla="*/ 152400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28750 w 1695450"/>
                <a:gd name="connsiteY5" fmla="*/ 374650 h 1149350"/>
                <a:gd name="connsiteX6" fmla="*/ 1606550 w 1695450"/>
                <a:gd name="connsiteY6" fmla="*/ 152400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28750 w 1695450"/>
                <a:gd name="connsiteY5" fmla="*/ 374650 h 1149350"/>
                <a:gd name="connsiteX6" fmla="*/ 1606550 w 1695450"/>
                <a:gd name="connsiteY6" fmla="*/ 152400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28750 w 1695450"/>
                <a:gd name="connsiteY5" fmla="*/ 374650 h 1149350"/>
                <a:gd name="connsiteX6" fmla="*/ 1606550 w 1695450"/>
                <a:gd name="connsiteY6" fmla="*/ 152400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28750 w 1695450"/>
                <a:gd name="connsiteY5" fmla="*/ 374650 h 1149350"/>
                <a:gd name="connsiteX6" fmla="*/ 1606550 w 1695450"/>
                <a:gd name="connsiteY6" fmla="*/ 152400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28750 w 1695450"/>
                <a:gd name="connsiteY5" fmla="*/ 374650 h 1149350"/>
                <a:gd name="connsiteX6" fmla="*/ 1606550 w 1695450"/>
                <a:gd name="connsiteY6" fmla="*/ 152400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28750 w 1695450"/>
                <a:gd name="connsiteY5" fmla="*/ 374650 h 1149350"/>
                <a:gd name="connsiteX6" fmla="*/ 1582737 w 1695450"/>
                <a:gd name="connsiteY6" fmla="*/ 180975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14462 w 1695450"/>
                <a:gd name="connsiteY5" fmla="*/ 384175 h 1149350"/>
                <a:gd name="connsiteX6" fmla="*/ 1582737 w 1695450"/>
                <a:gd name="connsiteY6" fmla="*/ 180975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14462 w 1695450"/>
                <a:gd name="connsiteY5" fmla="*/ 384175 h 1149350"/>
                <a:gd name="connsiteX6" fmla="*/ 1567497 w 1695450"/>
                <a:gd name="connsiteY6" fmla="*/ 200025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414462 w 1695450"/>
                <a:gd name="connsiteY5" fmla="*/ 384175 h 1149350"/>
                <a:gd name="connsiteX6" fmla="*/ 1552257 w 1695450"/>
                <a:gd name="connsiteY6" fmla="*/ 211455 h 1149350"/>
                <a:gd name="connsiteX7" fmla="*/ 1695450 w 1695450"/>
                <a:gd name="connsiteY7" fmla="*/ 0 h 1149350"/>
                <a:gd name="connsiteX0" fmla="*/ 0 w 1695450"/>
                <a:gd name="connsiteY0" fmla="*/ 1149350 h 1149350"/>
                <a:gd name="connsiteX1" fmla="*/ 400050 w 1695450"/>
                <a:gd name="connsiteY1" fmla="*/ 1035050 h 1149350"/>
                <a:gd name="connsiteX2" fmla="*/ 749300 w 1695450"/>
                <a:gd name="connsiteY2" fmla="*/ 889000 h 1149350"/>
                <a:gd name="connsiteX3" fmla="*/ 990600 w 1695450"/>
                <a:gd name="connsiteY3" fmla="*/ 749300 h 1149350"/>
                <a:gd name="connsiteX4" fmla="*/ 1244600 w 1695450"/>
                <a:gd name="connsiteY4" fmla="*/ 558800 h 1149350"/>
                <a:gd name="connsiteX5" fmla="*/ 1399222 w 1695450"/>
                <a:gd name="connsiteY5" fmla="*/ 395605 h 1149350"/>
                <a:gd name="connsiteX6" fmla="*/ 1552257 w 1695450"/>
                <a:gd name="connsiteY6" fmla="*/ 211455 h 1149350"/>
                <a:gd name="connsiteX7" fmla="*/ 1695450 w 1695450"/>
                <a:gd name="connsiteY7" fmla="*/ 0 h 114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5450" h="1149350">
                  <a:moveTo>
                    <a:pt x="0" y="1149350"/>
                  </a:moveTo>
                  <a:cubicBezTo>
                    <a:pt x="133350" y="1111250"/>
                    <a:pt x="275167" y="1078442"/>
                    <a:pt x="400050" y="1035050"/>
                  </a:cubicBezTo>
                  <a:cubicBezTo>
                    <a:pt x="524933" y="991658"/>
                    <a:pt x="650875" y="936625"/>
                    <a:pt x="749300" y="889000"/>
                  </a:cubicBezTo>
                  <a:cubicBezTo>
                    <a:pt x="847725" y="841375"/>
                    <a:pt x="908050" y="804333"/>
                    <a:pt x="990600" y="749300"/>
                  </a:cubicBezTo>
                  <a:cubicBezTo>
                    <a:pt x="1073150" y="694267"/>
                    <a:pt x="1171575" y="621242"/>
                    <a:pt x="1244600" y="558800"/>
                  </a:cubicBezTo>
                  <a:cubicBezTo>
                    <a:pt x="1317625" y="496358"/>
                    <a:pt x="1338897" y="463338"/>
                    <a:pt x="1399222" y="395605"/>
                  </a:cubicBezTo>
                  <a:cubicBezTo>
                    <a:pt x="1459547" y="327872"/>
                    <a:pt x="1507807" y="273897"/>
                    <a:pt x="1552257" y="211455"/>
                  </a:cubicBezTo>
                  <a:cubicBezTo>
                    <a:pt x="1596707" y="149013"/>
                    <a:pt x="1665817" y="50800"/>
                    <a:pt x="1695450" y="0"/>
                  </a:cubicBezTo>
                </a:path>
              </a:pathLst>
            </a:cu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704328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3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85" name="Text Box 61"/>
          <p:cNvSpPr txBox="1">
            <a:spLocks noChangeArrowheads="1"/>
          </p:cNvSpPr>
          <p:nvPr/>
        </p:nvSpPr>
        <p:spPr bwMode="auto">
          <a:xfrm>
            <a:off x="4357639" y="3072708"/>
            <a:ext cx="4560888" cy="1965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水的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动力黏滞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系数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：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/>
            </a:r>
            <a:b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</a:b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温度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，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水黏滞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性，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k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</a:t>
            </a: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测定</a:t>
            </a:r>
            <a:r>
              <a:rPr kumimoji="1" lang="zh-CN" altLang="zh-CN" sz="2400" b="1" dirty="0">
                <a:solidFill>
                  <a:srgbClr val="000066"/>
                </a:solidFill>
                <a:ea typeface="幼圆" pitchFamily="49" charset="-122"/>
              </a:rPr>
              <a:t>渗透系数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kumimoji="1" lang="zh-CN" altLang="zh-CN" sz="2400" b="1" dirty="0">
                <a:solidFill>
                  <a:srgbClr val="000066"/>
                </a:solidFill>
                <a:ea typeface="幼圆" pitchFamily="49" charset="-122"/>
              </a:rPr>
              <a:t>时，以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20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/>
              </a:rPr>
              <a:t>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C</a:t>
            </a:r>
            <a:r>
              <a:rPr kumimoji="1" lang="zh-CN" altLang="zh-CN" sz="2400" b="1" dirty="0">
                <a:solidFill>
                  <a:srgbClr val="000066"/>
                </a:solidFill>
                <a:ea typeface="幼圆" pitchFamily="49" charset="-122"/>
              </a:rPr>
              <a:t>作为标准温度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37115" name="Rectangle 91"/>
          <p:cNvSpPr>
            <a:spLocks noChangeArrowheads="1"/>
          </p:cNvSpPr>
          <p:nvPr/>
        </p:nvSpPr>
        <p:spPr bwMode="auto">
          <a:xfrm>
            <a:off x="703263" y="4438650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6326" name="Text Box 92"/>
          <p:cNvSpPr txBox="1">
            <a:spLocks noChangeArrowheads="1"/>
          </p:cNvSpPr>
          <p:nvPr/>
        </p:nvSpPr>
        <p:spPr bwMode="auto">
          <a:xfrm>
            <a:off x="266700" y="1117600"/>
            <a:ext cx="18637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土的性质</a:t>
            </a:r>
            <a:endParaRPr kumimoji="1"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endParaRPr kumimoji="1"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²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水的性质</a:t>
            </a:r>
            <a:endParaRPr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6327" name="Rectangle 93"/>
          <p:cNvSpPr>
            <a:spLocks noChangeArrowheads="1"/>
          </p:cNvSpPr>
          <p:nvPr/>
        </p:nvSpPr>
        <p:spPr bwMode="auto">
          <a:xfrm>
            <a:off x="217488" y="1109663"/>
            <a:ext cx="3178175" cy="4038600"/>
          </a:xfrm>
          <a:prstGeom prst="rect">
            <a:avLst/>
          </a:prstGeom>
          <a:noFill/>
          <a:ln w="38100" cmpd="dbl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渗透系数影响因素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2" name="AutoShape 24"/>
          <p:cNvSpPr>
            <a:spLocks noChangeArrowheads="1"/>
          </p:cNvSpPr>
          <p:nvPr/>
        </p:nvSpPr>
        <p:spPr bwMode="auto">
          <a:xfrm>
            <a:off x="3518980" y="4477543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39"/>
          <p:cNvSpPr>
            <a:spLocks noChangeArrowheads="1"/>
          </p:cNvSpPr>
          <p:nvPr/>
        </p:nvSpPr>
        <p:spPr bwMode="auto">
          <a:xfrm>
            <a:off x="2725738" y="5670550"/>
            <a:ext cx="4778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渗透系数的影响因素 </a:t>
            </a:r>
          </a:p>
        </p:txBody>
      </p:sp>
      <p:sp>
        <p:nvSpPr>
          <p:cNvPr id="13" name="Text Box 51"/>
          <p:cNvSpPr txBox="1">
            <a:spLocks noChangeArrowheads="1"/>
          </p:cNvSpPr>
          <p:nvPr/>
        </p:nvSpPr>
        <p:spPr bwMode="auto">
          <a:xfrm>
            <a:off x="673100" y="1827213"/>
            <a:ext cx="2709863" cy="260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粒径大小及级配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孔隙比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矿物成分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结构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饱和度</a:t>
            </a:r>
          </a:p>
        </p:txBody>
      </p:sp>
    </p:spTree>
    <p:extLst>
      <p:ext uri="{BB962C8B-B14F-4D97-AF65-F5344CB8AC3E}">
        <p14:creationId xmlns:p14="http://schemas.microsoft.com/office/powerpoint/2010/main" val="251085502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3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537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537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85" grpId="0"/>
      <p:bldP spid="1537115" grpId="0" animBg="1"/>
      <p:bldP spid="1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2449513" y="5708650"/>
            <a:ext cx="5942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层状地基的等效渗透系数</a:t>
            </a:r>
          </a:p>
        </p:txBody>
      </p:sp>
      <p:sp>
        <p:nvSpPr>
          <p:cNvPr id="1475588" name="Text Box 4"/>
          <p:cNvSpPr txBox="1">
            <a:spLocks noChangeArrowheads="1"/>
          </p:cNvSpPr>
          <p:nvPr/>
        </p:nvSpPr>
        <p:spPr bwMode="auto">
          <a:xfrm>
            <a:off x="1489075" y="3444875"/>
            <a:ext cx="2373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</a:rPr>
              <a:t>等效渗透系数</a:t>
            </a:r>
          </a:p>
        </p:txBody>
      </p:sp>
      <p:sp>
        <p:nvSpPr>
          <p:cNvPr id="1475589" name="AutoShape 5"/>
          <p:cNvSpPr>
            <a:spLocks noChangeArrowheads="1"/>
          </p:cNvSpPr>
          <p:nvPr/>
        </p:nvSpPr>
        <p:spPr bwMode="auto">
          <a:xfrm>
            <a:off x="3044825" y="1871663"/>
            <a:ext cx="5329238" cy="1052596"/>
          </a:xfrm>
          <a:prstGeom prst="leftArrowCallout">
            <a:avLst>
              <a:gd name="adj1" fmla="val 18130"/>
              <a:gd name="adj2" fmla="val 20241"/>
              <a:gd name="adj3" fmla="val 32536"/>
              <a:gd name="adj4" fmla="val 89829"/>
            </a:avLst>
          </a:prstGeom>
          <a:noFill/>
          <a:ln w="2857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确定各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层土的</a:t>
            </a:r>
            <a:r>
              <a:rPr kumimoji="1" lang="en-US" altLang="zh-CN" sz="2400" b="1" i="1" dirty="0" err="1" smtClean="0">
                <a:solidFill>
                  <a:srgbClr val="000066"/>
                </a:solidFill>
                <a:ea typeface="幼圆" pitchFamily="49" charset="-122"/>
              </a:rPr>
              <a:t>k</a:t>
            </a:r>
            <a:r>
              <a:rPr kumimoji="1"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</a:rPr>
              <a:t>j</a:t>
            </a:r>
            <a:endParaRPr kumimoji="1" lang="en-US" altLang="zh-CN" sz="2400" b="1" baseline="-25000" dirty="0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根据渗流方向确定等效渗流系数</a:t>
            </a:r>
          </a:p>
        </p:txBody>
      </p:sp>
      <p:sp>
        <p:nvSpPr>
          <p:cNvPr id="1475590" name="Text Box 6"/>
          <p:cNvSpPr txBox="1">
            <a:spLocks noChangeArrowheads="1"/>
          </p:cNvSpPr>
          <p:nvPr/>
        </p:nvSpPr>
        <p:spPr bwMode="auto">
          <a:xfrm>
            <a:off x="1517650" y="1063625"/>
            <a:ext cx="28575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天然土层多呈层状</a:t>
            </a:r>
          </a:p>
        </p:txBody>
      </p:sp>
      <p:sp>
        <p:nvSpPr>
          <p:cNvPr id="1475591" name="AutoShape 7"/>
          <p:cNvSpPr>
            <a:spLocks noChangeArrowheads="1"/>
          </p:cNvSpPr>
          <p:nvPr/>
        </p:nvSpPr>
        <p:spPr bwMode="auto">
          <a:xfrm rot="5400000">
            <a:off x="1655763" y="2100262"/>
            <a:ext cx="1339850" cy="898525"/>
          </a:xfrm>
          <a:custGeom>
            <a:avLst/>
            <a:gdLst>
              <a:gd name="T0" fmla="*/ 806391 w 21600"/>
              <a:gd name="T1" fmla="*/ 0 h 21600"/>
              <a:gd name="T2" fmla="*/ 0 w 21600"/>
              <a:gd name="T3" fmla="*/ 449263 h 21600"/>
              <a:gd name="T4" fmla="*/ 806391 w 21600"/>
              <a:gd name="T5" fmla="*/ 898525 h 21600"/>
              <a:gd name="T6" fmla="*/ 1339850 w 21600"/>
              <a:gd name="T7" fmla="*/ 44926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037 h 21600"/>
              <a:gd name="T14" fmla="*/ 17011 w 21600"/>
              <a:gd name="T15" fmla="*/ 1656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3000" y="0"/>
                </a:moveTo>
                <a:lnTo>
                  <a:pt x="13000" y="5037"/>
                </a:lnTo>
                <a:lnTo>
                  <a:pt x="3375" y="5037"/>
                </a:lnTo>
                <a:lnTo>
                  <a:pt x="3375" y="16563"/>
                </a:lnTo>
                <a:lnTo>
                  <a:pt x="13000" y="16563"/>
                </a:lnTo>
                <a:lnTo>
                  <a:pt x="130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037"/>
                </a:moveTo>
                <a:lnTo>
                  <a:pt x="1350" y="16563"/>
                </a:lnTo>
                <a:lnTo>
                  <a:pt x="2700" y="16563"/>
                </a:lnTo>
                <a:lnTo>
                  <a:pt x="2700" y="5037"/>
                </a:lnTo>
                <a:close/>
              </a:path>
              <a:path w="21600" h="21600">
                <a:moveTo>
                  <a:pt x="0" y="5037"/>
                </a:moveTo>
                <a:lnTo>
                  <a:pt x="0" y="16563"/>
                </a:lnTo>
                <a:lnTo>
                  <a:pt x="675" y="16563"/>
                </a:lnTo>
                <a:lnTo>
                  <a:pt x="675" y="5037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592" name="Text Box 8"/>
          <p:cNvSpPr txBox="1">
            <a:spLocks noChangeArrowheads="1"/>
          </p:cNvSpPr>
          <p:nvPr/>
        </p:nvSpPr>
        <p:spPr bwMode="auto">
          <a:xfrm>
            <a:off x="4056063" y="4173538"/>
            <a:ext cx="444976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多个土层用假想单一土层置换，使得其总体的透水性不变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75593" name="Freeform 9"/>
          <p:cNvSpPr>
            <a:spLocks/>
          </p:cNvSpPr>
          <p:nvPr/>
        </p:nvSpPr>
        <p:spPr bwMode="auto">
          <a:xfrm>
            <a:off x="2792413" y="4075113"/>
            <a:ext cx="1004887" cy="487362"/>
          </a:xfrm>
          <a:custGeom>
            <a:avLst/>
            <a:gdLst>
              <a:gd name="T0" fmla="*/ 0 w 326"/>
              <a:gd name="T1" fmla="*/ 0 h 307"/>
              <a:gd name="T2" fmla="*/ 0 w 326"/>
              <a:gd name="T3" fmla="*/ 307 h 307"/>
              <a:gd name="T4" fmla="*/ 326 w 326"/>
              <a:gd name="T5" fmla="*/ 307 h 307"/>
              <a:gd name="T6" fmla="*/ 0 60000 65536"/>
              <a:gd name="T7" fmla="*/ 0 60000 65536"/>
              <a:gd name="T8" fmla="*/ 0 60000 65536"/>
              <a:gd name="T9" fmla="*/ 0 w 326"/>
              <a:gd name="T10" fmla="*/ 0 h 307"/>
              <a:gd name="T11" fmla="*/ 326 w 326"/>
              <a:gd name="T12" fmla="*/ 307 h 3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6" h="307">
                <a:moveTo>
                  <a:pt x="0" y="0"/>
                </a:moveTo>
                <a:lnTo>
                  <a:pt x="0" y="307"/>
                </a:lnTo>
                <a:lnTo>
                  <a:pt x="326" y="307"/>
                </a:lnTo>
              </a:path>
            </a:pathLst>
          </a:custGeom>
          <a:noFill/>
          <a:ln w="38100">
            <a:solidFill>
              <a:srgbClr val="A5002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等效渗透系数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599442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4755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4755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4755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withGroup">
                            <p:stCondLst>
                              <p:cond delay="225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5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5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1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147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20" presetID="38" presetClass="entr" presetSubtype="0" accel="50000" fill="hold" grpId="0" nodeType="afterEffect">
                                  <p:stCondLst>
                                    <p:cond delay="3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7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7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7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102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7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7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7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5588" grpId="0" build="p" autoUpdateAnimBg="0"/>
      <p:bldP spid="1475589" grpId="0" animBg="1"/>
      <p:bldP spid="1475590" grpId="0"/>
      <p:bldP spid="1475591" grpId="0" animBg="1"/>
      <p:bldP spid="1475592" grpId="0"/>
      <p:bldP spid="147559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6" name="Rectangle 3"/>
          <p:cNvSpPr>
            <a:spLocks noChangeArrowheads="1"/>
          </p:cNvSpPr>
          <p:nvPr/>
        </p:nvSpPr>
        <p:spPr bwMode="auto">
          <a:xfrm>
            <a:off x="4221163" y="874713"/>
            <a:ext cx="4722812" cy="38433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4367" name="Freeform 86"/>
          <p:cNvSpPr>
            <a:spLocks/>
          </p:cNvSpPr>
          <p:nvPr/>
        </p:nvSpPr>
        <p:spPr bwMode="auto">
          <a:xfrm>
            <a:off x="5459835" y="2172076"/>
            <a:ext cx="3102306" cy="45719"/>
          </a:xfrm>
          <a:custGeom>
            <a:avLst/>
            <a:gdLst>
              <a:gd name="T0" fmla="*/ 0 w 2881"/>
              <a:gd name="T1" fmla="*/ 0 h 1"/>
              <a:gd name="T2" fmla="*/ 2881 w 2881"/>
              <a:gd name="T3" fmla="*/ 0 h 1"/>
              <a:gd name="T4" fmla="*/ 0 60000 65536"/>
              <a:gd name="T5" fmla="*/ 0 60000 65536"/>
              <a:gd name="T6" fmla="*/ 0 w 2881"/>
              <a:gd name="T7" fmla="*/ 0 h 1"/>
              <a:gd name="T8" fmla="*/ 2881 w 2881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81" h="1">
                <a:moveTo>
                  <a:pt x="0" y="0"/>
                </a:moveTo>
                <a:lnTo>
                  <a:pt x="2881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rIns="0">
            <a:spAutoFit/>
          </a:bodyPr>
          <a:lstStyle/>
          <a:p>
            <a:endParaRPr lang="zh-CN" altLang="en-US"/>
          </a:p>
        </p:txBody>
      </p:sp>
      <p:sp>
        <p:nvSpPr>
          <p:cNvPr id="14397" name="Text Box 116"/>
          <p:cNvSpPr txBox="1">
            <a:spLocks noChangeArrowheads="1"/>
          </p:cNvSpPr>
          <p:nvPr/>
        </p:nvSpPr>
        <p:spPr bwMode="auto">
          <a:xfrm>
            <a:off x="8259148" y="1684394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476738" name="Text Box 130"/>
          <p:cNvSpPr txBox="1">
            <a:spLocks noChangeArrowheads="1"/>
          </p:cNvSpPr>
          <p:nvPr/>
        </p:nvSpPr>
        <p:spPr bwMode="auto">
          <a:xfrm>
            <a:off x="2195513" y="4911725"/>
            <a:ext cx="24479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ea typeface="幼圆" pitchFamily="49" charset="-122"/>
                <a:cs typeface="Times New Roman" panose="02020603050405020304" pitchFamily="18" charset="0"/>
              </a:rPr>
              <a:t>等效渗透系数</a:t>
            </a:r>
            <a:r>
              <a:rPr lang="en-US" altLang="zh-CN" sz="2400" b="1">
                <a:ea typeface="幼圆" pitchFamily="49" charset="-122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476739" name="Object 1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444718"/>
              </p:ext>
            </p:extLst>
          </p:nvPr>
        </p:nvGraphicFramePr>
        <p:xfrm>
          <a:off x="4837113" y="4733925"/>
          <a:ext cx="2006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4" name="公式" r:id="rId4" imgW="1002960" imgH="393480" progId="Equation.3">
                  <p:embed/>
                </p:oleObj>
              </mc:Choice>
              <mc:Fallback>
                <p:oleObj name="公式" r:id="rId4" imgW="1002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4733925"/>
                        <a:ext cx="2006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35"/>
          <p:cNvGrpSpPr>
            <a:grpSpLocks/>
          </p:cNvGrpSpPr>
          <p:nvPr/>
        </p:nvGrpSpPr>
        <p:grpSpPr bwMode="auto">
          <a:xfrm>
            <a:off x="385246" y="999132"/>
            <a:ext cx="3802067" cy="3262316"/>
            <a:chOff x="269" y="539"/>
            <a:chExt cx="2395" cy="2055"/>
          </a:xfrm>
        </p:grpSpPr>
        <p:sp>
          <p:nvSpPr>
            <p:cNvPr id="14349" name="Text Box 136"/>
            <p:cNvSpPr txBox="1">
              <a:spLocks noChangeArrowheads="1"/>
            </p:cNvSpPr>
            <p:nvPr/>
          </p:nvSpPr>
          <p:spPr bwMode="auto">
            <a:xfrm>
              <a:off x="276" y="575"/>
              <a:ext cx="10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n"/>
              </a:pPr>
              <a:r>
                <a:rPr lang="zh-CN" altLang="en-US" sz="2400" b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rPr>
                <a:t> 已知条件</a:t>
              </a:r>
              <a:r>
                <a:rPr lang="en-US" altLang="zh-CN" sz="2400" b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rPr>
                <a:t>:</a:t>
              </a:r>
            </a:p>
          </p:txBody>
        </p:sp>
        <p:graphicFrame>
          <p:nvGraphicFramePr>
            <p:cNvPr id="14339" name="Object 1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3609339"/>
                </p:ext>
              </p:extLst>
            </p:nvPr>
          </p:nvGraphicFramePr>
          <p:xfrm>
            <a:off x="1485" y="853"/>
            <a:ext cx="880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5" name="公式" r:id="rId6" imgW="698400" imgH="393480" progId="Equation.3">
                    <p:embed/>
                  </p:oleObj>
                </mc:Choice>
                <mc:Fallback>
                  <p:oleObj name="公式" r:id="rId6" imgW="6984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5" y="853"/>
                          <a:ext cx="880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0" name="Object 1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5165550"/>
                </p:ext>
              </p:extLst>
            </p:nvPr>
          </p:nvGraphicFramePr>
          <p:xfrm>
            <a:off x="1424" y="2274"/>
            <a:ext cx="864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6" name="公式" r:id="rId8" imgW="685800" imgH="253800" progId="Equation.3">
                    <p:embed/>
                  </p:oleObj>
                </mc:Choice>
                <mc:Fallback>
                  <p:oleObj name="公式" r:id="rId8" imgW="6858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4" y="2274"/>
                          <a:ext cx="864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1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3509431"/>
                </p:ext>
              </p:extLst>
            </p:nvPr>
          </p:nvGraphicFramePr>
          <p:xfrm>
            <a:off x="1485" y="539"/>
            <a:ext cx="89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37" name="公式" r:id="rId10" imgW="711000" imgH="253800" progId="Equation.3">
                    <p:embed/>
                  </p:oleObj>
                </mc:Choice>
                <mc:Fallback>
                  <p:oleObj name="公式" r:id="rId10" imgW="7110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5" y="539"/>
                          <a:ext cx="896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0" name="Text Box 140"/>
            <p:cNvSpPr txBox="1">
              <a:spLocks noChangeArrowheads="1"/>
            </p:cNvSpPr>
            <p:nvPr/>
          </p:nvSpPr>
          <p:spPr bwMode="auto">
            <a:xfrm>
              <a:off x="1406" y="1814"/>
              <a:ext cx="125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 smtClean="0">
                  <a:cs typeface="Times New Roman" panose="02020603050405020304" pitchFamily="18" charset="0"/>
                </a:rPr>
                <a:t>q</a:t>
              </a:r>
              <a:r>
                <a:rPr lang="en-US" altLang="zh-CN" sz="2400" b="1" baseline="-25000" dirty="0" err="1" smtClean="0"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dirty="0" smtClean="0">
                  <a:cs typeface="Times New Roman" panose="02020603050405020304" pitchFamily="18" charset="0"/>
                </a:rPr>
                <a:t>=</a:t>
              </a:r>
              <a:r>
                <a:rPr lang="en-US" altLang="zh-CN" sz="2400" b="1" i="1" dirty="0" err="1" smtClean="0">
                  <a:cs typeface="Times New Roman" panose="02020603050405020304" pitchFamily="18" charset="0"/>
                </a:rPr>
                <a:t>k</a:t>
              </a:r>
              <a:r>
                <a:rPr lang="en-US" altLang="zh-CN" sz="2400" b="1" baseline="-25000" dirty="0" err="1" smtClean="0"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 dirty="0" smtClean="0"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 err="1">
                  <a:cs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cs typeface="Times New Roman" panose="02020603050405020304" pitchFamily="18" charset="0"/>
                </a:rPr>
                <a:t> H</a:t>
              </a:r>
            </a:p>
          </p:txBody>
        </p:sp>
        <p:sp>
          <p:nvSpPr>
            <p:cNvPr id="14351" name="Text Box 141"/>
            <p:cNvSpPr txBox="1">
              <a:spLocks noChangeArrowheads="1"/>
            </p:cNvSpPr>
            <p:nvPr/>
          </p:nvSpPr>
          <p:spPr bwMode="auto">
            <a:xfrm>
              <a:off x="1408" y="1447"/>
              <a:ext cx="1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 smtClean="0">
                  <a:ea typeface="华文新魏" pitchFamily="2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="1" baseline="-25000" dirty="0" err="1" smtClean="0">
                  <a:ea typeface="华文新魏" pitchFamily="2" charset="-122"/>
                  <a:cs typeface="Times New Roman" panose="02020603050405020304" pitchFamily="18" charset="0"/>
                </a:rPr>
                <a:t>jx</a:t>
              </a:r>
              <a:r>
                <a:rPr lang="en-US" altLang="zh-CN" sz="2400" b="1" dirty="0" smtClean="0">
                  <a:ea typeface="华文新魏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400" b="1" i="1" dirty="0" err="1" smtClean="0">
                  <a:cs typeface="Times New Roman" panose="02020603050405020304" pitchFamily="18" charset="0"/>
                </a:rPr>
                <a:t>k</a:t>
              </a:r>
              <a:r>
                <a:rPr lang="en-US" altLang="zh-CN" sz="2400" b="1" baseline="-25000" dirty="0" err="1" smtClean="0">
                  <a:cs typeface="Times New Roman" panose="02020603050405020304" pitchFamily="18" charset="0"/>
                </a:rPr>
                <a:t>j</a:t>
              </a:r>
              <a:r>
                <a:rPr lang="en-US" altLang="zh-CN" sz="2400" b="1" i="1" baseline="-25000" dirty="0" smtClean="0"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 err="1" smtClean="0"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 err="1">
                  <a:cs typeface="Times New Roman" panose="02020603050405020304" pitchFamily="18" charset="0"/>
                </a:rPr>
                <a:t>j</a:t>
              </a:r>
              <a:r>
                <a:rPr lang="en-US" altLang="zh-CN" sz="2400" b="1" i="1" baseline="-25000" dirty="0" smtClean="0"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 err="1" smtClean="0">
                  <a:cs typeface="Times New Roman" panose="02020603050405020304" pitchFamily="18" charset="0"/>
                </a:rPr>
                <a:t>H</a:t>
              </a:r>
              <a:r>
                <a:rPr lang="en-US" altLang="zh-CN" sz="2400" b="1" baseline="-25000" dirty="0" err="1">
                  <a:cs typeface="Times New Roman" panose="02020603050405020304" pitchFamily="18" charset="0"/>
                </a:rPr>
                <a:t>j</a:t>
              </a:r>
              <a:endParaRPr lang="el-GR" altLang="zh-CN" sz="2400" b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14352" name="Text Box 142"/>
            <p:cNvSpPr txBox="1">
              <a:spLocks noChangeArrowheads="1"/>
            </p:cNvSpPr>
            <p:nvPr/>
          </p:nvSpPr>
          <p:spPr bwMode="auto">
            <a:xfrm>
              <a:off x="277" y="1478"/>
              <a:ext cx="11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n"/>
              </a:pPr>
              <a:r>
                <a:rPr lang="zh-CN" altLang="en-US" sz="24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rPr>
                <a:t> 达西定律</a:t>
              </a:r>
              <a:r>
                <a:rPr lang="en-US" altLang="zh-CN" sz="24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4353" name="Text Box 143"/>
            <p:cNvSpPr txBox="1">
              <a:spLocks noChangeArrowheads="1"/>
            </p:cNvSpPr>
            <p:nvPr/>
          </p:nvSpPr>
          <p:spPr bwMode="auto">
            <a:xfrm>
              <a:off x="269" y="2286"/>
              <a:ext cx="11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n"/>
              </a:pPr>
              <a:r>
                <a:rPr lang="zh-CN" altLang="en-US" sz="24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rPr>
                <a:t> 等效条件</a:t>
              </a:r>
              <a:r>
                <a:rPr lang="en-US" altLang="zh-CN" sz="24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rPr>
                <a:t>:</a:t>
              </a:r>
            </a:p>
          </p:txBody>
        </p:sp>
      </p:grpSp>
      <p:sp>
        <p:nvSpPr>
          <p:cNvPr id="1476752" name="AutoShape 144"/>
          <p:cNvSpPr>
            <a:spLocks noChangeArrowheads="1"/>
          </p:cNvSpPr>
          <p:nvPr/>
        </p:nvSpPr>
        <p:spPr bwMode="auto">
          <a:xfrm>
            <a:off x="1279525" y="4781550"/>
            <a:ext cx="671513" cy="496888"/>
          </a:xfrm>
          <a:prstGeom prst="homePlate">
            <a:avLst>
              <a:gd name="adj" fmla="val 33786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4348" name="Rectangle 145"/>
          <p:cNvSpPr>
            <a:spLocks noChangeArrowheads="1"/>
          </p:cNvSpPr>
          <p:nvPr/>
        </p:nvSpPr>
        <p:spPr bwMode="auto">
          <a:xfrm>
            <a:off x="1897063" y="5768975"/>
            <a:ext cx="68087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层状地基的水平等效渗透系数</a:t>
            </a:r>
          </a:p>
        </p:txBody>
      </p:sp>
      <p:sp>
        <p:nvSpPr>
          <p:cNvPr id="14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7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等效渗透系数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48" name="Rectangle 2594"/>
          <p:cNvSpPr>
            <a:spLocks noChangeArrowheads="1"/>
          </p:cNvSpPr>
          <p:nvPr/>
        </p:nvSpPr>
        <p:spPr bwMode="auto">
          <a:xfrm>
            <a:off x="5164138" y="1243013"/>
            <a:ext cx="111552" cy="1211262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149" name="Line 2607"/>
          <p:cNvSpPr>
            <a:spLocks noChangeShapeType="1"/>
          </p:cNvSpPr>
          <p:nvPr/>
        </p:nvSpPr>
        <p:spPr bwMode="auto">
          <a:xfrm>
            <a:off x="5164138" y="1139825"/>
            <a:ext cx="0" cy="1335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50" name="Line 2608"/>
          <p:cNvSpPr>
            <a:spLocks noChangeShapeType="1"/>
          </p:cNvSpPr>
          <p:nvPr/>
        </p:nvSpPr>
        <p:spPr bwMode="auto">
          <a:xfrm>
            <a:off x="5270500" y="1139825"/>
            <a:ext cx="0" cy="1319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51" name="Line 2609"/>
          <p:cNvSpPr>
            <a:spLocks noChangeShapeType="1"/>
          </p:cNvSpPr>
          <p:nvPr/>
        </p:nvSpPr>
        <p:spPr bwMode="auto">
          <a:xfrm>
            <a:off x="5164138" y="1246188"/>
            <a:ext cx="106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52" name="Line 2610"/>
          <p:cNvSpPr>
            <a:spLocks noChangeShapeType="1"/>
          </p:cNvSpPr>
          <p:nvPr/>
        </p:nvSpPr>
        <p:spPr bwMode="auto">
          <a:xfrm>
            <a:off x="5170488" y="1285875"/>
            <a:ext cx="58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53" name="Line 2611"/>
          <p:cNvSpPr>
            <a:spLocks noChangeShapeType="1"/>
          </p:cNvSpPr>
          <p:nvPr/>
        </p:nvSpPr>
        <p:spPr bwMode="auto">
          <a:xfrm>
            <a:off x="5164138" y="1325563"/>
            <a:ext cx="58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55" name="Line 2592"/>
          <p:cNvSpPr>
            <a:spLocks noChangeShapeType="1"/>
          </p:cNvSpPr>
          <p:nvPr/>
        </p:nvSpPr>
        <p:spPr bwMode="auto">
          <a:xfrm rot="16200000">
            <a:off x="6337300" y="2914650"/>
            <a:ext cx="0" cy="270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56" name="Text Box 2595"/>
          <p:cNvSpPr txBox="1">
            <a:spLocks noChangeArrowheads="1"/>
          </p:cNvSpPr>
          <p:nvPr/>
        </p:nvSpPr>
        <p:spPr bwMode="auto">
          <a:xfrm>
            <a:off x="7086600" y="1460500"/>
            <a:ext cx="490940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800" b="1" i="1">
                <a:latin typeface="Times New Roman" pitchFamily="18" charset="0"/>
                <a:sym typeface="Symbol" pitchFamily="18" charset="2"/>
              </a:rPr>
              <a:t>h</a:t>
            </a:r>
            <a:endParaRPr lang="en-US" altLang="zh-CN" sz="1800" b="1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57" name="Line 2596"/>
          <p:cNvSpPr>
            <a:spLocks noChangeShapeType="1"/>
          </p:cNvSpPr>
          <p:nvPr/>
        </p:nvSpPr>
        <p:spPr bwMode="auto">
          <a:xfrm>
            <a:off x="7151688" y="1252538"/>
            <a:ext cx="0" cy="738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58" name="Line 2597"/>
          <p:cNvSpPr>
            <a:spLocks noChangeShapeType="1"/>
          </p:cNvSpPr>
          <p:nvPr/>
        </p:nvSpPr>
        <p:spPr bwMode="auto">
          <a:xfrm flipH="1">
            <a:off x="6202363" y="1250950"/>
            <a:ext cx="1125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59" name="Text Box 2598"/>
          <p:cNvSpPr txBox="1">
            <a:spLocks noChangeArrowheads="1"/>
          </p:cNvSpPr>
          <p:nvPr/>
        </p:nvSpPr>
        <p:spPr bwMode="auto">
          <a:xfrm>
            <a:off x="6161088" y="4081463"/>
            <a:ext cx="362700" cy="429366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L</a:t>
            </a:r>
          </a:p>
        </p:txBody>
      </p:sp>
      <p:sp>
        <p:nvSpPr>
          <p:cNvPr id="160" name="Line 2599"/>
          <p:cNvSpPr>
            <a:spLocks noChangeShapeType="1"/>
          </p:cNvSpPr>
          <p:nvPr/>
        </p:nvSpPr>
        <p:spPr bwMode="auto">
          <a:xfrm flipH="1">
            <a:off x="7018338" y="1992313"/>
            <a:ext cx="657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61" name="Line 2601"/>
          <p:cNvSpPr>
            <a:spLocks noChangeShapeType="1"/>
          </p:cNvSpPr>
          <p:nvPr/>
        </p:nvSpPr>
        <p:spPr bwMode="auto">
          <a:xfrm>
            <a:off x="4956175" y="3054350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62" name="Line 2602"/>
          <p:cNvSpPr>
            <a:spLocks noChangeShapeType="1"/>
          </p:cNvSpPr>
          <p:nvPr/>
        </p:nvSpPr>
        <p:spPr bwMode="auto">
          <a:xfrm>
            <a:off x="4967244" y="3487752"/>
            <a:ext cx="271769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63" name="Line 2604"/>
          <p:cNvSpPr>
            <a:spLocks noChangeShapeType="1"/>
          </p:cNvSpPr>
          <p:nvPr/>
        </p:nvSpPr>
        <p:spPr bwMode="auto">
          <a:xfrm>
            <a:off x="5028018" y="2811463"/>
            <a:ext cx="434975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64" name="Line 2605"/>
          <p:cNvSpPr>
            <a:spLocks noChangeShapeType="1"/>
          </p:cNvSpPr>
          <p:nvPr/>
        </p:nvSpPr>
        <p:spPr bwMode="auto">
          <a:xfrm>
            <a:off x="5028018" y="3282950"/>
            <a:ext cx="434975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65" name="Line 2606"/>
          <p:cNvSpPr>
            <a:spLocks noChangeShapeType="1"/>
          </p:cNvSpPr>
          <p:nvPr/>
        </p:nvSpPr>
        <p:spPr bwMode="auto">
          <a:xfrm>
            <a:off x="5028018" y="3792538"/>
            <a:ext cx="434975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66" name="Text Box 2617"/>
          <p:cNvSpPr txBox="1">
            <a:spLocks noChangeArrowheads="1"/>
          </p:cNvSpPr>
          <p:nvPr/>
        </p:nvSpPr>
        <p:spPr bwMode="auto">
          <a:xfrm>
            <a:off x="5391606" y="2613025"/>
            <a:ext cx="490940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q</a:t>
            </a:r>
            <a:r>
              <a:rPr lang="en-US" altLang="zh-CN" sz="1800" b="1" baseline="-25000" dirty="0">
                <a:latin typeface="Times New Roman" pitchFamily="18" charset="0"/>
                <a:sym typeface="Symbol" pitchFamily="18" charset="2"/>
              </a:rPr>
              <a:t>1x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67" name="Text Box 2618"/>
          <p:cNvSpPr txBox="1">
            <a:spLocks noChangeArrowheads="1"/>
          </p:cNvSpPr>
          <p:nvPr/>
        </p:nvSpPr>
        <p:spPr bwMode="auto">
          <a:xfrm>
            <a:off x="5405894" y="3062288"/>
            <a:ext cx="490940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q</a:t>
            </a:r>
            <a:r>
              <a:rPr lang="en-US" altLang="zh-CN" sz="1800" b="1" baseline="-25000" dirty="0">
                <a:latin typeface="Times New Roman" pitchFamily="18" charset="0"/>
                <a:sym typeface="Symbol" pitchFamily="18" charset="2"/>
              </a:rPr>
              <a:t>2x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68" name="Text Box 2619"/>
          <p:cNvSpPr txBox="1">
            <a:spLocks noChangeArrowheads="1"/>
          </p:cNvSpPr>
          <p:nvPr/>
        </p:nvSpPr>
        <p:spPr bwMode="auto">
          <a:xfrm>
            <a:off x="5402719" y="3587750"/>
            <a:ext cx="490940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q</a:t>
            </a:r>
            <a:r>
              <a:rPr lang="en-US" altLang="zh-CN" sz="1800" b="1" baseline="-25000" dirty="0">
                <a:latin typeface="Times New Roman" pitchFamily="18" charset="0"/>
                <a:sym typeface="Symbol" pitchFamily="18" charset="2"/>
              </a:rPr>
              <a:t>3x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69" name="Text Box 2620"/>
          <p:cNvSpPr txBox="1">
            <a:spLocks noChangeArrowheads="1"/>
          </p:cNvSpPr>
          <p:nvPr/>
        </p:nvSpPr>
        <p:spPr bwMode="auto">
          <a:xfrm>
            <a:off x="5829938" y="2603500"/>
            <a:ext cx="41399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k</a:t>
            </a:r>
            <a:r>
              <a:rPr lang="en-US" altLang="zh-CN" sz="1800" b="1" baseline="-25000" dirty="0">
                <a:latin typeface="Times New Roman" pitchFamily="18" charset="0"/>
                <a:sym typeface="Symbol" pitchFamily="18" charset="2"/>
              </a:rPr>
              <a:t>1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70" name="Text Box 2621"/>
          <p:cNvSpPr txBox="1">
            <a:spLocks noChangeArrowheads="1"/>
          </p:cNvSpPr>
          <p:nvPr/>
        </p:nvSpPr>
        <p:spPr bwMode="auto">
          <a:xfrm>
            <a:off x="5844225" y="3052763"/>
            <a:ext cx="41399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k</a:t>
            </a:r>
            <a:r>
              <a:rPr lang="en-US" altLang="zh-CN" sz="1800" b="1" baseline="-25000" dirty="0">
                <a:latin typeface="Times New Roman" pitchFamily="18" charset="0"/>
                <a:sym typeface="Symbol" pitchFamily="18" charset="2"/>
              </a:rPr>
              <a:t>2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71" name="Text Box 2622"/>
          <p:cNvSpPr txBox="1">
            <a:spLocks noChangeArrowheads="1"/>
          </p:cNvSpPr>
          <p:nvPr/>
        </p:nvSpPr>
        <p:spPr bwMode="auto">
          <a:xfrm>
            <a:off x="5841050" y="3578225"/>
            <a:ext cx="41399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k</a:t>
            </a:r>
            <a:r>
              <a:rPr lang="en-US" altLang="zh-CN" sz="1800" b="1" baseline="-25000" dirty="0">
                <a:latin typeface="Times New Roman" pitchFamily="18" charset="0"/>
                <a:sym typeface="Symbol" pitchFamily="18" charset="2"/>
              </a:rPr>
              <a:t>3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73" name="Line 2625"/>
          <p:cNvSpPr>
            <a:spLocks noChangeShapeType="1"/>
          </p:cNvSpPr>
          <p:nvPr/>
        </p:nvSpPr>
        <p:spPr bwMode="auto">
          <a:xfrm>
            <a:off x="6250139" y="2528888"/>
            <a:ext cx="0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74" name="Line 2626"/>
          <p:cNvSpPr>
            <a:spLocks noChangeShapeType="1"/>
          </p:cNvSpPr>
          <p:nvPr/>
        </p:nvSpPr>
        <p:spPr bwMode="auto">
          <a:xfrm>
            <a:off x="6251727" y="3065463"/>
            <a:ext cx="0" cy="407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75" name="Line 2627"/>
          <p:cNvSpPr>
            <a:spLocks noChangeShapeType="1"/>
          </p:cNvSpPr>
          <p:nvPr/>
        </p:nvSpPr>
        <p:spPr bwMode="auto">
          <a:xfrm>
            <a:off x="6254902" y="3487738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77" name="Text Box 2629"/>
          <p:cNvSpPr txBox="1">
            <a:spLocks noChangeArrowheads="1"/>
          </p:cNvSpPr>
          <p:nvPr/>
        </p:nvSpPr>
        <p:spPr bwMode="auto">
          <a:xfrm>
            <a:off x="6207277" y="2608263"/>
            <a:ext cx="47811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</a:rPr>
              <a:t>H</a:t>
            </a:r>
            <a:r>
              <a:rPr lang="en-US" altLang="zh-CN" sz="1800" b="1" baseline="-25000" dirty="0">
                <a:latin typeface="Times New Roman" pitchFamily="18" charset="0"/>
              </a:rPr>
              <a:t>1</a:t>
            </a:r>
            <a:endParaRPr lang="en-US" altLang="zh-CN" sz="1800" b="1" dirty="0">
              <a:latin typeface="Times New Roman" pitchFamily="18" charset="0"/>
            </a:endParaRPr>
          </a:p>
        </p:txBody>
      </p:sp>
      <p:sp>
        <p:nvSpPr>
          <p:cNvPr id="178" name="Text Box 2630"/>
          <p:cNvSpPr txBox="1">
            <a:spLocks noChangeArrowheads="1"/>
          </p:cNvSpPr>
          <p:nvPr/>
        </p:nvSpPr>
        <p:spPr bwMode="auto">
          <a:xfrm>
            <a:off x="6229502" y="3071813"/>
            <a:ext cx="47811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</a:rPr>
              <a:t>H</a:t>
            </a:r>
            <a:r>
              <a:rPr lang="en-US" altLang="zh-CN" sz="1800" b="1" baseline="-25000" dirty="0">
                <a:latin typeface="Times New Roman" pitchFamily="18" charset="0"/>
              </a:rPr>
              <a:t>2</a:t>
            </a:r>
            <a:endParaRPr lang="en-US" altLang="zh-CN" sz="1800" b="1" dirty="0">
              <a:latin typeface="Times New Roman" pitchFamily="18" charset="0"/>
            </a:endParaRPr>
          </a:p>
        </p:txBody>
      </p:sp>
      <p:sp>
        <p:nvSpPr>
          <p:cNvPr id="179" name="Text Box 2631"/>
          <p:cNvSpPr txBox="1">
            <a:spLocks noChangeArrowheads="1"/>
          </p:cNvSpPr>
          <p:nvPr/>
        </p:nvSpPr>
        <p:spPr bwMode="auto">
          <a:xfrm>
            <a:off x="6243789" y="3573463"/>
            <a:ext cx="47811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</a:rPr>
              <a:t>H</a:t>
            </a:r>
            <a:r>
              <a:rPr lang="en-US" altLang="zh-CN" sz="1800" b="1" baseline="-25000" dirty="0">
                <a:latin typeface="Times New Roman" pitchFamily="18" charset="0"/>
              </a:rPr>
              <a:t>3</a:t>
            </a:r>
            <a:endParaRPr lang="en-US" altLang="zh-CN" sz="1800" b="1" dirty="0">
              <a:latin typeface="Times New Roman" pitchFamily="18" charset="0"/>
            </a:endParaRPr>
          </a:p>
        </p:txBody>
      </p:sp>
      <p:sp>
        <p:nvSpPr>
          <p:cNvPr id="181" name="Text Box 2633"/>
          <p:cNvSpPr txBox="1">
            <a:spLocks noChangeArrowheads="1"/>
          </p:cNvSpPr>
          <p:nvPr/>
        </p:nvSpPr>
        <p:spPr bwMode="auto">
          <a:xfrm>
            <a:off x="4683125" y="2008139"/>
            <a:ext cx="337052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Times New Roman" pitchFamily="18" charset="0"/>
              </a:rPr>
              <a:t>1</a:t>
            </a:r>
          </a:p>
        </p:txBody>
      </p:sp>
      <p:sp>
        <p:nvSpPr>
          <p:cNvPr id="182" name="Text Box 2634"/>
          <p:cNvSpPr txBox="1">
            <a:spLocks noChangeArrowheads="1"/>
          </p:cNvSpPr>
          <p:nvPr/>
        </p:nvSpPr>
        <p:spPr bwMode="auto">
          <a:xfrm>
            <a:off x="4660900" y="4075113"/>
            <a:ext cx="337052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Times New Roman" pitchFamily="18" charset="0"/>
              </a:rPr>
              <a:t>1</a:t>
            </a:r>
          </a:p>
        </p:txBody>
      </p:sp>
      <p:sp>
        <p:nvSpPr>
          <p:cNvPr id="184" name="Text Box 2636"/>
          <p:cNvSpPr txBox="1">
            <a:spLocks noChangeArrowheads="1"/>
          </p:cNvSpPr>
          <p:nvPr/>
        </p:nvSpPr>
        <p:spPr bwMode="auto">
          <a:xfrm>
            <a:off x="7650163" y="4078288"/>
            <a:ext cx="337052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Times New Roman" pitchFamily="18" charset="0"/>
              </a:rPr>
              <a:t>2</a:t>
            </a:r>
          </a:p>
        </p:txBody>
      </p:sp>
      <p:sp>
        <p:nvSpPr>
          <p:cNvPr id="186" name="Freeform 2643"/>
          <p:cNvSpPr>
            <a:spLocks/>
          </p:cNvSpPr>
          <p:nvPr/>
        </p:nvSpPr>
        <p:spPr bwMode="auto">
          <a:xfrm>
            <a:off x="7683500" y="2166938"/>
            <a:ext cx="503238" cy="1858962"/>
          </a:xfrm>
          <a:custGeom>
            <a:avLst/>
            <a:gdLst>
              <a:gd name="T0" fmla="*/ 0 w 324"/>
              <a:gd name="T1" fmla="*/ 2147483647 h 1171"/>
              <a:gd name="T2" fmla="*/ 781631125 w 324"/>
              <a:gd name="T3" fmla="*/ 2147483647 h 1171"/>
              <a:gd name="T4" fmla="*/ 781631125 w 324"/>
              <a:gd name="T5" fmla="*/ 0 h 11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4" h="1171">
                <a:moveTo>
                  <a:pt x="0" y="1171"/>
                </a:moveTo>
                <a:lnTo>
                  <a:pt x="324" y="951"/>
                </a:lnTo>
                <a:lnTo>
                  <a:pt x="324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88" name="Line 2645"/>
          <p:cNvSpPr>
            <a:spLocks noChangeShapeType="1"/>
          </p:cNvSpPr>
          <p:nvPr/>
        </p:nvSpPr>
        <p:spPr bwMode="auto">
          <a:xfrm flipV="1">
            <a:off x="7693025" y="2711450"/>
            <a:ext cx="487363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89" name="Line 2646"/>
          <p:cNvSpPr>
            <a:spLocks noChangeShapeType="1"/>
          </p:cNvSpPr>
          <p:nvPr/>
        </p:nvSpPr>
        <p:spPr bwMode="auto">
          <a:xfrm flipV="1">
            <a:off x="7693812" y="3148814"/>
            <a:ext cx="490537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90" name="Line 2647"/>
          <p:cNvSpPr>
            <a:spLocks noChangeShapeType="1"/>
          </p:cNvSpPr>
          <p:nvPr/>
        </p:nvSpPr>
        <p:spPr bwMode="auto">
          <a:xfrm>
            <a:off x="4960938" y="2190998"/>
            <a:ext cx="0" cy="334716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91" name="Line 2648"/>
          <p:cNvSpPr>
            <a:spLocks noChangeShapeType="1"/>
          </p:cNvSpPr>
          <p:nvPr/>
        </p:nvSpPr>
        <p:spPr bwMode="auto">
          <a:xfrm>
            <a:off x="4960938" y="4022725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99" name="Line 2651"/>
          <p:cNvSpPr>
            <a:spLocks noChangeShapeType="1"/>
          </p:cNvSpPr>
          <p:nvPr/>
        </p:nvSpPr>
        <p:spPr bwMode="auto">
          <a:xfrm>
            <a:off x="4956175" y="4198938"/>
            <a:ext cx="0" cy="131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" name="矩形 2"/>
          <p:cNvSpPr/>
          <p:nvPr/>
        </p:nvSpPr>
        <p:spPr bwMode="auto">
          <a:xfrm>
            <a:off x="6720560" y="2519131"/>
            <a:ext cx="959277" cy="1512000"/>
          </a:xfrm>
          <a:prstGeom prst="rect">
            <a:avLst/>
          </a:prstGeom>
          <a:solidFill>
            <a:srgbClr val="CC9900">
              <a:alpha val="8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4" name="AutoShape 2641"/>
          <p:cNvSpPr>
            <a:spLocks noChangeArrowheads="1"/>
          </p:cNvSpPr>
          <p:nvPr/>
        </p:nvSpPr>
        <p:spPr bwMode="auto">
          <a:xfrm>
            <a:off x="4965700" y="2168525"/>
            <a:ext cx="3213100" cy="342900"/>
          </a:xfrm>
          <a:prstGeom prst="parallelogram">
            <a:avLst>
              <a:gd name="adj" fmla="val 146369"/>
            </a:avLst>
          </a:prstGeom>
          <a:solidFill>
            <a:srgbClr val="FF993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185" name="Freeform 2642"/>
          <p:cNvSpPr>
            <a:spLocks/>
          </p:cNvSpPr>
          <p:nvPr/>
        </p:nvSpPr>
        <p:spPr bwMode="auto">
          <a:xfrm>
            <a:off x="4960938" y="2516188"/>
            <a:ext cx="2724150" cy="1511300"/>
          </a:xfrm>
          <a:custGeom>
            <a:avLst/>
            <a:gdLst>
              <a:gd name="T0" fmla="*/ 0 w 1718"/>
              <a:gd name="T1" fmla="*/ 0 h 952"/>
              <a:gd name="T2" fmla="*/ 0 w 1718"/>
              <a:gd name="T3" fmla="*/ 2147483647 h 952"/>
              <a:gd name="T4" fmla="*/ 2147483647 w 1718"/>
              <a:gd name="T5" fmla="*/ 2147483647 h 952"/>
              <a:gd name="T6" fmla="*/ 2147483647 w 1718"/>
              <a:gd name="T7" fmla="*/ 0 h 95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8" h="952">
                <a:moveTo>
                  <a:pt x="0" y="0"/>
                </a:moveTo>
                <a:lnTo>
                  <a:pt x="0" y="952"/>
                </a:lnTo>
                <a:lnTo>
                  <a:pt x="1718" y="952"/>
                </a:lnTo>
                <a:lnTo>
                  <a:pt x="1718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76" name="Line 2628"/>
          <p:cNvSpPr>
            <a:spLocks noChangeShapeType="1"/>
          </p:cNvSpPr>
          <p:nvPr/>
        </p:nvSpPr>
        <p:spPr bwMode="auto">
          <a:xfrm>
            <a:off x="7388290" y="2527300"/>
            <a:ext cx="0" cy="150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80" name="Text Box 2632"/>
          <p:cNvSpPr txBox="1">
            <a:spLocks noChangeArrowheads="1"/>
          </p:cNvSpPr>
          <p:nvPr/>
        </p:nvSpPr>
        <p:spPr bwMode="auto">
          <a:xfrm>
            <a:off x="7331140" y="3078163"/>
            <a:ext cx="401172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</a:rPr>
              <a:t>H</a:t>
            </a:r>
            <a:endParaRPr lang="en-US" altLang="zh-CN" sz="1800" b="1" dirty="0">
              <a:latin typeface="Times New Roman" pitchFamily="18" charset="0"/>
            </a:endParaRPr>
          </a:p>
        </p:txBody>
      </p:sp>
      <p:sp>
        <p:nvSpPr>
          <p:cNvPr id="187" name="Line 2644"/>
          <p:cNvSpPr>
            <a:spLocks noChangeShapeType="1"/>
          </p:cNvSpPr>
          <p:nvPr/>
        </p:nvSpPr>
        <p:spPr bwMode="auto">
          <a:xfrm>
            <a:off x="7685088" y="4019550"/>
            <a:ext cx="0" cy="18256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00" name="Line 2652"/>
          <p:cNvSpPr>
            <a:spLocks noChangeShapeType="1"/>
          </p:cNvSpPr>
          <p:nvPr/>
        </p:nvSpPr>
        <p:spPr bwMode="auto">
          <a:xfrm>
            <a:off x="7691438" y="4198938"/>
            <a:ext cx="0" cy="131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4355" name="Text Box 134"/>
          <p:cNvSpPr txBox="1">
            <a:spLocks noChangeArrowheads="1"/>
          </p:cNvSpPr>
          <p:nvPr/>
        </p:nvSpPr>
        <p:spPr bwMode="auto">
          <a:xfrm>
            <a:off x="6850556" y="3041291"/>
            <a:ext cx="4411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ea typeface="幼圆" pitchFamily="49" charset="-122"/>
              </a:rPr>
              <a:t>k</a:t>
            </a:r>
            <a:r>
              <a:rPr lang="en-US" altLang="zh-CN" sz="2400" b="1" baseline="-25000" dirty="0" err="1">
                <a:ea typeface="幼圆" pitchFamily="49" charset="-122"/>
              </a:rPr>
              <a:t>x</a:t>
            </a:r>
            <a:endParaRPr lang="en-US" altLang="zh-CN" sz="2400" b="1" dirty="0">
              <a:ea typeface="幼圆" pitchFamily="49" charset="-122"/>
            </a:endParaRPr>
          </a:p>
        </p:txBody>
      </p:sp>
      <p:sp>
        <p:nvSpPr>
          <p:cNvPr id="192" name="Rectangle 2593"/>
          <p:cNvSpPr>
            <a:spLocks noChangeArrowheads="1"/>
          </p:cNvSpPr>
          <p:nvPr/>
        </p:nvSpPr>
        <p:spPr bwMode="auto">
          <a:xfrm>
            <a:off x="7908925" y="1987550"/>
            <a:ext cx="113941" cy="137636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193" name="Line 2612"/>
          <p:cNvSpPr>
            <a:spLocks noChangeShapeType="1"/>
          </p:cNvSpPr>
          <p:nvPr/>
        </p:nvSpPr>
        <p:spPr bwMode="auto">
          <a:xfrm>
            <a:off x="7907338" y="1116013"/>
            <a:ext cx="0" cy="2255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94" name="Line 2613"/>
          <p:cNvSpPr>
            <a:spLocks noChangeShapeType="1"/>
          </p:cNvSpPr>
          <p:nvPr/>
        </p:nvSpPr>
        <p:spPr bwMode="auto">
          <a:xfrm>
            <a:off x="8013700" y="1116013"/>
            <a:ext cx="0" cy="2255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95" name="Line 2614"/>
          <p:cNvSpPr>
            <a:spLocks noChangeShapeType="1"/>
          </p:cNvSpPr>
          <p:nvPr/>
        </p:nvSpPr>
        <p:spPr bwMode="auto">
          <a:xfrm>
            <a:off x="7907338" y="1992313"/>
            <a:ext cx="106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96" name="Line 2615"/>
          <p:cNvSpPr>
            <a:spLocks noChangeShapeType="1"/>
          </p:cNvSpPr>
          <p:nvPr/>
        </p:nvSpPr>
        <p:spPr bwMode="auto">
          <a:xfrm>
            <a:off x="7913688" y="2032000"/>
            <a:ext cx="58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97" name="Line 2616"/>
          <p:cNvSpPr>
            <a:spLocks noChangeShapeType="1"/>
          </p:cNvSpPr>
          <p:nvPr/>
        </p:nvSpPr>
        <p:spPr bwMode="auto">
          <a:xfrm>
            <a:off x="7907338" y="2071688"/>
            <a:ext cx="58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98" name="Line 2649"/>
          <p:cNvSpPr>
            <a:spLocks noChangeShapeType="1"/>
          </p:cNvSpPr>
          <p:nvPr/>
        </p:nvSpPr>
        <p:spPr bwMode="auto">
          <a:xfrm flipV="1">
            <a:off x="5545189" y="2168525"/>
            <a:ext cx="47625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01" name="Text Box 2653"/>
          <p:cNvSpPr txBox="1">
            <a:spLocks noChangeArrowheads="1"/>
          </p:cNvSpPr>
          <p:nvPr/>
        </p:nvSpPr>
        <p:spPr bwMode="auto">
          <a:xfrm>
            <a:off x="5776964" y="2176463"/>
            <a:ext cx="697728" cy="39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i="1" dirty="0">
                <a:latin typeface="Times New Roman" pitchFamily="18" charset="0"/>
                <a:sym typeface="Symbol" pitchFamily="18" charset="2"/>
              </a:rPr>
              <a:t>d=</a:t>
            </a:r>
            <a:r>
              <a:rPr lang="en-US" altLang="zh-CN" sz="1600" b="1" dirty="0">
                <a:latin typeface="Times New Roman" pitchFamily="18" charset="0"/>
                <a:sym typeface="Symbol" pitchFamily="18" charset="2"/>
              </a:rPr>
              <a:t>1.0</a:t>
            </a:r>
          </a:p>
        </p:txBody>
      </p:sp>
      <p:sp>
        <p:nvSpPr>
          <p:cNvPr id="183" name="Text Box 2635"/>
          <p:cNvSpPr txBox="1">
            <a:spLocks noChangeArrowheads="1"/>
          </p:cNvSpPr>
          <p:nvPr/>
        </p:nvSpPr>
        <p:spPr bwMode="auto">
          <a:xfrm>
            <a:off x="7615238" y="1865313"/>
            <a:ext cx="324228" cy="39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Times New Roman" pitchFamily="18" charset="0"/>
              </a:rPr>
              <a:t>2</a:t>
            </a:r>
          </a:p>
        </p:txBody>
      </p:sp>
      <p:sp>
        <p:nvSpPr>
          <p:cNvPr id="172" name="Line 2624"/>
          <p:cNvSpPr>
            <a:spLocks noChangeShapeType="1"/>
          </p:cNvSpPr>
          <p:nvPr/>
        </p:nvSpPr>
        <p:spPr bwMode="auto">
          <a:xfrm>
            <a:off x="7687523" y="2099144"/>
            <a:ext cx="0" cy="415456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188795156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7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500"/>
                                        <p:tgtEl>
                                          <p:spTgt spid="1476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500"/>
                                        <p:tgtEl>
                                          <p:spTgt spid="1476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500"/>
                                        <p:tgtEl>
                                          <p:spTgt spid="1476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7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6738" grpId="0"/>
      <p:bldP spid="147675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Rectangle 2"/>
          <p:cNvSpPr>
            <a:spLocks noChangeArrowheads="1"/>
          </p:cNvSpPr>
          <p:nvPr/>
        </p:nvSpPr>
        <p:spPr bwMode="auto">
          <a:xfrm>
            <a:off x="1884363" y="5845175"/>
            <a:ext cx="68087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层状地基的垂直等效渗透系数</a:t>
            </a:r>
          </a:p>
        </p:txBody>
      </p:sp>
      <p:graphicFrame>
        <p:nvGraphicFramePr>
          <p:cNvPr id="14776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997167"/>
              </p:ext>
            </p:extLst>
          </p:nvPr>
        </p:nvGraphicFramePr>
        <p:xfrm>
          <a:off x="7356475" y="4560888"/>
          <a:ext cx="1354138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66" name="公式" r:id="rId4" imgW="749160" imgH="647640" progId="Equation.3">
                  <p:embed/>
                </p:oleObj>
              </mc:Choice>
              <mc:Fallback>
                <p:oleObj name="公式" r:id="rId4" imgW="749160" imgH="647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6475" y="4560888"/>
                        <a:ext cx="1354138" cy="118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3" name="Rectangle 6"/>
          <p:cNvSpPr>
            <a:spLocks noChangeArrowheads="1"/>
          </p:cNvSpPr>
          <p:nvPr/>
        </p:nvSpPr>
        <p:spPr bwMode="auto">
          <a:xfrm>
            <a:off x="4460648" y="790574"/>
            <a:ext cx="4433888" cy="3533775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800" b="1"/>
          </a:p>
        </p:txBody>
      </p:sp>
      <p:sp>
        <p:nvSpPr>
          <p:cNvPr id="15388" name="Line 15"/>
          <p:cNvSpPr>
            <a:spLocks noChangeShapeType="1"/>
          </p:cNvSpPr>
          <p:nvPr/>
        </p:nvSpPr>
        <p:spPr bwMode="auto">
          <a:xfrm>
            <a:off x="5064302" y="2104373"/>
            <a:ext cx="0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>
            <a:spAutoFit/>
          </a:bodyPr>
          <a:lstStyle/>
          <a:p>
            <a:endParaRPr lang="zh-CN" altLang="en-US" sz="1800" b="1"/>
          </a:p>
        </p:txBody>
      </p:sp>
      <p:sp>
        <p:nvSpPr>
          <p:cNvPr id="15404" name="Text Box 31"/>
          <p:cNvSpPr txBox="1">
            <a:spLocks noChangeArrowheads="1"/>
          </p:cNvSpPr>
          <p:nvPr/>
        </p:nvSpPr>
        <p:spPr bwMode="auto">
          <a:xfrm>
            <a:off x="4756183" y="2216015"/>
            <a:ext cx="3038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rgbClr val="000066"/>
                </a:solidFill>
              </a:rPr>
              <a:t>z</a:t>
            </a:r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428625" y="630238"/>
            <a:ext cx="3971925" cy="4733935"/>
            <a:chOff x="269" y="397"/>
            <a:chExt cx="2502" cy="2982"/>
          </a:xfrm>
        </p:grpSpPr>
        <p:graphicFrame>
          <p:nvGraphicFramePr>
            <p:cNvPr id="15363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3870422"/>
                </p:ext>
              </p:extLst>
            </p:nvPr>
          </p:nvGraphicFramePr>
          <p:xfrm>
            <a:off x="1520" y="1010"/>
            <a:ext cx="49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67" name="公式" r:id="rId6" imgW="393480" imgH="241200" progId="Equation.3">
                    <p:embed/>
                  </p:oleObj>
                </mc:Choice>
                <mc:Fallback>
                  <p:oleObj name="公式" r:id="rId6" imgW="393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0" y="1010"/>
                          <a:ext cx="49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4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8696238"/>
                </p:ext>
              </p:extLst>
            </p:nvPr>
          </p:nvGraphicFramePr>
          <p:xfrm>
            <a:off x="1475" y="707"/>
            <a:ext cx="87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68" name="公式" r:id="rId8" imgW="774360" imgH="253800" progId="Equation.3">
                    <p:embed/>
                  </p:oleObj>
                </mc:Choice>
                <mc:Fallback>
                  <p:oleObj name="公式" r:id="rId8" imgW="77436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" y="707"/>
                          <a:ext cx="87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5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0082464"/>
                </p:ext>
              </p:extLst>
            </p:nvPr>
          </p:nvGraphicFramePr>
          <p:xfrm>
            <a:off x="1515" y="397"/>
            <a:ext cx="80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69" name="公式" r:id="rId10" imgW="711000" imgH="253800" progId="Equation.3">
                    <p:embed/>
                  </p:oleObj>
                </mc:Choice>
                <mc:Fallback>
                  <p:oleObj name="公式" r:id="rId10" imgW="7110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5" y="397"/>
                          <a:ext cx="80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6" name="Text Box 56"/>
            <p:cNvSpPr txBox="1">
              <a:spLocks noChangeArrowheads="1"/>
            </p:cNvSpPr>
            <p:nvPr/>
          </p:nvSpPr>
          <p:spPr bwMode="auto">
            <a:xfrm>
              <a:off x="1571" y="1384"/>
              <a:ext cx="1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err="1" smtClean="0">
                  <a:solidFill>
                    <a:srgbClr val="000066"/>
                  </a:solidFill>
                </a:rPr>
                <a:t>v</a:t>
              </a:r>
              <a:r>
                <a:rPr lang="en-US" altLang="zh-CN" sz="2000" b="1" baseline="-25000" dirty="0" err="1" smtClean="0">
                  <a:solidFill>
                    <a:srgbClr val="000066"/>
                  </a:solidFill>
                </a:rPr>
                <a:t>j</a:t>
              </a:r>
              <a:r>
                <a:rPr lang="en-US" altLang="zh-CN" sz="2000" b="1" dirty="0" smtClean="0">
                  <a:solidFill>
                    <a:srgbClr val="000066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66"/>
                  </a:solidFill>
                </a:rPr>
                <a:t>= </a:t>
              </a:r>
              <a:r>
                <a:rPr lang="en-US" altLang="zh-CN" sz="2000" b="1" i="1" dirty="0" err="1" smtClean="0">
                  <a:solidFill>
                    <a:srgbClr val="000066"/>
                  </a:solidFill>
                </a:rPr>
                <a:t>k</a:t>
              </a:r>
              <a:r>
                <a:rPr lang="en-US" altLang="zh-CN" sz="2000" b="1" baseline="-25000" dirty="0" err="1">
                  <a:solidFill>
                    <a:srgbClr val="000066"/>
                  </a:solidFill>
                </a:rPr>
                <a:t>j</a:t>
              </a:r>
              <a:r>
                <a:rPr lang="en-US" altLang="zh-CN" sz="2000" b="1" baseline="-25000" dirty="0" smtClean="0">
                  <a:solidFill>
                    <a:srgbClr val="000066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66"/>
                  </a:solidFill>
                </a:rPr>
                <a:t>(</a:t>
              </a:r>
              <a:r>
                <a:rPr lang="el-GR" altLang="zh-CN" sz="2000" b="1" dirty="0">
                  <a:solidFill>
                    <a:srgbClr val="000066"/>
                  </a:solidFill>
                  <a:ea typeface="华文新魏" pitchFamily="2" charset="-122"/>
                </a:rPr>
                <a:t>Δ</a:t>
              </a:r>
              <a:r>
                <a:rPr lang="en-US" altLang="zh-CN" sz="2000" b="1" i="1" dirty="0" err="1" smtClean="0">
                  <a:solidFill>
                    <a:srgbClr val="000066"/>
                  </a:solidFill>
                  <a:ea typeface="华文新魏" pitchFamily="2" charset="-122"/>
                </a:rPr>
                <a:t>h</a:t>
              </a:r>
              <a:r>
                <a:rPr lang="en-US" altLang="zh-CN" sz="2000" b="1" baseline="-25000" dirty="0" err="1">
                  <a:solidFill>
                    <a:srgbClr val="000066"/>
                  </a:solidFill>
                  <a:ea typeface="华文新魏" pitchFamily="2" charset="-122"/>
                </a:rPr>
                <a:t>j</a:t>
              </a:r>
              <a:r>
                <a:rPr lang="en-US" altLang="zh-CN" sz="2000" b="1" baseline="-25000" dirty="0" smtClean="0">
                  <a:solidFill>
                    <a:srgbClr val="000066"/>
                  </a:solidFill>
                  <a:ea typeface="华文新魏" pitchFamily="2" charset="-122"/>
                </a:rPr>
                <a:t> </a:t>
              </a:r>
              <a:r>
                <a:rPr lang="en-US" altLang="zh-CN" sz="2000" b="1" dirty="0">
                  <a:solidFill>
                    <a:srgbClr val="000066"/>
                  </a:solidFill>
                  <a:ea typeface="华文新魏" pitchFamily="2" charset="-122"/>
                </a:rPr>
                <a:t>/ </a:t>
              </a:r>
              <a:r>
                <a:rPr lang="en-US" altLang="zh-CN" sz="2000" b="1" i="1" dirty="0" err="1" smtClean="0">
                  <a:solidFill>
                    <a:srgbClr val="000066"/>
                  </a:solidFill>
                </a:rPr>
                <a:t>H</a:t>
              </a:r>
              <a:r>
                <a:rPr lang="en-US" altLang="zh-CN" sz="2000" b="1" baseline="-25000" dirty="0" err="1">
                  <a:solidFill>
                    <a:srgbClr val="000066"/>
                  </a:solidFill>
                </a:rPr>
                <a:t>j</a:t>
              </a:r>
              <a:r>
                <a:rPr lang="en-US" altLang="zh-CN" sz="2000" b="1" baseline="-25000" dirty="0" smtClean="0">
                  <a:solidFill>
                    <a:srgbClr val="000066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66"/>
                  </a:solidFill>
                </a:rPr>
                <a:t>)</a:t>
              </a:r>
            </a:p>
          </p:txBody>
        </p:sp>
        <p:graphicFrame>
          <p:nvGraphicFramePr>
            <p:cNvPr id="15366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9056903"/>
                </p:ext>
              </p:extLst>
            </p:nvPr>
          </p:nvGraphicFramePr>
          <p:xfrm>
            <a:off x="923" y="1934"/>
            <a:ext cx="820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70" name="公式" r:id="rId12" imgW="723600" imgH="469800" progId="Equation.3">
                    <p:embed/>
                  </p:oleObj>
                </mc:Choice>
                <mc:Fallback>
                  <p:oleObj name="公式" r:id="rId12" imgW="723600" imgH="469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3" y="1934"/>
                          <a:ext cx="820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7510595"/>
                </p:ext>
              </p:extLst>
            </p:nvPr>
          </p:nvGraphicFramePr>
          <p:xfrm>
            <a:off x="1955" y="1935"/>
            <a:ext cx="691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71" name="公式" r:id="rId14" imgW="609480" imgH="431640" progId="Equation.3">
                    <p:embed/>
                  </p:oleObj>
                </mc:Choice>
                <mc:Fallback>
                  <p:oleObj name="公式" r:id="rId14" imgW="6094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5" y="1935"/>
                          <a:ext cx="691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8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4401812"/>
                </p:ext>
              </p:extLst>
            </p:nvPr>
          </p:nvGraphicFramePr>
          <p:xfrm>
            <a:off x="1522" y="2532"/>
            <a:ext cx="74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72" name="公式" r:id="rId16" imgW="685800" imgH="253800" progId="Equation.3">
                    <p:embed/>
                  </p:oleObj>
                </mc:Choice>
                <mc:Fallback>
                  <p:oleObj name="公式" r:id="rId16" imgW="6858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2" y="2532"/>
                          <a:ext cx="74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7" name="Text Box 60"/>
            <p:cNvSpPr txBox="1">
              <a:spLocks noChangeArrowheads="1"/>
            </p:cNvSpPr>
            <p:nvPr/>
          </p:nvSpPr>
          <p:spPr bwMode="auto">
            <a:xfrm>
              <a:off x="276" y="431"/>
              <a:ext cx="10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n"/>
              </a:pPr>
              <a:r>
                <a:rPr lang="zh-CN" altLang="en-US" sz="2400" b="1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 已知条件</a:t>
              </a:r>
              <a:r>
                <a:rPr lang="en-US" altLang="zh-CN" sz="2400" b="1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:</a:t>
              </a:r>
            </a:p>
          </p:txBody>
        </p:sp>
        <p:sp>
          <p:nvSpPr>
            <p:cNvPr id="15378" name="Text Box 61"/>
            <p:cNvSpPr txBox="1">
              <a:spLocks noChangeArrowheads="1"/>
            </p:cNvSpPr>
            <p:nvPr/>
          </p:nvSpPr>
          <p:spPr bwMode="auto">
            <a:xfrm>
              <a:off x="283" y="1375"/>
              <a:ext cx="114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n"/>
              </a:pPr>
              <a:r>
                <a:rPr lang="zh-CN" altLang="en-US" sz="2400" b="1" dirty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 达西定律</a:t>
              </a:r>
              <a:r>
                <a:rPr lang="en-US" altLang="zh-CN" sz="2400" b="1" dirty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:</a:t>
              </a:r>
            </a:p>
          </p:txBody>
        </p:sp>
        <p:sp>
          <p:nvSpPr>
            <p:cNvPr id="15379" name="Text Box 62"/>
            <p:cNvSpPr txBox="1">
              <a:spLocks noChangeArrowheads="1"/>
            </p:cNvSpPr>
            <p:nvPr/>
          </p:nvSpPr>
          <p:spPr bwMode="auto">
            <a:xfrm>
              <a:off x="269" y="2538"/>
              <a:ext cx="116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n"/>
              </a:pPr>
              <a:r>
                <a:rPr lang="zh-CN" altLang="en-US" sz="2400" b="1" dirty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 等效条件</a:t>
              </a:r>
              <a:r>
                <a:rPr lang="en-US" altLang="zh-CN" sz="2400" b="1" dirty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:</a:t>
              </a:r>
            </a:p>
          </p:txBody>
        </p:sp>
        <p:sp>
          <p:nvSpPr>
            <p:cNvPr id="15380" name="Text Box 63"/>
            <p:cNvSpPr txBox="1">
              <a:spLocks noChangeArrowheads="1"/>
            </p:cNvSpPr>
            <p:nvPr/>
          </p:nvSpPr>
          <p:spPr bwMode="auto">
            <a:xfrm>
              <a:off x="1571" y="1672"/>
              <a:ext cx="1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</a:rPr>
                <a:t>v</a:t>
              </a:r>
              <a:r>
                <a:rPr lang="en-US" altLang="zh-CN" sz="2000" b="1" dirty="0">
                  <a:solidFill>
                    <a:srgbClr val="000066"/>
                  </a:solidFill>
                </a:rPr>
                <a:t> = </a:t>
              </a:r>
              <a:r>
                <a:rPr lang="en-US" altLang="zh-CN" sz="2000" b="1" i="1" dirty="0" err="1">
                  <a:solidFill>
                    <a:srgbClr val="000066"/>
                  </a:solidFill>
                </a:rPr>
                <a:t>k</a:t>
              </a:r>
              <a:r>
                <a:rPr lang="en-US" altLang="zh-CN" sz="2000" b="1" baseline="-25000" dirty="0" err="1">
                  <a:solidFill>
                    <a:srgbClr val="000066"/>
                  </a:solidFill>
                </a:rPr>
                <a:t>z</a:t>
              </a:r>
              <a:r>
                <a:rPr lang="en-US" altLang="zh-CN" sz="2000" b="1" baseline="-25000" dirty="0">
                  <a:solidFill>
                    <a:srgbClr val="000066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66"/>
                  </a:solidFill>
                </a:rPr>
                <a:t>(</a:t>
              </a:r>
              <a:r>
                <a:rPr lang="el-GR" altLang="zh-CN" sz="2000" b="1" dirty="0">
                  <a:solidFill>
                    <a:srgbClr val="000066"/>
                  </a:solidFill>
                  <a:ea typeface="华文新魏" pitchFamily="2" charset="-122"/>
                </a:rPr>
                <a:t>Δ</a:t>
              </a:r>
              <a:r>
                <a:rPr lang="en-US" altLang="zh-CN" sz="2000" b="1" i="1" dirty="0">
                  <a:solidFill>
                    <a:srgbClr val="000066"/>
                  </a:solidFill>
                  <a:ea typeface="华文新魏" pitchFamily="2" charset="-122"/>
                </a:rPr>
                <a:t>h</a:t>
              </a:r>
              <a:r>
                <a:rPr lang="en-US" altLang="zh-CN" sz="2000" b="1" baseline="-25000" dirty="0">
                  <a:solidFill>
                    <a:srgbClr val="000066"/>
                  </a:solidFill>
                  <a:ea typeface="华文新魏" pitchFamily="2" charset="-122"/>
                </a:rPr>
                <a:t> </a:t>
              </a:r>
              <a:r>
                <a:rPr lang="en-US" altLang="zh-CN" sz="2000" b="1" dirty="0">
                  <a:solidFill>
                    <a:srgbClr val="000066"/>
                  </a:solidFill>
                  <a:ea typeface="华文新魏" pitchFamily="2" charset="-122"/>
                </a:rPr>
                <a:t>/ </a:t>
              </a:r>
              <a:r>
                <a:rPr lang="en-US" altLang="zh-CN" sz="2000" b="1" i="1" dirty="0">
                  <a:solidFill>
                    <a:srgbClr val="000066"/>
                  </a:solidFill>
                </a:rPr>
                <a:t>H</a:t>
              </a:r>
              <a:r>
                <a:rPr lang="en-US" altLang="zh-CN" sz="2000" b="1" baseline="-25000" dirty="0">
                  <a:solidFill>
                    <a:srgbClr val="000066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66"/>
                  </a:solidFill>
                </a:rPr>
                <a:t>)</a:t>
              </a:r>
            </a:p>
          </p:txBody>
        </p:sp>
        <p:graphicFrame>
          <p:nvGraphicFramePr>
            <p:cNvPr id="111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9870019"/>
                </p:ext>
              </p:extLst>
            </p:nvPr>
          </p:nvGraphicFramePr>
          <p:xfrm>
            <a:off x="1477" y="2869"/>
            <a:ext cx="1006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73" name="公式" r:id="rId18" imgW="927000" imgH="469800" progId="Equation.3">
                    <p:embed/>
                  </p:oleObj>
                </mc:Choice>
                <mc:Fallback>
                  <p:oleObj name="公式" r:id="rId18" imgW="927000" imgH="469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7" y="2869"/>
                          <a:ext cx="1006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77696" name="Text Box 64"/>
          <p:cNvSpPr txBox="1">
            <a:spLocks noChangeArrowheads="1"/>
          </p:cNvSpPr>
          <p:nvPr/>
        </p:nvSpPr>
        <p:spPr bwMode="auto">
          <a:xfrm>
            <a:off x="5129214" y="4733925"/>
            <a:ext cx="219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等效渗透系数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:</a:t>
            </a:r>
          </a:p>
        </p:txBody>
      </p:sp>
      <p:sp>
        <p:nvSpPr>
          <p:cNvPr id="1477697" name="AutoShape 65"/>
          <p:cNvSpPr>
            <a:spLocks noChangeArrowheads="1"/>
          </p:cNvSpPr>
          <p:nvPr/>
        </p:nvSpPr>
        <p:spPr bwMode="auto">
          <a:xfrm>
            <a:off x="4310063" y="4659312"/>
            <a:ext cx="671512" cy="496888"/>
          </a:xfrm>
          <a:prstGeom prst="homePlate">
            <a:avLst>
              <a:gd name="adj" fmla="val 33786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7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等效渗透系数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9" name="Text Box 2667"/>
          <p:cNvSpPr txBox="1">
            <a:spLocks noChangeArrowheads="1"/>
          </p:cNvSpPr>
          <p:nvPr/>
        </p:nvSpPr>
        <p:spPr bwMode="auto">
          <a:xfrm>
            <a:off x="5615794" y="1364730"/>
            <a:ext cx="490940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h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72" name="Line 2670"/>
          <p:cNvSpPr>
            <a:spLocks noChangeShapeType="1"/>
          </p:cNvSpPr>
          <p:nvPr/>
        </p:nvSpPr>
        <p:spPr bwMode="auto">
          <a:xfrm>
            <a:off x="5058287" y="2643243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73" name="Line 2671"/>
          <p:cNvSpPr>
            <a:spLocks noChangeShapeType="1"/>
          </p:cNvSpPr>
          <p:nvPr/>
        </p:nvSpPr>
        <p:spPr bwMode="auto">
          <a:xfrm>
            <a:off x="5063049" y="3068693"/>
            <a:ext cx="2713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74" name="Text Box 2672"/>
          <p:cNvSpPr txBox="1">
            <a:spLocks noChangeArrowheads="1"/>
          </p:cNvSpPr>
          <p:nvPr/>
        </p:nvSpPr>
        <p:spPr bwMode="auto">
          <a:xfrm>
            <a:off x="5873303" y="2192393"/>
            <a:ext cx="41399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k</a:t>
            </a:r>
            <a:r>
              <a:rPr lang="en-US" altLang="zh-CN" sz="1800" b="1" baseline="-25000" dirty="0">
                <a:latin typeface="Times New Roman" pitchFamily="18" charset="0"/>
                <a:sym typeface="Symbol" pitchFamily="18" charset="2"/>
              </a:rPr>
              <a:t>1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75" name="Text Box 2673"/>
          <p:cNvSpPr txBox="1">
            <a:spLocks noChangeArrowheads="1"/>
          </p:cNvSpPr>
          <p:nvPr/>
        </p:nvSpPr>
        <p:spPr bwMode="auto">
          <a:xfrm>
            <a:off x="5887591" y="2641655"/>
            <a:ext cx="41399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k</a:t>
            </a:r>
            <a:r>
              <a:rPr lang="en-US" altLang="zh-CN" sz="1800" b="1" baseline="-25000" dirty="0">
                <a:latin typeface="Times New Roman" pitchFamily="18" charset="0"/>
                <a:sym typeface="Symbol" pitchFamily="18" charset="2"/>
              </a:rPr>
              <a:t>2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76" name="Text Box 2674"/>
          <p:cNvSpPr txBox="1">
            <a:spLocks noChangeArrowheads="1"/>
          </p:cNvSpPr>
          <p:nvPr/>
        </p:nvSpPr>
        <p:spPr bwMode="auto">
          <a:xfrm>
            <a:off x="5884416" y="3167118"/>
            <a:ext cx="41399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  <a:sym typeface="Symbol" pitchFamily="18" charset="2"/>
              </a:rPr>
              <a:t>k</a:t>
            </a:r>
            <a:r>
              <a:rPr lang="en-US" altLang="zh-CN" sz="1800" b="1" baseline="-25000" dirty="0">
                <a:latin typeface="Times New Roman" pitchFamily="18" charset="0"/>
                <a:sym typeface="Symbol" pitchFamily="18" charset="2"/>
              </a:rPr>
              <a:t>3</a:t>
            </a:r>
            <a:endParaRPr lang="en-US" altLang="zh-CN" sz="18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77" name="Line 2675"/>
          <p:cNvSpPr>
            <a:spLocks noChangeShapeType="1"/>
          </p:cNvSpPr>
          <p:nvPr/>
        </p:nvSpPr>
        <p:spPr bwMode="auto">
          <a:xfrm>
            <a:off x="6373339" y="2117780"/>
            <a:ext cx="0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78" name="Line 2676"/>
          <p:cNvSpPr>
            <a:spLocks noChangeShapeType="1"/>
          </p:cNvSpPr>
          <p:nvPr/>
        </p:nvSpPr>
        <p:spPr bwMode="auto">
          <a:xfrm>
            <a:off x="6374926" y="2654355"/>
            <a:ext cx="0" cy="407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79" name="Line 2677"/>
          <p:cNvSpPr>
            <a:spLocks noChangeShapeType="1"/>
          </p:cNvSpPr>
          <p:nvPr/>
        </p:nvSpPr>
        <p:spPr bwMode="auto">
          <a:xfrm>
            <a:off x="6378101" y="3076630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81" name="Text Box 2679"/>
          <p:cNvSpPr txBox="1">
            <a:spLocks noChangeArrowheads="1"/>
          </p:cNvSpPr>
          <p:nvPr/>
        </p:nvSpPr>
        <p:spPr bwMode="auto">
          <a:xfrm>
            <a:off x="6346378" y="2197155"/>
            <a:ext cx="47811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</a:rPr>
              <a:t>H</a:t>
            </a:r>
            <a:r>
              <a:rPr lang="en-US" altLang="zh-CN" sz="1800" b="1" baseline="-25000" dirty="0">
                <a:latin typeface="Times New Roman" pitchFamily="18" charset="0"/>
              </a:rPr>
              <a:t>1</a:t>
            </a:r>
            <a:endParaRPr lang="en-US" altLang="zh-CN" sz="1800" b="1" dirty="0">
              <a:latin typeface="Times New Roman" pitchFamily="18" charset="0"/>
            </a:endParaRPr>
          </a:p>
        </p:txBody>
      </p:sp>
      <p:sp>
        <p:nvSpPr>
          <p:cNvPr id="82" name="Text Box 2680"/>
          <p:cNvSpPr txBox="1">
            <a:spLocks noChangeArrowheads="1"/>
          </p:cNvSpPr>
          <p:nvPr/>
        </p:nvSpPr>
        <p:spPr bwMode="auto">
          <a:xfrm>
            <a:off x="6368603" y="2660705"/>
            <a:ext cx="47811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</a:rPr>
              <a:t>H</a:t>
            </a:r>
            <a:r>
              <a:rPr lang="en-US" altLang="zh-CN" sz="1800" b="1" baseline="-25000" dirty="0">
                <a:latin typeface="Times New Roman" pitchFamily="18" charset="0"/>
              </a:rPr>
              <a:t>2</a:t>
            </a:r>
            <a:endParaRPr lang="en-US" altLang="zh-CN" sz="1800" b="1" dirty="0">
              <a:latin typeface="Times New Roman" pitchFamily="18" charset="0"/>
            </a:endParaRPr>
          </a:p>
        </p:txBody>
      </p:sp>
      <p:sp>
        <p:nvSpPr>
          <p:cNvPr id="83" name="Text Box 2681"/>
          <p:cNvSpPr txBox="1">
            <a:spLocks noChangeArrowheads="1"/>
          </p:cNvSpPr>
          <p:nvPr/>
        </p:nvSpPr>
        <p:spPr bwMode="auto">
          <a:xfrm>
            <a:off x="6382891" y="3162355"/>
            <a:ext cx="478116" cy="40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 dirty="0">
                <a:latin typeface="Times New Roman" pitchFamily="18" charset="0"/>
              </a:rPr>
              <a:t>H</a:t>
            </a:r>
            <a:r>
              <a:rPr lang="en-US" altLang="zh-CN" sz="1800" b="1" baseline="-25000" dirty="0">
                <a:latin typeface="Times New Roman" pitchFamily="18" charset="0"/>
              </a:rPr>
              <a:t>3</a:t>
            </a:r>
            <a:endParaRPr lang="en-US" altLang="zh-CN" sz="1800" b="1" dirty="0">
              <a:latin typeface="Times New Roman" pitchFamily="18" charset="0"/>
            </a:endParaRPr>
          </a:p>
        </p:txBody>
      </p:sp>
      <p:sp>
        <p:nvSpPr>
          <p:cNvPr id="86" name="Freeform 2684"/>
          <p:cNvSpPr>
            <a:spLocks/>
          </p:cNvSpPr>
          <p:nvPr/>
        </p:nvSpPr>
        <p:spPr bwMode="auto">
          <a:xfrm>
            <a:off x="7785612" y="1755830"/>
            <a:ext cx="503237" cy="1858963"/>
          </a:xfrm>
          <a:custGeom>
            <a:avLst/>
            <a:gdLst>
              <a:gd name="T0" fmla="*/ 0 w 324"/>
              <a:gd name="T1" fmla="*/ 1858963 h 1171"/>
              <a:gd name="T2" fmla="*/ 503237 w 324"/>
              <a:gd name="T3" fmla="*/ 1509713 h 1171"/>
              <a:gd name="T4" fmla="*/ 503237 w 324"/>
              <a:gd name="T5" fmla="*/ 0 h 11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4" h="1171">
                <a:moveTo>
                  <a:pt x="0" y="1171"/>
                </a:moveTo>
                <a:lnTo>
                  <a:pt x="324" y="951"/>
                </a:lnTo>
                <a:lnTo>
                  <a:pt x="324" y="0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87" name="Line 2685"/>
          <p:cNvSpPr>
            <a:spLocks noChangeShapeType="1"/>
          </p:cNvSpPr>
          <p:nvPr/>
        </p:nvSpPr>
        <p:spPr bwMode="auto">
          <a:xfrm flipV="1">
            <a:off x="7783234" y="2304676"/>
            <a:ext cx="499265" cy="3415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88" name="Line 2686"/>
          <p:cNvSpPr>
            <a:spLocks noChangeShapeType="1"/>
          </p:cNvSpPr>
          <p:nvPr/>
        </p:nvSpPr>
        <p:spPr bwMode="auto">
          <a:xfrm flipV="1">
            <a:off x="7790803" y="2733302"/>
            <a:ext cx="490537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97" name="Line 2695"/>
          <p:cNvSpPr>
            <a:spLocks noChangeShapeType="1"/>
          </p:cNvSpPr>
          <p:nvPr/>
        </p:nvSpPr>
        <p:spPr bwMode="auto">
          <a:xfrm>
            <a:off x="5865560" y="2152705"/>
            <a:ext cx="92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106" name="Text Box 2704"/>
          <p:cNvSpPr txBox="1">
            <a:spLocks noChangeArrowheads="1"/>
          </p:cNvSpPr>
          <p:nvPr/>
        </p:nvSpPr>
        <p:spPr bwMode="auto">
          <a:xfrm>
            <a:off x="5853219" y="3627493"/>
            <a:ext cx="1358165" cy="500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2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  <a:sym typeface="Symbol" pitchFamily="18" charset="2"/>
              </a:rPr>
              <a:t>承 压 水</a:t>
            </a:r>
          </a:p>
        </p:txBody>
      </p:sp>
      <p:sp>
        <p:nvSpPr>
          <p:cNvPr id="109" name="矩形 108"/>
          <p:cNvSpPr/>
          <p:nvPr/>
        </p:nvSpPr>
        <p:spPr bwMode="auto">
          <a:xfrm>
            <a:off x="6819990" y="2097592"/>
            <a:ext cx="959277" cy="1512000"/>
          </a:xfrm>
          <a:prstGeom prst="rect">
            <a:avLst/>
          </a:prstGeom>
          <a:solidFill>
            <a:srgbClr val="CC9900">
              <a:alpha val="8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" name="AutoShape 2666"/>
          <p:cNvSpPr>
            <a:spLocks noChangeArrowheads="1"/>
          </p:cNvSpPr>
          <p:nvPr/>
        </p:nvSpPr>
        <p:spPr bwMode="auto">
          <a:xfrm>
            <a:off x="5067812" y="1757418"/>
            <a:ext cx="3213100" cy="342900"/>
          </a:xfrm>
          <a:prstGeom prst="parallelogram">
            <a:avLst>
              <a:gd name="adj" fmla="val 146369"/>
            </a:avLst>
          </a:prstGeom>
          <a:solidFill>
            <a:srgbClr val="FF993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800" b="1"/>
          </a:p>
        </p:txBody>
      </p:sp>
      <p:sp>
        <p:nvSpPr>
          <p:cNvPr id="85" name="Freeform 2683"/>
          <p:cNvSpPr>
            <a:spLocks/>
          </p:cNvSpPr>
          <p:nvPr/>
        </p:nvSpPr>
        <p:spPr bwMode="auto">
          <a:xfrm>
            <a:off x="5059874" y="2105080"/>
            <a:ext cx="2724150" cy="1511300"/>
          </a:xfrm>
          <a:custGeom>
            <a:avLst/>
            <a:gdLst>
              <a:gd name="T0" fmla="*/ 0 w 1718"/>
              <a:gd name="T1" fmla="*/ 0 h 952"/>
              <a:gd name="T2" fmla="*/ 0 w 1718"/>
              <a:gd name="T3" fmla="*/ 1511300 h 952"/>
              <a:gd name="T4" fmla="*/ 2724150 w 1718"/>
              <a:gd name="T5" fmla="*/ 1511300 h 952"/>
              <a:gd name="T6" fmla="*/ 2724150 w 1718"/>
              <a:gd name="T7" fmla="*/ 0 h 95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8" h="952">
                <a:moveTo>
                  <a:pt x="0" y="0"/>
                </a:moveTo>
                <a:lnTo>
                  <a:pt x="0" y="952"/>
                </a:lnTo>
                <a:lnTo>
                  <a:pt x="1718" y="952"/>
                </a:lnTo>
                <a:lnTo>
                  <a:pt x="1718" y="0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80" name="Line 2678"/>
          <p:cNvSpPr>
            <a:spLocks noChangeShapeType="1"/>
          </p:cNvSpPr>
          <p:nvPr/>
        </p:nvSpPr>
        <p:spPr bwMode="auto">
          <a:xfrm>
            <a:off x="7429403" y="2116193"/>
            <a:ext cx="0" cy="1500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84" name="Text Box 2682"/>
          <p:cNvSpPr txBox="1">
            <a:spLocks noChangeArrowheads="1"/>
          </p:cNvSpPr>
          <p:nvPr/>
        </p:nvSpPr>
        <p:spPr bwMode="auto">
          <a:xfrm>
            <a:off x="7384548" y="2667055"/>
            <a:ext cx="401172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>
                <a:latin typeface="Times New Roman" pitchFamily="18" charset="0"/>
              </a:rPr>
              <a:t>H</a:t>
            </a:r>
            <a:endParaRPr lang="en-US" altLang="zh-CN" sz="1800" b="1">
              <a:latin typeface="Times New Roman" pitchFamily="18" charset="0"/>
            </a:endParaRPr>
          </a:p>
        </p:txBody>
      </p:sp>
      <p:sp>
        <p:nvSpPr>
          <p:cNvPr id="108" name="Text Box 2653"/>
          <p:cNvSpPr txBox="1">
            <a:spLocks noChangeArrowheads="1"/>
          </p:cNvSpPr>
          <p:nvPr/>
        </p:nvSpPr>
        <p:spPr bwMode="auto">
          <a:xfrm>
            <a:off x="6596197" y="1763768"/>
            <a:ext cx="781084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>
                <a:latin typeface="Times New Roman" pitchFamily="18" charset="0"/>
                <a:sym typeface="Symbol" pitchFamily="18" charset="2"/>
              </a:rPr>
              <a:t>d=</a:t>
            </a:r>
            <a:r>
              <a:rPr lang="en-US" altLang="zh-CN" sz="1800" b="1">
                <a:latin typeface="Times New Roman" pitchFamily="18" charset="0"/>
                <a:sym typeface="Symbol" pitchFamily="18" charset="2"/>
              </a:rPr>
              <a:t>1.0</a:t>
            </a:r>
          </a:p>
        </p:txBody>
      </p:sp>
      <p:sp>
        <p:nvSpPr>
          <p:cNvPr id="107" name="Line 2649"/>
          <p:cNvSpPr>
            <a:spLocks noChangeShapeType="1"/>
          </p:cNvSpPr>
          <p:nvPr/>
        </p:nvSpPr>
        <p:spPr bwMode="auto">
          <a:xfrm flipV="1">
            <a:off x="6345372" y="1762180"/>
            <a:ext cx="47625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110" name="Text Box 134"/>
          <p:cNvSpPr txBox="1">
            <a:spLocks noChangeArrowheads="1"/>
          </p:cNvSpPr>
          <p:nvPr/>
        </p:nvSpPr>
        <p:spPr bwMode="auto">
          <a:xfrm>
            <a:off x="6909076" y="2597816"/>
            <a:ext cx="4299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 smtClean="0">
                <a:ea typeface="幼圆" pitchFamily="49" charset="-122"/>
              </a:rPr>
              <a:t>k</a:t>
            </a:r>
            <a:r>
              <a:rPr lang="en-US" altLang="zh-CN" sz="2400" b="1" baseline="-25000" dirty="0" err="1" smtClean="0">
                <a:ea typeface="幼圆" pitchFamily="49" charset="-122"/>
              </a:rPr>
              <a:t>z</a:t>
            </a:r>
            <a:endParaRPr lang="en-US" altLang="zh-CN" sz="2400" b="1" dirty="0">
              <a:ea typeface="幼圆" pitchFamily="49" charset="-122"/>
            </a:endParaRPr>
          </a:p>
        </p:txBody>
      </p:sp>
      <p:sp>
        <p:nvSpPr>
          <p:cNvPr id="70" name="Line 2668"/>
          <p:cNvSpPr>
            <a:spLocks noChangeShapeType="1"/>
          </p:cNvSpPr>
          <p:nvPr/>
        </p:nvSpPr>
        <p:spPr bwMode="auto">
          <a:xfrm>
            <a:off x="5664307" y="1252593"/>
            <a:ext cx="0" cy="839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71" name="Line 2669"/>
          <p:cNvSpPr>
            <a:spLocks noChangeShapeType="1"/>
          </p:cNvSpPr>
          <p:nvPr/>
        </p:nvSpPr>
        <p:spPr bwMode="auto">
          <a:xfrm flipH="1">
            <a:off x="5524607" y="1252593"/>
            <a:ext cx="315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89" name="Freeform 2687"/>
          <p:cNvSpPr>
            <a:spLocks/>
          </p:cNvSpPr>
          <p:nvPr/>
        </p:nvSpPr>
        <p:spPr bwMode="auto">
          <a:xfrm>
            <a:off x="5361094" y="1247830"/>
            <a:ext cx="146050" cy="2568575"/>
          </a:xfrm>
          <a:custGeom>
            <a:avLst/>
            <a:gdLst>
              <a:gd name="T0" fmla="*/ 55563 w 92"/>
              <a:gd name="T1" fmla="*/ 2568575 h 1618"/>
              <a:gd name="T2" fmla="*/ 1588 w 92"/>
              <a:gd name="T3" fmla="*/ 2463800 h 1618"/>
              <a:gd name="T4" fmla="*/ 0 w 92"/>
              <a:gd name="T5" fmla="*/ 0 h 1618"/>
              <a:gd name="T6" fmla="*/ 100013 w 92"/>
              <a:gd name="T7" fmla="*/ 0 h 1618"/>
              <a:gd name="T8" fmla="*/ 96838 w 92"/>
              <a:gd name="T9" fmla="*/ 2452688 h 1618"/>
              <a:gd name="T10" fmla="*/ 146050 w 92"/>
              <a:gd name="T11" fmla="*/ 2546350 h 1618"/>
              <a:gd name="T12" fmla="*/ 55563 w 92"/>
              <a:gd name="T13" fmla="*/ 2568575 h 16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" h="1618">
                <a:moveTo>
                  <a:pt x="35" y="1618"/>
                </a:moveTo>
                <a:lnTo>
                  <a:pt x="1" y="1552"/>
                </a:lnTo>
                <a:lnTo>
                  <a:pt x="0" y="0"/>
                </a:lnTo>
                <a:lnTo>
                  <a:pt x="63" y="0"/>
                </a:lnTo>
                <a:lnTo>
                  <a:pt x="61" y="1545"/>
                </a:lnTo>
                <a:lnTo>
                  <a:pt x="92" y="1604"/>
                </a:lnTo>
                <a:lnTo>
                  <a:pt x="35" y="1618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ffectLst/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90" name="Freeform 2688"/>
          <p:cNvSpPr>
            <a:spLocks/>
          </p:cNvSpPr>
          <p:nvPr/>
        </p:nvSpPr>
        <p:spPr bwMode="auto">
          <a:xfrm>
            <a:off x="5357919" y="927155"/>
            <a:ext cx="55563" cy="2889250"/>
          </a:xfrm>
          <a:custGeom>
            <a:avLst/>
            <a:gdLst>
              <a:gd name="T0" fmla="*/ 0 w 35"/>
              <a:gd name="T1" fmla="*/ 0 h 1820"/>
              <a:gd name="T2" fmla="*/ 0 w 35"/>
              <a:gd name="T3" fmla="*/ 2787650 h 1820"/>
              <a:gd name="T4" fmla="*/ 55563 w 35"/>
              <a:gd name="T5" fmla="*/ 2889250 h 18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5" h="1820">
                <a:moveTo>
                  <a:pt x="0" y="0"/>
                </a:moveTo>
                <a:lnTo>
                  <a:pt x="0" y="1756"/>
                </a:lnTo>
                <a:lnTo>
                  <a:pt x="35" y="182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91" name="Freeform 2689"/>
          <p:cNvSpPr>
            <a:spLocks/>
          </p:cNvSpPr>
          <p:nvPr/>
        </p:nvSpPr>
        <p:spPr bwMode="auto">
          <a:xfrm>
            <a:off x="5459519" y="927155"/>
            <a:ext cx="46038" cy="2870200"/>
          </a:xfrm>
          <a:custGeom>
            <a:avLst/>
            <a:gdLst>
              <a:gd name="T0" fmla="*/ 4763 w 29"/>
              <a:gd name="T1" fmla="*/ 0 h 1808"/>
              <a:gd name="T2" fmla="*/ 0 w 29"/>
              <a:gd name="T3" fmla="*/ 2768600 h 1808"/>
              <a:gd name="T4" fmla="*/ 46038 w 29"/>
              <a:gd name="T5" fmla="*/ 2870200 h 180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" h="1808">
                <a:moveTo>
                  <a:pt x="3" y="0"/>
                </a:moveTo>
                <a:lnTo>
                  <a:pt x="0" y="1744"/>
                </a:lnTo>
                <a:lnTo>
                  <a:pt x="29" y="1808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92" name="Line 2690"/>
          <p:cNvSpPr>
            <a:spLocks noChangeShapeType="1"/>
          </p:cNvSpPr>
          <p:nvPr/>
        </p:nvSpPr>
        <p:spPr bwMode="auto">
          <a:xfrm>
            <a:off x="5357919" y="1247830"/>
            <a:ext cx="106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93" name="Line 2691"/>
          <p:cNvSpPr>
            <a:spLocks noChangeShapeType="1"/>
          </p:cNvSpPr>
          <p:nvPr/>
        </p:nvSpPr>
        <p:spPr bwMode="auto">
          <a:xfrm>
            <a:off x="5364269" y="1287518"/>
            <a:ext cx="587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94" name="Line 2692"/>
          <p:cNvSpPr>
            <a:spLocks noChangeShapeType="1"/>
          </p:cNvSpPr>
          <p:nvPr/>
        </p:nvSpPr>
        <p:spPr bwMode="auto">
          <a:xfrm>
            <a:off x="5357919" y="1327205"/>
            <a:ext cx="587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95" name="AutoShape 2693"/>
          <p:cNvSpPr>
            <a:spLocks noChangeArrowheads="1"/>
          </p:cNvSpPr>
          <p:nvPr/>
        </p:nvSpPr>
        <p:spPr bwMode="auto">
          <a:xfrm flipV="1">
            <a:off x="5797298" y="2006655"/>
            <a:ext cx="106362" cy="920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800" b="1"/>
          </a:p>
        </p:txBody>
      </p:sp>
      <p:sp>
        <p:nvSpPr>
          <p:cNvPr id="96" name="Line 2694"/>
          <p:cNvSpPr>
            <a:spLocks noChangeShapeType="1"/>
          </p:cNvSpPr>
          <p:nvPr/>
        </p:nvSpPr>
        <p:spPr bwMode="auto">
          <a:xfrm>
            <a:off x="5716335" y="2151118"/>
            <a:ext cx="92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98" name="Line 2696"/>
          <p:cNvSpPr>
            <a:spLocks noChangeShapeType="1"/>
          </p:cNvSpPr>
          <p:nvPr/>
        </p:nvSpPr>
        <p:spPr bwMode="auto">
          <a:xfrm>
            <a:off x="5775073" y="2193980"/>
            <a:ext cx="128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99" name="Line 2697"/>
          <p:cNvSpPr>
            <a:spLocks noChangeShapeType="1"/>
          </p:cNvSpPr>
          <p:nvPr/>
        </p:nvSpPr>
        <p:spPr bwMode="auto">
          <a:xfrm>
            <a:off x="5832223" y="2236843"/>
            <a:ext cx="42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100" name="Line 2698"/>
          <p:cNvSpPr>
            <a:spLocks noChangeShapeType="1"/>
          </p:cNvSpPr>
          <p:nvPr/>
        </p:nvSpPr>
        <p:spPr bwMode="auto">
          <a:xfrm flipV="1">
            <a:off x="5625721" y="3209980"/>
            <a:ext cx="0" cy="28892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101" name="Text Box 2699"/>
          <p:cNvSpPr txBox="1">
            <a:spLocks noChangeArrowheads="1"/>
          </p:cNvSpPr>
          <p:nvPr/>
        </p:nvSpPr>
        <p:spPr bwMode="auto">
          <a:xfrm>
            <a:off x="5597146" y="3143305"/>
            <a:ext cx="324228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>
                <a:latin typeface="Times New Roman" pitchFamily="18" charset="0"/>
                <a:sym typeface="Symbol" pitchFamily="18" charset="2"/>
              </a:rPr>
              <a:t>v</a:t>
            </a:r>
            <a:endParaRPr lang="en-US" altLang="zh-CN" sz="1800" b="1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02" name="Line 2700"/>
          <p:cNvSpPr>
            <a:spLocks noChangeShapeType="1"/>
          </p:cNvSpPr>
          <p:nvPr/>
        </p:nvSpPr>
        <p:spPr bwMode="auto">
          <a:xfrm flipV="1">
            <a:off x="5625721" y="2727380"/>
            <a:ext cx="0" cy="28892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103" name="Text Box 2701"/>
          <p:cNvSpPr txBox="1">
            <a:spLocks noChangeArrowheads="1"/>
          </p:cNvSpPr>
          <p:nvPr/>
        </p:nvSpPr>
        <p:spPr bwMode="auto">
          <a:xfrm>
            <a:off x="5597146" y="2660705"/>
            <a:ext cx="324228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>
                <a:latin typeface="Times New Roman" pitchFamily="18" charset="0"/>
                <a:sym typeface="Symbol" pitchFamily="18" charset="2"/>
              </a:rPr>
              <a:t>v</a:t>
            </a:r>
            <a:endParaRPr lang="en-US" altLang="zh-CN" sz="1800" b="1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04" name="Line 2702"/>
          <p:cNvSpPr>
            <a:spLocks noChangeShapeType="1"/>
          </p:cNvSpPr>
          <p:nvPr/>
        </p:nvSpPr>
        <p:spPr bwMode="auto">
          <a:xfrm flipV="1">
            <a:off x="5625721" y="2244780"/>
            <a:ext cx="0" cy="28892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 b="1"/>
          </a:p>
        </p:txBody>
      </p:sp>
      <p:sp>
        <p:nvSpPr>
          <p:cNvPr id="105" name="Text Box 2703"/>
          <p:cNvSpPr txBox="1">
            <a:spLocks noChangeArrowheads="1"/>
          </p:cNvSpPr>
          <p:nvPr/>
        </p:nvSpPr>
        <p:spPr bwMode="auto">
          <a:xfrm>
            <a:off x="5597146" y="2178105"/>
            <a:ext cx="324228" cy="42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46" tIns="54873" rIns="109746" bIns="54873">
            <a:spAutoFit/>
          </a:bodyPr>
          <a:lstStyle>
            <a:lvl1pPr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096963" eaLnBrk="0" hangingPunct="0"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096963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b="1" i="1">
                <a:latin typeface="Times New Roman" pitchFamily="18" charset="0"/>
                <a:sym typeface="Symbol" pitchFamily="18" charset="2"/>
              </a:rPr>
              <a:t>v</a:t>
            </a:r>
            <a:endParaRPr lang="en-US" altLang="zh-CN" sz="1800" b="1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456008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7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500"/>
                                        <p:tgtEl>
                                          <p:spTgt spid="14776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500"/>
                                        <p:tgtEl>
                                          <p:spTgt spid="14776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500"/>
                                        <p:tgtEl>
                                          <p:spTgt spid="14776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7696" grpId="0"/>
      <p:bldP spid="147769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658" name="Text Box 2"/>
          <p:cNvSpPr txBox="1">
            <a:spLocks noChangeArrowheads="1"/>
          </p:cNvSpPr>
          <p:nvPr/>
        </p:nvSpPr>
        <p:spPr bwMode="auto">
          <a:xfrm>
            <a:off x="101677" y="665019"/>
            <a:ext cx="884088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例题</a:t>
            </a:r>
            <a:r>
              <a:rPr kumimoji="1" lang="en-US" altLang="zh-CN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1】</a:t>
            </a:r>
            <a:r>
              <a:rPr kumimoji="1"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：对</a:t>
            </a:r>
            <a:r>
              <a:rPr kumimoji="1"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图</a:t>
            </a:r>
            <a:r>
              <a:rPr kumimoji="1"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中的三</a:t>
            </a:r>
            <a:r>
              <a:rPr kumimoji="1"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层土，试求等效土层的等效渗透系数</a:t>
            </a:r>
            <a:r>
              <a:rPr kumimoji="1" lang="en-US" altLang="zh-CN" sz="2200" b="1" i="1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i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2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i="1" baseline="-25000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。</a:t>
            </a:r>
            <a:endParaRPr kumimoji="1" lang="zh-CN" altLang="en-US" sz="22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78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149943"/>
              </p:ext>
            </p:extLst>
          </p:nvPr>
        </p:nvGraphicFramePr>
        <p:xfrm>
          <a:off x="782638" y="1536700"/>
          <a:ext cx="363537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0" name="公式" r:id="rId4" imgW="2019240" imgH="685800" progId="Equation.3">
                  <p:embed/>
                </p:oleObj>
              </mc:Choice>
              <mc:Fallback>
                <p:oleObj name="公式" r:id="rId4" imgW="201924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38" y="1536700"/>
                        <a:ext cx="3635375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8660" name="Text Box 4"/>
          <p:cNvSpPr txBox="1">
            <a:spLocks noChangeArrowheads="1"/>
          </p:cNvSpPr>
          <p:nvPr/>
        </p:nvSpPr>
        <p:spPr bwMode="auto">
          <a:xfrm>
            <a:off x="4352926" y="3615450"/>
            <a:ext cx="3205622" cy="461665"/>
          </a:xfrm>
          <a:prstGeom prst="rect">
            <a:avLst/>
          </a:prstGeom>
          <a:noFill/>
          <a:ln w="38100" algn="ctr">
            <a:solidFill>
              <a:srgbClr val="A5002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由渗透性较大土层控制</a:t>
            </a:r>
            <a:endParaRPr lang="zh-CN" altLang="en-US" sz="2400" b="1" dirty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</p:txBody>
      </p:sp>
      <p:sp>
        <p:nvSpPr>
          <p:cNvPr id="1478661" name="Text Box 5"/>
          <p:cNvSpPr txBox="1">
            <a:spLocks noChangeArrowheads="1"/>
          </p:cNvSpPr>
          <p:nvPr/>
        </p:nvSpPr>
        <p:spPr bwMode="auto">
          <a:xfrm>
            <a:off x="4264025" y="4570678"/>
            <a:ext cx="3309271" cy="461665"/>
          </a:xfrm>
          <a:prstGeom prst="rect">
            <a:avLst/>
          </a:prstGeom>
          <a:noFill/>
          <a:ln w="38100" algn="ctr">
            <a:solidFill>
              <a:srgbClr val="A5002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由渗透性</a:t>
            </a:r>
            <a:r>
              <a:rPr lang="zh-CN" altLang="en-US" sz="2400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较小土层</a:t>
            </a: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控制</a:t>
            </a:r>
          </a:p>
        </p:txBody>
      </p:sp>
      <p:graphicFrame>
        <p:nvGraphicFramePr>
          <p:cNvPr id="14786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114626"/>
              </p:ext>
            </p:extLst>
          </p:nvPr>
        </p:nvGraphicFramePr>
        <p:xfrm>
          <a:off x="809625" y="3387725"/>
          <a:ext cx="31543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1" name="公式" r:id="rId6" imgW="1752480" imgH="431640" progId="Equation.3">
                  <p:embed/>
                </p:oleObj>
              </mc:Choice>
              <mc:Fallback>
                <p:oleObj name="公式" r:id="rId6" imgW="1752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3387725"/>
                        <a:ext cx="315436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86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20036"/>
              </p:ext>
            </p:extLst>
          </p:nvPr>
        </p:nvGraphicFramePr>
        <p:xfrm>
          <a:off x="746125" y="4340491"/>
          <a:ext cx="2971728" cy="1165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62" name="公式" r:id="rId8" imgW="1650960" imgH="647640" progId="Equation.3">
                  <p:embed/>
                </p:oleObj>
              </mc:Choice>
              <mc:Fallback>
                <p:oleObj name="公式" r:id="rId8" imgW="1650960" imgH="647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4340491"/>
                        <a:ext cx="2971728" cy="1165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2255839" y="5734050"/>
            <a:ext cx="57896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层状地基的等效渗透系数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178426" y="1117803"/>
            <a:ext cx="3648076" cy="2271713"/>
            <a:chOff x="3262" y="463"/>
            <a:chExt cx="2298" cy="1431"/>
          </a:xfrm>
        </p:grpSpPr>
        <p:sp>
          <p:nvSpPr>
            <p:cNvPr id="16395" name="Rectangle 11"/>
            <p:cNvSpPr>
              <a:spLocks noChangeArrowheads="1"/>
            </p:cNvSpPr>
            <p:nvPr/>
          </p:nvSpPr>
          <p:spPr bwMode="auto">
            <a:xfrm>
              <a:off x="3262" y="500"/>
              <a:ext cx="2298" cy="1394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396" name="Freeform 12"/>
            <p:cNvSpPr>
              <a:spLocks/>
            </p:cNvSpPr>
            <p:nvPr/>
          </p:nvSpPr>
          <p:spPr bwMode="auto">
            <a:xfrm flipV="1">
              <a:off x="3345" y="1548"/>
              <a:ext cx="2168" cy="214"/>
            </a:xfrm>
            <a:custGeom>
              <a:avLst/>
              <a:gdLst>
                <a:gd name="T0" fmla="*/ 0 w 2877"/>
                <a:gd name="T1" fmla="*/ 0 h 1"/>
                <a:gd name="T2" fmla="*/ 2877 w 2877"/>
                <a:gd name="T3" fmla="*/ 0 h 1"/>
                <a:gd name="T4" fmla="*/ 0 60000 65536"/>
                <a:gd name="T5" fmla="*/ 0 60000 65536"/>
                <a:gd name="T6" fmla="*/ 0 w 2877"/>
                <a:gd name="T7" fmla="*/ 0 h 1"/>
                <a:gd name="T8" fmla="*/ 2877 w 287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77" h="1">
                  <a:moveTo>
                    <a:pt x="0" y="0"/>
                  </a:moveTo>
                  <a:lnTo>
                    <a:pt x="2877" y="0"/>
                  </a:lnTo>
                </a:path>
              </a:pathLst>
            </a:custGeom>
            <a:noFill/>
            <a:ln w="28575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397" name="Freeform 13"/>
            <p:cNvSpPr>
              <a:spLocks/>
            </p:cNvSpPr>
            <p:nvPr/>
          </p:nvSpPr>
          <p:spPr bwMode="auto">
            <a:xfrm>
              <a:off x="3345" y="725"/>
              <a:ext cx="2179" cy="214"/>
            </a:xfrm>
            <a:custGeom>
              <a:avLst/>
              <a:gdLst>
                <a:gd name="T0" fmla="*/ 0 w 2881"/>
                <a:gd name="T1" fmla="*/ 0 h 1"/>
                <a:gd name="T2" fmla="*/ 2881 w 2881"/>
                <a:gd name="T3" fmla="*/ 0 h 1"/>
                <a:gd name="T4" fmla="*/ 0 60000 65536"/>
                <a:gd name="T5" fmla="*/ 0 60000 65536"/>
                <a:gd name="T6" fmla="*/ 0 w 2881"/>
                <a:gd name="T7" fmla="*/ 0 h 1"/>
                <a:gd name="T8" fmla="*/ 2881 w 288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81" h="1">
                  <a:moveTo>
                    <a:pt x="0" y="0"/>
                  </a:moveTo>
                  <a:lnTo>
                    <a:pt x="288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398" name="Line 14"/>
            <p:cNvSpPr>
              <a:spLocks noChangeShapeType="1"/>
            </p:cNvSpPr>
            <p:nvPr/>
          </p:nvSpPr>
          <p:spPr bwMode="auto">
            <a:xfrm>
              <a:off x="4109" y="725"/>
              <a:ext cx="0" cy="2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399" name="Line 15"/>
            <p:cNvSpPr>
              <a:spLocks noChangeShapeType="1"/>
            </p:cNvSpPr>
            <p:nvPr/>
          </p:nvSpPr>
          <p:spPr bwMode="auto">
            <a:xfrm>
              <a:off x="4706" y="725"/>
              <a:ext cx="0" cy="3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400" name="Line 16"/>
            <p:cNvSpPr>
              <a:spLocks noChangeShapeType="1"/>
            </p:cNvSpPr>
            <p:nvPr/>
          </p:nvSpPr>
          <p:spPr bwMode="auto">
            <a:xfrm>
              <a:off x="4708" y="1076"/>
              <a:ext cx="0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401" name="Line 17"/>
            <p:cNvSpPr>
              <a:spLocks noChangeShapeType="1"/>
            </p:cNvSpPr>
            <p:nvPr/>
          </p:nvSpPr>
          <p:spPr bwMode="auto">
            <a:xfrm>
              <a:off x="4706" y="1422"/>
              <a:ext cx="0" cy="3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402" name="Line 18"/>
            <p:cNvSpPr>
              <a:spLocks noChangeShapeType="1"/>
            </p:cNvSpPr>
            <p:nvPr/>
          </p:nvSpPr>
          <p:spPr bwMode="auto">
            <a:xfrm>
              <a:off x="5170" y="725"/>
              <a:ext cx="0" cy="1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403" name="Text Box 19"/>
            <p:cNvSpPr txBox="1">
              <a:spLocks noChangeArrowheads="1"/>
            </p:cNvSpPr>
            <p:nvPr/>
          </p:nvSpPr>
          <p:spPr bwMode="auto">
            <a:xfrm>
              <a:off x="4775" y="798"/>
              <a:ext cx="21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04" name="Text Box 20"/>
            <p:cNvSpPr txBox="1">
              <a:spLocks noChangeArrowheads="1"/>
            </p:cNvSpPr>
            <p:nvPr/>
          </p:nvSpPr>
          <p:spPr bwMode="auto">
            <a:xfrm>
              <a:off x="4779" y="1145"/>
              <a:ext cx="21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4779" y="1462"/>
              <a:ext cx="21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406" name="Text Box 22"/>
            <p:cNvSpPr txBox="1">
              <a:spLocks noChangeArrowheads="1"/>
            </p:cNvSpPr>
            <p:nvPr/>
          </p:nvSpPr>
          <p:spPr bwMode="auto">
            <a:xfrm>
              <a:off x="5245" y="1086"/>
              <a:ext cx="15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6407" name="Text Box 23"/>
            <p:cNvSpPr txBox="1">
              <a:spLocks noChangeArrowheads="1"/>
            </p:cNvSpPr>
            <p:nvPr/>
          </p:nvSpPr>
          <p:spPr bwMode="auto">
            <a:xfrm>
              <a:off x="3660" y="781"/>
              <a:ext cx="1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08" name="Text Box 24"/>
            <p:cNvSpPr txBox="1">
              <a:spLocks noChangeArrowheads="1"/>
            </p:cNvSpPr>
            <p:nvPr/>
          </p:nvSpPr>
          <p:spPr bwMode="auto">
            <a:xfrm>
              <a:off x="3670" y="1121"/>
              <a:ext cx="1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409" name="Text Box 25"/>
            <p:cNvSpPr txBox="1">
              <a:spLocks noChangeArrowheads="1"/>
            </p:cNvSpPr>
            <p:nvPr/>
          </p:nvSpPr>
          <p:spPr bwMode="auto">
            <a:xfrm>
              <a:off x="3672" y="146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410" name="Text Box 26"/>
            <p:cNvSpPr txBox="1">
              <a:spLocks noChangeArrowheads="1"/>
            </p:cNvSpPr>
            <p:nvPr/>
          </p:nvSpPr>
          <p:spPr bwMode="auto">
            <a:xfrm>
              <a:off x="5263" y="463"/>
              <a:ext cx="1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6411" name="Text Box 27"/>
            <p:cNvSpPr txBox="1">
              <a:spLocks noChangeArrowheads="1"/>
            </p:cNvSpPr>
            <p:nvPr/>
          </p:nvSpPr>
          <p:spPr bwMode="auto">
            <a:xfrm>
              <a:off x="4159" y="804"/>
              <a:ext cx="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6412" name="Line 28"/>
            <p:cNvSpPr>
              <a:spLocks noChangeShapeType="1"/>
            </p:cNvSpPr>
            <p:nvPr/>
          </p:nvSpPr>
          <p:spPr bwMode="auto">
            <a:xfrm>
              <a:off x="3345" y="1071"/>
              <a:ext cx="1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6413" name="Line 29"/>
            <p:cNvSpPr>
              <a:spLocks noChangeShapeType="1"/>
            </p:cNvSpPr>
            <p:nvPr/>
          </p:nvSpPr>
          <p:spPr bwMode="auto">
            <a:xfrm>
              <a:off x="3345" y="1419"/>
              <a:ext cx="1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等效渗透系数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301668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7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7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7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7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500"/>
                                        <p:tgtEl>
                                          <p:spTgt spid="14786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500"/>
                                        <p:tgtEl>
                                          <p:spTgt spid="14786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500"/>
                                        <p:tgtEl>
                                          <p:spTgt spid="14786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3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500"/>
                                        <p:tgtEl>
                                          <p:spTgt spid="14786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500"/>
                                        <p:tgtEl>
                                          <p:spTgt spid="14786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500"/>
                                        <p:tgtEl>
                                          <p:spTgt spid="14786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8658" grpId="0"/>
      <p:bldP spid="1478660" grpId="0" animBg="1"/>
      <p:bldP spid="147866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8" name="Rectangle 2"/>
          <p:cNvSpPr>
            <a:spLocks noChangeArrowheads="1"/>
          </p:cNvSpPr>
          <p:nvPr/>
        </p:nvSpPr>
        <p:spPr bwMode="auto">
          <a:xfrm>
            <a:off x="2190750" y="5730875"/>
            <a:ext cx="5848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层状地基的等效渗透系数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20713" y="879475"/>
            <a:ext cx="7796212" cy="4420912"/>
            <a:chOff x="864" y="1872"/>
            <a:chExt cx="4176" cy="2308"/>
          </a:xfrm>
        </p:grpSpPr>
        <p:sp>
          <p:nvSpPr>
            <p:cNvPr id="17427" name="Rectangle 5"/>
            <p:cNvSpPr>
              <a:spLocks noChangeArrowheads="1"/>
            </p:cNvSpPr>
            <p:nvPr/>
          </p:nvSpPr>
          <p:spPr bwMode="auto">
            <a:xfrm>
              <a:off x="864" y="1872"/>
              <a:ext cx="4176" cy="2304"/>
            </a:xfrm>
            <a:prstGeom prst="rect">
              <a:avLst/>
            </a:prstGeom>
            <a:solidFill>
              <a:srgbClr val="FFFFCC"/>
            </a:solidFill>
            <a:ln w="19050" cap="rnd">
              <a:solidFill>
                <a:srgbClr val="663300"/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 b="1">
                <a:cs typeface="Times New Roman" panose="02020603050405020304" pitchFamily="18" charset="0"/>
              </a:endParaRPr>
            </a:p>
          </p:txBody>
        </p:sp>
        <p:sp>
          <p:nvSpPr>
            <p:cNvPr id="17428" name="Line 6"/>
            <p:cNvSpPr>
              <a:spLocks noChangeShapeType="1"/>
            </p:cNvSpPr>
            <p:nvPr/>
          </p:nvSpPr>
          <p:spPr bwMode="auto">
            <a:xfrm>
              <a:off x="3216" y="1876"/>
              <a:ext cx="0" cy="2304"/>
            </a:xfrm>
            <a:prstGeom prst="line">
              <a:avLst/>
            </a:prstGeom>
            <a:noFill/>
            <a:ln w="31750" cap="rnd">
              <a:solidFill>
                <a:srgbClr val="6633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7429" name="Line 7"/>
            <p:cNvSpPr>
              <a:spLocks noChangeShapeType="1"/>
            </p:cNvSpPr>
            <p:nvPr/>
          </p:nvSpPr>
          <p:spPr bwMode="auto">
            <a:xfrm>
              <a:off x="1488" y="1876"/>
              <a:ext cx="0" cy="2304"/>
            </a:xfrm>
            <a:prstGeom prst="line">
              <a:avLst/>
            </a:prstGeom>
            <a:noFill/>
            <a:ln w="31750" cap="rnd">
              <a:solidFill>
                <a:srgbClr val="6633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1479688" name="Rectangle 8"/>
          <p:cNvSpPr>
            <a:spLocks noChangeArrowheads="1"/>
          </p:cNvSpPr>
          <p:nvPr/>
        </p:nvSpPr>
        <p:spPr bwMode="auto">
          <a:xfrm>
            <a:off x="2214563" y="968375"/>
            <a:ext cx="1785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990000"/>
                </a:solidFill>
                <a:ea typeface="幼圆" pitchFamily="49" charset="-122"/>
                <a:cs typeface="Times New Roman" panose="02020603050405020304" pitchFamily="18" charset="0"/>
              </a:rPr>
              <a:t>水平渗流情形</a:t>
            </a:r>
          </a:p>
        </p:txBody>
      </p:sp>
      <p:sp>
        <p:nvSpPr>
          <p:cNvPr id="1479689" name="Rectangle 9"/>
          <p:cNvSpPr>
            <a:spLocks noChangeArrowheads="1"/>
          </p:cNvSpPr>
          <p:nvPr/>
        </p:nvSpPr>
        <p:spPr bwMode="auto">
          <a:xfrm>
            <a:off x="5314950" y="968375"/>
            <a:ext cx="176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990000"/>
                </a:solidFill>
                <a:ea typeface="幼圆" pitchFamily="49" charset="-122"/>
                <a:cs typeface="Times New Roman" panose="02020603050405020304" pitchFamily="18" charset="0"/>
              </a:rPr>
              <a:t>垂直渗流情形</a:t>
            </a:r>
          </a:p>
        </p:txBody>
      </p:sp>
      <p:sp>
        <p:nvSpPr>
          <p:cNvPr id="1479690" name="Rectangle 10"/>
          <p:cNvSpPr>
            <a:spLocks noChangeArrowheads="1"/>
          </p:cNvSpPr>
          <p:nvPr/>
        </p:nvSpPr>
        <p:spPr bwMode="auto">
          <a:xfrm>
            <a:off x="842963" y="1651000"/>
            <a:ext cx="727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条件</a:t>
            </a:r>
          </a:p>
        </p:txBody>
      </p:sp>
      <p:sp>
        <p:nvSpPr>
          <p:cNvPr id="1479691" name="Rectangle 11"/>
          <p:cNvSpPr>
            <a:spLocks noChangeArrowheads="1"/>
          </p:cNvSpPr>
          <p:nvPr/>
        </p:nvSpPr>
        <p:spPr bwMode="auto">
          <a:xfrm>
            <a:off x="842963" y="2790825"/>
            <a:ext cx="725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已知</a:t>
            </a:r>
          </a:p>
        </p:txBody>
      </p:sp>
      <p:sp>
        <p:nvSpPr>
          <p:cNvPr id="1479692" name="Rectangle 12"/>
          <p:cNvSpPr>
            <a:spLocks noChangeArrowheads="1"/>
          </p:cNvSpPr>
          <p:nvPr/>
        </p:nvSpPr>
        <p:spPr bwMode="auto">
          <a:xfrm>
            <a:off x="842963" y="3549650"/>
            <a:ext cx="739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等效</a:t>
            </a:r>
          </a:p>
        </p:txBody>
      </p:sp>
      <p:sp>
        <p:nvSpPr>
          <p:cNvPr id="1479693" name="Rectangle 13"/>
          <p:cNvSpPr>
            <a:spLocks noChangeArrowheads="1"/>
          </p:cNvSpPr>
          <p:nvPr/>
        </p:nvSpPr>
        <p:spPr bwMode="auto">
          <a:xfrm>
            <a:off x="842963" y="4357688"/>
            <a:ext cx="725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公式</a:t>
            </a:r>
          </a:p>
        </p:txBody>
      </p:sp>
      <p:graphicFrame>
        <p:nvGraphicFramePr>
          <p:cNvPr id="14796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649909"/>
              </p:ext>
            </p:extLst>
          </p:nvPr>
        </p:nvGraphicFramePr>
        <p:xfrm>
          <a:off x="1978025" y="1458913"/>
          <a:ext cx="2652713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6" name="公式" r:id="rId4" imgW="1473120" imgH="660240" progId="Equation.3">
                  <p:embed/>
                </p:oleObj>
              </mc:Choice>
              <mc:Fallback>
                <p:oleObj name="公式" r:id="rId4" imgW="1473120" imgH="660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1458913"/>
                        <a:ext cx="2652713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96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25001"/>
              </p:ext>
            </p:extLst>
          </p:nvPr>
        </p:nvGraphicFramePr>
        <p:xfrm>
          <a:off x="1879600" y="2801938"/>
          <a:ext cx="2491560" cy="38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7" name="公式" r:id="rId6" imgW="1384200" imgH="215640" progId="Equation.3">
                  <p:embed/>
                </p:oleObj>
              </mc:Choice>
              <mc:Fallback>
                <p:oleObj name="公式" r:id="rId6" imgW="1384200" imgH="215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801938"/>
                        <a:ext cx="2491560" cy="388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96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115124"/>
              </p:ext>
            </p:extLst>
          </p:nvPr>
        </p:nvGraphicFramePr>
        <p:xfrm>
          <a:off x="1944688" y="3541713"/>
          <a:ext cx="10509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8" name="公式" r:id="rId8" imgW="583920" imgH="215640" progId="Equation.3">
                  <p:embed/>
                </p:oleObj>
              </mc:Choice>
              <mc:Fallback>
                <p:oleObj name="公式" r:id="rId8" imgW="58392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3541713"/>
                        <a:ext cx="1050925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96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589435"/>
              </p:ext>
            </p:extLst>
          </p:nvPr>
        </p:nvGraphicFramePr>
        <p:xfrm>
          <a:off x="1978025" y="4235450"/>
          <a:ext cx="180498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9" name="公式" r:id="rId10" imgW="1002960" imgH="393480" progId="Equation.3">
                  <p:embed/>
                </p:oleObj>
              </mc:Choice>
              <mc:Fallback>
                <p:oleObj name="公式" r:id="rId10" imgW="1002960" imgH="393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4235450"/>
                        <a:ext cx="1804988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96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803940"/>
              </p:ext>
            </p:extLst>
          </p:nvPr>
        </p:nvGraphicFramePr>
        <p:xfrm>
          <a:off x="5232400" y="1484313"/>
          <a:ext cx="2741613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50" name="公式" r:id="rId12" imgW="1523880" imgH="482400" progId="Equation.3">
                  <p:embed/>
                </p:oleObj>
              </mc:Choice>
              <mc:Fallback>
                <p:oleObj name="公式" r:id="rId12" imgW="1523880" imgH="4824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1484313"/>
                        <a:ext cx="2741613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969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637071"/>
              </p:ext>
            </p:extLst>
          </p:nvPr>
        </p:nvGraphicFramePr>
        <p:xfrm>
          <a:off x="5187950" y="2825750"/>
          <a:ext cx="2491560" cy="38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51" name="公式" r:id="rId14" imgW="1384200" imgH="215640" progId="Equation.3">
                  <p:embed/>
                </p:oleObj>
              </mc:Choice>
              <mc:Fallback>
                <p:oleObj name="公式" r:id="rId14" imgW="1384200" imgH="215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2825750"/>
                        <a:ext cx="2491560" cy="388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97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043417"/>
              </p:ext>
            </p:extLst>
          </p:nvPr>
        </p:nvGraphicFramePr>
        <p:xfrm>
          <a:off x="5248275" y="3371850"/>
          <a:ext cx="1759968" cy="66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52" name="公式" r:id="rId16" imgW="977760" imgH="368280" progId="Equation.3">
                  <p:embed/>
                </p:oleObj>
              </mc:Choice>
              <mc:Fallback>
                <p:oleObj name="公式" r:id="rId16" imgW="977760" imgH="3682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3371850"/>
                        <a:ext cx="1759968" cy="662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970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002447"/>
              </p:ext>
            </p:extLst>
          </p:nvPr>
        </p:nvGraphicFramePr>
        <p:xfrm>
          <a:off x="5264150" y="4137025"/>
          <a:ext cx="1347788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53" name="公式" r:id="rId18" imgW="749160" imgH="647640" progId="Equation.3">
                  <p:embed/>
                </p:oleObj>
              </mc:Choice>
              <mc:Fallback>
                <p:oleObj name="公式" r:id="rId18" imgW="749160" imgH="647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4150" y="4137025"/>
                        <a:ext cx="1347788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-1" y="0"/>
            <a:ext cx="59817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等效渗透系数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79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79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79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79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79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79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7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79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7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7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79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7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7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9688" grpId="0" build="p" autoUpdateAnimBg="0" advAuto="0"/>
      <p:bldP spid="1479689" grpId="0" build="p" autoUpdateAnimBg="0" advAuto="0"/>
      <p:bldP spid="1479690" grpId="0" build="p" autoUpdateAnimBg="0"/>
      <p:bldP spid="1479691" grpId="0" build="p" autoUpdateAnimBg="0"/>
      <p:bldP spid="1479692" grpId="0" build="p" autoUpdateAnimBg="0"/>
      <p:bldP spid="1479693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3759200" y="5940425"/>
            <a:ext cx="253153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小     结</a:t>
            </a:r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-1" y="0"/>
            <a:ext cx="44958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的渗流性与渗透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规律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小结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859787" y="599808"/>
            <a:ext cx="2420184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渗透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定律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1387395" y="1113164"/>
            <a:ext cx="3327971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水头与水力坡降</a:t>
            </a: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达西定律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 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适用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条件：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层流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873963" y="2509919"/>
            <a:ext cx="237413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渗透系数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401570" y="3065807"/>
            <a:ext cx="7598747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测定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方法：常水头试验、变水头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试验、现场抽水试验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影响因素：级配、孔隙比、矿物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成分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、结构、饱和度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888136" y="4033918"/>
            <a:ext cx="4299504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层状地基的等效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渗透系数</a:t>
            </a:r>
            <a:endParaRPr kumimoji="1"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1449263" y="4606292"/>
            <a:ext cx="3327971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水平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等效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渗透系数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垂直等效渗透系数</a:t>
            </a:r>
            <a:endParaRPr kumimoji="1" lang="en-US" altLang="zh-CN" sz="2400" b="1" i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/>
      <p:bldP spid="17" grpId="0" autoUpdateAnimBg="0"/>
      <p:bldP spid="18" grpId="0"/>
      <p:bldP spid="19" grpId="0" autoUpdateAnimBg="0"/>
      <p:bldP spid="2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1358900" y="1419225"/>
            <a:ext cx="6848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第二章：土的渗透性和渗流问题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078038" y="2411413"/>
            <a:ext cx="5738812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§2.1  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渗流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及其工程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 </a:t>
            </a: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kumimoji="1" lang="zh-CN" altLang="en-US" sz="3200" b="1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§2.2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土的渗透性与渗透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规律 </a:t>
            </a: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§2.3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平面渗流与流网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§2.4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渗透力与渗透变形</a:t>
            </a:r>
            <a:r>
              <a:rPr kumimoji="1" lang="zh-CN" altLang="en-US" sz="24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4" name="Rectangle 21"/>
          <p:cNvSpPr>
            <a:spLocks noChangeArrowheads="1"/>
          </p:cNvSpPr>
          <p:nvPr/>
        </p:nvSpPr>
        <p:spPr bwMode="auto">
          <a:xfrm>
            <a:off x="3133725" y="5737225"/>
            <a:ext cx="39052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平面渗流和流网</a:t>
            </a:r>
            <a:endParaRPr lang="en-US" altLang="zh-CN" sz="4000" b="1" dirty="0">
              <a:solidFill>
                <a:srgbClr val="000066"/>
              </a:solidFill>
              <a:latin typeface="Garamond" pitchFamily="18" charset="0"/>
              <a:ea typeface="黑体" pitchFamily="2" charset="-122"/>
            </a:endParaRP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733403" y="1492582"/>
            <a:ext cx="5954232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5600" indent="-355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平面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渗流和广义达西定律</a:t>
            </a:r>
            <a:endParaRPr lang="en-US" altLang="zh-CN" sz="28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平面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渗流的运动方程和边界条件</a:t>
            </a:r>
            <a:endParaRPr lang="en-US" altLang="zh-CN" sz="28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势函数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和流函数的概念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流网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的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特性与画法</a:t>
            </a:r>
            <a:endParaRPr lang="en-US" altLang="zh-CN" sz="28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流网的应用</a:t>
            </a:r>
            <a:endParaRPr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-1" y="0"/>
            <a:ext cx="33528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261863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754" name="Text Box 2"/>
          <p:cNvSpPr txBox="1">
            <a:spLocks noChangeArrowheads="1"/>
          </p:cNvSpPr>
          <p:nvPr/>
        </p:nvSpPr>
        <p:spPr bwMode="auto">
          <a:xfrm>
            <a:off x="479425" y="757238"/>
            <a:ext cx="4310063" cy="319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平面问题：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渗流剖面和产生渗流的条件沿某一个方向不发生变化，则在垂直该方向的各个平面内，渗流状况完全一致。</a:t>
            </a:r>
            <a:b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</a:b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对平面问题，常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取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y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=1m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单位厚度的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一片来进行分析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82756" name="Text Box 4"/>
          <p:cNvSpPr txBox="1">
            <a:spLocks noChangeArrowheads="1"/>
          </p:cNvSpPr>
          <p:nvPr/>
        </p:nvSpPr>
        <p:spPr bwMode="auto">
          <a:xfrm>
            <a:off x="2534491" y="4905375"/>
            <a:ext cx="24525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,z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),   </a:t>
            </a:r>
            <a:r>
              <a: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,z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82757" name="Text Box 5"/>
          <p:cNvSpPr txBox="1">
            <a:spLocks noChangeArrowheads="1"/>
          </p:cNvSpPr>
          <p:nvPr/>
        </p:nvSpPr>
        <p:spPr bwMode="auto">
          <a:xfrm>
            <a:off x="6300788" y="4926013"/>
            <a:ext cx="1590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与时间无关</a:t>
            </a:r>
          </a:p>
        </p:txBody>
      </p:sp>
      <p:sp>
        <p:nvSpPr>
          <p:cNvPr id="1482758" name="Text Box 6"/>
          <p:cNvSpPr txBox="1">
            <a:spLocks noChangeArrowheads="1"/>
          </p:cNvSpPr>
          <p:nvPr/>
        </p:nvSpPr>
        <p:spPr bwMode="auto">
          <a:xfrm>
            <a:off x="479425" y="4270375"/>
            <a:ext cx="6002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 稳定渗流：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流场不随时间发生变化的渗流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827588" y="901700"/>
            <a:ext cx="4024313" cy="2847975"/>
            <a:chOff x="3041" y="568"/>
            <a:chExt cx="2535" cy="1794"/>
          </a:xfrm>
        </p:grpSpPr>
        <p:sp>
          <p:nvSpPr>
            <p:cNvPr id="60426" name="Rectangle 8"/>
            <p:cNvSpPr>
              <a:spLocks noChangeArrowheads="1"/>
            </p:cNvSpPr>
            <p:nvPr/>
          </p:nvSpPr>
          <p:spPr bwMode="auto">
            <a:xfrm>
              <a:off x="3041" y="568"/>
              <a:ext cx="2535" cy="175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7" name="Rectangle 9"/>
            <p:cNvSpPr>
              <a:spLocks noChangeAspect="1" noChangeArrowheads="1"/>
            </p:cNvSpPr>
            <p:nvPr/>
          </p:nvSpPr>
          <p:spPr bwMode="auto">
            <a:xfrm>
              <a:off x="3371" y="871"/>
              <a:ext cx="595" cy="548"/>
            </a:xfrm>
            <a:prstGeom prst="rect">
              <a:avLst/>
            </a:prstGeom>
            <a:solidFill>
              <a:srgbClr val="0066CC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8" name="Rectangle 10" descr="大纸屑"/>
            <p:cNvSpPr>
              <a:spLocks noChangeAspect="1" noChangeArrowheads="1"/>
            </p:cNvSpPr>
            <p:nvPr/>
          </p:nvSpPr>
          <p:spPr bwMode="auto">
            <a:xfrm>
              <a:off x="3371" y="1365"/>
              <a:ext cx="1922" cy="656"/>
            </a:xfrm>
            <a:prstGeom prst="rect">
              <a:avLst/>
            </a:prstGeom>
            <a:pattFill prst="lgConfetti">
              <a:fgClr>
                <a:srgbClr val="666633"/>
              </a:fgClr>
              <a:bgClr>
                <a:srgbClr val="FFFFCC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9" name="AutoShape 11" descr="大纸屑"/>
            <p:cNvSpPr>
              <a:spLocks noChangeAspect="1" noChangeArrowheads="1"/>
            </p:cNvSpPr>
            <p:nvPr/>
          </p:nvSpPr>
          <p:spPr bwMode="auto">
            <a:xfrm>
              <a:off x="4000" y="1583"/>
              <a:ext cx="1099" cy="164"/>
            </a:xfrm>
            <a:prstGeom prst="parallelogram">
              <a:avLst>
                <a:gd name="adj" fmla="val 86682"/>
              </a:avLst>
            </a:prstGeom>
            <a:pattFill prst="lgConfetti">
              <a:fgClr>
                <a:srgbClr val="666633"/>
              </a:fgClr>
              <a:bgClr>
                <a:srgbClr val="FFFFCC"/>
              </a:bgClr>
            </a:pattFill>
            <a:ln w="9525">
              <a:pattFill prst="lgConfetti">
                <a:fgClr>
                  <a:srgbClr val="666633"/>
                </a:fgClr>
                <a:bgClr>
                  <a:srgbClr val="FFFFCC"/>
                </a:bgClr>
              </a:patt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0" name="Line 12"/>
            <p:cNvSpPr>
              <a:spLocks noChangeAspect="1" noChangeShapeType="1"/>
            </p:cNvSpPr>
            <p:nvPr/>
          </p:nvSpPr>
          <p:spPr bwMode="auto">
            <a:xfrm>
              <a:off x="3371" y="871"/>
              <a:ext cx="550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1" name="Freeform 13"/>
            <p:cNvSpPr>
              <a:spLocks noChangeAspect="1"/>
            </p:cNvSpPr>
            <p:nvPr/>
          </p:nvSpPr>
          <p:spPr bwMode="auto">
            <a:xfrm>
              <a:off x="3680" y="1365"/>
              <a:ext cx="1475" cy="521"/>
            </a:xfrm>
            <a:custGeom>
              <a:avLst/>
              <a:gdLst>
                <a:gd name="T0" fmla="*/ 0 w 1475"/>
                <a:gd name="T1" fmla="*/ 0 h 521"/>
                <a:gd name="T2" fmla="*/ 46 w 1475"/>
                <a:gd name="T3" fmla="*/ 219 h 521"/>
                <a:gd name="T4" fmla="*/ 229 w 1475"/>
                <a:gd name="T5" fmla="*/ 438 h 521"/>
                <a:gd name="T6" fmla="*/ 467 w 1475"/>
                <a:gd name="T7" fmla="*/ 497 h 521"/>
                <a:gd name="T8" fmla="*/ 1144 w 1475"/>
                <a:gd name="T9" fmla="*/ 493 h 521"/>
                <a:gd name="T10" fmla="*/ 1373 w 1475"/>
                <a:gd name="T11" fmla="*/ 328 h 521"/>
                <a:gd name="T12" fmla="*/ 1453 w 1475"/>
                <a:gd name="T13" fmla="*/ 133 h 521"/>
                <a:gd name="T14" fmla="*/ 1475 w 1475"/>
                <a:gd name="T15" fmla="*/ 5 h 5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75"/>
                <a:gd name="T25" fmla="*/ 0 h 521"/>
                <a:gd name="T26" fmla="*/ 1475 w 1475"/>
                <a:gd name="T27" fmla="*/ 521 h 5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75" h="521">
                  <a:moveTo>
                    <a:pt x="0" y="0"/>
                  </a:moveTo>
                  <a:cubicBezTo>
                    <a:pt x="4" y="73"/>
                    <a:pt x="8" y="146"/>
                    <a:pt x="46" y="219"/>
                  </a:cubicBezTo>
                  <a:cubicBezTo>
                    <a:pt x="84" y="292"/>
                    <a:pt x="159" y="392"/>
                    <a:pt x="229" y="438"/>
                  </a:cubicBezTo>
                  <a:cubicBezTo>
                    <a:pt x="299" y="484"/>
                    <a:pt x="315" y="488"/>
                    <a:pt x="467" y="497"/>
                  </a:cubicBezTo>
                  <a:cubicBezTo>
                    <a:pt x="619" y="506"/>
                    <a:pt x="993" y="521"/>
                    <a:pt x="1144" y="493"/>
                  </a:cubicBezTo>
                  <a:cubicBezTo>
                    <a:pt x="1295" y="465"/>
                    <a:pt x="1322" y="388"/>
                    <a:pt x="1373" y="328"/>
                  </a:cubicBezTo>
                  <a:cubicBezTo>
                    <a:pt x="1424" y="268"/>
                    <a:pt x="1436" y="187"/>
                    <a:pt x="1453" y="133"/>
                  </a:cubicBezTo>
                  <a:cubicBezTo>
                    <a:pt x="1470" y="79"/>
                    <a:pt x="1470" y="32"/>
                    <a:pt x="1475" y="5"/>
                  </a:cubicBezTo>
                </a:path>
              </a:pathLst>
            </a:custGeom>
            <a:noFill/>
            <a:ln w="28575">
              <a:solidFill>
                <a:srgbClr val="660033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2" name="AutoShape 14"/>
            <p:cNvSpPr>
              <a:spLocks noChangeAspect="1" noChangeArrowheads="1"/>
            </p:cNvSpPr>
            <p:nvPr/>
          </p:nvSpPr>
          <p:spPr bwMode="auto">
            <a:xfrm flipV="1">
              <a:off x="3547" y="758"/>
              <a:ext cx="107" cy="97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3" name="Freeform 15"/>
            <p:cNvSpPr>
              <a:spLocks noChangeAspect="1"/>
            </p:cNvSpPr>
            <p:nvPr/>
          </p:nvSpPr>
          <p:spPr bwMode="auto">
            <a:xfrm>
              <a:off x="3916" y="647"/>
              <a:ext cx="1046" cy="996"/>
            </a:xfrm>
            <a:custGeom>
              <a:avLst/>
              <a:gdLst>
                <a:gd name="T0" fmla="*/ 5 w 1046"/>
                <a:gd name="T1" fmla="*/ 987 h 996"/>
                <a:gd name="T2" fmla="*/ 179 w 1046"/>
                <a:gd name="T3" fmla="*/ 996 h 996"/>
                <a:gd name="T4" fmla="*/ 246 w 1046"/>
                <a:gd name="T5" fmla="*/ 933 h 996"/>
                <a:gd name="T6" fmla="*/ 1042 w 1046"/>
                <a:gd name="T7" fmla="*/ 930 h 996"/>
                <a:gd name="T8" fmla="*/ 1046 w 1046"/>
                <a:gd name="T9" fmla="*/ 700 h 996"/>
                <a:gd name="T10" fmla="*/ 1027 w 1046"/>
                <a:gd name="T11" fmla="*/ 700 h 996"/>
                <a:gd name="T12" fmla="*/ 995 w 1046"/>
                <a:gd name="T13" fmla="*/ 703 h 996"/>
                <a:gd name="T14" fmla="*/ 920 w 1046"/>
                <a:gd name="T15" fmla="*/ 706 h 996"/>
                <a:gd name="T16" fmla="*/ 752 w 1046"/>
                <a:gd name="T17" fmla="*/ 677 h 996"/>
                <a:gd name="T18" fmla="*/ 575 w 1046"/>
                <a:gd name="T19" fmla="*/ 570 h 996"/>
                <a:gd name="T20" fmla="*/ 456 w 1046"/>
                <a:gd name="T21" fmla="*/ 445 h 996"/>
                <a:gd name="T22" fmla="*/ 378 w 1046"/>
                <a:gd name="T23" fmla="*/ 316 h 996"/>
                <a:gd name="T24" fmla="*/ 342 w 1046"/>
                <a:gd name="T25" fmla="*/ 212 h 996"/>
                <a:gd name="T26" fmla="*/ 332 w 1046"/>
                <a:gd name="T27" fmla="*/ 175 h 996"/>
                <a:gd name="T28" fmla="*/ 306 w 1046"/>
                <a:gd name="T29" fmla="*/ 109 h 996"/>
                <a:gd name="T30" fmla="*/ 272 w 1046"/>
                <a:gd name="T31" fmla="*/ 51 h 996"/>
                <a:gd name="T32" fmla="*/ 215 w 1046"/>
                <a:gd name="T33" fmla="*/ 11 h 996"/>
                <a:gd name="T34" fmla="*/ 148 w 1046"/>
                <a:gd name="T35" fmla="*/ 3 h 996"/>
                <a:gd name="T36" fmla="*/ 80 w 1046"/>
                <a:gd name="T37" fmla="*/ 28 h 996"/>
                <a:gd name="T38" fmla="*/ 20 w 1046"/>
                <a:gd name="T39" fmla="*/ 99 h 996"/>
                <a:gd name="T40" fmla="*/ 5 w 1046"/>
                <a:gd name="T41" fmla="*/ 181 h 996"/>
                <a:gd name="T42" fmla="*/ 0 w 1046"/>
                <a:gd name="T43" fmla="*/ 316 h 996"/>
                <a:gd name="T44" fmla="*/ 5 w 1046"/>
                <a:gd name="T45" fmla="*/ 987 h 99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046"/>
                <a:gd name="T70" fmla="*/ 0 h 996"/>
                <a:gd name="T71" fmla="*/ 1046 w 1046"/>
                <a:gd name="T72" fmla="*/ 996 h 99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046" h="996">
                  <a:moveTo>
                    <a:pt x="5" y="987"/>
                  </a:moveTo>
                  <a:lnTo>
                    <a:pt x="179" y="996"/>
                  </a:lnTo>
                  <a:lnTo>
                    <a:pt x="246" y="933"/>
                  </a:lnTo>
                  <a:lnTo>
                    <a:pt x="1042" y="930"/>
                  </a:lnTo>
                  <a:lnTo>
                    <a:pt x="1046" y="700"/>
                  </a:lnTo>
                  <a:lnTo>
                    <a:pt x="1027" y="700"/>
                  </a:lnTo>
                  <a:cubicBezTo>
                    <a:pt x="1019" y="700"/>
                    <a:pt x="1014" y="702"/>
                    <a:pt x="995" y="703"/>
                  </a:cubicBezTo>
                  <a:cubicBezTo>
                    <a:pt x="977" y="705"/>
                    <a:pt x="960" y="710"/>
                    <a:pt x="920" y="706"/>
                  </a:cubicBezTo>
                  <a:cubicBezTo>
                    <a:pt x="880" y="702"/>
                    <a:pt x="809" y="700"/>
                    <a:pt x="752" y="677"/>
                  </a:cubicBezTo>
                  <a:cubicBezTo>
                    <a:pt x="695" y="654"/>
                    <a:pt x="625" y="608"/>
                    <a:pt x="575" y="570"/>
                  </a:cubicBezTo>
                  <a:cubicBezTo>
                    <a:pt x="526" y="531"/>
                    <a:pt x="489" y="488"/>
                    <a:pt x="456" y="445"/>
                  </a:cubicBezTo>
                  <a:cubicBezTo>
                    <a:pt x="424" y="402"/>
                    <a:pt x="398" y="354"/>
                    <a:pt x="378" y="316"/>
                  </a:cubicBezTo>
                  <a:cubicBezTo>
                    <a:pt x="359" y="277"/>
                    <a:pt x="350" y="235"/>
                    <a:pt x="342" y="212"/>
                  </a:cubicBezTo>
                  <a:cubicBezTo>
                    <a:pt x="334" y="189"/>
                    <a:pt x="338" y="192"/>
                    <a:pt x="332" y="175"/>
                  </a:cubicBezTo>
                  <a:cubicBezTo>
                    <a:pt x="325" y="158"/>
                    <a:pt x="316" y="129"/>
                    <a:pt x="306" y="109"/>
                  </a:cubicBezTo>
                  <a:cubicBezTo>
                    <a:pt x="296" y="89"/>
                    <a:pt x="288" y="67"/>
                    <a:pt x="272" y="51"/>
                  </a:cubicBezTo>
                  <a:cubicBezTo>
                    <a:pt x="257" y="36"/>
                    <a:pt x="236" y="19"/>
                    <a:pt x="215" y="11"/>
                  </a:cubicBezTo>
                  <a:cubicBezTo>
                    <a:pt x="194" y="3"/>
                    <a:pt x="170" y="0"/>
                    <a:pt x="148" y="3"/>
                  </a:cubicBezTo>
                  <a:cubicBezTo>
                    <a:pt x="126" y="6"/>
                    <a:pt x="101" y="12"/>
                    <a:pt x="80" y="28"/>
                  </a:cubicBezTo>
                  <a:cubicBezTo>
                    <a:pt x="59" y="44"/>
                    <a:pt x="32" y="73"/>
                    <a:pt x="20" y="99"/>
                  </a:cubicBezTo>
                  <a:cubicBezTo>
                    <a:pt x="8" y="125"/>
                    <a:pt x="8" y="145"/>
                    <a:pt x="5" y="181"/>
                  </a:cubicBezTo>
                  <a:cubicBezTo>
                    <a:pt x="2" y="217"/>
                    <a:pt x="0" y="181"/>
                    <a:pt x="0" y="316"/>
                  </a:cubicBezTo>
                  <a:lnTo>
                    <a:pt x="5" y="987"/>
                  </a:ln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rgbClr val="666633"/>
              </a:solidFill>
              <a:round/>
              <a:headEnd/>
              <a:tailEnd/>
            </a:ln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0434" name="Group 16"/>
            <p:cNvGrpSpPr>
              <a:grpSpLocks/>
            </p:cNvGrpSpPr>
            <p:nvPr/>
          </p:nvGrpSpPr>
          <p:grpSpPr bwMode="auto">
            <a:xfrm>
              <a:off x="3212" y="867"/>
              <a:ext cx="2301" cy="1495"/>
              <a:chOff x="3356" y="1170"/>
              <a:chExt cx="2301" cy="1250"/>
            </a:xfrm>
          </p:grpSpPr>
          <p:sp>
            <p:nvSpPr>
              <p:cNvPr id="60436" name="Line 17"/>
              <p:cNvSpPr>
                <a:spLocks noChangeShapeType="1"/>
              </p:cNvSpPr>
              <p:nvPr/>
            </p:nvSpPr>
            <p:spPr bwMode="auto">
              <a:xfrm>
                <a:off x="4743" y="1170"/>
                <a:ext cx="6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7" name="Freeform 18"/>
              <p:cNvSpPr>
                <a:spLocks/>
              </p:cNvSpPr>
              <p:nvPr/>
            </p:nvSpPr>
            <p:spPr bwMode="auto">
              <a:xfrm>
                <a:off x="5329" y="1170"/>
                <a:ext cx="2" cy="417"/>
              </a:xfrm>
              <a:custGeom>
                <a:avLst/>
                <a:gdLst>
                  <a:gd name="T0" fmla="*/ 0 w 2"/>
                  <a:gd name="T1" fmla="*/ 0 h 417"/>
                  <a:gd name="T2" fmla="*/ 2 w 2"/>
                  <a:gd name="T3" fmla="*/ 417 h 417"/>
                  <a:gd name="T4" fmla="*/ 0 60000 65536"/>
                  <a:gd name="T5" fmla="*/ 0 60000 65536"/>
                  <a:gd name="T6" fmla="*/ 0 w 2"/>
                  <a:gd name="T7" fmla="*/ 0 h 417"/>
                  <a:gd name="T8" fmla="*/ 2 w 2"/>
                  <a:gd name="T9" fmla="*/ 417 h 41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417">
                    <a:moveTo>
                      <a:pt x="0" y="0"/>
                    </a:moveTo>
                    <a:lnTo>
                      <a:pt x="2" y="417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8" name="Text Box 19"/>
              <p:cNvSpPr txBox="1">
                <a:spLocks noChangeArrowheads="1"/>
              </p:cNvSpPr>
              <p:nvPr/>
            </p:nvSpPr>
            <p:spPr bwMode="auto">
              <a:xfrm>
                <a:off x="5428" y="1207"/>
                <a:ext cx="229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l-GR" altLang="zh-CN" sz="2400" b="1" dirty="0">
                    <a:solidFill>
                      <a:srgbClr val="000066"/>
                    </a:solidFill>
                    <a:ea typeface="华文新魏" pitchFamily="2" charset="-122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400" b="1" i="1" dirty="0">
                    <a:solidFill>
                      <a:srgbClr val="000066"/>
                    </a:solidFill>
                    <a:ea typeface="华文新魏" pitchFamily="2" charset="-122"/>
                    <a:cs typeface="Times New Roman" panose="02020603050405020304" pitchFamily="18" charset="0"/>
                  </a:rPr>
                  <a:t>h</a:t>
                </a:r>
                <a:endParaRPr lang="el-GR" altLang="zh-CN" sz="2400" b="1" i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 Box 19"/>
              <p:cNvSpPr txBox="1">
                <a:spLocks noChangeArrowheads="1"/>
              </p:cNvSpPr>
              <p:nvPr/>
            </p:nvSpPr>
            <p:spPr bwMode="auto">
              <a:xfrm>
                <a:off x="3902" y="2177"/>
                <a:ext cx="154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dirty="0" smtClean="0">
                    <a:solidFill>
                      <a:srgbClr val="000066"/>
                    </a:solidFill>
                    <a:ea typeface="华文新魏" pitchFamily="2" charset="-122"/>
                    <a:cs typeface="Times New Roman" panose="02020603050405020304" pitchFamily="18" charset="0"/>
                  </a:rPr>
                  <a:t>x</a:t>
                </a:r>
                <a:endParaRPr lang="el-GR" altLang="zh-CN" sz="2400" b="1" i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3356" y="1702"/>
                <a:ext cx="136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dirty="0" smtClean="0">
                    <a:solidFill>
                      <a:srgbClr val="000066"/>
                    </a:solidFill>
                    <a:ea typeface="华文新魏" pitchFamily="2" charset="-122"/>
                    <a:cs typeface="Times New Roman" panose="02020603050405020304" pitchFamily="18" charset="0"/>
                  </a:rPr>
                  <a:t>z</a:t>
                </a:r>
                <a:endParaRPr lang="el-GR" altLang="zh-CN" sz="2400" b="1" i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0435" name="AutoShape 20"/>
            <p:cNvSpPr>
              <a:spLocks noChangeAspect="1" noChangeArrowheads="1"/>
            </p:cNvSpPr>
            <p:nvPr/>
          </p:nvSpPr>
          <p:spPr bwMode="auto">
            <a:xfrm flipV="1">
              <a:off x="5008" y="1269"/>
              <a:ext cx="107" cy="97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424" name="Rectangle 21"/>
          <p:cNvSpPr>
            <a:spLocks noChangeArrowheads="1"/>
          </p:cNvSpPr>
          <p:nvPr/>
        </p:nvSpPr>
        <p:spPr bwMode="auto">
          <a:xfrm>
            <a:off x="3352800" y="5851525"/>
            <a:ext cx="33369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平面稳定渗流</a:t>
            </a:r>
            <a:endParaRPr lang="en-US" altLang="zh-CN" sz="4000" b="1">
              <a:solidFill>
                <a:srgbClr val="000066"/>
              </a:solidFill>
              <a:latin typeface="Garamond" pitchFamily="18" charset="0"/>
              <a:ea typeface="黑体" pitchFamily="2" charset="-122"/>
            </a:endParaRPr>
          </a:p>
        </p:txBody>
      </p:sp>
      <p:sp>
        <p:nvSpPr>
          <p:cNvPr id="1482774" name="AutoShape 22"/>
          <p:cNvSpPr>
            <a:spLocks noChangeArrowheads="1"/>
          </p:cNvSpPr>
          <p:nvPr/>
        </p:nvSpPr>
        <p:spPr bwMode="auto">
          <a:xfrm>
            <a:off x="5467350" y="4930775"/>
            <a:ext cx="633413" cy="433388"/>
          </a:xfrm>
          <a:prstGeom prst="homePlate">
            <a:avLst>
              <a:gd name="adj" fmla="val 36538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任意多边形 2"/>
          <p:cNvSpPr/>
          <p:nvPr/>
        </p:nvSpPr>
        <p:spPr bwMode="auto">
          <a:xfrm>
            <a:off x="5029200" y="2711302"/>
            <a:ext cx="882502" cy="733647"/>
          </a:xfrm>
          <a:custGeom>
            <a:avLst/>
            <a:gdLst>
              <a:gd name="connsiteX0" fmla="*/ 0 w 882502"/>
              <a:gd name="connsiteY0" fmla="*/ 0 h 733647"/>
              <a:gd name="connsiteX1" fmla="*/ 0 w 882502"/>
              <a:gd name="connsiteY1" fmla="*/ 733647 h 733647"/>
              <a:gd name="connsiteX2" fmla="*/ 882502 w 882502"/>
              <a:gd name="connsiteY2" fmla="*/ 733647 h 733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502" h="733647">
                <a:moveTo>
                  <a:pt x="0" y="0"/>
                </a:moveTo>
                <a:lnTo>
                  <a:pt x="0" y="733647"/>
                </a:lnTo>
                <a:lnTo>
                  <a:pt x="882502" y="733647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-1" y="0"/>
            <a:ext cx="458288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广义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达西定律</a:t>
            </a:r>
          </a:p>
        </p:txBody>
      </p:sp>
    </p:spTree>
    <p:extLst>
      <p:ext uri="{BB962C8B-B14F-4D97-AF65-F5344CB8AC3E}">
        <p14:creationId xmlns:p14="http://schemas.microsoft.com/office/powerpoint/2010/main" val="42940002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82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2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82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482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8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482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82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2754" grpId="0"/>
      <p:bldP spid="1482756" grpId="0"/>
      <p:bldP spid="1482757" grpId="0"/>
      <p:bldP spid="1482758" grpId="0"/>
      <p:bldP spid="148277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4" name="Rectangle 21"/>
          <p:cNvSpPr>
            <a:spLocks noChangeArrowheads="1"/>
          </p:cNvSpPr>
          <p:nvPr/>
        </p:nvSpPr>
        <p:spPr bwMode="auto">
          <a:xfrm>
            <a:off x="3139050" y="5851525"/>
            <a:ext cx="426064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广义达西定律（</a:t>
            </a:r>
            <a:r>
              <a:rPr lang="en-US" altLang="zh-CN" sz="4000" b="1" dirty="0" smtClean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1</a:t>
            </a:r>
            <a:r>
              <a:rPr lang="zh-CN" altLang="en-US" sz="4000" b="1" dirty="0" smtClean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）</a:t>
            </a:r>
            <a:endParaRPr lang="en-US" altLang="zh-CN" sz="4000" b="1" dirty="0">
              <a:solidFill>
                <a:srgbClr val="000066"/>
              </a:solidFill>
              <a:latin typeface="Garamond" pitchFamily="18" charset="0"/>
              <a:ea typeface="黑体" pitchFamily="2" charset="-122"/>
            </a:endParaRPr>
          </a:p>
        </p:txBody>
      </p:sp>
      <p:sp>
        <p:nvSpPr>
          <p:cNvPr id="2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81025" y="820738"/>
            <a:ext cx="8099218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</a:rPr>
              <a:t>水力坡降：</a:t>
            </a:r>
            <a:r>
              <a:rPr lang="zh-CN" altLang="zh-CN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渗流场中</a:t>
            </a:r>
            <a:r>
              <a:rPr lang="zh-CN" altLang="zh-CN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一点水力坡降在坐</a:t>
            </a:r>
            <a:r>
              <a:rPr lang="zh-CN" altLang="zh-CN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标方向的</a:t>
            </a:r>
            <a:r>
              <a:rPr lang="zh-CN" altLang="zh-CN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分量为</a:t>
            </a:r>
            <a:endParaRPr lang="zh-CN" altLang="en-US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298033"/>
              </p:ext>
            </p:extLst>
          </p:nvPr>
        </p:nvGraphicFramePr>
        <p:xfrm>
          <a:off x="2565400" y="1592263"/>
          <a:ext cx="32258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7" name="Equation" r:id="rId4" imgW="1447560" imgH="406080" progId="Equation.DSMT4">
                  <p:embed/>
                </p:oleObj>
              </mc:Choice>
              <mc:Fallback>
                <p:oleObj name="Equation" r:id="rId4" imgW="1447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592263"/>
                        <a:ext cx="3225800" cy="896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72"/>
          <p:cNvSpPr txBox="1">
            <a:spLocks noChangeArrowheads="1"/>
          </p:cNvSpPr>
          <p:nvPr/>
        </p:nvSpPr>
        <p:spPr bwMode="auto">
          <a:xfrm>
            <a:off x="1676399" y="2804808"/>
            <a:ext cx="6279507" cy="2276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式中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负号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表示水力坡降的正值对应测管水头降低的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方向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上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式表明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像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流速一样，渗流场中每一点的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水力坡降是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一个具有方向的</a:t>
            </a:r>
            <a:r>
              <a:rPr kumimoji="1" lang="zh-CN" altLang="zh-CN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矢量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，其大小等于该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点水头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分布函数</a:t>
            </a:r>
            <a:r>
              <a:rPr kumimoji="1"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的梯度，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但方向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相反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1" y="0"/>
            <a:ext cx="458288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广义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达西定律</a:t>
            </a:r>
          </a:p>
        </p:txBody>
      </p:sp>
    </p:spTree>
    <p:extLst>
      <p:ext uri="{BB962C8B-B14F-4D97-AF65-F5344CB8AC3E}">
        <p14:creationId xmlns:p14="http://schemas.microsoft.com/office/powerpoint/2010/main" val="394856571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81024" y="820738"/>
            <a:ext cx="8420471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</a:rPr>
              <a:t>广义</a:t>
            </a: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</a:rPr>
              <a:t>达西定律：</a:t>
            </a:r>
            <a:r>
              <a:rPr lang="zh-CN" altLang="zh-CN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对二</a:t>
            </a:r>
            <a:r>
              <a:rPr lang="zh-CN" altLang="zh-CN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维平面渗流</a:t>
            </a:r>
            <a:r>
              <a:rPr lang="zh-CN" altLang="zh-CN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，矩阵</a:t>
            </a:r>
            <a:r>
              <a:rPr lang="zh-CN" altLang="en-US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的广义达西定律</a:t>
            </a:r>
            <a:r>
              <a:rPr lang="zh-CN" altLang="zh-CN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为</a:t>
            </a:r>
            <a:endParaRPr lang="zh-CN" altLang="en-US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3139050" y="5851525"/>
            <a:ext cx="426064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广义达西定律（</a:t>
            </a:r>
            <a:r>
              <a:rPr lang="en-US" altLang="zh-CN" sz="4000" b="1" dirty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2</a:t>
            </a:r>
            <a:r>
              <a:rPr lang="zh-CN" altLang="en-US" sz="4000" b="1" dirty="0" smtClean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）</a:t>
            </a:r>
            <a:endParaRPr lang="en-US" altLang="zh-CN" sz="4000" b="1" dirty="0">
              <a:solidFill>
                <a:srgbClr val="000066"/>
              </a:solidFill>
              <a:latin typeface="Garamond" pitchFamily="18" charset="0"/>
              <a:ea typeface="黑体" pitchFamily="2" charset="-122"/>
            </a:endParaRP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228432"/>
              </p:ext>
            </p:extLst>
          </p:nvPr>
        </p:nvGraphicFramePr>
        <p:xfrm>
          <a:off x="1694657" y="1760000"/>
          <a:ext cx="3125178" cy="1089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6" name="Equation" r:id="rId4" imgW="1396800" imgH="482400" progId="Equation.DSMT4">
                  <p:embed/>
                </p:oleObj>
              </mc:Choice>
              <mc:Fallback>
                <p:oleObj name="Equation" r:id="rId4" imgW="1396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4657" y="1760000"/>
                        <a:ext cx="3125178" cy="10897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934377"/>
              </p:ext>
            </p:extLst>
          </p:nvPr>
        </p:nvGraphicFramePr>
        <p:xfrm>
          <a:off x="6586539" y="2111313"/>
          <a:ext cx="1538286" cy="509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7" name="Equation" r:id="rId6" imgW="761760" imgH="253800" progId="Equation.DSMT4">
                  <p:embed/>
                </p:oleObj>
              </mc:Choice>
              <mc:Fallback>
                <p:oleObj name="Equation" r:id="rId6" imgW="761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6539" y="2111313"/>
                        <a:ext cx="1538286" cy="5096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83627" y="1537704"/>
            <a:ext cx="1731564" cy="517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或简写</a:t>
            </a:r>
            <a:r>
              <a:rPr lang="zh-CN" altLang="zh-CN" sz="24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为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endParaRPr lang="zh-CN" altLang="en-US" sz="2400" b="1" dirty="0">
              <a:solidFill>
                <a:srgbClr val="00006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8" name="Text Box 72"/>
          <p:cNvSpPr txBox="1">
            <a:spLocks noChangeArrowheads="1"/>
          </p:cNvSpPr>
          <p:nvPr/>
        </p:nvSpPr>
        <p:spPr bwMode="auto">
          <a:xfrm>
            <a:off x="1676399" y="3093033"/>
            <a:ext cx="6743206" cy="2343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一般称之为</a:t>
            </a:r>
            <a:r>
              <a:rPr kumimoji="1" lang="zh-CN" altLang="zh-CN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渗透系数矩阵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，它是一个对称矩阵，也即总有</a:t>
            </a:r>
            <a:r>
              <a:rPr kumimoji="1" lang="en-US" altLang="zh-CN" sz="22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xz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zx</a:t>
            </a:r>
            <a:endParaRPr kumimoji="1"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渗透性是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体的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固有性质，不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受坐标系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选取的影响。因此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]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满足坐标系变换的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规则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对应</a:t>
            </a:r>
            <a:r>
              <a:rPr kumimoji="1" lang="en-US" altLang="zh-CN" sz="22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xz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zx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的方向称为</a:t>
            </a:r>
            <a:r>
              <a:rPr kumimoji="1" lang="zh-CN" altLang="zh-CN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渗透主轴方向</a:t>
            </a:r>
            <a:endParaRPr kumimoji="1" lang="zh-CN" altLang="en-US" sz="2200" b="1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5499787" y="2131475"/>
            <a:ext cx="633413" cy="433388"/>
          </a:xfrm>
          <a:prstGeom prst="homePlate">
            <a:avLst>
              <a:gd name="adj" fmla="val 36538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-1" y="0"/>
            <a:ext cx="458288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广义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达西定律</a:t>
            </a:r>
          </a:p>
        </p:txBody>
      </p:sp>
    </p:spTree>
    <p:extLst>
      <p:ext uri="{BB962C8B-B14F-4D97-AF65-F5344CB8AC3E}">
        <p14:creationId xmlns:p14="http://schemas.microsoft.com/office/powerpoint/2010/main" val="298097552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-1" y="0"/>
            <a:ext cx="458288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广义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达西定律</a:t>
            </a: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81024" y="523863"/>
            <a:ext cx="8420471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</a:rPr>
              <a:t>两种常用的简化情况：</a:t>
            </a:r>
            <a:endParaRPr lang="zh-CN" altLang="en-US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3139050" y="5851525"/>
            <a:ext cx="426064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广义达西定律（</a:t>
            </a:r>
            <a:r>
              <a:rPr lang="en-US" altLang="zh-CN" sz="4000" b="1" dirty="0" smtClean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3</a:t>
            </a:r>
            <a:r>
              <a:rPr lang="zh-CN" altLang="en-US" sz="4000" b="1" dirty="0" smtClean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）</a:t>
            </a:r>
            <a:endParaRPr lang="en-US" altLang="zh-CN" sz="4000" b="1" dirty="0">
              <a:solidFill>
                <a:srgbClr val="000066"/>
              </a:solidFill>
              <a:latin typeface="Garamond" pitchFamily="18" charset="0"/>
              <a:ea typeface="黑体" pitchFamily="2" charset="-122"/>
            </a:endParaRP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Text Box 72"/>
          <p:cNvSpPr txBox="1">
            <a:spLocks noChangeArrowheads="1"/>
          </p:cNvSpPr>
          <p:nvPr/>
        </p:nvSpPr>
        <p:spPr bwMode="auto">
          <a:xfrm>
            <a:off x="1200397" y="1109866"/>
            <a:ext cx="674320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+mj-lt"/>
              <a:buAutoNum type="arabicPeriod"/>
            </a:pP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坐标轴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和渗透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主轴方向一致，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此时</a:t>
            </a:r>
            <a:r>
              <a:rPr lang="en-US" altLang="zh-CN" sz="2400" b="1" i="1" dirty="0" err="1" smtClean="0">
                <a:solidFill>
                  <a:srgbClr val="000066"/>
                </a:solidFill>
              </a:rPr>
              <a:t>k</a:t>
            </a:r>
            <a:r>
              <a:rPr lang="en-US" altLang="zh-CN" sz="2400" b="1" baseline="-25000" dirty="0" err="1" smtClean="0">
                <a:solidFill>
                  <a:srgbClr val="000066"/>
                </a:solidFill>
              </a:rPr>
              <a:t>xz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=</a:t>
            </a:r>
            <a:r>
              <a:rPr lang="en-US" altLang="zh-CN" sz="2400" b="1" i="1" dirty="0" err="1" smtClean="0">
                <a:solidFill>
                  <a:srgbClr val="000066"/>
                </a:solidFill>
              </a:rPr>
              <a:t>k</a:t>
            </a:r>
            <a:r>
              <a:rPr lang="en-US" altLang="zh-CN" sz="2400" b="1" baseline="-25000" dirty="0" err="1" smtClean="0">
                <a:solidFill>
                  <a:srgbClr val="000066"/>
                </a:solidFill>
              </a:rPr>
              <a:t>zx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=0</a:t>
            </a:r>
            <a:endParaRPr kumimoji="1" lang="zh-CN" altLang="en-US" sz="2200" b="1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571311"/>
              </p:ext>
            </p:extLst>
          </p:nvPr>
        </p:nvGraphicFramePr>
        <p:xfrm>
          <a:off x="1885950" y="1704975"/>
          <a:ext cx="2615760" cy="96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8" name="Equation" r:id="rId4" imgW="1307880" imgH="482400" progId="Equation.DSMT4">
                  <p:embed/>
                </p:oleObj>
              </mc:Choice>
              <mc:Fallback>
                <p:oleObj name="Equation" r:id="rId4" imgW="1307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1704975"/>
                        <a:ext cx="2615760" cy="96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562772"/>
              </p:ext>
            </p:extLst>
          </p:nvPr>
        </p:nvGraphicFramePr>
        <p:xfrm>
          <a:off x="6678613" y="3538538"/>
          <a:ext cx="119376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9" name="Equation" r:id="rId6" imgW="596880" imgH="457200" progId="Equation.DSMT4">
                  <p:embed/>
                </p:oleObj>
              </mc:Choice>
              <mc:Fallback>
                <p:oleObj name="Equation" r:id="rId6" imgW="596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8613" y="3538538"/>
                        <a:ext cx="1193760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22"/>
          <p:cNvSpPr>
            <a:spLocks noChangeArrowheads="1"/>
          </p:cNvSpPr>
          <p:nvPr/>
        </p:nvSpPr>
        <p:spPr bwMode="auto">
          <a:xfrm>
            <a:off x="5692981" y="1973840"/>
            <a:ext cx="633413" cy="433388"/>
          </a:xfrm>
          <a:prstGeom prst="homePlate">
            <a:avLst>
              <a:gd name="adj" fmla="val 36538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299406"/>
              </p:ext>
            </p:extLst>
          </p:nvPr>
        </p:nvGraphicFramePr>
        <p:xfrm>
          <a:off x="6569075" y="1739900"/>
          <a:ext cx="129528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40" name="Equation" r:id="rId8" imgW="647640" imgH="457200" progId="Equation.DSMT4">
                  <p:embed/>
                </p:oleObj>
              </mc:Choice>
              <mc:Fallback>
                <p:oleObj name="Equation" r:id="rId8" imgW="647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075" y="1739900"/>
                        <a:ext cx="1295280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72"/>
          <p:cNvSpPr txBox="1">
            <a:spLocks noChangeArrowheads="1"/>
          </p:cNvSpPr>
          <p:nvPr/>
        </p:nvSpPr>
        <p:spPr bwMode="auto">
          <a:xfrm>
            <a:off x="1222172" y="2877320"/>
            <a:ext cx="6743206" cy="50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+mj-lt"/>
              <a:buAutoNum type="arabicPeriod" startAt="2"/>
            </a:pP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各向同性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土体，恒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1" i="1" dirty="0" err="1">
                <a:solidFill>
                  <a:srgbClr val="000066"/>
                </a:solidFill>
              </a:rPr>
              <a:t>k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xz</a:t>
            </a:r>
            <a:r>
              <a:rPr lang="en-US" altLang="zh-CN" sz="2400" b="1" dirty="0">
                <a:solidFill>
                  <a:srgbClr val="000066"/>
                </a:solidFill>
              </a:rPr>
              <a:t>=</a:t>
            </a:r>
            <a:r>
              <a:rPr lang="en-US" altLang="zh-CN" sz="2400" b="1" i="1" dirty="0" err="1">
                <a:solidFill>
                  <a:srgbClr val="000066"/>
                </a:solidFill>
              </a:rPr>
              <a:t>k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zx</a:t>
            </a:r>
            <a:r>
              <a:rPr lang="en-US" altLang="zh-CN" sz="2400" b="1" dirty="0">
                <a:solidFill>
                  <a:srgbClr val="000066"/>
                </a:solidFill>
              </a:rPr>
              <a:t>=0</a:t>
            </a:r>
            <a:r>
              <a:rPr lang="zh-CN" altLang="zh-CN" sz="2400" dirty="0"/>
              <a:t>，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1" i="1" dirty="0" err="1">
                <a:solidFill>
                  <a:srgbClr val="000066"/>
                </a:solidFill>
              </a:rPr>
              <a:t>k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x</a:t>
            </a:r>
            <a:r>
              <a:rPr lang="en-US" altLang="zh-CN" sz="2400" b="1" dirty="0">
                <a:solidFill>
                  <a:srgbClr val="000066"/>
                </a:solidFill>
              </a:rPr>
              <a:t>=</a:t>
            </a:r>
            <a:r>
              <a:rPr lang="en-US" altLang="zh-CN" sz="2400" b="1" i="1" dirty="0" err="1">
                <a:solidFill>
                  <a:srgbClr val="000066"/>
                </a:solidFill>
              </a:rPr>
              <a:t>k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z</a:t>
            </a:r>
            <a:r>
              <a:rPr lang="en-US" altLang="zh-CN" sz="2400" b="1" dirty="0">
                <a:solidFill>
                  <a:srgbClr val="000066"/>
                </a:solidFill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</a:rPr>
              <a:t>k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167286"/>
              </p:ext>
            </p:extLst>
          </p:nvPr>
        </p:nvGraphicFramePr>
        <p:xfrm>
          <a:off x="1879600" y="3497263"/>
          <a:ext cx="2412720" cy="96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41" name="Equation" r:id="rId10" imgW="1206360" imgH="482400" progId="Equation.DSMT4">
                  <p:embed/>
                </p:oleObj>
              </mc:Choice>
              <mc:Fallback>
                <p:oleObj name="Equation" r:id="rId10" imgW="1206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497263"/>
                        <a:ext cx="2412720" cy="96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22"/>
          <p:cNvSpPr>
            <a:spLocks noChangeArrowheads="1"/>
          </p:cNvSpPr>
          <p:nvPr/>
        </p:nvSpPr>
        <p:spPr bwMode="auto">
          <a:xfrm>
            <a:off x="5774902" y="3812539"/>
            <a:ext cx="633413" cy="433388"/>
          </a:xfrm>
          <a:prstGeom prst="homePlate">
            <a:avLst>
              <a:gd name="adj" fmla="val 36538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Text Box 72"/>
          <p:cNvSpPr txBox="1">
            <a:spLocks noChangeArrowheads="1"/>
          </p:cNvSpPr>
          <p:nvPr/>
        </p:nvSpPr>
        <p:spPr bwMode="auto">
          <a:xfrm>
            <a:off x="1280267" y="4671281"/>
            <a:ext cx="7115587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对各向同性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土，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渗透流速和渗透坡降的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方向一致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；但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对各向异性土，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两者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方向并不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相同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存在</a:t>
            </a:r>
            <a:r>
              <a:rPr kumimoji="1"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夹角</a:t>
            </a:r>
            <a:r>
              <a:rPr kumimoji="1"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。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66443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1" grpId="0"/>
      <p:bldP spid="25" grpId="0" animBg="1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054601" y="1028700"/>
            <a:ext cx="3937000" cy="3479800"/>
            <a:chOff x="5054601" y="1028700"/>
            <a:chExt cx="3937000" cy="3479800"/>
          </a:xfrm>
        </p:grpSpPr>
        <p:sp>
          <p:nvSpPr>
            <p:cNvPr id="18448" name="Rectangle 13"/>
            <p:cNvSpPr>
              <a:spLocks noChangeArrowheads="1"/>
            </p:cNvSpPr>
            <p:nvPr/>
          </p:nvSpPr>
          <p:spPr bwMode="auto">
            <a:xfrm>
              <a:off x="5054601" y="1028700"/>
              <a:ext cx="3937000" cy="34798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9" name="Rectangle 14" descr="沙滩"/>
            <p:cNvSpPr>
              <a:spLocks noChangeArrowheads="1"/>
            </p:cNvSpPr>
            <p:nvPr/>
          </p:nvSpPr>
          <p:spPr bwMode="auto">
            <a:xfrm>
              <a:off x="5981701" y="2298700"/>
              <a:ext cx="1346200" cy="1158875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Text Box 15"/>
            <p:cNvSpPr txBox="1">
              <a:spLocks noChangeArrowheads="1"/>
            </p:cNvSpPr>
            <p:nvPr/>
          </p:nvSpPr>
          <p:spPr bwMode="auto">
            <a:xfrm>
              <a:off x="6148389" y="3370263"/>
              <a:ext cx="4826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200" b="1" dirty="0"/>
                <a:t>dx</a:t>
              </a:r>
            </a:p>
          </p:txBody>
        </p:sp>
        <p:sp>
          <p:nvSpPr>
            <p:cNvPr id="18451" name="Text Box 16"/>
            <p:cNvSpPr txBox="1">
              <a:spLocks noChangeArrowheads="1"/>
            </p:cNvSpPr>
            <p:nvPr/>
          </p:nvSpPr>
          <p:spPr bwMode="auto">
            <a:xfrm>
              <a:off x="5586414" y="2967038"/>
              <a:ext cx="466725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200" b="1" dirty="0" err="1"/>
                <a:t>dz</a:t>
              </a:r>
              <a:endParaRPr kumimoji="1" lang="en-US" altLang="zh-CN" sz="2200" b="1" dirty="0"/>
            </a:p>
          </p:txBody>
        </p:sp>
        <p:sp>
          <p:nvSpPr>
            <p:cNvPr id="18458" name="Freeform 25"/>
            <p:cNvSpPr>
              <a:spLocks/>
            </p:cNvSpPr>
            <p:nvPr/>
          </p:nvSpPr>
          <p:spPr bwMode="auto">
            <a:xfrm>
              <a:off x="5410201" y="1587500"/>
              <a:ext cx="3124200" cy="2463800"/>
            </a:xfrm>
            <a:custGeom>
              <a:avLst/>
              <a:gdLst>
                <a:gd name="T0" fmla="*/ 0 w 2096"/>
                <a:gd name="T1" fmla="*/ 0 h 1552"/>
                <a:gd name="T2" fmla="*/ 0 w 2096"/>
                <a:gd name="T3" fmla="*/ 1552 h 1552"/>
                <a:gd name="T4" fmla="*/ 2096 w 2096"/>
                <a:gd name="T5" fmla="*/ 1552 h 1552"/>
                <a:gd name="T6" fmla="*/ 0 60000 65536"/>
                <a:gd name="T7" fmla="*/ 0 60000 65536"/>
                <a:gd name="T8" fmla="*/ 0 60000 65536"/>
                <a:gd name="T9" fmla="*/ 0 w 2096"/>
                <a:gd name="T10" fmla="*/ 0 h 1552"/>
                <a:gd name="T11" fmla="*/ 2096 w 2096"/>
                <a:gd name="T12" fmla="*/ 1552 h 15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6" h="1552">
                  <a:moveTo>
                    <a:pt x="0" y="0"/>
                  </a:moveTo>
                  <a:lnTo>
                    <a:pt x="0" y="1552"/>
                  </a:lnTo>
                  <a:lnTo>
                    <a:pt x="2096" y="155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Text Box 26"/>
            <p:cNvSpPr txBox="1">
              <a:spLocks noChangeArrowheads="1"/>
            </p:cNvSpPr>
            <p:nvPr/>
          </p:nvSpPr>
          <p:spPr bwMode="auto">
            <a:xfrm>
              <a:off x="8162926" y="35337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x</a:t>
              </a:r>
            </a:p>
          </p:txBody>
        </p:sp>
        <p:sp>
          <p:nvSpPr>
            <p:cNvPr id="18460" name="Text Box 27"/>
            <p:cNvSpPr txBox="1">
              <a:spLocks noChangeArrowheads="1"/>
            </p:cNvSpPr>
            <p:nvPr/>
          </p:nvSpPr>
          <p:spPr bwMode="auto">
            <a:xfrm>
              <a:off x="5521326" y="1285875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z</a:t>
              </a:r>
            </a:p>
          </p:txBody>
        </p:sp>
      </p:grpSp>
      <p:sp>
        <p:nvSpPr>
          <p:cNvPr id="18441" name="Rectangle 3"/>
          <p:cNvSpPr>
            <a:spLocks noChangeArrowheads="1"/>
          </p:cNvSpPr>
          <p:nvPr/>
        </p:nvSpPr>
        <p:spPr bwMode="auto">
          <a:xfrm>
            <a:off x="2990850" y="5756275"/>
            <a:ext cx="44545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渗流的连续性方程</a:t>
            </a:r>
            <a:endParaRPr lang="en-US" altLang="zh-CN" sz="4000" b="1" dirty="0">
              <a:solidFill>
                <a:srgbClr val="000066"/>
              </a:solidFill>
              <a:latin typeface="Garamond" pitchFamily="18" charset="0"/>
              <a:ea typeface="黑体" pitchFamily="2" charset="-122"/>
            </a:endParaRPr>
          </a:p>
        </p:txBody>
      </p:sp>
      <p:sp>
        <p:nvSpPr>
          <p:cNvPr id="1483780" name="Text Box 4"/>
          <p:cNvSpPr txBox="1">
            <a:spLocks noChangeArrowheads="1"/>
          </p:cNvSpPr>
          <p:nvPr/>
        </p:nvSpPr>
        <p:spPr bwMode="auto">
          <a:xfrm>
            <a:off x="390525" y="896938"/>
            <a:ext cx="42450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单位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时间流入单元的水量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:</a:t>
            </a:r>
          </a:p>
        </p:txBody>
      </p:sp>
      <p:sp>
        <p:nvSpPr>
          <p:cNvPr id="1483781" name="Text Box 5"/>
          <p:cNvSpPr txBox="1">
            <a:spLocks noChangeArrowheads="1"/>
          </p:cNvSpPr>
          <p:nvPr/>
        </p:nvSpPr>
        <p:spPr bwMode="auto">
          <a:xfrm>
            <a:off x="3422650" y="4924425"/>
            <a:ext cx="294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渗流的连续性方程：</a:t>
            </a:r>
          </a:p>
        </p:txBody>
      </p:sp>
      <p:graphicFrame>
        <p:nvGraphicFramePr>
          <p:cNvPr id="14837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140489"/>
              </p:ext>
            </p:extLst>
          </p:nvPr>
        </p:nvGraphicFramePr>
        <p:xfrm>
          <a:off x="6405563" y="4694238"/>
          <a:ext cx="2073275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50" name="公式" r:id="rId5" imgW="876240" imgH="393480" progId="Equation.3">
                  <p:embed/>
                </p:oleObj>
              </mc:Choice>
              <mc:Fallback>
                <p:oleObj name="公式" r:id="rId5" imgW="876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3" y="4694238"/>
                        <a:ext cx="2073275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37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501837"/>
              </p:ext>
            </p:extLst>
          </p:nvPr>
        </p:nvGraphicFramePr>
        <p:xfrm>
          <a:off x="919163" y="1539875"/>
          <a:ext cx="22082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51" name="公式" r:id="rId7" imgW="1104840" imgH="228600" progId="Equation.3">
                  <p:embed/>
                </p:oleObj>
              </mc:Choice>
              <mc:Fallback>
                <p:oleObj name="公式" r:id="rId7" imgW="1104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1539875"/>
                        <a:ext cx="22082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37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871948"/>
              </p:ext>
            </p:extLst>
          </p:nvPr>
        </p:nvGraphicFramePr>
        <p:xfrm>
          <a:off x="998538" y="2556072"/>
          <a:ext cx="27940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52" name="公式" r:id="rId9" imgW="1396800" imgH="812520" progId="Equation.3">
                  <p:embed/>
                </p:oleObj>
              </mc:Choice>
              <mc:Fallback>
                <p:oleObj name="公式" r:id="rId9" imgW="13968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2556072"/>
                        <a:ext cx="27940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3785" name="Text Box 9"/>
          <p:cNvSpPr txBox="1">
            <a:spLocks noChangeArrowheads="1"/>
          </p:cNvSpPr>
          <p:nvPr/>
        </p:nvSpPr>
        <p:spPr bwMode="auto">
          <a:xfrm>
            <a:off x="390525" y="2103438"/>
            <a:ext cx="45544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单位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时间内流出单元的水量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: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graphicFrame>
        <p:nvGraphicFramePr>
          <p:cNvPr id="14837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235603"/>
              </p:ext>
            </p:extLst>
          </p:nvPr>
        </p:nvGraphicFramePr>
        <p:xfrm>
          <a:off x="2855913" y="4222566"/>
          <a:ext cx="12160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53" name="公式" r:id="rId11" imgW="609480" imgH="228600" progId="Equation.3">
                  <p:embed/>
                </p:oleObj>
              </mc:Choice>
              <mc:Fallback>
                <p:oleObj name="公式" r:id="rId11" imgW="609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222566"/>
                        <a:ext cx="12160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3787" name="Text Box 11"/>
          <p:cNvSpPr txBox="1">
            <a:spLocks noChangeArrowheads="1"/>
          </p:cNvSpPr>
          <p:nvPr/>
        </p:nvSpPr>
        <p:spPr bwMode="auto">
          <a:xfrm>
            <a:off x="390525" y="4170179"/>
            <a:ext cx="2233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连续性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条件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: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513389" y="2286000"/>
            <a:ext cx="3473449" cy="787400"/>
            <a:chOff x="5513389" y="2286000"/>
            <a:chExt cx="3473449" cy="787400"/>
          </a:xfrm>
        </p:grpSpPr>
        <p:sp>
          <p:nvSpPr>
            <p:cNvPr id="18452" name="Text Box 17"/>
            <p:cNvSpPr txBox="1">
              <a:spLocks noChangeArrowheads="1"/>
            </p:cNvSpPr>
            <p:nvPr/>
          </p:nvSpPr>
          <p:spPr bwMode="auto">
            <a:xfrm>
              <a:off x="5513389" y="2439988"/>
              <a:ext cx="404813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200" b="1" i="1" dirty="0" err="1"/>
                <a:t>v</a:t>
              </a:r>
              <a:r>
                <a:rPr kumimoji="1" lang="en-US" altLang="zh-CN" sz="2200" b="1" baseline="-25000" dirty="0" err="1"/>
                <a:t>x</a:t>
              </a:r>
              <a:endParaRPr kumimoji="1" lang="en-US" altLang="zh-CN" sz="2200" b="1" dirty="0"/>
            </a:p>
          </p:txBody>
        </p:sp>
        <p:graphicFrame>
          <p:nvGraphicFramePr>
            <p:cNvPr id="1843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2997363"/>
                </p:ext>
              </p:extLst>
            </p:nvPr>
          </p:nvGraphicFramePr>
          <p:xfrm>
            <a:off x="7413625" y="2286000"/>
            <a:ext cx="1573213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54" name="公式" r:id="rId13" imgW="787320" imgH="393480" progId="Equation.3">
                    <p:embed/>
                  </p:oleObj>
                </mc:Choice>
                <mc:Fallback>
                  <p:oleObj name="公式" r:id="rId13" imgW="7873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3625" y="2286000"/>
                          <a:ext cx="1573213" cy="787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3" name="Line 19"/>
            <p:cNvSpPr>
              <a:spLocks noChangeShapeType="1"/>
            </p:cNvSpPr>
            <p:nvPr/>
          </p:nvSpPr>
          <p:spPr bwMode="auto">
            <a:xfrm>
              <a:off x="5630864" y="2949575"/>
              <a:ext cx="49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Line 20"/>
            <p:cNvSpPr>
              <a:spLocks noChangeShapeType="1"/>
            </p:cNvSpPr>
            <p:nvPr/>
          </p:nvSpPr>
          <p:spPr bwMode="auto">
            <a:xfrm>
              <a:off x="7100889" y="2962275"/>
              <a:ext cx="5508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670676" y="1481138"/>
            <a:ext cx="1587499" cy="2406650"/>
            <a:chOff x="6670676" y="1481138"/>
            <a:chExt cx="1587499" cy="2406650"/>
          </a:xfrm>
        </p:grpSpPr>
        <p:sp>
          <p:nvSpPr>
            <p:cNvPr id="18455" name="Text Box 21"/>
            <p:cNvSpPr txBox="1">
              <a:spLocks noChangeArrowheads="1"/>
            </p:cNvSpPr>
            <p:nvPr/>
          </p:nvSpPr>
          <p:spPr bwMode="auto">
            <a:xfrm>
              <a:off x="6700839" y="3460750"/>
              <a:ext cx="407988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200" b="1" i="1" dirty="0" err="1"/>
                <a:t>v</a:t>
              </a:r>
              <a:r>
                <a:rPr kumimoji="1" lang="en-US" altLang="zh-CN" sz="2200" b="1" baseline="-25000" dirty="0" err="1"/>
                <a:t>z</a:t>
              </a:r>
              <a:endParaRPr kumimoji="1" lang="en-US" altLang="zh-CN" sz="2200" b="1" dirty="0"/>
            </a:p>
          </p:txBody>
        </p:sp>
        <p:sp>
          <p:nvSpPr>
            <p:cNvPr id="18456" name="Line 22"/>
            <p:cNvSpPr>
              <a:spLocks noChangeShapeType="1"/>
            </p:cNvSpPr>
            <p:nvPr/>
          </p:nvSpPr>
          <p:spPr bwMode="auto">
            <a:xfrm flipV="1">
              <a:off x="6670676" y="3292475"/>
              <a:ext cx="0" cy="501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Line 23"/>
            <p:cNvSpPr>
              <a:spLocks noChangeShapeType="1"/>
            </p:cNvSpPr>
            <p:nvPr/>
          </p:nvSpPr>
          <p:spPr bwMode="auto">
            <a:xfrm flipV="1">
              <a:off x="6683376" y="1992313"/>
              <a:ext cx="0" cy="4778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3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5330878"/>
                </p:ext>
              </p:extLst>
            </p:nvPr>
          </p:nvGraphicFramePr>
          <p:xfrm>
            <a:off x="6708775" y="1481138"/>
            <a:ext cx="15494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55" name="公式" r:id="rId15" imgW="774360" imgH="393480" progId="Equation.3">
                    <p:embed/>
                  </p:oleObj>
                </mc:Choice>
                <mc:Fallback>
                  <p:oleObj name="公式" r:id="rId15" imgW="7743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8775" y="1481138"/>
                          <a:ext cx="1549400" cy="787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83804" name="AutoShape 28"/>
          <p:cNvSpPr>
            <a:spLocks noChangeArrowheads="1"/>
          </p:cNvSpPr>
          <p:nvPr/>
        </p:nvSpPr>
        <p:spPr bwMode="auto">
          <a:xfrm>
            <a:off x="2622550" y="4960938"/>
            <a:ext cx="633413" cy="463550"/>
          </a:xfrm>
          <a:prstGeom prst="homePlate">
            <a:avLst>
              <a:gd name="adj" fmla="val 34161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-1" y="0"/>
            <a:ext cx="4095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基本方程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16144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8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48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48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48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48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48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8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8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48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3780" grpId="0"/>
      <p:bldP spid="1483781" grpId="0"/>
      <p:bldP spid="1483785" grpId="0"/>
      <p:bldP spid="1483787" grpId="0"/>
      <p:bldP spid="148380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Text Box 2"/>
          <p:cNvSpPr txBox="1">
            <a:spLocks noChangeArrowheads="1"/>
          </p:cNvSpPr>
          <p:nvPr/>
        </p:nvSpPr>
        <p:spPr bwMode="auto">
          <a:xfrm>
            <a:off x="2955925" y="5757863"/>
            <a:ext cx="39147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渗流的运动方程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4848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571797"/>
              </p:ext>
            </p:extLst>
          </p:nvPr>
        </p:nvGraphicFramePr>
        <p:xfrm>
          <a:off x="3860800" y="2246313"/>
          <a:ext cx="3175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9" name="公式" r:id="rId4" imgW="1587240" imgH="393480" progId="Equation.3">
                  <p:embed/>
                </p:oleObj>
              </mc:Choice>
              <mc:Fallback>
                <p:oleObj name="公式" r:id="rId4" imgW="1587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2246313"/>
                        <a:ext cx="3175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04" name="Rectangle 4"/>
          <p:cNvSpPr>
            <a:spLocks noChangeArrowheads="1"/>
          </p:cNvSpPr>
          <p:nvPr/>
        </p:nvSpPr>
        <p:spPr bwMode="auto">
          <a:xfrm>
            <a:off x="555624" y="1570038"/>
            <a:ext cx="469327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 ea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400" b="1" dirty="0" smtClean="0">
                <a:solidFill>
                  <a:srgbClr val="000066"/>
                </a:solidFill>
              </a:rPr>
              <a:t>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各向同性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均质土体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，渗透系数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84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131348"/>
              </p:ext>
            </p:extLst>
          </p:nvPr>
        </p:nvGraphicFramePr>
        <p:xfrm>
          <a:off x="4302420" y="3298232"/>
          <a:ext cx="182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0" name="公式" r:id="rId6" imgW="914400" imgH="419040" progId="Equation.3">
                  <p:embed/>
                </p:oleObj>
              </mc:Choice>
              <mc:Fallback>
                <p:oleObj name="公式" r:id="rId6" imgW="9144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420" y="3298232"/>
                        <a:ext cx="1828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06" name="Text Box 6"/>
          <p:cNvSpPr txBox="1">
            <a:spLocks noChangeArrowheads="1"/>
          </p:cNvSpPr>
          <p:nvPr/>
        </p:nvSpPr>
        <p:spPr bwMode="auto">
          <a:xfrm>
            <a:off x="454025" y="752475"/>
            <a:ext cx="33153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渗流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的连续性方程：</a:t>
            </a:r>
          </a:p>
        </p:txBody>
      </p:sp>
      <p:graphicFrame>
        <p:nvGraphicFramePr>
          <p:cNvPr id="14848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110468"/>
              </p:ext>
            </p:extLst>
          </p:nvPr>
        </p:nvGraphicFramePr>
        <p:xfrm>
          <a:off x="4117975" y="547688"/>
          <a:ext cx="1752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1" name="公式" r:id="rId8" imgW="876240" imgH="393480" progId="Equation.3">
                  <p:embed/>
                </p:oleObj>
              </mc:Choice>
              <mc:Fallback>
                <p:oleObj name="公式" r:id="rId8" imgW="876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547688"/>
                        <a:ext cx="1752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08" name="Text Box 8"/>
          <p:cNvSpPr txBox="1">
            <a:spLocks noChangeArrowheads="1"/>
          </p:cNvSpPr>
          <p:nvPr/>
        </p:nvSpPr>
        <p:spPr bwMode="auto">
          <a:xfrm>
            <a:off x="1685925" y="3415891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渗流的运动方程：</a:t>
            </a:r>
          </a:p>
        </p:txBody>
      </p:sp>
      <p:sp>
        <p:nvSpPr>
          <p:cNvPr id="1484809" name="AutoShape 9"/>
          <p:cNvSpPr>
            <a:spLocks noChangeArrowheads="1"/>
          </p:cNvSpPr>
          <p:nvPr/>
        </p:nvSpPr>
        <p:spPr bwMode="auto">
          <a:xfrm>
            <a:off x="898525" y="3446054"/>
            <a:ext cx="633413" cy="463550"/>
          </a:xfrm>
          <a:prstGeom prst="homePlate">
            <a:avLst>
              <a:gd name="adj" fmla="val 341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4814" name="Text Box 14"/>
          <p:cNvSpPr txBox="1">
            <a:spLocks noChangeArrowheads="1"/>
          </p:cNvSpPr>
          <p:nvPr/>
        </p:nvSpPr>
        <p:spPr bwMode="auto">
          <a:xfrm>
            <a:off x="2073349" y="4402585"/>
            <a:ext cx="6767439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1463" indent="-2714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Laplace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方程，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描述渗流场内水头的分布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水头分布和渗透系数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无关</a:t>
            </a:r>
          </a:p>
        </p:txBody>
      </p:sp>
      <p:sp>
        <p:nvSpPr>
          <p:cNvPr id="1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1" y="0"/>
            <a:ext cx="4095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基本方程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278262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8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48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8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48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8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8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48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1484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484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04" grpId="0"/>
      <p:bldP spid="1484806" grpId="0"/>
      <p:bldP spid="1484808" grpId="0"/>
      <p:bldP spid="1484809" grpId="0" animBg="1"/>
      <p:bldP spid="148481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3" name="Freeform 10"/>
          <p:cNvSpPr>
            <a:spLocks/>
          </p:cNvSpPr>
          <p:nvPr/>
        </p:nvSpPr>
        <p:spPr bwMode="auto">
          <a:xfrm>
            <a:off x="1285086" y="1571786"/>
            <a:ext cx="3124570" cy="1340506"/>
          </a:xfrm>
          <a:custGeom>
            <a:avLst/>
            <a:gdLst>
              <a:gd name="T0" fmla="*/ 10 w 1848"/>
              <a:gd name="T1" fmla="*/ 0 h 682"/>
              <a:gd name="T2" fmla="*/ 1848 w 1848"/>
              <a:gd name="T3" fmla="*/ 0 h 682"/>
              <a:gd name="T4" fmla="*/ 341 w 1848"/>
              <a:gd name="T5" fmla="*/ 682 h 682"/>
              <a:gd name="T6" fmla="*/ 0 w 1848"/>
              <a:gd name="T7" fmla="*/ 677 h 682"/>
              <a:gd name="T8" fmla="*/ 10 w 1848"/>
              <a:gd name="T9" fmla="*/ 0 h 6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48"/>
              <a:gd name="T16" fmla="*/ 0 h 682"/>
              <a:gd name="T17" fmla="*/ 1848 w 1848"/>
              <a:gd name="T18" fmla="*/ 682 h 682"/>
              <a:gd name="connsiteX0" fmla="*/ 54 w 10156"/>
              <a:gd name="connsiteY0" fmla="*/ 49 h 10049"/>
              <a:gd name="connsiteX1" fmla="*/ 10156 w 10156"/>
              <a:gd name="connsiteY1" fmla="*/ 0 h 10049"/>
              <a:gd name="connsiteX2" fmla="*/ 1845 w 10156"/>
              <a:gd name="connsiteY2" fmla="*/ 10049 h 10049"/>
              <a:gd name="connsiteX3" fmla="*/ 0 w 10156"/>
              <a:gd name="connsiteY3" fmla="*/ 9976 h 10049"/>
              <a:gd name="connsiteX4" fmla="*/ 54 w 10156"/>
              <a:gd name="connsiteY4" fmla="*/ 49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6" h="10049">
                <a:moveTo>
                  <a:pt x="54" y="49"/>
                </a:moveTo>
                <a:lnTo>
                  <a:pt x="10156" y="0"/>
                </a:lnTo>
                <a:lnTo>
                  <a:pt x="1845" y="10049"/>
                </a:lnTo>
                <a:lnTo>
                  <a:pt x="0" y="9976"/>
                </a:lnTo>
                <a:lnTo>
                  <a:pt x="54" y="49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2422"/>
          <p:cNvSpPr>
            <a:spLocks/>
          </p:cNvSpPr>
          <p:nvPr/>
        </p:nvSpPr>
        <p:spPr bwMode="auto">
          <a:xfrm>
            <a:off x="1877610" y="1482508"/>
            <a:ext cx="5581452" cy="1429273"/>
          </a:xfrm>
          <a:custGeom>
            <a:avLst/>
            <a:gdLst>
              <a:gd name="T0" fmla="*/ 0 w 2975"/>
              <a:gd name="T1" fmla="*/ 756 h 759"/>
              <a:gd name="T2" fmla="*/ 1444 w 2975"/>
              <a:gd name="T3" fmla="*/ 0 h 759"/>
              <a:gd name="T4" fmla="*/ 1608 w 2975"/>
              <a:gd name="T5" fmla="*/ 0 h 759"/>
              <a:gd name="T6" fmla="*/ 2975 w 2975"/>
              <a:gd name="T7" fmla="*/ 759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75" h="759">
                <a:moveTo>
                  <a:pt x="0" y="756"/>
                </a:moveTo>
                <a:lnTo>
                  <a:pt x="1444" y="0"/>
                </a:lnTo>
                <a:lnTo>
                  <a:pt x="1608" y="0"/>
                </a:lnTo>
                <a:lnTo>
                  <a:pt x="2975" y="759"/>
                </a:lnTo>
              </a:path>
            </a:pathLst>
          </a:custGeom>
          <a:solidFill>
            <a:schemeClr val="accent2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471" name="Freeform 8"/>
          <p:cNvSpPr>
            <a:spLocks/>
          </p:cNvSpPr>
          <p:nvPr/>
        </p:nvSpPr>
        <p:spPr bwMode="auto">
          <a:xfrm>
            <a:off x="1912293" y="1573259"/>
            <a:ext cx="5525791" cy="1335635"/>
          </a:xfrm>
          <a:custGeom>
            <a:avLst/>
            <a:gdLst>
              <a:gd name="T0" fmla="*/ 0 w 3288"/>
              <a:gd name="T1" fmla="*/ 677 h 682"/>
              <a:gd name="T2" fmla="*/ 1517 w 3288"/>
              <a:gd name="T3" fmla="*/ 0 h 682"/>
              <a:gd name="T4" fmla="*/ 1551 w 3288"/>
              <a:gd name="T5" fmla="*/ 29 h 682"/>
              <a:gd name="T6" fmla="*/ 1719 w 3288"/>
              <a:gd name="T7" fmla="*/ 92 h 682"/>
              <a:gd name="T8" fmla="*/ 2012 w 3288"/>
              <a:gd name="T9" fmla="*/ 178 h 682"/>
              <a:gd name="T10" fmla="*/ 2266 w 3288"/>
              <a:gd name="T11" fmla="*/ 245 h 682"/>
              <a:gd name="T12" fmla="*/ 2588 w 3288"/>
              <a:gd name="T13" fmla="*/ 360 h 682"/>
              <a:gd name="T14" fmla="*/ 2751 w 3288"/>
              <a:gd name="T15" fmla="*/ 423 h 682"/>
              <a:gd name="T16" fmla="*/ 3288 w 3288"/>
              <a:gd name="T17" fmla="*/ 682 h 682"/>
              <a:gd name="T18" fmla="*/ 0 w 3288"/>
              <a:gd name="T19" fmla="*/ 677 h 68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288"/>
              <a:gd name="T31" fmla="*/ 0 h 682"/>
              <a:gd name="T32" fmla="*/ 3288 w 3288"/>
              <a:gd name="T33" fmla="*/ 682 h 682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717 w 10000"/>
              <a:gd name="connsiteY2" fmla="*/ 441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016">
                <a:moveTo>
                  <a:pt x="0" y="9943"/>
                </a:moveTo>
                <a:lnTo>
                  <a:pt x="4534" y="0"/>
                </a:lnTo>
                <a:lnTo>
                  <a:pt x="4648" y="409"/>
                </a:lnTo>
                <a:lnTo>
                  <a:pt x="5228" y="1365"/>
                </a:lnTo>
                <a:lnTo>
                  <a:pt x="6138" y="2578"/>
                </a:lnTo>
                <a:lnTo>
                  <a:pt x="6892" y="3608"/>
                </a:lnTo>
                <a:lnTo>
                  <a:pt x="7871" y="5295"/>
                </a:lnTo>
                <a:lnTo>
                  <a:pt x="8367" y="6218"/>
                </a:lnTo>
                <a:lnTo>
                  <a:pt x="10000" y="10016"/>
                </a:lnTo>
                <a:lnTo>
                  <a:pt x="0" y="9943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2" name="Freeform 9"/>
          <p:cNvSpPr>
            <a:spLocks/>
          </p:cNvSpPr>
          <p:nvPr/>
        </p:nvSpPr>
        <p:spPr bwMode="auto">
          <a:xfrm>
            <a:off x="6836765" y="2557616"/>
            <a:ext cx="1042235" cy="356048"/>
          </a:xfrm>
          <a:custGeom>
            <a:avLst/>
            <a:gdLst>
              <a:gd name="T0" fmla="*/ 0 w 845"/>
              <a:gd name="T1" fmla="*/ 0 h 149"/>
              <a:gd name="T2" fmla="*/ 845 w 845"/>
              <a:gd name="T3" fmla="*/ 0 h 149"/>
              <a:gd name="T4" fmla="*/ 845 w 845"/>
              <a:gd name="T5" fmla="*/ 149 h 149"/>
              <a:gd name="T6" fmla="*/ 312 w 845"/>
              <a:gd name="T7" fmla="*/ 149 h 149"/>
              <a:gd name="T8" fmla="*/ 0 w 845"/>
              <a:gd name="T9" fmla="*/ 0 h 1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5"/>
              <a:gd name="T16" fmla="*/ 0 h 149"/>
              <a:gd name="T17" fmla="*/ 845 w 845"/>
              <a:gd name="T18" fmla="*/ 149 h 149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8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329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72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6085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6085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8" name="Text Box 65"/>
          <p:cNvSpPr txBox="1">
            <a:spLocks noChangeArrowheads="1"/>
          </p:cNvSpPr>
          <p:nvPr/>
        </p:nvSpPr>
        <p:spPr bwMode="auto">
          <a:xfrm>
            <a:off x="2933700" y="5694363"/>
            <a:ext cx="3927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渗流的边界条件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6" name="Text Box 7"/>
          <p:cNvSpPr txBox="1">
            <a:spLocks noChangeArrowheads="1"/>
          </p:cNvSpPr>
          <p:nvPr/>
        </p:nvSpPr>
        <p:spPr bwMode="auto">
          <a:xfrm>
            <a:off x="-1" y="0"/>
            <a:ext cx="4095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边界条件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7" name="Text Box 2421"/>
          <p:cNvSpPr txBox="1">
            <a:spLocks noChangeArrowheads="1"/>
          </p:cNvSpPr>
          <p:nvPr/>
        </p:nvSpPr>
        <p:spPr bwMode="auto">
          <a:xfrm>
            <a:off x="3627360" y="3013468"/>
            <a:ext cx="1452622" cy="34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0817" rIns="0" bIns="40817">
            <a:spAutoFit/>
          </a:bodyPr>
          <a:lstStyle>
            <a:lvl1pPr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407988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8175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2239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631950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0891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5463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0035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4607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600" b="1" dirty="0">
                <a:latin typeface="Times New Roman" pitchFamily="18" charset="0"/>
                <a:ea typeface="幼圆" pitchFamily="49" charset="-122"/>
              </a:rPr>
              <a:t>不透水层</a:t>
            </a:r>
          </a:p>
        </p:txBody>
      </p:sp>
      <p:sp>
        <p:nvSpPr>
          <p:cNvPr id="69" name="Line 2423"/>
          <p:cNvSpPr>
            <a:spLocks noChangeShapeType="1"/>
          </p:cNvSpPr>
          <p:nvPr/>
        </p:nvSpPr>
        <p:spPr bwMode="auto">
          <a:xfrm>
            <a:off x="1324173" y="2911781"/>
            <a:ext cx="65413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2424"/>
          <p:cNvSpPr>
            <a:spLocks noChangeShapeType="1"/>
          </p:cNvSpPr>
          <p:nvPr/>
        </p:nvSpPr>
        <p:spPr bwMode="auto">
          <a:xfrm flipH="1">
            <a:off x="1009650" y="1571014"/>
            <a:ext cx="339973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2425"/>
          <p:cNvSpPr>
            <a:spLocks noChangeShapeType="1"/>
          </p:cNvSpPr>
          <p:nvPr/>
        </p:nvSpPr>
        <p:spPr bwMode="auto">
          <a:xfrm>
            <a:off x="6848300" y="2563407"/>
            <a:ext cx="12415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2" name="Group 2426"/>
          <p:cNvGrpSpPr>
            <a:grpSpLocks/>
          </p:cNvGrpSpPr>
          <p:nvPr/>
        </p:nvGrpSpPr>
        <p:grpSpPr bwMode="auto">
          <a:xfrm>
            <a:off x="2044744" y="1435431"/>
            <a:ext cx="373473" cy="291880"/>
            <a:chOff x="355" y="513"/>
            <a:chExt cx="204" cy="175"/>
          </a:xfrm>
        </p:grpSpPr>
        <p:sp>
          <p:nvSpPr>
            <p:cNvPr id="73" name="AutoShape 2427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2428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429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2430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2431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9" name="Line 2433"/>
          <p:cNvSpPr>
            <a:spLocks noChangeShapeType="1"/>
          </p:cNvSpPr>
          <p:nvPr/>
        </p:nvSpPr>
        <p:spPr bwMode="auto">
          <a:xfrm>
            <a:off x="1055786" y="1565364"/>
            <a:ext cx="0" cy="13445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2434"/>
          <p:cNvSpPr>
            <a:spLocks noChangeShapeType="1"/>
          </p:cNvSpPr>
          <p:nvPr/>
        </p:nvSpPr>
        <p:spPr bwMode="auto">
          <a:xfrm>
            <a:off x="8031318" y="2570939"/>
            <a:ext cx="0" cy="3276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Text Box 2435"/>
          <p:cNvSpPr txBox="1">
            <a:spLocks noChangeArrowheads="1"/>
          </p:cNvSpPr>
          <p:nvPr/>
        </p:nvSpPr>
        <p:spPr bwMode="auto">
          <a:xfrm>
            <a:off x="991822" y="2000361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h</a:t>
            </a:r>
            <a:r>
              <a:rPr kumimoji="1" lang="en-US" altLang="zh-CN" sz="1600" baseline="-25000">
                <a:latin typeface="Times New Roman" pitchFamily="18" charset="0"/>
              </a:rPr>
              <a:t>1</a:t>
            </a:r>
            <a:endParaRPr kumimoji="1" lang="en-US" altLang="zh-CN" sz="1600">
              <a:latin typeface="Times New Roman" pitchFamily="18" charset="0"/>
            </a:endParaRPr>
          </a:p>
        </p:txBody>
      </p:sp>
      <p:sp>
        <p:nvSpPr>
          <p:cNvPr id="83" name="Text Box 2437"/>
          <p:cNvSpPr txBox="1">
            <a:spLocks noChangeArrowheads="1"/>
          </p:cNvSpPr>
          <p:nvPr/>
        </p:nvSpPr>
        <p:spPr bwMode="auto">
          <a:xfrm>
            <a:off x="4040036" y="2228215"/>
            <a:ext cx="1504206" cy="41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 b="1" dirty="0">
                <a:latin typeface="Times New Roman" pitchFamily="18" charset="0"/>
              </a:rPr>
              <a:t>渗 流 域</a:t>
            </a:r>
          </a:p>
        </p:txBody>
      </p:sp>
      <p:grpSp>
        <p:nvGrpSpPr>
          <p:cNvPr id="84" name="Group 2438"/>
          <p:cNvGrpSpPr>
            <a:grpSpLocks/>
          </p:cNvGrpSpPr>
          <p:nvPr/>
        </p:nvGrpSpPr>
        <p:grpSpPr bwMode="auto">
          <a:xfrm>
            <a:off x="7217647" y="2431590"/>
            <a:ext cx="373472" cy="291881"/>
            <a:chOff x="355" y="513"/>
            <a:chExt cx="204" cy="175"/>
          </a:xfrm>
        </p:grpSpPr>
        <p:sp>
          <p:nvSpPr>
            <p:cNvPr id="85" name="AutoShape 2439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2440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441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442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2443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" name="Text Box 2444"/>
          <p:cNvSpPr txBox="1">
            <a:spLocks noChangeArrowheads="1"/>
          </p:cNvSpPr>
          <p:nvPr/>
        </p:nvSpPr>
        <p:spPr bwMode="auto">
          <a:xfrm>
            <a:off x="8036084" y="2520796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h</a:t>
            </a:r>
            <a:r>
              <a:rPr kumimoji="1" lang="en-US" altLang="zh-CN" sz="1600" baseline="-25000" dirty="0">
                <a:latin typeface="Times New Roman" pitchFamily="18" charset="0"/>
              </a:rPr>
              <a:t>2</a:t>
            </a:r>
            <a:endParaRPr kumimoji="1" lang="en-US" altLang="zh-CN" sz="1600" dirty="0">
              <a:latin typeface="Times New Roman" pitchFamily="18" charset="0"/>
            </a:endParaRPr>
          </a:p>
        </p:txBody>
      </p:sp>
      <p:sp>
        <p:nvSpPr>
          <p:cNvPr id="91" name="Text Box 2446"/>
          <p:cNvSpPr txBox="1">
            <a:spLocks noChangeArrowheads="1"/>
          </p:cNvSpPr>
          <p:nvPr/>
        </p:nvSpPr>
        <p:spPr bwMode="auto">
          <a:xfrm>
            <a:off x="8121255" y="2850208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93" name="Text Box 2448"/>
          <p:cNvSpPr txBox="1">
            <a:spLocks noChangeArrowheads="1"/>
          </p:cNvSpPr>
          <p:nvPr/>
        </p:nvSpPr>
        <p:spPr bwMode="auto">
          <a:xfrm>
            <a:off x="1673335" y="2857171"/>
            <a:ext cx="414741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B</a:t>
            </a:r>
          </a:p>
        </p:txBody>
      </p:sp>
      <p:sp>
        <p:nvSpPr>
          <p:cNvPr id="94" name="Text Box 2449"/>
          <p:cNvSpPr txBox="1">
            <a:spLocks noChangeArrowheads="1"/>
          </p:cNvSpPr>
          <p:nvPr/>
        </p:nvSpPr>
        <p:spPr bwMode="auto">
          <a:xfrm>
            <a:off x="7271295" y="2853404"/>
            <a:ext cx="41473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C</a:t>
            </a:r>
          </a:p>
        </p:txBody>
      </p:sp>
      <p:sp>
        <p:nvSpPr>
          <p:cNvPr id="95" name="Text Box 2450"/>
          <p:cNvSpPr txBox="1">
            <a:spLocks noChangeArrowheads="1"/>
          </p:cNvSpPr>
          <p:nvPr/>
        </p:nvSpPr>
        <p:spPr bwMode="auto">
          <a:xfrm>
            <a:off x="6520223" y="2450421"/>
            <a:ext cx="429184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D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089557" y="1194394"/>
            <a:ext cx="2764934" cy="1220249"/>
            <a:chOff x="4089557" y="1194394"/>
            <a:chExt cx="2764934" cy="1220249"/>
          </a:xfrm>
        </p:grpSpPr>
        <p:sp>
          <p:nvSpPr>
            <p:cNvPr id="96" name="Text Box 2451"/>
            <p:cNvSpPr txBox="1">
              <a:spLocks noChangeArrowheads="1"/>
            </p:cNvSpPr>
            <p:nvPr/>
          </p:nvSpPr>
          <p:spPr bwMode="auto">
            <a:xfrm>
              <a:off x="6454195" y="2015426"/>
              <a:ext cx="400296" cy="399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78" name="Freeform 2432"/>
            <p:cNvSpPr>
              <a:spLocks/>
            </p:cNvSpPr>
            <p:nvPr/>
          </p:nvSpPr>
          <p:spPr bwMode="auto">
            <a:xfrm>
              <a:off x="4430015" y="1580429"/>
              <a:ext cx="2084017" cy="815383"/>
            </a:xfrm>
            <a:custGeom>
              <a:avLst/>
              <a:gdLst>
                <a:gd name="T0" fmla="*/ 0 w 953"/>
                <a:gd name="T1" fmla="*/ 0 h 321"/>
                <a:gd name="T2" fmla="*/ 24 w 953"/>
                <a:gd name="T3" fmla="*/ 17 h 321"/>
                <a:gd name="T4" fmla="*/ 111 w 953"/>
                <a:gd name="T5" fmla="*/ 48 h 321"/>
                <a:gd name="T6" fmla="*/ 224 w 953"/>
                <a:gd name="T7" fmla="*/ 81 h 321"/>
                <a:gd name="T8" fmla="*/ 432 w 953"/>
                <a:gd name="T9" fmla="*/ 139 h 321"/>
                <a:gd name="T10" fmla="*/ 639 w 953"/>
                <a:gd name="T11" fmla="*/ 204 h 321"/>
                <a:gd name="T12" fmla="*/ 819 w 953"/>
                <a:gd name="T13" fmla="*/ 269 h 321"/>
                <a:gd name="T14" fmla="*/ 953 w 953"/>
                <a:gd name="T15" fmla="*/ 321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3" h="321">
                  <a:moveTo>
                    <a:pt x="0" y="0"/>
                  </a:moveTo>
                  <a:cubicBezTo>
                    <a:pt x="3" y="4"/>
                    <a:pt x="6" y="9"/>
                    <a:pt x="24" y="17"/>
                  </a:cubicBezTo>
                  <a:cubicBezTo>
                    <a:pt x="42" y="25"/>
                    <a:pt x="78" y="37"/>
                    <a:pt x="111" y="48"/>
                  </a:cubicBezTo>
                  <a:cubicBezTo>
                    <a:pt x="144" y="59"/>
                    <a:pt x="171" y="66"/>
                    <a:pt x="224" y="81"/>
                  </a:cubicBezTo>
                  <a:cubicBezTo>
                    <a:pt x="277" y="96"/>
                    <a:pt x="363" y="119"/>
                    <a:pt x="432" y="139"/>
                  </a:cubicBezTo>
                  <a:cubicBezTo>
                    <a:pt x="501" y="159"/>
                    <a:pt x="575" y="182"/>
                    <a:pt x="639" y="204"/>
                  </a:cubicBezTo>
                  <a:cubicBezTo>
                    <a:pt x="703" y="226"/>
                    <a:pt x="767" y="250"/>
                    <a:pt x="819" y="269"/>
                  </a:cubicBezTo>
                  <a:cubicBezTo>
                    <a:pt x="871" y="288"/>
                    <a:pt x="912" y="304"/>
                    <a:pt x="953" y="321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Oval 2436"/>
            <p:cNvSpPr>
              <a:spLocks noChangeArrowheads="1"/>
            </p:cNvSpPr>
            <p:nvPr/>
          </p:nvSpPr>
          <p:spPr bwMode="auto">
            <a:xfrm>
              <a:off x="6485144" y="2348734"/>
              <a:ext cx="64800" cy="648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Text Box 2447"/>
            <p:cNvSpPr txBox="1">
              <a:spLocks noChangeArrowheads="1"/>
            </p:cNvSpPr>
            <p:nvPr/>
          </p:nvSpPr>
          <p:spPr bwMode="auto">
            <a:xfrm>
              <a:off x="4089557" y="1194394"/>
              <a:ext cx="429184" cy="399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97" name="Text Box 2452"/>
            <p:cNvSpPr txBox="1">
              <a:spLocks noChangeArrowheads="1"/>
            </p:cNvSpPr>
            <p:nvPr/>
          </p:nvSpPr>
          <p:spPr bwMode="auto">
            <a:xfrm>
              <a:off x="4890150" y="1749908"/>
              <a:ext cx="385852" cy="399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itchFamily="18" charset="0"/>
                </a:rPr>
                <a:t>F</a:t>
              </a:r>
            </a:p>
          </p:txBody>
        </p:sp>
      </p:grpSp>
      <p:sp>
        <p:nvSpPr>
          <p:cNvPr id="98" name="Line 2477"/>
          <p:cNvSpPr>
            <a:spLocks noChangeShapeType="1"/>
          </p:cNvSpPr>
          <p:nvPr/>
        </p:nvSpPr>
        <p:spPr bwMode="auto">
          <a:xfrm>
            <a:off x="7872378" y="2913664"/>
            <a:ext cx="2945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Line 2480"/>
          <p:cNvSpPr>
            <a:spLocks noChangeShapeType="1"/>
          </p:cNvSpPr>
          <p:nvPr/>
        </p:nvSpPr>
        <p:spPr bwMode="auto">
          <a:xfrm>
            <a:off x="1456680" y="2913664"/>
            <a:ext cx="1980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869771" y="1233158"/>
            <a:ext cx="2382544" cy="532249"/>
            <a:chOff x="4869771" y="1233158"/>
            <a:chExt cx="2382544" cy="532249"/>
          </a:xfrm>
        </p:grpSpPr>
        <p:sp>
          <p:nvSpPr>
            <p:cNvPr id="100" name="Text Box 2505"/>
            <p:cNvSpPr txBox="1">
              <a:spLocks noChangeArrowheads="1"/>
            </p:cNvSpPr>
            <p:nvPr/>
          </p:nvSpPr>
          <p:spPr bwMode="auto">
            <a:xfrm>
              <a:off x="5330237" y="1233158"/>
              <a:ext cx="1922078" cy="3655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40817" rIns="0" bIns="40817">
              <a:spAutoFit/>
            </a:bodyPr>
            <a:lstStyle>
              <a:lvl1pPr defTabSz="81756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407988" defTabSz="81756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817563" defTabSz="81756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223963" defTabSz="81756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1631950" defTabSz="81756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089150" defTabSz="81756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546350" defTabSz="81756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003550" defTabSz="81756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460750" defTabSz="81756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 b="1" dirty="0" smtClean="0">
                  <a:latin typeface="Times New Roman" pitchFamily="18" charset="0"/>
                  <a:ea typeface="幼圆" pitchFamily="49" charset="-122"/>
                </a:rPr>
                <a:t>浸润面（自由水面）</a:t>
              </a:r>
              <a:endParaRPr lang="zh-CN" altLang="en-US" sz="1600" b="1" dirty="0">
                <a:latin typeface="Times New Roman" pitchFamily="18" charset="0"/>
                <a:ea typeface="幼圆" pitchFamily="49" charset="-122"/>
              </a:endParaRPr>
            </a:p>
          </p:txBody>
        </p:sp>
        <p:sp>
          <p:nvSpPr>
            <p:cNvPr id="101" name="Line 2506"/>
            <p:cNvSpPr>
              <a:spLocks noChangeShapeType="1"/>
            </p:cNvSpPr>
            <p:nvPr/>
          </p:nvSpPr>
          <p:spPr bwMode="auto">
            <a:xfrm flipV="1">
              <a:off x="4869771" y="1558266"/>
              <a:ext cx="466325" cy="207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" name="Group 2507"/>
          <p:cNvGrpSpPr>
            <a:grpSpLocks/>
          </p:cNvGrpSpPr>
          <p:nvPr/>
        </p:nvGrpSpPr>
        <p:grpSpPr bwMode="auto">
          <a:xfrm>
            <a:off x="2523449" y="2909897"/>
            <a:ext cx="812973" cy="158180"/>
            <a:chOff x="2644" y="2807"/>
            <a:chExt cx="481" cy="83"/>
          </a:xfrm>
        </p:grpSpPr>
        <p:sp>
          <p:nvSpPr>
            <p:cNvPr id="103" name="Freeform 2508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Freeform 2509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" name="Freeform 2510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6" name="Freeform 2511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7" name="Freeform 2512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8" name="Freeform 2513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9" name="Freeform 2514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" name="Freeform 2515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" name="Freeform 2516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" name="Freeform 2517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" name="Freeform 2518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4" name="Freeform 2519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5" name="Group 2520"/>
          <p:cNvGrpSpPr>
            <a:grpSpLocks/>
          </p:cNvGrpSpPr>
          <p:nvPr/>
        </p:nvGrpSpPr>
        <p:grpSpPr bwMode="auto">
          <a:xfrm>
            <a:off x="5424566" y="2908015"/>
            <a:ext cx="812973" cy="158180"/>
            <a:chOff x="2644" y="2807"/>
            <a:chExt cx="481" cy="83"/>
          </a:xfrm>
        </p:grpSpPr>
        <p:sp>
          <p:nvSpPr>
            <p:cNvPr id="116" name="Freeform 2521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7" name="Freeform 2522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" name="Freeform 2523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" name="Freeform 2524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" name="Freeform 2525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" name="Freeform 2526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2" name="Freeform 2527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" name="Freeform 2528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4" name="Freeform 2529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" name="Freeform 2530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6" name="Freeform 2531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7" name="Freeform 2532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0" name="Text Box 2446"/>
          <p:cNvSpPr txBox="1">
            <a:spLocks noChangeArrowheads="1"/>
          </p:cNvSpPr>
          <p:nvPr/>
        </p:nvSpPr>
        <p:spPr bwMode="auto">
          <a:xfrm>
            <a:off x="808681" y="2856715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131" name="Line 2477"/>
          <p:cNvSpPr>
            <a:spLocks noChangeShapeType="1"/>
          </p:cNvSpPr>
          <p:nvPr/>
        </p:nvSpPr>
        <p:spPr bwMode="auto">
          <a:xfrm>
            <a:off x="946151" y="2915423"/>
            <a:ext cx="4012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0910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" grpId="0" animBg="1"/>
      <p:bldP spid="8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65375" y="3796748"/>
            <a:ext cx="6083300" cy="474663"/>
            <a:chOff x="1365375" y="3796748"/>
            <a:chExt cx="6083300" cy="474663"/>
          </a:xfrm>
        </p:grpSpPr>
        <p:sp>
          <p:nvSpPr>
            <p:cNvPr id="1486902" name="Text Box 54"/>
            <p:cNvSpPr txBox="1">
              <a:spLocks noChangeArrowheads="1"/>
            </p:cNvSpPr>
            <p:nvPr/>
          </p:nvSpPr>
          <p:spPr bwMode="auto">
            <a:xfrm>
              <a:off x="1644775" y="3814211"/>
              <a:ext cx="5803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水头边界条件      在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边界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上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给定水头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2500" name="Group 55"/>
            <p:cNvGrpSpPr>
              <a:grpSpLocks/>
            </p:cNvGrpSpPr>
            <p:nvPr/>
          </p:nvGrpSpPr>
          <p:grpSpPr bwMode="auto">
            <a:xfrm>
              <a:off x="1365375" y="3796748"/>
              <a:ext cx="336550" cy="457200"/>
              <a:chOff x="787" y="1816"/>
              <a:chExt cx="212" cy="288"/>
            </a:xfrm>
          </p:grpSpPr>
          <p:sp>
            <p:nvSpPr>
              <p:cNvPr id="62509" name="Oval 56"/>
              <p:cNvSpPr>
                <a:spLocks noChangeArrowheads="1"/>
              </p:cNvSpPr>
              <p:nvPr/>
            </p:nvSpPr>
            <p:spPr bwMode="auto">
              <a:xfrm>
                <a:off x="792" y="1877"/>
                <a:ext cx="198" cy="19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510" name="Text Box 57"/>
              <p:cNvSpPr txBox="1">
                <a:spLocks noChangeArrowheads="1"/>
              </p:cNvSpPr>
              <p:nvPr/>
            </p:nvSpPr>
            <p:spPr bwMode="auto">
              <a:xfrm>
                <a:off x="787" y="181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</a:rPr>
                  <a:t>1</a:t>
                </a:r>
              </a:p>
            </p:txBody>
          </p:sp>
        </p:grpSp>
      </p:grpSp>
      <p:sp>
        <p:nvSpPr>
          <p:cNvPr id="62508" name="Text Box 65"/>
          <p:cNvSpPr txBox="1">
            <a:spLocks noChangeArrowheads="1"/>
          </p:cNvSpPr>
          <p:nvPr/>
        </p:nvSpPr>
        <p:spPr bwMode="auto">
          <a:xfrm>
            <a:off x="2933700" y="5694363"/>
            <a:ext cx="3927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渗流的边界条件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8" name="Freeform 10"/>
          <p:cNvSpPr>
            <a:spLocks/>
          </p:cNvSpPr>
          <p:nvPr/>
        </p:nvSpPr>
        <p:spPr bwMode="auto">
          <a:xfrm>
            <a:off x="1285086" y="1571786"/>
            <a:ext cx="3124570" cy="1340506"/>
          </a:xfrm>
          <a:custGeom>
            <a:avLst/>
            <a:gdLst>
              <a:gd name="T0" fmla="*/ 10 w 1848"/>
              <a:gd name="T1" fmla="*/ 0 h 682"/>
              <a:gd name="T2" fmla="*/ 1848 w 1848"/>
              <a:gd name="T3" fmla="*/ 0 h 682"/>
              <a:gd name="T4" fmla="*/ 341 w 1848"/>
              <a:gd name="T5" fmla="*/ 682 h 682"/>
              <a:gd name="T6" fmla="*/ 0 w 1848"/>
              <a:gd name="T7" fmla="*/ 677 h 682"/>
              <a:gd name="T8" fmla="*/ 10 w 1848"/>
              <a:gd name="T9" fmla="*/ 0 h 6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48"/>
              <a:gd name="T16" fmla="*/ 0 h 682"/>
              <a:gd name="T17" fmla="*/ 1848 w 1848"/>
              <a:gd name="T18" fmla="*/ 682 h 682"/>
              <a:gd name="connsiteX0" fmla="*/ 54 w 10156"/>
              <a:gd name="connsiteY0" fmla="*/ 49 h 10049"/>
              <a:gd name="connsiteX1" fmla="*/ 10156 w 10156"/>
              <a:gd name="connsiteY1" fmla="*/ 0 h 10049"/>
              <a:gd name="connsiteX2" fmla="*/ 1845 w 10156"/>
              <a:gd name="connsiteY2" fmla="*/ 10049 h 10049"/>
              <a:gd name="connsiteX3" fmla="*/ 0 w 10156"/>
              <a:gd name="connsiteY3" fmla="*/ 9976 h 10049"/>
              <a:gd name="connsiteX4" fmla="*/ 54 w 10156"/>
              <a:gd name="connsiteY4" fmla="*/ 49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6" h="10049">
                <a:moveTo>
                  <a:pt x="54" y="49"/>
                </a:moveTo>
                <a:lnTo>
                  <a:pt x="10156" y="0"/>
                </a:lnTo>
                <a:lnTo>
                  <a:pt x="1845" y="10049"/>
                </a:lnTo>
                <a:lnTo>
                  <a:pt x="0" y="9976"/>
                </a:lnTo>
                <a:lnTo>
                  <a:pt x="54" y="49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" name="Freeform 2422"/>
          <p:cNvSpPr>
            <a:spLocks/>
          </p:cNvSpPr>
          <p:nvPr/>
        </p:nvSpPr>
        <p:spPr bwMode="auto">
          <a:xfrm>
            <a:off x="1877610" y="1482508"/>
            <a:ext cx="5581452" cy="1429273"/>
          </a:xfrm>
          <a:custGeom>
            <a:avLst/>
            <a:gdLst>
              <a:gd name="T0" fmla="*/ 0 w 2975"/>
              <a:gd name="T1" fmla="*/ 756 h 759"/>
              <a:gd name="T2" fmla="*/ 1444 w 2975"/>
              <a:gd name="T3" fmla="*/ 0 h 759"/>
              <a:gd name="T4" fmla="*/ 1608 w 2975"/>
              <a:gd name="T5" fmla="*/ 0 h 759"/>
              <a:gd name="T6" fmla="*/ 2975 w 2975"/>
              <a:gd name="T7" fmla="*/ 759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75" h="759">
                <a:moveTo>
                  <a:pt x="0" y="756"/>
                </a:moveTo>
                <a:lnTo>
                  <a:pt x="1444" y="0"/>
                </a:lnTo>
                <a:lnTo>
                  <a:pt x="1608" y="0"/>
                </a:lnTo>
                <a:lnTo>
                  <a:pt x="2975" y="759"/>
                </a:lnTo>
              </a:path>
            </a:pathLst>
          </a:custGeom>
          <a:solidFill>
            <a:schemeClr val="accent2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" name="Text Box 2451"/>
          <p:cNvSpPr txBox="1">
            <a:spLocks noChangeArrowheads="1"/>
          </p:cNvSpPr>
          <p:nvPr/>
        </p:nvSpPr>
        <p:spPr bwMode="auto">
          <a:xfrm>
            <a:off x="6243079" y="1971478"/>
            <a:ext cx="400296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E</a:t>
            </a:r>
          </a:p>
        </p:txBody>
      </p:sp>
      <p:sp>
        <p:nvSpPr>
          <p:cNvPr id="133" name="Freeform 8"/>
          <p:cNvSpPr>
            <a:spLocks/>
          </p:cNvSpPr>
          <p:nvPr/>
        </p:nvSpPr>
        <p:spPr bwMode="auto">
          <a:xfrm>
            <a:off x="1912293" y="1573259"/>
            <a:ext cx="5525791" cy="1335635"/>
          </a:xfrm>
          <a:custGeom>
            <a:avLst/>
            <a:gdLst>
              <a:gd name="T0" fmla="*/ 0 w 3288"/>
              <a:gd name="T1" fmla="*/ 677 h 682"/>
              <a:gd name="T2" fmla="*/ 1517 w 3288"/>
              <a:gd name="T3" fmla="*/ 0 h 682"/>
              <a:gd name="T4" fmla="*/ 1551 w 3288"/>
              <a:gd name="T5" fmla="*/ 29 h 682"/>
              <a:gd name="T6" fmla="*/ 1719 w 3288"/>
              <a:gd name="T7" fmla="*/ 92 h 682"/>
              <a:gd name="T8" fmla="*/ 2012 w 3288"/>
              <a:gd name="T9" fmla="*/ 178 h 682"/>
              <a:gd name="T10" fmla="*/ 2266 w 3288"/>
              <a:gd name="T11" fmla="*/ 245 h 682"/>
              <a:gd name="T12" fmla="*/ 2588 w 3288"/>
              <a:gd name="T13" fmla="*/ 360 h 682"/>
              <a:gd name="T14" fmla="*/ 2751 w 3288"/>
              <a:gd name="T15" fmla="*/ 423 h 682"/>
              <a:gd name="T16" fmla="*/ 3288 w 3288"/>
              <a:gd name="T17" fmla="*/ 682 h 682"/>
              <a:gd name="T18" fmla="*/ 0 w 3288"/>
              <a:gd name="T19" fmla="*/ 677 h 68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288"/>
              <a:gd name="T31" fmla="*/ 0 h 682"/>
              <a:gd name="T32" fmla="*/ 3288 w 3288"/>
              <a:gd name="T33" fmla="*/ 682 h 682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717 w 10000"/>
              <a:gd name="connsiteY2" fmla="*/ 441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476 w 10000"/>
              <a:gd name="connsiteY6" fmla="*/ 4612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926 w 10000"/>
              <a:gd name="connsiteY5" fmla="*/ 3735 h 10016"/>
              <a:gd name="connsiteX6" fmla="*/ 7476 w 10000"/>
              <a:gd name="connsiteY6" fmla="*/ 4612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926 w 10000"/>
              <a:gd name="connsiteY5" fmla="*/ 3735 h 10016"/>
              <a:gd name="connsiteX6" fmla="*/ 7476 w 10000"/>
              <a:gd name="connsiteY6" fmla="*/ 4612 h 10016"/>
              <a:gd name="connsiteX7" fmla="*/ 8058 w 10000"/>
              <a:gd name="connsiteY7" fmla="*/ 5472 h 10016"/>
              <a:gd name="connsiteX8" fmla="*/ 8095 w 10000"/>
              <a:gd name="connsiteY8" fmla="*/ 5551 h 10016"/>
              <a:gd name="connsiteX9" fmla="*/ 10000 w 10000"/>
              <a:gd name="connsiteY9" fmla="*/ 10016 h 10016"/>
              <a:gd name="connsiteX10" fmla="*/ 0 w 10000"/>
              <a:gd name="connsiteY10" fmla="*/ 9943 h 1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16">
                <a:moveTo>
                  <a:pt x="0" y="9943"/>
                </a:moveTo>
                <a:lnTo>
                  <a:pt x="4534" y="0"/>
                </a:lnTo>
                <a:lnTo>
                  <a:pt x="4648" y="409"/>
                </a:lnTo>
                <a:lnTo>
                  <a:pt x="5228" y="1365"/>
                </a:lnTo>
                <a:lnTo>
                  <a:pt x="6138" y="2578"/>
                </a:lnTo>
                <a:lnTo>
                  <a:pt x="6926" y="3735"/>
                </a:lnTo>
                <a:lnTo>
                  <a:pt x="7476" y="4612"/>
                </a:lnTo>
                <a:cubicBezTo>
                  <a:pt x="7676" y="4914"/>
                  <a:pt x="7858" y="5170"/>
                  <a:pt x="8058" y="5472"/>
                </a:cubicBezTo>
                <a:cubicBezTo>
                  <a:pt x="8070" y="5498"/>
                  <a:pt x="8083" y="5525"/>
                  <a:pt x="8095" y="5551"/>
                </a:cubicBezTo>
                <a:lnTo>
                  <a:pt x="10000" y="10016"/>
                </a:lnTo>
                <a:lnTo>
                  <a:pt x="0" y="9943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Freeform 9"/>
          <p:cNvSpPr>
            <a:spLocks/>
          </p:cNvSpPr>
          <p:nvPr/>
        </p:nvSpPr>
        <p:spPr bwMode="auto">
          <a:xfrm>
            <a:off x="6836765" y="2557616"/>
            <a:ext cx="1042235" cy="356048"/>
          </a:xfrm>
          <a:custGeom>
            <a:avLst/>
            <a:gdLst>
              <a:gd name="T0" fmla="*/ 0 w 845"/>
              <a:gd name="T1" fmla="*/ 0 h 149"/>
              <a:gd name="T2" fmla="*/ 845 w 845"/>
              <a:gd name="T3" fmla="*/ 0 h 149"/>
              <a:gd name="T4" fmla="*/ 845 w 845"/>
              <a:gd name="T5" fmla="*/ 149 h 149"/>
              <a:gd name="T6" fmla="*/ 312 w 845"/>
              <a:gd name="T7" fmla="*/ 149 h 149"/>
              <a:gd name="T8" fmla="*/ 0 w 845"/>
              <a:gd name="T9" fmla="*/ 0 h 1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5"/>
              <a:gd name="T16" fmla="*/ 0 h 149"/>
              <a:gd name="T17" fmla="*/ 845 w 845"/>
              <a:gd name="T18" fmla="*/ 149 h 149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8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329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72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6085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6085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" name="Text Box 2421"/>
          <p:cNvSpPr txBox="1">
            <a:spLocks noChangeArrowheads="1"/>
          </p:cNvSpPr>
          <p:nvPr/>
        </p:nvSpPr>
        <p:spPr bwMode="auto">
          <a:xfrm>
            <a:off x="3627360" y="3013468"/>
            <a:ext cx="1452622" cy="34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0817" rIns="0" bIns="40817">
            <a:spAutoFit/>
          </a:bodyPr>
          <a:lstStyle>
            <a:lvl1pPr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407988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8175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2239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631950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0891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5463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0035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4607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600" b="1" dirty="0">
                <a:latin typeface="Times New Roman" pitchFamily="18" charset="0"/>
                <a:ea typeface="幼圆" pitchFamily="49" charset="-122"/>
              </a:rPr>
              <a:t>不透水层</a:t>
            </a:r>
          </a:p>
        </p:txBody>
      </p:sp>
      <p:sp>
        <p:nvSpPr>
          <p:cNvPr id="140" name="Line 2423"/>
          <p:cNvSpPr>
            <a:spLocks noChangeShapeType="1"/>
          </p:cNvSpPr>
          <p:nvPr/>
        </p:nvSpPr>
        <p:spPr bwMode="auto">
          <a:xfrm>
            <a:off x="1324173" y="2911781"/>
            <a:ext cx="65413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" name="Line 2424"/>
          <p:cNvSpPr>
            <a:spLocks noChangeShapeType="1"/>
          </p:cNvSpPr>
          <p:nvPr/>
        </p:nvSpPr>
        <p:spPr bwMode="auto">
          <a:xfrm flipH="1">
            <a:off x="1009650" y="1571014"/>
            <a:ext cx="339973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" name="Line 2425"/>
          <p:cNvSpPr>
            <a:spLocks noChangeShapeType="1"/>
          </p:cNvSpPr>
          <p:nvPr/>
        </p:nvSpPr>
        <p:spPr bwMode="auto">
          <a:xfrm>
            <a:off x="6848300" y="2563407"/>
            <a:ext cx="12415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" name="Group 2426"/>
          <p:cNvGrpSpPr>
            <a:grpSpLocks/>
          </p:cNvGrpSpPr>
          <p:nvPr/>
        </p:nvGrpSpPr>
        <p:grpSpPr bwMode="auto">
          <a:xfrm>
            <a:off x="2044744" y="1435431"/>
            <a:ext cx="373473" cy="291880"/>
            <a:chOff x="355" y="513"/>
            <a:chExt cx="204" cy="175"/>
          </a:xfrm>
        </p:grpSpPr>
        <p:sp>
          <p:nvSpPr>
            <p:cNvPr id="144" name="AutoShape 2427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2428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2429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2430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2431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9" name="Freeform 2432"/>
          <p:cNvSpPr>
            <a:spLocks/>
          </p:cNvSpPr>
          <p:nvPr/>
        </p:nvSpPr>
        <p:spPr bwMode="auto">
          <a:xfrm>
            <a:off x="4430015" y="1580429"/>
            <a:ext cx="1904179" cy="705348"/>
          </a:xfrm>
          <a:custGeom>
            <a:avLst/>
            <a:gdLst>
              <a:gd name="T0" fmla="*/ 0 w 953"/>
              <a:gd name="T1" fmla="*/ 0 h 321"/>
              <a:gd name="T2" fmla="*/ 24 w 953"/>
              <a:gd name="T3" fmla="*/ 17 h 321"/>
              <a:gd name="T4" fmla="*/ 111 w 953"/>
              <a:gd name="T5" fmla="*/ 48 h 321"/>
              <a:gd name="T6" fmla="*/ 224 w 953"/>
              <a:gd name="T7" fmla="*/ 81 h 321"/>
              <a:gd name="T8" fmla="*/ 432 w 953"/>
              <a:gd name="T9" fmla="*/ 139 h 321"/>
              <a:gd name="T10" fmla="*/ 639 w 953"/>
              <a:gd name="T11" fmla="*/ 204 h 321"/>
              <a:gd name="T12" fmla="*/ 819 w 953"/>
              <a:gd name="T13" fmla="*/ 269 h 321"/>
              <a:gd name="T14" fmla="*/ 953 w 953"/>
              <a:gd name="T15" fmla="*/ 321 h 321"/>
              <a:gd name="connsiteX0" fmla="*/ 0 w 9716"/>
              <a:gd name="connsiteY0" fmla="*/ 0 h 9429"/>
              <a:gd name="connsiteX1" fmla="*/ 252 w 9716"/>
              <a:gd name="connsiteY1" fmla="*/ 530 h 9429"/>
              <a:gd name="connsiteX2" fmla="*/ 1165 w 9716"/>
              <a:gd name="connsiteY2" fmla="*/ 1495 h 9429"/>
              <a:gd name="connsiteX3" fmla="*/ 2350 w 9716"/>
              <a:gd name="connsiteY3" fmla="*/ 2523 h 9429"/>
              <a:gd name="connsiteX4" fmla="*/ 4533 w 9716"/>
              <a:gd name="connsiteY4" fmla="*/ 4330 h 9429"/>
              <a:gd name="connsiteX5" fmla="*/ 6705 w 9716"/>
              <a:gd name="connsiteY5" fmla="*/ 6355 h 9429"/>
              <a:gd name="connsiteX6" fmla="*/ 8594 w 9716"/>
              <a:gd name="connsiteY6" fmla="*/ 8380 h 9429"/>
              <a:gd name="connsiteX7" fmla="*/ 9716 w 9716"/>
              <a:gd name="connsiteY7" fmla="*/ 9429 h 9429"/>
              <a:gd name="connsiteX0" fmla="*/ 0 w 10000"/>
              <a:gd name="connsiteY0" fmla="*/ 0 h 10000"/>
              <a:gd name="connsiteX1" fmla="*/ 259 w 10000"/>
              <a:gd name="connsiteY1" fmla="*/ 562 h 10000"/>
              <a:gd name="connsiteX2" fmla="*/ 1199 w 10000"/>
              <a:gd name="connsiteY2" fmla="*/ 1586 h 10000"/>
              <a:gd name="connsiteX3" fmla="*/ 2419 w 10000"/>
              <a:gd name="connsiteY3" fmla="*/ 2676 h 10000"/>
              <a:gd name="connsiteX4" fmla="*/ 4666 w 10000"/>
              <a:gd name="connsiteY4" fmla="*/ 4592 h 10000"/>
              <a:gd name="connsiteX5" fmla="*/ 6901 w 10000"/>
              <a:gd name="connsiteY5" fmla="*/ 6740 h 10000"/>
              <a:gd name="connsiteX6" fmla="*/ 8709 w 10000"/>
              <a:gd name="connsiteY6" fmla="*/ 8612 h 10000"/>
              <a:gd name="connsiteX7" fmla="*/ 10000 w 10000"/>
              <a:gd name="connsiteY7" fmla="*/ 10000 h 10000"/>
              <a:gd name="connsiteX0" fmla="*/ 0 w 9686"/>
              <a:gd name="connsiteY0" fmla="*/ 0 h 9642"/>
              <a:gd name="connsiteX1" fmla="*/ 259 w 9686"/>
              <a:gd name="connsiteY1" fmla="*/ 562 h 9642"/>
              <a:gd name="connsiteX2" fmla="*/ 1199 w 9686"/>
              <a:gd name="connsiteY2" fmla="*/ 1586 h 9642"/>
              <a:gd name="connsiteX3" fmla="*/ 2419 w 9686"/>
              <a:gd name="connsiteY3" fmla="*/ 2676 h 9642"/>
              <a:gd name="connsiteX4" fmla="*/ 4666 w 9686"/>
              <a:gd name="connsiteY4" fmla="*/ 4592 h 9642"/>
              <a:gd name="connsiteX5" fmla="*/ 6901 w 9686"/>
              <a:gd name="connsiteY5" fmla="*/ 6740 h 9642"/>
              <a:gd name="connsiteX6" fmla="*/ 8709 w 9686"/>
              <a:gd name="connsiteY6" fmla="*/ 8612 h 9642"/>
              <a:gd name="connsiteX7" fmla="*/ 9686 w 9686"/>
              <a:gd name="connsiteY7" fmla="*/ 9642 h 9642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712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699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9709"/>
              <a:gd name="connsiteY0" fmla="*/ 0 h 9515"/>
              <a:gd name="connsiteX1" fmla="*/ 267 w 9709"/>
              <a:gd name="connsiteY1" fmla="*/ 583 h 9515"/>
              <a:gd name="connsiteX2" fmla="*/ 1238 w 9709"/>
              <a:gd name="connsiteY2" fmla="*/ 1645 h 9515"/>
              <a:gd name="connsiteX3" fmla="*/ 2497 w 9709"/>
              <a:gd name="connsiteY3" fmla="*/ 2775 h 9515"/>
              <a:gd name="connsiteX4" fmla="*/ 4817 w 9709"/>
              <a:gd name="connsiteY4" fmla="*/ 4762 h 9515"/>
              <a:gd name="connsiteX5" fmla="*/ 6995 w 9709"/>
              <a:gd name="connsiteY5" fmla="*/ 6990 h 9515"/>
              <a:gd name="connsiteX6" fmla="*/ 8516 w 9709"/>
              <a:gd name="connsiteY6" fmla="*/ 8504 h 9515"/>
              <a:gd name="connsiteX7" fmla="*/ 9709 w 9709"/>
              <a:gd name="connsiteY7" fmla="*/ 9515 h 9515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771 w 10000"/>
              <a:gd name="connsiteY6" fmla="*/ 8937 h 10000"/>
              <a:gd name="connsiteX7" fmla="*/ 8516 w 10000"/>
              <a:gd name="connsiteY7" fmla="*/ 8593 h 10000"/>
              <a:gd name="connsiteX8" fmla="*/ 10000 w 10000"/>
              <a:gd name="connsiteY8" fmla="*/ 10000 h 10000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516 w 10000"/>
              <a:gd name="connsiteY6" fmla="*/ 8593 h 10000"/>
              <a:gd name="connsiteX7" fmla="*/ 10000 w 10000"/>
              <a:gd name="connsiteY7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4" y="145"/>
                  <a:pt x="69" y="324"/>
                  <a:pt x="275" y="613"/>
                </a:cubicBezTo>
                <a:cubicBezTo>
                  <a:pt x="483" y="901"/>
                  <a:pt x="895" y="1333"/>
                  <a:pt x="1275" y="1729"/>
                </a:cubicBezTo>
                <a:cubicBezTo>
                  <a:pt x="1653" y="2124"/>
                  <a:pt x="1963" y="2377"/>
                  <a:pt x="2572" y="2916"/>
                </a:cubicBezTo>
                <a:cubicBezTo>
                  <a:pt x="3182" y="3458"/>
                  <a:pt x="4189" y="4267"/>
                  <a:pt x="4961" y="5005"/>
                </a:cubicBezTo>
                <a:cubicBezTo>
                  <a:pt x="5734" y="5744"/>
                  <a:pt x="6613" y="6748"/>
                  <a:pt x="7205" y="7346"/>
                </a:cubicBezTo>
                <a:cubicBezTo>
                  <a:pt x="7797" y="7944"/>
                  <a:pt x="8050" y="8151"/>
                  <a:pt x="8516" y="8593"/>
                </a:cubicBezTo>
                <a:cubicBezTo>
                  <a:pt x="8721" y="8770"/>
                  <a:pt x="9801" y="9825"/>
                  <a:pt x="10000" y="1000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" name="Line 2433"/>
          <p:cNvSpPr>
            <a:spLocks noChangeShapeType="1"/>
          </p:cNvSpPr>
          <p:nvPr/>
        </p:nvSpPr>
        <p:spPr bwMode="auto">
          <a:xfrm>
            <a:off x="1055786" y="1565364"/>
            <a:ext cx="0" cy="13445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" name="Line 2434"/>
          <p:cNvSpPr>
            <a:spLocks noChangeShapeType="1"/>
          </p:cNvSpPr>
          <p:nvPr/>
        </p:nvSpPr>
        <p:spPr bwMode="auto">
          <a:xfrm>
            <a:off x="8031318" y="2570939"/>
            <a:ext cx="0" cy="3276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" name="Text Box 2435"/>
          <p:cNvSpPr txBox="1">
            <a:spLocks noChangeArrowheads="1"/>
          </p:cNvSpPr>
          <p:nvPr/>
        </p:nvSpPr>
        <p:spPr bwMode="auto">
          <a:xfrm>
            <a:off x="991822" y="2000361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h</a:t>
            </a:r>
            <a:r>
              <a:rPr kumimoji="1" lang="en-US" altLang="zh-CN" sz="1600" baseline="-25000">
                <a:latin typeface="Times New Roman" pitchFamily="18" charset="0"/>
              </a:rPr>
              <a:t>1</a:t>
            </a:r>
            <a:endParaRPr kumimoji="1" lang="en-US" altLang="zh-CN" sz="1600">
              <a:latin typeface="Times New Roman" pitchFamily="18" charset="0"/>
            </a:endParaRPr>
          </a:p>
        </p:txBody>
      </p:sp>
      <p:sp>
        <p:nvSpPr>
          <p:cNvPr id="153" name="Oval 2436"/>
          <p:cNvSpPr>
            <a:spLocks noChangeArrowheads="1"/>
          </p:cNvSpPr>
          <p:nvPr/>
        </p:nvSpPr>
        <p:spPr bwMode="auto">
          <a:xfrm>
            <a:off x="6320040" y="2255598"/>
            <a:ext cx="54000" cy="54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" name="Text Box 2437"/>
          <p:cNvSpPr txBox="1">
            <a:spLocks noChangeArrowheads="1"/>
          </p:cNvSpPr>
          <p:nvPr/>
        </p:nvSpPr>
        <p:spPr bwMode="auto">
          <a:xfrm>
            <a:off x="4040036" y="2228215"/>
            <a:ext cx="1504206" cy="41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 b="1" dirty="0">
                <a:latin typeface="Times New Roman" pitchFamily="18" charset="0"/>
              </a:rPr>
              <a:t>渗 流 域</a:t>
            </a:r>
          </a:p>
        </p:txBody>
      </p:sp>
      <p:grpSp>
        <p:nvGrpSpPr>
          <p:cNvPr id="155" name="Group 2438"/>
          <p:cNvGrpSpPr>
            <a:grpSpLocks/>
          </p:cNvGrpSpPr>
          <p:nvPr/>
        </p:nvGrpSpPr>
        <p:grpSpPr bwMode="auto">
          <a:xfrm>
            <a:off x="7217647" y="2431590"/>
            <a:ext cx="373472" cy="291881"/>
            <a:chOff x="355" y="513"/>
            <a:chExt cx="204" cy="175"/>
          </a:xfrm>
        </p:grpSpPr>
        <p:sp>
          <p:nvSpPr>
            <p:cNvPr id="156" name="AutoShape 2439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2440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2441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442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2443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1" name="Text Box 2444"/>
          <p:cNvSpPr txBox="1">
            <a:spLocks noChangeArrowheads="1"/>
          </p:cNvSpPr>
          <p:nvPr/>
        </p:nvSpPr>
        <p:spPr bwMode="auto">
          <a:xfrm>
            <a:off x="8036084" y="2520796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h</a:t>
            </a:r>
            <a:r>
              <a:rPr kumimoji="1" lang="en-US" altLang="zh-CN" sz="1600" baseline="-25000" dirty="0">
                <a:latin typeface="Times New Roman" pitchFamily="18" charset="0"/>
              </a:rPr>
              <a:t>2</a:t>
            </a:r>
            <a:endParaRPr kumimoji="1" lang="en-US" altLang="zh-CN" sz="1600" dirty="0">
              <a:latin typeface="Times New Roman" pitchFamily="18" charset="0"/>
            </a:endParaRPr>
          </a:p>
        </p:txBody>
      </p:sp>
      <p:sp>
        <p:nvSpPr>
          <p:cNvPr id="162" name="Text Box 2446"/>
          <p:cNvSpPr txBox="1">
            <a:spLocks noChangeArrowheads="1"/>
          </p:cNvSpPr>
          <p:nvPr/>
        </p:nvSpPr>
        <p:spPr bwMode="auto">
          <a:xfrm>
            <a:off x="8121255" y="2850208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163" name="Text Box 2447"/>
          <p:cNvSpPr txBox="1">
            <a:spLocks noChangeArrowheads="1"/>
          </p:cNvSpPr>
          <p:nvPr/>
        </p:nvSpPr>
        <p:spPr bwMode="auto">
          <a:xfrm>
            <a:off x="4089557" y="1194394"/>
            <a:ext cx="429184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A</a:t>
            </a:r>
          </a:p>
        </p:txBody>
      </p:sp>
      <p:sp>
        <p:nvSpPr>
          <p:cNvPr id="164" name="Text Box 2448"/>
          <p:cNvSpPr txBox="1">
            <a:spLocks noChangeArrowheads="1"/>
          </p:cNvSpPr>
          <p:nvPr/>
        </p:nvSpPr>
        <p:spPr bwMode="auto">
          <a:xfrm>
            <a:off x="1673335" y="2857171"/>
            <a:ext cx="414741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B</a:t>
            </a:r>
          </a:p>
        </p:txBody>
      </p:sp>
      <p:sp>
        <p:nvSpPr>
          <p:cNvPr id="165" name="Text Box 2449"/>
          <p:cNvSpPr txBox="1">
            <a:spLocks noChangeArrowheads="1"/>
          </p:cNvSpPr>
          <p:nvPr/>
        </p:nvSpPr>
        <p:spPr bwMode="auto">
          <a:xfrm>
            <a:off x="7271295" y="2853404"/>
            <a:ext cx="41473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C</a:t>
            </a:r>
          </a:p>
        </p:txBody>
      </p:sp>
      <p:sp>
        <p:nvSpPr>
          <p:cNvPr id="166" name="Text Box 2450"/>
          <p:cNvSpPr txBox="1">
            <a:spLocks noChangeArrowheads="1"/>
          </p:cNvSpPr>
          <p:nvPr/>
        </p:nvSpPr>
        <p:spPr bwMode="auto">
          <a:xfrm>
            <a:off x="6522087" y="2418913"/>
            <a:ext cx="429184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D</a:t>
            </a:r>
          </a:p>
        </p:txBody>
      </p:sp>
      <p:sp>
        <p:nvSpPr>
          <p:cNvPr id="167" name="Text Box 2452"/>
          <p:cNvSpPr txBox="1">
            <a:spLocks noChangeArrowheads="1"/>
          </p:cNvSpPr>
          <p:nvPr/>
        </p:nvSpPr>
        <p:spPr bwMode="auto">
          <a:xfrm>
            <a:off x="4890150" y="1749908"/>
            <a:ext cx="385852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F</a:t>
            </a:r>
          </a:p>
        </p:txBody>
      </p:sp>
      <p:sp>
        <p:nvSpPr>
          <p:cNvPr id="168" name="Line 2477"/>
          <p:cNvSpPr>
            <a:spLocks noChangeShapeType="1"/>
          </p:cNvSpPr>
          <p:nvPr/>
        </p:nvSpPr>
        <p:spPr bwMode="auto">
          <a:xfrm>
            <a:off x="7872378" y="2913664"/>
            <a:ext cx="2945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" name="Line 2480"/>
          <p:cNvSpPr>
            <a:spLocks noChangeShapeType="1"/>
          </p:cNvSpPr>
          <p:nvPr/>
        </p:nvSpPr>
        <p:spPr bwMode="auto">
          <a:xfrm>
            <a:off x="1456680" y="2913664"/>
            <a:ext cx="1980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" name="Text Box 2505"/>
          <p:cNvSpPr txBox="1">
            <a:spLocks noChangeArrowheads="1"/>
          </p:cNvSpPr>
          <p:nvPr/>
        </p:nvSpPr>
        <p:spPr bwMode="auto">
          <a:xfrm>
            <a:off x="5158230" y="1205999"/>
            <a:ext cx="1007620" cy="34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0817" rIns="0" bIns="40817">
            <a:spAutoFit/>
          </a:bodyPr>
          <a:lstStyle>
            <a:lvl1pPr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407988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8175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2239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631950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0891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5463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0035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4607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600" b="1" dirty="0" smtClean="0">
                <a:latin typeface="Times New Roman" pitchFamily="18" charset="0"/>
                <a:ea typeface="幼圆" pitchFamily="49" charset="-122"/>
              </a:rPr>
              <a:t>浸润面</a:t>
            </a:r>
            <a:endParaRPr lang="zh-CN" altLang="en-US" sz="1600" b="1" dirty="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71" name="Line 2506"/>
          <p:cNvSpPr>
            <a:spLocks noChangeShapeType="1"/>
          </p:cNvSpPr>
          <p:nvPr/>
        </p:nvSpPr>
        <p:spPr bwMode="auto">
          <a:xfrm flipV="1">
            <a:off x="4960305" y="1522053"/>
            <a:ext cx="466325" cy="2071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2" name="Group 2507"/>
          <p:cNvGrpSpPr>
            <a:grpSpLocks/>
          </p:cNvGrpSpPr>
          <p:nvPr/>
        </p:nvGrpSpPr>
        <p:grpSpPr bwMode="auto">
          <a:xfrm>
            <a:off x="2523449" y="2909897"/>
            <a:ext cx="812973" cy="158180"/>
            <a:chOff x="2644" y="2807"/>
            <a:chExt cx="481" cy="83"/>
          </a:xfrm>
        </p:grpSpPr>
        <p:sp>
          <p:nvSpPr>
            <p:cNvPr id="173" name="Freeform 2508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" name="Freeform 2509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" name="Freeform 2510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6" name="Freeform 2511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7" name="Freeform 2512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8" name="Freeform 2513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9" name="Freeform 2514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0" name="Freeform 2515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1" name="Freeform 2516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2" name="Freeform 2517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3" name="Freeform 2518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" name="Freeform 2519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5" name="Group 2520"/>
          <p:cNvGrpSpPr>
            <a:grpSpLocks/>
          </p:cNvGrpSpPr>
          <p:nvPr/>
        </p:nvGrpSpPr>
        <p:grpSpPr bwMode="auto">
          <a:xfrm>
            <a:off x="5424566" y="2908015"/>
            <a:ext cx="812973" cy="158180"/>
            <a:chOff x="2644" y="2807"/>
            <a:chExt cx="481" cy="83"/>
          </a:xfrm>
        </p:grpSpPr>
        <p:sp>
          <p:nvSpPr>
            <p:cNvPr id="186" name="Freeform 2521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7" name="Freeform 2522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8" name="Freeform 2523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9" name="Freeform 2524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0" name="Freeform 2525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1" name="Freeform 2526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2" name="Freeform 2527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3" name="Freeform 2528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" name="Freeform 2529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" name="Freeform 2530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6" name="Freeform 2531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7" name="Freeform 2532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98" name="Text Box 2446"/>
          <p:cNvSpPr txBox="1">
            <a:spLocks noChangeArrowheads="1"/>
          </p:cNvSpPr>
          <p:nvPr/>
        </p:nvSpPr>
        <p:spPr bwMode="auto">
          <a:xfrm>
            <a:off x="808681" y="2856715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199" name="Line 2477"/>
          <p:cNvSpPr>
            <a:spLocks noChangeShapeType="1"/>
          </p:cNvSpPr>
          <p:nvPr/>
        </p:nvSpPr>
        <p:spPr bwMode="auto">
          <a:xfrm>
            <a:off x="946151" y="2915423"/>
            <a:ext cx="4012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6875" name="Line 27"/>
          <p:cNvSpPr>
            <a:spLocks noChangeShapeType="1"/>
          </p:cNvSpPr>
          <p:nvPr/>
        </p:nvSpPr>
        <p:spPr bwMode="auto">
          <a:xfrm flipV="1">
            <a:off x="1887526" y="1588770"/>
            <a:ext cx="2547742" cy="1343915"/>
          </a:xfrm>
          <a:prstGeom prst="line">
            <a:avLst/>
          </a:prstGeom>
          <a:noFill/>
          <a:ln w="28575">
            <a:solidFill>
              <a:schemeClr val="fol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2494" name="Group 45"/>
          <p:cNvGrpSpPr>
            <a:grpSpLocks/>
          </p:cNvGrpSpPr>
          <p:nvPr/>
        </p:nvGrpSpPr>
        <p:grpSpPr bwMode="auto">
          <a:xfrm>
            <a:off x="6945878" y="1891861"/>
            <a:ext cx="379413" cy="758825"/>
            <a:chOff x="4193" y="1539"/>
            <a:chExt cx="239" cy="478"/>
          </a:xfrm>
        </p:grpSpPr>
        <p:grpSp>
          <p:nvGrpSpPr>
            <p:cNvPr id="62511" name="Group 46"/>
            <p:cNvGrpSpPr>
              <a:grpSpLocks/>
            </p:cNvGrpSpPr>
            <p:nvPr/>
          </p:nvGrpSpPr>
          <p:grpSpPr bwMode="auto">
            <a:xfrm>
              <a:off x="4193" y="1539"/>
              <a:ext cx="239" cy="288"/>
              <a:chOff x="4193" y="1539"/>
              <a:chExt cx="239" cy="288"/>
            </a:xfrm>
          </p:grpSpPr>
          <p:sp>
            <p:nvSpPr>
              <p:cNvPr id="62513" name="Oval 47"/>
              <p:cNvSpPr>
                <a:spLocks noChangeArrowheads="1"/>
              </p:cNvSpPr>
              <p:nvPr/>
            </p:nvSpPr>
            <p:spPr bwMode="auto">
              <a:xfrm>
                <a:off x="4193" y="1581"/>
                <a:ext cx="239" cy="23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514" name="Text Box 48"/>
              <p:cNvSpPr txBox="1">
                <a:spLocks noChangeArrowheads="1"/>
              </p:cNvSpPr>
              <p:nvPr/>
            </p:nvSpPr>
            <p:spPr bwMode="auto">
              <a:xfrm>
                <a:off x="4209" y="153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dirty="0">
                    <a:solidFill>
                      <a:srgbClr val="000066"/>
                    </a:solidFill>
                  </a:rPr>
                  <a:t>1</a:t>
                </a:r>
              </a:p>
            </p:txBody>
          </p:sp>
        </p:grpSp>
        <p:sp>
          <p:nvSpPr>
            <p:cNvPr id="62512" name="Line 49"/>
            <p:cNvSpPr>
              <a:spLocks noChangeShapeType="1"/>
            </p:cNvSpPr>
            <p:nvPr/>
          </p:nvSpPr>
          <p:spPr bwMode="auto">
            <a:xfrm flipH="1">
              <a:off x="4213" y="1850"/>
              <a:ext cx="70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6898" name="Line 50"/>
          <p:cNvSpPr>
            <a:spLocks noChangeShapeType="1"/>
          </p:cNvSpPr>
          <p:nvPr/>
        </p:nvSpPr>
        <p:spPr bwMode="auto">
          <a:xfrm>
            <a:off x="6851902" y="2597478"/>
            <a:ext cx="591981" cy="338274"/>
          </a:xfrm>
          <a:prstGeom prst="line">
            <a:avLst/>
          </a:prstGeom>
          <a:noFill/>
          <a:ln w="28575">
            <a:solidFill>
              <a:schemeClr val="fol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2486" name="Group 33"/>
          <p:cNvGrpSpPr>
            <a:grpSpLocks/>
          </p:cNvGrpSpPr>
          <p:nvPr/>
        </p:nvGrpSpPr>
        <p:grpSpPr bwMode="auto">
          <a:xfrm>
            <a:off x="2547254" y="1848346"/>
            <a:ext cx="615950" cy="457200"/>
            <a:chOff x="1434" y="757"/>
            <a:chExt cx="388" cy="288"/>
          </a:xfrm>
        </p:grpSpPr>
        <p:grpSp>
          <p:nvGrpSpPr>
            <p:cNvPr id="62515" name="Group 34"/>
            <p:cNvGrpSpPr>
              <a:grpSpLocks/>
            </p:cNvGrpSpPr>
            <p:nvPr/>
          </p:nvGrpSpPr>
          <p:grpSpPr bwMode="auto">
            <a:xfrm>
              <a:off x="1434" y="757"/>
              <a:ext cx="238" cy="288"/>
              <a:chOff x="1434" y="757"/>
              <a:chExt cx="238" cy="288"/>
            </a:xfrm>
          </p:grpSpPr>
          <p:sp>
            <p:nvSpPr>
              <p:cNvPr id="62517" name="Oval 35"/>
              <p:cNvSpPr>
                <a:spLocks noChangeArrowheads="1"/>
              </p:cNvSpPr>
              <p:nvPr/>
            </p:nvSpPr>
            <p:spPr bwMode="auto">
              <a:xfrm>
                <a:off x="1434" y="799"/>
                <a:ext cx="238" cy="23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518" name="Text Box 36"/>
              <p:cNvSpPr txBox="1">
                <a:spLocks noChangeArrowheads="1"/>
              </p:cNvSpPr>
              <p:nvPr/>
            </p:nvSpPr>
            <p:spPr bwMode="auto">
              <a:xfrm>
                <a:off x="1455" y="757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dirty="0">
                    <a:solidFill>
                      <a:srgbClr val="000066"/>
                    </a:solidFill>
                  </a:rPr>
                  <a:t>1</a:t>
                </a:r>
              </a:p>
            </p:txBody>
          </p:sp>
        </p:grpSp>
        <p:sp>
          <p:nvSpPr>
            <p:cNvPr id="62516" name="Line 37"/>
            <p:cNvSpPr>
              <a:spLocks noChangeShapeType="1"/>
            </p:cNvSpPr>
            <p:nvPr/>
          </p:nvSpPr>
          <p:spPr bwMode="auto">
            <a:xfrm>
              <a:off x="1666" y="947"/>
              <a:ext cx="156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39485" y="1741518"/>
            <a:ext cx="1951152" cy="1122908"/>
            <a:chOff x="2339485" y="1741518"/>
            <a:chExt cx="1951152" cy="1122908"/>
          </a:xfrm>
        </p:grpSpPr>
        <p:cxnSp>
          <p:nvCxnSpPr>
            <p:cNvPr id="108" name="直接箭头连接符 107"/>
            <p:cNvCxnSpPr/>
            <p:nvPr/>
          </p:nvCxnSpPr>
          <p:spPr bwMode="auto">
            <a:xfrm rot="5400000" flipV="1">
              <a:off x="2304499" y="2753108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6" name="直接箭头连接符 115"/>
            <p:cNvCxnSpPr/>
            <p:nvPr/>
          </p:nvCxnSpPr>
          <p:spPr bwMode="auto">
            <a:xfrm rot="5400000" flipV="1">
              <a:off x="2419576" y="2689038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7" name="直接箭头连接符 116"/>
            <p:cNvCxnSpPr/>
            <p:nvPr/>
          </p:nvCxnSpPr>
          <p:spPr bwMode="auto">
            <a:xfrm rot="5400000" flipV="1">
              <a:off x="2542117" y="2632432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8" name="直接箭头连接符 117"/>
            <p:cNvCxnSpPr/>
            <p:nvPr/>
          </p:nvCxnSpPr>
          <p:spPr bwMode="auto">
            <a:xfrm rot="5400000" flipV="1">
              <a:off x="2660926" y="2572094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9" name="直接箭头连接符 118"/>
            <p:cNvCxnSpPr/>
            <p:nvPr/>
          </p:nvCxnSpPr>
          <p:spPr bwMode="auto">
            <a:xfrm rot="5400000" flipV="1">
              <a:off x="2779735" y="2511756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0" name="直接箭头连接符 119"/>
            <p:cNvCxnSpPr/>
            <p:nvPr/>
          </p:nvCxnSpPr>
          <p:spPr bwMode="auto">
            <a:xfrm rot="5400000" flipV="1">
              <a:off x="2898544" y="2455150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1" name="直接箭头连接符 120"/>
            <p:cNvCxnSpPr/>
            <p:nvPr/>
          </p:nvCxnSpPr>
          <p:spPr bwMode="auto">
            <a:xfrm rot="5400000" flipV="1">
              <a:off x="3013621" y="2394812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2" name="直接箭头连接符 121"/>
            <p:cNvCxnSpPr/>
            <p:nvPr/>
          </p:nvCxnSpPr>
          <p:spPr bwMode="auto">
            <a:xfrm rot="5400000" flipV="1">
              <a:off x="3128698" y="2330742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 rot="5400000" flipV="1">
              <a:off x="3243775" y="2262940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4" name="直接箭头连接符 123"/>
            <p:cNvCxnSpPr/>
            <p:nvPr/>
          </p:nvCxnSpPr>
          <p:spPr bwMode="auto">
            <a:xfrm rot="5400000" flipV="1">
              <a:off x="3358852" y="2202602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5" name="直接箭头连接符 124"/>
            <p:cNvCxnSpPr/>
            <p:nvPr/>
          </p:nvCxnSpPr>
          <p:spPr bwMode="auto">
            <a:xfrm rot="5400000" flipV="1">
              <a:off x="3473929" y="2145996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6" name="直接箭头连接符 125"/>
            <p:cNvCxnSpPr/>
            <p:nvPr/>
          </p:nvCxnSpPr>
          <p:spPr bwMode="auto">
            <a:xfrm rot="5400000" flipV="1">
              <a:off x="3589006" y="2089390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7" name="直接箭头连接符 126"/>
            <p:cNvCxnSpPr/>
            <p:nvPr/>
          </p:nvCxnSpPr>
          <p:spPr bwMode="auto">
            <a:xfrm rot="5400000" flipV="1">
              <a:off x="3704083" y="2029052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0" name="直接箭头连接符 129"/>
            <p:cNvCxnSpPr/>
            <p:nvPr/>
          </p:nvCxnSpPr>
          <p:spPr bwMode="auto">
            <a:xfrm rot="5400000" flipV="1">
              <a:off x="3819160" y="1961250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1" name="直接箭头连接符 130"/>
            <p:cNvCxnSpPr/>
            <p:nvPr/>
          </p:nvCxnSpPr>
          <p:spPr bwMode="auto">
            <a:xfrm rot="5400000" flipV="1">
              <a:off x="3934237" y="1893448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5" name="直接箭头连接符 134"/>
            <p:cNvCxnSpPr/>
            <p:nvPr/>
          </p:nvCxnSpPr>
          <p:spPr bwMode="auto">
            <a:xfrm rot="5400000" flipV="1">
              <a:off x="4056778" y="1840574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6" name="直接箭头连接符 135"/>
            <p:cNvCxnSpPr/>
            <p:nvPr/>
          </p:nvCxnSpPr>
          <p:spPr bwMode="auto">
            <a:xfrm rot="5400000" flipV="1">
              <a:off x="4179319" y="1776504"/>
              <a:ext cx="146304" cy="763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6757505" y="2611443"/>
            <a:ext cx="448152" cy="325847"/>
            <a:chOff x="6757505" y="2611443"/>
            <a:chExt cx="448152" cy="325847"/>
          </a:xfrm>
        </p:grpSpPr>
        <p:cxnSp>
          <p:nvCxnSpPr>
            <p:cNvPr id="137" name="直接箭头连接符 136"/>
            <p:cNvCxnSpPr/>
            <p:nvPr/>
          </p:nvCxnSpPr>
          <p:spPr bwMode="auto">
            <a:xfrm rot="10800000" flipH="1">
              <a:off x="6757505" y="2611443"/>
              <a:ext cx="73500" cy="12899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8" name="直接箭头连接符 137"/>
            <p:cNvCxnSpPr/>
            <p:nvPr/>
          </p:nvCxnSpPr>
          <p:spPr bwMode="auto">
            <a:xfrm rot="10800000" flipH="1">
              <a:off x="6851168" y="2660656"/>
              <a:ext cx="73500" cy="12899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0" name="直接箭头连接符 199"/>
            <p:cNvCxnSpPr/>
            <p:nvPr/>
          </p:nvCxnSpPr>
          <p:spPr bwMode="auto">
            <a:xfrm rot="10800000" flipH="1">
              <a:off x="6944831" y="2709869"/>
              <a:ext cx="73500" cy="12899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1" name="直接箭头连接符 200"/>
            <p:cNvCxnSpPr/>
            <p:nvPr/>
          </p:nvCxnSpPr>
          <p:spPr bwMode="auto">
            <a:xfrm rot="10800000" flipH="1">
              <a:off x="7038494" y="2759082"/>
              <a:ext cx="73500" cy="12899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2" name="直接箭头连接符 201"/>
            <p:cNvCxnSpPr/>
            <p:nvPr/>
          </p:nvCxnSpPr>
          <p:spPr bwMode="auto">
            <a:xfrm rot="10800000" flipH="1">
              <a:off x="7132157" y="2808295"/>
              <a:ext cx="73500" cy="12899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12" name="Text Box 7"/>
          <p:cNvSpPr txBox="1">
            <a:spLocks noChangeArrowheads="1"/>
          </p:cNvSpPr>
          <p:nvPr/>
        </p:nvSpPr>
        <p:spPr bwMode="auto">
          <a:xfrm>
            <a:off x="-1" y="0"/>
            <a:ext cx="4095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边界条件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020721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48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48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6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6875" grpId="0" animBg="1"/>
      <p:bldP spid="148689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409853" y="2915217"/>
            <a:ext cx="519981" cy="741121"/>
            <a:chOff x="9091040" y="4602404"/>
            <a:chExt cx="519981" cy="741121"/>
          </a:xfrm>
        </p:grpSpPr>
        <p:sp>
          <p:nvSpPr>
            <p:cNvPr id="62487" name="Oval 38"/>
            <p:cNvSpPr>
              <a:spLocks noChangeArrowheads="1"/>
            </p:cNvSpPr>
            <p:nvPr/>
          </p:nvSpPr>
          <p:spPr bwMode="auto">
            <a:xfrm>
              <a:off x="9233196" y="4933950"/>
              <a:ext cx="377825" cy="377825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8" name="Text Box 39"/>
            <p:cNvSpPr txBox="1">
              <a:spLocks noChangeArrowheads="1"/>
            </p:cNvSpPr>
            <p:nvPr/>
          </p:nvSpPr>
          <p:spPr bwMode="auto">
            <a:xfrm>
              <a:off x="9264946" y="4884737"/>
              <a:ext cx="336550" cy="458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dirty="0">
                  <a:solidFill>
                    <a:srgbClr val="000066"/>
                  </a:solidFill>
                </a:rPr>
                <a:t>2</a:t>
              </a:r>
            </a:p>
          </p:txBody>
        </p:sp>
        <p:sp>
          <p:nvSpPr>
            <p:cNvPr id="62490" name="Line 41"/>
            <p:cNvSpPr>
              <a:spLocks noChangeShapeType="1"/>
            </p:cNvSpPr>
            <p:nvPr/>
          </p:nvSpPr>
          <p:spPr bwMode="auto">
            <a:xfrm>
              <a:off x="9091040" y="4602404"/>
              <a:ext cx="226337" cy="3440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508" name="Text Box 65"/>
          <p:cNvSpPr txBox="1">
            <a:spLocks noChangeArrowheads="1"/>
          </p:cNvSpPr>
          <p:nvPr/>
        </p:nvSpPr>
        <p:spPr bwMode="auto">
          <a:xfrm>
            <a:off x="2933700" y="5694363"/>
            <a:ext cx="3927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渗流的边界条件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19213" y="3792290"/>
            <a:ext cx="6681787" cy="474663"/>
            <a:chOff x="1319213" y="3792290"/>
            <a:chExt cx="6681787" cy="474663"/>
          </a:xfrm>
        </p:grpSpPr>
        <p:sp>
          <p:nvSpPr>
            <p:cNvPr id="128" name="Oval 4"/>
            <p:cNvSpPr>
              <a:spLocks noChangeArrowheads="1"/>
            </p:cNvSpPr>
            <p:nvPr/>
          </p:nvSpPr>
          <p:spPr bwMode="auto">
            <a:xfrm>
              <a:off x="1322388" y="3893890"/>
              <a:ext cx="314325" cy="314325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Text Box 58"/>
            <p:cNvSpPr txBox="1">
              <a:spLocks noChangeArrowheads="1"/>
            </p:cNvSpPr>
            <p:nvPr/>
          </p:nvSpPr>
          <p:spPr bwMode="auto">
            <a:xfrm>
              <a:off x="1319213" y="379229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2</a:t>
              </a:r>
            </a:p>
          </p:txBody>
        </p:sp>
        <p:sp>
          <p:nvSpPr>
            <p:cNvPr id="132" name="Text Box 59"/>
            <p:cNvSpPr txBox="1">
              <a:spLocks noChangeArrowheads="1"/>
            </p:cNvSpPr>
            <p:nvPr/>
          </p:nvSpPr>
          <p:spPr bwMode="auto">
            <a:xfrm>
              <a:off x="1593850" y="3809753"/>
              <a:ext cx="6407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流速边界条件      在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边界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上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给定法向流速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3" name="Freeform 10"/>
          <p:cNvSpPr>
            <a:spLocks/>
          </p:cNvSpPr>
          <p:nvPr/>
        </p:nvSpPr>
        <p:spPr bwMode="auto">
          <a:xfrm>
            <a:off x="1285086" y="1571786"/>
            <a:ext cx="3124570" cy="1340506"/>
          </a:xfrm>
          <a:custGeom>
            <a:avLst/>
            <a:gdLst>
              <a:gd name="T0" fmla="*/ 10 w 1848"/>
              <a:gd name="T1" fmla="*/ 0 h 682"/>
              <a:gd name="T2" fmla="*/ 1848 w 1848"/>
              <a:gd name="T3" fmla="*/ 0 h 682"/>
              <a:gd name="T4" fmla="*/ 341 w 1848"/>
              <a:gd name="T5" fmla="*/ 682 h 682"/>
              <a:gd name="T6" fmla="*/ 0 w 1848"/>
              <a:gd name="T7" fmla="*/ 677 h 682"/>
              <a:gd name="T8" fmla="*/ 10 w 1848"/>
              <a:gd name="T9" fmla="*/ 0 h 6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48"/>
              <a:gd name="T16" fmla="*/ 0 h 682"/>
              <a:gd name="T17" fmla="*/ 1848 w 1848"/>
              <a:gd name="T18" fmla="*/ 682 h 682"/>
              <a:gd name="connsiteX0" fmla="*/ 54 w 10156"/>
              <a:gd name="connsiteY0" fmla="*/ 49 h 10049"/>
              <a:gd name="connsiteX1" fmla="*/ 10156 w 10156"/>
              <a:gd name="connsiteY1" fmla="*/ 0 h 10049"/>
              <a:gd name="connsiteX2" fmla="*/ 1845 w 10156"/>
              <a:gd name="connsiteY2" fmla="*/ 10049 h 10049"/>
              <a:gd name="connsiteX3" fmla="*/ 0 w 10156"/>
              <a:gd name="connsiteY3" fmla="*/ 9976 h 10049"/>
              <a:gd name="connsiteX4" fmla="*/ 54 w 10156"/>
              <a:gd name="connsiteY4" fmla="*/ 49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6" h="10049">
                <a:moveTo>
                  <a:pt x="54" y="49"/>
                </a:moveTo>
                <a:lnTo>
                  <a:pt x="10156" y="0"/>
                </a:lnTo>
                <a:lnTo>
                  <a:pt x="1845" y="10049"/>
                </a:lnTo>
                <a:lnTo>
                  <a:pt x="0" y="9976"/>
                </a:lnTo>
                <a:lnTo>
                  <a:pt x="54" y="49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Freeform 2422"/>
          <p:cNvSpPr>
            <a:spLocks/>
          </p:cNvSpPr>
          <p:nvPr/>
        </p:nvSpPr>
        <p:spPr bwMode="auto">
          <a:xfrm>
            <a:off x="1877610" y="1482508"/>
            <a:ext cx="5581452" cy="1429273"/>
          </a:xfrm>
          <a:custGeom>
            <a:avLst/>
            <a:gdLst>
              <a:gd name="T0" fmla="*/ 0 w 2975"/>
              <a:gd name="T1" fmla="*/ 756 h 759"/>
              <a:gd name="T2" fmla="*/ 1444 w 2975"/>
              <a:gd name="T3" fmla="*/ 0 h 759"/>
              <a:gd name="T4" fmla="*/ 1608 w 2975"/>
              <a:gd name="T5" fmla="*/ 0 h 759"/>
              <a:gd name="T6" fmla="*/ 2975 w 2975"/>
              <a:gd name="T7" fmla="*/ 759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75" h="759">
                <a:moveTo>
                  <a:pt x="0" y="756"/>
                </a:moveTo>
                <a:lnTo>
                  <a:pt x="1444" y="0"/>
                </a:lnTo>
                <a:lnTo>
                  <a:pt x="1608" y="0"/>
                </a:lnTo>
                <a:lnTo>
                  <a:pt x="2975" y="759"/>
                </a:lnTo>
              </a:path>
            </a:pathLst>
          </a:custGeom>
          <a:solidFill>
            <a:schemeClr val="accent2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5" name="Text Box 2451"/>
          <p:cNvSpPr txBox="1">
            <a:spLocks noChangeArrowheads="1"/>
          </p:cNvSpPr>
          <p:nvPr/>
        </p:nvSpPr>
        <p:spPr bwMode="auto">
          <a:xfrm>
            <a:off x="6243079" y="1971478"/>
            <a:ext cx="400296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E</a:t>
            </a:r>
          </a:p>
        </p:txBody>
      </p:sp>
      <p:sp>
        <p:nvSpPr>
          <p:cNvPr id="136" name="Freeform 8"/>
          <p:cNvSpPr>
            <a:spLocks/>
          </p:cNvSpPr>
          <p:nvPr/>
        </p:nvSpPr>
        <p:spPr bwMode="auto">
          <a:xfrm>
            <a:off x="1912293" y="1573259"/>
            <a:ext cx="5525791" cy="1335635"/>
          </a:xfrm>
          <a:custGeom>
            <a:avLst/>
            <a:gdLst>
              <a:gd name="T0" fmla="*/ 0 w 3288"/>
              <a:gd name="T1" fmla="*/ 677 h 682"/>
              <a:gd name="T2" fmla="*/ 1517 w 3288"/>
              <a:gd name="T3" fmla="*/ 0 h 682"/>
              <a:gd name="T4" fmla="*/ 1551 w 3288"/>
              <a:gd name="T5" fmla="*/ 29 h 682"/>
              <a:gd name="T6" fmla="*/ 1719 w 3288"/>
              <a:gd name="T7" fmla="*/ 92 h 682"/>
              <a:gd name="T8" fmla="*/ 2012 w 3288"/>
              <a:gd name="T9" fmla="*/ 178 h 682"/>
              <a:gd name="T10" fmla="*/ 2266 w 3288"/>
              <a:gd name="T11" fmla="*/ 245 h 682"/>
              <a:gd name="T12" fmla="*/ 2588 w 3288"/>
              <a:gd name="T13" fmla="*/ 360 h 682"/>
              <a:gd name="T14" fmla="*/ 2751 w 3288"/>
              <a:gd name="T15" fmla="*/ 423 h 682"/>
              <a:gd name="T16" fmla="*/ 3288 w 3288"/>
              <a:gd name="T17" fmla="*/ 682 h 682"/>
              <a:gd name="T18" fmla="*/ 0 w 3288"/>
              <a:gd name="T19" fmla="*/ 677 h 68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288"/>
              <a:gd name="T31" fmla="*/ 0 h 682"/>
              <a:gd name="T32" fmla="*/ 3288 w 3288"/>
              <a:gd name="T33" fmla="*/ 682 h 682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717 w 10000"/>
              <a:gd name="connsiteY2" fmla="*/ 441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476 w 10000"/>
              <a:gd name="connsiteY6" fmla="*/ 4612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926 w 10000"/>
              <a:gd name="connsiteY5" fmla="*/ 3735 h 10016"/>
              <a:gd name="connsiteX6" fmla="*/ 7476 w 10000"/>
              <a:gd name="connsiteY6" fmla="*/ 4612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926 w 10000"/>
              <a:gd name="connsiteY5" fmla="*/ 3735 h 10016"/>
              <a:gd name="connsiteX6" fmla="*/ 7476 w 10000"/>
              <a:gd name="connsiteY6" fmla="*/ 4612 h 10016"/>
              <a:gd name="connsiteX7" fmla="*/ 8058 w 10000"/>
              <a:gd name="connsiteY7" fmla="*/ 5472 h 10016"/>
              <a:gd name="connsiteX8" fmla="*/ 8095 w 10000"/>
              <a:gd name="connsiteY8" fmla="*/ 5551 h 10016"/>
              <a:gd name="connsiteX9" fmla="*/ 10000 w 10000"/>
              <a:gd name="connsiteY9" fmla="*/ 10016 h 10016"/>
              <a:gd name="connsiteX10" fmla="*/ 0 w 10000"/>
              <a:gd name="connsiteY10" fmla="*/ 9943 h 1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16">
                <a:moveTo>
                  <a:pt x="0" y="9943"/>
                </a:moveTo>
                <a:lnTo>
                  <a:pt x="4534" y="0"/>
                </a:lnTo>
                <a:lnTo>
                  <a:pt x="4648" y="409"/>
                </a:lnTo>
                <a:lnTo>
                  <a:pt x="5228" y="1365"/>
                </a:lnTo>
                <a:lnTo>
                  <a:pt x="6138" y="2578"/>
                </a:lnTo>
                <a:lnTo>
                  <a:pt x="6926" y="3735"/>
                </a:lnTo>
                <a:lnTo>
                  <a:pt x="7476" y="4612"/>
                </a:lnTo>
                <a:cubicBezTo>
                  <a:pt x="7676" y="4914"/>
                  <a:pt x="7858" y="5170"/>
                  <a:pt x="8058" y="5472"/>
                </a:cubicBezTo>
                <a:cubicBezTo>
                  <a:pt x="8070" y="5498"/>
                  <a:pt x="8083" y="5525"/>
                  <a:pt x="8095" y="5551"/>
                </a:cubicBezTo>
                <a:lnTo>
                  <a:pt x="10000" y="10016"/>
                </a:lnTo>
                <a:lnTo>
                  <a:pt x="0" y="9943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" name="Freeform 9"/>
          <p:cNvSpPr>
            <a:spLocks/>
          </p:cNvSpPr>
          <p:nvPr/>
        </p:nvSpPr>
        <p:spPr bwMode="auto">
          <a:xfrm>
            <a:off x="6836765" y="2557616"/>
            <a:ext cx="1042235" cy="356048"/>
          </a:xfrm>
          <a:custGeom>
            <a:avLst/>
            <a:gdLst>
              <a:gd name="T0" fmla="*/ 0 w 845"/>
              <a:gd name="T1" fmla="*/ 0 h 149"/>
              <a:gd name="T2" fmla="*/ 845 w 845"/>
              <a:gd name="T3" fmla="*/ 0 h 149"/>
              <a:gd name="T4" fmla="*/ 845 w 845"/>
              <a:gd name="T5" fmla="*/ 149 h 149"/>
              <a:gd name="T6" fmla="*/ 312 w 845"/>
              <a:gd name="T7" fmla="*/ 149 h 149"/>
              <a:gd name="T8" fmla="*/ 0 w 845"/>
              <a:gd name="T9" fmla="*/ 0 h 1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5"/>
              <a:gd name="T16" fmla="*/ 0 h 149"/>
              <a:gd name="T17" fmla="*/ 845 w 845"/>
              <a:gd name="T18" fmla="*/ 149 h 149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8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329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72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6085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6085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" name="Text Box 2421"/>
          <p:cNvSpPr txBox="1">
            <a:spLocks noChangeArrowheads="1"/>
          </p:cNvSpPr>
          <p:nvPr/>
        </p:nvSpPr>
        <p:spPr bwMode="auto">
          <a:xfrm>
            <a:off x="3627360" y="3013468"/>
            <a:ext cx="1452622" cy="34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0817" rIns="0" bIns="40817">
            <a:spAutoFit/>
          </a:bodyPr>
          <a:lstStyle>
            <a:lvl1pPr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407988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8175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2239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631950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0891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5463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0035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4607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600" b="1" dirty="0">
                <a:latin typeface="Times New Roman" pitchFamily="18" charset="0"/>
                <a:ea typeface="幼圆" pitchFamily="49" charset="-122"/>
              </a:rPr>
              <a:t>不透水层</a:t>
            </a:r>
          </a:p>
        </p:txBody>
      </p:sp>
      <p:sp>
        <p:nvSpPr>
          <p:cNvPr id="143" name="Line 2423"/>
          <p:cNvSpPr>
            <a:spLocks noChangeShapeType="1"/>
          </p:cNvSpPr>
          <p:nvPr/>
        </p:nvSpPr>
        <p:spPr bwMode="auto">
          <a:xfrm>
            <a:off x="1324173" y="2911781"/>
            <a:ext cx="65413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" name="Line 2424"/>
          <p:cNvSpPr>
            <a:spLocks noChangeShapeType="1"/>
          </p:cNvSpPr>
          <p:nvPr/>
        </p:nvSpPr>
        <p:spPr bwMode="auto">
          <a:xfrm flipH="1">
            <a:off x="1009650" y="1571014"/>
            <a:ext cx="339973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" name="Line 2425"/>
          <p:cNvSpPr>
            <a:spLocks noChangeShapeType="1"/>
          </p:cNvSpPr>
          <p:nvPr/>
        </p:nvSpPr>
        <p:spPr bwMode="auto">
          <a:xfrm>
            <a:off x="6848300" y="2563407"/>
            <a:ext cx="12415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6" name="Group 2426"/>
          <p:cNvGrpSpPr>
            <a:grpSpLocks/>
          </p:cNvGrpSpPr>
          <p:nvPr/>
        </p:nvGrpSpPr>
        <p:grpSpPr bwMode="auto">
          <a:xfrm>
            <a:off x="2044744" y="1435431"/>
            <a:ext cx="373473" cy="291880"/>
            <a:chOff x="355" y="513"/>
            <a:chExt cx="204" cy="175"/>
          </a:xfrm>
        </p:grpSpPr>
        <p:sp>
          <p:nvSpPr>
            <p:cNvPr id="147" name="AutoShape 2427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2428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2429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2430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2431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2" name="Freeform 2432"/>
          <p:cNvSpPr>
            <a:spLocks/>
          </p:cNvSpPr>
          <p:nvPr/>
        </p:nvSpPr>
        <p:spPr bwMode="auto">
          <a:xfrm>
            <a:off x="4430015" y="1580429"/>
            <a:ext cx="1904179" cy="705348"/>
          </a:xfrm>
          <a:custGeom>
            <a:avLst/>
            <a:gdLst>
              <a:gd name="T0" fmla="*/ 0 w 953"/>
              <a:gd name="T1" fmla="*/ 0 h 321"/>
              <a:gd name="T2" fmla="*/ 24 w 953"/>
              <a:gd name="T3" fmla="*/ 17 h 321"/>
              <a:gd name="T4" fmla="*/ 111 w 953"/>
              <a:gd name="T5" fmla="*/ 48 h 321"/>
              <a:gd name="T6" fmla="*/ 224 w 953"/>
              <a:gd name="T7" fmla="*/ 81 h 321"/>
              <a:gd name="T8" fmla="*/ 432 w 953"/>
              <a:gd name="T9" fmla="*/ 139 h 321"/>
              <a:gd name="T10" fmla="*/ 639 w 953"/>
              <a:gd name="T11" fmla="*/ 204 h 321"/>
              <a:gd name="T12" fmla="*/ 819 w 953"/>
              <a:gd name="T13" fmla="*/ 269 h 321"/>
              <a:gd name="T14" fmla="*/ 953 w 953"/>
              <a:gd name="T15" fmla="*/ 321 h 321"/>
              <a:gd name="connsiteX0" fmla="*/ 0 w 9716"/>
              <a:gd name="connsiteY0" fmla="*/ 0 h 9429"/>
              <a:gd name="connsiteX1" fmla="*/ 252 w 9716"/>
              <a:gd name="connsiteY1" fmla="*/ 530 h 9429"/>
              <a:gd name="connsiteX2" fmla="*/ 1165 w 9716"/>
              <a:gd name="connsiteY2" fmla="*/ 1495 h 9429"/>
              <a:gd name="connsiteX3" fmla="*/ 2350 w 9716"/>
              <a:gd name="connsiteY3" fmla="*/ 2523 h 9429"/>
              <a:gd name="connsiteX4" fmla="*/ 4533 w 9716"/>
              <a:gd name="connsiteY4" fmla="*/ 4330 h 9429"/>
              <a:gd name="connsiteX5" fmla="*/ 6705 w 9716"/>
              <a:gd name="connsiteY5" fmla="*/ 6355 h 9429"/>
              <a:gd name="connsiteX6" fmla="*/ 8594 w 9716"/>
              <a:gd name="connsiteY6" fmla="*/ 8380 h 9429"/>
              <a:gd name="connsiteX7" fmla="*/ 9716 w 9716"/>
              <a:gd name="connsiteY7" fmla="*/ 9429 h 9429"/>
              <a:gd name="connsiteX0" fmla="*/ 0 w 10000"/>
              <a:gd name="connsiteY0" fmla="*/ 0 h 10000"/>
              <a:gd name="connsiteX1" fmla="*/ 259 w 10000"/>
              <a:gd name="connsiteY1" fmla="*/ 562 h 10000"/>
              <a:gd name="connsiteX2" fmla="*/ 1199 w 10000"/>
              <a:gd name="connsiteY2" fmla="*/ 1586 h 10000"/>
              <a:gd name="connsiteX3" fmla="*/ 2419 w 10000"/>
              <a:gd name="connsiteY3" fmla="*/ 2676 h 10000"/>
              <a:gd name="connsiteX4" fmla="*/ 4666 w 10000"/>
              <a:gd name="connsiteY4" fmla="*/ 4592 h 10000"/>
              <a:gd name="connsiteX5" fmla="*/ 6901 w 10000"/>
              <a:gd name="connsiteY5" fmla="*/ 6740 h 10000"/>
              <a:gd name="connsiteX6" fmla="*/ 8709 w 10000"/>
              <a:gd name="connsiteY6" fmla="*/ 8612 h 10000"/>
              <a:gd name="connsiteX7" fmla="*/ 10000 w 10000"/>
              <a:gd name="connsiteY7" fmla="*/ 10000 h 10000"/>
              <a:gd name="connsiteX0" fmla="*/ 0 w 9686"/>
              <a:gd name="connsiteY0" fmla="*/ 0 h 9642"/>
              <a:gd name="connsiteX1" fmla="*/ 259 w 9686"/>
              <a:gd name="connsiteY1" fmla="*/ 562 h 9642"/>
              <a:gd name="connsiteX2" fmla="*/ 1199 w 9686"/>
              <a:gd name="connsiteY2" fmla="*/ 1586 h 9642"/>
              <a:gd name="connsiteX3" fmla="*/ 2419 w 9686"/>
              <a:gd name="connsiteY3" fmla="*/ 2676 h 9642"/>
              <a:gd name="connsiteX4" fmla="*/ 4666 w 9686"/>
              <a:gd name="connsiteY4" fmla="*/ 4592 h 9642"/>
              <a:gd name="connsiteX5" fmla="*/ 6901 w 9686"/>
              <a:gd name="connsiteY5" fmla="*/ 6740 h 9642"/>
              <a:gd name="connsiteX6" fmla="*/ 8709 w 9686"/>
              <a:gd name="connsiteY6" fmla="*/ 8612 h 9642"/>
              <a:gd name="connsiteX7" fmla="*/ 9686 w 9686"/>
              <a:gd name="connsiteY7" fmla="*/ 9642 h 9642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712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699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9709"/>
              <a:gd name="connsiteY0" fmla="*/ 0 h 9515"/>
              <a:gd name="connsiteX1" fmla="*/ 267 w 9709"/>
              <a:gd name="connsiteY1" fmla="*/ 583 h 9515"/>
              <a:gd name="connsiteX2" fmla="*/ 1238 w 9709"/>
              <a:gd name="connsiteY2" fmla="*/ 1645 h 9515"/>
              <a:gd name="connsiteX3" fmla="*/ 2497 w 9709"/>
              <a:gd name="connsiteY3" fmla="*/ 2775 h 9515"/>
              <a:gd name="connsiteX4" fmla="*/ 4817 w 9709"/>
              <a:gd name="connsiteY4" fmla="*/ 4762 h 9515"/>
              <a:gd name="connsiteX5" fmla="*/ 6995 w 9709"/>
              <a:gd name="connsiteY5" fmla="*/ 6990 h 9515"/>
              <a:gd name="connsiteX6" fmla="*/ 8516 w 9709"/>
              <a:gd name="connsiteY6" fmla="*/ 8504 h 9515"/>
              <a:gd name="connsiteX7" fmla="*/ 9709 w 9709"/>
              <a:gd name="connsiteY7" fmla="*/ 9515 h 9515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771 w 10000"/>
              <a:gd name="connsiteY6" fmla="*/ 8937 h 10000"/>
              <a:gd name="connsiteX7" fmla="*/ 8516 w 10000"/>
              <a:gd name="connsiteY7" fmla="*/ 8593 h 10000"/>
              <a:gd name="connsiteX8" fmla="*/ 10000 w 10000"/>
              <a:gd name="connsiteY8" fmla="*/ 10000 h 10000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516 w 10000"/>
              <a:gd name="connsiteY6" fmla="*/ 8593 h 10000"/>
              <a:gd name="connsiteX7" fmla="*/ 10000 w 10000"/>
              <a:gd name="connsiteY7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4" y="145"/>
                  <a:pt x="69" y="324"/>
                  <a:pt x="275" y="613"/>
                </a:cubicBezTo>
                <a:cubicBezTo>
                  <a:pt x="483" y="901"/>
                  <a:pt x="895" y="1333"/>
                  <a:pt x="1275" y="1729"/>
                </a:cubicBezTo>
                <a:cubicBezTo>
                  <a:pt x="1653" y="2124"/>
                  <a:pt x="1963" y="2377"/>
                  <a:pt x="2572" y="2916"/>
                </a:cubicBezTo>
                <a:cubicBezTo>
                  <a:pt x="3182" y="3458"/>
                  <a:pt x="4189" y="4267"/>
                  <a:pt x="4961" y="5005"/>
                </a:cubicBezTo>
                <a:cubicBezTo>
                  <a:pt x="5734" y="5744"/>
                  <a:pt x="6613" y="6748"/>
                  <a:pt x="7205" y="7346"/>
                </a:cubicBezTo>
                <a:cubicBezTo>
                  <a:pt x="7797" y="7944"/>
                  <a:pt x="8050" y="8151"/>
                  <a:pt x="8516" y="8593"/>
                </a:cubicBezTo>
                <a:cubicBezTo>
                  <a:pt x="8721" y="8770"/>
                  <a:pt x="9801" y="9825"/>
                  <a:pt x="10000" y="1000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" name="Line 2433"/>
          <p:cNvSpPr>
            <a:spLocks noChangeShapeType="1"/>
          </p:cNvSpPr>
          <p:nvPr/>
        </p:nvSpPr>
        <p:spPr bwMode="auto">
          <a:xfrm>
            <a:off x="1055786" y="1565364"/>
            <a:ext cx="0" cy="13445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" name="Line 2434"/>
          <p:cNvSpPr>
            <a:spLocks noChangeShapeType="1"/>
          </p:cNvSpPr>
          <p:nvPr/>
        </p:nvSpPr>
        <p:spPr bwMode="auto">
          <a:xfrm>
            <a:off x="8031318" y="2570939"/>
            <a:ext cx="0" cy="3276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" name="Text Box 2435"/>
          <p:cNvSpPr txBox="1">
            <a:spLocks noChangeArrowheads="1"/>
          </p:cNvSpPr>
          <p:nvPr/>
        </p:nvSpPr>
        <p:spPr bwMode="auto">
          <a:xfrm>
            <a:off x="991822" y="2000361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h</a:t>
            </a:r>
            <a:r>
              <a:rPr kumimoji="1" lang="en-US" altLang="zh-CN" sz="1600" baseline="-25000">
                <a:latin typeface="Times New Roman" pitchFamily="18" charset="0"/>
              </a:rPr>
              <a:t>1</a:t>
            </a:r>
            <a:endParaRPr kumimoji="1" lang="en-US" altLang="zh-CN" sz="1600">
              <a:latin typeface="Times New Roman" pitchFamily="18" charset="0"/>
            </a:endParaRPr>
          </a:p>
        </p:txBody>
      </p:sp>
      <p:sp>
        <p:nvSpPr>
          <p:cNvPr id="156" name="Oval 2436"/>
          <p:cNvSpPr>
            <a:spLocks noChangeArrowheads="1"/>
          </p:cNvSpPr>
          <p:nvPr/>
        </p:nvSpPr>
        <p:spPr bwMode="auto">
          <a:xfrm>
            <a:off x="6320040" y="2255598"/>
            <a:ext cx="54000" cy="54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" name="Text Box 2437"/>
          <p:cNvSpPr txBox="1">
            <a:spLocks noChangeArrowheads="1"/>
          </p:cNvSpPr>
          <p:nvPr/>
        </p:nvSpPr>
        <p:spPr bwMode="auto">
          <a:xfrm>
            <a:off x="4040036" y="2228215"/>
            <a:ext cx="1504206" cy="41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 b="1" dirty="0">
                <a:latin typeface="Times New Roman" pitchFamily="18" charset="0"/>
              </a:rPr>
              <a:t>渗 流 域</a:t>
            </a:r>
          </a:p>
        </p:txBody>
      </p:sp>
      <p:grpSp>
        <p:nvGrpSpPr>
          <p:cNvPr id="158" name="Group 2438"/>
          <p:cNvGrpSpPr>
            <a:grpSpLocks/>
          </p:cNvGrpSpPr>
          <p:nvPr/>
        </p:nvGrpSpPr>
        <p:grpSpPr bwMode="auto">
          <a:xfrm>
            <a:off x="7217647" y="2431590"/>
            <a:ext cx="373472" cy="291881"/>
            <a:chOff x="355" y="513"/>
            <a:chExt cx="204" cy="175"/>
          </a:xfrm>
        </p:grpSpPr>
        <p:sp>
          <p:nvSpPr>
            <p:cNvPr id="159" name="AutoShape 2439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Line 2440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2441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2442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2443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" name="Text Box 2444"/>
          <p:cNvSpPr txBox="1">
            <a:spLocks noChangeArrowheads="1"/>
          </p:cNvSpPr>
          <p:nvPr/>
        </p:nvSpPr>
        <p:spPr bwMode="auto">
          <a:xfrm>
            <a:off x="8036084" y="2520796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h</a:t>
            </a:r>
            <a:r>
              <a:rPr kumimoji="1" lang="en-US" altLang="zh-CN" sz="1600" baseline="-25000" dirty="0">
                <a:latin typeface="Times New Roman" pitchFamily="18" charset="0"/>
              </a:rPr>
              <a:t>2</a:t>
            </a:r>
            <a:endParaRPr kumimoji="1" lang="en-US" altLang="zh-CN" sz="1600" dirty="0">
              <a:latin typeface="Times New Roman" pitchFamily="18" charset="0"/>
            </a:endParaRPr>
          </a:p>
        </p:txBody>
      </p:sp>
      <p:sp>
        <p:nvSpPr>
          <p:cNvPr id="165" name="Text Box 2446"/>
          <p:cNvSpPr txBox="1">
            <a:spLocks noChangeArrowheads="1"/>
          </p:cNvSpPr>
          <p:nvPr/>
        </p:nvSpPr>
        <p:spPr bwMode="auto">
          <a:xfrm>
            <a:off x="8121255" y="2850208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166" name="Text Box 2447"/>
          <p:cNvSpPr txBox="1">
            <a:spLocks noChangeArrowheads="1"/>
          </p:cNvSpPr>
          <p:nvPr/>
        </p:nvSpPr>
        <p:spPr bwMode="auto">
          <a:xfrm>
            <a:off x="4089557" y="1194394"/>
            <a:ext cx="429184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A</a:t>
            </a:r>
          </a:p>
        </p:txBody>
      </p:sp>
      <p:sp>
        <p:nvSpPr>
          <p:cNvPr id="167" name="Text Box 2448"/>
          <p:cNvSpPr txBox="1">
            <a:spLocks noChangeArrowheads="1"/>
          </p:cNvSpPr>
          <p:nvPr/>
        </p:nvSpPr>
        <p:spPr bwMode="auto">
          <a:xfrm>
            <a:off x="1673335" y="2857171"/>
            <a:ext cx="414741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B</a:t>
            </a:r>
          </a:p>
        </p:txBody>
      </p:sp>
      <p:sp>
        <p:nvSpPr>
          <p:cNvPr id="168" name="Text Box 2449"/>
          <p:cNvSpPr txBox="1">
            <a:spLocks noChangeArrowheads="1"/>
          </p:cNvSpPr>
          <p:nvPr/>
        </p:nvSpPr>
        <p:spPr bwMode="auto">
          <a:xfrm>
            <a:off x="7271295" y="2853404"/>
            <a:ext cx="41473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C</a:t>
            </a:r>
          </a:p>
        </p:txBody>
      </p:sp>
      <p:sp>
        <p:nvSpPr>
          <p:cNvPr id="169" name="Text Box 2450"/>
          <p:cNvSpPr txBox="1">
            <a:spLocks noChangeArrowheads="1"/>
          </p:cNvSpPr>
          <p:nvPr/>
        </p:nvSpPr>
        <p:spPr bwMode="auto">
          <a:xfrm>
            <a:off x="6678419" y="2493550"/>
            <a:ext cx="429184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D</a:t>
            </a:r>
          </a:p>
        </p:txBody>
      </p:sp>
      <p:sp>
        <p:nvSpPr>
          <p:cNvPr id="170" name="Text Box 2452"/>
          <p:cNvSpPr txBox="1">
            <a:spLocks noChangeArrowheads="1"/>
          </p:cNvSpPr>
          <p:nvPr/>
        </p:nvSpPr>
        <p:spPr bwMode="auto">
          <a:xfrm>
            <a:off x="4890150" y="1749908"/>
            <a:ext cx="385852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F</a:t>
            </a:r>
          </a:p>
        </p:txBody>
      </p:sp>
      <p:sp>
        <p:nvSpPr>
          <p:cNvPr id="171" name="Line 2477"/>
          <p:cNvSpPr>
            <a:spLocks noChangeShapeType="1"/>
          </p:cNvSpPr>
          <p:nvPr/>
        </p:nvSpPr>
        <p:spPr bwMode="auto">
          <a:xfrm>
            <a:off x="7872378" y="2913664"/>
            <a:ext cx="2945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" name="Line 2480"/>
          <p:cNvSpPr>
            <a:spLocks noChangeShapeType="1"/>
          </p:cNvSpPr>
          <p:nvPr/>
        </p:nvSpPr>
        <p:spPr bwMode="auto">
          <a:xfrm>
            <a:off x="1456680" y="2913664"/>
            <a:ext cx="1980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" name="Text Box 2505"/>
          <p:cNvSpPr txBox="1">
            <a:spLocks noChangeArrowheads="1"/>
          </p:cNvSpPr>
          <p:nvPr/>
        </p:nvSpPr>
        <p:spPr bwMode="auto">
          <a:xfrm>
            <a:off x="5158230" y="1205999"/>
            <a:ext cx="1007620" cy="34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0817" rIns="0" bIns="40817">
            <a:spAutoFit/>
          </a:bodyPr>
          <a:lstStyle>
            <a:lvl1pPr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407988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8175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2239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631950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0891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5463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0035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4607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600" b="1" dirty="0" smtClean="0">
                <a:latin typeface="Times New Roman" pitchFamily="18" charset="0"/>
                <a:ea typeface="幼圆" pitchFamily="49" charset="-122"/>
              </a:rPr>
              <a:t>浸润面</a:t>
            </a:r>
            <a:endParaRPr lang="zh-CN" altLang="en-US" sz="1600" b="1" dirty="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74" name="Line 2506"/>
          <p:cNvSpPr>
            <a:spLocks noChangeShapeType="1"/>
          </p:cNvSpPr>
          <p:nvPr/>
        </p:nvSpPr>
        <p:spPr bwMode="auto">
          <a:xfrm flipV="1">
            <a:off x="4960305" y="1522053"/>
            <a:ext cx="466325" cy="2071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5" name="Group 2507"/>
          <p:cNvGrpSpPr>
            <a:grpSpLocks/>
          </p:cNvGrpSpPr>
          <p:nvPr/>
        </p:nvGrpSpPr>
        <p:grpSpPr bwMode="auto">
          <a:xfrm>
            <a:off x="2523449" y="2909897"/>
            <a:ext cx="812973" cy="158180"/>
            <a:chOff x="2644" y="2807"/>
            <a:chExt cx="481" cy="83"/>
          </a:xfrm>
        </p:grpSpPr>
        <p:sp>
          <p:nvSpPr>
            <p:cNvPr id="176" name="Freeform 2508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7" name="Freeform 2509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8" name="Freeform 2510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9" name="Freeform 2511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0" name="Freeform 2512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1" name="Freeform 2513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2" name="Freeform 2514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3" name="Freeform 2515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" name="Freeform 2516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5" name="Freeform 2517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6" name="Freeform 2518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7" name="Freeform 2519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8" name="Group 2520"/>
          <p:cNvGrpSpPr>
            <a:grpSpLocks/>
          </p:cNvGrpSpPr>
          <p:nvPr/>
        </p:nvGrpSpPr>
        <p:grpSpPr bwMode="auto">
          <a:xfrm>
            <a:off x="5424566" y="2908015"/>
            <a:ext cx="812973" cy="158180"/>
            <a:chOff x="2644" y="2807"/>
            <a:chExt cx="481" cy="83"/>
          </a:xfrm>
        </p:grpSpPr>
        <p:sp>
          <p:nvSpPr>
            <p:cNvPr id="189" name="Freeform 2521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0" name="Freeform 2522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1" name="Freeform 2523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2" name="Freeform 2524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3" name="Freeform 2525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" name="Freeform 2526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" name="Freeform 2527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6" name="Freeform 2528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7" name="Freeform 2529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8" name="Freeform 2530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9" name="Freeform 2531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00" name="Freeform 2532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01" name="Text Box 2446"/>
          <p:cNvSpPr txBox="1">
            <a:spLocks noChangeArrowheads="1"/>
          </p:cNvSpPr>
          <p:nvPr/>
        </p:nvSpPr>
        <p:spPr bwMode="auto">
          <a:xfrm>
            <a:off x="808681" y="2856715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202" name="Line 2477"/>
          <p:cNvSpPr>
            <a:spLocks noChangeShapeType="1"/>
          </p:cNvSpPr>
          <p:nvPr/>
        </p:nvSpPr>
        <p:spPr bwMode="auto">
          <a:xfrm>
            <a:off x="946151" y="2915423"/>
            <a:ext cx="4012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 bwMode="auto">
          <a:xfrm flipV="1">
            <a:off x="1871656" y="2889616"/>
            <a:ext cx="5597959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组合 3"/>
          <p:cNvGrpSpPr/>
          <p:nvPr/>
        </p:nvGrpSpPr>
        <p:grpSpPr>
          <a:xfrm>
            <a:off x="2362200" y="2841625"/>
            <a:ext cx="4571999" cy="0"/>
            <a:chOff x="2362200" y="2841625"/>
            <a:chExt cx="4571999" cy="0"/>
          </a:xfrm>
        </p:grpSpPr>
        <p:cxnSp>
          <p:nvCxnSpPr>
            <p:cNvPr id="205" name="直接箭头连接符 204"/>
            <p:cNvCxnSpPr/>
            <p:nvPr/>
          </p:nvCxnSpPr>
          <p:spPr bwMode="auto">
            <a:xfrm>
              <a:off x="23622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8" name="直接箭头连接符 207"/>
            <p:cNvCxnSpPr/>
            <p:nvPr/>
          </p:nvCxnSpPr>
          <p:spPr bwMode="auto">
            <a:xfrm>
              <a:off x="27940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直接箭头连接符 208"/>
            <p:cNvCxnSpPr/>
            <p:nvPr/>
          </p:nvCxnSpPr>
          <p:spPr bwMode="auto">
            <a:xfrm>
              <a:off x="32258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0" name="直接箭头连接符 209"/>
            <p:cNvCxnSpPr/>
            <p:nvPr/>
          </p:nvCxnSpPr>
          <p:spPr bwMode="auto">
            <a:xfrm>
              <a:off x="36576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1" name="直接箭头连接符 210"/>
            <p:cNvCxnSpPr/>
            <p:nvPr/>
          </p:nvCxnSpPr>
          <p:spPr bwMode="auto">
            <a:xfrm>
              <a:off x="40894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2" name="直接箭头连接符 211"/>
            <p:cNvCxnSpPr/>
            <p:nvPr/>
          </p:nvCxnSpPr>
          <p:spPr bwMode="auto">
            <a:xfrm>
              <a:off x="45212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3" name="直接箭头连接符 212"/>
            <p:cNvCxnSpPr/>
            <p:nvPr/>
          </p:nvCxnSpPr>
          <p:spPr bwMode="auto">
            <a:xfrm>
              <a:off x="49530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4" name="直接箭头连接符 213"/>
            <p:cNvCxnSpPr/>
            <p:nvPr/>
          </p:nvCxnSpPr>
          <p:spPr bwMode="auto">
            <a:xfrm>
              <a:off x="53848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5" name="直接箭头连接符 214"/>
            <p:cNvCxnSpPr/>
            <p:nvPr/>
          </p:nvCxnSpPr>
          <p:spPr bwMode="auto">
            <a:xfrm>
              <a:off x="58166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6" name="直接箭头连接符 215"/>
            <p:cNvCxnSpPr/>
            <p:nvPr/>
          </p:nvCxnSpPr>
          <p:spPr bwMode="auto">
            <a:xfrm>
              <a:off x="62484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7" name="直接箭头连接符 216"/>
            <p:cNvCxnSpPr/>
            <p:nvPr/>
          </p:nvCxnSpPr>
          <p:spPr bwMode="auto">
            <a:xfrm>
              <a:off x="6680200" y="2841625"/>
              <a:ext cx="25399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92" name="Text Box 7"/>
          <p:cNvSpPr txBox="1">
            <a:spLocks noChangeArrowheads="1"/>
          </p:cNvSpPr>
          <p:nvPr/>
        </p:nvSpPr>
        <p:spPr bwMode="auto">
          <a:xfrm>
            <a:off x="-1" y="0"/>
            <a:ext cx="4095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边界条件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178091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8" name="Text Box 65"/>
          <p:cNvSpPr txBox="1">
            <a:spLocks noChangeArrowheads="1"/>
          </p:cNvSpPr>
          <p:nvPr/>
        </p:nvSpPr>
        <p:spPr bwMode="auto">
          <a:xfrm>
            <a:off x="2933700" y="5694363"/>
            <a:ext cx="3927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渗流的边界条件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8" name="Freeform 10"/>
          <p:cNvSpPr>
            <a:spLocks/>
          </p:cNvSpPr>
          <p:nvPr/>
        </p:nvSpPr>
        <p:spPr bwMode="auto">
          <a:xfrm>
            <a:off x="1285086" y="1571786"/>
            <a:ext cx="3124570" cy="1340506"/>
          </a:xfrm>
          <a:custGeom>
            <a:avLst/>
            <a:gdLst>
              <a:gd name="T0" fmla="*/ 10 w 1848"/>
              <a:gd name="T1" fmla="*/ 0 h 682"/>
              <a:gd name="T2" fmla="*/ 1848 w 1848"/>
              <a:gd name="T3" fmla="*/ 0 h 682"/>
              <a:gd name="T4" fmla="*/ 341 w 1848"/>
              <a:gd name="T5" fmla="*/ 682 h 682"/>
              <a:gd name="T6" fmla="*/ 0 w 1848"/>
              <a:gd name="T7" fmla="*/ 677 h 682"/>
              <a:gd name="T8" fmla="*/ 10 w 1848"/>
              <a:gd name="T9" fmla="*/ 0 h 6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48"/>
              <a:gd name="T16" fmla="*/ 0 h 682"/>
              <a:gd name="T17" fmla="*/ 1848 w 1848"/>
              <a:gd name="T18" fmla="*/ 682 h 682"/>
              <a:gd name="connsiteX0" fmla="*/ 54 w 10156"/>
              <a:gd name="connsiteY0" fmla="*/ 49 h 10049"/>
              <a:gd name="connsiteX1" fmla="*/ 10156 w 10156"/>
              <a:gd name="connsiteY1" fmla="*/ 0 h 10049"/>
              <a:gd name="connsiteX2" fmla="*/ 1845 w 10156"/>
              <a:gd name="connsiteY2" fmla="*/ 10049 h 10049"/>
              <a:gd name="connsiteX3" fmla="*/ 0 w 10156"/>
              <a:gd name="connsiteY3" fmla="*/ 9976 h 10049"/>
              <a:gd name="connsiteX4" fmla="*/ 54 w 10156"/>
              <a:gd name="connsiteY4" fmla="*/ 49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6" h="10049">
                <a:moveTo>
                  <a:pt x="54" y="49"/>
                </a:moveTo>
                <a:lnTo>
                  <a:pt x="10156" y="0"/>
                </a:lnTo>
                <a:lnTo>
                  <a:pt x="1845" y="10049"/>
                </a:lnTo>
                <a:lnTo>
                  <a:pt x="0" y="9976"/>
                </a:lnTo>
                <a:lnTo>
                  <a:pt x="54" y="49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" name="Freeform 2422"/>
          <p:cNvSpPr>
            <a:spLocks/>
          </p:cNvSpPr>
          <p:nvPr/>
        </p:nvSpPr>
        <p:spPr bwMode="auto">
          <a:xfrm>
            <a:off x="1877610" y="1482508"/>
            <a:ext cx="5581452" cy="1429273"/>
          </a:xfrm>
          <a:custGeom>
            <a:avLst/>
            <a:gdLst>
              <a:gd name="T0" fmla="*/ 0 w 2975"/>
              <a:gd name="T1" fmla="*/ 756 h 759"/>
              <a:gd name="T2" fmla="*/ 1444 w 2975"/>
              <a:gd name="T3" fmla="*/ 0 h 759"/>
              <a:gd name="T4" fmla="*/ 1608 w 2975"/>
              <a:gd name="T5" fmla="*/ 0 h 759"/>
              <a:gd name="T6" fmla="*/ 2975 w 2975"/>
              <a:gd name="T7" fmla="*/ 759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75" h="759">
                <a:moveTo>
                  <a:pt x="0" y="756"/>
                </a:moveTo>
                <a:lnTo>
                  <a:pt x="1444" y="0"/>
                </a:lnTo>
                <a:lnTo>
                  <a:pt x="1608" y="0"/>
                </a:lnTo>
                <a:lnTo>
                  <a:pt x="2975" y="759"/>
                </a:lnTo>
              </a:path>
            </a:pathLst>
          </a:custGeom>
          <a:solidFill>
            <a:schemeClr val="accent2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2" name="Text Box 2451"/>
          <p:cNvSpPr txBox="1">
            <a:spLocks noChangeArrowheads="1"/>
          </p:cNvSpPr>
          <p:nvPr/>
        </p:nvSpPr>
        <p:spPr bwMode="auto">
          <a:xfrm>
            <a:off x="6243079" y="1971478"/>
            <a:ext cx="400296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E</a:t>
            </a:r>
          </a:p>
        </p:txBody>
      </p:sp>
      <p:sp>
        <p:nvSpPr>
          <p:cNvPr id="133" name="Freeform 8"/>
          <p:cNvSpPr>
            <a:spLocks/>
          </p:cNvSpPr>
          <p:nvPr/>
        </p:nvSpPr>
        <p:spPr bwMode="auto">
          <a:xfrm>
            <a:off x="1912293" y="1573259"/>
            <a:ext cx="5525791" cy="1335635"/>
          </a:xfrm>
          <a:custGeom>
            <a:avLst/>
            <a:gdLst>
              <a:gd name="T0" fmla="*/ 0 w 3288"/>
              <a:gd name="T1" fmla="*/ 677 h 682"/>
              <a:gd name="T2" fmla="*/ 1517 w 3288"/>
              <a:gd name="T3" fmla="*/ 0 h 682"/>
              <a:gd name="T4" fmla="*/ 1551 w 3288"/>
              <a:gd name="T5" fmla="*/ 29 h 682"/>
              <a:gd name="T6" fmla="*/ 1719 w 3288"/>
              <a:gd name="T7" fmla="*/ 92 h 682"/>
              <a:gd name="T8" fmla="*/ 2012 w 3288"/>
              <a:gd name="T9" fmla="*/ 178 h 682"/>
              <a:gd name="T10" fmla="*/ 2266 w 3288"/>
              <a:gd name="T11" fmla="*/ 245 h 682"/>
              <a:gd name="T12" fmla="*/ 2588 w 3288"/>
              <a:gd name="T13" fmla="*/ 360 h 682"/>
              <a:gd name="T14" fmla="*/ 2751 w 3288"/>
              <a:gd name="T15" fmla="*/ 423 h 682"/>
              <a:gd name="T16" fmla="*/ 3288 w 3288"/>
              <a:gd name="T17" fmla="*/ 682 h 682"/>
              <a:gd name="T18" fmla="*/ 0 w 3288"/>
              <a:gd name="T19" fmla="*/ 677 h 68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288"/>
              <a:gd name="T31" fmla="*/ 0 h 682"/>
              <a:gd name="T32" fmla="*/ 3288 w 3288"/>
              <a:gd name="T33" fmla="*/ 682 h 682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717 w 10000"/>
              <a:gd name="connsiteY2" fmla="*/ 441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476 w 10000"/>
              <a:gd name="connsiteY6" fmla="*/ 4612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926 w 10000"/>
              <a:gd name="connsiteY5" fmla="*/ 3735 h 10016"/>
              <a:gd name="connsiteX6" fmla="*/ 7476 w 10000"/>
              <a:gd name="connsiteY6" fmla="*/ 4612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926 w 10000"/>
              <a:gd name="connsiteY5" fmla="*/ 3735 h 10016"/>
              <a:gd name="connsiteX6" fmla="*/ 7476 w 10000"/>
              <a:gd name="connsiteY6" fmla="*/ 4612 h 10016"/>
              <a:gd name="connsiteX7" fmla="*/ 8058 w 10000"/>
              <a:gd name="connsiteY7" fmla="*/ 5472 h 10016"/>
              <a:gd name="connsiteX8" fmla="*/ 8095 w 10000"/>
              <a:gd name="connsiteY8" fmla="*/ 5551 h 10016"/>
              <a:gd name="connsiteX9" fmla="*/ 10000 w 10000"/>
              <a:gd name="connsiteY9" fmla="*/ 10016 h 10016"/>
              <a:gd name="connsiteX10" fmla="*/ 0 w 10000"/>
              <a:gd name="connsiteY10" fmla="*/ 9943 h 1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16">
                <a:moveTo>
                  <a:pt x="0" y="9943"/>
                </a:moveTo>
                <a:lnTo>
                  <a:pt x="4534" y="0"/>
                </a:lnTo>
                <a:lnTo>
                  <a:pt x="4648" y="409"/>
                </a:lnTo>
                <a:lnTo>
                  <a:pt x="5228" y="1365"/>
                </a:lnTo>
                <a:lnTo>
                  <a:pt x="6138" y="2578"/>
                </a:lnTo>
                <a:lnTo>
                  <a:pt x="6926" y="3735"/>
                </a:lnTo>
                <a:lnTo>
                  <a:pt x="7476" y="4612"/>
                </a:lnTo>
                <a:cubicBezTo>
                  <a:pt x="7676" y="4914"/>
                  <a:pt x="7858" y="5170"/>
                  <a:pt x="8058" y="5472"/>
                </a:cubicBezTo>
                <a:cubicBezTo>
                  <a:pt x="8070" y="5498"/>
                  <a:pt x="8083" y="5525"/>
                  <a:pt x="8095" y="5551"/>
                </a:cubicBezTo>
                <a:lnTo>
                  <a:pt x="10000" y="10016"/>
                </a:lnTo>
                <a:lnTo>
                  <a:pt x="0" y="9943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Freeform 9"/>
          <p:cNvSpPr>
            <a:spLocks/>
          </p:cNvSpPr>
          <p:nvPr/>
        </p:nvSpPr>
        <p:spPr bwMode="auto">
          <a:xfrm>
            <a:off x="6836765" y="2557616"/>
            <a:ext cx="1042235" cy="356048"/>
          </a:xfrm>
          <a:custGeom>
            <a:avLst/>
            <a:gdLst>
              <a:gd name="T0" fmla="*/ 0 w 845"/>
              <a:gd name="T1" fmla="*/ 0 h 149"/>
              <a:gd name="T2" fmla="*/ 845 w 845"/>
              <a:gd name="T3" fmla="*/ 0 h 149"/>
              <a:gd name="T4" fmla="*/ 845 w 845"/>
              <a:gd name="T5" fmla="*/ 149 h 149"/>
              <a:gd name="T6" fmla="*/ 312 w 845"/>
              <a:gd name="T7" fmla="*/ 149 h 149"/>
              <a:gd name="T8" fmla="*/ 0 w 845"/>
              <a:gd name="T9" fmla="*/ 0 h 1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5"/>
              <a:gd name="T16" fmla="*/ 0 h 149"/>
              <a:gd name="T17" fmla="*/ 845 w 845"/>
              <a:gd name="T18" fmla="*/ 149 h 149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8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329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72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6085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6085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" name="Text Box 2421"/>
          <p:cNvSpPr txBox="1">
            <a:spLocks noChangeArrowheads="1"/>
          </p:cNvSpPr>
          <p:nvPr/>
        </p:nvSpPr>
        <p:spPr bwMode="auto">
          <a:xfrm>
            <a:off x="3627360" y="3013468"/>
            <a:ext cx="1452622" cy="34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0817" rIns="0" bIns="40817">
            <a:spAutoFit/>
          </a:bodyPr>
          <a:lstStyle>
            <a:lvl1pPr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407988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8175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2239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631950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0891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5463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0035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4607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600" b="1" dirty="0">
                <a:latin typeface="Times New Roman" pitchFamily="18" charset="0"/>
                <a:ea typeface="幼圆" pitchFamily="49" charset="-122"/>
              </a:rPr>
              <a:t>不透水层</a:t>
            </a:r>
          </a:p>
        </p:txBody>
      </p:sp>
      <p:sp>
        <p:nvSpPr>
          <p:cNvPr id="140" name="Line 2423"/>
          <p:cNvSpPr>
            <a:spLocks noChangeShapeType="1"/>
          </p:cNvSpPr>
          <p:nvPr/>
        </p:nvSpPr>
        <p:spPr bwMode="auto">
          <a:xfrm>
            <a:off x="1324173" y="2911781"/>
            <a:ext cx="65413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" name="Line 2424"/>
          <p:cNvSpPr>
            <a:spLocks noChangeShapeType="1"/>
          </p:cNvSpPr>
          <p:nvPr/>
        </p:nvSpPr>
        <p:spPr bwMode="auto">
          <a:xfrm flipH="1">
            <a:off x="1009650" y="1571014"/>
            <a:ext cx="339973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" name="Line 2425"/>
          <p:cNvSpPr>
            <a:spLocks noChangeShapeType="1"/>
          </p:cNvSpPr>
          <p:nvPr/>
        </p:nvSpPr>
        <p:spPr bwMode="auto">
          <a:xfrm>
            <a:off x="6848300" y="2563407"/>
            <a:ext cx="12415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" name="Group 2426"/>
          <p:cNvGrpSpPr>
            <a:grpSpLocks/>
          </p:cNvGrpSpPr>
          <p:nvPr/>
        </p:nvGrpSpPr>
        <p:grpSpPr bwMode="auto">
          <a:xfrm>
            <a:off x="2044744" y="1435431"/>
            <a:ext cx="373473" cy="291880"/>
            <a:chOff x="355" y="513"/>
            <a:chExt cx="204" cy="175"/>
          </a:xfrm>
        </p:grpSpPr>
        <p:sp>
          <p:nvSpPr>
            <p:cNvPr id="144" name="AutoShape 2427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2428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2429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2430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2431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9" name="Freeform 2432"/>
          <p:cNvSpPr>
            <a:spLocks/>
          </p:cNvSpPr>
          <p:nvPr/>
        </p:nvSpPr>
        <p:spPr bwMode="auto">
          <a:xfrm>
            <a:off x="4430015" y="1580429"/>
            <a:ext cx="1904179" cy="705348"/>
          </a:xfrm>
          <a:custGeom>
            <a:avLst/>
            <a:gdLst>
              <a:gd name="T0" fmla="*/ 0 w 953"/>
              <a:gd name="T1" fmla="*/ 0 h 321"/>
              <a:gd name="T2" fmla="*/ 24 w 953"/>
              <a:gd name="T3" fmla="*/ 17 h 321"/>
              <a:gd name="T4" fmla="*/ 111 w 953"/>
              <a:gd name="T5" fmla="*/ 48 h 321"/>
              <a:gd name="T6" fmla="*/ 224 w 953"/>
              <a:gd name="T7" fmla="*/ 81 h 321"/>
              <a:gd name="T8" fmla="*/ 432 w 953"/>
              <a:gd name="T9" fmla="*/ 139 h 321"/>
              <a:gd name="T10" fmla="*/ 639 w 953"/>
              <a:gd name="T11" fmla="*/ 204 h 321"/>
              <a:gd name="T12" fmla="*/ 819 w 953"/>
              <a:gd name="T13" fmla="*/ 269 h 321"/>
              <a:gd name="T14" fmla="*/ 953 w 953"/>
              <a:gd name="T15" fmla="*/ 321 h 321"/>
              <a:gd name="connsiteX0" fmla="*/ 0 w 9716"/>
              <a:gd name="connsiteY0" fmla="*/ 0 h 9429"/>
              <a:gd name="connsiteX1" fmla="*/ 252 w 9716"/>
              <a:gd name="connsiteY1" fmla="*/ 530 h 9429"/>
              <a:gd name="connsiteX2" fmla="*/ 1165 w 9716"/>
              <a:gd name="connsiteY2" fmla="*/ 1495 h 9429"/>
              <a:gd name="connsiteX3" fmla="*/ 2350 w 9716"/>
              <a:gd name="connsiteY3" fmla="*/ 2523 h 9429"/>
              <a:gd name="connsiteX4" fmla="*/ 4533 w 9716"/>
              <a:gd name="connsiteY4" fmla="*/ 4330 h 9429"/>
              <a:gd name="connsiteX5" fmla="*/ 6705 w 9716"/>
              <a:gd name="connsiteY5" fmla="*/ 6355 h 9429"/>
              <a:gd name="connsiteX6" fmla="*/ 8594 w 9716"/>
              <a:gd name="connsiteY6" fmla="*/ 8380 h 9429"/>
              <a:gd name="connsiteX7" fmla="*/ 9716 w 9716"/>
              <a:gd name="connsiteY7" fmla="*/ 9429 h 9429"/>
              <a:gd name="connsiteX0" fmla="*/ 0 w 10000"/>
              <a:gd name="connsiteY0" fmla="*/ 0 h 10000"/>
              <a:gd name="connsiteX1" fmla="*/ 259 w 10000"/>
              <a:gd name="connsiteY1" fmla="*/ 562 h 10000"/>
              <a:gd name="connsiteX2" fmla="*/ 1199 w 10000"/>
              <a:gd name="connsiteY2" fmla="*/ 1586 h 10000"/>
              <a:gd name="connsiteX3" fmla="*/ 2419 w 10000"/>
              <a:gd name="connsiteY3" fmla="*/ 2676 h 10000"/>
              <a:gd name="connsiteX4" fmla="*/ 4666 w 10000"/>
              <a:gd name="connsiteY4" fmla="*/ 4592 h 10000"/>
              <a:gd name="connsiteX5" fmla="*/ 6901 w 10000"/>
              <a:gd name="connsiteY5" fmla="*/ 6740 h 10000"/>
              <a:gd name="connsiteX6" fmla="*/ 8709 w 10000"/>
              <a:gd name="connsiteY6" fmla="*/ 8612 h 10000"/>
              <a:gd name="connsiteX7" fmla="*/ 10000 w 10000"/>
              <a:gd name="connsiteY7" fmla="*/ 10000 h 10000"/>
              <a:gd name="connsiteX0" fmla="*/ 0 w 9686"/>
              <a:gd name="connsiteY0" fmla="*/ 0 h 9642"/>
              <a:gd name="connsiteX1" fmla="*/ 259 w 9686"/>
              <a:gd name="connsiteY1" fmla="*/ 562 h 9642"/>
              <a:gd name="connsiteX2" fmla="*/ 1199 w 9686"/>
              <a:gd name="connsiteY2" fmla="*/ 1586 h 9642"/>
              <a:gd name="connsiteX3" fmla="*/ 2419 w 9686"/>
              <a:gd name="connsiteY3" fmla="*/ 2676 h 9642"/>
              <a:gd name="connsiteX4" fmla="*/ 4666 w 9686"/>
              <a:gd name="connsiteY4" fmla="*/ 4592 h 9642"/>
              <a:gd name="connsiteX5" fmla="*/ 6901 w 9686"/>
              <a:gd name="connsiteY5" fmla="*/ 6740 h 9642"/>
              <a:gd name="connsiteX6" fmla="*/ 8709 w 9686"/>
              <a:gd name="connsiteY6" fmla="*/ 8612 h 9642"/>
              <a:gd name="connsiteX7" fmla="*/ 9686 w 9686"/>
              <a:gd name="connsiteY7" fmla="*/ 9642 h 9642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712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699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9709"/>
              <a:gd name="connsiteY0" fmla="*/ 0 h 9515"/>
              <a:gd name="connsiteX1" fmla="*/ 267 w 9709"/>
              <a:gd name="connsiteY1" fmla="*/ 583 h 9515"/>
              <a:gd name="connsiteX2" fmla="*/ 1238 w 9709"/>
              <a:gd name="connsiteY2" fmla="*/ 1645 h 9515"/>
              <a:gd name="connsiteX3" fmla="*/ 2497 w 9709"/>
              <a:gd name="connsiteY3" fmla="*/ 2775 h 9515"/>
              <a:gd name="connsiteX4" fmla="*/ 4817 w 9709"/>
              <a:gd name="connsiteY4" fmla="*/ 4762 h 9515"/>
              <a:gd name="connsiteX5" fmla="*/ 6995 w 9709"/>
              <a:gd name="connsiteY5" fmla="*/ 6990 h 9515"/>
              <a:gd name="connsiteX6" fmla="*/ 8516 w 9709"/>
              <a:gd name="connsiteY6" fmla="*/ 8504 h 9515"/>
              <a:gd name="connsiteX7" fmla="*/ 9709 w 9709"/>
              <a:gd name="connsiteY7" fmla="*/ 9515 h 9515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771 w 10000"/>
              <a:gd name="connsiteY6" fmla="*/ 8937 h 10000"/>
              <a:gd name="connsiteX7" fmla="*/ 8516 w 10000"/>
              <a:gd name="connsiteY7" fmla="*/ 8593 h 10000"/>
              <a:gd name="connsiteX8" fmla="*/ 10000 w 10000"/>
              <a:gd name="connsiteY8" fmla="*/ 10000 h 10000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516 w 10000"/>
              <a:gd name="connsiteY6" fmla="*/ 8593 h 10000"/>
              <a:gd name="connsiteX7" fmla="*/ 10000 w 10000"/>
              <a:gd name="connsiteY7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4" y="145"/>
                  <a:pt x="69" y="324"/>
                  <a:pt x="275" y="613"/>
                </a:cubicBezTo>
                <a:cubicBezTo>
                  <a:pt x="483" y="901"/>
                  <a:pt x="895" y="1333"/>
                  <a:pt x="1275" y="1729"/>
                </a:cubicBezTo>
                <a:cubicBezTo>
                  <a:pt x="1653" y="2124"/>
                  <a:pt x="1963" y="2377"/>
                  <a:pt x="2572" y="2916"/>
                </a:cubicBezTo>
                <a:cubicBezTo>
                  <a:pt x="3182" y="3458"/>
                  <a:pt x="4189" y="4267"/>
                  <a:pt x="4961" y="5005"/>
                </a:cubicBezTo>
                <a:cubicBezTo>
                  <a:pt x="5734" y="5744"/>
                  <a:pt x="6613" y="6748"/>
                  <a:pt x="7205" y="7346"/>
                </a:cubicBezTo>
                <a:cubicBezTo>
                  <a:pt x="7797" y="7944"/>
                  <a:pt x="8050" y="8151"/>
                  <a:pt x="8516" y="8593"/>
                </a:cubicBezTo>
                <a:cubicBezTo>
                  <a:pt x="8721" y="8770"/>
                  <a:pt x="9801" y="9825"/>
                  <a:pt x="10000" y="1000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" name="Line 2433"/>
          <p:cNvSpPr>
            <a:spLocks noChangeShapeType="1"/>
          </p:cNvSpPr>
          <p:nvPr/>
        </p:nvSpPr>
        <p:spPr bwMode="auto">
          <a:xfrm>
            <a:off x="1055786" y="1565364"/>
            <a:ext cx="0" cy="13445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" name="Line 2434"/>
          <p:cNvSpPr>
            <a:spLocks noChangeShapeType="1"/>
          </p:cNvSpPr>
          <p:nvPr/>
        </p:nvSpPr>
        <p:spPr bwMode="auto">
          <a:xfrm>
            <a:off x="8031318" y="2570939"/>
            <a:ext cx="0" cy="3276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" name="Text Box 2435"/>
          <p:cNvSpPr txBox="1">
            <a:spLocks noChangeArrowheads="1"/>
          </p:cNvSpPr>
          <p:nvPr/>
        </p:nvSpPr>
        <p:spPr bwMode="auto">
          <a:xfrm>
            <a:off x="991822" y="2000361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h</a:t>
            </a:r>
            <a:r>
              <a:rPr kumimoji="1" lang="en-US" altLang="zh-CN" sz="1600" baseline="-25000">
                <a:latin typeface="Times New Roman" pitchFamily="18" charset="0"/>
              </a:rPr>
              <a:t>1</a:t>
            </a:r>
            <a:endParaRPr kumimoji="1" lang="en-US" altLang="zh-CN" sz="1600">
              <a:latin typeface="Times New Roman" pitchFamily="18" charset="0"/>
            </a:endParaRPr>
          </a:p>
        </p:txBody>
      </p:sp>
      <p:sp>
        <p:nvSpPr>
          <p:cNvPr id="153" name="Oval 2436"/>
          <p:cNvSpPr>
            <a:spLocks noChangeArrowheads="1"/>
          </p:cNvSpPr>
          <p:nvPr/>
        </p:nvSpPr>
        <p:spPr bwMode="auto">
          <a:xfrm>
            <a:off x="6320040" y="2255598"/>
            <a:ext cx="54000" cy="54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" name="Text Box 2437"/>
          <p:cNvSpPr txBox="1">
            <a:spLocks noChangeArrowheads="1"/>
          </p:cNvSpPr>
          <p:nvPr/>
        </p:nvSpPr>
        <p:spPr bwMode="auto">
          <a:xfrm>
            <a:off x="4040036" y="2228215"/>
            <a:ext cx="1504206" cy="41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 b="1" dirty="0">
                <a:latin typeface="Times New Roman" pitchFamily="18" charset="0"/>
              </a:rPr>
              <a:t>渗 流 域</a:t>
            </a:r>
          </a:p>
        </p:txBody>
      </p:sp>
      <p:grpSp>
        <p:nvGrpSpPr>
          <p:cNvPr id="155" name="Group 2438"/>
          <p:cNvGrpSpPr>
            <a:grpSpLocks/>
          </p:cNvGrpSpPr>
          <p:nvPr/>
        </p:nvGrpSpPr>
        <p:grpSpPr bwMode="auto">
          <a:xfrm>
            <a:off x="7217647" y="2431590"/>
            <a:ext cx="373472" cy="291881"/>
            <a:chOff x="355" y="513"/>
            <a:chExt cx="204" cy="175"/>
          </a:xfrm>
        </p:grpSpPr>
        <p:sp>
          <p:nvSpPr>
            <p:cNvPr id="156" name="AutoShape 2439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2440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2441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442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2443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1" name="Text Box 2444"/>
          <p:cNvSpPr txBox="1">
            <a:spLocks noChangeArrowheads="1"/>
          </p:cNvSpPr>
          <p:nvPr/>
        </p:nvSpPr>
        <p:spPr bwMode="auto">
          <a:xfrm>
            <a:off x="8036084" y="2520796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h</a:t>
            </a:r>
            <a:r>
              <a:rPr kumimoji="1" lang="en-US" altLang="zh-CN" sz="1600" baseline="-25000" dirty="0">
                <a:latin typeface="Times New Roman" pitchFamily="18" charset="0"/>
              </a:rPr>
              <a:t>2</a:t>
            </a:r>
            <a:endParaRPr kumimoji="1" lang="en-US" altLang="zh-CN" sz="1600" dirty="0">
              <a:latin typeface="Times New Roman" pitchFamily="18" charset="0"/>
            </a:endParaRPr>
          </a:p>
        </p:txBody>
      </p:sp>
      <p:sp>
        <p:nvSpPr>
          <p:cNvPr id="162" name="Text Box 2446"/>
          <p:cNvSpPr txBox="1">
            <a:spLocks noChangeArrowheads="1"/>
          </p:cNvSpPr>
          <p:nvPr/>
        </p:nvSpPr>
        <p:spPr bwMode="auto">
          <a:xfrm>
            <a:off x="8121255" y="2850208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163" name="Text Box 2447"/>
          <p:cNvSpPr txBox="1">
            <a:spLocks noChangeArrowheads="1"/>
          </p:cNvSpPr>
          <p:nvPr/>
        </p:nvSpPr>
        <p:spPr bwMode="auto">
          <a:xfrm>
            <a:off x="4089557" y="1194394"/>
            <a:ext cx="429184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A</a:t>
            </a:r>
          </a:p>
        </p:txBody>
      </p:sp>
      <p:sp>
        <p:nvSpPr>
          <p:cNvPr id="164" name="Text Box 2448"/>
          <p:cNvSpPr txBox="1">
            <a:spLocks noChangeArrowheads="1"/>
          </p:cNvSpPr>
          <p:nvPr/>
        </p:nvSpPr>
        <p:spPr bwMode="auto">
          <a:xfrm>
            <a:off x="1673335" y="2857171"/>
            <a:ext cx="414741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B</a:t>
            </a:r>
          </a:p>
        </p:txBody>
      </p:sp>
      <p:sp>
        <p:nvSpPr>
          <p:cNvPr id="165" name="Text Box 2449"/>
          <p:cNvSpPr txBox="1">
            <a:spLocks noChangeArrowheads="1"/>
          </p:cNvSpPr>
          <p:nvPr/>
        </p:nvSpPr>
        <p:spPr bwMode="auto">
          <a:xfrm>
            <a:off x="7271295" y="2853404"/>
            <a:ext cx="41473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C</a:t>
            </a:r>
          </a:p>
        </p:txBody>
      </p:sp>
      <p:sp>
        <p:nvSpPr>
          <p:cNvPr id="166" name="Text Box 2450"/>
          <p:cNvSpPr txBox="1">
            <a:spLocks noChangeArrowheads="1"/>
          </p:cNvSpPr>
          <p:nvPr/>
        </p:nvSpPr>
        <p:spPr bwMode="auto">
          <a:xfrm>
            <a:off x="6678419" y="2493550"/>
            <a:ext cx="429184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D</a:t>
            </a:r>
          </a:p>
        </p:txBody>
      </p:sp>
      <p:sp>
        <p:nvSpPr>
          <p:cNvPr id="167" name="Text Box 2452"/>
          <p:cNvSpPr txBox="1">
            <a:spLocks noChangeArrowheads="1"/>
          </p:cNvSpPr>
          <p:nvPr/>
        </p:nvSpPr>
        <p:spPr bwMode="auto">
          <a:xfrm>
            <a:off x="5059614" y="1583980"/>
            <a:ext cx="385852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F</a:t>
            </a:r>
          </a:p>
        </p:txBody>
      </p:sp>
      <p:sp>
        <p:nvSpPr>
          <p:cNvPr id="168" name="Line 2477"/>
          <p:cNvSpPr>
            <a:spLocks noChangeShapeType="1"/>
          </p:cNvSpPr>
          <p:nvPr/>
        </p:nvSpPr>
        <p:spPr bwMode="auto">
          <a:xfrm>
            <a:off x="7872378" y="2913664"/>
            <a:ext cx="2945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" name="Line 2480"/>
          <p:cNvSpPr>
            <a:spLocks noChangeShapeType="1"/>
          </p:cNvSpPr>
          <p:nvPr/>
        </p:nvSpPr>
        <p:spPr bwMode="auto">
          <a:xfrm>
            <a:off x="1456680" y="2913664"/>
            <a:ext cx="1980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" name="Text Box 2505"/>
          <p:cNvSpPr txBox="1">
            <a:spLocks noChangeArrowheads="1"/>
          </p:cNvSpPr>
          <p:nvPr/>
        </p:nvSpPr>
        <p:spPr bwMode="auto">
          <a:xfrm>
            <a:off x="5106147" y="1229147"/>
            <a:ext cx="1007620" cy="34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0817" rIns="0" bIns="40817">
            <a:spAutoFit/>
          </a:bodyPr>
          <a:lstStyle>
            <a:lvl1pPr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407988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8175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2239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631950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0891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5463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0035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4607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600" b="1" dirty="0" smtClean="0">
                <a:latin typeface="Times New Roman" pitchFamily="18" charset="0"/>
                <a:ea typeface="幼圆" pitchFamily="49" charset="-122"/>
              </a:rPr>
              <a:t>浸润面</a:t>
            </a:r>
            <a:endParaRPr lang="zh-CN" altLang="en-US" sz="1600" b="1" dirty="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71" name="Line 2506"/>
          <p:cNvSpPr>
            <a:spLocks noChangeShapeType="1"/>
          </p:cNvSpPr>
          <p:nvPr/>
        </p:nvSpPr>
        <p:spPr bwMode="auto">
          <a:xfrm flipV="1">
            <a:off x="4861920" y="1556777"/>
            <a:ext cx="466325" cy="2071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2" name="Group 2507"/>
          <p:cNvGrpSpPr>
            <a:grpSpLocks/>
          </p:cNvGrpSpPr>
          <p:nvPr/>
        </p:nvGrpSpPr>
        <p:grpSpPr bwMode="auto">
          <a:xfrm>
            <a:off x="2523449" y="2909897"/>
            <a:ext cx="812973" cy="158180"/>
            <a:chOff x="2644" y="2807"/>
            <a:chExt cx="481" cy="83"/>
          </a:xfrm>
        </p:grpSpPr>
        <p:sp>
          <p:nvSpPr>
            <p:cNvPr id="173" name="Freeform 2508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" name="Freeform 2509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" name="Freeform 2510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6" name="Freeform 2511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7" name="Freeform 2512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8" name="Freeform 2513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9" name="Freeform 2514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0" name="Freeform 2515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1" name="Freeform 2516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2" name="Freeform 2517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3" name="Freeform 2518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" name="Freeform 2519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5" name="Group 2520"/>
          <p:cNvGrpSpPr>
            <a:grpSpLocks/>
          </p:cNvGrpSpPr>
          <p:nvPr/>
        </p:nvGrpSpPr>
        <p:grpSpPr bwMode="auto">
          <a:xfrm>
            <a:off x="5424566" y="2908015"/>
            <a:ext cx="812973" cy="158180"/>
            <a:chOff x="2644" y="2807"/>
            <a:chExt cx="481" cy="83"/>
          </a:xfrm>
        </p:grpSpPr>
        <p:sp>
          <p:nvSpPr>
            <p:cNvPr id="186" name="Freeform 2521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7" name="Freeform 2522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8" name="Freeform 2523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9" name="Freeform 2524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0" name="Freeform 2525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1" name="Freeform 2526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2" name="Freeform 2527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3" name="Freeform 2528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" name="Freeform 2529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" name="Freeform 2530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6" name="Freeform 2531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7" name="Freeform 2532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98" name="Text Box 2446"/>
          <p:cNvSpPr txBox="1">
            <a:spLocks noChangeArrowheads="1"/>
          </p:cNvSpPr>
          <p:nvPr/>
        </p:nvSpPr>
        <p:spPr bwMode="auto">
          <a:xfrm>
            <a:off x="808681" y="2856715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199" name="Line 2477"/>
          <p:cNvSpPr>
            <a:spLocks noChangeShapeType="1"/>
          </p:cNvSpPr>
          <p:nvPr/>
        </p:nvSpPr>
        <p:spPr bwMode="auto">
          <a:xfrm>
            <a:off x="946151" y="2915423"/>
            <a:ext cx="4012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5545294" y="1115305"/>
            <a:ext cx="942975" cy="882650"/>
            <a:chOff x="9928521" y="3632200"/>
            <a:chExt cx="942975" cy="882650"/>
          </a:xfrm>
        </p:grpSpPr>
        <p:sp>
          <p:nvSpPr>
            <p:cNvPr id="62496" name="Line 51"/>
            <p:cNvSpPr>
              <a:spLocks noChangeShapeType="1"/>
            </p:cNvSpPr>
            <p:nvPr/>
          </p:nvSpPr>
          <p:spPr bwMode="auto">
            <a:xfrm flipV="1">
              <a:off x="9928521" y="4022725"/>
              <a:ext cx="574675" cy="492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Oval 52"/>
            <p:cNvSpPr>
              <a:spLocks noChangeArrowheads="1"/>
            </p:cNvSpPr>
            <p:nvPr/>
          </p:nvSpPr>
          <p:spPr bwMode="auto">
            <a:xfrm>
              <a:off x="10493671" y="3697287"/>
              <a:ext cx="377825" cy="377825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8" name="Text Box 53"/>
            <p:cNvSpPr txBox="1">
              <a:spLocks noChangeArrowheads="1"/>
            </p:cNvSpPr>
            <p:nvPr/>
          </p:nvSpPr>
          <p:spPr bwMode="auto">
            <a:xfrm>
              <a:off x="10509546" y="363220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dirty="0" smtClean="0">
                  <a:solidFill>
                    <a:srgbClr val="000066"/>
                  </a:solidFill>
                </a:rPr>
                <a:t>3</a:t>
              </a:r>
              <a:endParaRPr kumimoji="1" lang="zh-CN" altLang="en-US" sz="24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284389" y="3821425"/>
            <a:ext cx="6240361" cy="484195"/>
            <a:chOff x="1284389" y="3821425"/>
            <a:chExt cx="6240361" cy="484195"/>
          </a:xfrm>
        </p:grpSpPr>
        <p:sp>
          <p:nvSpPr>
            <p:cNvPr id="213" name="Oval 6"/>
            <p:cNvSpPr>
              <a:spLocks noChangeArrowheads="1"/>
            </p:cNvSpPr>
            <p:nvPr/>
          </p:nvSpPr>
          <p:spPr bwMode="auto">
            <a:xfrm>
              <a:off x="1308202" y="3924151"/>
              <a:ext cx="314325" cy="314325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" name="Text Box 60"/>
            <p:cNvSpPr txBox="1">
              <a:spLocks noChangeArrowheads="1"/>
            </p:cNvSpPr>
            <p:nvPr/>
          </p:nvSpPr>
          <p:spPr bwMode="auto">
            <a:xfrm>
              <a:off x="1284389" y="382142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3</a:t>
              </a:r>
              <a:endParaRPr kumimoji="1" lang="zh-CN" altLang="en-US" sz="2400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215" name="Text Box 63"/>
            <p:cNvSpPr txBox="1">
              <a:spLocks noChangeArrowheads="1"/>
            </p:cNvSpPr>
            <p:nvPr/>
          </p:nvSpPr>
          <p:spPr bwMode="auto">
            <a:xfrm>
              <a:off x="1589088" y="3843955"/>
              <a:ext cx="59356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自由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水面</a:t>
              </a:r>
              <a:r>
                <a:rPr kumimoji="1" lang="zh-CN" altLang="en-US" sz="2400" b="1" baseline="30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             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在边界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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4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上</a:t>
              </a:r>
              <a:r>
                <a:rPr kumimoji="1"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kumimoji="1" lang="en-US" altLang="zh-CN" sz="2400" b="1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z，</a:t>
              </a:r>
              <a:r>
                <a:rPr kumimoji="1" lang="en-US" altLang="zh-CN" sz="2400" b="1" i="1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  <a:r>
                <a:rPr kumimoji="1" lang="en-US" altLang="zh-CN" sz="2400" b="1" baseline="-25000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n</a:t>
              </a: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=0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395788" y="1616076"/>
            <a:ext cx="1875633" cy="699521"/>
            <a:chOff x="4395788" y="1616076"/>
            <a:chExt cx="1875633" cy="699521"/>
          </a:xfrm>
        </p:grpSpPr>
        <p:cxnSp>
          <p:nvCxnSpPr>
            <p:cNvPr id="202" name="直接箭头连接符 201"/>
            <p:cNvCxnSpPr/>
            <p:nvPr/>
          </p:nvCxnSpPr>
          <p:spPr bwMode="auto">
            <a:xfrm>
              <a:off x="6089299" y="2255990"/>
              <a:ext cx="182122" cy="5960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6" name="直接箭头连接符 205"/>
            <p:cNvCxnSpPr/>
            <p:nvPr/>
          </p:nvCxnSpPr>
          <p:spPr bwMode="auto">
            <a:xfrm>
              <a:off x="5828631" y="2164785"/>
              <a:ext cx="182122" cy="5960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7" name="直接箭头连接符 206"/>
            <p:cNvCxnSpPr/>
            <p:nvPr/>
          </p:nvCxnSpPr>
          <p:spPr bwMode="auto">
            <a:xfrm>
              <a:off x="5574663" y="2068874"/>
              <a:ext cx="178952" cy="67846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8" name="直接箭头连接符 207"/>
            <p:cNvCxnSpPr/>
            <p:nvPr/>
          </p:nvCxnSpPr>
          <p:spPr bwMode="auto">
            <a:xfrm>
              <a:off x="5303044" y="1972963"/>
              <a:ext cx="178952" cy="67846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直接箭头连接符 208"/>
            <p:cNvCxnSpPr/>
            <p:nvPr/>
          </p:nvCxnSpPr>
          <p:spPr bwMode="auto">
            <a:xfrm>
              <a:off x="5054600" y="1885950"/>
              <a:ext cx="184380" cy="6206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0" name="直接箭头连接符 209"/>
            <p:cNvCxnSpPr/>
            <p:nvPr/>
          </p:nvCxnSpPr>
          <p:spPr bwMode="auto">
            <a:xfrm>
              <a:off x="4802888" y="1801144"/>
              <a:ext cx="178952" cy="67846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1" name="直接箭头连接符 210"/>
            <p:cNvCxnSpPr/>
            <p:nvPr/>
          </p:nvCxnSpPr>
          <p:spPr bwMode="auto">
            <a:xfrm>
              <a:off x="4570465" y="1720531"/>
              <a:ext cx="178952" cy="67846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" name="任意多边形 11"/>
            <p:cNvSpPr/>
            <p:nvPr/>
          </p:nvSpPr>
          <p:spPr bwMode="auto">
            <a:xfrm>
              <a:off x="4395788" y="1616076"/>
              <a:ext cx="123824" cy="79375"/>
            </a:xfrm>
            <a:custGeom>
              <a:avLst/>
              <a:gdLst>
                <a:gd name="connsiteX0" fmla="*/ 0 w 114300"/>
                <a:gd name="connsiteY0" fmla="*/ 0 h 66675"/>
                <a:gd name="connsiteX1" fmla="*/ 53975 w 114300"/>
                <a:gd name="connsiteY1" fmla="*/ 38100 h 66675"/>
                <a:gd name="connsiteX2" fmla="*/ 114300 w 114300"/>
                <a:gd name="connsiteY2" fmla="*/ 66675 h 66675"/>
                <a:gd name="connsiteX0" fmla="*/ 6528 w 120828"/>
                <a:gd name="connsiteY0" fmla="*/ 7960 h 74635"/>
                <a:gd name="connsiteX1" fmla="*/ 179 w 120828"/>
                <a:gd name="connsiteY1" fmla="*/ 22 h 74635"/>
                <a:gd name="connsiteX2" fmla="*/ 60503 w 120828"/>
                <a:gd name="connsiteY2" fmla="*/ 46060 h 74635"/>
                <a:gd name="connsiteX3" fmla="*/ 120828 w 120828"/>
                <a:gd name="connsiteY3" fmla="*/ 74635 h 74635"/>
                <a:gd name="connsiteX0" fmla="*/ 9661 w 123961"/>
                <a:gd name="connsiteY0" fmla="*/ 12714 h 79389"/>
                <a:gd name="connsiteX1" fmla="*/ 137 w 123961"/>
                <a:gd name="connsiteY1" fmla="*/ 14 h 79389"/>
                <a:gd name="connsiteX2" fmla="*/ 63636 w 123961"/>
                <a:gd name="connsiteY2" fmla="*/ 50814 h 79389"/>
                <a:gd name="connsiteX3" fmla="*/ 123961 w 123961"/>
                <a:gd name="connsiteY3" fmla="*/ 79389 h 79389"/>
                <a:gd name="connsiteX0" fmla="*/ 0 w 123824"/>
                <a:gd name="connsiteY0" fmla="*/ 0 h 79375"/>
                <a:gd name="connsiteX1" fmla="*/ 63499 w 123824"/>
                <a:gd name="connsiteY1" fmla="*/ 50800 h 79375"/>
                <a:gd name="connsiteX2" fmla="*/ 123824 w 123824"/>
                <a:gd name="connsiteY2" fmla="*/ 79375 h 7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3824" h="79375">
                  <a:moveTo>
                    <a:pt x="0" y="0"/>
                  </a:moveTo>
                  <a:lnTo>
                    <a:pt x="63499" y="50800"/>
                  </a:lnTo>
                  <a:lnTo>
                    <a:pt x="123824" y="79375"/>
                  </a:ln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16" name="Freeform 2432"/>
          <p:cNvSpPr>
            <a:spLocks/>
          </p:cNvSpPr>
          <p:nvPr/>
        </p:nvSpPr>
        <p:spPr bwMode="auto">
          <a:xfrm>
            <a:off x="4410215" y="1587279"/>
            <a:ext cx="1904179" cy="705348"/>
          </a:xfrm>
          <a:custGeom>
            <a:avLst/>
            <a:gdLst>
              <a:gd name="T0" fmla="*/ 0 w 953"/>
              <a:gd name="T1" fmla="*/ 0 h 321"/>
              <a:gd name="T2" fmla="*/ 24 w 953"/>
              <a:gd name="T3" fmla="*/ 17 h 321"/>
              <a:gd name="T4" fmla="*/ 111 w 953"/>
              <a:gd name="T5" fmla="*/ 48 h 321"/>
              <a:gd name="T6" fmla="*/ 224 w 953"/>
              <a:gd name="T7" fmla="*/ 81 h 321"/>
              <a:gd name="T8" fmla="*/ 432 w 953"/>
              <a:gd name="T9" fmla="*/ 139 h 321"/>
              <a:gd name="T10" fmla="*/ 639 w 953"/>
              <a:gd name="T11" fmla="*/ 204 h 321"/>
              <a:gd name="T12" fmla="*/ 819 w 953"/>
              <a:gd name="T13" fmla="*/ 269 h 321"/>
              <a:gd name="T14" fmla="*/ 953 w 953"/>
              <a:gd name="T15" fmla="*/ 321 h 321"/>
              <a:gd name="connsiteX0" fmla="*/ 0 w 9716"/>
              <a:gd name="connsiteY0" fmla="*/ 0 h 9429"/>
              <a:gd name="connsiteX1" fmla="*/ 252 w 9716"/>
              <a:gd name="connsiteY1" fmla="*/ 530 h 9429"/>
              <a:gd name="connsiteX2" fmla="*/ 1165 w 9716"/>
              <a:gd name="connsiteY2" fmla="*/ 1495 h 9429"/>
              <a:gd name="connsiteX3" fmla="*/ 2350 w 9716"/>
              <a:gd name="connsiteY3" fmla="*/ 2523 h 9429"/>
              <a:gd name="connsiteX4" fmla="*/ 4533 w 9716"/>
              <a:gd name="connsiteY4" fmla="*/ 4330 h 9429"/>
              <a:gd name="connsiteX5" fmla="*/ 6705 w 9716"/>
              <a:gd name="connsiteY5" fmla="*/ 6355 h 9429"/>
              <a:gd name="connsiteX6" fmla="*/ 8594 w 9716"/>
              <a:gd name="connsiteY6" fmla="*/ 8380 h 9429"/>
              <a:gd name="connsiteX7" fmla="*/ 9716 w 9716"/>
              <a:gd name="connsiteY7" fmla="*/ 9429 h 9429"/>
              <a:gd name="connsiteX0" fmla="*/ 0 w 10000"/>
              <a:gd name="connsiteY0" fmla="*/ 0 h 10000"/>
              <a:gd name="connsiteX1" fmla="*/ 259 w 10000"/>
              <a:gd name="connsiteY1" fmla="*/ 562 h 10000"/>
              <a:gd name="connsiteX2" fmla="*/ 1199 w 10000"/>
              <a:gd name="connsiteY2" fmla="*/ 1586 h 10000"/>
              <a:gd name="connsiteX3" fmla="*/ 2419 w 10000"/>
              <a:gd name="connsiteY3" fmla="*/ 2676 h 10000"/>
              <a:gd name="connsiteX4" fmla="*/ 4666 w 10000"/>
              <a:gd name="connsiteY4" fmla="*/ 4592 h 10000"/>
              <a:gd name="connsiteX5" fmla="*/ 6901 w 10000"/>
              <a:gd name="connsiteY5" fmla="*/ 6740 h 10000"/>
              <a:gd name="connsiteX6" fmla="*/ 8709 w 10000"/>
              <a:gd name="connsiteY6" fmla="*/ 8612 h 10000"/>
              <a:gd name="connsiteX7" fmla="*/ 10000 w 10000"/>
              <a:gd name="connsiteY7" fmla="*/ 10000 h 10000"/>
              <a:gd name="connsiteX0" fmla="*/ 0 w 9686"/>
              <a:gd name="connsiteY0" fmla="*/ 0 h 9642"/>
              <a:gd name="connsiteX1" fmla="*/ 259 w 9686"/>
              <a:gd name="connsiteY1" fmla="*/ 562 h 9642"/>
              <a:gd name="connsiteX2" fmla="*/ 1199 w 9686"/>
              <a:gd name="connsiteY2" fmla="*/ 1586 h 9642"/>
              <a:gd name="connsiteX3" fmla="*/ 2419 w 9686"/>
              <a:gd name="connsiteY3" fmla="*/ 2676 h 9642"/>
              <a:gd name="connsiteX4" fmla="*/ 4666 w 9686"/>
              <a:gd name="connsiteY4" fmla="*/ 4592 h 9642"/>
              <a:gd name="connsiteX5" fmla="*/ 6901 w 9686"/>
              <a:gd name="connsiteY5" fmla="*/ 6740 h 9642"/>
              <a:gd name="connsiteX6" fmla="*/ 8709 w 9686"/>
              <a:gd name="connsiteY6" fmla="*/ 8612 h 9642"/>
              <a:gd name="connsiteX7" fmla="*/ 9686 w 9686"/>
              <a:gd name="connsiteY7" fmla="*/ 9642 h 9642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712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699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9709"/>
              <a:gd name="connsiteY0" fmla="*/ 0 h 9515"/>
              <a:gd name="connsiteX1" fmla="*/ 267 w 9709"/>
              <a:gd name="connsiteY1" fmla="*/ 583 h 9515"/>
              <a:gd name="connsiteX2" fmla="*/ 1238 w 9709"/>
              <a:gd name="connsiteY2" fmla="*/ 1645 h 9515"/>
              <a:gd name="connsiteX3" fmla="*/ 2497 w 9709"/>
              <a:gd name="connsiteY3" fmla="*/ 2775 h 9515"/>
              <a:gd name="connsiteX4" fmla="*/ 4817 w 9709"/>
              <a:gd name="connsiteY4" fmla="*/ 4762 h 9515"/>
              <a:gd name="connsiteX5" fmla="*/ 6995 w 9709"/>
              <a:gd name="connsiteY5" fmla="*/ 6990 h 9515"/>
              <a:gd name="connsiteX6" fmla="*/ 8516 w 9709"/>
              <a:gd name="connsiteY6" fmla="*/ 8504 h 9515"/>
              <a:gd name="connsiteX7" fmla="*/ 9709 w 9709"/>
              <a:gd name="connsiteY7" fmla="*/ 9515 h 9515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771 w 10000"/>
              <a:gd name="connsiteY6" fmla="*/ 8937 h 10000"/>
              <a:gd name="connsiteX7" fmla="*/ 8516 w 10000"/>
              <a:gd name="connsiteY7" fmla="*/ 8593 h 10000"/>
              <a:gd name="connsiteX8" fmla="*/ 10000 w 10000"/>
              <a:gd name="connsiteY8" fmla="*/ 10000 h 10000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516 w 10000"/>
              <a:gd name="connsiteY6" fmla="*/ 8593 h 10000"/>
              <a:gd name="connsiteX7" fmla="*/ 10000 w 10000"/>
              <a:gd name="connsiteY7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4" y="145"/>
                  <a:pt x="69" y="324"/>
                  <a:pt x="275" y="613"/>
                </a:cubicBezTo>
                <a:cubicBezTo>
                  <a:pt x="483" y="901"/>
                  <a:pt x="895" y="1333"/>
                  <a:pt x="1275" y="1729"/>
                </a:cubicBezTo>
                <a:cubicBezTo>
                  <a:pt x="1653" y="2124"/>
                  <a:pt x="1963" y="2377"/>
                  <a:pt x="2572" y="2916"/>
                </a:cubicBezTo>
                <a:cubicBezTo>
                  <a:pt x="3182" y="3458"/>
                  <a:pt x="4189" y="4267"/>
                  <a:pt x="4961" y="5005"/>
                </a:cubicBezTo>
                <a:cubicBezTo>
                  <a:pt x="5734" y="5744"/>
                  <a:pt x="6613" y="6748"/>
                  <a:pt x="7205" y="7346"/>
                </a:cubicBezTo>
                <a:cubicBezTo>
                  <a:pt x="7797" y="7944"/>
                  <a:pt x="8050" y="8151"/>
                  <a:pt x="8516" y="8593"/>
                </a:cubicBezTo>
                <a:cubicBezTo>
                  <a:pt x="8721" y="8770"/>
                  <a:pt x="9801" y="9825"/>
                  <a:pt x="10000" y="1000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Text Box 7"/>
          <p:cNvSpPr txBox="1">
            <a:spLocks noChangeArrowheads="1"/>
          </p:cNvSpPr>
          <p:nvPr/>
        </p:nvSpPr>
        <p:spPr bwMode="auto">
          <a:xfrm>
            <a:off x="-1" y="0"/>
            <a:ext cx="4095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边界条件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054663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3" name="Freeform 10"/>
          <p:cNvSpPr>
            <a:spLocks/>
          </p:cNvSpPr>
          <p:nvPr/>
        </p:nvSpPr>
        <p:spPr bwMode="auto">
          <a:xfrm>
            <a:off x="1285086" y="1571786"/>
            <a:ext cx="3124570" cy="1340506"/>
          </a:xfrm>
          <a:custGeom>
            <a:avLst/>
            <a:gdLst>
              <a:gd name="T0" fmla="*/ 10 w 1848"/>
              <a:gd name="T1" fmla="*/ 0 h 682"/>
              <a:gd name="T2" fmla="*/ 1848 w 1848"/>
              <a:gd name="T3" fmla="*/ 0 h 682"/>
              <a:gd name="T4" fmla="*/ 341 w 1848"/>
              <a:gd name="T5" fmla="*/ 682 h 682"/>
              <a:gd name="T6" fmla="*/ 0 w 1848"/>
              <a:gd name="T7" fmla="*/ 677 h 682"/>
              <a:gd name="T8" fmla="*/ 10 w 1848"/>
              <a:gd name="T9" fmla="*/ 0 h 6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48"/>
              <a:gd name="T16" fmla="*/ 0 h 682"/>
              <a:gd name="T17" fmla="*/ 1848 w 1848"/>
              <a:gd name="T18" fmla="*/ 682 h 682"/>
              <a:gd name="connsiteX0" fmla="*/ 54 w 10156"/>
              <a:gd name="connsiteY0" fmla="*/ 49 h 10049"/>
              <a:gd name="connsiteX1" fmla="*/ 10156 w 10156"/>
              <a:gd name="connsiteY1" fmla="*/ 0 h 10049"/>
              <a:gd name="connsiteX2" fmla="*/ 1845 w 10156"/>
              <a:gd name="connsiteY2" fmla="*/ 10049 h 10049"/>
              <a:gd name="connsiteX3" fmla="*/ 0 w 10156"/>
              <a:gd name="connsiteY3" fmla="*/ 9976 h 10049"/>
              <a:gd name="connsiteX4" fmla="*/ 54 w 10156"/>
              <a:gd name="connsiteY4" fmla="*/ 49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6" h="10049">
                <a:moveTo>
                  <a:pt x="54" y="49"/>
                </a:moveTo>
                <a:lnTo>
                  <a:pt x="10156" y="0"/>
                </a:lnTo>
                <a:lnTo>
                  <a:pt x="1845" y="10049"/>
                </a:lnTo>
                <a:lnTo>
                  <a:pt x="0" y="9976"/>
                </a:lnTo>
                <a:lnTo>
                  <a:pt x="54" y="49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2422"/>
          <p:cNvSpPr>
            <a:spLocks/>
          </p:cNvSpPr>
          <p:nvPr/>
        </p:nvSpPr>
        <p:spPr bwMode="auto">
          <a:xfrm>
            <a:off x="1877610" y="1482508"/>
            <a:ext cx="5581452" cy="1429273"/>
          </a:xfrm>
          <a:custGeom>
            <a:avLst/>
            <a:gdLst>
              <a:gd name="T0" fmla="*/ 0 w 2975"/>
              <a:gd name="T1" fmla="*/ 756 h 759"/>
              <a:gd name="T2" fmla="*/ 1444 w 2975"/>
              <a:gd name="T3" fmla="*/ 0 h 759"/>
              <a:gd name="T4" fmla="*/ 1608 w 2975"/>
              <a:gd name="T5" fmla="*/ 0 h 759"/>
              <a:gd name="T6" fmla="*/ 2975 w 2975"/>
              <a:gd name="T7" fmla="*/ 759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75" h="759">
                <a:moveTo>
                  <a:pt x="0" y="756"/>
                </a:moveTo>
                <a:lnTo>
                  <a:pt x="1444" y="0"/>
                </a:lnTo>
                <a:lnTo>
                  <a:pt x="1608" y="0"/>
                </a:lnTo>
                <a:lnTo>
                  <a:pt x="2975" y="759"/>
                </a:lnTo>
              </a:path>
            </a:pathLst>
          </a:custGeom>
          <a:solidFill>
            <a:schemeClr val="accent2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6" name="Text Box 2451"/>
          <p:cNvSpPr txBox="1">
            <a:spLocks noChangeArrowheads="1"/>
          </p:cNvSpPr>
          <p:nvPr/>
        </p:nvSpPr>
        <p:spPr bwMode="auto">
          <a:xfrm>
            <a:off x="6243079" y="1971478"/>
            <a:ext cx="400296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E</a:t>
            </a:r>
          </a:p>
        </p:txBody>
      </p:sp>
      <p:sp>
        <p:nvSpPr>
          <p:cNvPr id="62471" name="Freeform 8"/>
          <p:cNvSpPr>
            <a:spLocks/>
          </p:cNvSpPr>
          <p:nvPr/>
        </p:nvSpPr>
        <p:spPr bwMode="auto">
          <a:xfrm>
            <a:off x="1912293" y="1573259"/>
            <a:ext cx="5525791" cy="1335635"/>
          </a:xfrm>
          <a:custGeom>
            <a:avLst/>
            <a:gdLst>
              <a:gd name="T0" fmla="*/ 0 w 3288"/>
              <a:gd name="T1" fmla="*/ 677 h 682"/>
              <a:gd name="T2" fmla="*/ 1517 w 3288"/>
              <a:gd name="T3" fmla="*/ 0 h 682"/>
              <a:gd name="T4" fmla="*/ 1551 w 3288"/>
              <a:gd name="T5" fmla="*/ 29 h 682"/>
              <a:gd name="T6" fmla="*/ 1719 w 3288"/>
              <a:gd name="T7" fmla="*/ 92 h 682"/>
              <a:gd name="T8" fmla="*/ 2012 w 3288"/>
              <a:gd name="T9" fmla="*/ 178 h 682"/>
              <a:gd name="T10" fmla="*/ 2266 w 3288"/>
              <a:gd name="T11" fmla="*/ 245 h 682"/>
              <a:gd name="T12" fmla="*/ 2588 w 3288"/>
              <a:gd name="T13" fmla="*/ 360 h 682"/>
              <a:gd name="T14" fmla="*/ 2751 w 3288"/>
              <a:gd name="T15" fmla="*/ 423 h 682"/>
              <a:gd name="T16" fmla="*/ 3288 w 3288"/>
              <a:gd name="T17" fmla="*/ 682 h 682"/>
              <a:gd name="T18" fmla="*/ 0 w 3288"/>
              <a:gd name="T19" fmla="*/ 677 h 68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288"/>
              <a:gd name="T31" fmla="*/ 0 h 682"/>
              <a:gd name="T32" fmla="*/ 3288 w 3288"/>
              <a:gd name="T33" fmla="*/ 682 h 682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717 w 10000"/>
              <a:gd name="connsiteY2" fmla="*/ 441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19 w 10000"/>
              <a:gd name="connsiteY4" fmla="*/ 2626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367 w 10000"/>
              <a:gd name="connsiteY7" fmla="*/ 6218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871 w 10000"/>
              <a:gd name="connsiteY6" fmla="*/ 5295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892 w 10000"/>
              <a:gd name="connsiteY5" fmla="*/ 3608 h 10016"/>
              <a:gd name="connsiteX6" fmla="*/ 7476 w 10000"/>
              <a:gd name="connsiteY6" fmla="*/ 4612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926 w 10000"/>
              <a:gd name="connsiteY5" fmla="*/ 3735 h 10016"/>
              <a:gd name="connsiteX6" fmla="*/ 7476 w 10000"/>
              <a:gd name="connsiteY6" fmla="*/ 4612 h 10016"/>
              <a:gd name="connsiteX7" fmla="*/ 8095 w 10000"/>
              <a:gd name="connsiteY7" fmla="*/ 5551 h 10016"/>
              <a:gd name="connsiteX8" fmla="*/ 10000 w 10000"/>
              <a:gd name="connsiteY8" fmla="*/ 10016 h 10016"/>
              <a:gd name="connsiteX9" fmla="*/ 0 w 10000"/>
              <a:gd name="connsiteY9" fmla="*/ 9943 h 10016"/>
              <a:gd name="connsiteX0" fmla="*/ 0 w 10000"/>
              <a:gd name="connsiteY0" fmla="*/ 9943 h 10016"/>
              <a:gd name="connsiteX1" fmla="*/ 4534 w 10000"/>
              <a:gd name="connsiteY1" fmla="*/ 0 h 10016"/>
              <a:gd name="connsiteX2" fmla="*/ 4648 w 10000"/>
              <a:gd name="connsiteY2" fmla="*/ 409 h 10016"/>
              <a:gd name="connsiteX3" fmla="*/ 5228 w 10000"/>
              <a:gd name="connsiteY3" fmla="*/ 1365 h 10016"/>
              <a:gd name="connsiteX4" fmla="*/ 6138 w 10000"/>
              <a:gd name="connsiteY4" fmla="*/ 2578 h 10016"/>
              <a:gd name="connsiteX5" fmla="*/ 6926 w 10000"/>
              <a:gd name="connsiteY5" fmla="*/ 3735 h 10016"/>
              <a:gd name="connsiteX6" fmla="*/ 7476 w 10000"/>
              <a:gd name="connsiteY6" fmla="*/ 4612 h 10016"/>
              <a:gd name="connsiteX7" fmla="*/ 8058 w 10000"/>
              <a:gd name="connsiteY7" fmla="*/ 5472 h 10016"/>
              <a:gd name="connsiteX8" fmla="*/ 8095 w 10000"/>
              <a:gd name="connsiteY8" fmla="*/ 5551 h 10016"/>
              <a:gd name="connsiteX9" fmla="*/ 10000 w 10000"/>
              <a:gd name="connsiteY9" fmla="*/ 10016 h 10016"/>
              <a:gd name="connsiteX10" fmla="*/ 0 w 10000"/>
              <a:gd name="connsiteY10" fmla="*/ 9943 h 1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16">
                <a:moveTo>
                  <a:pt x="0" y="9943"/>
                </a:moveTo>
                <a:lnTo>
                  <a:pt x="4534" y="0"/>
                </a:lnTo>
                <a:lnTo>
                  <a:pt x="4648" y="409"/>
                </a:lnTo>
                <a:lnTo>
                  <a:pt x="5228" y="1365"/>
                </a:lnTo>
                <a:lnTo>
                  <a:pt x="6138" y="2578"/>
                </a:lnTo>
                <a:lnTo>
                  <a:pt x="6926" y="3735"/>
                </a:lnTo>
                <a:lnTo>
                  <a:pt x="7476" y="4612"/>
                </a:lnTo>
                <a:cubicBezTo>
                  <a:pt x="7676" y="4914"/>
                  <a:pt x="7858" y="5170"/>
                  <a:pt x="8058" y="5472"/>
                </a:cubicBezTo>
                <a:cubicBezTo>
                  <a:pt x="8070" y="5498"/>
                  <a:pt x="8083" y="5525"/>
                  <a:pt x="8095" y="5551"/>
                </a:cubicBezTo>
                <a:lnTo>
                  <a:pt x="10000" y="10016"/>
                </a:lnTo>
                <a:lnTo>
                  <a:pt x="0" y="9943"/>
                </a:lnTo>
                <a:close/>
              </a:path>
            </a:pathLst>
          </a:cu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2" name="Freeform 9"/>
          <p:cNvSpPr>
            <a:spLocks/>
          </p:cNvSpPr>
          <p:nvPr/>
        </p:nvSpPr>
        <p:spPr bwMode="auto">
          <a:xfrm>
            <a:off x="6836765" y="2557616"/>
            <a:ext cx="1042235" cy="356048"/>
          </a:xfrm>
          <a:custGeom>
            <a:avLst/>
            <a:gdLst>
              <a:gd name="T0" fmla="*/ 0 w 845"/>
              <a:gd name="T1" fmla="*/ 0 h 149"/>
              <a:gd name="T2" fmla="*/ 845 w 845"/>
              <a:gd name="T3" fmla="*/ 0 h 149"/>
              <a:gd name="T4" fmla="*/ 845 w 845"/>
              <a:gd name="T5" fmla="*/ 149 h 149"/>
              <a:gd name="T6" fmla="*/ 312 w 845"/>
              <a:gd name="T7" fmla="*/ 149 h 149"/>
              <a:gd name="T8" fmla="*/ 0 w 845"/>
              <a:gd name="T9" fmla="*/ 0 h 1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5"/>
              <a:gd name="T16" fmla="*/ 0 h 149"/>
              <a:gd name="T17" fmla="*/ 845 w 845"/>
              <a:gd name="T18" fmla="*/ 149 h 149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8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329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728 w 10000"/>
              <a:gd name="connsiteY3" fmla="*/ 993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6085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6085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6898" name="Line 50"/>
          <p:cNvSpPr>
            <a:spLocks noChangeShapeType="1"/>
          </p:cNvSpPr>
          <p:nvPr/>
        </p:nvSpPr>
        <p:spPr bwMode="auto">
          <a:xfrm>
            <a:off x="6409267" y="2336801"/>
            <a:ext cx="407400" cy="232130"/>
          </a:xfrm>
          <a:prstGeom prst="line">
            <a:avLst/>
          </a:prstGeom>
          <a:noFill/>
          <a:ln w="28575">
            <a:solidFill>
              <a:schemeClr val="fol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8" name="Text Box 65"/>
          <p:cNvSpPr txBox="1">
            <a:spLocks noChangeArrowheads="1"/>
          </p:cNvSpPr>
          <p:nvPr/>
        </p:nvSpPr>
        <p:spPr bwMode="auto">
          <a:xfrm>
            <a:off x="2933700" y="5694363"/>
            <a:ext cx="3927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渗流的边界条件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7" name="Text Box 2421"/>
          <p:cNvSpPr txBox="1">
            <a:spLocks noChangeArrowheads="1"/>
          </p:cNvSpPr>
          <p:nvPr/>
        </p:nvSpPr>
        <p:spPr bwMode="auto">
          <a:xfrm>
            <a:off x="3627360" y="3013468"/>
            <a:ext cx="1452622" cy="34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0817" rIns="0" bIns="40817">
            <a:spAutoFit/>
          </a:bodyPr>
          <a:lstStyle>
            <a:lvl1pPr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407988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8175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2239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631950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0891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5463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0035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4607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600" b="1" dirty="0">
                <a:latin typeface="Times New Roman" pitchFamily="18" charset="0"/>
                <a:ea typeface="幼圆" pitchFamily="49" charset="-122"/>
              </a:rPr>
              <a:t>不透水层</a:t>
            </a:r>
          </a:p>
        </p:txBody>
      </p:sp>
      <p:sp>
        <p:nvSpPr>
          <p:cNvPr id="69" name="Line 2423"/>
          <p:cNvSpPr>
            <a:spLocks noChangeShapeType="1"/>
          </p:cNvSpPr>
          <p:nvPr/>
        </p:nvSpPr>
        <p:spPr bwMode="auto">
          <a:xfrm>
            <a:off x="1324173" y="2911781"/>
            <a:ext cx="65413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2424"/>
          <p:cNvSpPr>
            <a:spLocks noChangeShapeType="1"/>
          </p:cNvSpPr>
          <p:nvPr/>
        </p:nvSpPr>
        <p:spPr bwMode="auto">
          <a:xfrm flipH="1">
            <a:off x="1009650" y="1571014"/>
            <a:ext cx="339973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2425"/>
          <p:cNvSpPr>
            <a:spLocks noChangeShapeType="1"/>
          </p:cNvSpPr>
          <p:nvPr/>
        </p:nvSpPr>
        <p:spPr bwMode="auto">
          <a:xfrm>
            <a:off x="6848300" y="2563407"/>
            <a:ext cx="12415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2" name="Group 2426"/>
          <p:cNvGrpSpPr>
            <a:grpSpLocks/>
          </p:cNvGrpSpPr>
          <p:nvPr/>
        </p:nvGrpSpPr>
        <p:grpSpPr bwMode="auto">
          <a:xfrm>
            <a:off x="2044744" y="1435431"/>
            <a:ext cx="373473" cy="291880"/>
            <a:chOff x="355" y="513"/>
            <a:chExt cx="204" cy="175"/>
          </a:xfrm>
        </p:grpSpPr>
        <p:sp>
          <p:nvSpPr>
            <p:cNvPr id="73" name="AutoShape 2427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2428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429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2430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2431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" name="Freeform 2432"/>
          <p:cNvSpPr>
            <a:spLocks/>
          </p:cNvSpPr>
          <p:nvPr/>
        </p:nvSpPr>
        <p:spPr bwMode="auto">
          <a:xfrm>
            <a:off x="4430015" y="1580429"/>
            <a:ext cx="1904179" cy="705348"/>
          </a:xfrm>
          <a:custGeom>
            <a:avLst/>
            <a:gdLst>
              <a:gd name="T0" fmla="*/ 0 w 953"/>
              <a:gd name="T1" fmla="*/ 0 h 321"/>
              <a:gd name="T2" fmla="*/ 24 w 953"/>
              <a:gd name="T3" fmla="*/ 17 h 321"/>
              <a:gd name="T4" fmla="*/ 111 w 953"/>
              <a:gd name="T5" fmla="*/ 48 h 321"/>
              <a:gd name="T6" fmla="*/ 224 w 953"/>
              <a:gd name="T7" fmla="*/ 81 h 321"/>
              <a:gd name="T8" fmla="*/ 432 w 953"/>
              <a:gd name="T9" fmla="*/ 139 h 321"/>
              <a:gd name="T10" fmla="*/ 639 w 953"/>
              <a:gd name="T11" fmla="*/ 204 h 321"/>
              <a:gd name="T12" fmla="*/ 819 w 953"/>
              <a:gd name="T13" fmla="*/ 269 h 321"/>
              <a:gd name="T14" fmla="*/ 953 w 953"/>
              <a:gd name="T15" fmla="*/ 321 h 321"/>
              <a:gd name="connsiteX0" fmla="*/ 0 w 9716"/>
              <a:gd name="connsiteY0" fmla="*/ 0 h 9429"/>
              <a:gd name="connsiteX1" fmla="*/ 252 w 9716"/>
              <a:gd name="connsiteY1" fmla="*/ 530 h 9429"/>
              <a:gd name="connsiteX2" fmla="*/ 1165 w 9716"/>
              <a:gd name="connsiteY2" fmla="*/ 1495 h 9429"/>
              <a:gd name="connsiteX3" fmla="*/ 2350 w 9716"/>
              <a:gd name="connsiteY3" fmla="*/ 2523 h 9429"/>
              <a:gd name="connsiteX4" fmla="*/ 4533 w 9716"/>
              <a:gd name="connsiteY4" fmla="*/ 4330 h 9429"/>
              <a:gd name="connsiteX5" fmla="*/ 6705 w 9716"/>
              <a:gd name="connsiteY5" fmla="*/ 6355 h 9429"/>
              <a:gd name="connsiteX6" fmla="*/ 8594 w 9716"/>
              <a:gd name="connsiteY6" fmla="*/ 8380 h 9429"/>
              <a:gd name="connsiteX7" fmla="*/ 9716 w 9716"/>
              <a:gd name="connsiteY7" fmla="*/ 9429 h 9429"/>
              <a:gd name="connsiteX0" fmla="*/ 0 w 10000"/>
              <a:gd name="connsiteY0" fmla="*/ 0 h 10000"/>
              <a:gd name="connsiteX1" fmla="*/ 259 w 10000"/>
              <a:gd name="connsiteY1" fmla="*/ 562 h 10000"/>
              <a:gd name="connsiteX2" fmla="*/ 1199 w 10000"/>
              <a:gd name="connsiteY2" fmla="*/ 1586 h 10000"/>
              <a:gd name="connsiteX3" fmla="*/ 2419 w 10000"/>
              <a:gd name="connsiteY3" fmla="*/ 2676 h 10000"/>
              <a:gd name="connsiteX4" fmla="*/ 4666 w 10000"/>
              <a:gd name="connsiteY4" fmla="*/ 4592 h 10000"/>
              <a:gd name="connsiteX5" fmla="*/ 6901 w 10000"/>
              <a:gd name="connsiteY5" fmla="*/ 6740 h 10000"/>
              <a:gd name="connsiteX6" fmla="*/ 8709 w 10000"/>
              <a:gd name="connsiteY6" fmla="*/ 8612 h 10000"/>
              <a:gd name="connsiteX7" fmla="*/ 10000 w 10000"/>
              <a:gd name="connsiteY7" fmla="*/ 10000 h 10000"/>
              <a:gd name="connsiteX0" fmla="*/ 0 w 9686"/>
              <a:gd name="connsiteY0" fmla="*/ 0 h 9642"/>
              <a:gd name="connsiteX1" fmla="*/ 259 w 9686"/>
              <a:gd name="connsiteY1" fmla="*/ 562 h 9642"/>
              <a:gd name="connsiteX2" fmla="*/ 1199 w 9686"/>
              <a:gd name="connsiteY2" fmla="*/ 1586 h 9642"/>
              <a:gd name="connsiteX3" fmla="*/ 2419 w 9686"/>
              <a:gd name="connsiteY3" fmla="*/ 2676 h 9642"/>
              <a:gd name="connsiteX4" fmla="*/ 4666 w 9686"/>
              <a:gd name="connsiteY4" fmla="*/ 4592 h 9642"/>
              <a:gd name="connsiteX5" fmla="*/ 6901 w 9686"/>
              <a:gd name="connsiteY5" fmla="*/ 6740 h 9642"/>
              <a:gd name="connsiteX6" fmla="*/ 8709 w 9686"/>
              <a:gd name="connsiteY6" fmla="*/ 8612 h 9642"/>
              <a:gd name="connsiteX7" fmla="*/ 9686 w 9686"/>
              <a:gd name="connsiteY7" fmla="*/ 9642 h 9642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712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267 w 10000"/>
              <a:gd name="connsiteY1" fmla="*/ 583 h 10000"/>
              <a:gd name="connsiteX2" fmla="*/ 1238 w 10000"/>
              <a:gd name="connsiteY2" fmla="*/ 1645 h 10000"/>
              <a:gd name="connsiteX3" fmla="*/ 2497 w 10000"/>
              <a:gd name="connsiteY3" fmla="*/ 2775 h 10000"/>
              <a:gd name="connsiteX4" fmla="*/ 4817 w 10000"/>
              <a:gd name="connsiteY4" fmla="*/ 4762 h 10000"/>
              <a:gd name="connsiteX5" fmla="*/ 6995 w 10000"/>
              <a:gd name="connsiteY5" fmla="*/ 6990 h 10000"/>
              <a:gd name="connsiteX6" fmla="*/ 8516 w 10000"/>
              <a:gd name="connsiteY6" fmla="*/ 8504 h 10000"/>
              <a:gd name="connsiteX7" fmla="*/ 10000 w 10000"/>
              <a:gd name="connsiteY7" fmla="*/ 10000 h 10000"/>
              <a:gd name="connsiteX0" fmla="*/ 0 w 9709"/>
              <a:gd name="connsiteY0" fmla="*/ 0 h 9515"/>
              <a:gd name="connsiteX1" fmla="*/ 267 w 9709"/>
              <a:gd name="connsiteY1" fmla="*/ 583 h 9515"/>
              <a:gd name="connsiteX2" fmla="*/ 1238 w 9709"/>
              <a:gd name="connsiteY2" fmla="*/ 1645 h 9515"/>
              <a:gd name="connsiteX3" fmla="*/ 2497 w 9709"/>
              <a:gd name="connsiteY3" fmla="*/ 2775 h 9515"/>
              <a:gd name="connsiteX4" fmla="*/ 4817 w 9709"/>
              <a:gd name="connsiteY4" fmla="*/ 4762 h 9515"/>
              <a:gd name="connsiteX5" fmla="*/ 6995 w 9709"/>
              <a:gd name="connsiteY5" fmla="*/ 6990 h 9515"/>
              <a:gd name="connsiteX6" fmla="*/ 8516 w 9709"/>
              <a:gd name="connsiteY6" fmla="*/ 8504 h 9515"/>
              <a:gd name="connsiteX7" fmla="*/ 9709 w 9709"/>
              <a:gd name="connsiteY7" fmla="*/ 9515 h 9515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771 w 10000"/>
              <a:gd name="connsiteY6" fmla="*/ 8937 h 10000"/>
              <a:gd name="connsiteX7" fmla="*/ 8516 w 10000"/>
              <a:gd name="connsiteY7" fmla="*/ 8593 h 10000"/>
              <a:gd name="connsiteX8" fmla="*/ 10000 w 10000"/>
              <a:gd name="connsiteY8" fmla="*/ 10000 h 10000"/>
              <a:gd name="connsiteX0" fmla="*/ 0 w 10000"/>
              <a:gd name="connsiteY0" fmla="*/ 0 h 10000"/>
              <a:gd name="connsiteX1" fmla="*/ 275 w 10000"/>
              <a:gd name="connsiteY1" fmla="*/ 613 h 10000"/>
              <a:gd name="connsiteX2" fmla="*/ 1275 w 10000"/>
              <a:gd name="connsiteY2" fmla="*/ 1729 h 10000"/>
              <a:gd name="connsiteX3" fmla="*/ 2572 w 10000"/>
              <a:gd name="connsiteY3" fmla="*/ 2916 h 10000"/>
              <a:gd name="connsiteX4" fmla="*/ 4961 w 10000"/>
              <a:gd name="connsiteY4" fmla="*/ 5005 h 10000"/>
              <a:gd name="connsiteX5" fmla="*/ 7205 w 10000"/>
              <a:gd name="connsiteY5" fmla="*/ 7346 h 10000"/>
              <a:gd name="connsiteX6" fmla="*/ 8516 w 10000"/>
              <a:gd name="connsiteY6" fmla="*/ 8593 h 10000"/>
              <a:gd name="connsiteX7" fmla="*/ 10000 w 10000"/>
              <a:gd name="connsiteY7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34" y="145"/>
                  <a:pt x="69" y="324"/>
                  <a:pt x="275" y="613"/>
                </a:cubicBezTo>
                <a:cubicBezTo>
                  <a:pt x="483" y="901"/>
                  <a:pt x="895" y="1333"/>
                  <a:pt x="1275" y="1729"/>
                </a:cubicBezTo>
                <a:cubicBezTo>
                  <a:pt x="1653" y="2124"/>
                  <a:pt x="1963" y="2377"/>
                  <a:pt x="2572" y="2916"/>
                </a:cubicBezTo>
                <a:cubicBezTo>
                  <a:pt x="3182" y="3458"/>
                  <a:pt x="4189" y="4267"/>
                  <a:pt x="4961" y="5005"/>
                </a:cubicBezTo>
                <a:cubicBezTo>
                  <a:pt x="5734" y="5744"/>
                  <a:pt x="6613" y="6748"/>
                  <a:pt x="7205" y="7346"/>
                </a:cubicBezTo>
                <a:cubicBezTo>
                  <a:pt x="7797" y="7944"/>
                  <a:pt x="8050" y="8151"/>
                  <a:pt x="8516" y="8593"/>
                </a:cubicBezTo>
                <a:cubicBezTo>
                  <a:pt x="8721" y="8770"/>
                  <a:pt x="9801" y="9825"/>
                  <a:pt x="10000" y="1000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2433"/>
          <p:cNvSpPr>
            <a:spLocks noChangeShapeType="1"/>
          </p:cNvSpPr>
          <p:nvPr/>
        </p:nvSpPr>
        <p:spPr bwMode="auto">
          <a:xfrm>
            <a:off x="1055786" y="1565364"/>
            <a:ext cx="0" cy="13445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2434"/>
          <p:cNvSpPr>
            <a:spLocks noChangeShapeType="1"/>
          </p:cNvSpPr>
          <p:nvPr/>
        </p:nvSpPr>
        <p:spPr bwMode="auto">
          <a:xfrm>
            <a:off x="8031318" y="2570939"/>
            <a:ext cx="0" cy="3276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Text Box 2435"/>
          <p:cNvSpPr txBox="1">
            <a:spLocks noChangeArrowheads="1"/>
          </p:cNvSpPr>
          <p:nvPr/>
        </p:nvSpPr>
        <p:spPr bwMode="auto">
          <a:xfrm>
            <a:off x="991822" y="2000361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h</a:t>
            </a:r>
            <a:r>
              <a:rPr kumimoji="1" lang="en-US" altLang="zh-CN" sz="1600" baseline="-25000">
                <a:latin typeface="Times New Roman" pitchFamily="18" charset="0"/>
              </a:rPr>
              <a:t>1</a:t>
            </a:r>
            <a:endParaRPr kumimoji="1" lang="en-US" altLang="zh-CN" sz="1600">
              <a:latin typeface="Times New Roman" pitchFamily="18" charset="0"/>
            </a:endParaRPr>
          </a:p>
        </p:txBody>
      </p:sp>
      <p:sp>
        <p:nvSpPr>
          <p:cNvPr id="82" name="Oval 2436"/>
          <p:cNvSpPr>
            <a:spLocks noChangeArrowheads="1"/>
          </p:cNvSpPr>
          <p:nvPr/>
        </p:nvSpPr>
        <p:spPr bwMode="auto">
          <a:xfrm>
            <a:off x="6320040" y="2255598"/>
            <a:ext cx="54000" cy="54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Text Box 2437"/>
          <p:cNvSpPr txBox="1">
            <a:spLocks noChangeArrowheads="1"/>
          </p:cNvSpPr>
          <p:nvPr/>
        </p:nvSpPr>
        <p:spPr bwMode="auto">
          <a:xfrm>
            <a:off x="4040036" y="2228215"/>
            <a:ext cx="1504206" cy="41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 b="1" dirty="0">
                <a:latin typeface="Times New Roman" pitchFamily="18" charset="0"/>
              </a:rPr>
              <a:t>渗 流 域</a:t>
            </a:r>
          </a:p>
        </p:txBody>
      </p:sp>
      <p:grpSp>
        <p:nvGrpSpPr>
          <p:cNvPr id="84" name="Group 2438"/>
          <p:cNvGrpSpPr>
            <a:grpSpLocks/>
          </p:cNvGrpSpPr>
          <p:nvPr/>
        </p:nvGrpSpPr>
        <p:grpSpPr bwMode="auto">
          <a:xfrm>
            <a:off x="7217647" y="2431590"/>
            <a:ext cx="373472" cy="291881"/>
            <a:chOff x="355" y="513"/>
            <a:chExt cx="204" cy="175"/>
          </a:xfrm>
        </p:grpSpPr>
        <p:sp>
          <p:nvSpPr>
            <p:cNvPr id="85" name="AutoShape 2439"/>
            <p:cNvSpPr>
              <a:spLocks noChangeArrowheads="1"/>
            </p:cNvSpPr>
            <p:nvPr/>
          </p:nvSpPr>
          <p:spPr bwMode="auto">
            <a:xfrm flipV="1">
              <a:off x="420" y="513"/>
              <a:ext cx="94" cy="7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2440"/>
            <p:cNvSpPr>
              <a:spLocks noChangeShapeType="1"/>
            </p:cNvSpPr>
            <p:nvPr/>
          </p:nvSpPr>
          <p:spPr bwMode="auto">
            <a:xfrm>
              <a:off x="355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441"/>
            <p:cNvSpPr>
              <a:spLocks noChangeShapeType="1"/>
            </p:cNvSpPr>
            <p:nvPr/>
          </p:nvSpPr>
          <p:spPr bwMode="auto">
            <a:xfrm>
              <a:off x="469" y="62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442"/>
            <p:cNvSpPr>
              <a:spLocks noChangeShapeType="1"/>
            </p:cNvSpPr>
            <p:nvPr/>
          </p:nvSpPr>
          <p:spPr bwMode="auto">
            <a:xfrm>
              <a:off x="409" y="657"/>
              <a:ext cx="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2443"/>
            <p:cNvSpPr>
              <a:spLocks noChangeShapeType="1"/>
            </p:cNvSpPr>
            <p:nvPr/>
          </p:nvSpPr>
          <p:spPr bwMode="auto">
            <a:xfrm>
              <a:off x="453" y="688"/>
              <a:ext cx="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" name="Text Box 2444"/>
          <p:cNvSpPr txBox="1">
            <a:spLocks noChangeArrowheads="1"/>
          </p:cNvSpPr>
          <p:nvPr/>
        </p:nvSpPr>
        <p:spPr bwMode="auto">
          <a:xfrm>
            <a:off x="8036084" y="2520796"/>
            <a:ext cx="462198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h</a:t>
            </a:r>
            <a:r>
              <a:rPr kumimoji="1" lang="en-US" altLang="zh-CN" sz="1600" baseline="-25000" dirty="0">
                <a:latin typeface="Times New Roman" pitchFamily="18" charset="0"/>
              </a:rPr>
              <a:t>2</a:t>
            </a:r>
            <a:endParaRPr kumimoji="1" lang="en-US" altLang="zh-CN" sz="1600" dirty="0">
              <a:latin typeface="Times New Roman" pitchFamily="18" charset="0"/>
            </a:endParaRPr>
          </a:p>
        </p:txBody>
      </p:sp>
      <p:sp>
        <p:nvSpPr>
          <p:cNvPr id="91" name="Text Box 2446"/>
          <p:cNvSpPr txBox="1">
            <a:spLocks noChangeArrowheads="1"/>
          </p:cNvSpPr>
          <p:nvPr/>
        </p:nvSpPr>
        <p:spPr bwMode="auto">
          <a:xfrm>
            <a:off x="8121255" y="2850208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92" name="Text Box 2447"/>
          <p:cNvSpPr txBox="1">
            <a:spLocks noChangeArrowheads="1"/>
          </p:cNvSpPr>
          <p:nvPr/>
        </p:nvSpPr>
        <p:spPr bwMode="auto">
          <a:xfrm>
            <a:off x="4089557" y="1194394"/>
            <a:ext cx="429184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A</a:t>
            </a:r>
          </a:p>
        </p:txBody>
      </p:sp>
      <p:sp>
        <p:nvSpPr>
          <p:cNvPr id="93" name="Text Box 2448"/>
          <p:cNvSpPr txBox="1">
            <a:spLocks noChangeArrowheads="1"/>
          </p:cNvSpPr>
          <p:nvPr/>
        </p:nvSpPr>
        <p:spPr bwMode="auto">
          <a:xfrm>
            <a:off x="1673335" y="2857171"/>
            <a:ext cx="414741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B</a:t>
            </a:r>
          </a:p>
        </p:txBody>
      </p:sp>
      <p:sp>
        <p:nvSpPr>
          <p:cNvPr id="94" name="Text Box 2449"/>
          <p:cNvSpPr txBox="1">
            <a:spLocks noChangeArrowheads="1"/>
          </p:cNvSpPr>
          <p:nvPr/>
        </p:nvSpPr>
        <p:spPr bwMode="auto">
          <a:xfrm>
            <a:off x="7271295" y="2853404"/>
            <a:ext cx="41473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C</a:t>
            </a:r>
          </a:p>
        </p:txBody>
      </p:sp>
      <p:sp>
        <p:nvSpPr>
          <p:cNvPr id="95" name="Text Box 2450"/>
          <p:cNvSpPr txBox="1">
            <a:spLocks noChangeArrowheads="1"/>
          </p:cNvSpPr>
          <p:nvPr/>
        </p:nvSpPr>
        <p:spPr bwMode="auto">
          <a:xfrm>
            <a:off x="6678419" y="2493550"/>
            <a:ext cx="429184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D</a:t>
            </a:r>
          </a:p>
        </p:txBody>
      </p:sp>
      <p:sp>
        <p:nvSpPr>
          <p:cNvPr id="97" name="Text Box 2452"/>
          <p:cNvSpPr txBox="1">
            <a:spLocks noChangeArrowheads="1"/>
          </p:cNvSpPr>
          <p:nvPr/>
        </p:nvSpPr>
        <p:spPr bwMode="auto">
          <a:xfrm>
            <a:off x="4890150" y="1749908"/>
            <a:ext cx="385852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Times New Roman" pitchFamily="18" charset="0"/>
              </a:rPr>
              <a:t>F</a:t>
            </a:r>
          </a:p>
        </p:txBody>
      </p:sp>
      <p:sp>
        <p:nvSpPr>
          <p:cNvPr id="98" name="Line 2477"/>
          <p:cNvSpPr>
            <a:spLocks noChangeShapeType="1"/>
          </p:cNvSpPr>
          <p:nvPr/>
        </p:nvSpPr>
        <p:spPr bwMode="auto">
          <a:xfrm>
            <a:off x="7872378" y="2913664"/>
            <a:ext cx="2945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Line 2480"/>
          <p:cNvSpPr>
            <a:spLocks noChangeShapeType="1"/>
          </p:cNvSpPr>
          <p:nvPr/>
        </p:nvSpPr>
        <p:spPr bwMode="auto">
          <a:xfrm>
            <a:off x="1456680" y="2913664"/>
            <a:ext cx="1980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Text Box 2505"/>
          <p:cNvSpPr txBox="1">
            <a:spLocks noChangeArrowheads="1"/>
          </p:cNvSpPr>
          <p:nvPr/>
        </p:nvSpPr>
        <p:spPr bwMode="auto">
          <a:xfrm>
            <a:off x="5158230" y="1205999"/>
            <a:ext cx="1007620" cy="34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0817" rIns="0" bIns="40817">
            <a:spAutoFit/>
          </a:bodyPr>
          <a:lstStyle>
            <a:lvl1pPr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407988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8175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223963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631950" defTabSz="81756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0891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5463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0035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460750" defTabSz="817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600" b="1" dirty="0" smtClean="0">
                <a:latin typeface="Times New Roman" pitchFamily="18" charset="0"/>
                <a:ea typeface="幼圆" pitchFamily="49" charset="-122"/>
              </a:rPr>
              <a:t>浸润面</a:t>
            </a:r>
            <a:endParaRPr lang="zh-CN" altLang="en-US" sz="1600" b="1" dirty="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01" name="Line 2506"/>
          <p:cNvSpPr>
            <a:spLocks noChangeShapeType="1"/>
          </p:cNvSpPr>
          <p:nvPr/>
        </p:nvSpPr>
        <p:spPr bwMode="auto">
          <a:xfrm flipV="1">
            <a:off x="4960305" y="1522053"/>
            <a:ext cx="466325" cy="2071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" name="Group 2507"/>
          <p:cNvGrpSpPr>
            <a:grpSpLocks/>
          </p:cNvGrpSpPr>
          <p:nvPr/>
        </p:nvGrpSpPr>
        <p:grpSpPr bwMode="auto">
          <a:xfrm>
            <a:off x="2523449" y="2909897"/>
            <a:ext cx="812973" cy="158180"/>
            <a:chOff x="2644" y="2807"/>
            <a:chExt cx="481" cy="83"/>
          </a:xfrm>
        </p:grpSpPr>
        <p:sp>
          <p:nvSpPr>
            <p:cNvPr id="103" name="Freeform 2508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Freeform 2509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" name="Freeform 2510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6" name="Freeform 2511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7" name="Freeform 2512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8" name="Freeform 2513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9" name="Freeform 2514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" name="Freeform 2515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" name="Freeform 2516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" name="Freeform 2517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" name="Freeform 2518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4" name="Freeform 2519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5" name="Group 2520"/>
          <p:cNvGrpSpPr>
            <a:grpSpLocks/>
          </p:cNvGrpSpPr>
          <p:nvPr/>
        </p:nvGrpSpPr>
        <p:grpSpPr bwMode="auto">
          <a:xfrm>
            <a:off x="5424566" y="2908015"/>
            <a:ext cx="812973" cy="158180"/>
            <a:chOff x="2644" y="2807"/>
            <a:chExt cx="481" cy="83"/>
          </a:xfrm>
        </p:grpSpPr>
        <p:sp>
          <p:nvSpPr>
            <p:cNvPr id="116" name="Freeform 2521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7" name="Freeform 2522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" name="Freeform 2523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" name="Freeform 2524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" name="Freeform 2525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" name="Freeform 2526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2" name="Freeform 2527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" name="Freeform 2528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4" name="Freeform 2529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" name="Freeform 2530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6" name="Freeform 2531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7" name="Freeform 2532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0" name="Text Box 2446"/>
          <p:cNvSpPr txBox="1">
            <a:spLocks noChangeArrowheads="1"/>
          </p:cNvSpPr>
          <p:nvPr/>
        </p:nvSpPr>
        <p:spPr bwMode="auto">
          <a:xfrm>
            <a:off x="808681" y="2856715"/>
            <a:ext cx="371409" cy="39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Times New Roman" pitchFamily="18" charset="0"/>
              </a:rPr>
              <a:t>0</a:t>
            </a:r>
          </a:p>
        </p:txBody>
      </p:sp>
      <p:sp>
        <p:nvSpPr>
          <p:cNvPr id="131" name="Line 2477"/>
          <p:cNvSpPr>
            <a:spLocks noChangeShapeType="1"/>
          </p:cNvSpPr>
          <p:nvPr/>
        </p:nvSpPr>
        <p:spPr bwMode="auto">
          <a:xfrm>
            <a:off x="946151" y="2915423"/>
            <a:ext cx="4012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6418362" y="2484230"/>
            <a:ext cx="379413" cy="1035867"/>
            <a:chOff x="6418362" y="2484230"/>
            <a:chExt cx="379413" cy="1035867"/>
          </a:xfrm>
        </p:grpSpPr>
        <p:grpSp>
          <p:nvGrpSpPr>
            <p:cNvPr id="5" name="组合 4"/>
            <p:cNvGrpSpPr/>
            <p:nvPr/>
          </p:nvGrpSpPr>
          <p:grpSpPr>
            <a:xfrm>
              <a:off x="6418362" y="3058432"/>
              <a:ext cx="379413" cy="461665"/>
              <a:chOff x="11636671" y="4441825"/>
              <a:chExt cx="379413" cy="461665"/>
            </a:xfrm>
          </p:grpSpPr>
          <p:sp>
            <p:nvSpPr>
              <p:cNvPr id="62491" name="Oval 42"/>
              <p:cNvSpPr>
                <a:spLocks noChangeArrowheads="1"/>
              </p:cNvSpPr>
              <p:nvPr/>
            </p:nvSpPr>
            <p:spPr bwMode="auto">
              <a:xfrm>
                <a:off x="11636671" y="4491037"/>
                <a:ext cx="379413" cy="377825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92" name="Text Box 43"/>
              <p:cNvSpPr txBox="1">
                <a:spLocks noChangeArrowheads="1"/>
              </p:cNvSpPr>
              <p:nvPr/>
            </p:nvSpPr>
            <p:spPr bwMode="auto">
              <a:xfrm>
                <a:off x="11660484" y="4441825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dirty="0" smtClean="0">
                    <a:solidFill>
                      <a:srgbClr val="000066"/>
                    </a:solidFill>
                  </a:rPr>
                  <a:t>4</a:t>
                </a:r>
                <a:endParaRPr kumimoji="1" lang="zh-CN" altLang="en-US" sz="2400" dirty="0">
                  <a:solidFill>
                    <a:srgbClr val="000066"/>
                  </a:solidFill>
                </a:endParaRPr>
              </a:p>
            </p:txBody>
          </p:sp>
        </p:grpSp>
        <p:cxnSp>
          <p:nvCxnSpPr>
            <p:cNvPr id="7" name="直接连接符 6"/>
            <p:cNvCxnSpPr>
              <a:stCxn id="62492" idx="0"/>
            </p:cNvCxnSpPr>
            <p:nvPr/>
          </p:nvCxnSpPr>
          <p:spPr bwMode="auto">
            <a:xfrm flipH="1" flipV="1">
              <a:off x="6606763" y="2484230"/>
              <a:ext cx="4689" cy="57420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" name="组合 1"/>
          <p:cNvGrpSpPr/>
          <p:nvPr/>
        </p:nvGrpSpPr>
        <p:grpSpPr>
          <a:xfrm>
            <a:off x="1309688" y="3809487"/>
            <a:ext cx="6280412" cy="492125"/>
            <a:chOff x="1309688" y="3809487"/>
            <a:chExt cx="6280412" cy="492125"/>
          </a:xfrm>
        </p:grpSpPr>
        <p:sp>
          <p:nvSpPr>
            <p:cNvPr id="128" name="Oval 5"/>
            <p:cNvSpPr>
              <a:spLocks noChangeArrowheads="1"/>
            </p:cNvSpPr>
            <p:nvPr/>
          </p:nvSpPr>
          <p:spPr bwMode="auto">
            <a:xfrm>
              <a:off x="1322388" y="3911087"/>
              <a:ext cx="314325" cy="314325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Text Box 61"/>
            <p:cNvSpPr txBox="1">
              <a:spLocks noChangeArrowheads="1"/>
            </p:cNvSpPr>
            <p:nvPr/>
          </p:nvSpPr>
          <p:spPr bwMode="auto">
            <a:xfrm>
              <a:off x="1309688" y="3809487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4</a:t>
              </a:r>
              <a:endParaRPr kumimoji="1" lang="zh-CN" altLang="en-US" sz="2400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132" name="Text Box 62"/>
            <p:cNvSpPr txBox="1">
              <a:spLocks noChangeArrowheads="1"/>
            </p:cNvSpPr>
            <p:nvPr/>
          </p:nvSpPr>
          <p:spPr bwMode="auto">
            <a:xfrm>
              <a:off x="1695712" y="3844412"/>
              <a:ext cx="58943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渗出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面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边界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           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在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边界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上</a:t>
              </a:r>
              <a:r>
                <a:rPr kumimoji="1"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=z，</a:t>
              </a:r>
              <a:r>
                <a:rPr kumimoji="1"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  <a:r>
                <a:rPr kumimoji="1" lang="en-US" altLang="zh-CN" sz="24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n</a:t>
              </a: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</a:t>
              </a: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0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377517" y="2292350"/>
            <a:ext cx="560914" cy="270933"/>
            <a:chOff x="6377517" y="2292350"/>
            <a:chExt cx="560914" cy="270933"/>
          </a:xfrm>
        </p:grpSpPr>
        <p:cxnSp>
          <p:nvCxnSpPr>
            <p:cNvPr id="11" name="直接箭头连接符 10"/>
            <p:cNvCxnSpPr/>
            <p:nvPr/>
          </p:nvCxnSpPr>
          <p:spPr bwMode="auto">
            <a:xfrm flipV="1">
              <a:off x="6845298" y="2404533"/>
              <a:ext cx="93133" cy="15875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3" name="直接箭头连接符 132"/>
            <p:cNvCxnSpPr/>
            <p:nvPr/>
          </p:nvCxnSpPr>
          <p:spPr bwMode="auto">
            <a:xfrm>
              <a:off x="6377517" y="2292350"/>
              <a:ext cx="232832" cy="7620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4" name="直接箭头连接符 133"/>
            <p:cNvCxnSpPr/>
            <p:nvPr/>
          </p:nvCxnSpPr>
          <p:spPr bwMode="auto">
            <a:xfrm flipV="1">
              <a:off x="6701356" y="2387597"/>
              <a:ext cx="133356" cy="8890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5" name="直接箭头连接符 134"/>
            <p:cNvCxnSpPr/>
            <p:nvPr/>
          </p:nvCxnSpPr>
          <p:spPr bwMode="auto">
            <a:xfrm flipV="1">
              <a:off x="6568002" y="2355845"/>
              <a:ext cx="186273" cy="4868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36" name="Text Box 7"/>
          <p:cNvSpPr txBox="1">
            <a:spLocks noChangeArrowheads="1"/>
          </p:cNvSpPr>
          <p:nvPr/>
        </p:nvSpPr>
        <p:spPr bwMode="auto">
          <a:xfrm>
            <a:off x="-1" y="0"/>
            <a:ext cx="4095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边界条件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641148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8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689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2"/>
          <p:cNvSpPr txBox="1">
            <a:spLocks noChangeArrowheads="1"/>
          </p:cNvSpPr>
          <p:nvPr/>
        </p:nvSpPr>
        <p:spPr bwMode="auto">
          <a:xfrm>
            <a:off x="2552700" y="5691188"/>
            <a:ext cx="56594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平面稳定渗流问题描述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485" name="Text Box 3"/>
          <p:cNvSpPr txBox="1">
            <a:spLocks noChangeArrowheads="1"/>
          </p:cNvSpPr>
          <p:nvPr/>
        </p:nvSpPr>
        <p:spPr bwMode="auto">
          <a:xfrm>
            <a:off x="622300" y="1312260"/>
            <a:ext cx="2414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运动方程：</a:t>
            </a: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620713" y="3455988"/>
            <a:ext cx="2414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边界条件：</a:t>
            </a:r>
          </a:p>
        </p:txBody>
      </p:sp>
      <p:sp>
        <p:nvSpPr>
          <p:cNvPr id="20487" name="Oval 5"/>
          <p:cNvSpPr>
            <a:spLocks noChangeArrowheads="1"/>
          </p:cNvSpPr>
          <p:nvPr/>
        </p:nvSpPr>
        <p:spPr bwMode="auto">
          <a:xfrm>
            <a:off x="2874963" y="3622675"/>
            <a:ext cx="314325" cy="314325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0488" name="Oval 6"/>
          <p:cNvSpPr>
            <a:spLocks noChangeArrowheads="1"/>
          </p:cNvSpPr>
          <p:nvPr/>
        </p:nvSpPr>
        <p:spPr bwMode="auto">
          <a:xfrm>
            <a:off x="2874963" y="4728645"/>
            <a:ext cx="314325" cy="314325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0490" name="Text Box 8"/>
          <p:cNvSpPr txBox="1">
            <a:spLocks noChangeArrowheads="1"/>
          </p:cNvSpPr>
          <p:nvPr/>
        </p:nvSpPr>
        <p:spPr bwMode="auto">
          <a:xfrm>
            <a:off x="3154363" y="3055938"/>
            <a:ext cx="489108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水头边界条件      在边界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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上给定水头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491" name="Group 9"/>
          <p:cNvGrpSpPr>
            <a:grpSpLocks/>
          </p:cNvGrpSpPr>
          <p:nvPr/>
        </p:nvGrpSpPr>
        <p:grpSpPr bwMode="auto">
          <a:xfrm>
            <a:off x="2846388" y="3040063"/>
            <a:ext cx="327025" cy="430212"/>
            <a:chOff x="787" y="1833"/>
            <a:chExt cx="206" cy="271"/>
          </a:xfrm>
        </p:grpSpPr>
        <p:sp>
          <p:nvSpPr>
            <p:cNvPr id="20500" name="Oval 10"/>
            <p:cNvSpPr>
              <a:spLocks noChangeArrowheads="1"/>
            </p:cNvSpPr>
            <p:nvPr/>
          </p:nvSpPr>
          <p:spPr bwMode="auto">
            <a:xfrm>
              <a:off x="792" y="1877"/>
              <a:ext cx="198" cy="19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0501" name="Text Box 11"/>
            <p:cNvSpPr txBox="1">
              <a:spLocks noChangeArrowheads="1"/>
            </p:cNvSpPr>
            <p:nvPr/>
          </p:nvSpPr>
          <p:spPr bwMode="auto">
            <a:xfrm>
              <a:off x="787" y="1833"/>
              <a:ext cx="20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1</a:t>
              </a:r>
            </a:p>
          </p:txBody>
        </p:sp>
      </p:grp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2871788" y="3548063"/>
            <a:ext cx="32733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2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3175000" y="3563938"/>
            <a:ext cx="545854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流速边界条件      在边界</a:t>
            </a:r>
            <a:r>
              <a:rPr kumimoji="1" lang="en-US" altLang="zh-CN" sz="22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</a:t>
            </a:r>
            <a:r>
              <a:rPr kumimoji="1" lang="en-US" altLang="zh-CN" sz="2200" b="1" baseline="-2500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zh-CN" altLang="en-US" sz="22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上给定法向流速</a:t>
            </a:r>
            <a:endParaRPr kumimoji="1" lang="en-US" altLang="zh-CN" sz="2200" b="1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2862263" y="4654033"/>
            <a:ext cx="32573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4</a:t>
            </a:r>
            <a:endParaRPr kumimoji="1" lang="zh-CN" altLang="en-US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3170238" y="4687370"/>
            <a:ext cx="46009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渗出面            在边界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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上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2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z，</a:t>
            </a:r>
            <a:r>
              <a:rPr kumimoji="1" lang="en-US" altLang="zh-CN" sz="22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kumimoji="1"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&gt;0</a:t>
            </a:r>
            <a:endParaRPr kumimoji="1"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48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448806"/>
              </p:ext>
            </p:extLst>
          </p:nvPr>
        </p:nvGraphicFramePr>
        <p:xfrm>
          <a:off x="3414713" y="1157288"/>
          <a:ext cx="18288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6" name="公式" r:id="rId4" imgW="914400" imgH="419040" progId="Equation.3">
                  <p:embed/>
                </p:oleObj>
              </mc:Choice>
              <mc:Fallback>
                <p:oleObj name="公式" r:id="rId4" imgW="9144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3" y="1157288"/>
                        <a:ext cx="182880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1" name="Oval 7"/>
          <p:cNvSpPr>
            <a:spLocks noChangeArrowheads="1"/>
          </p:cNvSpPr>
          <p:nvPr/>
        </p:nvSpPr>
        <p:spPr bwMode="auto">
          <a:xfrm>
            <a:off x="2878138" y="4145694"/>
            <a:ext cx="314325" cy="314325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2854325" y="4058382"/>
            <a:ext cx="32573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3</a:t>
            </a:r>
            <a:endParaRPr kumimoji="1" lang="zh-CN" altLang="en-US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3170238" y="4131407"/>
            <a:ext cx="462177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浸润面</a:t>
            </a:r>
            <a:r>
              <a:rPr kumimoji="1" lang="zh-CN" altLang="en-US" sz="2200" b="1" baseline="30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            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在边界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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4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上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2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z，</a:t>
            </a:r>
            <a:r>
              <a:rPr kumimoji="1" lang="en-US" altLang="zh-CN" sz="22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kumimoji="1"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-1" y="0"/>
            <a:ext cx="4095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边界条件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825062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898" name="Rectangle 2"/>
          <p:cNvSpPr>
            <a:spLocks noChangeArrowheads="1"/>
          </p:cNvSpPr>
          <p:nvPr/>
        </p:nvSpPr>
        <p:spPr bwMode="auto">
          <a:xfrm>
            <a:off x="1158875" y="4387850"/>
            <a:ext cx="6921500" cy="914400"/>
          </a:xfrm>
          <a:prstGeom prst="rect">
            <a:avLst/>
          </a:prstGeom>
          <a:noFill/>
          <a:ln w="28575">
            <a:solidFill>
              <a:srgbClr val="8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1133475" y="808038"/>
            <a:ext cx="711517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42925" indent="-542925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800000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800000"/>
                </a:solidFill>
                <a:ea typeface="幼圆" pitchFamily="49" charset="-122"/>
              </a:rPr>
              <a:t>数学解析法或近似解析法：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求取渗流运动方程在特定边界条件下的理论解，或者在一些假定条件下，求其近似解</a:t>
            </a:r>
          </a:p>
          <a:p>
            <a:pPr marL="542925" indent="-542925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800000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800000"/>
                </a:solidFill>
                <a:ea typeface="幼圆" pitchFamily="49" charset="-122"/>
              </a:rPr>
              <a:t>计算机数值</a:t>
            </a:r>
            <a:r>
              <a:rPr kumimoji="1" lang="zh-CN" altLang="en-US" sz="2400" b="1" dirty="0" smtClean="0">
                <a:solidFill>
                  <a:srgbClr val="800000"/>
                </a:solidFill>
                <a:ea typeface="幼圆" pitchFamily="49" charset="-122"/>
              </a:rPr>
              <a:t>解法：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有限元、有限差分、边界元法等，近年来得到迅速地发展</a:t>
            </a:r>
          </a:p>
          <a:p>
            <a:pPr marL="542925" indent="-542925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800000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400" b="1" dirty="0" smtClean="0">
                <a:solidFill>
                  <a:srgbClr val="800000"/>
                </a:solidFill>
                <a:ea typeface="幼圆" pitchFamily="49" charset="-122"/>
              </a:rPr>
              <a:t>模型试验法：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利用电场来模拟渗流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场的电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比拟试验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法，可以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用于二维问题和三维问题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  <a:p>
            <a:pPr marL="542925" indent="-542925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800000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800000"/>
                </a:solidFill>
                <a:ea typeface="幼圆" pitchFamily="49" charset="-122"/>
              </a:rPr>
              <a:t>流网法：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简便快捷，具有足够的精度，可分析较复杂断面的渗流问题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2803525" y="5703888"/>
            <a:ext cx="3832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渗流分析的方法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1" y="0"/>
            <a:ext cx="40957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求解方法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681231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8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889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ext Box 2"/>
          <p:cNvSpPr txBox="1">
            <a:spLocks noChangeArrowheads="1"/>
          </p:cNvSpPr>
          <p:nvPr/>
        </p:nvSpPr>
        <p:spPr bwMode="auto">
          <a:xfrm>
            <a:off x="960438" y="681038"/>
            <a:ext cx="3121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流速势或势函数：</a:t>
            </a:r>
            <a:endParaRPr lang="zh-CN" altLang="en-US" sz="20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graphicFrame>
        <p:nvGraphicFramePr>
          <p:cNvPr id="2150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001398"/>
              </p:ext>
            </p:extLst>
          </p:nvPr>
        </p:nvGraphicFramePr>
        <p:xfrm>
          <a:off x="4001837" y="751359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2" name="公式" r:id="rId4" imgW="545760" imgH="203040" progId="Equation.3">
                  <p:embed/>
                </p:oleObj>
              </mc:Choice>
              <mc:Fallback>
                <p:oleObj name="公式" r:id="rId4" imgW="545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1837" y="751359"/>
                        <a:ext cx="109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574374"/>
              </p:ext>
            </p:extLst>
          </p:nvPr>
        </p:nvGraphicFramePr>
        <p:xfrm>
          <a:off x="2586038" y="1330325"/>
          <a:ext cx="4622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3" name="公式" r:id="rId6" imgW="2311200" imgH="393480" progId="Equation.3">
                  <p:embed/>
                </p:oleObj>
              </mc:Choice>
              <mc:Fallback>
                <p:oleObj name="公式" r:id="rId6" imgW="2311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1330325"/>
                        <a:ext cx="4622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400175" y="1507800"/>
            <a:ext cx="11271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则有：</a:t>
            </a:r>
            <a:endParaRPr lang="zh-CN" altLang="en-US" sz="2200" b="1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870313" y="2259313"/>
            <a:ext cx="6204918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SzPct val="140000"/>
              <a:buFont typeface="Arial" panose="020B0604020202020204" pitchFamily="34" charset="0"/>
              <a:buChar char="•"/>
            </a:pP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流速矢量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</a:t>
            </a:r>
            <a:r>
              <a:rPr lang="zh-CN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标量函数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 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的梯度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这种流动称为</a:t>
            </a:r>
            <a:r>
              <a:rPr lang="zh-CN" altLang="zh-CN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有势流动</a:t>
            </a:r>
            <a:r>
              <a:rPr lang="zh-CN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，这个标量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函数称为</a:t>
            </a:r>
            <a:r>
              <a:rPr lang="zh-CN" altLang="zh-CN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势函数</a:t>
            </a:r>
            <a:r>
              <a:rPr lang="zh-CN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或流速势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SzPct val="14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满足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达西定律的渗流问题是一个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势流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</a:t>
            </a:r>
            <a:endParaRPr lang="zh-CN" altLang="en-US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3552825" y="5722711"/>
            <a:ext cx="21129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势 函 数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973900" y="4069350"/>
            <a:ext cx="6656388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0011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势函数的特性：</a:t>
            </a:r>
          </a:p>
          <a:p>
            <a:pPr lvl="1" eaLnBrk="1" hangingPunct="1">
              <a:lnSpc>
                <a:spcPct val="125000"/>
              </a:lnSpc>
              <a:spcBef>
                <a:spcPts val="0"/>
              </a:spcBef>
              <a:buClr>
                <a:srgbClr val="A50021"/>
              </a:buClr>
              <a:buSzPct val="115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等势线是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等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水头线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0"/>
              </a:spcBef>
              <a:buClr>
                <a:srgbClr val="A50021"/>
              </a:buClr>
              <a:buSzPct val="115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两条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等势线的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势值差同其水头差成正比</a:t>
            </a:r>
          </a:p>
        </p:txBody>
      </p:sp>
      <p:sp>
        <p:nvSpPr>
          <p:cNvPr id="21513" name="AutoShape 9"/>
          <p:cNvSpPr>
            <a:spLocks noChangeArrowheads="1"/>
          </p:cNvSpPr>
          <p:nvPr/>
        </p:nvSpPr>
        <p:spPr bwMode="auto">
          <a:xfrm>
            <a:off x="1207313" y="2281538"/>
            <a:ext cx="550862" cy="579437"/>
          </a:xfrm>
          <a:prstGeom prst="rightArrow">
            <a:avLst>
              <a:gd name="adj1" fmla="val 56324"/>
              <a:gd name="adj2" fmla="val 44282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1" y="0"/>
            <a:ext cx="5038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等势线和流线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431816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3497263" y="5768975"/>
            <a:ext cx="22113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 函 数</a:t>
            </a:r>
          </a:p>
        </p:txBody>
      </p:sp>
      <p:sp>
        <p:nvSpPr>
          <p:cNvPr id="1490954" name="Text Box 10"/>
          <p:cNvSpPr txBox="1">
            <a:spLocks noChangeArrowheads="1"/>
          </p:cNvSpPr>
          <p:nvPr/>
        </p:nvSpPr>
        <p:spPr bwMode="auto">
          <a:xfrm>
            <a:off x="579438" y="638175"/>
            <a:ext cx="7118534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流线及方程</a:t>
            </a: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：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流线是流场中的曲线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，其上各点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的流速矢量都和该曲线相切</a:t>
            </a:r>
            <a:endParaRPr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3064759" y="2700378"/>
            <a:ext cx="2384171" cy="1194890"/>
          </a:xfrm>
          <a:custGeom>
            <a:avLst/>
            <a:gdLst>
              <a:gd name="connsiteX0" fmla="*/ 0 w 2328073"/>
              <a:gd name="connsiteY0" fmla="*/ 1121963 h 1121963"/>
              <a:gd name="connsiteX1" fmla="*/ 291710 w 2328073"/>
              <a:gd name="connsiteY1" fmla="*/ 830253 h 1121963"/>
              <a:gd name="connsiteX2" fmla="*/ 572201 w 2328073"/>
              <a:gd name="connsiteY2" fmla="*/ 617080 h 1121963"/>
              <a:gd name="connsiteX3" fmla="*/ 914400 w 2328073"/>
              <a:gd name="connsiteY3" fmla="*/ 398297 h 1121963"/>
              <a:gd name="connsiteX4" fmla="*/ 1368795 w 2328073"/>
              <a:gd name="connsiteY4" fmla="*/ 218783 h 1121963"/>
              <a:gd name="connsiteX5" fmla="*/ 1912947 w 2328073"/>
              <a:gd name="connsiteY5" fmla="*/ 61708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91710 w 2328073"/>
              <a:gd name="connsiteY1" fmla="*/ 830253 h 1121963"/>
              <a:gd name="connsiteX2" fmla="*/ 572201 w 2328073"/>
              <a:gd name="connsiteY2" fmla="*/ 617080 h 1121963"/>
              <a:gd name="connsiteX3" fmla="*/ 914400 w 2328073"/>
              <a:gd name="connsiteY3" fmla="*/ 398297 h 1121963"/>
              <a:gd name="connsiteX4" fmla="*/ 1368795 w 2328073"/>
              <a:gd name="connsiteY4" fmla="*/ 218783 h 1121963"/>
              <a:gd name="connsiteX5" fmla="*/ 1912947 w 2328073"/>
              <a:gd name="connsiteY5" fmla="*/ 61708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91710 w 2328073"/>
              <a:gd name="connsiteY1" fmla="*/ 830253 h 1121963"/>
              <a:gd name="connsiteX2" fmla="*/ 572201 w 2328073"/>
              <a:gd name="connsiteY2" fmla="*/ 617080 h 1121963"/>
              <a:gd name="connsiteX3" fmla="*/ 914400 w 2328073"/>
              <a:gd name="connsiteY3" fmla="*/ 398297 h 1121963"/>
              <a:gd name="connsiteX4" fmla="*/ 1368795 w 2328073"/>
              <a:gd name="connsiteY4" fmla="*/ 218783 h 1121963"/>
              <a:gd name="connsiteX5" fmla="*/ 1912947 w 2328073"/>
              <a:gd name="connsiteY5" fmla="*/ 61708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91710 w 2328073"/>
              <a:gd name="connsiteY1" fmla="*/ 830253 h 1121963"/>
              <a:gd name="connsiteX2" fmla="*/ 572201 w 2328073"/>
              <a:gd name="connsiteY2" fmla="*/ 617080 h 1121963"/>
              <a:gd name="connsiteX3" fmla="*/ 914400 w 2328073"/>
              <a:gd name="connsiteY3" fmla="*/ 398297 h 1121963"/>
              <a:gd name="connsiteX4" fmla="*/ 1368795 w 2328073"/>
              <a:gd name="connsiteY4" fmla="*/ 218783 h 1121963"/>
              <a:gd name="connsiteX5" fmla="*/ 1912947 w 2328073"/>
              <a:gd name="connsiteY5" fmla="*/ 61708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91710 w 2328073"/>
              <a:gd name="connsiteY1" fmla="*/ 830253 h 1121963"/>
              <a:gd name="connsiteX2" fmla="*/ 572201 w 2328073"/>
              <a:gd name="connsiteY2" fmla="*/ 617080 h 1121963"/>
              <a:gd name="connsiteX3" fmla="*/ 914400 w 2328073"/>
              <a:gd name="connsiteY3" fmla="*/ 398297 h 1121963"/>
              <a:gd name="connsiteX4" fmla="*/ 1368795 w 2328073"/>
              <a:gd name="connsiteY4" fmla="*/ 218783 h 1121963"/>
              <a:gd name="connsiteX5" fmla="*/ 1912947 w 2328073"/>
              <a:gd name="connsiteY5" fmla="*/ 61708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91710 w 2328073"/>
              <a:gd name="connsiteY1" fmla="*/ 830253 h 1121963"/>
              <a:gd name="connsiteX2" fmla="*/ 572201 w 2328073"/>
              <a:gd name="connsiteY2" fmla="*/ 617080 h 1121963"/>
              <a:gd name="connsiteX3" fmla="*/ 914400 w 2328073"/>
              <a:gd name="connsiteY3" fmla="*/ 398297 h 1121963"/>
              <a:gd name="connsiteX4" fmla="*/ 1368795 w 2328073"/>
              <a:gd name="connsiteY4" fmla="*/ 218783 h 1121963"/>
              <a:gd name="connsiteX5" fmla="*/ 1912947 w 2328073"/>
              <a:gd name="connsiteY5" fmla="*/ 61708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91710 w 2328073"/>
              <a:gd name="connsiteY1" fmla="*/ 830253 h 1121963"/>
              <a:gd name="connsiteX2" fmla="*/ 572201 w 2328073"/>
              <a:gd name="connsiteY2" fmla="*/ 617080 h 1121963"/>
              <a:gd name="connsiteX3" fmla="*/ 914400 w 2328073"/>
              <a:gd name="connsiteY3" fmla="*/ 398297 h 1121963"/>
              <a:gd name="connsiteX4" fmla="*/ 1368795 w 2328073"/>
              <a:gd name="connsiteY4" fmla="*/ 218783 h 1121963"/>
              <a:gd name="connsiteX5" fmla="*/ 1912947 w 2328073"/>
              <a:gd name="connsiteY5" fmla="*/ 61708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91710 w 2328073"/>
              <a:gd name="connsiteY1" fmla="*/ 830253 h 1121963"/>
              <a:gd name="connsiteX2" fmla="*/ 572201 w 2328073"/>
              <a:gd name="connsiteY2" fmla="*/ 617080 h 1121963"/>
              <a:gd name="connsiteX3" fmla="*/ 914400 w 2328073"/>
              <a:gd name="connsiteY3" fmla="*/ 398297 h 1121963"/>
              <a:gd name="connsiteX4" fmla="*/ 1368795 w 2328073"/>
              <a:gd name="connsiteY4" fmla="*/ 218783 h 1121963"/>
              <a:gd name="connsiteX5" fmla="*/ 1817580 w 2328073"/>
              <a:gd name="connsiteY5" fmla="*/ 95367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91710 w 2328073"/>
              <a:gd name="connsiteY1" fmla="*/ 830253 h 1121963"/>
              <a:gd name="connsiteX2" fmla="*/ 572201 w 2328073"/>
              <a:gd name="connsiteY2" fmla="*/ 617080 h 1121963"/>
              <a:gd name="connsiteX3" fmla="*/ 931230 w 2328073"/>
              <a:gd name="connsiteY3" fmla="*/ 409517 h 1121963"/>
              <a:gd name="connsiteX4" fmla="*/ 1368795 w 2328073"/>
              <a:gd name="connsiteY4" fmla="*/ 218783 h 1121963"/>
              <a:gd name="connsiteX5" fmla="*/ 1817580 w 2328073"/>
              <a:gd name="connsiteY5" fmla="*/ 95367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63661 w 2328073"/>
              <a:gd name="connsiteY1" fmla="*/ 858302 h 1121963"/>
              <a:gd name="connsiteX2" fmla="*/ 572201 w 2328073"/>
              <a:gd name="connsiteY2" fmla="*/ 617080 h 1121963"/>
              <a:gd name="connsiteX3" fmla="*/ 931230 w 2328073"/>
              <a:gd name="connsiteY3" fmla="*/ 409517 h 1121963"/>
              <a:gd name="connsiteX4" fmla="*/ 1368795 w 2328073"/>
              <a:gd name="connsiteY4" fmla="*/ 218783 h 1121963"/>
              <a:gd name="connsiteX5" fmla="*/ 1817580 w 2328073"/>
              <a:gd name="connsiteY5" fmla="*/ 95367 h 1121963"/>
              <a:gd name="connsiteX6" fmla="*/ 2328073 w 2328073"/>
              <a:gd name="connsiteY6" fmla="*/ 0 h 1121963"/>
              <a:gd name="connsiteX0" fmla="*/ 0 w 2328073"/>
              <a:gd name="connsiteY0" fmla="*/ 1121963 h 1121963"/>
              <a:gd name="connsiteX1" fmla="*/ 263661 w 2328073"/>
              <a:gd name="connsiteY1" fmla="*/ 858302 h 1121963"/>
              <a:gd name="connsiteX2" fmla="*/ 572201 w 2328073"/>
              <a:gd name="connsiteY2" fmla="*/ 617080 h 1121963"/>
              <a:gd name="connsiteX3" fmla="*/ 953669 w 2328073"/>
              <a:gd name="connsiteY3" fmla="*/ 392688 h 1121963"/>
              <a:gd name="connsiteX4" fmla="*/ 1368795 w 2328073"/>
              <a:gd name="connsiteY4" fmla="*/ 218783 h 1121963"/>
              <a:gd name="connsiteX5" fmla="*/ 1817580 w 2328073"/>
              <a:gd name="connsiteY5" fmla="*/ 95367 h 1121963"/>
              <a:gd name="connsiteX6" fmla="*/ 2328073 w 2328073"/>
              <a:gd name="connsiteY6" fmla="*/ 0 h 1121963"/>
              <a:gd name="connsiteX0" fmla="*/ 0 w 2384171"/>
              <a:gd name="connsiteY0" fmla="*/ 1194890 h 1194890"/>
              <a:gd name="connsiteX1" fmla="*/ 319759 w 2384171"/>
              <a:gd name="connsiteY1" fmla="*/ 858302 h 1194890"/>
              <a:gd name="connsiteX2" fmla="*/ 628299 w 2384171"/>
              <a:gd name="connsiteY2" fmla="*/ 617080 h 1194890"/>
              <a:gd name="connsiteX3" fmla="*/ 1009767 w 2384171"/>
              <a:gd name="connsiteY3" fmla="*/ 392688 h 1194890"/>
              <a:gd name="connsiteX4" fmla="*/ 1424893 w 2384171"/>
              <a:gd name="connsiteY4" fmla="*/ 218783 h 1194890"/>
              <a:gd name="connsiteX5" fmla="*/ 1873678 w 2384171"/>
              <a:gd name="connsiteY5" fmla="*/ 95367 h 1194890"/>
              <a:gd name="connsiteX6" fmla="*/ 2384171 w 2384171"/>
              <a:gd name="connsiteY6" fmla="*/ 0 h 1194890"/>
              <a:gd name="connsiteX0" fmla="*/ 0 w 2384171"/>
              <a:gd name="connsiteY0" fmla="*/ 1194890 h 1194890"/>
              <a:gd name="connsiteX1" fmla="*/ 319759 w 2384171"/>
              <a:gd name="connsiteY1" fmla="*/ 858302 h 1194890"/>
              <a:gd name="connsiteX2" fmla="*/ 274881 w 2384171"/>
              <a:gd name="connsiteY2" fmla="*/ 914399 h 1194890"/>
              <a:gd name="connsiteX3" fmla="*/ 628299 w 2384171"/>
              <a:gd name="connsiteY3" fmla="*/ 617080 h 1194890"/>
              <a:gd name="connsiteX4" fmla="*/ 1009767 w 2384171"/>
              <a:gd name="connsiteY4" fmla="*/ 392688 h 1194890"/>
              <a:gd name="connsiteX5" fmla="*/ 1424893 w 2384171"/>
              <a:gd name="connsiteY5" fmla="*/ 218783 h 1194890"/>
              <a:gd name="connsiteX6" fmla="*/ 1873678 w 2384171"/>
              <a:gd name="connsiteY6" fmla="*/ 95367 h 1194890"/>
              <a:gd name="connsiteX7" fmla="*/ 2384171 w 2384171"/>
              <a:gd name="connsiteY7" fmla="*/ 0 h 1194890"/>
              <a:gd name="connsiteX0" fmla="*/ 0 w 2384171"/>
              <a:gd name="connsiteY0" fmla="*/ 1194890 h 1194890"/>
              <a:gd name="connsiteX1" fmla="*/ 319759 w 2384171"/>
              <a:gd name="connsiteY1" fmla="*/ 858302 h 1194890"/>
              <a:gd name="connsiteX2" fmla="*/ 252441 w 2384171"/>
              <a:gd name="connsiteY2" fmla="*/ 914399 h 1194890"/>
              <a:gd name="connsiteX3" fmla="*/ 628299 w 2384171"/>
              <a:gd name="connsiteY3" fmla="*/ 617080 h 1194890"/>
              <a:gd name="connsiteX4" fmla="*/ 1009767 w 2384171"/>
              <a:gd name="connsiteY4" fmla="*/ 392688 h 1194890"/>
              <a:gd name="connsiteX5" fmla="*/ 1424893 w 2384171"/>
              <a:gd name="connsiteY5" fmla="*/ 218783 h 1194890"/>
              <a:gd name="connsiteX6" fmla="*/ 1873678 w 2384171"/>
              <a:gd name="connsiteY6" fmla="*/ 95367 h 1194890"/>
              <a:gd name="connsiteX7" fmla="*/ 2384171 w 2384171"/>
              <a:gd name="connsiteY7" fmla="*/ 0 h 1194890"/>
              <a:gd name="connsiteX0" fmla="*/ 0 w 2384171"/>
              <a:gd name="connsiteY0" fmla="*/ 1194890 h 1194890"/>
              <a:gd name="connsiteX1" fmla="*/ 319759 w 2384171"/>
              <a:gd name="connsiteY1" fmla="*/ 858302 h 1194890"/>
              <a:gd name="connsiteX2" fmla="*/ 628299 w 2384171"/>
              <a:gd name="connsiteY2" fmla="*/ 617080 h 1194890"/>
              <a:gd name="connsiteX3" fmla="*/ 1009767 w 2384171"/>
              <a:gd name="connsiteY3" fmla="*/ 392688 h 1194890"/>
              <a:gd name="connsiteX4" fmla="*/ 1424893 w 2384171"/>
              <a:gd name="connsiteY4" fmla="*/ 218783 h 1194890"/>
              <a:gd name="connsiteX5" fmla="*/ 1873678 w 2384171"/>
              <a:gd name="connsiteY5" fmla="*/ 95367 h 1194890"/>
              <a:gd name="connsiteX6" fmla="*/ 2384171 w 2384171"/>
              <a:gd name="connsiteY6" fmla="*/ 0 h 1194890"/>
              <a:gd name="connsiteX0" fmla="*/ 0 w 2384171"/>
              <a:gd name="connsiteY0" fmla="*/ 1194890 h 1194890"/>
              <a:gd name="connsiteX1" fmla="*/ 280490 w 2384171"/>
              <a:gd name="connsiteY1" fmla="*/ 891961 h 1194890"/>
              <a:gd name="connsiteX2" fmla="*/ 628299 w 2384171"/>
              <a:gd name="connsiteY2" fmla="*/ 617080 h 1194890"/>
              <a:gd name="connsiteX3" fmla="*/ 1009767 w 2384171"/>
              <a:gd name="connsiteY3" fmla="*/ 392688 h 1194890"/>
              <a:gd name="connsiteX4" fmla="*/ 1424893 w 2384171"/>
              <a:gd name="connsiteY4" fmla="*/ 218783 h 1194890"/>
              <a:gd name="connsiteX5" fmla="*/ 1873678 w 2384171"/>
              <a:gd name="connsiteY5" fmla="*/ 95367 h 1194890"/>
              <a:gd name="connsiteX6" fmla="*/ 2384171 w 2384171"/>
              <a:gd name="connsiteY6" fmla="*/ 0 h 1194890"/>
              <a:gd name="connsiteX0" fmla="*/ 0 w 2384171"/>
              <a:gd name="connsiteY0" fmla="*/ 1194890 h 1194890"/>
              <a:gd name="connsiteX1" fmla="*/ 297320 w 2384171"/>
              <a:gd name="connsiteY1" fmla="*/ 886351 h 1194890"/>
              <a:gd name="connsiteX2" fmla="*/ 628299 w 2384171"/>
              <a:gd name="connsiteY2" fmla="*/ 617080 h 1194890"/>
              <a:gd name="connsiteX3" fmla="*/ 1009767 w 2384171"/>
              <a:gd name="connsiteY3" fmla="*/ 392688 h 1194890"/>
              <a:gd name="connsiteX4" fmla="*/ 1424893 w 2384171"/>
              <a:gd name="connsiteY4" fmla="*/ 218783 h 1194890"/>
              <a:gd name="connsiteX5" fmla="*/ 1873678 w 2384171"/>
              <a:gd name="connsiteY5" fmla="*/ 95367 h 1194890"/>
              <a:gd name="connsiteX6" fmla="*/ 2384171 w 2384171"/>
              <a:gd name="connsiteY6" fmla="*/ 0 h 1194890"/>
              <a:gd name="connsiteX0" fmla="*/ 0 w 2384171"/>
              <a:gd name="connsiteY0" fmla="*/ 1194890 h 1194890"/>
              <a:gd name="connsiteX1" fmla="*/ 297320 w 2384171"/>
              <a:gd name="connsiteY1" fmla="*/ 886351 h 1194890"/>
              <a:gd name="connsiteX2" fmla="*/ 661958 w 2384171"/>
              <a:gd name="connsiteY2" fmla="*/ 605860 h 1194890"/>
              <a:gd name="connsiteX3" fmla="*/ 1009767 w 2384171"/>
              <a:gd name="connsiteY3" fmla="*/ 392688 h 1194890"/>
              <a:gd name="connsiteX4" fmla="*/ 1424893 w 2384171"/>
              <a:gd name="connsiteY4" fmla="*/ 218783 h 1194890"/>
              <a:gd name="connsiteX5" fmla="*/ 1873678 w 2384171"/>
              <a:gd name="connsiteY5" fmla="*/ 95367 h 1194890"/>
              <a:gd name="connsiteX6" fmla="*/ 2384171 w 2384171"/>
              <a:gd name="connsiteY6" fmla="*/ 0 h 1194890"/>
              <a:gd name="connsiteX0" fmla="*/ 0 w 2384171"/>
              <a:gd name="connsiteY0" fmla="*/ 1194890 h 1194890"/>
              <a:gd name="connsiteX1" fmla="*/ 297320 w 2384171"/>
              <a:gd name="connsiteY1" fmla="*/ 886351 h 1194890"/>
              <a:gd name="connsiteX2" fmla="*/ 639519 w 2384171"/>
              <a:gd name="connsiteY2" fmla="*/ 611470 h 1194890"/>
              <a:gd name="connsiteX3" fmla="*/ 1009767 w 2384171"/>
              <a:gd name="connsiteY3" fmla="*/ 392688 h 1194890"/>
              <a:gd name="connsiteX4" fmla="*/ 1424893 w 2384171"/>
              <a:gd name="connsiteY4" fmla="*/ 218783 h 1194890"/>
              <a:gd name="connsiteX5" fmla="*/ 1873678 w 2384171"/>
              <a:gd name="connsiteY5" fmla="*/ 95367 h 1194890"/>
              <a:gd name="connsiteX6" fmla="*/ 2384171 w 2384171"/>
              <a:gd name="connsiteY6" fmla="*/ 0 h 119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4171" h="1194890">
                <a:moveTo>
                  <a:pt x="0" y="1194890"/>
                </a:moveTo>
                <a:cubicBezTo>
                  <a:pt x="97237" y="1097653"/>
                  <a:pt x="201953" y="970498"/>
                  <a:pt x="297320" y="886351"/>
                </a:cubicBezTo>
                <a:cubicBezTo>
                  <a:pt x="402037" y="790049"/>
                  <a:pt x="524518" y="689072"/>
                  <a:pt x="639519" y="611470"/>
                </a:cubicBezTo>
                <a:cubicBezTo>
                  <a:pt x="754520" y="533868"/>
                  <a:pt x="877001" y="459071"/>
                  <a:pt x="1009767" y="392688"/>
                </a:cubicBezTo>
                <a:cubicBezTo>
                  <a:pt x="1142533" y="326305"/>
                  <a:pt x="1258469" y="274881"/>
                  <a:pt x="1424893" y="218783"/>
                </a:cubicBezTo>
                <a:cubicBezTo>
                  <a:pt x="1591317" y="162685"/>
                  <a:pt x="1713799" y="131831"/>
                  <a:pt x="1873678" y="95367"/>
                </a:cubicBezTo>
                <a:cubicBezTo>
                  <a:pt x="2033557" y="58903"/>
                  <a:pt x="2245796" y="20569"/>
                  <a:pt x="2384171" y="0"/>
                </a:cubicBezTo>
              </a:path>
            </a:pathLst>
          </a:cu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081103" y="2124602"/>
            <a:ext cx="1065116" cy="959485"/>
            <a:chOff x="4081103" y="1931078"/>
            <a:chExt cx="1065116" cy="959485"/>
          </a:xfrm>
        </p:grpSpPr>
        <p:sp>
          <p:nvSpPr>
            <p:cNvPr id="22554" name="Line 21"/>
            <p:cNvSpPr>
              <a:spLocks noChangeShapeType="1"/>
            </p:cNvSpPr>
            <p:nvPr/>
          </p:nvSpPr>
          <p:spPr bwMode="auto">
            <a:xfrm flipV="1">
              <a:off x="4081103" y="2379388"/>
              <a:ext cx="869950" cy="511175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Text Box 22"/>
            <p:cNvSpPr txBox="1">
              <a:spLocks noChangeArrowheads="1"/>
            </p:cNvSpPr>
            <p:nvPr/>
          </p:nvSpPr>
          <p:spPr bwMode="auto">
            <a:xfrm>
              <a:off x="4825297" y="1931078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v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331334" y="1891239"/>
            <a:ext cx="3333750" cy="2568576"/>
            <a:chOff x="2331334" y="1697715"/>
            <a:chExt cx="3333750" cy="2568576"/>
          </a:xfrm>
        </p:grpSpPr>
        <p:sp>
          <p:nvSpPr>
            <p:cNvPr id="22551" name="Text Box 18"/>
            <p:cNvSpPr txBox="1">
              <a:spLocks noChangeArrowheads="1"/>
            </p:cNvSpPr>
            <p:nvPr/>
          </p:nvSpPr>
          <p:spPr bwMode="auto">
            <a:xfrm>
              <a:off x="2331334" y="1697715"/>
              <a:ext cx="3619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z</a:t>
              </a:r>
            </a:p>
          </p:txBody>
        </p:sp>
        <p:sp>
          <p:nvSpPr>
            <p:cNvPr id="22552" name="Freeform 19"/>
            <p:cNvSpPr>
              <a:spLocks/>
            </p:cNvSpPr>
            <p:nvPr/>
          </p:nvSpPr>
          <p:spPr bwMode="auto">
            <a:xfrm>
              <a:off x="2763134" y="1956478"/>
              <a:ext cx="2901950" cy="1863725"/>
            </a:xfrm>
            <a:custGeom>
              <a:avLst/>
              <a:gdLst>
                <a:gd name="T0" fmla="*/ 0 w 1505"/>
                <a:gd name="T1" fmla="*/ 0 h 1245"/>
                <a:gd name="T2" fmla="*/ 0 w 1505"/>
                <a:gd name="T3" fmla="*/ 1245 h 1245"/>
                <a:gd name="T4" fmla="*/ 1505 w 1505"/>
                <a:gd name="T5" fmla="*/ 1245 h 1245"/>
                <a:gd name="T6" fmla="*/ 0 60000 65536"/>
                <a:gd name="T7" fmla="*/ 0 60000 65536"/>
                <a:gd name="T8" fmla="*/ 0 60000 65536"/>
                <a:gd name="T9" fmla="*/ 0 w 1505"/>
                <a:gd name="T10" fmla="*/ 0 h 1245"/>
                <a:gd name="T11" fmla="*/ 1505 w 1505"/>
                <a:gd name="T12" fmla="*/ 1245 h 12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05" h="1245">
                  <a:moveTo>
                    <a:pt x="0" y="0"/>
                  </a:moveTo>
                  <a:lnTo>
                    <a:pt x="0" y="1245"/>
                  </a:lnTo>
                  <a:lnTo>
                    <a:pt x="1505" y="1245"/>
                  </a:lnTo>
                </a:path>
              </a:pathLst>
            </a:custGeom>
            <a:noFill/>
            <a:ln w="28575">
              <a:solidFill>
                <a:srgbClr val="000066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Text Box 23"/>
            <p:cNvSpPr txBox="1">
              <a:spLocks noChangeArrowheads="1"/>
            </p:cNvSpPr>
            <p:nvPr/>
          </p:nvSpPr>
          <p:spPr bwMode="auto">
            <a:xfrm>
              <a:off x="5260272" y="3747178"/>
              <a:ext cx="36353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x</a:t>
              </a:r>
            </a:p>
          </p:txBody>
        </p:sp>
      </p:grpSp>
      <p:sp>
        <p:nvSpPr>
          <p:cNvPr id="22557" name="Line 24"/>
          <p:cNvSpPr>
            <a:spLocks noChangeShapeType="1"/>
          </p:cNvSpPr>
          <p:nvPr/>
        </p:nvSpPr>
        <p:spPr bwMode="auto">
          <a:xfrm flipV="1">
            <a:off x="3245734" y="3214421"/>
            <a:ext cx="413101" cy="48128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561641" y="2553227"/>
            <a:ext cx="1387473" cy="895350"/>
            <a:chOff x="4151" y="713"/>
            <a:chExt cx="874" cy="564"/>
          </a:xfrm>
        </p:grpSpPr>
        <p:sp>
          <p:nvSpPr>
            <p:cNvPr id="22545" name="Line 26"/>
            <p:cNvSpPr>
              <a:spLocks noChangeShapeType="1"/>
            </p:cNvSpPr>
            <p:nvPr/>
          </p:nvSpPr>
          <p:spPr bwMode="auto">
            <a:xfrm>
              <a:off x="4478" y="732"/>
              <a:ext cx="544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27"/>
            <p:cNvSpPr>
              <a:spLocks noChangeShapeType="1"/>
            </p:cNvSpPr>
            <p:nvPr/>
          </p:nvSpPr>
          <p:spPr bwMode="auto">
            <a:xfrm flipV="1">
              <a:off x="5022" y="739"/>
              <a:ext cx="0" cy="313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28"/>
            <p:cNvSpPr>
              <a:spLocks noChangeShapeType="1"/>
            </p:cNvSpPr>
            <p:nvPr/>
          </p:nvSpPr>
          <p:spPr bwMode="auto">
            <a:xfrm flipV="1">
              <a:off x="4480" y="732"/>
              <a:ext cx="0" cy="322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29"/>
            <p:cNvSpPr>
              <a:spLocks noChangeShapeType="1"/>
            </p:cNvSpPr>
            <p:nvPr/>
          </p:nvSpPr>
          <p:spPr bwMode="auto">
            <a:xfrm>
              <a:off x="4471" y="1052"/>
              <a:ext cx="55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Text Box 30"/>
            <p:cNvSpPr txBox="1">
              <a:spLocks noChangeArrowheads="1"/>
            </p:cNvSpPr>
            <p:nvPr/>
          </p:nvSpPr>
          <p:spPr bwMode="auto">
            <a:xfrm>
              <a:off x="4629" y="986"/>
              <a:ext cx="26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x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50" name="Text Box 31"/>
            <p:cNvSpPr txBox="1">
              <a:spLocks noChangeArrowheads="1"/>
            </p:cNvSpPr>
            <p:nvPr/>
          </p:nvSpPr>
          <p:spPr bwMode="auto">
            <a:xfrm>
              <a:off x="4151" y="713"/>
              <a:ext cx="26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-1" y="0"/>
            <a:ext cx="5038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等势线和流线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579452" y="4402138"/>
            <a:ext cx="5486400" cy="876300"/>
            <a:chOff x="1231900" y="1658938"/>
            <a:chExt cx="5486400" cy="876300"/>
          </a:xfrm>
        </p:grpSpPr>
        <p:graphicFrame>
          <p:nvGraphicFramePr>
            <p:cNvPr id="149095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8824217"/>
                </p:ext>
              </p:extLst>
            </p:nvPr>
          </p:nvGraphicFramePr>
          <p:xfrm>
            <a:off x="1231900" y="1658938"/>
            <a:ext cx="154305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90" name="公式" r:id="rId4" imgW="736560" imgH="419040" progId="Equation.3">
                    <p:embed/>
                  </p:oleObj>
                </mc:Choice>
                <mc:Fallback>
                  <p:oleObj name="公式" r:id="rId4" imgW="73656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1900" y="1658938"/>
                          <a:ext cx="1543050" cy="876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2482482"/>
                </p:ext>
              </p:extLst>
            </p:nvPr>
          </p:nvGraphicFramePr>
          <p:xfrm>
            <a:off x="4559300" y="1866900"/>
            <a:ext cx="21590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91" name="Equation" r:id="rId6" imgW="1079280" imgH="228600" progId="Equation.DSMT4">
                    <p:embed/>
                  </p:oleObj>
                </mc:Choice>
                <mc:Fallback>
                  <p:oleObj name="Equation" r:id="rId6" imgW="1079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559300" y="1866900"/>
                          <a:ext cx="21590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Box 12"/>
            <p:cNvSpPr txBox="1"/>
            <p:nvPr/>
          </p:nvSpPr>
          <p:spPr>
            <a:xfrm>
              <a:off x="2773638" y="1817760"/>
              <a:ext cx="1731564" cy="517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000066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展开可得：</a:t>
              </a:r>
              <a:endParaRPr lang="zh-CN" altLang="en-US" sz="2400" b="1" dirty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508104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55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949" name="Text Box 5"/>
          <p:cNvSpPr txBox="1">
            <a:spLocks noChangeArrowheads="1"/>
          </p:cNvSpPr>
          <p:nvPr/>
        </p:nvSpPr>
        <p:spPr bwMode="auto">
          <a:xfrm>
            <a:off x="585599" y="603788"/>
            <a:ext cx="29337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流函数的概念：</a:t>
            </a:r>
            <a:endParaRPr lang="zh-CN" altLang="en-US" sz="28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3497263" y="5768975"/>
            <a:ext cx="22113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 函 数</a:t>
            </a:r>
          </a:p>
        </p:txBody>
      </p:sp>
      <p:sp>
        <p:nvSpPr>
          <p:cNvPr id="3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-1" y="0"/>
            <a:ext cx="5038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等势线和流线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059358"/>
              </p:ext>
            </p:extLst>
          </p:nvPr>
        </p:nvGraphicFramePr>
        <p:xfrm>
          <a:off x="363160" y="3162421"/>
          <a:ext cx="27686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60" name="Equation" r:id="rId4" imgW="1384200" imgH="406080" progId="Equation.DSMT4">
                  <p:embed/>
                </p:oleObj>
              </mc:Choice>
              <mc:Fallback>
                <p:oleObj name="Equation" r:id="rId4" imgW="1384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3160" y="3162421"/>
                        <a:ext cx="2768600" cy="811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521729" y="1396278"/>
            <a:ext cx="2449002" cy="1653871"/>
            <a:chOff x="521729" y="1396278"/>
            <a:chExt cx="2449002" cy="1653871"/>
          </a:xfrm>
        </p:grpSpPr>
        <p:sp>
          <p:nvSpPr>
            <p:cNvPr id="15" name="下箭头标注 14"/>
            <p:cNvSpPr/>
            <p:nvPr/>
          </p:nvSpPr>
          <p:spPr bwMode="auto">
            <a:xfrm>
              <a:off x="521729" y="1396278"/>
              <a:ext cx="2449002" cy="1653871"/>
            </a:xfrm>
            <a:prstGeom prst="downArrowCallout">
              <a:avLst>
                <a:gd name="adj1" fmla="val 25961"/>
                <a:gd name="adj2" fmla="val 25000"/>
                <a:gd name="adj3" fmla="val 23558"/>
                <a:gd name="adj4" fmla="val 5103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38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994408"/>
                </p:ext>
              </p:extLst>
            </p:nvPr>
          </p:nvGraphicFramePr>
          <p:xfrm>
            <a:off x="887296" y="1581372"/>
            <a:ext cx="170021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061" name="Equation" r:id="rId6" imgW="850680" imgH="228600" progId="Equation.DSMT4">
                    <p:embed/>
                  </p:oleObj>
                </mc:Choice>
                <mc:Fallback>
                  <p:oleObj name="Equation" r:id="rId6" imgW="8506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87296" y="1581372"/>
                          <a:ext cx="1700212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3783703" y="2118839"/>
            <a:ext cx="1723474" cy="1368600"/>
            <a:chOff x="3783703" y="2118839"/>
            <a:chExt cx="1723474" cy="1368600"/>
          </a:xfrm>
        </p:grpSpPr>
        <p:sp>
          <p:nvSpPr>
            <p:cNvPr id="22558" name="Text Box 14"/>
            <p:cNvSpPr txBox="1">
              <a:spLocks noChangeArrowheads="1"/>
            </p:cNvSpPr>
            <p:nvPr/>
          </p:nvSpPr>
          <p:spPr bwMode="auto">
            <a:xfrm>
              <a:off x="3796596" y="2118839"/>
              <a:ext cx="1710581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135000"/>
              </a:pP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</a:rPr>
                <a:t>充要条件：</a:t>
              </a:r>
              <a:endParaRPr lang="zh-CN" altLang="en-US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graphicFrame>
          <p:nvGraphicFramePr>
            <p:cNvPr id="41" name="对象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5121012"/>
                </p:ext>
              </p:extLst>
            </p:nvPr>
          </p:nvGraphicFramePr>
          <p:xfrm>
            <a:off x="3783703" y="2674639"/>
            <a:ext cx="1707575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062" name="Equation" r:id="rId8" imgW="850680" imgH="406080" progId="Equation.DSMT4">
                    <p:embed/>
                  </p:oleObj>
                </mc:Choice>
                <mc:Fallback>
                  <p:oleObj name="Equation" r:id="rId8" imgW="85068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783703" y="2674639"/>
                          <a:ext cx="1707575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6634300" y="2078033"/>
            <a:ext cx="2444698" cy="1488558"/>
            <a:chOff x="6634300" y="2078033"/>
            <a:chExt cx="2444698" cy="1488558"/>
          </a:xfrm>
        </p:grpSpPr>
        <p:sp>
          <p:nvSpPr>
            <p:cNvPr id="3" name="矩形 2"/>
            <p:cNvSpPr/>
            <p:nvPr/>
          </p:nvSpPr>
          <p:spPr bwMode="auto">
            <a:xfrm>
              <a:off x="6666614" y="2078033"/>
              <a:ext cx="2275367" cy="1488558"/>
            </a:xfrm>
            <a:prstGeom prst="rect">
              <a:avLst/>
            </a:prstGeom>
            <a:solidFill>
              <a:srgbClr val="99CCFF"/>
            </a:solidFill>
            <a:ln w="2857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90955" name="Text Box 11"/>
            <p:cNvSpPr txBox="1">
              <a:spLocks noChangeArrowheads="1"/>
            </p:cNvSpPr>
            <p:nvPr/>
          </p:nvSpPr>
          <p:spPr bwMode="auto">
            <a:xfrm>
              <a:off x="6634300" y="2174946"/>
              <a:ext cx="244469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lang="zh-CN" altLang="en-US" sz="2400" b="1" dirty="0" smtClean="0">
                  <a:solidFill>
                    <a:srgbClr val="C00000"/>
                  </a:solidFill>
                  <a:latin typeface="幼圆" pitchFamily="49" charset="-122"/>
                  <a:ea typeface="幼圆" pitchFamily="49" charset="-122"/>
                </a:rPr>
                <a:t>渗流连续性方程</a:t>
              </a:r>
              <a:endParaRPr lang="zh-CN" altLang="en-US" sz="20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9862068"/>
                </p:ext>
              </p:extLst>
            </p:nvPr>
          </p:nvGraphicFramePr>
          <p:xfrm>
            <a:off x="6872288" y="2690813"/>
            <a:ext cx="1785937" cy="803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063" name="公式" r:id="rId10" imgW="876240" imgH="393480" progId="Equation.3">
                    <p:embed/>
                  </p:oleObj>
                </mc:Choice>
                <mc:Fallback>
                  <p:oleObj name="公式" r:id="rId10" imgW="8762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2288" y="2690813"/>
                          <a:ext cx="1785937" cy="803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右大括号 17"/>
          <p:cNvSpPr/>
          <p:nvPr/>
        </p:nvSpPr>
        <p:spPr bwMode="auto">
          <a:xfrm>
            <a:off x="3307533" y="2207308"/>
            <a:ext cx="309948" cy="1494846"/>
          </a:xfrm>
          <a:prstGeom prst="rightBrace">
            <a:avLst>
              <a:gd name="adj1" fmla="val 22090"/>
              <a:gd name="adj2" fmla="val 50712"/>
            </a:avLst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550952" y="2249678"/>
            <a:ext cx="595035" cy="65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？</a:t>
            </a:r>
            <a:endParaRPr lang="zh-CN" altLang="en-US" sz="3200" dirty="0">
              <a:solidFill>
                <a:srgbClr val="C0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19" name="左右箭头 18"/>
          <p:cNvSpPr/>
          <p:nvPr/>
        </p:nvSpPr>
        <p:spPr bwMode="auto">
          <a:xfrm>
            <a:off x="5518301" y="2785722"/>
            <a:ext cx="1020726" cy="648586"/>
          </a:xfrm>
          <a:prstGeom prst="leftRightArrow">
            <a:avLst>
              <a:gd name="adj1" fmla="val 50000"/>
              <a:gd name="adj2" fmla="val 48361"/>
            </a:avLst>
          </a:prstGeom>
          <a:solidFill>
            <a:srgbClr val="FF993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925014" y="4244818"/>
            <a:ext cx="4922875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存在函数</a:t>
            </a:r>
            <a:r>
              <a:rPr lang="zh-CN" altLang="en-US" sz="2400" b="1" i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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，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称为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流函数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，且有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：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353174"/>
              </p:ext>
            </p:extLst>
          </p:nvPr>
        </p:nvGraphicFramePr>
        <p:xfrm>
          <a:off x="1182688" y="4771570"/>
          <a:ext cx="48926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64" name="公式" r:id="rId12" imgW="2273040" imgH="393480" progId="Equation.3">
                  <p:embed/>
                </p:oleObj>
              </mc:Choice>
              <mc:Fallback>
                <p:oleObj name="公式" r:id="rId12" imgW="22730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4771570"/>
                        <a:ext cx="489267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822262"/>
              </p:ext>
            </p:extLst>
          </p:nvPr>
        </p:nvGraphicFramePr>
        <p:xfrm>
          <a:off x="7432675" y="4341358"/>
          <a:ext cx="1254125" cy="16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65" name="公式" r:id="rId14" imgW="622080" imgH="838080" progId="Equation.3">
                  <p:embed/>
                </p:oleObj>
              </mc:Choice>
              <mc:Fallback>
                <p:oleObj name="公式" r:id="rId14" imgW="6220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2675" y="4341358"/>
                        <a:ext cx="1254125" cy="168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AutoShape 8"/>
          <p:cNvSpPr>
            <a:spLocks noChangeArrowheads="1"/>
          </p:cNvSpPr>
          <p:nvPr/>
        </p:nvSpPr>
        <p:spPr bwMode="auto">
          <a:xfrm>
            <a:off x="6474721" y="4951908"/>
            <a:ext cx="582613" cy="474662"/>
          </a:xfrm>
          <a:prstGeom prst="rightArrow">
            <a:avLst>
              <a:gd name="adj1" fmla="val 56324"/>
              <a:gd name="adj2" fmla="val 54353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TextBox 35"/>
          <p:cNvSpPr txBox="1"/>
          <p:nvPr/>
        </p:nvSpPr>
        <p:spPr>
          <a:xfrm>
            <a:off x="4243984" y="2503048"/>
            <a:ext cx="595035" cy="65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？</a:t>
            </a:r>
            <a:endParaRPr lang="zh-CN" altLang="en-US" sz="3200" dirty="0">
              <a:solidFill>
                <a:srgbClr val="C0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038434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3" presetClass="entr" presetSubtype="16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6" grpId="0"/>
      <p:bldP spid="19" grpId="0" animBg="1"/>
      <p:bldP spid="37" grpId="0"/>
      <p:bldP spid="43" grpId="0" animBg="1"/>
      <p:bldP spid="2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970" name="Text Box 2"/>
          <p:cNvSpPr txBox="1">
            <a:spLocks noChangeArrowheads="1"/>
          </p:cNvSpPr>
          <p:nvPr/>
        </p:nvSpPr>
        <p:spPr bwMode="auto">
          <a:xfrm>
            <a:off x="446088" y="692150"/>
            <a:ext cx="763428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性质一：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流线互不相交，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在同一条流线上，流函数的值为一常数</a:t>
            </a:r>
            <a:endParaRPr lang="en-US" altLang="zh-CN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3324226" y="5764213"/>
            <a:ext cx="32781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流函数的性质</a:t>
            </a:r>
          </a:p>
        </p:txBody>
      </p:sp>
      <p:graphicFrame>
        <p:nvGraphicFramePr>
          <p:cNvPr id="1491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388217"/>
              </p:ext>
            </p:extLst>
          </p:nvPr>
        </p:nvGraphicFramePr>
        <p:xfrm>
          <a:off x="1487488" y="2332038"/>
          <a:ext cx="218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4" name="公式" r:id="rId4" imgW="1091880" imgH="215640" progId="Equation.3">
                  <p:embed/>
                </p:oleObj>
              </mc:Choice>
              <mc:Fallback>
                <p:oleObj name="公式" r:id="rId4" imgW="1091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2332038"/>
                        <a:ext cx="2184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1" y="0"/>
            <a:ext cx="5038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等势线和流线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539288" y="1093899"/>
            <a:ext cx="3306762" cy="2526821"/>
            <a:chOff x="5539288" y="1084374"/>
            <a:chExt cx="3306762" cy="2526821"/>
          </a:xfrm>
        </p:grpSpPr>
        <p:sp>
          <p:nvSpPr>
            <p:cNvPr id="23573" name="Freeform 8"/>
            <p:cNvSpPr>
              <a:spLocks/>
            </p:cNvSpPr>
            <p:nvPr/>
          </p:nvSpPr>
          <p:spPr bwMode="auto">
            <a:xfrm>
              <a:off x="5944100" y="1368057"/>
              <a:ext cx="2901950" cy="1863725"/>
            </a:xfrm>
            <a:custGeom>
              <a:avLst/>
              <a:gdLst>
                <a:gd name="T0" fmla="*/ 0 w 1505"/>
                <a:gd name="T1" fmla="*/ 0 h 1245"/>
                <a:gd name="T2" fmla="*/ 0 w 1505"/>
                <a:gd name="T3" fmla="*/ 1245 h 1245"/>
                <a:gd name="T4" fmla="*/ 1505 w 1505"/>
                <a:gd name="T5" fmla="*/ 1245 h 1245"/>
                <a:gd name="T6" fmla="*/ 0 60000 65536"/>
                <a:gd name="T7" fmla="*/ 0 60000 65536"/>
                <a:gd name="T8" fmla="*/ 0 60000 65536"/>
                <a:gd name="T9" fmla="*/ 0 w 1505"/>
                <a:gd name="T10" fmla="*/ 0 h 1245"/>
                <a:gd name="T11" fmla="*/ 1505 w 1505"/>
                <a:gd name="T12" fmla="*/ 1245 h 12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05" h="1245">
                  <a:moveTo>
                    <a:pt x="0" y="0"/>
                  </a:moveTo>
                  <a:lnTo>
                    <a:pt x="0" y="1245"/>
                  </a:lnTo>
                  <a:lnTo>
                    <a:pt x="1505" y="1245"/>
                  </a:lnTo>
                </a:path>
              </a:pathLst>
            </a:custGeom>
            <a:noFill/>
            <a:ln w="28575">
              <a:solidFill>
                <a:srgbClr val="000066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5" name="Text Box 10"/>
            <p:cNvSpPr txBox="1">
              <a:spLocks noChangeArrowheads="1"/>
            </p:cNvSpPr>
            <p:nvPr/>
          </p:nvSpPr>
          <p:spPr bwMode="auto">
            <a:xfrm>
              <a:off x="8460288" y="3092082"/>
              <a:ext cx="36353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x</a:t>
              </a:r>
            </a:p>
          </p:txBody>
        </p:sp>
        <p:sp>
          <p:nvSpPr>
            <p:cNvPr id="23580" name="Text Box 15"/>
            <p:cNvSpPr txBox="1">
              <a:spLocks noChangeArrowheads="1"/>
            </p:cNvSpPr>
            <p:nvPr/>
          </p:nvSpPr>
          <p:spPr bwMode="auto">
            <a:xfrm>
              <a:off x="7689902" y="1084374"/>
              <a:ext cx="4988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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3581" name="Text Box 16"/>
            <p:cNvSpPr txBox="1">
              <a:spLocks noChangeArrowheads="1"/>
            </p:cNvSpPr>
            <p:nvPr/>
          </p:nvSpPr>
          <p:spPr bwMode="auto">
            <a:xfrm>
              <a:off x="5539288" y="1137870"/>
              <a:ext cx="3619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z</a:t>
              </a:r>
            </a:p>
          </p:txBody>
        </p:sp>
        <p:sp>
          <p:nvSpPr>
            <p:cNvPr id="32" name="Text Box 15"/>
            <p:cNvSpPr txBox="1">
              <a:spLocks noChangeArrowheads="1"/>
            </p:cNvSpPr>
            <p:nvPr/>
          </p:nvSpPr>
          <p:spPr bwMode="auto">
            <a:xfrm>
              <a:off x="8001790" y="1853463"/>
              <a:ext cx="4988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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5" name="任意多边形 4"/>
            <p:cNvSpPr/>
            <p:nvPr/>
          </p:nvSpPr>
          <p:spPr bwMode="auto">
            <a:xfrm>
              <a:off x="6347652" y="1516469"/>
              <a:ext cx="1860698" cy="988828"/>
            </a:xfrm>
            <a:custGeom>
              <a:avLst/>
              <a:gdLst>
                <a:gd name="connsiteX0" fmla="*/ 0 w 1860698"/>
                <a:gd name="connsiteY0" fmla="*/ 988828 h 988828"/>
                <a:gd name="connsiteX1" fmla="*/ 754912 w 1860698"/>
                <a:gd name="connsiteY1" fmla="*/ 393405 h 988828"/>
                <a:gd name="connsiteX2" fmla="*/ 1860698 w 1860698"/>
                <a:gd name="connsiteY2" fmla="*/ 0 h 988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60698" h="988828">
                  <a:moveTo>
                    <a:pt x="0" y="988828"/>
                  </a:moveTo>
                  <a:cubicBezTo>
                    <a:pt x="222398" y="773519"/>
                    <a:pt x="444796" y="558210"/>
                    <a:pt x="754912" y="393405"/>
                  </a:cubicBezTo>
                  <a:cubicBezTo>
                    <a:pt x="1065028" y="228600"/>
                    <a:pt x="1462863" y="114300"/>
                    <a:pt x="1860698" y="0"/>
                  </a:cubicBezTo>
                </a:path>
              </a:pathLst>
            </a:custGeom>
            <a:noFill/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任意多边形 5"/>
            <p:cNvSpPr/>
            <p:nvPr/>
          </p:nvSpPr>
          <p:spPr bwMode="auto">
            <a:xfrm>
              <a:off x="6613466" y="2345809"/>
              <a:ext cx="1807535" cy="510363"/>
            </a:xfrm>
            <a:custGeom>
              <a:avLst/>
              <a:gdLst>
                <a:gd name="connsiteX0" fmla="*/ 0 w 1807535"/>
                <a:gd name="connsiteY0" fmla="*/ 510363 h 510363"/>
                <a:gd name="connsiteX1" fmla="*/ 861237 w 1807535"/>
                <a:gd name="connsiteY1" fmla="*/ 148856 h 510363"/>
                <a:gd name="connsiteX2" fmla="*/ 1807535 w 1807535"/>
                <a:gd name="connsiteY2" fmla="*/ 0 h 51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7535" h="510363">
                  <a:moveTo>
                    <a:pt x="0" y="510363"/>
                  </a:moveTo>
                  <a:cubicBezTo>
                    <a:pt x="279990" y="372139"/>
                    <a:pt x="559981" y="233916"/>
                    <a:pt x="861237" y="148856"/>
                  </a:cubicBezTo>
                  <a:cubicBezTo>
                    <a:pt x="1162493" y="63796"/>
                    <a:pt x="1485014" y="31898"/>
                    <a:pt x="1807535" y="0"/>
                  </a:cubicBezTo>
                </a:path>
              </a:pathLst>
            </a:custGeom>
            <a:noFill/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53972" y="1495198"/>
              <a:ext cx="829073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/>
                <a:t>流线</a:t>
              </a:r>
              <a:r>
                <a:rPr lang="en-US" altLang="zh-CN" sz="2000" b="1" dirty="0" smtClean="0"/>
                <a:t>1</a:t>
              </a:r>
              <a:endParaRPr lang="zh-CN" altLang="en-US" sz="2000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76493" y="2115431"/>
              <a:ext cx="829073" cy="4147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/>
                <a:t>流线</a:t>
              </a:r>
              <a:r>
                <a:rPr lang="en-US" altLang="zh-CN" sz="2000" b="1" dirty="0" smtClean="0"/>
                <a:t>2</a:t>
              </a:r>
              <a:endParaRPr lang="zh-CN" altLang="en-US" sz="2000" b="1" dirty="0"/>
            </a:p>
          </p:txBody>
        </p:sp>
      </p:grpSp>
      <p:graphicFrame>
        <p:nvGraphicFramePr>
          <p:cNvPr id="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643773"/>
              </p:ext>
            </p:extLst>
          </p:nvPr>
        </p:nvGraphicFramePr>
        <p:xfrm>
          <a:off x="1519238" y="3228975"/>
          <a:ext cx="193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5" name="公式" r:id="rId6" imgW="965160" imgH="215640" progId="Equation.3">
                  <p:embed/>
                </p:oleObj>
              </mc:Choice>
              <mc:Fallback>
                <p:oleObj name="公式" r:id="rId6" imgW="965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3228975"/>
                        <a:ext cx="1930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1036158" y="2728179"/>
            <a:ext cx="452467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在同一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条流线上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，满足流线方程</a:t>
            </a:r>
            <a:endParaRPr lang="en-US" altLang="zh-CN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40" name="AutoShape 8"/>
          <p:cNvSpPr>
            <a:spLocks noChangeArrowheads="1"/>
          </p:cNvSpPr>
          <p:nvPr/>
        </p:nvSpPr>
        <p:spPr bwMode="auto">
          <a:xfrm>
            <a:off x="1046791" y="4497582"/>
            <a:ext cx="590624" cy="542249"/>
          </a:xfrm>
          <a:prstGeom prst="rightArrow">
            <a:avLst>
              <a:gd name="adj1" fmla="val 56324"/>
              <a:gd name="adj2" fmla="val 54353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1909135" y="4415640"/>
            <a:ext cx="66706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在一条流线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流函数的值为一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常数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在渗流场中， 流线就是流函数的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等值线</a:t>
            </a:r>
            <a:endParaRPr lang="en-US" altLang="zh-CN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046791" y="3713642"/>
            <a:ext cx="4524670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所以，在同一条流线上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d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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  <a:endParaRPr lang="en-US" altLang="zh-CN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1025525" y="1720037"/>
            <a:ext cx="31165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流函数和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流线的关系</a:t>
            </a:r>
            <a:endParaRPr lang="en-US" altLang="zh-CN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128879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9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 animBg="1"/>
      <p:bldP spid="23" grpId="0"/>
      <p:bldP spid="21" grpId="0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3324226" y="5764213"/>
            <a:ext cx="32781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流函数的性质</a:t>
            </a:r>
          </a:p>
        </p:txBody>
      </p:sp>
      <p:sp>
        <p:nvSpPr>
          <p:cNvPr id="1491974" name="Text Box 6"/>
          <p:cNvSpPr txBox="1">
            <a:spLocks noChangeArrowheads="1"/>
          </p:cNvSpPr>
          <p:nvPr/>
        </p:nvSpPr>
        <p:spPr bwMode="auto">
          <a:xfrm>
            <a:off x="466246" y="825020"/>
            <a:ext cx="5029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性质二：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两条流线流函数的差值等于其间通过的流量</a:t>
            </a:r>
            <a:endParaRPr lang="en-US" altLang="zh-CN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491985" name="Text Box 17"/>
          <p:cNvSpPr txBox="1">
            <a:spLocks noChangeArrowheads="1"/>
          </p:cNvSpPr>
          <p:nvPr/>
        </p:nvSpPr>
        <p:spPr bwMode="auto">
          <a:xfrm>
            <a:off x="980963" y="2084211"/>
            <a:ext cx="5070619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取两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流线间的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过水断面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ab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的坐标分别为：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 z)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                                 b(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-d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z+dz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4919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976332"/>
              </p:ext>
            </p:extLst>
          </p:nvPr>
        </p:nvGraphicFramePr>
        <p:xfrm>
          <a:off x="1531938" y="3894138"/>
          <a:ext cx="45212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1" name="公式" r:id="rId4" imgW="2260440" imgH="863280" progId="Equation.3">
                  <p:embed/>
                </p:oleObj>
              </mc:Choice>
              <mc:Fallback>
                <p:oleObj name="公式" r:id="rId4" imgW="226044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3894138"/>
                        <a:ext cx="4521200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1" y="0"/>
            <a:ext cx="5038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等势线和流线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07051" y="577184"/>
            <a:ext cx="3249612" cy="2663825"/>
            <a:chOff x="5607051" y="577184"/>
            <a:chExt cx="3249612" cy="2663825"/>
          </a:xfrm>
        </p:grpSpPr>
        <p:sp>
          <p:nvSpPr>
            <p:cNvPr id="23573" name="Freeform 8"/>
            <p:cNvSpPr>
              <a:spLocks/>
            </p:cNvSpPr>
            <p:nvPr/>
          </p:nvSpPr>
          <p:spPr bwMode="auto">
            <a:xfrm>
              <a:off x="5954713" y="797846"/>
              <a:ext cx="2901950" cy="1863725"/>
            </a:xfrm>
            <a:custGeom>
              <a:avLst/>
              <a:gdLst>
                <a:gd name="T0" fmla="*/ 0 w 1505"/>
                <a:gd name="T1" fmla="*/ 0 h 1245"/>
                <a:gd name="T2" fmla="*/ 0 w 1505"/>
                <a:gd name="T3" fmla="*/ 1245 h 1245"/>
                <a:gd name="T4" fmla="*/ 1505 w 1505"/>
                <a:gd name="T5" fmla="*/ 1245 h 1245"/>
                <a:gd name="T6" fmla="*/ 0 60000 65536"/>
                <a:gd name="T7" fmla="*/ 0 60000 65536"/>
                <a:gd name="T8" fmla="*/ 0 60000 65536"/>
                <a:gd name="T9" fmla="*/ 0 w 1505"/>
                <a:gd name="T10" fmla="*/ 0 h 1245"/>
                <a:gd name="T11" fmla="*/ 1505 w 1505"/>
                <a:gd name="T12" fmla="*/ 1245 h 12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05" h="1245">
                  <a:moveTo>
                    <a:pt x="0" y="0"/>
                  </a:moveTo>
                  <a:lnTo>
                    <a:pt x="0" y="1245"/>
                  </a:lnTo>
                  <a:lnTo>
                    <a:pt x="1505" y="1245"/>
                  </a:lnTo>
                </a:path>
              </a:pathLst>
            </a:custGeom>
            <a:noFill/>
            <a:ln w="28575">
              <a:solidFill>
                <a:srgbClr val="000066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3575" name="Text Box 10"/>
            <p:cNvSpPr txBox="1">
              <a:spLocks noChangeArrowheads="1"/>
            </p:cNvSpPr>
            <p:nvPr/>
          </p:nvSpPr>
          <p:spPr bwMode="auto">
            <a:xfrm>
              <a:off x="8413751" y="2721896"/>
              <a:ext cx="36353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3577" name="Freeform 12"/>
            <p:cNvSpPr>
              <a:spLocks/>
            </p:cNvSpPr>
            <p:nvPr/>
          </p:nvSpPr>
          <p:spPr bwMode="auto">
            <a:xfrm>
              <a:off x="6515101" y="1796384"/>
              <a:ext cx="390525" cy="285750"/>
            </a:xfrm>
            <a:custGeom>
              <a:avLst/>
              <a:gdLst>
                <a:gd name="T0" fmla="*/ 0 w 246"/>
                <a:gd name="T1" fmla="*/ 180 h 180"/>
                <a:gd name="T2" fmla="*/ 125 w 246"/>
                <a:gd name="T3" fmla="*/ 74 h 180"/>
                <a:gd name="T4" fmla="*/ 246 w 246"/>
                <a:gd name="T5" fmla="*/ 0 h 180"/>
                <a:gd name="T6" fmla="*/ 0 60000 65536"/>
                <a:gd name="T7" fmla="*/ 0 60000 65536"/>
                <a:gd name="T8" fmla="*/ 0 60000 65536"/>
                <a:gd name="T9" fmla="*/ 0 w 246"/>
                <a:gd name="T10" fmla="*/ 0 h 180"/>
                <a:gd name="T11" fmla="*/ 246 w 246"/>
                <a:gd name="T12" fmla="*/ 180 h 1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180">
                  <a:moveTo>
                    <a:pt x="0" y="180"/>
                  </a:moveTo>
                  <a:cubicBezTo>
                    <a:pt x="42" y="142"/>
                    <a:pt x="84" y="104"/>
                    <a:pt x="125" y="74"/>
                  </a:cubicBezTo>
                  <a:cubicBezTo>
                    <a:pt x="166" y="44"/>
                    <a:pt x="206" y="22"/>
                    <a:pt x="246" y="0"/>
                  </a:cubicBezTo>
                </a:path>
              </a:pathLst>
            </a:custGeom>
            <a:noFill/>
            <a:ln w="19050">
              <a:solidFill>
                <a:srgbClr val="8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23578" name="Text Box 13"/>
            <p:cNvSpPr txBox="1">
              <a:spLocks noChangeArrowheads="1"/>
            </p:cNvSpPr>
            <p:nvPr/>
          </p:nvSpPr>
          <p:spPr bwMode="auto">
            <a:xfrm>
              <a:off x="6143626" y="1931321"/>
              <a:ext cx="5095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d</a:t>
              </a:r>
              <a:r>
                <a:rPr lang="en-US" altLang="zh-CN" sz="2400" b="1" i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q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579" name="Text Box 14"/>
            <p:cNvSpPr txBox="1">
              <a:spLocks noChangeArrowheads="1"/>
            </p:cNvSpPr>
            <p:nvPr/>
          </p:nvSpPr>
          <p:spPr bwMode="auto">
            <a:xfrm>
              <a:off x="8196263" y="1253459"/>
              <a:ext cx="3937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</a:t>
              </a:r>
            </a:p>
          </p:txBody>
        </p:sp>
        <p:sp>
          <p:nvSpPr>
            <p:cNvPr id="23580" name="Text Box 15"/>
            <p:cNvSpPr txBox="1">
              <a:spLocks noChangeArrowheads="1"/>
            </p:cNvSpPr>
            <p:nvPr/>
          </p:nvSpPr>
          <p:spPr bwMode="auto">
            <a:xfrm>
              <a:off x="7796213" y="588404"/>
              <a:ext cx="103105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 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+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d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</a:t>
              </a:r>
            </a:p>
          </p:txBody>
        </p:sp>
        <p:sp>
          <p:nvSpPr>
            <p:cNvPr id="23581" name="Text Box 16"/>
            <p:cNvSpPr txBox="1">
              <a:spLocks noChangeArrowheads="1"/>
            </p:cNvSpPr>
            <p:nvPr/>
          </p:nvSpPr>
          <p:spPr bwMode="auto">
            <a:xfrm>
              <a:off x="5607051" y="577184"/>
              <a:ext cx="34336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2" name="任意多边形 31"/>
            <p:cNvSpPr/>
            <p:nvPr/>
          </p:nvSpPr>
          <p:spPr bwMode="auto">
            <a:xfrm>
              <a:off x="6261644" y="1069330"/>
              <a:ext cx="1860698" cy="988828"/>
            </a:xfrm>
            <a:custGeom>
              <a:avLst/>
              <a:gdLst>
                <a:gd name="connsiteX0" fmla="*/ 0 w 1860698"/>
                <a:gd name="connsiteY0" fmla="*/ 988828 h 988828"/>
                <a:gd name="connsiteX1" fmla="*/ 754912 w 1860698"/>
                <a:gd name="connsiteY1" fmla="*/ 393405 h 988828"/>
                <a:gd name="connsiteX2" fmla="*/ 1860698 w 1860698"/>
                <a:gd name="connsiteY2" fmla="*/ 0 h 988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60698" h="988828">
                  <a:moveTo>
                    <a:pt x="0" y="988828"/>
                  </a:moveTo>
                  <a:cubicBezTo>
                    <a:pt x="222398" y="773519"/>
                    <a:pt x="444796" y="558210"/>
                    <a:pt x="754912" y="393405"/>
                  </a:cubicBezTo>
                  <a:cubicBezTo>
                    <a:pt x="1065028" y="228600"/>
                    <a:pt x="1462863" y="114300"/>
                    <a:pt x="1860698" y="0"/>
                  </a:cubicBezTo>
                </a:path>
              </a:pathLst>
            </a:custGeom>
            <a:noFill/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3" name="任意多边形 32"/>
            <p:cNvSpPr/>
            <p:nvPr/>
          </p:nvSpPr>
          <p:spPr bwMode="auto">
            <a:xfrm>
              <a:off x="6554622" y="1733001"/>
              <a:ext cx="1807535" cy="510363"/>
            </a:xfrm>
            <a:custGeom>
              <a:avLst/>
              <a:gdLst>
                <a:gd name="connsiteX0" fmla="*/ 0 w 1807535"/>
                <a:gd name="connsiteY0" fmla="*/ 510363 h 510363"/>
                <a:gd name="connsiteX1" fmla="*/ 861237 w 1807535"/>
                <a:gd name="connsiteY1" fmla="*/ 148856 h 510363"/>
                <a:gd name="connsiteX2" fmla="*/ 1807535 w 1807535"/>
                <a:gd name="connsiteY2" fmla="*/ 0 h 51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7535" h="510363">
                  <a:moveTo>
                    <a:pt x="0" y="510363"/>
                  </a:moveTo>
                  <a:cubicBezTo>
                    <a:pt x="279990" y="372139"/>
                    <a:pt x="559981" y="233916"/>
                    <a:pt x="861237" y="148856"/>
                  </a:cubicBezTo>
                  <a:cubicBezTo>
                    <a:pt x="1162493" y="63796"/>
                    <a:pt x="1485014" y="31898"/>
                    <a:pt x="1807535" y="0"/>
                  </a:cubicBezTo>
                </a:path>
              </a:pathLst>
            </a:custGeom>
            <a:noFill/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29" name="Group 19"/>
          <p:cNvGrpSpPr>
            <a:grpSpLocks/>
          </p:cNvGrpSpPr>
          <p:nvPr/>
        </p:nvGrpSpPr>
        <p:grpSpPr bwMode="auto">
          <a:xfrm>
            <a:off x="6740528" y="718472"/>
            <a:ext cx="1250951" cy="1528763"/>
            <a:chOff x="4246" y="1042"/>
            <a:chExt cx="788" cy="963"/>
          </a:xfrm>
        </p:grpSpPr>
        <p:sp>
          <p:nvSpPr>
            <p:cNvPr id="34" name="Line 20"/>
            <p:cNvSpPr>
              <a:spLocks noChangeShapeType="1"/>
            </p:cNvSpPr>
            <p:nvPr/>
          </p:nvSpPr>
          <p:spPr bwMode="auto">
            <a:xfrm flipV="1">
              <a:off x="4573" y="1504"/>
              <a:ext cx="0" cy="295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4432" y="1508"/>
              <a:ext cx="145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36" name="Text Box 22"/>
            <p:cNvSpPr txBox="1">
              <a:spLocks noChangeArrowheads="1"/>
            </p:cNvSpPr>
            <p:nvPr/>
          </p:nvSpPr>
          <p:spPr bwMode="auto">
            <a:xfrm>
              <a:off x="4767" y="1437"/>
              <a:ext cx="26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x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Text Box 23"/>
            <p:cNvSpPr txBox="1">
              <a:spLocks noChangeArrowheads="1"/>
            </p:cNvSpPr>
            <p:nvPr/>
          </p:nvSpPr>
          <p:spPr bwMode="auto">
            <a:xfrm>
              <a:off x="4405" y="1042"/>
              <a:ext cx="26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24"/>
            <p:cNvSpPr>
              <a:spLocks noChangeShapeType="1"/>
            </p:cNvSpPr>
            <p:nvPr/>
          </p:nvSpPr>
          <p:spPr bwMode="auto">
            <a:xfrm>
              <a:off x="4432" y="1507"/>
              <a:ext cx="141" cy="298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39" name="Line 25"/>
            <p:cNvSpPr>
              <a:spLocks noChangeShapeType="1"/>
            </p:cNvSpPr>
            <p:nvPr/>
          </p:nvSpPr>
          <p:spPr bwMode="auto">
            <a:xfrm>
              <a:off x="4597" y="1635"/>
              <a:ext cx="179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40" name="Line 26"/>
            <p:cNvSpPr>
              <a:spLocks noChangeShapeType="1"/>
            </p:cNvSpPr>
            <p:nvPr/>
          </p:nvSpPr>
          <p:spPr bwMode="auto">
            <a:xfrm flipV="1">
              <a:off x="4507" y="1328"/>
              <a:ext cx="0" cy="163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41" name="Text Box 27"/>
            <p:cNvSpPr txBox="1">
              <a:spLocks noChangeArrowheads="1"/>
            </p:cNvSpPr>
            <p:nvPr/>
          </p:nvSpPr>
          <p:spPr bwMode="auto">
            <a:xfrm>
              <a:off x="4514" y="1714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2" name="Text Box 28"/>
            <p:cNvSpPr txBox="1">
              <a:spLocks noChangeArrowheads="1"/>
            </p:cNvSpPr>
            <p:nvPr/>
          </p:nvSpPr>
          <p:spPr bwMode="auto">
            <a:xfrm>
              <a:off x="4246" y="1262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" name="Text Box 29"/>
            <p:cNvSpPr txBox="1">
              <a:spLocks noChangeArrowheads="1"/>
            </p:cNvSpPr>
            <p:nvPr/>
          </p:nvSpPr>
          <p:spPr bwMode="auto">
            <a:xfrm>
              <a:off x="4558" y="1327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848191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9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49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198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 bwMode="auto">
          <a:xfrm>
            <a:off x="524786" y="842838"/>
            <a:ext cx="2854518" cy="2449002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2457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855324"/>
              </p:ext>
            </p:extLst>
          </p:nvPr>
        </p:nvGraphicFramePr>
        <p:xfrm>
          <a:off x="5810307" y="733502"/>
          <a:ext cx="18792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2" name="公式" r:id="rId4" imgW="939600" imgH="419040" progId="Equation.3">
                  <p:embed/>
                </p:oleObj>
              </mc:Choice>
              <mc:Fallback>
                <p:oleObj name="公式" r:id="rId4" imgW="939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307" y="733502"/>
                        <a:ext cx="1879200" cy="8380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4"/>
          <p:cNvSpPr txBox="1">
            <a:spLocks noChangeArrowheads="1"/>
          </p:cNvSpPr>
          <p:nvPr/>
        </p:nvSpPr>
        <p:spPr bwMode="auto">
          <a:xfrm>
            <a:off x="1304891" y="3986768"/>
            <a:ext cx="683101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2913" indent="-44291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势函数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和流函数均满足拉普拉斯方程</a:t>
            </a:r>
            <a:endParaRPr lang="en-US" altLang="zh-CN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势函数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和流函数是互为共轭的调和函数，两者均完备地描述了同一个渗流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场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4583" name="Rectangle 5"/>
          <p:cNvSpPr>
            <a:spLocks noChangeArrowheads="1"/>
          </p:cNvSpPr>
          <p:nvPr/>
        </p:nvSpPr>
        <p:spPr bwMode="auto">
          <a:xfrm>
            <a:off x="2333224" y="5678488"/>
            <a:ext cx="58448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势函数与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流函数的正交性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graphicFrame>
        <p:nvGraphicFramePr>
          <p:cNvPr id="2457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472404"/>
              </p:ext>
            </p:extLst>
          </p:nvPr>
        </p:nvGraphicFramePr>
        <p:xfrm>
          <a:off x="604838" y="1073150"/>
          <a:ext cx="238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3" name="公式" r:id="rId6" imgW="1193760" imgH="393480" progId="Equation.3">
                  <p:embed/>
                </p:oleObj>
              </mc:Choice>
              <mc:Fallback>
                <p:oleObj name="公式" r:id="rId6" imgW="1193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1073150"/>
                        <a:ext cx="2387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948280"/>
              </p:ext>
            </p:extLst>
          </p:nvPr>
        </p:nvGraphicFramePr>
        <p:xfrm>
          <a:off x="5838940" y="2568714"/>
          <a:ext cx="195552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4" name="公式" r:id="rId8" imgW="977760" imgH="419040" progId="Equation.3">
                  <p:embed/>
                </p:oleObj>
              </mc:Choice>
              <mc:Fallback>
                <p:oleObj name="公式" r:id="rId8" imgW="977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940" y="2568714"/>
                        <a:ext cx="1955520" cy="83808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-1" y="0"/>
            <a:ext cx="5038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等势线和流线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683112"/>
              </p:ext>
            </p:extLst>
          </p:nvPr>
        </p:nvGraphicFramePr>
        <p:xfrm>
          <a:off x="603250" y="2289175"/>
          <a:ext cx="2717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5" name="公式" r:id="rId10" imgW="1358640" imgH="393480" progId="Equation.3">
                  <p:embed/>
                </p:oleObj>
              </mc:Choice>
              <mc:Fallback>
                <p:oleObj name="公式" r:id="rId10" imgW="1358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2289175"/>
                        <a:ext cx="2717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4102149" y="469135"/>
            <a:ext cx="1495579" cy="1438703"/>
            <a:chOff x="4102149" y="469135"/>
            <a:chExt cx="1495579" cy="1438703"/>
          </a:xfrm>
        </p:grpSpPr>
        <p:sp>
          <p:nvSpPr>
            <p:cNvPr id="18" name="右箭头标注 17"/>
            <p:cNvSpPr/>
            <p:nvPr/>
          </p:nvSpPr>
          <p:spPr bwMode="auto">
            <a:xfrm>
              <a:off x="4150591" y="469135"/>
              <a:ext cx="1447137" cy="1438703"/>
            </a:xfrm>
            <a:prstGeom prst="rightArrowCallout">
              <a:avLst/>
            </a:prstGeom>
            <a:solidFill>
              <a:srgbClr val="99C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102149" y="483345"/>
                  <a:ext cx="946938" cy="14244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𝒙</m:t>
                            </m:r>
                          </m:den>
                        </m:f>
                      </m:oMath>
                    </m:oMathPara>
                  </a14:m>
                  <a:endParaRPr lang="en-US" altLang="zh-CN" sz="1800" b="1" i="1" dirty="0" smtClean="0">
                    <a:solidFill>
                      <a:schemeClr val="tx1"/>
                    </a:solidFill>
                    <a:latin typeface="Cambria Math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</m:oMath>
                    </m:oMathPara>
                  </a14:m>
                  <a:endParaRPr lang="en-US" altLang="zh-CN" sz="1800" b="1" i="1" dirty="0" smtClean="0">
                    <a:solidFill>
                      <a:srgbClr val="C00000"/>
                    </a:solidFill>
                    <a:latin typeface="Cambria Math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18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𝒛</m:t>
                            </m:r>
                          </m:den>
                        </m:f>
                      </m:oMath>
                    </m:oMathPara>
                  </a14:m>
                  <a:endParaRPr lang="zh-CN" altLang="en-US" sz="1800" b="1" dirty="0">
                    <a:solidFill>
                      <a:schemeClr val="tx1"/>
                    </a:solidFill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2149" y="483345"/>
                  <a:ext cx="946938" cy="1424493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/>
          <p:cNvGrpSpPr/>
          <p:nvPr/>
        </p:nvGrpSpPr>
        <p:grpSpPr>
          <a:xfrm>
            <a:off x="4095526" y="2273710"/>
            <a:ext cx="1495579" cy="1455270"/>
            <a:chOff x="4095526" y="2273710"/>
            <a:chExt cx="1495579" cy="1455270"/>
          </a:xfrm>
        </p:grpSpPr>
        <p:sp>
          <p:nvSpPr>
            <p:cNvPr id="33" name="右箭头标注 32"/>
            <p:cNvSpPr/>
            <p:nvPr/>
          </p:nvSpPr>
          <p:spPr bwMode="auto">
            <a:xfrm>
              <a:off x="4143968" y="2275402"/>
              <a:ext cx="1447137" cy="1438703"/>
            </a:xfrm>
            <a:prstGeom prst="rightArrowCallout">
              <a:avLst/>
            </a:prstGeom>
            <a:solidFill>
              <a:srgbClr val="FFC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095526" y="2273710"/>
                  <a:ext cx="946938" cy="14552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𝒛</m:t>
                            </m:r>
                          </m:den>
                        </m:f>
                      </m:oMath>
                    </m:oMathPara>
                  </a14:m>
                  <a:endParaRPr lang="en-US" altLang="zh-CN" sz="1800" b="1" i="1" dirty="0" smtClean="0">
                    <a:solidFill>
                      <a:schemeClr val="tx1"/>
                    </a:solidFill>
                    <a:latin typeface="Cambria Math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2000" b="1" i="1" dirty="0" smtClean="0">
                      <a:solidFill>
                        <a:srgbClr val="C00000"/>
                      </a:solidFill>
                      <a:latin typeface="Cambria Math"/>
                    </a:rPr>
                    <a:t>–</a:t>
                  </a:r>
                </a:p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18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𝝏</m:t>
                            </m:r>
                            <m:r>
                              <a:rPr lang="en-US" altLang="zh-CN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𝒙</m:t>
                            </m:r>
                          </m:den>
                        </m:f>
                      </m:oMath>
                    </m:oMathPara>
                  </a14:m>
                  <a:endParaRPr lang="zh-CN" altLang="en-US" sz="1800" b="1" dirty="0">
                    <a:solidFill>
                      <a:schemeClr val="tx1"/>
                    </a:solidFill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5526" y="2273710"/>
                  <a:ext cx="946938" cy="1455270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左大括号 21"/>
          <p:cNvSpPr/>
          <p:nvPr/>
        </p:nvSpPr>
        <p:spPr bwMode="auto">
          <a:xfrm>
            <a:off x="3562183" y="1113191"/>
            <a:ext cx="310100" cy="1963972"/>
          </a:xfrm>
          <a:prstGeom prst="leftBrace">
            <a:avLst>
              <a:gd name="adj1" fmla="val 31410"/>
              <a:gd name="adj2" fmla="val 50000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344093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4582" grpId="0"/>
      <p:bldP spid="2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3194050" y="5735638"/>
            <a:ext cx="3241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流网及其特性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899177" y="2122653"/>
            <a:ext cx="374055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2913" indent="-44291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性质</a:t>
            </a:r>
            <a:r>
              <a:rPr lang="en-US" altLang="zh-CN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：对各向同性土体，等势线（等水头线）和流线处处垂直，故流网为正交的网格</a:t>
            </a: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504824" y="726265"/>
            <a:ext cx="7326843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4500" indent="-4445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流网：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流场中流线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和等势线（等水头线）组成的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网格</a:t>
            </a:r>
            <a:endParaRPr lang="zh-CN" altLang="en-US" sz="28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032064" y="1795125"/>
            <a:ext cx="3975233" cy="3080241"/>
            <a:chOff x="4947397" y="2599458"/>
            <a:chExt cx="3975233" cy="3080241"/>
          </a:xfrm>
        </p:grpSpPr>
        <p:sp>
          <p:nvSpPr>
            <p:cNvPr id="23" name="Text Box 2788"/>
            <p:cNvSpPr txBox="1">
              <a:spLocks noChangeArrowheads="1"/>
            </p:cNvSpPr>
            <p:nvPr/>
          </p:nvSpPr>
          <p:spPr bwMode="auto">
            <a:xfrm>
              <a:off x="4947397" y="2599458"/>
              <a:ext cx="352106" cy="4446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>
              <a:lvl1pPr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590550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79513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770063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360613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8178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32750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7322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41894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 b="1" dirty="0"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24" name="Freeform 2789"/>
            <p:cNvSpPr>
              <a:spLocks/>
            </p:cNvSpPr>
            <p:nvPr/>
          </p:nvSpPr>
          <p:spPr bwMode="auto">
            <a:xfrm>
              <a:off x="5343277" y="2727298"/>
              <a:ext cx="3441306" cy="2506210"/>
            </a:xfrm>
            <a:custGeom>
              <a:avLst/>
              <a:gdLst>
                <a:gd name="T0" fmla="*/ 0 w 1505"/>
                <a:gd name="T1" fmla="*/ 0 h 1245"/>
                <a:gd name="T2" fmla="*/ 0 w 1505"/>
                <a:gd name="T3" fmla="*/ 1245 h 1245"/>
                <a:gd name="T4" fmla="*/ 1505 w 1505"/>
                <a:gd name="T5" fmla="*/ 1245 h 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5" h="1245">
                  <a:moveTo>
                    <a:pt x="0" y="0"/>
                  </a:moveTo>
                  <a:lnTo>
                    <a:pt x="0" y="1245"/>
                  </a:lnTo>
                  <a:lnTo>
                    <a:pt x="1505" y="124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2790"/>
            <p:cNvSpPr txBox="1">
              <a:spLocks noChangeArrowheads="1"/>
            </p:cNvSpPr>
            <p:nvPr/>
          </p:nvSpPr>
          <p:spPr bwMode="auto">
            <a:xfrm>
              <a:off x="8556097" y="5235014"/>
              <a:ext cx="366533" cy="4446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>
              <a:lvl1pPr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590550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79513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770063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360613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8178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32750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7322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41894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 b="1" dirty="0">
                  <a:latin typeface="Times New Roman" pitchFamily="18" charset="0"/>
                </a:rPr>
                <a:t>x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68669" y="2155912"/>
            <a:ext cx="2223337" cy="1926328"/>
            <a:chOff x="5984002" y="2960245"/>
            <a:chExt cx="2223337" cy="1926328"/>
          </a:xfrm>
        </p:grpSpPr>
        <p:sp>
          <p:nvSpPr>
            <p:cNvPr id="28" name="Freeform 2845"/>
            <p:cNvSpPr>
              <a:spLocks/>
            </p:cNvSpPr>
            <p:nvPr/>
          </p:nvSpPr>
          <p:spPr bwMode="auto">
            <a:xfrm>
              <a:off x="5984002" y="2960245"/>
              <a:ext cx="1485651" cy="1085165"/>
            </a:xfrm>
            <a:custGeom>
              <a:avLst/>
              <a:gdLst>
                <a:gd name="T0" fmla="*/ 0 w 963"/>
                <a:gd name="T1" fmla="*/ 682 h 682"/>
                <a:gd name="T2" fmla="*/ 292 w 963"/>
                <a:gd name="T3" fmla="*/ 412 h 682"/>
                <a:gd name="T4" fmla="*/ 655 w 963"/>
                <a:gd name="T5" fmla="*/ 154 h 682"/>
                <a:gd name="T6" fmla="*/ 963 w 963"/>
                <a:gd name="T7" fmla="*/ 0 h 682"/>
                <a:gd name="connsiteX0" fmla="*/ 0 w 9718"/>
                <a:gd name="connsiteY0" fmla="*/ 10023 h 10023"/>
                <a:gd name="connsiteX1" fmla="*/ 3032 w 9718"/>
                <a:gd name="connsiteY1" fmla="*/ 6064 h 10023"/>
                <a:gd name="connsiteX2" fmla="*/ 6802 w 9718"/>
                <a:gd name="connsiteY2" fmla="*/ 2281 h 10023"/>
                <a:gd name="connsiteX3" fmla="*/ 9718 w 9718"/>
                <a:gd name="connsiteY3" fmla="*/ 0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18" h="10023">
                  <a:moveTo>
                    <a:pt x="0" y="10023"/>
                  </a:moveTo>
                  <a:cubicBezTo>
                    <a:pt x="509" y="9363"/>
                    <a:pt x="1900" y="7354"/>
                    <a:pt x="3032" y="6064"/>
                  </a:cubicBezTo>
                  <a:cubicBezTo>
                    <a:pt x="4164" y="4774"/>
                    <a:pt x="5639" y="3293"/>
                    <a:pt x="6802" y="2281"/>
                  </a:cubicBezTo>
                  <a:cubicBezTo>
                    <a:pt x="7965" y="1269"/>
                    <a:pt x="9053" y="469"/>
                    <a:pt x="9718" y="0"/>
                  </a:cubicBezTo>
                </a:path>
              </a:pathLst>
            </a:custGeom>
            <a:noFill/>
            <a:ln w="19050" cmpd="sng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6420783" y="3480586"/>
              <a:ext cx="1786556" cy="1405987"/>
              <a:chOff x="6420783" y="3480586"/>
              <a:chExt cx="1786556" cy="1405987"/>
            </a:xfrm>
          </p:grpSpPr>
          <p:sp>
            <p:nvSpPr>
              <p:cNvPr id="29" name="Freeform 2846"/>
              <p:cNvSpPr>
                <a:spLocks/>
              </p:cNvSpPr>
              <p:nvPr/>
            </p:nvSpPr>
            <p:spPr bwMode="auto">
              <a:xfrm>
                <a:off x="6420783" y="3480586"/>
                <a:ext cx="1487488" cy="1046162"/>
              </a:xfrm>
              <a:custGeom>
                <a:avLst/>
                <a:gdLst>
                  <a:gd name="T0" fmla="*/ 0 w 937"/>
                  <a:gd name="T1" fmla="*/ 659 h 659"/>
                  <a:gd name="T2" fmla="*/ 243 w 937"/>
                  <a:gd name="T3" fmla="*/ 445 h 659"/>
                  <a:gd name="T4" fmla="*/ 492 w 937"/>
                  <a:gd name="T5" fmla="*/ 253 h 659"/>
                  <a:gd name="T6" fmla="*/ 710 w 937"/>
                  <a:gd name="T7" fmla="*/ 115 h 659"/>
                  <a:gd name="T8" fmla="*/ 937 w 937"/>
                  <a:gd name="T9" fmla="*/ 0 h 6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7" h="659">
                    <a:moveTo>
                      <a:pt x="0" y="659"/>
                    </a:moveTo>
                    <a:cubicBezTo>
                      <a:pt x="40" y="624"/>
                      <a:pt x="161" y="513"/>
                      <a:pt x="243" y="445"/>
                    </a:cubicBezTo>
                    <a:cubicBezTo>
                      <a:pt x="325" y="377"/>
                      <a:pt x="414" y="308"/>
                      <a:pt x="492" y="253"/>
                    </a:cubicBezTo>
                    <a:cubicBezTo>
                      <a:pt x="570" y="198"/>
                      <a:pt x="636" y="157"/>
                      <a:pt x="710" y="115"/>
                    </a:cubicBezTo>
                    <a:cubicBezTo>
                      <a:pt x="784" y="73"/>
                      <a:pt x="890" y="24"/>
                      <a:pt x="937" y="0"/>
                    </a:cubicBezTo>
                  </a:path>
                </a:pathLst>
              </a:custGeom>
              <a:noFill/>
              <a:ln w="19050" cmpd="sng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2846"/>
              <p:cNvSpPr>
                <a:spLocks/>
              </p:cNvSpPr>
              <p:nvPr/>
            </p:nvSpPr>
            <p:spPr bwMode="auto">
              <a:xfrm>
                <a:off x="6821871" y="4010331"/>
                <a:ext cx="1385468" cy="876242"/>
              </a:xfrm>
              <a:custGeom>
                <a:avLst/>
                <a:gdLst>
                  <a:gd name="T0" fmla="*/ 0 w 937"/>
                  <a:gd name="T1" fmla="*/ 659 h 659"/>
                  <a:gd name="T2" fmla="*/ 243 w 937"/>
                  <a:gd name="T3" fmla="*/ 445 h 659"/>
                  <a:gd name="T4" fmla="*/ 492 w 937"/>
                  <a:gd name="T5" fmla="*/ 253 h 659"/>
                  <a:gd name="T6" fmla="*/ 710 w 937"/>
                  <a:gd name="T7" fmla="*/ 115 h 659"/>
                  <a:gd name="T8" fmla="*/ 937 w 937"/>
                  <a:gd name="T9" fmla="*/ 0 h 659"/>
                  <a:gd name="connsiteX0" fmla="*/ 0 w 10000"/>
                  <a:gd name="connsiteY0" fmla="*/ 10000 h 10000"/>
                  <a:gd name="connsiteX1" fmla="*/ 2593 w 10000"/>
                  <a:gd name="connsiteY1" fmla="*/ 6753 h 10000"/>
                  <a:gd name="connsiteX2" fmla="*/ 5251 w 10000"/>
                  <a:gd name="connsiteY2" fmla="*/ 3839 h 10000"/>
                  <a:gd name="connsiteX3" fmla="*/ 7535 w 10000"/>
                  <a:gd name="connsiteY3" fmla="*/ 1554 h 10000"/>
                  <a:gd name="connsiteX4" fmla="*/ 10000 w 10000"/>
                  <a:gd name="connsiteY4" fmla="*/ 0 h 10000"/>
                  <a:gd name="connsiteX0" fmla="*/ 0 w 9463"/>
                  <a:gd name="connsiteY0" fmla="*/ 10175 h 10175"/>
                  <a:gd name="connsiteX1" fmla="*/ 2593 w 9463"/>
                  <a:gd name="connsiteY1" fmla="*/ 6928 h 10175"/>
                  <a:gd name="connsiteX2" fmla="*/ 5251 w 9463"/>
                  <a:gd name="connsiteY2" fmla="*/ 4014 h 10175"/>
                  <a:gd name="connsiteX3" fmla="*/ 7535 w 9463"/>
                  <a:gd name="connsiteY3" fmla="*/ 1729 h 10175"/>
                  <a:gd name="connsiteX4" fmla="*/ 9463 w 9463"/>
                  <a:gd name="connsiteY4" fmla="*/ 0 h 10175"/>
                  <a:gd name="connsiteX0" fmla="*/ 0 w 9662"/>
                  <a:gd name="connsiteY0" fmla="*/ 9449 h 9449"/>
                  <a:gd name="connsiteX1" fmla="*/ 2740 w 9662"/>
                  <a:gd name="connsiteY1" fmla="*/ 6258 h 9449"/>
                  <a:gd name="connsiteX2" fmla="*/ 5549 w 9662"/>
                  <a:gd name="connsiteY2" fmla="*/ 3394 h 9449"/>
                  <a:gd name="connsiteX3" fmla="*/ 7963 w 9662"/>
                  <a:gd name="connsiteY3" fmla="*/ 1148 h 9449"/>
                  <a:gd name="connsiteX4" fmla="*/ 9662 w 9662"/>
                  <a:gd name="connsiteY4" fmla="*/ 0 h 9449"/>
                  <a:gd name="connsiteX0" fmla="*/ 0 w 10000"/>
                  <a:gd name="connsiteY0" fmla="*/ 10000 h 10000"/>
                  <a:gd name="connsiteX1" fmla="*/ 2836 w 10000"/>
                  <a:gd name="connsiteY1" fmla="*/ 6623 h 10000"/>
                  <a:gd name="connsiteX2" fmla="*/ 5539 w 10000"/>
                  <a:gd name="connsiteY2" fmla="*/ 3633 h 10000"/>
                  <a:gd name="connsiteX3" fmla="*/ 8242 w 10000"/>
                  <a:gd name="connsiteY3" fmla="*/ 1215 h 10000"/>
                  <a:gd name="connsiteX4" fmla="*/ 10000 w 10000"/>
                  <a:gd name="connsiteY4" fmla="*/ 0 h 10000"/>
                  <a:gd name="connsiteX0" fmla="*/ 0 w 10149"/>
                  <a:gd name="connsiteY0" fmla="*/ 9672 h 9672"/>
                  <a:gd name="connsiteX1" fmla="*/ 2985 w 10149"/>
                  <a:gd name="connsiteY1" fmla="*/ 6623 h 9672"/>
                  <a:gd name="connsiteX2" fmla="*/ 5688 w 10149"/>
                  <a:gd name="connsiteY2" fmla="*/ 3633 h 9672"/>
                  <a:gd name="connsiteX3" fmla="*/ 8391 w 10149"/>
                  <a:gd name="connsiteY3" fmla="*/ 1215 h 9672"/>
                  <a:gd name="connsiteX4" fmla="*/ 10149 w 10149"/>
                  <a:gd name="connsiteY4" fmla="*/ 0 h 9672"/>
                  <a:gd name="connsiteX0" fmla="*/ 0 w 10000"/>
                  <a:gd name="connsiteY0" fmla="*/ 10000 h 10000"/>
                  <a:gd name="connsiteX1" fmla="*/ 2812 w 10000"/>
                  <a:gd name="connsiteY1" fmla="*/ 6613 h 10000"/>
                  <a:gd name="connsiteX2" fmla="*/ 5604 w 10000"/>
                  <a:gd name="connsiteY2" fmla="*/ 3756 h 10000"/>
                  <a:gd name="connsiteX3" fmla="*/ 8268 w 10000"/>
                  <a:gd name="connsiteY3" fmla="*/ 1256 h 10000"/>
                  <a:gd name="connsiteX4" fmla="*/ 10000 w 10000"/>
                  <a:gd name="connsiteY4" fmla="*/ 0 h 10000"/>
                  <a:gd name="connsiteX0" fmla="*/ 0 w 10037"/>
                  <a:gd name="connsiteY0" fmla="*/ 9347 h 9347"/>
                  <a:gd name="connsiteX1" fmla="*/ 2849 w 10037"/>
                  <a:gd name="connsiteY1" fmla="*/ 6613 h 9347"/>
                  <a:gd name="connsiteX2" fmla="*/ 5641 w 10037"/>
                  <a:gd name="connsiteY2" fmla="*/ 3756 h 9347"/>
                  <a:gd name="connsiteX3" fmla="*/ 8305 w 10037"/>
                  <a:gd name="connsiteY3" fmla="*/ 1256 h 9347"/>
                  <a:gd name="connsiteX4" fmla="*/ 10037 w 10037"/>
                  <a:gd name="connsiteY4" fmla="*/ 0 h 9347"/>
                  <a:gd name="connsiteX0" fmla="*/ 0 w 10000"/>
                  <a:gd name="connsiteY0" fmla="*/ 10000 h 10000"/>
                  <a:gd name="connsiteX1" fmla="*/ 3003 w 10000"/>
                  <a:gd name="connsiteY1" fmla="*/ 6600 h 10000"/>
                  <a:gd name="connsiteX2" fmla="*/ 5620 w 10000"/>
                  <a:gd name="connsiteY2" fmla="*/ 4018 h 10000"/>
                  <a:gd name="connsiteX3" fmla="*/ 8274 w 10000"/>
                  <a:gd name="connsiteY3" fmla="*/ 1344 h 10000"/>
                  <a:gd name="connsiteX4" fmla="*/ 10000 w 10000"/>
                  <a:gd name="connsiteY4" fmla="*/ 0 h 10000"/>
                  <a:gd name="connsiteX0" fmla="*/ 0 w 10000"/>
                  <a:gd name="connsiteY0" fmla="*/ 10000 h 10000"/>
                  <a:gd name="connsiteX1" fmla="*/ 3003 w 10000"/>
                  <a:gd name="connsiteY1" fmla="*/ 6600 h 10000"/>
                  <a:gd name="connsiteX2" fmla="*/ 6078 w 10000"/>
                  <a:gd name="connsiteY2" fmla="*/ 3264 h 10000"/>
                  <a:gd name="connsiteX3" fmla="*/ 8274 w 10000"/>
                  <a:gd name="connsiteY3" fmla="*/ 1344 h 10000"/>
                  <a:gd name="connsiteX4" fmla="*/ 10000 w 10000"/>
                  <a:gd name="connsiteY4" fmla="*/ 0 h 10000"/>
                  <a:gd name="connsiteX0" fmla="*/ 0 w 9927"/>
                  <a:gd name="connsiteY0" fmla="*/ 9525 h 9525"/>
                  <a:gd name="connsiteX1" fmla="*/ 2930 w 9927"/>
                  <a:gd name="connsiteY1" fmla="*/ 6600 h 9525"/>
                  <a:gd name="connsiteX2" fmla="*/ 6005 w 9927"/>
                  <a:gd name="connsiteY2" fmla="*/ 3264 h 9525"/>
                  <a:gd name="connsiteX3" fmla="*/ 8201 w 9927"/>
                  <a:gd name="connsiteY3" fmla="*/ 1344 h 9525"/>
                  <a:gd name="connsiteX4" fmla="*/ 9927 w 9927"/>
                  <a:gd name="connsiteY4" fmla="*/ 0 h 9525"/>
                  <a:gd name="connsiteX0" fmla="*/ 0 w 10000"/>
                  <a:gd name="connsiteY0" fmla="*/ 10000 h 10000"/>
                  <a:gd name="connsiteX1" fmla="*/ 2841 w 10000"/>
                  <a:gd name="connsiteY1" fmla="*/ 6577 h 10000"/>
                  <a:gd name="connsiteX2" fmla="*/ 6049 w 10000"/>
                  <a:gd name="connsiteY2" fmla="*/ 3427 h 10000"/>
                  <a:gd name="connsiteX3" fmla="*/ 8261 w 10000"/>
                  <a:gd name="connsiteY3" fmla="*/ 1411 h 10000"/>
                  <a:gd name="connsiteX4" fmla="*/ 10000 w 10000"/>
                  <a:gd name="connsiteY4" fmla="*/ 0 h 10000"/>
                  <a:gd name="connsiteX0" fmla="*/ 0 w 10000"/>
                  <a:gd name="connsiteY0" fmla="*/ 10000 h 10000"/>
                  <a:gd name="connsiteX1" fmla="*/ 2841 w 10000"/>
                  <a:gd name="connsiteY1" fmla="*/ 6577 h 10000"/>
                  <a:gd name="connsiteX2" fmla="*/ 6067 w 10000"/>
                  <a:gd name="connsiteY2" fmla="*/ 3251 h 10000"/>
                  <a:gd name="connsiteX3" fmla="*/ 8261 w 10000"/>
                  <a:gd name="connsiteY3" fmla="*/ 1411 h 10000"/>
                  <a:gd name="connsiteX4" fmla="*/ 10000 w 10000"/>
                  <a:gd name="connsiteY4" fmla="*/ 0 h 10000"/>
                  <a:gd name="connsiteX0" fmla="*/ 0 w 10000"/>
                  <a:gd name="connsiteY0" fmla="*/ 10000 h 10000"/>
                  <a:gd name="connsiteX1" fmla="*/ 2841 w 10000"/>
                  <a:gd name="connsiteY1" fmla="*/ 6577 h 10000"/>
                  <a:gd name="connsiteX2" fmla="*/ 6067 w 10000"/>
                  <a:gd name="connsiteY2" fmla="*/ 3251 h 10000"/>
                  <a:gd name="connsiteX3" fmla="*/ 8206 w 10000"/>
                  <a:gd name="connsiteY3" fmla="*/ 1264 h 10000"/>
                  <a:gd name="connsiteX4" fmla="*/ 10000 w 10000"/>
                  <a:gd name="connsiteY4" fmla="*/ 0 h 10000"/>
                  <a:gd name="connsiteX0" fmla="*/ 0 w 10074"/>
                  <a:gd name="connsiteY0" fmla="*/ 10117 h 10117"/>
                  <a:gd name="connsiteX1" fmla="*/ 2841 w 10074"/>
                  <a:gd name="connsiteY1" fmla="*/ 6694 h 10117"/>
                  <a:gd name="connsiteX2" fmla="*/ 6067 w 10074"/>
                  <a:gd name="connsiteY2" fmla="*/ 3368 h 10117"/>
                  <a:gd name="connsiteX3" fmla="*/ 8206 w 10074"/>
                  <a:gd name="connsiteY3" fmla="*/ 1381 h 10117"/>
                  <a:gd name="connsiteX4" fmla="*/ 10074 w 10074"/>
                  <a:gd name="connsiteY4" fmla="*/ 0 h 1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" h="10117">
                    <a:moveTo>
                      <a:pt x="0" y="10117"/>
                    </a:moveTo>
                    <a:cubicBezTo>
                      <a:pt x="461" y="9476"/>
                      <a:pt x="1830" y="7819"/>
                      <a:pt x="2841" y="6694"/>
                    </a:cubicBezTo>
                    <a:cubicBezTo>
                      <a:pt x="3852" y="5569"/>
                      <a:pt x="5173" y="4253"/>
                      <a:pt x="6067" y="3368"/>
                    </a:cubicBezTo>
                    <a:cubicBezTo>
                      <a:pt x="6961" y="2483"/>
                      <a:pt x="7352" y="2151"/>
                      <a:pt x="8206" y="1381"/>
                    </a:cubicBezTo>
                    <a:cubicBezTo>
                      <a:pt x="9060" y="611"/>
                      <a:pt x="9531" y="440"/>
                      <a:pt x="10074" y="0"/>
                    </a:cubicBezTo>
                  </a:path>
                </a:pathLst>
              </a:custGeom>
              <a:noFill/>
              <a:ln w="19050" cmpd="sng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5949040" y="2009293"/>
            <a:ext cx="2212875" cy="2159709"/>
            <a:chOff x="5864373" y="2813626"/>
            <a:chExt cx="2212875" cy="2159709"/>
          </a:xfrm>
        </p:grpSpPr>
        <p:sp>
          <p:nvSpPr>
            <p:cNvPr id="30" name="Freeform 2847"/>
            <p:cNvSpPr>
              <a:spLocks/>
            </p:cNvSpPr>
            <p:nvPr/>
          </p:nvSpPr>
          <p:spPr bwMode="auto">
            <a:xfrm>
              <a:off x="5864373" y="3620607"/>
              <a:ext cx="1232411" cy="1352728"/>
            </a:xfrm>
            <a:custGeom>
              <a:avLst/>
              <a:gdLst>
                <a:gd name="T0" fmla="*/ 0 w 968"/>
                <a:gd name="T1" fmla="*/ 0 h 1082"/>
                <a:gd name="T2" fmla="*/ 436 w 968"/>
                <a:gd name="T3" fmla="*/ 410 h 1082"/>
                <a:gd name="T4" fmla="*/ 968 w 968"/>
                <a:gd name="T5" fmla="*/ 1082 h 1082"/>
                <a:gd name="connsiteX0" fmla="*/ 0 w 10426"/>
                <a:gd name="connsiteY0" fmla="*/ 0 h 10350"/>
                <a:gd name="connsiteX1" fmla="*/ 4504 w 10426"/>
                <a:gd name="connsiteY1" fmla="*/ 3789 h 10350"/>
                <a:gd name="connsiteX2" fmla="*/ 10030 w 10426"/>
                <a:gd name="connsiteY2" fmla="*/ 9851 h 10350"/>
                <a:gd name="connsiteX3" fmla="*/ 10000 w 10426"/>
                <a:gd name="connsiteY3" fmla="*/ 10000 h 10350"/>
                <a:gd name="connsiteX0" fmla="*/ 0 w 10030"/>
                <a:gd name="connsiteY0" fmla="*/ 0 h 9851"/>
                <a:gd name="connsiteX1" fmla="*/ 4504 w 10030"/>
                <a:gd name="connsiteY1" fmla="*/ 3789 h 9851"/>
                <a:gd name="connsiteX2" fmla="*/ 10030 w 10030"/>
                <a:gd name="connsiteY2" fmla="*/ 9851 h 9851"/>
                <a:gd name="connsiteX0" fmla="*/ 0 w 10000"/>
                <a:gd name="connsiteY0" fmla="*/ 0 h 10000"/>
                <a:gd name="connsiteX1" fmla="*/ 4491 w 10000"/>
                <a:gd name="connsiteY1" fmla="*/ 3846 h 10000"/>
                <a:gd name="connsiteX2" fmla="*/ 7053 w 10000"/>
                <a:gd name="connsiteY2" fmla="*/ 6526 h 10000"/>
                <a:gd name="connsiteX3" fmla="*/ 1000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1411" y="1079"/>
                    <a:pt x="2833" y="2158"/>
                    <a:pt x="4491" y="3846"/>
                  </a:cubicBezTo>
                  <a:cubicBezTo>
                    <a:pt x="5642" y="4930"/>
                    <a:pt x="6135" y="5500"/>
                    <a:pt x="7053" y="6526"/>
                  </a:cubicBezTo>
                  <a:cubicBezTo>
                    <a:pt x="7971" y="7552"/>
                    <a:pt x="9485" y="9418"/>
                    <a:pt x="10000" y="10000"/>
                  </a:cubicBezTo>
                </a:path>
              </a:pathLst>
            </a:custGeom>
            <a:noFill/>
            <a:ln w="19050" cmpd="sng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489700" y="2813626"/>
              <a:ext cx="1587548" cy="1791394"/>
              <a:chOff x="6489700" y="2813626"/>
              <a:chExt cx="1587548" cy="1791394"/>
            </a:xfrm>
          </p:grpSpPr>
          <p:sp>
            <p:nvSpPr>
              <p:cNvPr id="39" name="Freeform 2848"/>
              <p:cNvSpPr>
                <a:spLocks/>
              </p:cNvSpPr>
              <p:nvPr/>
            </p:nvSpPr>
            <p:spPr bwMode="auto">
              <a:xfrm rot="197334">
                <a:off x="7031706" y="2813626"/>
                <a:ext cx="1045542" cy="1495706"/>
              </a:xfrm>
              <a:custGeom>
                <a:avLst/>
                <a:gdLst>
                  <a:gd name="T0" fmla="*/ 0 w 558"/>
                  <a:gd name="T1" fmla="*/ 0 h 840"/>
                  <a:gd name="T2" fmla="*/ 224 w 558"/>
                  <a:gd name="T3" fmla="*/ 272 h 840"/>
                  <a:gd name="T4" fmla="*/ 410 w 558"/>
                  <a:gd name="T5" fmla="*/ 539 h 840"/>
                  <a:gd name="T6" fmla="*/ 558 w 558"/>
                  <a:gd name="T7" fmla="*/ 840 h 840"/>
                  <a:gd name="connsiteX0" fmla="*/ 0 w 9909"/>
                  <a:gd name="connsiteY0" fmla="*/ 0 h 10072"/>
                  <a:gd name="connsiteX1" fmla="*/ 4014 w 9909"/>
                  <a:gd name="connsiteY1" fmla="*/ 3238 h 10072"/>
                  <a:gd name="connsiteX2" fmla="*/ 7348 w 9909"/>
                  <a:gd name="connsiteY2" fmla="*/ 6417 h 10072"/>
                  <a:gd name="connsiteX3" fmla="*/ 9909 w 9909"/>
                  <a:gd name="connsiteY3" fmla="*/ 10072 h 10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09" h="10072">
                    <a:moveTo>
                      <a:pt x="0" y="0"/>
                    </a:moveTo>
                    <a:cubicBezTo>
                      <a:pt x="663" y="548"/>
                      <a:pt x="2796" y="2167"/>
                      <a:pt x="4014" y="3238"/>
                    </a:cubicBezTo>
                    <a:cubicBezTo>
                      <a:pt x="5233" y="4310"/>
                      <a:pt x="6344" y="5286"/>
                      <a:pt x="7348" y="6417"/>
                    </a:cubicBezTo>
                    <a:cubicBezTo>
                      <a:pt x="8351" y="7548"/>
                      <a:pt x="9353" y="9322"/>
                      <a:pt x="9909" y="10072"/>
                    </a:cubicBezTo>
                  </a:path>
                </a:pathLst>
              </a:custGeom>
              <a:noFill/>
              <a:ln w="19050" cmpd="sng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任意多边形 39"/>
              <p:cNvSpPr/>
              <p:nvPr/>
            </p:nvSpPr>
            <p:spPr bwMode="auto">
              <a:xfrm>
                <a:off x="6489700" y="3202940"/>
                <a:ext cx="1099820" cy="1402080"/>
              </a:xfrm>
              <a:custGeom>
                <a:avLst/>
                <a:gdLst>
                  <a:gd name="connsiteX0" fmla="*/ 0 w 1122680"/>
                  <a:gd name="connsiteY0" fmla="*/ 0 h 1371600"/>
                  <a:gd name="connsiteX1" fmla="*/ 411480 w 1122680"/>
                  <a:gd name="connsiteY1" fmla="*/ 424180 h 1371600"/>
                  <a:gd name="connsiteX2" fmla="*/ 807720 w 1122680"/>
                  <a:gd name="connsiteY2" fmla="*/ 937260 h 1371600"/>
                  <a:gd name="connsiteX3" fmla="*/ 1122680 w 1122680"/>
                  <a:gd name="connsiteY3" fmla="*/ 1371600 h 1371600"/>
                  <a:gd name="connsiteX0" fmla="*/ 0 w 1109980"/>
                  <a:gd name="connsiteY0" fmla="*/ 0 h 1374140"/>
                  <a:gd name="connsiteX1" fmla="*/ 411480 w 1109980"/>
                  <a:gd name="connsiteY1" fmla="*/ 424180 h 1374140"/>
                  <a:gd name="connsiteX2" fmla="*/ 807720 w 1109980"/>
                  <a:gd name="connsiteY2" fmla="*/ 937260 h 1374140"/>
                  <a:gd name="connsiteX3" fmla="*/ 1109980 w 1109980"/>
                  <a:gd name="connsiteY3" fmla="*/ 1374140 h 1374140"/>
                  <a:gd name="connsiteX0" fmla="*/ 0 w 1102360"/>
                  <a:gd name="connsiteY0" fmla="*/ 0 h 1381760"/>
                  <a:gd name="connsiteX1" fmla="*/ 411480 w 1102360"/>
                  <a:gd name="connsiteY1" fmla="*/ 424180 h 1381760"/>
                  <a:gd name="connsiteX2" fmla="*/ 807720 w 1102360"/>
                  <a:gd name="connsiteY2" fmla="*/ 937260 h 1381760"/>
                  <a:gd name="connsiteX3" fmla="*/ 1102360 w 1102360"/>
                  <a:gd name="connsiteY3" fmla="*/ 1381760 h 1381760"/>
                  <a:gd name="connsiteX0" fmla="*/ 0 w 1099820"/>
                  <a:gd name="connsiteY0" fmla="*/ 0 h 1402080"/>
                  <a:gd name="connsiteX1" fmla="*/ 411480 w 1099820"/>
                  <a:gd name="connsiteY1" fmla="*/ 424180 h 1402080"/>
                  <a:gd name="connsiteX2" fmla="*/ 807720 w 1099820"/>
                  <a:gd name="connsiteY2" fmla="*/ 937260 h 1402080"/>
                  <a:gd name="connsiteX3" fmla="*/ 1099820 w 1099820"/>
                  <a:gd name="connsiteY3" fmla="*/ 1402080 h 1402080"/>
                  <a:gd name="connsiteX0" fmla="*/ 0 w 1099820"/>
                  <a:gd name="connsiteY0" fmla="*/ 0 h 1402080"/>
                  <a:gd name="connsiteX1" fmla="*/ 411480 w 1099820"/>
                  <a:gd name="connsiteY1" fmla="*/ 424180 h 1402080"/>
                  <a:gd name="connsiteX2" fmla="*/ 807720 w 1099820"/>
                  <a:gd name="connsiteY2" fmla="*/ 937260 h 1402080"/>
                  <a:gd name="connsiteX3" fmla="*/ 982980 w 1099820"/>
                  <a:gd name="connsiteY3" fmla="*/ 1211580 h 1402080"/>
                  <a:gd name="connsiteX4" fmla="*/ 1099820 w 1099820"/>
                  <a:gd name="connsiteY4" fmla="*/ 1402080 h 1402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9820" h="1402080">
                    <a:moveTo>
                      <a:pt x="0" y="0"/>
                    </a:moveTo>
                    <a:cubicBezTo>
                      <a:pt x="138430" y="133985"/>
                      <a:pt x="276860" y="267970"/>
                      <a:pt x="411480" y="424180"/>
                    </a:cubicBezTo>
                    <a:cubicBezTo>
                      <a:pt x="546100" y="580390"/>
                      <a:pt x="712470" y="806027"/>
                      <a:pt x="807720" y="937260"/>
                    </a:cubicBezTo>
                    <a:cubicBezTo>
                      <a:pt x="902970" y="1068493"/>
                      <a:pt x="934297" y="1134110"/>
                      <a:pt x="982980" y="1211580"/>
                    </a:cubicBezTo>
                    <a:cubicBezTo>
                      <a:pt x="1031663" y="1289050"/>
                      <a:pt x="1079077" y="1370330"/>
                      <a:pt x="1099820" y="1402080"/>
                    </a:cubicBez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5644392" y="1782880"/>
            <a:ext cx="1469228" cy="879556"/>
            <a:chOff x="5559725" y="2587213"/>
            <a:chExt cx="1469228" cy="879556"/>
          </a:xfrm>
        </p:grpSpPr>
        <p:grpSp>
          <p:nvGrpSpPr>
            <p:cNvPr id="11" name="组合 10"/>
            <p:cNvGrpSpPr/>
            <p:nvPr/>
          </p:nvGrpSpPr>
          <p:grpSpPr>
            <a:xfrm>
              <a:off x="5559725" y="2587213"/>
              <a:ext cx="1469228" cy="879556"/>
              <a:chOff x="5559725" y="2587213"/>
              <a:chExt cx="1469228" cy="879556"/>
            </a:xfrm>
          </p:grpSpPr>
          <p:sp>
            <p:nvSpPr>
              <p:cNvPr id="35" name="Text Box 2852"/>
              <p:cNvSpPr txBox="1">
                <a:spLocks noChangeArrowheads="1"/>
              </p:cNvSpPr>
              <p:nvPr/>
            </p:nvSpPr>
            <p:spPr bwMode="auto">
              <a:xfrm>
                <a:off x="5559725" y="2587213"/>
                <a:ext cx="902729" cy="3640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3143" tIns="36572" rIns="73143" bIns="36572">
                <a:spAutoFit/>
              </a:bodyPr>
              <a:lstStyle>
                <a:lvl1pPr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365125"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731838"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096963"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1463675"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1920875" defTabSz="73183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378075" defTabSz="73183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2835275" defTabSz="73183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292475" defTabSz="73183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zh-CN" altLang="en-US" sz="1800" b="1" dirty="0" smtClean="0">
                    <a:solidFill>
                      <a:srgbClr val="C00000"/>
                    </a:solidFill>
                    <a:latin typeface="Times New Roman" pitchFamily="18" charset="0"/>
                    <a:sym typeface="Symbol" pitchFamily="18" charset="2"/>
                  </a:rPr>
                  <a:t>等势线</a:t>
                </a:r>
                <a:r>
                  <a:rPr lang="en-US" altLang="zh-CN" sz="1800" b="1" dirty="0" smtClean="0">
                    <a:solidFill>
                      <a:srgbClr val="C00000"/>
                    </a:solidFill>
                    <a:latin typeface="Times New Roman" pitchFamily="18" charset="0"/>
                    <a:sym typeface="Symbol" pitchFamily="18" charset="2"/>
                  </a:rPr>
                  <a:t> </a:t>
                </a:r>
                <a:endParaRPr lang="en-US" altLang="zh-CN" sz="1800" b="1" dirty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endParaRPr>
              </a:p>
            </p:txBody>
          </p:sp>
          <p:sp>
            <p:nvSpPr>
              <p:cNvPr id="2" name="任意多边形 1"/>
              <p:cNvSpPr/>
              <p:nvPr/>
            </p:nvSpPr>
            <p:spPr bwMode="auto">
              <a:xfrm>
                <a:off x="5852160" y="2854518"/>
                <a:ext cx="1176793" cy="612251"/>
              </a:xfrm>
              <a:custGeom>
                <a:avLst/>
                <a:gdLst>
                  <a:gd name="connsiteX0" fmla="*/ 0 w 1176793"/>
                  <a:gd name="connsiteY0" fmla="*/ 612251 h 612251"/>
                  <a:gd name="connsiteX1" fmla="*/ 135172 w 1176793"/>
                  <a:gd name="connsiteY1" fmla="*/ 135172 h 612251"/>
                  <a:gd name="connsiteX2" fmla="*/ 1176793 w 1176793"/>
                  <a:gd name="connsiteY2" fmla="*/ 0 h 612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76793" h="612251">
                    <a:moveTo>
                      <a:pt x="0" y="612251"/>
                    </a:moveTo>
                    <a:lnTo>
                      <a:pt x="135172" y="135172"/>
                    </a:lnTo>
                    <a:lnTo>
                      <a:pt x="1176793" y="0"/>
                    </a:lnTo>
                  </a:path>
                </a:pathLst>
              </a:custGeom>
              <a:noFill/>
              <a:ln w="9525" cap="flat" cmpd="sng" algn="ctr">
                <a:solidFill>
                  <a:srgbClr val="C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cxnSp>
          <p:nvCxnSpPr>
            <p:cNvPr id="4" name="直接箭头连接符 3"/>
            <p:cNvCxnSpPr>
              <a:stCxn id="2" idx="1"/>
            </p:cNvCxnSpPr>
            <p:nvPr/>
          </p:nvCxnSpPr>
          <p:spPr bwMode="auto">
            <a:xfrm>
              <a:off x="5987332" y="2989690"/>
              <a:ext cx="424060" cy="198353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7" name="组合 16"/>
          <p:cNvGrpSpPr/>
          <p:nvPr/>
        </p:nvGrpSpPr>
        <p:grpSpPr>
          <a:xfrm>
            <a:off x="7689368" y="1859574"/>
            <a:ext cx="1056291" cy="1279664"/>
            <a:chOff x="7604701" y="2663907"/>
            <a:chExt cx="1056291" cy="1279664"/>
          </a:xfrm>
        </p:grpSpPr>
        <p:grpSp>
          <p:nvGrpSpPr>
            <p:cNvPr id="12" name="组合 11"/>
            <p:cNvGrpSpPr/>
            <p:nvPr/>
          </p:nvGrpSpPr>
          <p:grpSpPr>
            <a:xfrm>
              <a:off x="7604701" y="2663907"/>
              <a:ext cx="1056291" cy="1279664"/>
              <a:chOff x="7604701" y="2663907"/>
              <a:chExt cx="1056291" cy="1279664"/>
            </a:xfrm>
          </p:grpSpPr>
          <p:sp>
            <p:nvSpPr>
              <p:cNvPr id="31" name="Text Box 2852"/>
              <p:cNvSpPr txBox="1">
                <a:spLocks noChangeArrowheads="1"/>
              </p:cNvSpPr>
              <p:nvPr/>
            </p:nvSpPr>
            <p:spPr bwMode="auto">
              <a:xfrm>
                <a:off x="7990698" y="2663907"/>
                <a:ext cx="670294" cy="3640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3143" tIns="36572" rIns="73143" bIns="36572">
                <a:spAutoFit/>
              </a:bodyPr>
              <a:lstStyle>
                <a:lvl1pPr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365125"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731838"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096963"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1463675" defTabSz="731838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1920875" defTabSz="73183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378075" defTabSz="73183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2835275" defTabSz="73183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292475" defTabSz="73183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zh-CN" altLang="en-US" sz="1800" b="1" dirty="0" smtClean="0">
                    <a:solidFill>
                      <a:srgbClr val="000066"/>
                    </a:solidFill>
                    <a:latin typeface="Times New Roman" pitchFamily="18" charset="0"/>
                    <a:sym typeface="Symbol" pitchFamily="18" charset="2"/>
                  </a:rPr>
                  <a:t>流线</a:t>
                </a:r>
                <a:r>
                  <a:rPr lang="en-US" altLang="zh-CN" sz="1800" b="1" dirty="0" smtClean="0">
                    <a:solidFill>
                      <a:srgbClr val="000066"/>
                    </a:solidFill>
                    <a:latin typeface="Times New Roman" pitchFamily="18" charset="0"/>
                    <a:sym typeface="Symbol" pitchFamily="18" charset="2"/>
                  </a:rPr>
                  <a:t> </a:t>
                </a:r>
                <a:endParaRPr lang="en-US" altLang="zh-CN" sz="1800" b="1" dirty="0">
                  <a:solidFill>
                    <a:srgbClr val="000066"/>
                  </a:solidFill>
                  <a:latin typeface="Times New Roman" pitchFamily="18" charset="0"/>
                  <a:sym typeface="Symbol" pitchFamily="18" charset="2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7604701" y="2930317"/>
                <a:ext cx="593124" cy="1013254"/>
              </a:xfrm>
              <a:custGeom>
                <a:avLst/>
                <a:gdLst>
                  <a:gd name="connsiteX0" fmla="*/ 0 w 593124"/>
                  <a:gd name="connsiteY0" fmla="*/ 0 h 1013254"/>
                  <a:gd name="connsiteX1" fmla="*/ 497801 w 593124"/>
                  <a:gd name="connsiteY1" fmla="*/ 77671 h 1013254"/>
                  <a:gd name="connsiteX2" fmla="*/ 593124 w 593124"/>
                  <a:gd name="connsiteY2" fmla="*/ 1013254 h 1013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3124" h="1013254">
                    <a:moveTo>
                      <a:pt x="0" y="0"/>
                    </a:moveTo>
                    <a:lnTo>
                      <a:pt x="497801" y="77671"/>
                    </a:lnTo>
                    <a:lnTo>
                      <a:pt x="593124" y="1013254"/>
                    </a:lnTo>
                  </a:path>
                </a:pathLst>
              </a:cu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cxnSp>
          <p:nvCxnSpPr>
            <p:cNvPr id="7" name="直接箭头连接符 6"/>
            <p:cNvCxnSpPr>
              <a:stCxn id="5" idx="1"/>
            </p:cNvCxnSpPr>
            <p:nvPr/>
          </p:nvCxnSpPr>
          <p:spPr bwMode="auto">
            <a:xfrm flipH="1">
              <a:off x="7929507" y="3007988"/>
              <a:ext cx="172995" cy="420129"/>
            </a:xfrm>
            <a:prstGeom prst="straightConnector1">
              <a:avLst/>
            </a:prstGeom>
            <a:noFill/>
            <a:ln w="952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3" name="组合 12"/>
          <p:cNvGrpSpPr/>
          <p:nvPr/>
        </p:nvGrpSpPr>
        <p:grpSpPr>
          <a:xfrm>
            <a:off x="6755740" y="2440517"/>
            <a:ext cx="929877" cy="852604"/>
            <a:chOff x="6671073" y="3244850"/>
            <a:chExt cx="929877" cy="852604"/>
          </a:xfrm>
        </p:grpSpPr>
        <p:sp>
          <p:nvSpPr>
            <p:cNvPr id="43" name="Line 13"/>
            <p:cNvSpPr>
              <a:spLocks noChangeShapeType="1"/>
            </p:cNvSpPr>
            <p:nvPr/>
          </p:nvSpPr>
          <p:spPr bwMode="auto">
            <a:xfrm flipV="1">
              <a:off x="7137400" y="3549649"/>
              <a:ext cx="463550" cy="36671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14"/>
            <p:cNvSpPr txBox="1">
              <a:spLocks noChangeArrowheads="1"/>
            </p:cNvSpPr>
            <p:nvPr/>
          </p:nvSpPr>
          <p:spPr bwMode="auto">
            <a:xfrm>
              <a:off x="7202488" y="3244850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C00000"/>
                  </a:solidFill>
                </a:rPr>
                <a:t>v</a:t>
              </a:r>
            </a:p>
          </p:txBody>
        </p:sp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6671073" y="3635789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C00000"/>
                  </a:solidFill>
                </a:rPr>
                <a:t>A</a:t>
              </a:r>
              <a:endParaRPr lang="en-US" altLang="zh-CN" sz="2400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552964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2560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 bwMode="auto">
          <a:xfrm>
            <a:off x="6158285" y="3411110"/>
            <a:ext cx="993913" cy="938253"/>
          </a:xfrm>
          <a:custGeom>
            <a:avLst/>
            <a:gdLst>
              <a:gd name="connsiteX0" fmla="*/ 0 w 993913"/>
              <a:gd name="connsiteY0" fmla="*/ 477078 h 938253"/>
              <a:gd name="connsiteX1" fmla="*/ 290223 w 993913"/>
              <a:gd name="connsiteY1" fmla="*/ 210709 h 938253"/>
              <a:gd name="connsiteX2" fmla="*/ 548640 w 993913"/>
              <a:gd name="connsiteY2" fmla="*/ 0 h 938253"/>
              <a:gd name="connsiteX3" fmla="*/ 771277 w 993913"/>
              <a:gd name="connsiteY3" fmla="*/ 246490 h 938253"/>
              <a:gd name="connsiteX4" fmla="*/ 993913 w 993913"/>
              <a:gd name="connsiteY4" fmla="*/ 516834 h 938253"/>
              <a:gd name="connsiteX5" fmla="*/ 683812 w 993913"/>
              <a:gd name="connsiteY5" fmla="*/ 751398 h 938253"/>
              <a:gd name="connsiteX6" fmla="*/ 465152 w 993913"/>
              <a:gd name="connsiteY6" fmla="*/ 938253 h 938253"/>
              <a:gd name="connsiteX7" fmla="*/ 218661 w 993913"/>
              <a:gd name="connsiteY7" fmla="*/ 683812 h 938253"/>
              <a:gd name="connsiteX8" fmla="*/ 0 w 993913"/>
              <a:gd name="connsiteY8" fmla="*/ 477078 h 938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3913" h="938253">
                <a:moveTo>
                  <a:pt x="0" y="477078"/>
                </a:moveTo>
                <a:lnTo>
                  <a:pt x="290223" y="210709"/>
                </a:lnTo>
                <a:lnTo>
                  <a:pt x="548640" y="0"/>
                </a:lnTo>
                <a:lnTo>
                  <a:pt x="771277" y="246490"/>
                </a:lnTo>
                <a:lnTo>
                  <a:pt x="993913" y="516834"/>
                </a:lnTo>
                <a:lnTo>
                  <a:pt x="683812" y="751398"/>
                </a:lnTo>
                <a:lnTo>
                  <a:pt x="465152" y="938253"/>
                </a:lnTo>
                <a:lnTo>
                  <a:pt x="218661" y="683812"/>
                </a:lnTo>
                <a:lnTo>
                  <a:pt x="0" y="477078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3194050" y="5735638"/>
            <a:ext cx="3241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流网及其特性</a:t>
            </a:r>
          </a:p>
        </p:txBody>
      </p:sp>
      <p:sp>
        <p:nvSpPr>
          <p:cNvPr id="1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574490" y="655901"/>
            <a:ext cx="8069780" cy="179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2913" indent="-44291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性质</a:t>
            </a:r>
            <a:r>
              <a:rPr lang="en-US" altLang="zh-CN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2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：</a:t>
            </a:r>
            <a:r>
              <a:rPr lang="zh-CN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在</a:t>
            </a:r>
            <a:r>
              <a:rPr lang="zh-CN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绘制流网时，如果</a:t>
            </a:r>
            <a:r>
              <a:rPr lang="zh-CN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取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/>
              </a:rPr>
              <a:t></a:t>
            </a:r>
            <a:r>
              <a:rPr lang="zh-CN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和</a:t>
            </a:r>
            <a:r>
              <a:rPr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/>
              </a:rPr>
              <a:t>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/>
              </a:rPr>
              <a:t>保持</a:t>
            </a:r>
            <a:r>
              <a:rPr lang="zh-CN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不变，</a:t>
            </a:r>
            <a:r>
              <a:rPr lang="zh-CN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则流网中每一个网格的边长比也保持为常数</a:t>
            </a:r>
            <a:r>
              <a:rPr lang="zh-CN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。当</a:t>
            </a:r>
            <a:r>
              <a:rPr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/>
              </a:rPr>
              <a:t></a:t>
            </a:r>
            <a:r>
              <a:rPr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=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/>
              </a:rPr>
              <a:t></a:t>
            </a:r>
            <a:r>
              <a:rPr lang="zh-CN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时，流网中每一个网格的</a:t>
            </a:r>
            <a:r>
              <a:rPr lang="zh-CN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边长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相等</a:t>
            </a:r>
            <a:r>
              <a:rPr lang="zh-CN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</a:t>
            </a:r>
            <a:r>
              <a:rPr lang="zh-CN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此时流网中的每一网格均为曲边正方形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4" name="Text Box 2788"/>
          <p:cNvSpPr txBox="1">
            <a:spLocks noChangeArrowheads="1"/>
          </p:cNvSpPr>
          <p:nvPr/>
        </p:nvSpPr>
        <p:spPr bwMode="auto">
          <a:xfrm>
            <a:off x="4836080" y="2416583"/>
            <a:ext cx="352106" cy="47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7994" tIns="58997" rIns="117994" bIns="58997">
            <a:spAutoFit/>
          </a:bodyPr>
          <a:lstStyle>
            <a:lvl1pPr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590550"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79513"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70063"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360613"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817813" defTabSz="1179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75013" defTabSz="1179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732213" defTabSz="1179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89413" defTabSz="1179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000" b="1" dirty="0">
                <a:latin typeface="Times New Roman" pitchFamily="18" charset="0"/>
              </a:rPr>
              <a:t>z</a:t>
            </a:r>
          </a:p>
        </p:txBody>
      </p:sp>
      <p:sp>
        <p:nvSpPr>
          <p:cNvPr id="25" name="Freeform 2789"/>
          <p:cNvSpPr>
            <a:spLocks/>
          </p:cNvSpPr>
          <p:nvPr/>
        </p:nvSpPr>
        <p:spPr bwMode="auto">
          <a:xfrm>
            <a:off x="5200390" y="2576224"/>
            <a:ext cx="3584193" cy="2657284"/>
          </a:xfrm>
          <a:custGeom>
            <a:avLst/>
            <a:gdLst>
              <a:gd name="T0" fmla="*/ 0 w 1505"/>
              <a:gd name="T1" fmla="*/ 0 h 1245"/>
              <a:gd name="T2" fmla="*/ 0 w 1505"/>
              <a:gd name="T3" fmla="*/ 1245 h 1245"/>
              <a:gd name="T4" fmla="*/ 1505 w 1505"/>
              <a:gd name="T5" fmla="*/ 1245 h 1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5" h="1245">
                <a:moveTo>
                  <a:pt x="0" y="0"/>
                </a:moveTo>
                <a:lnTo>
                  <a:pt x="0" y="1245"/>
                </a:lnTo>
                <a:lnTo>
                  <a:pt x="1505" y="1245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790"/>
          <p:cNvSpPr txBox="1">
            <a:spLocks noChangeArrowheads="1"/>
          </p:cNvSpPr>
          <p:nvPr/>
        </p:nvSpPr>
        <p:spPr bwMode="auto">
          <a:xfrm>
            <a:off x="8532244" y="5227063"/>
            <a:ext cx="366533" cy="47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7994" tIns="58997" rIns="117994" bIns="58997">
            <a:spAutoFit/>
          </a:bodyPr>
          <a:lstStyle>
            <a:lvl1pPr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590550"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79513"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70063"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360613" defTabSz="1179513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817813" defTabSz="1179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275013" defTabSz="1179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732213" defTabSz="1179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189413" defTabSz="1179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000" b="1">
                <a:latin typeface="Times New Roman" pitchFamily="18" charset="0"/>
              </a:rPr>
              <a:t>x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618311" y="4134957"/>
            <a:ext cx="696928" cy="473089"/>
            <a:chOff x="5618311" y="4134957"/>
            <a:chExt cx="696928" cy="473089"/>
          </a:xfrm>
        </p:grpSpPr>
        <p:sp>
          <p:nvSpPr>
            <p:cNvPr id="27" name="Freeform 2794"/>
            <p:cNvSpPr>
              <a:spLocks/>
            </p:cNvSpPr>
            <p:nvPr/>
          </p:nvSpPr>
          <p:spPr bwMode="auto">
            <a:xfrm rot="21257365">
              <a:off x="6041093" y="4163800"/>
              <a:ext cx="274146" cy="196489"/>
            </a:xfrm>
            <a:custGeom>
              <a:avLst/>
              <a:gdLst>
                <a:gd name="T0" fmla="*/ 0 w 246"/>
                <a:gd name="T1" fmla="*/ 180 h 180"/>
                <a:gd name="T2" fmla="*/ 125 w 246"/>
                <a:gd name="T3" fmla="*/ 74 h 180"/>
                <a:gd name="T4" fmla="*/ 246 w 246"/>
                <a:gd name="T5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6" h="180">
                  <a:moveTo>
                    <a:pt x="0" y="180"/>
                  </a:moveTo>
                  <a:cubicBezTo>
                    <a:pt x="42" y="142"/>
                    <a:pt x="84" y="104"/>
                    <a:pt x="125" y="74"/>
                  </a:cubicBezTo>
                  <a:cubicBezTo>
                    <a:pt x="166" y="44"/>
                    <a:pt x="206" y="22"/>
                    <a:pt x="246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1"/>
            </a:p>
          </p:txBody>
        </p:sp>
        <p:sp>
          <p:nvSpPr>
            <p:cNvPr id="28" name="Text Box 2795"/>
            <p:cNvSpPr txBox="1">
              <a:spLocks noChangeArrowheads="1"/>
            </p:cNvSpPr>
            <p:nvPr/>
          </p:nvSpPr>
          <p:spPr bwMode="auto">
            <a:xfrm>
              <a:off x="5618311" y="4134957"/>
              <a:ext cx="523627" cy="4730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7994" tIns="58997" rIns="117994" bIns="58997">
              <a:spAutoFit/>
            </a:bodyPr>
            <a:lstStyle>
              <a:lvl1pPr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590550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79513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770063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360613" defTabSz="1179513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8178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32750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7322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4189413" defTabSz="11795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 b="1" dirty="0"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2000" b="1" i="1" dirty="0">
                  <a:latin typeface="Times New Roman" pitchFamily="18" charset="0"/>
                </a:rPr>
                <a:t>q</a:t>
              </a:r>
            </a:p>
          </p:txBody>
        </p:sp>
      </p:grpSp>
      <p:sp>
        <p:nvSpPr>
          <p:cNvPr id="29" name="Freeform 2845"/>
          <p:cNvSpPr>
            <a:spLocks/>
          </p:cNvSpPr>
          <p:nvPr/>
        </p:nvSpPr>
        <p:spPr bwMode="auto">
          <a:xfrm>
            <a:off x="5984002" y="2960245"/>
            <a:ext cx="1485651" cy="1085165"/>
          </a:xfrm>
          <a:custGeom>
            <a:avLst/>
            <a:gdLst>
              <a:gd name="T0" fmla="*/ 0 w 963"/>
              <a:gd name="T1" fmla="*/ 682 h 682"/>
              <a:gd name="T2" fmla="*/ 292 w 963"/>
              <a:gd name="T3" fmla="*/ 412 h 682"/>
              <a:gd name="T4" fmla="*/ 655 w 963"/>
              <a:gd name="T5" fmla="*/ 154 h 682"/>
              <a:gd name="T6" fmla="*/ 963 w 963"/>
              <a:gd name="T7" fmla="*/ 0 h 682"/>
              <a:gd name="connsiteX0" fmla="*/ 0 w 9718"/>
              <a:gd name="connsiteY0" fmla="*/ 10023 h 10023"/>
              <a:gd name="connsiteX1" fmla="*/ 3032 w 9718"/>
              <a:gd name="connsiteY1" fmla="*/ 6064 h 10023"/>
              <a:gd name="connsiteX2" fmla="*/ 6802 w 9718"/>
              <a:gd name="connsiteY2" fmla="*/ 2281 h 10023"/>
              <a:gd name="connsiteX3" fmla="*/ 9718 w 9718"/>
              <a:gd name="connsiteY3" fmla="*/ 0 h 10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8" h="10023">
                <a:moveTo>
                  <a:pt x="0" y="10023"/>
                </a:moveTo>
                <a:cubicBezTo>
                  <a:pt x="509" y="9363"/>
                  <a:pt x="1900" y="7354"/>
                  <a:pt x="3032" y="6064"/>
                </a:cubicBezTo>
                <a:cubicBezTo>
                  <a:pt x="4164" y="4774"/>
                  <a:pt x="5639" y="3293"/>
                  <a:pt x="6802" y="2281"/>
                </a:cubicBezTo>
                <a:cubicBezTo>
                  <a:pt x="7965" y="1269"/>
                  <a:pt x="9053" y="469"/>
                  <a:pt x="9718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2846"/>
          <p:cNvSpPr>
            <a:spLocks/>
          </p:cNvSpPr>
          <p:nvPr/>
        </p:nvSpPr>
        <p:spPr bwMode="auto">
          <a:xfrm>
            <a:off x="6420783" y="3480586"/>
            <a:ext cx="1487488" cy="1046162"/>
          </a:xfrm>
          <a:custGeom>
            <a:avLst/>
            <a:gdLst>
              <a:gd name="T0" fmla="*/ 0 w 937"/>
              <a:gd name="T1" fmla="*/ 659 h 659"/>
              <a:gd name="T2" fmla="*/ 243 w 937"/>
              <a:gd name="T3" fmla="*/ 445 h 659"/>
              <a:gd name="T4" fmla="*/ 492 w 937"/>
              <a:gd name="T5" fmla="*/ 253 h 659"/>
              <a:gd name="T6" fmla="*/ 710 w 937"/>
              <a:gd name="T7" fmla="*/ 115 h 659"/>
              <a:gd name="T8" fmla="*/ 937 w 937"/>
              <a:gd name="T9" fmla="*/ 0 h 6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7" h="659">
                <a:moveTo>
                  <a:pt x="0" y="659"/>
                </a:moveTo>
                <a:cubicBezTo>
                  <a:pt x="40" y="624"/>
                  <a:pt x="161" y="513"/>
                  <a:pt x="243" y="445"/>
                </a:cubicBezTo>
                <a:cubicBezTo>
                  <a:pt x="325" y="377"/>
                  <a:pt x="414" y="308"/>
                  <a:pt x="492" y="253"/>
                </a:cubicBezTo>
                <a:cubicBezTo>
                  <a:pt x="570" y="198"/>
                  <a:pt x="636" y="157"/>
                  <a:pt x="710" y="115"/>
                </a:cubicBezTo>
                <a:cubicBezTo>
                  <a:pt x="784" y="73"/>
                  <a:pt x="890" y="24"/>
                  <a:pt x="937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2847"/>
          <p:cNvSpPr>
            <a:spLocks/>
          </p:cNvSpPr>
          <p:nvPr/>
        </p:nvSpPr>
        <p:spPr bwMode="auto">
          <a:xfrm>
            <a:off x="5864373" y="3620607"/>
            <a:ext cx="1232411" cy="1352728"/>
          </a:xfrm>
          <a:custGeom>
            <a:avLst/>
            <a:gdLst>
              <a:gd name="T0" fmla="*/ 0 w 968"/>
              <a:gd name="T1" fmla="*/ 0 h 1082"/>
              <a:gd name="T2" fmla="*/ 436 w 968"/>
              <a:gd name="T3" fmla="*/ 410 h 1082"/>
              <a:gd name="T4" fmla="*/ 968 w 968"/>
              <a:gd name="T5" fmla="*/ 1082 h 1082"/>
              <a:gd name="connsiteX0" fmla="*/ 0 w 10426"/>
              <a:gd name="connsiteY0" fmla="*/ 0 h 10350"/>
              <a:gd name="connsiteX1" fmla="*/ 4504 w 10426"/>
              <a:gd name="connsiteY1" fmla="*/ 3789 h 10350"/>
              <a:gd name="connsiteX2" fmla="*/ 10030 w 10426"/>
              <a:gd name="connsiteY2" fmla="*/ 9851 h 10350"/>
              <a:gd name="connsiteX3" fmla="*/ 10000 w 10426"/>
              <a:gd name="connsiteY3" fmla="*/ 10000 h 10350"/>
              <a:gd name="connsiteX0" fmla="*/ 0 w 10030"/>
              <a:gd name="connsiteY0" fmla="*/ 0 h 9851"/>
              <a:gd name="connsiteX1" fmla="*/ 4504 w 10030"/>
              <a:gd name="connsiteY1" fmla="*/ 3789 h 9851"/>
              <a:gd name="connsiteX2" fmla="*/ 10030 w 10030"/>
              <a:gd name="connsiteY2" fmla="*/ 9851 h 9851"/>
              <a:gd name="connsiteX0" fmla="*/ 0 w 10000"/>
              <a:gd name="connsiteY0" fmla="*/ 0 h 10000"/>
              <a:gd name="connsiteX1" fmla="*/ 4491 w 10000"/>
              <a:gd name="connsiteY1" fmla="*/ 3846 h 10000"/>
              <a:gd name="connsiteX2" fmla="*/ 7053 w 10000"/>
              <a:gd name="connsiteY2" fmla="*/ 6526 h 10000"/>
              <a:gd name="connsiteX3" fmla="*/ 10000 w 10000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1411" y="1079"/>
                  <a:pt x="2833" y="2158"/>
                  <a:pt x="4491" y="3846"/>
                </a:cubicBezTo>
                <a:cubicBezTo>
                  <a:pt x="5642" y="4930"/>
                  <a:pt x="6135" y="5500"/>
                  <a:pt x="7053" y="6526"/>
                </a:cubicBezTo>
                <a:cubicBezTo>
                  <a:pt x="7971" y="7552"/>
                  <a:pt x="9485" y="9418"/>
                  <a:pt x="10000" y="1000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Box 2849"/>
          <p:cNvSpPr txBox="1">
            <a:spLocks noChangeArrowheads="1"/>
          </p:cNvSpPr>
          <p:nvPr/>
        </p:nvSpPr>
        <p:spPr bwMode="auto">
          <a:xfrm>
            <a:off x="7899970" y="3300070"/>
            <a:ext cx="865860" cy="42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143" tIns="36572" rIns="73143" bIns="36572">
            <a:spAutoFit/>
          </a:bodyPr>
          <a:lstStyle>
            <a:lvl1pPr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36512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731838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096963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46367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000" b="1" i="1" dirty="0">
                <a:latin typeface="Times New Roman" pitchFamily="18" charset="0"/>
                <a:sym typeface="Symbol" pitchFamily="18" charset="2"/>
              </a:rPr>
              <a:t> 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+</a:t>
            </a:r>
            <a:r>
              <a:rPr lang="en-US" altLang="zh-CN" sz="2000" b="1" i="1" dirty="0">
                <a:latin typeface="Times New Roman" pitchFamily="18" charset="0"/>
                <a:sym typeface="Symbol" pitchFamily="18" charset="2"/>
              </a:rPr>
              <a:t></a:t>
            </a:r>
          </a:p>
        </p:txBody>
      </p:sp>
      <p:sp>
        <p:nvSpPr>
          <p:cNvPr id="33" name="Text Box 2850"/>
          <p:cNvSpPr txBox="1">
            <a:spLocks noChangeArrowheads="1"/>
          </p:cNvSpPr>
          <p:nvPr/>
        </p:nvSpPr>
        <p:spPr bwMode="auto">
          <a:xfrm>
            <a:off x="8295222" y="3790865"/>
            <a:ext cx="324045" cy="42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143" tIns="36572" rIns="73143" bIns="36572">
            <a:spAutoFit/>
          </a:bodyPr>
          <a:lstStyle>
            <a:lvl1pPr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36512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731838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096963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46367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000" b="1" i="1" dirty="0">
                <a:latin typeface="Times New Roman" pitchFamily="18" charset="0"/>
                <a:sym typeface="Symbol" pitchFamily="18" charset="2"/>
              </a:rPr>
              <a:t></a:t>
            </a:r>
          </a:p>
        </p:txBody>
      </p:sp>
      <p:sp>
        <p:nvSpPr>
          <p:cNvPr id="34" name="Text Box 2851"/>
          <p:cNvSpPr txBox="1">
            <a:spLocks noChangeArrowheads="1"/>
          </p:cNvSpPr>
          <p:nvPr/>
        </p:nvSpPr>
        <p:spPr bwMode="auto">
          <a:xfrm>
            <a:off x="5585833" y="3292502"/>
            <a:ext cx="365723" cy="42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143" tIns="36572" rIns="73143" bIns="36572">
            <a:spAutoFit/>
          </a:bodyPr>
          <a:lstStyle>
            <a:lvl1pPr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36512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731838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096963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46367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000" b="1" i="1" dirty="0" smtClean="0">
                <a:latin typeface="Times New Roman" pitchFamily="18" charset="0"/>
                <a:sym typeface="Symbol" pitchFamily="18" charset="2"/>
              </a:rPr>
              <a:t> </a:t>
            </a:r>
            <a:endParaRPr lang="en-US" altLang="zh-CN" sz="20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5" name="Text Box 2852"/>
          <p:cNvSpPr txBox="1">
            <a:spLocks noChangeArrowheads="1"/>
          </p:cNvSpPr>
          <p:nvPr/>
        </p:nvSpPr>
        <p:spPr bwMode="auto">
          <a:xfrm>
            <a:off x="5981132" y="2833703"/>
            <a:ext cx="954026" cy="39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143" tIns="36572" rIns="73143" bIns="36572">
            <a:spAutoFit/>
          </a:bodyPr>
          <a:lstStyle>
            <a:lvl1pPr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36512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731838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096963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46367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000" b="1" i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000" b="1" i="1" dirty="0">
                <a:latin typeface="Times New Roman" pitchFamily="18" charset="0"/>
                <a:sym typeface="Symbol" pitchFamily="18" charset="2"/>
              </a:rPr>
              <a:t> 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+</a:t>
            </a:r>
            <a:r>
              <a:rPr lang="en-US" altLang="zh-CN" sz="2000" b="1" dirty="0" smtClean="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2000" b="1" i="1" dirty="0" smtClean="0">
                <a:latin typeface="Times New Roman" pitchFamily="18" charset="0"/>
                <a:sym typeface="Symbol" pitchFamily="18" charset="2"/>
              </a:rPr>
              <a:t> </a:t>
            </a:r>
            <a:endParaRPr lang="en-US" altLang="zh-CN" sz="2000" b="1" i="1" dirty="0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286648" y="3304695"/>
            <a:ext cx="362935" cy="932423"/>
            <a:chOff x="6286648" y="3304695"/>
            <a:chExt cx="362935" cy="932423"/>
          </a:xfrm>
        </p:grpSpPr>
        <p:sp>
          <p:nvSpPr>
            <p:cNvPr id="36" name="Text Box 2855"/>
            <p:cNvSpPr txBox="1">
              <a:spLocks noChangeArrowheads="1"/>
            </p:cNvSpPr>
            <p:nvPr/>
          </p:nvSpPr>
          <p:spPr bwMode="auto">
            <a:xfrm>
              <a:off x="6402482" y="3809317"/>
              <a:ext cx="247101" cy="427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143" tIns="36572" rIns="73143" bIns="36572">
              <a:spAutoFit/>
            </a:bodyPr>
            <a:lstStyle>
              <a:lvl1pPr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365125"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731838"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096963"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1463675"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1920875" defTabSz="7318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378075" defTabSz="7318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2835275" defTabSz="7318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292475" defTabSz="7318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 b="1" i="1" dirty="0">
                  <a:latin typeface="Times New Roman" pitchFamily="18" charset="0"/>
                </a:rPr>
                <a:t>s</a:t>
              </a:r>
            </a:p>
          </p:txBody>
        </p:sp>
        <p:sp>
          <p:nvSpPr>
            <p:cNvPr id="37" name="Text Box 2856"/>
            <p:cNvSpPr txBox="1">
              <a:spLocks noChangeArrowheads="1"/>
            </p:cNvSpPr>
            <p:nvPr/>
          </p:nvSpPr>
          <p:spPr bwMode="auto">
            <a:xfrm>
              <a:off x="6286648" y="3304695"/>
              <a:ext cx="218247" cy="427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143" tIns="36572" rIns="73143" bIns="36572">
              <a:spAutoFit/>
            </a:bodyPr>
            <a:lstStyle>
              <a:lvl1pPr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365125"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731838"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096963"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1463675" defTabSz="731838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1920875" defTabSz="7318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378075" defTabSz="7318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2835275" defTabSz="7318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292475" defTabSz="73183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 b="1" i="1" dirty="0">
                  <a:latin typeface="Times New Roman" pitchFamily="18" charset="0"/>
                </a:rPr>
                <a:t>l</a:t>
              </a:r>
            </a:p>
          </p:txBody>
        </p:sp>
      </p:grpSp>
      <p:sp>
        <p:nvSpPr>
          <p:cNvPr id="38" name="Freeform 2846"/>
          <p:cNvSpPr>
            <a:spLocks/>
          </p:cNvSpPr>
          <p:nvPr/>
        </p:nvSpPr>
        <p:spPr bwMode="auto">
          <a:xfrm>
            <a:off x="6821871" y="4010331"/>
            <a:ext cx="1385468" cy="876242"/>
          </a:xfrm>
          <a:custGeom>
            <a:avLst/>
            <a:gdLst>
              <a:gd name="T0" fmla="*/ 0 w 937"/>
              <a:gd name="T1" fmla="*/ 659 h 659"/>
              <a:gd name="T2" fmla="*/ 243 w 937"/>
              <a:gd name="T3" fmla="*/ 445 h 659"/>
              <a:gd name="T4" fmla="*/ 492 w 937"/>
              <a:gd name="T5" fmla="*/ 253 h 659"/>
              <a:gd name="T6" fmla="*/ 710 w 937"/>
              <a:gd name="T7" fmla="*/ 115 h 659"/>
              <a:gd name="T8" fmla="*/ 937 w 937"/>
              <a:gd name="T9" fmla="*/ 0 h 659"/>
              <a:gd name="connsiteX0" fmla="*/ 0 w 10000"/>
              <a:gd name="connsiteY0" fmla="*/ 10000 h 10000"/>
              <a:gd name="connsiteX1" fmla="*/ 2593 w 10000"/>
              <a:gd name="connsiteY1" fmla="*/ 6753 h 10000"/>
              <a:gd name="connsiteX2" fmla="*/ 5251 w 10000"/>
              <a:gd name="connsiteY2" fmla="*/ 3839 h 10000"/>
              <a:gd name="connsiteX3" fmla="*/ 7535 w 10000"/>
              <a:gd name="connsiteY3" fmla="*/ 1554 h 10000"/>
              <a:gd name="connsiteX4" fmla="*/ 10000 w 10000"/>
              <a:gd name="connsiteY4" fmla="*/ 0 h 10000"/>
              <a:gd name="connsiteX0" fmla="*/ 0 w 9463"/>
              <a:gd name="connsiteY0" fmla="*/ 10175 h 10175"/>
              <a:gd name="connsiteX1" fmla="*/ 2593 w 9463"/>
              <a:gd name="connsiteY1" fmla="*/ 6928 h 10175"/>
              <a:gd name="connsiteX2" fmla="*/ 5251 w 9463"/>
              <a:gd name="connsiteY2" fmla="*/ 4014 h 10175"/>
              <a:gd name="connsiteX3" fmla="*/ 7535 w 9463"/>
              <a:gd name="connsiteY3" fmla="*/ 1729 h 10175"/>
              <a:gd name="connsiteX4" fmla="*/ 9463 w 9463"/>
              <a:gd name="connsiteY4" fmla="*/ 0 h 10175"/>
              <a:gd name="connsiteX0" fmla="*/ 0 w 9662"/>
              <a:gd name="connsiteY0" fmla="*/ 9449 h 9449"/>
              <a:gd name="connsiteX1" fmla="*/ 2740 w 9662"/>
              <a:gd name="connsiteY1" fmla="*/ 6258 h 9449"/>
              <a:gd name="connsiteX2" fmla="*/ 5549 w 9662"/>
              <a:gd name="connsiteY2" fmla="*/ 3394 h 9449"/>
              <a:gd name="connsiteX3" fmla="*/ 7963 w 9662"/>
              <a:gd name="connsiteY3" fmla="*/ 1148 h 9449"/>
              <a:gd name="connsiteX4" fmla="*/ 9662 w 9662"/>
              <a:gd name="connsiteY4" fmla="*/ 0 h 9449"/>
              <a:gd name="connsiteX0" fmla="*/ 0 w 10000"/>
              <a:gd name="connsiteY0" fmla="*/ 10000 h 10000"/>
              <a:gd name="connsiteX1" fmla="*/ 2836 w 10000"/>
              <a:gd name="connsiteY1" fmla="*/ 6623 h 10000"/>
              <a:gd name="connsiteX2" fmla="*/ 5539 w 10000"/>
              <a:gd name="connsiteY2" fmla="*/ 3633 h 10000"/>
              <a:gd name="connsiteX3" fmla="*/ 8242 w 10000"/>
              <a:gd name="connsiteY3" fmla="*/ 1215 h 10000"/>
              <a:gd name="connsiteX4" fmla="*/ 10000 w 10000"/>
              <a:gd name="connsiteY4" fmla="*/ 0 h 10000"/>
              <a:gd name="connsiteX0" fmla="*/ 0 w 10149"/>
              <a:gd name="connsiteY0" fmla="*/ 9672 h 9672"/>
              <a:gd name="connsiteX1" fmla="*/ 2985 w 10149"/>
              <a:gd name="connsiteY1" fmla="*/ 6623 h 9672"/>
              <a:gd name="connsiteX2" fmla="*/ 5688 w 10149"/>
              <a:gd name="connsiteY2" fmla="*/ 3633 h 9672"/>
              <a:gd name="connsiteX3" fmla="*/ 8391 w 10149"/>
              <a:gd name="connsiteY3" fmla="*/ 1215 h 9672"/>
              <a:gd name="connsiteX4" fmla="*/ 10149 w 10149"/>
              <a:gd name="connsiteY4" fmla="*/ 0 h 9672"/>
              <a:gd name="connsiteX0" fmla="*/ 0 w 10000"/>
              <a:gd name="connsiteY0" fmla="*/ 10000 h 10000"/>
              <a:gd name="connsiteX1" fmla="*/ 2812 w 10000"/>
              <a:gd name="connsiteY1" fmla="*/ 6613 h 10000"/>
              <a:gd name="connsiteX2" fmla="*/ 5604 w 10000"/>
              <a:gd name="connsiteY2" fmla="*/ 3756 h 10000"/>
              <a:gd name="connsiteX3" fmla="*/ 8268 w 10000"/>
              <a:gd name="connsiteY3" fmla="*/ 1256 h 10000"/>
              <a:gd name="connsiteX4" fmla="*/ 10000 w 10000"/>
              <a:gd name="connsiteY4" fmla="*/ 0 h 10000"/>
              <a:gd name="connsiteX0" fmla="*/ 0 w 10037"/>
              <a:gd name="connsiteY0" fmla="*/ 9347 h 9347"/>
              <a:gd name="connsiteX1" fmla="*/ 2849 w 10037"/>
              <a:gd name="connsiteY1" fmla="*/ 6613 h 9347"/>
              <a:gd name="connsiteX2" fmla="*/ 5641 w 10037"/>
              <a:gd name="connsiteY2" fmla="*/ 3756 h 9347"/>
              <a:gd name="connsiteX3" fmla="*/ 8305 w 10037"/>
              <a:gd name="connsiteY3" fmla="*/ 1256 h 9347"/>
              <a:gd name="connsiteX4" fmla="*/ 10037 w 10037"/>
              <a:gd name="connsiteY4" fmla="*/ 0 h 9347"/>
              <a:gd name="connsiteX0" fmla="*/ 0 w 10000"/>
              <a:gd name="connsiteY0" fmla="*/ 10000 h 10000"/>
              <a:gd name="connsiteX1" fmla="*/ 3003 w 10000"/>
              <a:gd name="connsiteY1" fmla="*/ 6600 h 10000"/>
              <a:gd name="connsiteX2" fmla="*/ 5620 w 10000"/>
              <a:gd name="connsiteY2" fmla="*/ 4018 h 10000"/>
              <a:gd name="connsiteX3" fmla="*/ 8274 w 10000"/>
              <a:gd name="connsiteY3" fmla="*/ 1344 h 10000"/>
              <a:gd name="connsiteX4" fmla="*/ 10000 w 10000"/>
              <a:gd name="connsiteY4" fmla="*/ 0 h 10000"/>
              <a:gd name="connsiteX0" fmla="*/ 0 w 10000"/>
              <a:gd name="connsiteY0" fmla="*/ 10000 h 10000"/>
              <a:gd name="connsiteX1" fmla="*/ 3003 w 10000"/>
              <a:gd name="connsiteY1" fmla="*/ 6600 h 10000"/>
              <a:gd name="connsiteX2" fmla="*/ 6078 w 10000"/>
              <a:gd name="connsiteY2" fmla="*/ 3264 h 10000"/>
              <a:gd name="connsiteX3" fmla="*/ 8274 w 10000"/>
              <a:gd name="connsiteY3" fmla="*/ 1344 h 10000"/>
              <a:gd name="connsiteX4" fmla="*/ 10000 w 10000"/>
              <a:gd name="connsiteY4" fmla="*/ 0 h 10000"/>
              <a:gd name="connsiteX0" fmla="*/ 0 w 9927"/>
              <a:gd name="connsiteY0" fmla="*/ 9525 h 9525"/>
              <a:gd name="connsiteX1" fmla="*/ 2930 w 9927"/>
              <a:gd name="connsiteY1" fmla="*/ 6600 h 9525"/>
              <a:gd name="connsiteX2" fmla="*/ 6005 w 9927"/>
              <a:gd name="connsiteY2" fmla="*/ 3264 h 9525"/>
              <a:gd name="connsiteX3" fmla="*/ 8201 w 9927"/>
              <a:gd name="connsiteY3" fmla="*/ 1344 h 9525"/>
              <a:gd name="connsiteX4" fmla="*/ 9927 w 9927"/>
              <a:gd name="connsiteY4" fmla="*/ 0 h 9525"/>
              <a:gd name="connsiteX0" fmla="*/ 0 w 10000"/>
              <a:gd name="connsiteY0" fmla="*/ 10000 h 10000"/>
              <a:gd name="connsiteX1" fmla="*/ 2841 w 10000"/>
              <a:gd name="connsiteY1" fmla="*/ 6577 h 10000"/>
              <a:gd name="connsiteX2" fmla="*/ 6049 w 10000"/>
              <a:gd name="connsiteY2" fmla="*/ 3427 h 10000"/>
              <a:gd name="connsiteX3" fmla="*/ 8261 w 10000"/>
              <a:gd name="connsiteY3" fmla="*/ 1411 h 10000"/>
              <a:gd name="connsiteX4" fmla="*/ 10000 w 10000"/>
              <a:gd name="connsiteY4" fmla="*/ 0 h 10000"/>
              <a:gd name="connsiteX0" fmla="*/ 0 w 10000"/>
              <a:gd name="connsiteY0" fmla="*/ 10000 h 10000"/>
              <a:gd name="connsiteX1" fmla="*/ 2841 w 10000"/>
              <a:gd name="connsiteY1" fmla="*/ 6577 h 10000"/>
              <a:gd name="connsiteX2" fmla="*/ 6067 w 10000"/>
              <a:gd name="connsiteY2" fmla="*/ 3251 h 10000"/>
              <a:gd name="connsiteX3" fmla="*/ 8261 w 10000"/>
              <a:gd name="connsiteY3" fmla="*/ 1411 h 10000"/>
              <a:gd name="connsiteX4" fmla="*/ 10000 w 10000"/>
              <a:gd name="connsiteY4" fmla="*/ 0 h 10000"/>
              <a:gd name="connsiteX0" fmla="*/ 0 w 10000"/>
              <a:gd name="connsiteY0" fmla="*/ 10000 h 10000"/>
              <a:gd name="connsiteX1" fmla="*/ 2841 w 10000"/>
              <a:gd name="connsiteY1" fmla="*/ 6577 h 10000"/>
              <a:gd name="connsiteX2" fmla="*/ 6067 w 10000"/>
              <a:gd name="connsiteY2" fmla="*/ 3251 h 10000"/>
              <a:gd name="connsiteX3" fmla="*/ 8206 w 10000"/>
              <a:gd name="connsiteY3" fmla="*/ 1264 h 10000"/>
              <a:gd name="connsiteX4" fmla="*/ 10000 w 10000"/>
              <a:gd name="connsiteY4" fmla="*/ 0 h 10000"/>
              <a:gd name="connsiteX0" fmla="*/ 0 w 10074"/>
              <a:gd name="connsiteY0" fmla="*/ 10117 h 10117"/>
              <a:gd name="connsiteX1" fmla="*/ 2841 w 10074"/>
              <a:gd name="connsiteY1" fmla="*/ 6694 h 10117"/>
              <a:gd name="connsiteX2" fmla="*/ 6067 w 10074"/>
              <a:gd name="connsiteY2" fmla="*/ 3368 h 10117"/>
              <a:gd name="connsiteX3" fmla="*/ 8206 w 10074"/>
              <a:gd name="connsiteY3" fmla="*/ 1381 h 10117"/>
              <a:gd name="connsiteX4" fmla="*/ 10074 w 10074"/>
              <a:gd name="connsiteY4" fmla="*/ 0 h 10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" h="10117">
                <a:moveTo>
                  <a:pt x="0" y="10117"/>
                </a:moveTo>
                <a:cubicBezTo>
                  <a:pt x="461" y="9476"/>
                  <a:pt x="1830" y="7819"/>
                  <a:pt x="2841" y="6694"/>
                </a:cubicBezTo>
                <a:cubicBezTo>
                  <a:pt x="3852" y="5569"/>
                  <a:pt x="5173" y="4253"/>
                  <a:pt x="6067" y="3368"/>
                </a:cubicBezTo>
                <a:cubicBezTo>
                  <a:pt x="6961" y="2483"/>
                  <a:pt x="7352" y="2151"/>
                  <a:pt x="8206" y="1381"/>
                </a:cubicBezTo>
                <a:cubicBezTo>
                  <a:pt x="9060" y="611"/>
                  <a:pt x="9531" y="440"/>
                  <a:pt x="10074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2848"/>
          <p:cNvSpPr>
            <a:spLocks/>
          </p:cNvSpPr>
          <p:nvPr/>
        </p:nvSpPr>
        <p:spPr bwMode="auto">
          <a:xfrm rot="197334">
            <a:off x="7031706" y="2813626"/>
            <a:ext cx="1045542" cy="1495706"/>
          </a:xfrm>
          <a:custGeom>
            <a:avLst/>
            <a:gdLst>
              <a:gd name="T0" fmla="*/ 0 w 558"/>
              <a:gd name="T1" fmla="*/ 0 h 840"/>
              <a:gd name="T2" fmla="*/ 224 w 558"/>
              <a:gd name="T3" fmla="*/ 272 h 840"/>
              <a:gd name="T4" fmla="*/ 410 w 558"/>
              <a:gd name="T5" fmla="*/ 539 h 840"/>
              <a:gd name="T6" fmla="*/ 558 w 558"/>
              <a:gd name="T7" fmla="*/ 840 h 840"/>
              <a:gd name="connsiteX0" fmla="*/ 0 w 9909"/>
              <a:gd name="connsiteY0" fmla="*/ 0 h 10072"/>
              <a:gd name="connsiteX1" fmla="*/ 4014 w 9909"/>
              <a:gd name="connsiteY1" fmla="*/ 3238 h 10072"/>
              <a:gd name="connsiteX2" fmla="*/ 7348 w 9909"/>
              <a:gd name="connsiteY2" fmla="*/ 6417 h 10072"/>
              <a:gd name="connsiteX3" fmla="*/ 9909 w 9909"/>
              <a:gd name="connsiteY3" fmla="*/ 10072 h 10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9" h="10072">
                <a:moveTo>
                  <a:pt x="0" y="0"/>
                </a:moveTo>
                <a:cubicBezTo>
                  <a:pt x="663" y="548"/>
                  <a:pt x="2796" y="2167"/>
                  <a:pt x="4014" y="3238"/>
                </a:cubicBezTo>
                <a:cubicBezTo>
                  <a:pt x="5233" y="4310"/>
                  <a:pt x="6344" y="5286"/>
                  <a:pt x="7348" y="6417"/>
                </a:cubicBezTo>
                <a:cubicBezTo>
                  <a:pt x="8351" y="7548"/>
                  <a:pt x="9353" y="9322"/>
                  <a:pt x="9909" y="10072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任意多边形 39"/>
          <p:cNvSpPr/>
          <p:nvPr/>
        </p:nvSpPr>
        <p:spPr bwMode="auto">
          <a:xfrm>
            <a:off x="6489700" y="3202940"/>
            <a:ext cx="1099820" cy="1402080"/>
          </a:xfrm>
          <a:custGeom>
            <a:avLst/>
            <a:gdLst>
              <a:gd name="connsiteX0" fmla="*/ 0 w 1122680"/>
              <a:gd name="connsiteY0" fmla="*/ 0 h 1371600"/>
              <a:gd name="connsiteX1" fmla="*/ 411480 w 1122680"/>
              <a:gd name="connsiteY1" fmla="*/ 424180 h 1371600"/>
              <a:gd name="connsiteX2" fmla="*/ 807720 w 1122680"/>
              <a:gd name="connsiteY2" fmla="*/ 937260 h 1371600"/>
              <a:gd name="connsiteX3" fmla="*/ 1122680 w 1122680"/>
              <a:gd name="connsiteY3" fmla="*/ 1371600 h 1371600"/>
              <a:gd name="connsiteX0" fmla="*/ 0 w 1109980"/>
              <a:gd name="connsiteY0" fmla="*/ 0 h 1374140"/>
              <a:gd name="connsiteX1" fmla="*/ 411480 w 1109980"/>
              <a:gd name="connsiteY1" fmla="*/ 424180 h 1374140"/>
              <a:gd name="connsiteX2" fmla="*/ 807720 w 1109980"/>
              <a:gd name="connsiteY2" fmla="*/ 937260 h 1374140"/>
              <a:gd name="connsiteX3" fmla="*/ 1109980 w 1109980"/>
              <a:gd name="connsiteY3" fmla="*/ 1374140 h 1374140"/>
              <a:gd name="connsiteX0" fmla="*/ 0 w 1102360"/>
              <a:gd name="connsiteY0" fmla="*/ 0 h 1381760"/>
              <a:gd name="connsiteX1" fmla="*/ 411480 w 1102360"/>
              <a:gd name="connsiteY1" fmla="*/ 424180 h 1381760"/>
              <a:gd name="connsiteX2" fmla="*/ 807720 w 1102360"/>
              <a:gd name="connsiteY2" fmla="*/ 937260 h 1381760"/>
              <a:gd name="connsiteX3" fmla="*/ 1102360 w 1102360"/>
              <a:gd name="connsiteY3" fmla="*/ 1381760 h 1381760"/>
              <a:gd name="connsiteX0" fmla="*/ 0 w 1099820"/>
              <a:gd name="connsiteY0" fmla="*/ 0 h 1402080"/>
              <a:gd name="connsiteX1" fmla="*/ 411480 w 1099820"/>
              <a:gd name="connsiteY1" fmla="*/ 424180 h 1402080"/>
              <a:gd name="connsiteX2" fmla="*/ 807720 w 1099820"/>
              <a:gd name="connsiteY2" fmla="*/ 937260 h 1402080"/>
              <a:gd name="connsiteX3" fmla="*/ 1099820 w 1099820"/>
              <a:gd name="connsiteY3" fmla="*/ 1402080 h 1402080"/>
              <a:gd name="connsiteX0" fmla="*/ 0 w 1099820"/>
              <a:gd name="connsiteY0" fmla="*/ 0 h 1402080"/>
              <a:gd name="connsiteX1" fmla="*/ 411480 w 1099820"/>
              <a:gd name="connsiteY1" fmla="*/ 424180 h 1402080"/>
              <a:gd name="connsiteX2" fmla="*/ 807720 w 1099820"/>
              <a:gd name="connsiteY2" fmla="*/ 937260 h 1402080"/>
              <a:gd name="connsiteX3" fmla="*/ 982980 w 1099820"/>
              <a:gd name="connsiteY3" fmla="*/ 1211580 h 1402080"/>
              <a:gd name="connsiteX4" fmla="*/ 1099820 w 1099820"/>
              <a:gd name="connsiteY4" fmla="*/ 1402080 h 140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820" h="1402080">
                <a:moveTo>
                  <a:pt x="0" y="0"/>
                </a:moveTo>
                <a:cubicBezTo>
                  <a:pt x="138430" y="133985"/>
                  <a:pt x="276860" y="267970"/>
                  <a:pt x="411480" y="424180"/>
                </a:cubicBezTo>
                <a:cubicBezTo>
                  <a:pt x="546100" y="580390"/>
                  <a:pt x="712470" y="806027"/>
                  <a:pt x="807720" y="937260"/>
                </a:cubicBezTo>
                <a:cubicBezTo>
                  <a:pt x="902970" y="1068493"/>
                  <a:pt x="934297" y="1134110"/>
                  <a:pt x="982980" y="1211580"/>
                </a:cubicBezTo>
                <a:cubicBezTo>
                  <a:pt x="1031663" y="1289050"/>
                  <a:pt x="1079077" y="1370330"/>
                  <a:pt x="1099820" y="140208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" name="Text Box 2852"/>
          <p:cNvSpPr txBox="1">
            <a:spLocks noChangeArrowheads="1"/>
          </p:cNvSpPr>
          <p:nvPr/>
        </p:nvSpPr>
        <p:spPr bwMode="auto">
          <a:xfrm>
            <a:off x="6598660" y="2436406"/>
            <a:ext cx="1077456" cy="42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143" tIns="36572" rIns="73143" bIns="36572">
            <a:spAutoFit/>
          </a:bodyPr>
          <a:lstStyle>
            <a:lvl1pPr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36512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731838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096963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46367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000" b="1" i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000" b="1" i="1" dirty="0">
                <a:latin typeface="Times New Roman" pitchFamily="18" charset="0"/>
                <a:sym typeface="Symbol" pitchFamily="18" charset="2"/>
              </a:rPr>
              <a:t> </a:t>
            </a:r>
            <a:r>
              <a:rPr lang="en-US" altLang="zh-CN" sz="2000" b="1" dirty="0" smtClean="0">
                <a:latin typeface="Times New Roman" pitchFamily="18" charset="0"/>
                <a:sym typeface="Symbol" pitchFamily="18" charset="2"/>
              </a:rPr>
              <a:t>+2</a:t>
            </a:r>
            <a:r>
              <a:rPr lang="en-US" altLang="zh-CN" sz="2000" b="1" i="1" dirty="0" smtClean="0">
                <a:latin typeface="Times New Roman" pitchFamily="18" charset="0"/>
                <a:sym typeface="Symbol" pitchFamily="18" charset="2"/>
              </a:rPr>
              <a:t> </a:t>
            </a:r>
            <a:endParaRPr lang="en-US" altLang="zh-CN" sz="2000" b="1" i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2" name="Text Box 2849"/>
          <p:cNvSpPr txBox="1">
            <a:spLocks noChangeArrowheads="1"/>
          </p:cNvSpPr>
          <p:nvPr/>
        </p:nvSpPr>
        <p:spPr bwMode="auto">
          <a:xfrm>
            <a:off x="7513244" y="2791777"/>
            <a:ext cx="994100" cy="42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143" tIns="36572" rIns="73143" bIns="36572">
            <a:spAutoFit/>
          </a:bodyPr>
          <a:lstStyle>
            <a:lvl1pPr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36512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731838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096963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1463675" defTabSz="731838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000" b="1" i="1" dirty="0">
                <a:latin typeface="Times New Roman" pitchFamily="18" charset="0"/>
                <a:sym typeface="Symbol" pitchFamily="18" charset="2"/>
              </a:rPr>
              <a:t> </a:t>
            </a:r>
            <a:r>
              <a:rPr lang="en-US" altLang="zh-CN" sz="2000" b="1" dirty="0" smtClean="0">
                <a:latin typeface="Times New Roman" pitchFamily="18" charset="0"/>
                <a:sym typeface="Symbol" pitchFamily="18" charset="2"/>
              </a:rPr>
              <a:t>+2</a:t>
            </a:r>
            <a:r>
              <a:rPr lang="en-US" altLang="zh-CN" sz="2000" b="1" i="1" dirty="0" smtClean="0">
                <a:latin typeface="Times New Roman" pitchFamily="18" charset="0"/>
                <a:sym typeface="Symbol" pitchFamily="18" charset="2"/>
              </a:rPr>
              <a:t></a:t>
            </a:r>
            <a:endParaRPr lang="en-US" altLang="zh-CN" sz="2000" b="1" i="1" dirty="0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657566" y="3199583"/>
            <a:ext cx="689493" cy="725833"/>
            <a:chOff x="6657566" y="3199583"/>
            <a:chExt cx="689493" cy="725833"/>
          </a:xfrm>
        </p:grpSpPr>
        <p:sp>
          <p:nvSpPr>
            <p:cNvPr id="43" name="Line 13"/>
            <p:cNvSpPr>
              <a:spLocks noChangeShapeType="1"/>
            </p:cNvSpPr>
            <p:nvPr/>
          </p:nvSpPr>
          <p:spPr bwMode="auto">
            <a:xfrm flipV="1">
              <a:off x="6657566" y="3558703"/>
              <a:ext cx="463550" cy="366713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b="1"/>
            </a:p>
          </p:txBody>
        </p:sp>
        <p:sp>
          <p:nvSpPr>
            <p:cNvPr id="44" name="Text Box 14"/>
            <p:cNvSpPr txBox="1">
              <a:spLocks noChangeArrowheads="1"/>
            </p:cNvSpPr>
            <p:nvPr/>
          </p:nvSpPr>
          <p:spPr bwMode="auto">
            <a:xfrm>
              <a:off x="7048579" y="3199583"/>
              <a:ext cx="29848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A50021"/>
                  </a:solidFill>
                </a:rPr>
                <a:t>v</a:t>
              </a:r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487406"/>
              </p:ext>
            </p:extLst>
          </p:nvPr>
        </p:nvGraphicFramePr>
        <p:xfrm>
          <a:off x="1344613" y="2745934"/>
          <a:ext cx="2413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2" name="公式" r:id="rId4" imgW="1206360" imgH="406080" progId="Equation.3">
                  <p:embed/>
                </p:oleObj>
              </mc:Choice>
              <mc:Fallback>
                <p:oleObj name="公式" r:id="rId4" imgW="12063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2745934"/>
                        <a:ext cx="24130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029321"/>
              </p:ext>
            </p:extLst>
          </p:nvPr>
        </p:nvGraphicFramePr>
        <p:xfrm>
          <a:off x="1344613" y="3658677"/>
          <a:ext cx="195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3" name="公式" r:id="rId6" imgW="977760" imgH="203040" progId="Equation.3">
                  <p:embed/>
                </p:oleObj>
              </mc:Choice>
              <mc:Fallback>
                <p:oleObj name="公式" r:id="rId6" imgW="977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3658677"/>
                        <a:ext cx="1955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321940"/>
              </p:ext>
            </p:extLst>
          </p:nvPr>
        </p:nvGraphicFramePr>
        <p:xfrm>
          <a:off x="1384368" y="4303920"/>
          <a:ext cx="1879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4" name="公式" r:id="rId8" imgW="939600" imgH="431640" progId="Equation.3">
                  <p:embed/>
                </p:oleObj>
              </mc:Choice>
              <mc:Fallback>
                <p:oleObj name="公式" r:id="rId8" imgW="939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68" y="4303920"/>
                        <a:ext cx="1879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077098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3194050" y="5735638"/>
            <a:ext cx="2732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流网的画法</a:t>
            </a:r>
          </a:p>
        </p:txBody>
      </p:sp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09" name="矩形 108"/>
          <p:cNvSpPr/>
          <p:nvPr/>
        </p:nvSpPr>
        <p:spPr bwMode="auto">
          <a:xfrm>
            <a:off x="5685576" y="1742792"/>
            <a:ext cx="2288437" cy="104115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0" name="矩形 109"/>
          <p:cNvSpPr/>
          <p:nvPr/>
        </p:nvSpPr>
        <p:spPr bwMode="auto">
          <a:xfrm>
            <a:off x="1060449" y="1131683"/>
            <a:ext cx="2344915" cy="710697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1" name="任意多边形 110"/>
          <p:cNvSpPr/>
          <p:nvPr/>
        </p:nvSpPr>
        <p:spPr bwMode="auto">
          <a:xfrm>
            <a:off x="1048043" y="1851334"/>
            <a:ext cx="6921305" cy="1856935"/>
          </a:xfrm>
          <a:custGeom>
            <a:avLst/>
            <a:gdLst>
              <a:gd name="connsiteX0" fmla="*/ 28135 w 6921305"/>
              <a:gd name="connsiteY0" fmla="*/ 21101 h 1856935"/>
              <a:gd name="connsiteX1" fmla="*/ 2349305 w 6921305"/>
              <a:gd name="connsiteY1" fmla="*/ 21101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28135 w 6921305"/>
              <a:gd name="connsiteY9" fmla="*/ 21101 h 1856935"/>
              <a:gd name="connsiteX0" fmla="*/ 28135 w 6921305"/>
              <a:gd name="connsiteY0" fmla="*/ 4415 h 1856935"/>
              <a:gd name="connsiteX1" fmla="*/ 2349305 w 6921305"/>
              <a:gd name="connsiteY1" fmla="*/ 21101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28135 w 6921305"/>
              <a:gd name="connsiteY9" fmla="*/ 4415 h 1856935"/>
              <a:gd name="connsiteX0" fmla="*/ 28135 w 6921305"/>
              <a:gd name="connsiteY0" fmla="*/ 4415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28135 w 6921305"/>
              <a:gd name="connsiteY9" fmla="*/ 4415 h 1856935"/>
              <a:gd name="connsiteX0" fmla="*/ 14786 w 6921305"/>
              <a:gd name="connsiteY0" fmla="*/ 11089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14786 w 6921305"/>
              <a:gd name="connsiteY9" fmla="*/ 11089 h 1856935"/>
              <a:gd name="connsiteX0" fmla="*/ 8112 w 6921305"/>
              <a:gd name="connsiteY0" fmla="*/ 11089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8112 w 6921305"/>
              <a:gd name="connsiteY9" fmla="*/ 11089 h 1856935"/>
              <a:gd name="connsiteX0" fmla="*/ 8112 w 6921305"/>
              <a:gd name="connsiteY0" fmla="*/ 11089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921305 w 6921305"/>
              <a:gd name="connsiteY5" fmla="*/ 0 h 1856935"/>
              <a:gd name="connsiteX6" fmla="*/ 6921305 w 6921305"/>
              <a:gd name="connsiteY6" fmla="*/ 1856935 h 1856935"/>
              <a:gd name="connsiteX7" fmla="*/ 0 w 6921305"/>
              <a:gd name="connsiteY7" fmla="*/ 1856935 h 1856935"/>
              <a:gd name="connsiteX8" fmla="*/ 8112 w 6921305"/>
              <a:gd name="connsiteY8" fmla="*/ 11089 h 185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21305" h="1856935">
                <a:moveTo>
                  <a:pt x="8112" y="11089"/>
                </a:moveTo>
                <a:lnTo>
                  <a:pt x="2352642" y="1078"/>
                </a:lnTo>
                <a:cubicBezTo>
                  <a:pt x="2351530" y="68712"/>
                  <a:pt x="2350417" y="136347"/>
                  <a:pt x="2349305" y="203981"/>
                </a:cubicBezTo>
                <a:lnTo>
                  <a:pt x="4628271" y="203981"/>
                </a:lnTo>
                <a:lnTo>
                  <a:pt x="4628271" y="0"/>
                </a:lnTo>
                <a:lnTo>
                  <a:pt x="6921305" y="0"/>
                </a:lnTo>
                <a:lnTo>
                  <a:pt x="6921305" y="1856935"/>
                </a:lnTo>
                <a:lnTo>
                  <a:pt x="0" y="1856935"/>
                </a:lnTo>
                <a:lnTo>
                  <a:pt x="8112" y="11089"/>
                </a:lnTo>
                <a:close/>
              </a:path>
            </a:pathLst>
          </a:custGeom>
          <a:solidFill>
            <a:srgbClr val="CCEC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2" name="矩形 111"/>
          <p:cNvSpPr/>
          <p:nvPr/>
        </p:nvSpPr>
        <p:spPr bwMode="auto">
          <a:xfrm>
            <a:off x="1041009" y="3716935"/>
            <a:ext cx="6935094" cy="6696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3" name="AutoShape 2834"/>
          <p:cNvSpPr>
            <a:spLocks noChangeArrowheads="1"/>
          </p:cNvSpPr>
          <p:nvPr/>
        </p:nvSpPr>
        <p:spPr bwMode="auto">
          <a:xfrm flipV="1">
            <a:off x="1483898" y="1008340"/>
            <a:ext cx="136525" cy="1174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" name="Line 2835"/>
          <p:cNvSpPr>
            <a:spLocks noChangeShapeType="1"/>
          </p:cNvSpPr>
          <p:nvPr/>
        </p:nvSpPr>
        <p:spPr bwMode="auto">
          <a:xfrm>
            <a:off x="1410873" y="1186140"/>
            <a:ext cx="1190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Line 2836"/>
          <p:cNvSpPr>
            <a:spLocks noChangeShapeType="1"/>
          </p:cNvSpPr>
          <p:nvPr/>
        </p:nvSpPr>
        <p:spPr bwMode="auto">
          <a:xfrm>
            <a:off x="1582323" y="1186140"/>
            <a:ext cx="1190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Line 2837"/>
          <p:cNvSpPr>
            <a:spLocks noChangeShapeType="1"/>
          </p:cNvSpPr>
          <p:nvPr/>
        </p:nvSpPr>
        <p:spPr bwMode="auto">
          <a:xfrm>
            <a:off x="1491835" y="1230590"/>
            <a:ext cx="1698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Line 2838"/>
          <p:cNvSpPr>
            <a:spLocks noChangeShapeType="1"/>
          </p:cNvSpPr>
          <p:nvPr/>
        </p:nvSpPr>
        <p:spPr bwMode="auto">
          <a:xfrm>
            <a:off x="1545810" y="1275040"/>
            <a:ext cx="7143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Text Box 2839"/>
          <p:cNvSpPr txBox="1">
            <a:spLocks noChangeArrowheads="1"/>
          </p:cNvSpPr>
          <p:nvPr/>
        </p:nvSpPr>
        <p:spPr bwMode="auto">
          <a:xfrm>
            <a:off x="802364" y="3573740"/>
            <a:ext cx="10259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ctr"/>
            <a:r>
              <a:rPr lang="en-US" altLang="zh-CN" sz="1600" b="1">
                <a:latin typeface="Times New Roman" pitchFamily="18" charset="0"/>
              </a:rPr>
              <a:t>0</a:t>
            </a:r>
          </a:p>
        </p:txBody>
      </p:sp>
      <p:sp>
        <p:nvSpPr>
          <p:cNvPr id="119" name="Freeform 2840"/>
          <p:cNvSpPr>
            <a:spLocks/>
          </p:cNvSpPr>
          <p:nvPr/>
        </p:nvSpPr>
        <p:spPr bwMode="auto">
          <a:xfrm>
            <a:off x="3406360" y="738465"/>
            <a:ext cx="2278063" cy="1301750"/>
          </a:xfrm>
          <a:custGeom>
            <a:avLst/>
            <a:gdLst>
              <a:gd name="T0" fmla="*/ 0 w 1435"/>
              <a:gd name="T1" fmla="*/ 85 h 820"/>
              <a:gd name="T2" fmla="*/ 0 w 1435"/>
              <a:gd name="T3" fmla="*/ 820 h 820"/>
              <a:gd name="T4" fmla="*/ 1435 w 1435"/>
              <a:gd name="T5" fmla="*/ 820 h 820"/>
              <a:gd name="T6" fmla="*/ 1435 w 1435"/>
              <a:gd name="T7" fmla="*/ 479 h 820"/>
              <a:gd name="T8" fmla="*/ 1403 w 1435"/>
              <a:gd name="T9" fmla="*/ 478 h 820"/>
              <a:gd name="T10" fmla="*/ 1334 w 1435"/>
              <a:gd name="T11" fmla="*/ 473 h 820"/>
              <a:gd name="T12" fmla="*/ 1258 w 1435"/>
              <a:gd name="T13" fmla="*/ 462 h 820"/>
              <a:gd name="T14" fmla="*/ 1141 w 1435"/>
              <a:gd name="T15" fmla="*/ 430 h 820"/>
              <a:gd name="T16" fmla="*/ 1006 w 1435"/>
              <a:gd name="T17" fmla="*/ 388 h 820"/>
              <a:gd name="T18" fmla="*/ 806 w 1435"/>
              <a:gd name="T19" fmla="*/ 305 h 820"/>
              <a:gd name="T20" fmla="*/ 672 w 1435"/>
              <a:gd name="T21" fmla="*/ 234 h 820"/>
              <a:gd name="T22" fmla="*/ 520 w 1435"/>
              <a:gd name="T23" fmla="*/ 143 h 820"/>
              <a:gd name="T24" fmla="*/ 422 w 1435"/>
              <a:gd name="T25" fmla="*/ 85 h 820"/>
              <a:gd name="T26" fmla="*/ 355 w 1435"/>
              <a:gd name="T27" fmla="*/ 47 h 820"/>
              <a:gd name="T28" fmla="*/ 274 w 1435"/>
              <a:gd name="T29" fmla="*/ 15 h 820"/>
              <a:gd name="T30" fmla="*/ 205 w 1435"/>
              <a:gd name="T31" fmla="*/ 2 h 820"/>
              <a:gd name="T32" fmla="*/ 123 w 1435"/>
              <a:gd name="T33" fmla="*/ 4 h 820"/>
              <a:gd name="T34" fmla="*/ 62 w 1435"/>
              <a:gd name="T35" fmla="*/ 27 h 820"/>
              <a:gd name="T36" fmla="*/ 19 w 1435"/>
              <a:gd name="T37" fmla="*/ 60 h 820"/>
              <a:gd name="T38" fmla="*/ 0 w 1435"/>
              <a:gd name="T39" fmla="*/ 85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35" h="820">
                <a:moveTo>
                  <a:pt x="0" y="85"/>
                </a:moveTo>
                <a:lnTo>
                  <a:pt x="0" y="820"/>
                </a:lnTo>
                <a:lnTo>
                  <a:pt x="1435" y="820"/>
                </a:lnTo>
                <a:lnTo>
                  <a:pt x="1435" y="479"/>
                </a:lnTo>
                <a:lnTo>
                  <a:pt x="1403" y="478"/>
                </a:lnTo>
                <a:cubicBezTo>
                  <a:pt x="1386" y="477"/>
                  <a:pt x="1358" y="476"/>
                  <a:pt x="1334" y="473"/>
                </a:cubicBezTo>
                <a:cubicBezTo>
                  <a:pt x="1310" y="470"/>
                  <a:pt x="1290" y="469"/>
                  <a:pt x="1258" y="462"/>
                </a:cubicBezTo>
                <a:cubicBezTo>
                  <a:pt x="1226" y="455"/>
                  <a:pt x="1183" y="442"/>
                  <a:pt x="1141" y="430"/>
                </a:cubicBezTo>
                <a:cubicBezTo>
                  <a:pt x="1099" y="418"/>
                  <a:pt x="1062" y="409"/>
                  <a:pt x="1006" y="388"/>
                </a:cubicBezTo>
                <a:cubicBezTo>
                  <a:pt x="950" y="367"/>
                  <a:pt x="862" y="331"/>
                  <a:pt x="806" y="305"/>
                </a:cubicBezTo>
                <a:cubicBezTo>
                  <a:pt x="750" y="279"/>
                  <a:pt x="720" y="261"/>
                  <a:pt x="672" y="234"/>
                </a:cubicBezTo>
                <a:cubicBezTo>
                  <a:pt x="624" y="207"/>
                  <a:pt x="562" y="167"/>
                  <a:pt x="520" y="143"/>
                </a:cubicBezTo>
                <a:cubicBezTo>
                  <a:pt x="478" y="119"/>
                  <a:pt x="449" y="101"/>
                  <a:pt x="422" y="85"/>
                </a:cubicBezTo>
                <a:cubicBezTo>
                  <a:pt x="395" y="70"/>
                  <a:pt x="380" y="59"/>
                  <a:pt x="355" y="47"/>
                </a:cubicBezTo>
                <a:cubicBezTo>
                  <a:pt x="330" y="35"/>
                  <a:pt x="299" y="23"/>
                  <a:pt x="274" y="15"/>
                </a:cubicBezTo>
                <a:cubicBezTo>
                  <a:pt x="249" y="8"/>
                  <a:pt x="230" y="4"/>
                  <a:pt x="205" y="2"/>
                </a:cubicBezTo>
                <a:cubicBezTo>
                  <a:pt x="180" y="0"/>
                  <a:pt x="147" y="0"/>
                  <a:pt x="123" y="4"/>
                </a:cubicBezTo>
                <a:cubicBezTo>
                  <a:pt x="99" y="8"/>
                  <a:pt x="79" y="18"/>
                  <a:pt x="62" y="27"/>
                </a:cubicBezTo>
                <a:cubicBezTo>
                  <a:pt x="45" y="36"/>
                  <a:pt x="29" y="50"/>
                  <a:pt x="19" y="60"/>
                </a:cubicBezTo>
                <a:cubicBezTo>
                  <a:pt x="9" y="70"/>
                  <a:pt x="4" y="81"/>
                  <a:pt x="0" y="85"/>
                </a:cubicBezTo>
                <a:close/>
              </a:path>
            </a:pathLst>
          </a:custGeom>
          <a:solidFill>
            <a:srgbClr val="FFC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0" name="Line 2841"/>
          <p:cNvSpPr>
            <a:spLocks noChangeShapeType="1"/>
          </p:cNvSpPr>
          <p:nvPr/>
        </p:nvSpPr>
        <p:spPr bwMode="auto">
          <a:xfrm>
            <a:off x="5687598" y="1843365"/>
            <a:ext cx="228641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Line 2842"/>
          <p:cNvSpPr>
            <a:spLocks noChangeShapeType="1"/>
          </p:cNvSpPr>
          <p:nvPr/>
        </p:nvSpPr>
        <p:spPr bwMode="auto">
          <a:xfrm flipH="1">
            <a:off x="1058862" y="1848127"/>
            <a:ext cx="234273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Line 2843"/>
          <p:cNvSpPr>
            <a:spLocks noChangeShapeType="1"/>
          </p:cNvSpPr>
          <p:nvPr/>
        </p:nvSpPr>
        <p:spPr bwMode="auto">
          <a:xfrm flipH="1">
            <a:off x="1065474" y="1132165"/>
            <a:ext cx="233612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" name="Line 2844"/>
          <p:cNvSpPr>
            <a:spLocks noChangeShapeType="1"/>
          </p:cNvSpPr>
          <p:nvPr/>
        </p:nvSpPr>
        <p:spPr bwMode="auto">
          <a:xfrm>
            <a:off x="5687597" y="1741765"/>
            <a:ext cx="226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" name="Line 2848"/>
          <p:cNvSpPr>
            <a:spLocks noChangeShapeType="1"/>
          </p:cNvSpPr>
          <p:nvPr/>
        </p:nvSpPr>
        <p:spPr bwMode="auto">
          <a:xfrm>
            <a:off x="1044160" y="3711852"/>
            <a:ext cx="6934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" name="Line 2858"/>
          <p:cNvSpPr>
            <a:spLocks noChangeShapeType="1"/>
          </p:cNvSpPr>
          <p:nvPr/>
        </p:nvSpPr>
        <p:spPr bwMode="auto">
          <a:xfrm>
            <a:off x="5595523" y="1100415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" name="Text Box 2861"/>
          <p:cNvSpPr txBox="1">
            <a:spLocks noChangeArrowheads="1"/>
          </p:cNvSpPr>
          <p:nvPr/>
        </p:nvSpPr>
        <p:spPr bwMode="auto">
          <a:xfrm>
            <a:off x="838293" y="1522690"/>
            <a:ext cx="332142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 dirty="0">
                <a:latin typeface="Times New Roman" pitchFamily="18" charset="0"/>
              </a:rPr>
              <a:t>A</a:t>
            </a:r>
          </a:p>
        </p:txBody>
      </p:sp>
      <p:sp>
        <p:nvSpPr>
          <p:cNvPr id="127" name="Text Box 2862"/>
          <p:cNvSpPr txBox="1">
            <a:spLocks noChangeArrowheads="1"/>
          </p:cNvSpPr>
          <p:nvPr/>
        </p:nvSpPr>
        <p:spPr bwMode="auto">
          <a:xfrm>
            <a:off x="3385723" y="1646515"/>
            <a:ext cx="320922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B</a:t>
            </a:r>
          </a:p>
        </p:txBody>
      </p:sp>
      <p:sp>
        <p:nvSpPr>
          <p:cNvPr id="128" name="Text Box 2863"/>
          <p:cNvSpPr txBox="1">
            <a:spLocks noChangeArrowheads="1"/>
          </p:cNvSpPr>
          <p:nvPr/>
        </p:nvSpPr>
        <p:spPr bwMode="auto">
          <a:xfrm>
            <a:off x="3266660" y="1971952"/>
            <a:ext cx="332142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C</a:t>
            </a:r>
          </a:p>
        </p:txBody>
      </p:sp>
      <p:sp>
        <p:nvSpPr>
          <p:cNvPr id="129" name="Text Box 2864"/>
          <p:cNvSpPr txBox="1">
            <a:spLocks noChangeArrowheads="1"/>
          </p:cNvSpPr>
          <p:nvPr/>
        </p:nvSpPr>
        <p:spPr bwMode="auto">
          <a:xfrm>
            <a:off x="5546310" y="1965602"/>
            <a:ext cx="332142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D</a:t>
            </a:r>
          </a:p>
        </p:txBody>
      </p:sp>
      <p:sp>
        <p:nvSpPr>
          <p:cNvPr id="130" name="Text Box 2865"/>
          <p:cNvSpPr txBox="1">
            <a:spLocks noChangeArrowheads="1"/>
          </p:cNvSpPr>
          <p:nvPr/>
        </p:nvSpPr>
        <p:spPr bwMode="auto">
          <a:xfrm>
            <a:off x="5401848" y="1648102"/>
            <a:ext cx="320922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E</a:t>
            </a:r>
          </a:p>
        </p:txBody>
      </p:sp>
      <p:sp>
        <p:nvSpPr>
          <p:cNvPr id="132" name="Line 2867"/>
          <p:cNvSpPr>
            <a:spLocks noChangeShapeType="1"/>
          </p:cNvSpPr>
          <p:nvPr/>
        </p:nvSpPr>
        <p:spPr bwMode="auto">
          <a:xfrm>
            <a:off x="6138448" y="1094065"/>
            <a:ext cx="0" cy="64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" name="Line 2868"/>
          <p:cNvSpPr>
            <a:spLocks noChangeShapeType="1"/>
          </p:cNvSpPr>
          <p:nvPr/>
        </p:nvSpPr>
        <p:spPr bwMode="auto">
          <a:xfrm>
            <a:off x="6944898" y="150681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Text Box 2869"/>
          <p:cNvSpPr txBox="1">
            <a:spLocks noChangeArrowheads="1"/>
          </p:cNvSpPr>
          <p:nvPr/>
        </p:nvSpPr>
        <p:spPr bwMode="auto">
          <a:xfrm>
            <a:off x="6127335" y="1154390"/>
            <a:ext cx="774700" cy="352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 dirty="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600" b="1" i="1" dirty="0">
                <a:latin typeface="Times New Roman" pitchFamily="18" charset="0"/>
              </a:rPr>
              <a:t>H</a:t>
            </a:r>
            <a:r>
              <a:rPr lang="en-US" altLang="zh-CN" sz="1600" b="1" dirty="0">
                <a:latin typeface="Times New Roman" pitchFamily="18" charset="0"/>
              </a:rPr>
              <a:t>=5m</a:t>
            </a:r>
            <a:endParaRPr lang="el-GR" altLang="zh-CN" sz="1600" b="1" dirty="0">
              <a:latin typeface="Times New Roman" pitchFamily="18" charset="0"/>
            </a:endParaRPr>
          </a:p>
        </p:txBody>
      </p:sp>
      <p:sp>
        <p:nvSpPr>
          <p:cNvPr id="135" name="Text Box 2870"/>
          <p:cNvSpPr txBox="1">
            <a:spLocks noChangeArrowheads="1"/>
          </p:cNvSpPr>
          <p:nvPr/>
        </p:nvSpPr>
        <p:spPr bwMode="auto">
          <a:xfrm>
            <a:off x="6941723" y="1389340"/>
            <a:ext cx="374650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CN" sz="1600" b="1">
                <a:latin typeface="Times New Roman" pitchFamily="18" charset="0"/>
              </a:rPr>
              <a:t>m</a:t>
            </a:r>
            <a:endParaRPr lang="el-GR" altLang="zh-CN" sz="1600" b="1">
              <a:latin typeface="Times New Roman" pitchFamily="18" charset="0"/>
            </a:endParaRPr>
          </a:p>
        </p:txBody>
      </p:sp>
      <p:sp>
        <p:nvSpPr>
          <p:cNvPr id="137" name="Text Box 2874"/>
          <p:cNvSpPr txBox="1">
            <a:spLocks noChangeArrowheads="1"/>
          </p:cNvSpPr>
          <p:nvPr/>
        </p:nvSpPr>
        <p:spPr bwMode="auto">
          <a:xfrm>
            <a:off x="8003700" y="1631625"/>
            <a:ext cx="309700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 dirty="0">
                <a:latin typeface="Times New Roman" pitchFamily="18" charset="0"/>
              </a:rPr>
              <a:t>F</a:t>
            </a:r>
          </a:p>
        </p:txBody>
      </p:sp>
      <p:sp>
        <p:nvSpPr>
          <p:cNvPr id="138" name="AutoShape 2875"/>
          <p:cNvSpPr>
            <a:spLocks noChangeArrowheads="1"/>
          </p:cNvSpPr>
          <p:nvPr/>
        </p:nvSpPr>
        <p:spPr bwMode="auto">
          <a:xfrm flipV="1">
            <a:off x="6584535" y="1624290"/>
            <a:ext cx="136525" cy="1174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" name="Line 2876"/>
          <p:cNvSpPr>
            <a:spLocks noChangeShapeType="1"/>
          </p:cNvSpPr>
          <p:nvPr/>
        </p:nvSpPr>
        <p:spPr bwMode="auto">
          <a:xfrm>
            <a:off x="6521035" y="1778277"/>
            <a:ext cx="1190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" name="Line 2877"/>
          <p:cNvSpPr>
            <a:spLocks noChangeShapeType="1"/>
          </p:cNvSpPr>
          <p:nvPr/>
        </p:nvSpPr>
        <p:spPr bwMode="auto">
          <a:xfrm>
            <a:off x="6682960" y="1778277"/>
            <a:ext cx="1190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" name="Line 2878"/>
          <p:cNvSpPr>
            <a:spLocks noChangeShapeType="1"/>
          </p:cNvSpPr>
          <p:nvPr/>
        </p:nvSpPr>
        <p:spPr bwMode="auto">
          <a:xfrm>
            <a:off x="6592473" y="1813202"/>
            <a:ext cx="1698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" name="Text Box 2879"/>
          <p:cNvSpPr txBox="1">
            <a:spLocks noChangeArrowheads="1"/>
          </p:cNvSpPr>
          <p:nvPr/>
        </p:nvSpPr>
        <p:spPr bwMode="auto">
          <a:xfrm>
            <a:off x="1031460" y="3381652"/>
            <a:ext cx="344966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G</a:t>
            </a:r>
          </a:p>
        </p:txBody>
      </p:sp>
      <p:sp>
        <p:nvSpPr>
          <p:cNvPr id="143" name="Text Box 2880"/>
          <p:cNvSpPr txBox="1">
            <a:spLocks noChangeArrowheads="1"/>
          </p:cNvSpPr>
          <p:nvPr/>
        </p:nvSpPr>
        <p:spPr bwMode="auto">
          <a:xfrm>
            <a:off x="7652923" y="3381652"/>
            <a:ext cx="344966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H</a:t>
            </a:r>
          </a:p>
        </p:txBody>
      </p:sp>
      <p:sp>
        <p:nvSpPr>
          <p:cNvPr id="144" name="Text Box 2881"/>
          <p:cNvSpPr txBox="1">
            <a:spLocks noChangeArrowheads="1"/>
          </p:cNvSpPr>
          <p:nvPr/>
        </p:nvSpPr>
        <p:spPr bwMode="auto">
          <a:xfrm>
            <a:off x="8071527" y="3591202"/>
            <a:ext cx="102592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ctr"/>
            <a:r>
              <a:rPr lang="en-US" altLang="zh-CN" sz="1600" b="1">
                <a:latin typeface="Times New Roman" pitchFamily="18" charset="0"/>
              </a:rPr>
              <a:t>0</a:t>
            </a:r>
          </a:p>
        </p:txBody>
      </p:sp>
      <p:sp>
        <p:nvSpPr>
          <p:cNvPr id="145" name="Line 2882"/>
          <p:cNvSpPr>
            <a:spLocks noChangeShapeType="1"/>
          </p:cNvSpPr>
          <p:nvPr/>
        </p:nvSpPr>
        <p:spPr bwMode="auto">
          <a:xfrm flipV="1">
            <a:off x="6954423" y="185447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" name="Text Box 2883"/>
          <p:cNvSpPr txBox="1">
            <a:spLocks noChangeArrowheads="1"/>
          </p:cNvSpPr>
          <p:nvPr/>
        </p:nvSpPr>
        <p:spPr bwMode="auto">
          <a:xfrm>
            <a:off x="5162135" y="3976010"/>
            <a:ext cx="1011815" cy="350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1600" b="1" dirty="0">
                <a:latin typeface="Times New Roman" pitchFamily="18" charset="0"/>
              </a:rPr>
              <a:t>不透水层</a:t>
            </a:r>
          </a:p>
        </p:txBody>
      </p:sp>
      <p:grpSp>
        <p:nvGrpSpPr>
          <p:cNvPr id="148" name="Group 2909"/>
          <p:cNvGrpSpPr>
            <a:grpSpLocks/>
          </p:cNvGrpSpPr>
          <p:nvPr/>
        </p:nvGrpSpPr>
        <p:grpSpPr bwMode="auto">
          <a:xfrm>
            <a:off x="7211598" y="3710265"/>
            <a:ext cx="625475" cy="133350"/>
            <a:chOff x="2644" y="2807"/>
            <a:chExt cx="481" cy="83"/>
          </a:xfrm>
        </p:grpSpPr>
        <p:sp>
          <p:nvSpPr>
            <p:cNvPr id="149" name="Freeform 2910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" name="Freeform 2911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" name="Freeform 2912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" name="Freeform 2913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" name="Freeform 2914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" name="Freeform 2915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" name="Freeform 2916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6" name="Freeform 2917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7" name="Freeform 2918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" name="Freeform 2919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" name="Freeform 2920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0" name="Freeform 2921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1" name="Group 2922"/>
          <p:cNvGrpSpPr>
            <a:grpSpLocks/>
          </p:cNvGrpSpPr>
          <p:nvPr/>
        </p:nvGrpSpPr>
        <p:grpSpPr bwMode="auto">
          <a:xfrm>
            <a:off x="2137948" y="3710265"/>
            <a:ext cx="625475" cy="133350"/>
            <a:chOff x="2644" y="2807"/>
            <a:chExt cx="481" cy="83"/>
          </a:xfrm>
        </p:grpSpPr>
        <p:sp>
          <p:nvSpPr>
            <p:cNvPr id="162" name="Freeform 2923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" name="Freeform 2924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" name="Freeform 2925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5" name="Freeform 2926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6" name="Freeform 2927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7" name="Freeform 2928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8" name="Freeform 2929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9" name="Freeform 2930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0" name="Freeform 2931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" name="Freeform 2932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8" name="Freeform 2933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9" name="Freeform 2934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" name="任意多边形 1"/>
          <p:cNvSpPr/>
          <p:nvPr/>
        </p:nvSpPr>
        <p:spPr bwMode="auto">
          <a:xfrm>
            <a:off x="3397169" y="1857736"/>
            <a:ext cx="2291788" cy="190982"/>
          </a:xfrm>
          <a:custGeom>
            <a:avLst/>
            <a:gdLst>
              <a:gd name="connsiteX0" fmla="*/ 0 w 2291788"/>
              <a:gd name="connsiteY0" fmla="*/ 5787 h 190982"/>
              <a:gd name="connsiteX1" fmla="*/ 0 w 2291788"/>
              <a:gd name="connsiteY1" fmla="*/ 190982 h 190982"/>
              <a:gd name="connsiteX2" fmla="*/ 2291788 w 2291788"/>
              <a:gd name="connsiteY2" fmla="*/ 190982 h 190982"/>
              <a:gd name="connsiteX3" fmla="*/ 2291788 w 2291788"/>
              <a:gd name="connsiteY3" fmla="*/ 0 h 190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1788" h="190982">
                <a:moveTo>
                  <a:pt x="0" y="5787"/>
                </a:moveTo>
                <a:lnTo>
                  <a:pt x="0" y="190982"/>
                </a:lnTo>
                <a:lnTo>
                  <a:pt x="2291788" y="190982"/>
                </a:lnTo>
                <a:lnTo>
                  <a:pt x="2291788" y="0"/>
                </a:lnTo>
              </a:path>
            </a:pathLst>
          </a:custGeom>
          <a:noFill/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047509" y="3698112"/>
            <a:ext cx="6930851" cy="2167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84" name="Line 2842"/>
          <p:cNvSpPr>
            <a:spLocks noChangeShapeType="1"/>
          </p:cNvSpPr>
          <p:nvPr/>
        </p:nvSpPr>
        <p:spPr bwMode="auto">
          <a:xfrm flipH="1">
            <a:off x="1066587" y="1867426"/>
            <a:ext cx="2342735" cy="0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5" name="Line 2842"/>
          <p:cNvSpPr>
            <a:spLocks noChangeShapeType="1"/>
          </p:cNvSpPr>
          <p:nvPr/>
        </p:nvSpPr>
        <p:spPr bwMode="auto">
          <a:xfrm flipH="1">
            <a:off x="5669460" y="1863013"/>
            <a:ext cx="2293921" cy="0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Line 2866"/>
          <p:cNvSpPr>
            <a:spLocks noChangeShapeType="1"/>
          </p:cNvSpPr>
          <p:nvPr/>
        </p:nvSpPr>
        <p:spPr bwMode="auto">
          <a:xfrm>
            <a:off x="447840" y="1136927"/>
            <a:ext cx="0" cy="71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78" name="Text Box 2873"/>
          <p:cNvSpPr txBox="1">
            <a:spLocks noChangeArrowheads="1"/>
          </p:cNvSpPr>
          <p:nvPr/>
        </p:nvSpPr>
        <p:spPr bwMode="auto">
          <a:xfrm>
            <a:off x="435194" y="1268690"/>
            <a:ext cx="469900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 dirty="0">
                <a:latin typeface="Times New Roman" pitchFamily="18" charset="0"/>
              </a:rPr>
              <a:t>6m</a:t>
            </a:r>
            <a:endParaRPr lang="el-GR" altLang="zh-CN" sz="1600" b="1" dirty="0">
              <a:latin typeface="Times New Roman" pitchFamily="18" charset="0"/>
            </a:endParaRPr>
          </a:p>
        </p:txBody>
      </p:sp>
      <p:cxnSp>
        <p:nvCxnSpPr>
          <p:cNvPr id="79" name="直接连接符 78"/>
          <p:cNvCxnSpPr/>
          <p:nvPr/>
        </p:nvCxnSpPr>
        <p:spPr bwMode="auto">
          <a:xfrm>
            <a:off x="312026" y="1129085"/>
            <a:ext cx="43732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直接连接符 79"/>
          <p:cNvCxnSpPr/>
          <p:nvPr/>
        </p:nvCxnSpPr>
        <p:spPr bwMode="auto">
          <a:xfrm>
            <a:off x="313351" y="1853979"/>
            <a:ext cx="43732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直接连接符 80"/>
          <p:cNvCxnSpPr/>
          <p:nvPr/>
        </p:nvCxnSpPr>
        <p:spPr bwMode="auto">
          <a:xfrm>
            <a:off x="328613" y="3699376"/>
            <a:ext cx="43732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2" name="Line 2866"/>
          <p:cNvSpPr>
            <a:spLocks noChangeShapeType="1"/>
          </p:cNvSpPr>
          <p:nvPr/>
        </p:nvSpPr>
        <p:spPr bwMode="auto">
          <a:xfrm>
            <a:off x="455385" y="1859695"/>
            <a:ext cx="0" cy="18341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83" name="Text Box 2873"/>
          <p:cNvSpPr txBox="1">
            <a:spLocks noChangeArrowheads="1"/>
          </p:cNvSpPr>
          <p:nvPr/>
        </p:nvSpPr>
        <p:spPr bwMode="auto">
          <a:xfrm>
            <a:off x="474663" y="2583140"/>
            <a:ext cx="469900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 dirty="0" smtClean="0">
                <a:latin typeface="Times New Roman" pitchFamily="18" charset="0"/>
              </a:rPr>
              <a:t>16m</a:t>
            </a:r>
            <a:endParaRPr lang="el-GR" altLang="zh-CN" sz="1600" b="1" dirty="0">
              <a:latin typeface="Times New Roman" pitchFamily="18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343770" y="4593459"/>
            <a:ext cx="6480315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首先</a:t>
            </a:r>
            <a:r>
              <a:rPr lang="zh-CN" altLang="en-US" sz="2400" b="1" dirty="0">
                <a:ea typeface="黑体" panose="02010609060101010101" pitchFamily="49" charset="-122"/>
                <a:cs typeface="Times New Roman" panose="02020603050405020304" pitchFamily="18" charset="0"/>
              </a:rPr>
              <a:t>根据渗流场的边界条件，确定边界流线和边界等势线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490349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84" grpId="0" animBg="1"/>
      <p:bldP spid="285" grpId="0" animBg="1"/>
      <p:bldP spid="8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/>
          <p:cNvGrpSpPr/>
          <p:nvPr/>
        </p:nvGrpSpPr>
        <p:grpSpPr>
          <a:xfrm>
            <a:off x="312026" y="738465"/>
            <a:ext cx="8001374" cy="3648070"/>
            <a:chOff x="312026" y="738465"/>
            <a:chExt cx="8001374" cy="3648070"/>
          </a:xfrm>
        </p:grpSpPr>
        <p:sp>
          <p:nvSpPr>
            <p:cNvPr id="91" name="矩形 90"/>
            <p:cNvSpPr/>
            <p:nvPr/>
          </p:nvSpPr>
          <p:spPr bwMode="auto">
            <a:xfrm>
              <a:off x="5685576" y="1742792"/>
              <a:ext cx="2288437" cy="104115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1060449" y="1131683"/>
              <a:ext cx="2344915" cy="710697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3" name="任意多边形 92"/>
            <p:cNvSpPr/>
            <p:nvPr/>
          </p:nvSpPr>
          <p:spPr bwMode="auto">
            <a:xfrm>
              <a:off x="1048043" y="1851334"/>
              <a:ext cx="6921305" cy="1856935"/>
            </a:xfrm>
            <a:custGeom>
              <a:avLst/>
              <a:gdLst>
                <a:gd name="connsiteX0" fmla="*/ 28135 w 6921305"/>
                <a:gd name="connsiteY0" fmla="*/ 21101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21101 h 1856935"/>
                <a:gd name="connsiteX0" fmla="*/ 28135 w 6921305"/>
                <a:gd name="connsiteY0" fmla="*/ 4415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28135 w 6921305"/>
                <a:gd name="connsiteY0" fmla="*/ 4415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14786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14786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8112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58830 w 6921305"/>
                <a:gd name="connsiteY2" fmla="*/ 188106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58830 w 6921305"/>
                <a:gd name="connsiteY2" fmla="*/ 188106 h 1856935"/>
                <a:gd name="connsiteX3" fmla="*/ 4634621 w 6921305"/>
                <a:gd name="connsiteY3" fmla="*/ 18493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21305" h="1856935">
                  <a:moveTo>
                    <a:pt x="8112" y="11089"/>
                  </a:moveTo>
                  <a:lnTo>
                    <a:pt x="2352642" y="1078"/>
                  </a:lnTo>
                  <a:cubicBezTo>
                    <a:pt x="2351530" y="68712"/>
                    <a:pt x="2359942" y="120472"/>
                    <a:pt x="2358830" y="188106"/>
                  </a:cubicBezTo>
                  <a:lnTo>
                    <a:pt x="4634621" y="184931"/>
                  </a:lnTo>
                  <a:lnTo>
                    <a:pt x="4628271" y="0"/>
                  </a:lnTo>
                  <a:lnTo>
                    <a:pt x="6921305" y="0"/>
                  </a:lnTo>
                  <a:lnTo>
                    <a:pt x="6921305" y="1856935"/>
                  </a:lnTo>
                  <a:lnTo>
                    <a:pt x="0" y="1856935"/>
                  </a:lnTo>
                  <a:lnTo>
                    <a:pt x="8112" y="11089"/>
                  </a:lnTo>
                  <a:close/>
                </a:path>
              </a:pathLst>
            </a:custGeom>
            <a:solidFill>
              <a:srgbClr val="CCEC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4" name="矩形 93"/>
            <p:cNvSpPr/>
            <p:nvPr/>
          </p:nvSpPr>
          <p:spPr bwMode="auto">
            <a:xfrm>
              <a:off x="1041009" y="3716935"/>
              <a:ext cx="6935094" cy="669600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5" name="AutoShape 2834"/>
            <p:cNvSpPr>
              <a:spLocks noChangeArrowheads="1"/>
            </p:cNvSpPr>
            <p:nvPr/>
          </p:nvSpPr>
          <p:spPr bwMode="auto">
            <a:xfrm flipV="1">
              <a:off x="1483898" y="100834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2835"/>
            <p:cNvSpPr>
              <a:spLocks noChangeShapeType="1"/>
            </p:cNvSpPr>
            <p:nvPr/>
          </p:nvSpPr>
          <p:spPr bwMode="auto">
            <a:xfrm>
              <a:off x="1410873" y="118614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2836"/>
            <p:cNvSpPr>
              <a:spLocks noChangeShapeType="1"/>
            </p:cNvSpPr>
            <p:nvPr/>
          </p:nvSpPr>
          <p:spPr bwMode="auto">
            <a:xfrm>
              <a:off x="1582323" y="118614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2837"/>
            <p:cNvSpPr>
              <a:spLocks noChangeShapeType="1"/>
            </p:cNvSpPr>
            <p:nvPr/>
          </p:nvSpPr>
          <p:spPr bwMode="auto">
            <a:xfrm>
              <a:off x="1491835" y="1230590"/>
              <a:ext cx="1698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2838"/>
            <p:cNvSpPr>
              <a:spLocks noChangeShapeType="1"/>
            </p:cNvSpPr>
            <p:nvPr/>
          </p:nvSpPr>
          <p:spPr bwMode="auto">
            <a:xfrm>
              <a:off x="1545810" y="1275040"/>
              <a:ext cx="7143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Box 2839"/>
            <p:cNvSpPr txBox="1">
              <a:spLocks noChangeArrowheads="1"/>
            </p:cNvSpPr>
            <p:nvPr/>
          </p:nvSpPr>
          <p:spPr bwMode="auto">
            <a:xfrm>
              <a:off x="802364" y="3573740"/>
              <a:ext cx="10259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01" name="Freeform 2840"/>
            <p:cNvSpPr>
              <a:spLocks/>
            </p:cNvSpPr>
            <p:nvPr/>
          </p:nvSpPr>
          <p:spPr bwMode="auto">
            <a:xfrm>
              <a:off x="3406360" y="738465"/>
              <a:ext cx="2278063" cy="1301750"/>
            </a:xfrm>
            <a:custGeom>
              <a:avLst/>
              <a:gdLst>
                <a:gd name="T0" fmla="*/ 0 w 1435"/>
                <a:gd name="T1" fmla="*/ 85 h 820"/>
                <a:gd name="T2" fmla="*/ 0 w 1435"/>
                <a:gd name="T3" fmla="*/ 820 h 820"/>
                <a:gd name="T4" fmla="*/ 1435 w 1435"/>
                <a:gd name="T5" fmla="*/ 820 h 820"/>
                <a:gd name="T6" fmla="*/ 1435 w 1435"/>
                <a:gd name="T7" fmla="*/ 479 h 820"/>
                <a:gd name="T8" fmla="*/ 1403 w 1435"/>
                <a:gd name="T9" fmla="*/ 478 h 820"/>
                <a:gd name="T10" fmla="*/ 1334 w 1435"/>
                <a:gd name="T11" fmla="*/ 473 h 820"/>
                <a:gd name="T12" fmla="*/ 1258 w 1435"/>
                <a:gd name="T13" fmla="*/ 462 h 820"/>
                <a:gd name="T14" fmla="*/ 1141 w 1435"/>
                <a:gd name="T15" fmla="*/ 430 h 820"/>
                <a:gd name="T16" fmla="*/ 1006 w 1435"/>
                <a:gd name="T17" fmla="*/ 388 h 820"/>
                <a:gd name="T18" fmla="*/ 806 w 1435"/>
                <a:gd name="T19" fmla="*/ 305 h 820"/>
                <a:gd name="T20" fmla="*/ 672 w 1435"/>
                <a:gd name="T21" fmla="*/ 234 h 820"/>
                <a:gd name="T22" fmla="*/ 520 w 1435"/>
                <a:gd name="T23" fmla="*/ 143 h 820"/>
                <a:gd name="T24" fmla="*/ 422 w 1435"/>
                <a:gd name="T25" fmla="*/ 85 h 820"/>
                <a:gd name="T26" fmla="*/ 355 w 1435"/>
                <a:gd name="T27" fmla="*/ 47 h 820"/>
                <a:gd name="T28" fmla="*/ 274 w 1435"/>
                <a:gd name="T29" fmla="*/ 15 h 820"/>
                <a:gd name="T30" fmla="*/ 205 w 1435"/>
                <a:gd name="T31" fmla="*/ 2 h 820"/>
                <a:gd name="T32" fmla="*/ 123 w 1435"/>
                <a:gd name="T33" fmla="*/ 4 h 820"/>
                <a:gd name="T34" fmla="*/ 62 w 1435"/>
                <a:gd name="T35" fmla="*/ 27 h 820"/>
                <a:gd name="T36" fmla="*/ 19 w 1435"/>
                <a:gd name="T37" fmla="*/ 60 h 820"/>
                <a:gd name="T38" fmla="*/ 0 w 1435"/>
                <a:gd name="T39" fmla="*/ 85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35" h="820">
                  <a:moveTo>
                    <a:pt x="0" y="85"/>
                  </a:moveTo>
                  <a:lnTo>
                    <a:pt x="0" y="820"/>
                  </a:lnTo>
                  <a:lnTo>
                    <a:pt x="1435" y="820"/>
                  </a:lnTo>
                  <a:lnTo>
                    <a:pt x="1435" y="479"/>
                  </a:lnTo>
                  <a:lnTo>
                    <a:pt x="1403" y="478"/>
                  </a:lnTo>
                  <a:cubicBezTo>
                    <a:pt x="1386" y="477"/>
                    <a:pt x="1358" y="476"/>
                    <a:pt x="1334" y="473"/>
                  </a:cubicBezTo>
                  <a:cubicBezTo>
                    <a:pt x="1310" y="470"/>
                    <a:pt x="1290" y="469"/>
                    <a:pt x="1258" y="462"/>
                  </a:cubicBezTo>
                  <a:cubicBezTo>
                    <a:pt x="1226" y="455"/>
                    <a:pt x="1183" y="442"/>
                    <a:pt x="1141" y="430"/>
                  </a:cubicBezTo>
                  <a:cubicBezTo>
                    <a:pt x="1099" y="418"/>
                    <a:pt x="1062" y="409"/>
                    <a:pt x="1006" y="388"/>
                  </a:cubicBezTo>
                  <a:cubicBezTo>
                    <a:pt x="950" y="367"/>
                    <a:pt x="862" y="331"/>
                    <a:pt x="806" y="305"/>
                  </a:cubicBezTo>
                  <a:cubicBezTo>
                    <a:pt x="750" y="279"/>
                    <a:pt x="720" y="261"/>
                    <a:pt x="672" y="234"/>
                  </a:cubicBezTo>
                  <a:cubicBezTo>
                    <a:pt x="624" y="207"/>
                    <a:pt x="562" y="167"/>
                    <a:pt x="520" y="143"/>
                  </a:cubicBezTo>
                  <a:cubicBezTo>
                    <a:pt x="478" y="119"/>
                    <a:pt x="449" y="101"/>
                    <a:pt x="422" y="85"/>
                  </a:cubicBezTo>
                  <a:cubicBezTo>
                    <a:pt x="395" y="70"/>
                    <a:pt x="380" y="59"/>
                    <a:pt x="355" y="47"/>
                  </a:cubicBezTo>
                  <a:cubicBezTo>
                    <a:pt x="330" y="35"/>
                    <a:pt x="299" y="23"/>
                    <a:pt x="274" y="15"/>
                  </a:cubicBezTo>
                  <a:cubicBezTo>
                    <a:pt x="249" y="8"/>
                    <a:pt x="230" y="4"/>
                    <a:pt x="205" y="2"/>
                  </a:cubicBezTo>
                  <a:cubicBezTo>
                    <a:pt x="180" y="0"/>
                    <a:pt x="147" y="0"/>
                    <a:pt x="123" y="4"/>
                  </a:cubicBezTo>
                  <a:cubicBezTo>
                    <a:pt x="99" y="8"/>
                    <a:pt x="79" y="18"/>
                    <a:pt x="62" y="27"/>
                  </a:cubicBezTo>
                  <a:cubicBezTo>
                    <a:pt x="45" y="36"/>
                    <a:pt x="29" y="50"/>
                    <a:pt x="19" y="60"/>
                  </a:cubicBezTo>
                  <a:cubicBezTo>
                    <a:pt x="9" y="70"/>
                    <a:pt x="4" y="81"/>
                    <a:pt x="0" y="85"/>
                  </a:cubicBezTo>
                  <a:close/>
                </a:path>
              </a:pathLst>
            </a:custGeom>
            <a:solidFill>
              <a:srgbClr val="FFC000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2841"/>
            <p:cNvSpPr>
              <a:spLocks noChangeShapeType="1"/>
            </p:cNvSpPr>
            <p:nvPr/>
          </p:nvSpPr>
          <p:spPr bwMode="auto">
            <a:xfrm>
              <a:off x="5687598" y="1843365"/>
              <a:ext cx="22864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2842"/>
            <p:cNvSpPr>
              <a:spLocks noChangeShapeType="1"/>
            </p:cNvSpPr>
            <p:nvPr/>
          </p:nvSpPr>
          <p:spPr bwMode="auto">
            <a:xfrm flipH="1">
              <a:off x="1058862" y="1848127"/>
              <a:ext cx="23427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2843"/>
            <p:cNvSpPr>
              <a:spLocks noChangeShapeType="1"/>
            </p:cNvSpPr>
            <p:nvPr/>
          </p:nvSpPr>
          <p:spPr bwMode="auto">
            <a:xfrm flipH="1">
              <a:off x="1065474" y="1132165"/>
              <a:ext cx="23361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2844"/>
            <p:cNvSpPr>
              <a:spLocks noChangeShapeType="1"/>
            </p:cNvSpPr>
            <p:nvPr/>
          </p:nvSpPr>
          <p:spPr bwMode="auto">
            <a:xfrm>
              <a:off x="5687597" y="1741765"/>
              <a:ext cx="226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2848"/>
            <p:cNvSpPr>
              <a:spLocks noChangeShapeType="1"/>
            </p:cNvSpPr>
            <p:nvPr/>
          </p:nvSpPr>
          <p:spPr bwMode="auto">
            <a:xfrm>
              <a:off x="1044160" y="3711852"/>
              <a:ext cx="6934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2858"/>
            <p:cNvSpPr>
              <a:spLocks noChangeShapeType="1"/>
            </p:cNvSpPr>
            <p:nvPr/>
          </p:nvSpPr>
          <p:spPr bwMode="auto">
            <a:xfrm>
              <a:off x="5595523" y="110041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Text Box 2861"/>
            <p:cNvSpPr txBox="1">
              <a:spLocks noChangeArrowheads="1"/>
            </p:cNvSpPr>
            <p:nvPr/>
          </p:nvSpPr>
          <p:spPr bwMode="auto">
            <a:xfrm>
              <a:off x="838293" y="1522690"/>
              <a:ext cx="332142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10" name="Text Box 2862"/>
            <p:cNvSpPr txBox="1">
              <a:spLocks noChangeArrowheads="1"/>
            </p:cNvSpPr>
            <p:nvPr/>
          </p:nvSpPr>
          <p:spPr bwMode="auto">
            <a:xfrm>
              <a:off x="3385723" y="1646515"/>
              <a:ext cx="320922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11" name="Text Box 2863"/>
            <p:cNvSpPr txBox="1">
              <a:spLocks noChangeArrowheads="1"/>
            </p:cNvSpPr>
            <p:nvPr/>
          </p:nvSpPr>
          <p:spPr bwMode="auto">
            <a:xfrm>
              <a:off x="3266660" y="1971952"/>
              <a:ext cx="332142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12" name="Text Box 2864"/>
            <p:cNvSpPr txBox="1">
              <a:spLocks noChangeArrowheads="1"/>
            </p:cNvSpPr>
            <p:nvPr/>
          </p:nvSpPr>
          <p:spPr bwMode="auto">
            <a:xfrm>
              <a:off x="5546310" y="1965602"/>
              <a:ext cx="332142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13" name="Text Box 2865"/>
            <p:cNvSpPr txBox="1">
              <a:spLocks noChangeArrowheads="1"/>
            </p:cNvSpPr>
            <p:nvPr/>
          </p:nvSpPr>
          <p:spPr bwMode="auto">
            <a:xfrm>
              <a:off x="5401848" y="1648102"/>
              <a:ext cx="320922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14" name="Line 2867"/>
            <p:cNvSpPr>
              <a:spLocks noChangeShapeType="1"/>
            </p:cNvSpPr>
            <p:nvPr/>
          </p:nvSpPr>
          <p:spPr bwMode="auto">
            <a:xfrm>
              <a:off x="6138448" y="1094065"/>
              <a:ext cx="0" cy="641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2868"/>
            <p:cNvSpPr>
              <a:spLocks noChangeShapeType="1"/>
            </p:cNvSpPr>
            <p:nvPr/>
          </p:nvSpPr>
          <p:spPr bwMode="auto">
            <a:xfrm>
              <a:off x="6944898" y="150681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Text Box 2869"/>
            <p:cNvSpPr txBox="1">
              <a:spLocks noChangeArrowheads="1"/>
            </p:cNvSpPr>
            <p:nvPr/>
          </p:nvSpPr>
          <p:spPr bwMode="auto">
            <a:xfrm>
              <a:off x="6127335" y="1154390"/>
              <a:ext cx="774700" cy="352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>
                  <a:latin typeface="Times New Roman" pitchFamily="18" charset="0"/>
                </a:rPr>
                <a:t>H</a:t>
              </a:r>
              <a:r>
                <a:rPr lang="en-US" altLang="zh-CN" sz="1600" b="1" dirty="0">
                  <a:latin typeface="Times New Roman" pitchFamily="18" charset="0"/>
                </a:rPr>
                <a:t>=5m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sp>
          <p:nvSpPr>
            <p:cNvPr id="117" name="Text Box 2870"/>
            <p:cNvSpPr txBox="1">
              <a:spLocks noChangeArrowheads="1"/>
            </p:cNvSpPr>
            <p:nvPr/>
          </p:nvSpPr>
          <p:spPr bwMode="auto">
            <a:xfrm>
              <a:off x="6941723" y="1389340"/>
              <a:ext cx="374650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1600" b="1">
                  <a:latin typeface="Times New Roman" pitchFamily="18" charset="0"/>
                </a:rPr>
                <a:t>m</a:t>
              </a:r>
              <a:endParaRPr lang="el-GR" altLang="zh-CN" sz="1600" b="1">
                <a:latin typeface="Times New Roman" pitchFamily="18" charset="0"/>
              </a:endParaRPr>
            </a:p>
          </p:txBody>
        </p:sp>
        <p:sp>
          <p:nvSpPr>
            <p:cNvPr id="118" name="Text Box 2874"/>
            <p:cNvSpPr txBox="1">
              <a:spLocks noChangeArrowheads="1"/>
            </p:cNvSpPr>
            <p:nvPr/>
          </p:nvSpPr>
          <p:spPr bwMode="auto">
            <a:xfrm>
              <a:off x="8003700" y="1631625"/>
              <a:ext cx="309700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19" name="AutoShape 2875"/>
            <p:cNvSpPr>
              <a:spLocks noChangeArrowheads="1"/>
            </p:cNvSpPr>
            <p:nvPr/>
          </p:nvSpPr>
          <p:spPr bwMode="auto">
            <a:xfrm flipV="1">
              <a:off x="6584535" y="162429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Line 2876"/>
            <p:cNvSpPr>
              <a:spLocks noChangeShapeType="1"/>
            </p:cNvSpPr>
            <p:nvPr/>
          </p:nvSpPr>
          <p:spPr bwMode="auto">
            <a:xfrm>
              <a:off x="6521035" y="177827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2877"/>
            <p:cNvSpPr>
              <a:spLocks noChangeShapeType="1"/>
            </p:cNvSpPr>
            <p:nvPr/>
          </p:nvSpPr>
          <p:spPr bwMode="auto">
            <a:xfrm>
              <a:off x="6682960" y="177827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2878"/>
            <p:cNvSpPr>
              <a:spLocks noChangeShapeType="1"/>
            </p:cNvSpPr>
            <p:nvPr/>
          </p:nvSpPr>
          <p:spPr bwMode="auto">
            <a:xfrm>
              <a:off x="6592473" y="1813202"/>
              <a:ext cx="1698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Text Box 2879"/>
            <p:cNvSpPr txBox="1">
              <a:spLocks noChangeArrowheads="1"/>
            </p:cNvSpPr>
            <p:nvPr/>
          </p:nvSpPr>
          <p:spPr bwMode="auto">
            <a:xfrm>
              <a:off x="1031460" y="3381652"/>
              <a:ext cx="344966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24" name="Text Box 2880"/>
            <p:cNvSpPr txBox="1">
              <a:spLocks noChangeArrowheads="1"/>
            </p:cNvSpPr>
            <p:nvPr/>
          </p:nvSpPr>
          <p:spPr bwMode="auto">
            <a:xfrm>
              <a:off x="7652923" y="3381652"/>
              <a:ext cx="344966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125" name="Text Box 2881"/>
            <p:cNvSpPr txBox="1">
              <a:spLocks noChangeArrowheads="1"/>
            </p:cNvSpPr>
            <p:nvPr/>
          </p:nvSpPr>
          <p:spPr bwMode="auto">
            <a:xfrm>
              <a:off x="8071527" y="3591202"/>
              <a:ext cx="102592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6" name="Line 2882"/>
            <p:cNvSpPr>
              <a:spLocks noChangeShapeType="1"/>
            </p:cNvSpPr>
            <p:nvPr/>
          </p:nvSpPr>
          <p:spPr bwMode="auto">
            <a:xfrm flipV="1">
              <a:off x="6954423" y="1854477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Text Box 2883"/>
            <p:cNvSpPr txBox="1">
              <a:spLocks noChangeArrowheads="1"/>
            </p:cNvSpPr>
            <p:nvPr/>
          </p:nvSpPr>
          <p:spPr bwMode="auto">
            <a:xfrm>
              <a:off x="5162135" y="3976010"/>
              <a:ext cx="1011815" cy="350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 sz="1600" b="1" dirty="0">
                  <a:latin typeface="Times New Roman" pitchFamily="18" charset="0"/>
                </a:rPr>
                <a:t>不透水层</a:t>
              </a:r>
            </a:p>
          </p:txBody>
        </p:sp>
        <p:grpSp>
          <p:nvGrpSpPr>
            <p:cNvPr id="128" name="Group 2909"/>
            <p:cNvGrpSpPr>
              <a:grpSpLocks/>
            </p:cNvGrpSpPr>
            <p:nvPr/>
          </p:nvGrpSpPr>
          <p:grpSpPr bwMode="auto">
            <a:xfrm>
              <a:off x="7211598" y="3710265"/>
              <a:ext cx="625475" cy="133350"/>
              <a:chOff x="2644" y="2807"/>
              <a:chExt cx="481" cy="83"/>
            </a:xfrm>
          </p:grpSpPr>
          <p:sp>
            <p:nvSpPr>
              <p:cNvPr id="149" name="Freeform 2910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 2911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" name="Freeform 2912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 2913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 2914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 2915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 2916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 2917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7" name="Freeform 2918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" name="Freeform 2919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 2920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0" name="Freeform 2921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9" name="Group 2922"/>
            <p:cNvGrpSpPr>
              <a:grpSpLocks/>
            </p:cNvGrpSpPr>
            <p:nvPr/>
          </p:nvGrpSpPr>
          <p:grpSpPr bwMode="auto">
            <a:xfrm>
              <a:off x="2137948" y="3710265"/>
              <a:ext cx="625475" cy="133350"/>
              <a:chOff x="2644" y="2807"/>
              <a:chExt cx="481" cy="83"/>
            </a:xfrm>
          </p:grpSpPr>
          <p:sp>
            <p:nvSpPr>
              <p:cNvPr id="137" name="Freeform 2923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 2924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 2925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" name="Freeform 2926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" name="Freeform 2927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2928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2929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2930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" name="Freeform 2931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6" name="Freeform 2932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7" name="Freeform 2933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8" name="Freeform 2934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0" name="Line 2866"/>
            <p:cNvSpPr>
              <a:spLocks noChangeShapeType="1"/>
            </p:cNvSpPr>
            <p:nvPr/>
          </p:nvSpPr>
          <p:spPr bwMode="auto">
            <a:xfrm>
              <a:off x="447840" y="1136927"/>
              <a:ext cx="0" cy="715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31" name="Text Box 2873"/>
            <p:cNvSpPr txBox="1">
              <a:spLocks noChangeArrowheads="1"/>
            </p:cNvSpPr>
            <p:nvPr/>
          </p:nvSpPr>
          <p:spPr bwMode="auto">
            <a:xfrm>
              <a:off x="435194" y="1268690"/>
              <a:ext cx="469900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cxnSp>
          <p:nvCxnSpPr>
            <p:cNvPr id="132" name="直接连接符 131"/>
            <p:cNvCxnSpPr/>
            <p:nvPr/>
          </p:nvCxnSpPr>
          <p:spPr bwMode="auto">
            <a:xfrm>
              <a:off x="312026" y="1129085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直接连接符 132"/>
            <p:cNvCxnSpPr/>
            <p:nvPr/>
          </p:nvCxnSpPr>
          <p:spPr bwMode="auto">
            <a:xfrm>
              <a:off x="313351" y="1853979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直接连接符 133"/>
            <p:cNvCxnSpPr/>
            <p:nvPr/>
          </p:nvCxnSpPr>
          <p:spPr bwMode="auto">
            <a:xfrm>
              <a:off x="328613" y="3699376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Line 2866"/>
            <p:cNvSpPr>
              <a:spLocks noChangeShapeType="1"/>
            </p:cNvSpPr>
            <p:nvPr/>
          </p:nvSpPr>
          <p:spPr bwMode="auto">
            <a:xfrm>
              <a:off x="455385" y="1859695"/>
              <a:ext cx="0" cy="18341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36" name="Text Box 2873"/>
            <p:cNvSpPr txBox="1">
              <a:spLocks noChangeArrowheads="1"/>
            </p:cNvSpPr>
            <p:nvPr/>
          </p:nvSpPr>
          <p:spPr bwMode="auto">
            <a:xfrm>
              <a:off x="474663" y="2583140"/>
              <a:ext cx="469900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latin typeface="Times New Roman" pitchFamily="18" charset="0"/>
                </a:rPr>
                <a:t>16m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</p:grpSp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3194050" y="5735638"/>
            <a:ext cx="2732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流网的画法</a:t>
            </a:r>
          </a:p>
        </p:txBody>
      </p:sp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83" name="Text Box 2839"/>
          <p:cNvSpPr txBox="1">
            <a:spLocks noChangeArrowheads="1"/>
          </p:cNvSpPr>
          <p:nvPr/>
        </p:nvSpPr>
        <p:spPr bwMode="auto">
          <a:xfrm>
            <a:off x="802860" y="3573740"/>
            <a:ext cx="101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ctr"/>
            <a:r>
              <a:rPr lang="en-US" altLang="zh-CN" sz="1600">
                <a:latin typeface="Times New Roman" pitchFamily="18" charset="0"/>
              </a:rPr>
              <a:t>0</a:t>
            </a:r>
          </a:p>
        </p:txBody>
      </p:sp>
      <p:sp>
        <p:nvSpPr>
          <p:cNvPr id="206" name="Text Box 2862"/>
          <p:cNvSpPr txBox="1">
            <a:spLocks noChangeArrowheads="1"/>
          </p:cNvSpPr>
          <p:nvPr/>
        </p:nvSpPr>
        <p:spPr bwMode="auto">
          <a:xfrm>
            <a:off x="3385723" y="1646515"/>
            <a:ext cx="319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>
                <a:latin typeface="Times New Roman" pitchFamily="18" charset="0"/>
              </a:rPr>
              <a:t>B</a:t>
            </a:r>
          </a:p>
        </p:txBody>
      </p:sp>
      <p:sp>
        <p:nvSpPr>
          <p:cNvPr id="207" name="Text Box 2863"/>
          <p:cNvSpPr txBox="1">
            <a:spLocks noChangeArrowheads="1"/>
          </p:cNvSpPr>
          <p:nvPr/>
        </p:nvSpPr>
        <p:spPr bwMode="auto">
          <a:xfrm>
            <a:off x="3266660" y="1971952"/>
            <a:ext cx="319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>
                <a:latin typeface="Times New Roman" pitchFamily="18" charset="0"/>
              </a:rPr>
              <a:t>C</a:t>
            </a:r>
          </a:p>
        </p:txBody>
      </p:sp>
      <p:sp>
        <p:nvSpPr>
          <p:cNvPr id="208" name="Text Box 2864"/>
          <p:cNvSpPr txBox="1">
            <a:spLocks noChangeArrowheads="1"/>
          </p:cNvSpPr>
          <p:nvPr/>
        </p:nvSpPr>
        <p:spPr bwMode="auto">
          <a:xfrm>
            <a:off x="5546310" y="1965602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>
                <a:latin typeface="Times New Roman" pitchFamily="18" charset="0"/>
              </a:rPr>
              <a:t>D</a:t>
            </a:r>
          </a:p>
        </p:txBody>
      </p:sp>
      <p:sp>
        <p:nvSpPr>
          <p:cNvPr id="209" name="Text Box 2865"/>
          <p:cNvSpPr txBox="1">
            <a:spLocks noChangeArrowheads="1"/>
          </p:cNvSpPr>
          <p:nvPr/>
        </p:nvSpPr>
        <p:spPr bwMode="auto">
          <a:xfrm>
            <a:off x="5401848" y="1648102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>
                <a:latin typeface="Times New Roman" pitchFamily="18" charset="0"/>
              </a:rPr>
              <a:t>E</a:t>
            </a:r>
          </a:p>
        </p:txBody>
      </p:sp>
      <p:sp>
        <p:nvSpPr>
          <p:cNvPr id="218" name="Text Box 2874"/>
          <p:cNvSpPr txBox="1">
            <a:spLocks noChangeArrowheads="1"/>
          </p:cNvSpPr>
          <p:nvPr/>
        </p:nvSpPr>
        <p:spPr bwMode="auto">
          <a:xfrm>
            <a:off x="7928447" y="1498517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dirty="0">
                <a:latin typeface="Times New Roman" pitchFamily="18" charset="0"/>
              </a:rPr>
              <a:t>F</a:t>
            </a:r>
          </a:p>
        </p:txBody>
      </p:sp>
      <p:sp>
        <p:nvSpPr>
          <p:cNvPr id="223" name="Text Box 2879"/>
          <p:cNvSpPr txBox="1">
            <a:spLocks noChangeArrowheads="1"/>
          </p:cNvSpPr>
          <p:nvPr/>
        </p:nvSpPr>
        <p:spPr bwMode="auto">
          <a:xfrm>
            <a:off x="1031460" y="3381652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>
                <a:latin typeface="Times New Roman" pitchFamily="18" charset="0"/>
              </a:rPr>
              <a:t>G</a:t>
            </a:r>
          </a:p>
        </p:txBody>
      </p:sp>
      <p:sp>
        <p:nvSpPr>
          <p:cNvPr id="224" name="Text Box 2880"/>
          <p:cNvSpPr txBox="1">
            <a:spLocks noChangeArrowheads="1"/>
          </p:cNvSpPr>
          <p:nvPr/>
        </p:nvSpPr>
        <p:spPr bwMode="auto">
          <a:xfrm>
            <a:off x="7652923" y="3381652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>
                <a:latin typeface="Times New Roman" pitchFamily="18" charset="0"/>
              </a:rPr>
              <a:t>H</a:t>
            </a:r>
          </a:p>
        </p:txBody>
      </p:sp>
      <p:sp>
        <p:nvSpPr>
          <p:cNvPr id="225" name="Text Box 2881"/>
          <p:cNvSpPr txBox="1">
            <a:spLocks noChangeArrowheads="1"/>
          </p:cNvSpPr>
          <p:nvPr/>
        </p:nvSpPr>
        <p:spPr bwMode="auto">
          <a:xfrm>
            <a:off x="8072023" y="3591202"/>
            <a:ext cx="101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ctr"/>
            <a:r>
              <a:rPr lang="en-US" altLang="zh-CN" sz="1600">
                <a:latin typeface="Times New Roman" pitchFamily="18" charset="0"/>
              </a:rPr>
              <a:t>0</a:t>
            </a:r>
          </a:p>
        </p:txBody>
      </p:sp>
      <p:sp>
        <p:nvSpPr>
          <p:cNvPr id="228" name="Text Box 2884"/>
          <p:cNvSpPr txBox="1">
            <a:spLocks noChangeArrowheads="1"/>
          </p:cNvSpPr>
          <p:nvPr/>
        </p:nvSpPr>
        <p:spPr bwMode="auto">
          <a:xfrm>
            <a:off x="3095649" y="1461008"/>
            <a:ext cx="436338" cy="481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200" dirty="0">
                <a:sym typeface="Wingdings" pitchFamily="2" charset="2"/>
              </a:rPr>
              <a:t>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857744" y="1462595"/>
            <a:ext cx="3104491" cy="944332"/>
            <a:chOff x="2857744" y="1462595"/>
            <a:chExt cx="3104491" cy="944332"/>
          </a:xfrm>
        </p:grpSpPr>
        <p:sp>
          <p:nvSpPr>
            <p:cNvPr id="189" name="Freeform 2845"/>
            <p:cNvSpPr>
              <a:spLocks/>
            </p:cNvSpPr>
            <p:nvPr/>
          </p:nvSpPr>
          <p:spPr bwMode="auto">
            <a:xfrm>
              <a:off x="3117435" y="1849715"/>
              <a:ext cx="2844800" cy="557212"/>
            </a:xfrm>
            <a:custGeom>
              <a:avLst/>
              <a:gdLst>
                <a:gd name="T0" fmla="*/ 0 w 1792"/>
                <a:gd name="T1" fmla="*/ 1 h 351"/>
                <a:gd name="T2" fmla="*/ 24 w 1792"/>
                <a:gd name="T3" fmla="*/ 118 h 351"/>
                <a:gd name="T4" fmla="*/ 99 w 1792"/>
                <a:gd name="T5" fmla="*/ 225 h 351"/>
                <a:gd name="T6" fmla="*/ 255 w 1792"/>
                <a:gd name="T7" fmla="*/ 310 h 351"/>
                <a:gd name="T8" fmla="*/ 445 w 1792"/>
                <a:gd name="T9" fmla="*/ 341 h 351"/>
                <a:gd name="T10" fmla="*/ 643 w 1792"/>
                <a:gd name="T11" fmla="*/ 349 h 351"/>
                <a:gd name="T12" fmla="*/ 913 w 1792"/>
                <a:gd name="T13" fmla="*/ 349 h 351"/>
                <a:gd name="T14" fmla="*/ 1255 w 1792"/>
                <a:gd name="T15" fmla="*/ 336 h 351"/>
                <a:gd name="T16" fmla="*/ 1525 w 1792"/>
                <a:gd name="T17" fmla="*/ 305 h 351"/>
                <a:gd name="T18" fmla="*/ 1678 w 1792"/>
                <a:gd name="T19" fmla="*/ 234 h 351"/>
                <a:gd name="T20" fmla="*/ 1760 w 1792"/>
                <a:gd name="T21" fmla="*/ 133 h 351"/>
                <a:gd name="T22" fmla="*/ 1792 w 1792"/>
                <a:gd name="T2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92" h="351">
                  <a:moveTo>
                    <a:pt x="0" y="1"/>
                  </a:moveTo>
                  <a:cubicBezTo>
                    <a:pt x="4" y="20"/>
                    <a:pt x="8" y="81"/>
                    <a:pt x="24" y="118"/>
                  </a:cubicBezTo>
                  <a:cubicBezTo>
                    <a:pt x="40" y="155"/>
                    <a:pt x="60" y="193"/>
                    <a:pt x="99" y="225"/>
                  </a:cubicBezTo>
                  <a:cubicBezTo>
                    <a:pt x="138" y="257"/>
                    <a:pt x="197" y="291"/>
                    <a:pt x="255" y="310"/>
                  </a:cubicBezTo>
                  <a:cubicBezTo>
                    <a:pt x="312" y="330"/>
                    <a:pt x="380" y="335"/>
                    <a:pt x="445" y="341"/>
                  </a:cubicBezTo>
                  <a:cubicBezTo>
                    <a:pt x="509" y="347"/>
                    <a:pt x="565" y="348"/>
                    <a:pt x="643" y="349"/>
                  </a:cubicBezTo>
                  <a:cubicBezTo>
                    <a:pt x="721" y="350"/>
                    <a:pt x="811" y="351"/>
                    <a:pt x="913" y="349"/>
                  </a:cubicBezTo>
                  <a:cubicBezTo>
                    <a:pt x="1015" y="347"/>
                    <a:pt x="1153" y="343"/>
                    <a:pt x="1255" y="336"/>
                  </a:cubicBezTo>
                  <a:cubicBezTo>
                    <a:pt x="1357" y="328"/>
                    <a:pt x="1455" y="321"/>
                    <a:pt x="1525" y="305"/>
                  </a:cubicBezTo>
                  <a:cubicBezTo>
                    <a:pt x="1595" y="289"/>
                    <a:pt x="1638" y="263"/>
                    <a:pt x="1678" y="234"/>
                  </a:cubicBezTo>
                  <a:cubicBezTo>
                    <a:pt x="1717" y="206"/>
                    <a:pt x="1740" y="172"/>
                    <a:pt x="1760" y="133"/>
                  </a:cubicBezTo>
                  <a:cubicBezTo>
                    <a:pt x="1779" y="94"/>
                    <a:pt x="1785" y="28"/>
                    <a:pt x="179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Text Box 2885"/>
            <p:cNvSpPr txBox="1">
              <a:spLocks noChangeArrowheads="1"/>
            </p:cNvSpPr>
            <p:nvPr/>
          </p:nvSpPr>
          <p:spPr bwMode="auto">
            <a:xfrm>
              <a:off x="2857744" y="1462595"/>
              <a:ext cx="436338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sym typeface="Wingdings" pitchFamily="2" charset="2"/>
                </a:rPr>
                <a:t>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309273" y="1441958"/>
            <a:ext cx="6089650" cy="1809519"/>
            <a:chOff x="1309273" y="1441958"/>
            <a:chExt cx="6089650" cy="1809519"/>
          </a:xfrm>
        </p:grpSpPr>
        <p:sp>
          <p:nvSpPr>
            <p:cNvPr id="191" name="Freeform 2847"/>
            <p:cNvSpPr>
              <a:spLocks/>
            </p:cNvSpPr>
            <p:nvPr/>
          </p:nvSpPr>
          <p:spPr bwMode="auto">
            <a:xfrm>
              <a:off x="1542635" y="1843365"/>
              <a:ext cx="5856288" cy="1408112"/>
            </a:xfrm>
            <a:custGeom>
              <a:avLst/>
              <a:gdLst>
                <a:gd name="T0" fmla="*/ 0 w 3689"/>
                <a:gd name="T1" fmla="*/ 6 h 887"/>
                <a:gd name="T2" fmla="*/ 35 w 3689"/>
                <a:gd name="T3" fmla="*/ 166 h 887"/>
                <a:gd name="T4" fmla="*/ 131 w 3689"/>
                <a:gd name="T5" fmla="*/ 374 h 887"/>
                <a:gd name="T6" fmla="*/ 294 w 3689"/>
                <a:gd name="T7" fmla="*/ 560 h 887"/>
                <a:gd name="T8" fmla="*/ 537 w 3689"/>
                <a:gd name="T9" fmla="*/ 707 h 887"/>
                <a:gd name="T10" fmla="*/ 899 w 3689"/>
                <a:gd name="T11" fmla="*/ 803 h 887"/>
                <a:gd name="T12" fmla="*/ 1232 w 3689"/>
                <a:gd name="T13" fmla="*/ 860 h 887"/>
                <a:gd name="T14" fmla="*/ 1660 w 3689"/>
                <a:gd name="T15" fmla="*/ 880 h 887"/>
                <a:gd name="T16" fmla="*/ 2144 w 3689"/>
                <a:gd name="T17" fmla="*/ 880 h 887"/>
                <a:gd name="T18" fmla="*/ 2592 w 3689"/>
                <a:gd name="T19" fmla="*/ 838 h 887"/>
                <a:gd name="T20" fmla="*/ 3011 w 3689"/>
                <a:gd name="T21" fmla="*/ 739 h 887"/>
                <a:gd name="T22" fmla="*/ 3328 w 3689"/>
                <a:gd name="T23" fmla="*/ 593 h 887"/>
                <a:gd name="T24" fmla="*/ 3528 w 3689"/>
                <a:gd name="T25" fmla="*/ 420 h 887"/>
                <a:gd name="T26" fmla="*/ 3654 w 3689"/>
                <a:gd name="T27" fmla="*/ 188 h 887"/>
                <a:gd name="T28" fmla="*/ 3689 w 3689"/>
                <a:gd name="T29" fmla="*/ 0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89" h="887">
                  <a:moveTo>
                    <a:pt x="0" y="6"/>
                  </a:moveTo>
                  <a:cubicBezTo>
                    <a:pt x="5" y="33"/>
                    <a:pt x="13" y="105"/>
                    <a:pt x="35" y="166"/>
                  </a:cubicBezTo>
                  <a:cubicBezTo>
                    <a:pt x="57" y="227"/>
                    <a:pt x="88" y="308"/>
                    <a:pt x="131" y="374"/>
                  </a:cubicBezTo>
                  <a:cubicBezTo>
                    <a:pt x="174" y="440"/>
                    <a:pt x="226" y="504"/>
                    <a:pt x="294" y="560"/>
                  </a:cubicBezTo>
                  <a:cubicBezTo>
                    <a:pt x="362" y="616"/>
                    <a:pt x="436" y="667"/>
                    <a:pt x="537" y="707"/>
                  </a:cubicBezTo>
                  <a:cubicBezTo>
                    <a:pt x="638" y="747"/>
                    <a:pt x="783" y="778"/>
                    <a:pt x="899" y="803"/>
                  </a:cubicBezTo>
                  <a:cubicBezTo>
                    <a:pt x="1015" y="828"/>
                    <a:pt x="1105" y="847"/>
                    <a:pt x="1232" y="860"/>
                  </a:cubicBezTo>
                  <a:cubicBezTo>
                    <a:pt x="1359" y="873"/>
                    <a:pt x="1508" y="877"/>
                    <a:pt x="1660" y="880"/>
                  </a:cubicBezTo>
                  <a:cubicBezTo>
                    <a:pt x="1812" y="883"/>
                    <a:pt x="1989" y="887"/>
                    <a:pt x="2144" y="880"/>
                  </a:cubicBezTo>
                  <a:cubicBezTo>
                    <a:pt x="2299" y="873"/>
                    <a:pt x="2448" y="861"/>
                    <a:pt x="2592" y="838"/>
                  </a:cubicBezTo>
                  <a:cubicBezTo>
                    <a:pt x="2736" y="815"/>
                    <a:pt x="2888" y="780"/>
                    <a:pt x="3011" y="739"/>
                  </a:cubicBezTo>
                  <a:cubicBezTo>
                    <a:pt x="3134" y="698"/>
                    <a:pt x="3242" y="646"/>
                    <a:pt x="3328" y="593"/>
                  </a:cubicBezTo>
                  <a:cubicBezTo>
                    <a:pt x="3414" y="540"/>
                    <a:pt x="3474" y="487"/>
                    <a:pt x="3528" y="420"/>
                  </a:cubicBezTo>
                  <a:cubicBezTo>
                    <a:pt x="3582" y="353"/>
                    <a:pt x="3627" y="258"/>
                    <a:pt x="3654" y="188"/>
                  </a:cubicBezTo>
                  <a:cubicBezTo>
                    <a:pt x="3681" y="118"/>
                    <a:pt x="3682" y="39"/>
                    <a:pt x="368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Text Box 2886"/>
            <p:cNvSpPr txBox="1">
              <a:spLocks noChangeArrowheads="1"/>
            </p:cNvSpPr>
            <p:nvPr/>
          </p:nvSpPr>
          <p:spPr bwMode="auto">
            <a:xfrm>
              <a:off x="1309273" y="1441958"/>
              <a:ext cx="436338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sym typeface="Wingdings" pitchFamily="2" charset="2"/>
                </a:rPr>
                <a:t>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396710" y="1453070"/>
            <a:ext cx="4062413" cy="1377720"/>
            <a:chOff x="2396710" y="1453070"/>
            <a:chExt cx="4062413" cy="1377720"/>
          </a:xfrm>
        </p:grpSpPr>
        <p:sp>
          <p:nvSpPr>
            <p:cNvPr id="190" name="Freeform 2846"/>
            <p:cNvSpPr>
              <a:spLocks/>
            </p:cNvSpPr>
            <p:nvPr/>
          </p:nvSpPr>
          <p:spPr bwMode="auto">
            <a:xfrm>
              <a:off x="2607848" y="1852890"/>
              <a:ext cx="3851275" cy="977900"/>
            </a:xfrm>
            <a:custGeom>
              <a:avLst/>
              <a:gdLst>
                <a:gd name="T0" fmla="*/ 0 w 2409"/>
                <a:gd name="T1" fmla="*/ 2 h 606"/>
                <a:gd name="T2" fmla="*/ 32 w 2409"/>
                <a:gd name="T3" fmla="*/ 166 h 606"/>
                <a:gd name="T4" fmla="*/ 112 w 2409"/>
                <a:gd name="T5" fmla="*/ 307 h 606"/>
                <a:gd name="T6" fmla="*/ 275 w 2409"/>
                <a:gd name="T7" fmla="*/ 448 h 606"/>
                <a:gd name="T8" fmla="*/ 502 w 2409"/>
                <a:gd name="T9" fmla="*/ 541 h 606"/>
                <a:gd name="T10" fmla="*/ 870 w 2409"/>
                <a:gd name="T11" fmla="*/ 595 h 606"/>
                <a:gd name="T12" fmla="*/ 1228 w 2409"/>
                <a:gd name="T13" fmla="*/ 605 h 606"/>
                <a:gd name="T14" fmla="*/ 1542 w 2409"/>
                <a:gd name="T15" fmla="*/ 589 h 606"/>
                <a:gd name="T16" fmla="*/ 1830 w 2409"/>
                <a:gd name="T17" fmla="*/ 538 h 606"/>
                <a:gd name="T18" fmla="*/ 2081 w 2409"/>
                <a:gd name="T19" fmla="*/ 437 h 606"/>
                <a:gd name="T20" fmla="*/ 2267 w 2409"/>
                <a:gd name="T21" fmla="*/ 290 h 606"/>
                <a:gd name="T22" fmla="*/ 2368 w 2409"/>
                <a:gd name="T23" fmla="*/ 150 h 606"/>
                <a:gd name="T24" fmla="*/ 2409 w 2409"/>
                <a:gd name="T25" fmla="*/ 0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09" h="606">
                  <a:moveTo>
                    <a:pt x="0" y="2"/>
                  </a:moveTo>
                  <a:cubicBezTo>
                    <a:pt x="5" y="29"/>
                    <a:pt x="13" y="115"/>
                    <a:pt x="32" y="166"/>
                  </a:cubicBezTo>
                  <a:cubicBezTo>
                    <a:pt x="51" y="217"/>
                    <a:pt x="72" y="260"/>
                    <a:pt x="112" y="307"/>
                  </a:cubicBezTo>
                  <a:cubicBezTo>
                    <a:pt x="152" y="354"/>
                    <a:pt x="210" y="409"/>
                    <a:pt x="275" y="448"/>
                  </a:cubicBezTo>
                  <a:cubicBezTo>
                    <a:pt x="340" y="487"/>
                    <a:pt x="403" y="517"/>
                    <a:pt x="502" y="541"/>
                  </a:cubicBezTo>
                  <a:cubicBezTo>
                    <a:pt x="601" y="565"/>
                    <a:pt x="749" y="584"/>
                    <a:pt x="870" y="595"/>
                  </a:cubicBezTo>
                  <a:cubicBezTo>
                    <a:pt x="991" y="606"/>
                    <a:pt x="1116" y="606"/>
                    <a:pt x="1228" y="605"/>
                  </a:cubicBezTo>
                  <a:cubicBezTo>
                    <a:pt x="1340" y="604"/>
                    <a:pt x="1442" y="600"/>
                    <a:pt x="1542" y="589"/>
                  </a:cubicBezTo>
                  <a:cubicBezTo>
                    <a:pt x="1642" y="578"/>
                    <a:pt x="1740" y="563"/>
                    <a:pt x="1830" y="538"/>
                  </a:cubicBezTo>
                  <a:cubicBezTo>
                    <a:pt x="1920" y="513"/>
                    <a:pt x="2008" y="478"/>
                    <a:pt x="2081" y="437"/>
                  </a:cubicBezTo>
                  <a:cubicBezTo>
                    <a:pt x="2154" y="396"/>
                    <a:pt x="2219" y="338"/>
                    <a:pt x="2267" y="290"/>
                  </a:cubicBezTo>
                  <a:cubicBezTo>
                    <a:pt x="2315" y="242"/>
                    <a:pt x="2344" y="198"/>
                    <a:pt x="2368" y="150"/>
                  </a:cubicBezTo>
                  <a:cubicBezTo>
                    <a:pt x="2392" y="102"/>
                    <a:pt x="2401" y="51"/>
                    <a:pt x="240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Text Box 2887"/>
            <p:cNvSpPr txBox="1">
              <a:spLocks noChangeArrowheads="1"/>
            </p:cNvSpPr>
            <p:nvPr/>
          </p:nvSpPr>
          <p:spPr bwMode="auto">
            <a:xfrm>
              <a:off x="2396710" y="1453070"/>
              <a:ext cx="436338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sym typeface="Wingdings" pitchFamily="2" charset="2"/>
                </a:rPr>
                <a:t></a:t>
              </a:r>
            </a:p>
          </p:txBody>
        </p:sp>
      </p:grpSp>
      <p:sp>
        <p:nvSpPr>
          <p:cNvPr id="232" name="Text Box 2888"/>
          <p:cNvSpPr txBox="1">
            <a:spLocks noChangeArrowheads="1"/>
          </p:cNvSpPr>
          <p:nvPr/>
        </p:nvSpPr>
        <p:spPr bwMode="auto">
          <a:xfrm>
            <a:off x="707610" y="1667152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>
                <a:latin typeface="Times New Roman" pitchFamily="18" charset="0"/>
              </a:rPr>
              <a:t>1</a:t>
            </a:r>
          </a:p>
        </p:txBody>
      </p:sp>
      <p:sp>
        <p:nvSpPr>
          <p:cNvPr id="233" name="Text Box 2889"/>
          <p:cNvSpPr txBox="1">
            <a:spLocks noChangeArrowheads="1"/>
          </p:cNvSpPr>
          <p:nvPr/>
        </p:nvSpPr>
        <p:spPr bwMode="auto">
          <a:xfrm>
            <a:off x="1431510" y="3334258"/>
            <a:ext cx="436338" cy="481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200" dirty="0">
                <a:sym typeface="Wingdings" pitchFamily="2" charset="2"/>
              </a:rPr>
              <a:t></a:t>
            </a:r>
          </a:p>
        </p:txBody>
      </p:sp>
      <p:sp>
        <p:nvSpPr>
          <p:cNvPr id="109" name="Text Box 2861"/>
          <p:cNvSpPr txBox="1">
            <a:spLocks noChangeArrowheads="1"/>
          </p:cNvSpPr>
          <p:nvPr/>
        </p:nvSpPr>
        <p:spPr bwMode="auto">
          <a:xfrm>
            <a:off x="838293" y="152269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dirty="0">
                <a:latin typeface="Times New Roman" pitchFamily="18" charset="0"/>
              </a:rPr>
              <a:t>A</a:t>
            </a:r>
          </a:p>
        </p:txBody>
      </p:sp>
      <p:sp>
        <p:nvSpPr>
          <p:cNvPr id="2" name="矩形 1"/>
          <p:cNvSpPr/>
          <p:nvPr/>
        </p:nvSpPr>
        <p:spPr>
          <a:xfrm>
            <a:off x="1647454" y="4593459"/>
            <a:ext cx="6176631" cy="479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C00000"/>
              </a:buClr>
              <a:buFont typeface="+mj-lt"/>
              <a:buAutoNum type="arabicPeriod" startAt="2"/>
            </a:pPr>
            <a:r>
              <a:rPr lang="zh-CN" altLang="en-US" sz="2400" b="1" dirty="0">
                <a:ea typeface="黑体" panose="02010609060101010101" pitchFamily="49" charset="-122"/>
                <a:cs typeface="Times New Roman" panose="02020603050405020304" pitchFamily="18" charset="0"/>
              </a:rPr>
              <a:t>初步绘制流线</a:t>
            </a:r>
            <a:endParaRPr lang="zh-CN" altLang="en-US" sz="2400" dirty="0"/>
          </a:p>
        </p:txBody>
      </p:sp>
      <p:sp>
        <p:nvSpPr>
          <p:cNvPr id="89" name="Text Box 2900"/>
          <p:cNvSpPr txBox="1">
            <a:spLocks noChangeArrowheads="1"/>
          </p:cNvSpPr>
          <p:nvPr/>
        </p:nvSpPr>
        <p:spPr bwMode="auto">
          <a:xfrm>
            <a:off x="7456073" y="2815550"/>
            <a:ext cx="574196" cy="35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i="1" dirty="0" smtClean="0">
                <a:latin typeface="Times New Roman" pitchFamily="18" charset="0"/>
              </a:rPr>
              <a:t>M</a:t>
            </a:r>
            <a:r>
              <a:rPr lang="en-US" altLang="zh-CN" sz="1600" dirty="0" smtClean="0">
                <a:latin typeface="Times New Roman" pitchFamily="18" charset="0"/>
              </a:rPr>
              <a:t>=4</a:t>
            </a:r>
            <a:endParaRPr lang="en-US" altLang="zh-CN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2228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/>
      <p:bldP spid="233" grpId="0"/>
      <p:bldP spid="8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/>
          <p:cNvGrpSpPr/>
          <p:nvPr/>
        </p:nvGrpSpPr>
        <p:grpSpPr>
          <a:xfrm>
            <a:off x="312026" y="738465"/>
            <a:ext cx="8001374" cy="3648070"/>
            <a:chOff x="312026" y="738465"/>
            <a:chExt cx="8001374" cy="3648070"/>
          </a:xfrm>
        </p:grpSpPr>
        <p:grpSp>
          <p:nvGrpSpPr>
            <p:cNvPr id="119" name="组合 118"/>
            <p:cNvGrpSpPr/>
            <p:nvPr/>
          </p:nvGrpSpPr>
          <p:grpSpPr>
            <a:xfrm>
              <a:off x="312026" y="738465"/>
              <a:ext cx="8001374" cy="3648070"/>
              <a:chOff x="312026" y="738465"/>
              <a:chExt cx="8001374" cy="3648070"/>
            </a:xfrm>
          </p:grpSpPr>
          <p:sp>
            <p:nvSpPr>
              <p:cNvPr id="143" name="矩形 142"/>
              <p:cNvSpPr/>
              <p:nvPr/>
            </p:nvSpPr>
            <p:spPr bwMode="auto">
              <a:xfrm>
                <a:off x="5685576" y="1742792"/>
                <a:ext cx="2288437" cy="104115"/>
              </a:xfrm>
              <a:prstGeom prst="rect">
                <a:avLst/>
              </a:prstGeom>
              <a:solidFill>
                <a:srgbClr val="0066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4" name="矩形 143"/>
              <p:cNvSpPr/>
              <p:nvPr/>
            </p:nvSpPr>
            <p:spPr bwMode="auto">
              <a:xfrm>
                <a:off x="1060449" y="1131683"/>
                <a:ext cx="2344915" cy="710697"/>
              </a:xfrm>
              <a:prstGeom prst="rect">
                <a:avLst/>
              </a:prstGeom>
              <a:solidFill>
                <a:srgbClr val="0066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5" name="任意多边形 144"/>
              <p:cNvSpPr/>
              <p:nvPr/>
            </p:nvSpPr>
            <p:spPr bwMode="auto">
              <a:xfrm>
                <a:off x="1048043" y="1851334"/>
                <a:ext cx="6921305" cy="1856935"/>
              </a:xfrm>
              <a:custGeom>
                <a:avLst/>
                <a:gdLst>
                  <a:gd name="connsiteX0" fmla="*/ 28135 w 6921305"/>
                  <a:gd name="connsiteY0" fmla="*/ 21101 h 1856935"/>
                  <a:gd name="connsiteX1" fmla="*/ 2349305 w 6921305"/>
                  <a:gd name="connsiteY1" fmla="*/ 21101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28135 w 6921305"/>
                  <a:gd name="connsiteY9" fmla="*/ 21101 h 1856935"/>
                  <a:gd name="connsiteX0" fmla="*/ 28135 w 6921305"/>
                  <a:gd name="connsiteY0" fmla="*/ 4415 h 1856935"/>
                  <a:gd name="connsiteX1" fmla="*/ 2349305 w 6921305"/>
                  <a:gd name="connsiteY1" fmla="*/ 21101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28135 w 6921305"/>
                  <a:gd name="connsiteY9" fmla="*/ 4415 h 1856935"/>
                  <a:gd name="connsiteX0" fmla="*/ 28135 w 6921305"/>
                  <a:gd name="connsiteY0" fmla="*/ 4415 h 1856935"/>
                  <a:gd name="connsiteX1" fmla="*/ 2352642 w 6921305"/>
                  <a:gd name="connsiteY1" fmla="*/ 1078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28135 w 6921305"/>
                  <a:gd name="connsiteY9" fmla="*/ 4415 h 1856935"/>
                  <a:gd name="connsiteX0" fmla="*/ 14786 w 6921305"/>
                  <a:gd name="connsiteY0" fmla="*/ 11089 h 1856935"/>
                  <a:gd name="connsiteX1" fmla="*/ 2352642 w 6921305"/>
                  <a:gd name="connsiteY1" fmla="*/ 1078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14786 w 6921305"/>
                  <a:gd name="connsiteY9" fmla="*/ 11089 h 1856935"/>
                  <a:gd name="connsiteX0" fmla="*/ 8112 w 6921305"/>
                  <a:gd name="connsiteY0" fmla="*/ 11089 h 1856935"/>
                  <a:gd name="connsiteX1" fmla="*/ 2352642 w 6921305"/>
                  <a:gd name="connsiteY1" fmla="*/ 1078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8112 w 6921305"/>
                  <a:gd name="connsiteY9" fmla="*/ 11089 h 1856935"/>
                  <a:gd name="connsiteX0" fmla="*/ 8112 w 6921305"/>
                  <a:gd name="connsiteY0" fmla="*/ 11089 h 1856935"/>
                  <a:gd name="connsiteX1" fmla="*/ 2352642 w 6921305"/>
                  <a:gd name="connsiteY1" fmla="*/ 1078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921305 w 6921305"/>
                  <a:gd name="connsiteY5" fmla="*/ 0 h 1856935"/>
                  <a:gd name="connsiteX6" fmla="*/ 6921305 w 6921305"/>
                  <a:gd name="connsiteY6" fmla="*/ 1856935 h 1856935"/>
                  <a:gd name="connsiteX7" fmla="*/ 0 w 6921305"/>
                  <a:gd name="connsiteY7" fmla="*/ 1856935 h 1856935"/>
                  <a:gd name="connsiteX8" fmla="*/ 8112 w 6921305"/>
                  <a:gd name="connsiteY8" fmla="*/ 11089 h 1856935"/>
                  <a:gd name="connsiteX0" fmla="*/ 8112 w 6921305"/>
                  <a:gd name="connsiteY0" fmla="*/ 11089 h 1856935"/>
                  <a:gd name="connsiteX1" fmla="*/ 2352642 w 6921305"/>
                  <a:gd name="connsiteY1" fmla="*/ 1078 h 1856935"/>
                  <a:gd name="connsiteX2" fmla="*/ 2358830 w 6921305"/>
                  <a:gd name="connsiteY2" fmla="*/ 188106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921305 w 6921305"/>
                  <a:gd name="connsiteY5" fmla="*/ 0 h 1856935"/>
                  <a:gd name="connsiteX6" fmla="*/ 6921305 w 6921305"/>
                  <a:gd name="connsiteY6" fmla="*/ 1856935 h 1856935"/>
                  <a:gd name="connsiteX7" fmla="*/ 0 w 6921305"/>
                  <a:gd name="connsiteY7" fmla="*/ 1856935 h 1856935"/>
                  <a:gd name="connsiteX8" fmla="*/ 8112 w 6921305"/>
                  <a:gd name="connsiteY8" fmla="*/ 11089 h 1856935"/>
                  <a:gd name="connsiteX0" fmla="*/ 8112 w 6921305"/>
                  <a:gd name="connsiteY0" fmla="*/ 11089 h 1856935"/>
                  <a:gd name="connsiteX1" fmla="*/ 2352642 w 6921305"/>
                  <a:gd name="connsiteY1" fmla="*/ 1078 h 1856935"/>
                  <a:gd name="connsiteX2" fmla="*/ 2358830 w 6921305"/>
                  <a:gd name="connsiteY2" fmla="*/ 188106 h 1856935"/>
                  <a:gd name="connsiteX3" fmla="*/ 4634621 w 6921305"/>
                  <a:gd name="connsiteY3" fmla="*/ 184931 h 1856935"/>
                  <a:gd name="connsiteX4" fmla="*/ 4628271 w 6921305"/>
                  <a:gd name="connsiteY4" fmla="*/ 0 h 1856935"/>
                  <a:gd name="connsiteX5" fmla="*/ 6921305 w 6921305"/>
                  <a:gd name="connsiteY5" fmla="*/ 0 h 1856935"/>
                  <a:gd name="connsiteX6" fmla="*/ 6921305 w 6921305"/>
                  <a:gd name="connsiteY6" fmla="*/ 1856935 h 1856935"/>
                  <a:gd name="connsiteX7" fmla="*/ 0 w 6921305"/>
                  <a:gd name="connsiteY7" fmla="*/ 1856935 h 1856935"/>
                  <a:gd name="connsiteX8" fmla="*/ 8112 w 6921305"/>
                  <a:gd name="connsiteY8" fmla="*/ 11089 h 1856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921305" h="1856935">
                    <a:moveTo>
                      <a:pt x="8112" y="11089"/>
                    </a:moveTo>
                    <a:lnTo>
                      <a:pt x="2352642" y="1078"/>
                    </a:lnTo>
                    <a:cubicBezTo>
                      <a:pt x="2351530" y="68712"/>
                      <a:pt x="2359942" y="120472"/>
                      <a:pt x="2358830" y="188106"/>
                    </a:cubicBezTo>
                    <a:lnTo>
                      <a:pt x="4634621" y="184931"/>
                    </a:lnTo>
                    <a:lnTo>
                      <a:pt x="4628271" y="0"/>
                    </a:lnTo>
                    <a:lnTo>
                      <a:pt x="6921305" y="0"/>
                    </a:lnTo>
                    <a:lnTo>
                      <a:pt x="6921305" y="1856935"/>
                    </a:lnTo>
                    <a:lnTo>
                      <a:pt x="0" y="1856935"/>
                    </a:lnTo>
                    <a:lnTo>
                      <a:pt x="8112" y="11089"/>
                    </a:lnTo>
                    <a:close/>
                  </a:path>
                </a:pathLst>
              </a:custGeom>
              <a:solidFill>
                <a:srgbClr val="CCEC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 bwMode="auto">
              <a:xfrm>
                <a:off x="1041009" y="3716935"/>
                <a:ext cx="6935094" cy="66960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7" name="AutoShape 2834"/>
              <p:cNvSpPr>
                <a:spLocks noChangeArrowheads="1"/>
              </p:cNvSpPr>
              <p:nvPr/>
            </p:nvSpPr>
            <p:spPr bwMode="auto">
              <a:xfrm flipV="1">
                <a:off x="1483898" y="1008340"/>
                <a:ext cx="136525" cy="117475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Line 2835"/>
              <p:cNvSpPr>
                <a:spLocks noChangeShapeType="1"/>
              </p:cNvSpPr>
              <p:nvPr/>
            </p:nvSpPr>
            <p:spPr bwMode="auto">
              <a:xfrm>
                <a:off x="1410873" y="1186140"/>
                <a:ext cx="11906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2836"/>
              <p:cNvSpPr>
                <a:spLocks noChangeShapeType="1"/>
              </p:cNvSpPr>
              <p:nvPr/>
            </p:nvSpPr>
            <p:spPr bwMode="auto">
              <a:xfrm>
                <a:off x="1582323" y="1186140"/>
                <a:ext cx="11906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2837"/>
              <p:cNvSpPr>
                <a:spLocks noChangeShapeType="1"/>
              </p:cNvSpPr>
              <p:nvPr/>
            </p:nvSpPr>
            <p:spPr bwMode="auto">
              <a:xfrm>
                <a:off x="1491835" y="1230590"/>
                <a:ext cx="16986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Line 2838"/>
              <p:cNvSpPr>
                <a:spLocks noChangeShapeType="1"/>
              </p:cNvSpPr>
              <p:nvPr/>
            </p:nvSpPr>
            <p:spPr bwMode="auto">
              <a:xfrm>
                <a:off x="1545810" y="1275040"/>
                <a:ext cx="7143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Text Box 2839"/>
              <p:cNvSpPr txBox="1">
                <a:spLocks noChangeArrowheads="1"/>
              </p:cNvSpPr>
              <p:nvPr/>
            </p:nvSpPr>
            <p:spPr bwMode="auto">
              <a:xfrm>
                <a:off x="802364" y="3573740"/>
                <a:ext cx="102592" cy="375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>
                <a:spAutoFit/>
              </a:bodyPr>
              <a:lstStyle/>
              <a:p>
                <a:pPr algn="ctr"/>
                <a:r>
                  <a:rPr lang="en-US" altLang="zh-CN" sz="1600" b="1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53" name="Freeform 2840"/>
              <p:cNvSpPr>
                <a:spLocks/>
              </p:cNvSpPr>
              <p:nvPr/>
            </p:nvSpPr>
            <p:spPr bwMode="auto">
              <a:xfrm>
                <a:off x="3406360" y="738465"/>
                <a:ext cx="2278063" cy="1301750"/>
              </a:xfrm>
              <a:custGeom>
                <a:avLst/>
                <a:gdLst>
                  <a:gd name="T0" fmla="*/ 0 w 1435"/>
                  <a:gd name="T1" fmla="*/ 85 h 820"/>
                  <a:gd name="T2" fmla="*/ 0 w 1435"/>
                  <a:gd name="T3" fmla="*/ 820 h 820"/>
                  <a:gd name="T4" fmla="*/ 1435 w 1435"/>
                  <a:gd name="T5" fmla="*/ 820 h 820"/>
                  <a:gd name="T6" fmla="*/ 1435 w 1435"/>
                  <a:gd name="T7" fmla="*/ 479 h 820"/>
                  <a:gd name="T8" fmla="*/ 1403 w 1435"/>
                  <a:gd name="T9" fmla="*/ 478 h 820"/>
                  <a:gd name="T10" fmla="*/ 1334 w 1435"/>
                  <a:gd name="T11" fmla="*/ 473 h 820"/>
                  <a:gd name="T12" fmla="*/ 1258 w 1435"/>
                  <a:gd name="T13" fmla="*/ 462 h 820"/>
                  <a:gd name="T14" fmla="*/ 1141 w 1435"/>
                  <a:gd name="T15" fmla="*/ 430 h 820"/>
                  <a:gd name="T16" fmla="*/ 1006 w 1435"/>
                  <a:gd name="T17" fmla="*/ 388 h 820"/>
                  <a:gd name="T18" fmla="*/ 806 w 1435"/>
                  <a:gd name="T19" fmla="*/ 305 h 820"/>
                  <a:gd name="T20" fmla="*/ 672 w 1435"/>
                  <a:gd name="T21" fmla="*/ 234 h 820"/>
                  <a:gd name="T22" fmla="*/ 520 w 1435"/>
                  <a:gd name="T23" fmla="*/ 143 h 820"/>
                  <a:gd name="T24" fmla="*/ 422 w 1435"/>
                  <a:gd name="T25" fmla="*/ 85 h 820"/>
                  <a:gd name="T26" fmla="*/ 355 w 1435"/>
                  <a:gd name="T27" fmla="*/ 47 h 820"/>
                  <a:gd name="T28" fmla="*/ 274 w 1435"/>
                  <a:gd name="T29" fmla="*/ 15 h 820"/>
                  <a:gd name="T30" fmla="*/ 205 w 1435"/>
                  <a:gd name="T31" fmla="*/ 2 h 820"/>
                  <a:gd name="T32" fmla="*/ 123 w 1435"/>
                  <a:gd name="T33" fmla="*/ 4 h 820"/>
                  <a:gd name="T34" fmla="*/ 62 w 1435"/>
                  <a:gd name="T35" fmla="*/ 27 h 820"/>
                  <a:gd name="T36" fmla="*/ 19 w 1435"/>
                  <a:gd name="T37" fmla="*/ 60 h 820"/>
                  <a:gd name="T38" fmla="*/ 0 w 1435"/>
                  <a:gd name="T39" fmla="*/ 85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35" h="820">
                    <a:moveTo>
                      <a:pt x="0" y="85"/>
                    </a:moveTo>
                    <a:lnTo>
                      <a:pt x="0" y="820"/>
                    </a:lnTo>
                    <a:lnTo>
                      <a:pt x="1435" y="820"/>
                    </a:lnTo>
                    <a:lnTo>
                      <a:pt x="1435" y="479"/>
                    </a:lnTo>
                    <a:lnTo>
                      <a:pt x="1403" y="478"/>
                    </a:lnTo>
                    <a:cubicBezTo>
                      <a:pt x="1386" y="477"/>
                      <a:pt x="1358" y="476"/>
                      <a:pt x="1334" y="473"/>
                    </a:cubicBezTo>
                    <a:cubicBezTo>
                      <a:pt x="1310" y="470"/>
                      <a:pt x="1290" y="469"/>
                      <a:pt x="1258" y="462"/>
                    </a:cubicBezTo>
                    <a:cubicBezTo>
                      <a:pt x="1226" y="455"/>
                      <a:pt x="1183" y="442"/>
                      <a:pt x="1141" y="430"/>
                    </a:cubicBezTo>
                    <a:cubicBezTo>
                      <a:pt x="1099" y="418"/>
                      <a:pt x="1062" y="409"/>
                      <a:pt x="1006" y="388"/>
                    </a:cubicBezTo>
                    <a:cubicBezTo>
                      <a:pt x="950" y="367"/>
                      <a:pt x="862" y="331"/>
                      <a:pt x="806" y="305"/>
                    </a:cubicBezTo>
                    <a:cubicBezTo>
                      <a:pt x="750" y="279"/>
                      <a:pt x="720" y="261"/>
                      <a:pt x="672" y="234"/>
                    </a:cubicBezTo>
                    <a:cubicBezTo>
                      <a:pt x="624" y="207"/>
                      <a:pt x="562" y="167"/>
                      <a:pt x="520" y="143"/>
                    </a:cubicBezTo>
                    <a:cubicBezTo>
                      <a:pt x="478" y="119"/>
                      <a:pt x="449" y="101"/>
                      <a:pt x="422" y="85"/>
                    </a:cubicBezTo>
                    <a:cubicBezTo>
                      <a:pt x="395" y="70"/>
                      <a:pt x="380" y="59"/>
                      <a:pt x="355" y="47"/>
                    </a:cubicBezTo>
                    <a:cubicBezTo>
                      <a:pt x="330" y="35"/>
                      <a:pt x="299" y="23"/>
                      <a:pt x="274" y="15"/>
                    </a:cubicBezTo>
                    <a:cubicBezTo>
                      <a:pt x="249" y="8"/>
                      <a:pt x="230" y="4"/>
                      <a:pt x="205" y="2"/>
                    </a:cubicBezTo>
                    <a:cubicBezTo>
                      <a:pt x="180" y="0"/>
                      <a:pt x="147" y="0"/>
                      <a:pt x="123" y="4"/>
                    </a:cubicBezTo>
                    <a:cubicBezTo>
                      <a:pt x="99" y="8"/>
                      <a:pt x="79" y="18"/>
                      <a:pt x="62" y="27"/>
                    </a:cubicBezTo>
                    <a:cubicBezTo>
                      <a:pt x="45" y="36"/>
                      <a:pt x="29" y="50"/>
                      <a:pt x="19" y="60"/>
                    </a:cubicBezTo>
                    <a:cubicBezTo>
                      <a:pt x="9" y="70"/>
                      <a:pt x="4" y="81"/>
                      <a:pt x="0" y="85"/>
                    </a:cubicBezTo>
                    <a:close/>
                  </a:path>
                </a:pathLst>
              </a:custGeom>
              <a:solidFill>
                <a:srgbClr val="FFC000"/>
              </a:solid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Line 2841"/>
              <p:cNvSpPr>
                <a:spLocks noChangeShapeType="1"/>
              </p:cNvSpPr>
              <p:nvPr/>
            </p:nvSpPr>
            <p:spPr bwMode="auto">
              <a:xfrm>
                <a:off x="5687598" y="1843365"/>
                <a:ext cx="228641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Line 2842"/>
              <p:cNvSpPr>
                <a:spLocks noChangeShapeType="1"/>
              </p:cNvSpPr>
              <p:nvPr/>
            </p:nvSpPr>
            <p:spPr bwMode="auto">
              <a:xfrm flipH="1">
                <a:off x="1058862" y="1848127"/>
                <a:ext cx="23427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Line 2843"/>
              <p:cNvSpPr>
                <a:spLocks noChangeShapeType="1"/>
              </p:cNvSpPr>
              <p:nvPr/>
            </p:nvSpPr>
            <p:spPr bwMode="auto">
              <a:xfrm flipH="1">
                <a:off x="1065474" y="1132165"/>
                <a:ext cx="233612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2844"/>
              <p:cNvSpPr>
                <a:spLocks noChangeShapeType="1"/>
              </p:cNvSpPr>
              <p:nvPr/>
            </p:nvSpPr>
            <p:spPr bwMode="auto">
              <a:xfrm>
                <a:off x="5687597" y="1741765"/>
                <a:ext cx="226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Line 2848"/>
              <p:cNvSpPr>
                <a:spLocks noChangeShapeType="1"/>
              </p:cNvSpPr>
              <p:nvPr/>
            </p:nvSpPr>
            <p:spPr bwMode="auto">
              <a:xfrm>
                <a:off x="1044160" y="3711852"/>
                <a:ext cx="6934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Line 2858"/>
              <p:cNvSpPr>
                <a:spLocks noChangeShapeType="1"/>
              </p:cNvSpPr>
              <p:nvPr/>
            </p:nvSpPr>
            <p:spPr bwMode="auto">
              <a:xfrm>
                <a:off x="5595523" y="1100415"/>
                <a:ext cx="1676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Text Box 2861"/>
              <p:cNvSpPr txBox="1">
                <a:spLocks noChangeArrowheads="1"/>
              </p:cNvSpPr>
              <p:nvPr/>
            </p:nvSpPr>
            <p:spPr bwMode="auto">
              <a:xfrm>
                <a:off x="838293" y="1522690"/>
                <a:ext cx="33214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61" name="Text Box 2862"/>
              <p:cNvSpPr txBox="1">
                <a:spLocks noChangeArrowheads="1"/>
              </p:cNvSpPr>
              <p:nvPr/>
            </p:nvSpPr>
            <p:spPr bwMode="auto">
              <a:xfrm>
                <a:off x="3385723" y="1646515"/>
                <a:ext cx="32092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162" name="Text Box 2863"/>
              <p:cNvSpPr txBox="1">
                <a:spLocks noChangeArrowheads="1"/>
              </p:cNvSpPr>
              <p:nvPr/>
            </p:nvSpPr>
            <p:spPr bwMode="auto">
              <a:xfrm>
                <a:off x="3266660" y="1971952"/>
                <a:ext cx="33214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163" name="Text Box 2864"/>
              <p:cNvSpPr txBox="1">
                <a:spLocks noChangeArrowheads="1"/>
              </p:cNvSpPr>
              <p:nvPr/>
            </p:nvSpPr>
            <p:spPr bwMode="auto">
              <a:xfrm>
                <a:off x="5546310" y="1965602"/>
                <a:ext cx="33214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164" name="Text Box 2865"/>
              <p:cNvSpPr txBox="1">
                <a:spLocks noChangeArrowheads="1"/>
              </p:cNvSpPr>
              <p:nvPr/>
            </p:nvSpPr>
            <p:spPr bwMode="auto">
              <a:xfrm>
                <a:off x="5401848" y="1648102"/>
                <a:ext cx="32092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165" name="Line 2867"/>
              <p:cNvSpPr>
                <a:spLocks noChangeShapeType="1"/>
              </p:cNvSpPr>
              <p:nvPr/>
            </p:nvSpPr>
            <p:spPr bwMode="auto">
              <a:xfrm>
                <a:off x="6138448" y="1094065"/>
                <a:ext cx="0" cy="6413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Line 2868"/>
              <p:cNvSpPr>
                <a:spLocks noChangeShapeType="1"/>
              </p:cNvSpPr>
              <p:nvPr/>
            </p:nvSpPr>
            <p:spPr bwMode="auto">
              <a:xfrm>
                <a:off x="6944898" y="1506815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Text Box 2869"/>
              <p:cNvSpPr txBox="1">
                <a:spLocks noChangeArrowheads="1"/>
              </p:cNvSpPr>
              <p:nvPr/>
            </p:nvSpPr>
            <p:spPr bwMode="auto">
              <a:xfrm>
                <a:off x="6127335" y="1154390"/>
                <a:ext cx="774700" cy="3520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Times New Roman" pitchFamily="18" charset="0"/>
                    <a:sym typeface="Symbol" pitchFamily="18" charset="2"/>
                  </a:rPr>
                  <a:t></a:t>
                </a:r>
                <a:r>
                  <a:rPr lang="en-US" altLang="zh-CN" sz="1600" b="1" i="1" dirty="0">
                    <a:latin typeface="Times New Roman" pitchFamily="18" charset="0"/>
                  </a:rPr>
                  <a:t>H</a:t>
                </a:r>
                <a:r>
                  <a:rPr lang="en-US" altLang="zh-CN" sz="1600" b="1" dirty="0">
                    <a:latin typeface="Times New Roman" pitchFamily="18" charset="0"/>
                  </a:rPr>
                  <a:t>=5m</a:t>
                </a:r>
                <a:endParaRPr lang="el-GR" altLang="zh-CN" sz="1600" b="1" dirty="0">
                  <a:latin typeface="Times New Roman" pitchFamily="18" charset="0"/>
                </a:endParaRPr>
              </a:p>
            </p:txBody>
          </p:sp>
          <p:sp>
            <p:nvSpPr>
              <p:cNvPr id="168" name="Text Box 2870"/>
              <p:cNvSpPr txBox="1">
                <a:spLocks noChangeArrowheads="1"/>
              </p:cNvSpPr>
              <p:nvPr/>
            </p:nvSpPr>
            <p:spPr bwMode="auto">
              <a:xfrm>
                <a:off x="6941723" y="1389340"/>
                <a:ext cx="374650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algn="ctr"/>
                <a:r>
                  <a:rPr lang="en-US" altLang="zh-CN" sz="1600" b="1">
                    <a:latin typeface="Times New Roman" pitchFamily="18" charset="0"/>
                    <a:sym typeface="Symbol" pitchFamily="18" charset="2"/>
                  </a:rPr>
                  <a:t>1</a:t>
                </a:r>
                <a:r>
                  <a:rPr lang="en-US" altLang="zh-CN" sz="1600" b="1">
                    <a:latin typeface="Times New Roman" pitchFamily="18" charset="0"/>
                  </a:rPr>
                  <a:t>m</a:t>
                </a:r>
                <a:endParaRPr lang="el-GR" altLang="zh-CN" sz="1600" b="1">
                  <a:latin typeface="Times New Roman" pitchFamily="18" charset="0"/>
                </a:endParaRPr>
              </a:p>
            </p:txBody>
          </p:sp>
          <p:sp>
            <p:nvSpPr>
              <p:cNvPr id="169" name="Text Box 2874"/>
              <p:cNvSpPr txBox="1">
                <a:spLocks noChangeArrowheads="1"/>
              </p:cNvSpPr>
              <p:nvPr/>
            </p:nvSpPr>
            <p:spPr bwMode="auto">
              <a:xfrm>
                <a:off x="8003700" y="1631625"/>
                <a:ext cx="309700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 dirty="0"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170" name="AutoShape 2875"/>
              <p:cNvSpPr>
                <a:spLocks noChangeArrowheads="1"/>
              </p:cNvSpPr>
              <p:nvPr/>
            </p:nvSpPr>
            <p:spPr bwMode="auto">
              <a:xfrm flipV="1">
                <a:off x="6584535" y="1624290"/>
                <a:ext cx="136525" cy="117475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2876"/>
              <p:cNvSpPr>
                <a:spLocks noChangeShapeType="1"/>
              </p:cNvSpPr>
              <p:nvPr/>
            </p:nvSpPr>
            <p:spPr bwMode="auto">
              <a:xfrm>
                <a:off x="6521035" y="1778277"/>
                <a:ext cx="11906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Line 2877"/>
              <p:cNvSpPr>
                <a:spLocks noChangeShapeType="1"/>
              </p:cNvSpPr>
              <p:nvPr/>
            </p:nvSpPr>
            <p:spPr bwMode="auto">
              <a:xfrm>
                <a:off x="6682960" y="1778277"/>
                <a:ext cx="11906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" name="Line 2878"/>
              <p:cNvSpPr>
                <a:spLocks noChangeShapeType="1"/>
              </p:cNvSpPr>
              <p:nvPr/>
            </p:nvSpPr>
            <p:spPr bwMode="auto">
              <a:xfrm>
                <a:off x="6592473" y="1813202"/>
                <a:ext cx="16986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Text Box 2879"/>
              <p:cNvSpPr txBox="1">
                <a:spLocks noChangeArrowheads="1"/>
              </p:cNvSpPr>
              <p:nvPr/>
            </p:nvSpPr>
            <p:spPr bwMode="auto">
              <a:xfrm>
                <a:off x="1031460" y="3381652"/>
                <a:ext cx="344966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G</a:t>
                </a:r>
              </a:p>
            </p:txBody>
          </p:sp>
          <p:sp>
            <p:nvSpPr>
              <p:cNvPr id="245" name="Text Box 2880"/>
              <p:cNvSpPr txBox="1">
                <a:spLocks noChangeArrowheads="1"/>
              </p:cNvSpPr>
              <p:nvPr/>
            </p:nvSpPr>
            <p:spPr bwMode="auto">
              <a:xfrm>
                <a:off x="7652923" y="3381652"/>
                <a:ext cx="344966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H</a:t>
                </a:r>
              </a:p>
            </p:txBody>
          </p:sp>
          <p:sp>
            <p:nvSpPr>
              <p:cNvPr id="246" name="Text Box 2881"/>
              <p:cNvSpPr txBox="1">
                <a:spLocks noChangeArrowheads="1"/>
              </p:cNvSpPr>
              <p:nvPr/>
            </p:nvSpPr>
            <p:spPr bwMode="auto">
              <a:xfrm>
                <a:off x="8071527" y="3591202"/>
                <a:ext cx="10259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>
                <a:spAutoFit/>
              </a:bodyPr>
              <a:lstStyle/>
              <a:p>
                <a:pPr algn="ctr"/>
                <a:r>
                  <a:rPr lang="en-US" altLang="zh-CN" sz="1600" b="1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247" name="Line 2882"/>
              <p:cNvSpPr>
                <a:spLocks noChangeShapeType="1"/>
              </p:cNvSpPr>
              <p:nvPr/>
            </p:nvSpPr>
            <p:spPr bwMode="auto">
              <a:xfrm flipV="1">
                <a:off x="6954423" y="1854477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8" name="Text Box 2883"/>
              <p:cNvSpPr txBox="1">
                <a:spLocks noChangeArrowheads="1"/>
              </p:cNvSpPr>
              <p:nvPr/>
            </p:nvSpPr>
            <p:spPr bwMode="auto">
              <a:xfrm>
                <a:off x="5162135" y="3999863"/>
                <a:ext cx="1011815" cy="350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zh-CN" altLang="en-US" sz="1600" b="1" dirty="0">
                    <a:latin typeface="Times New Roman" pitchFamily="18" charset="0"/>
                  </a:rPr>
                  <a:t>不透水层</a:t>
                </a:r>
              </a:p>
            </p:txBody>
          </p:sp>
          <p:grpSp>
            <p:nvGrpSpPr>
              <p:cNvPr id="249" name="Group 2909"/>
              <p:cNvGrpSpPr>
                <a:grpSpLocks/>
              </p:cNvGrpSpPr>
              <p:nvPr/>
            </p:nvGrpSpPr>
            <p:grpSpPr bwMode="auto">
              <a:xfrm>
                <a:off x="7211598" y="3710265"/>
                <a:ext cx="625475" cy="133350"/>
                <a:chOff x="2644" y="2807"/>
                <a:chExt cx="481" cy="83"/>
              </a:xfrm>
            </p:grpSpPr>
            <p:sp>
              <p:nvSpPr>
                <p:cNvPr id="296" name="Freeform 2910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" name="Freeform 2911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8" name="Freeform 2912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9" name="Freeform 2913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0" name="Freeform 2914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1" name="Freeform 2915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2" name="Freeform 2916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3" name="Freeform 2917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4" name="Freeform 2918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5" name="Freeform 2919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6" name="Freeform 2920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" name="Freeform 2921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0" name="Group 2922"/>
              <p:cNvGrpSpPr>
                <a:grpSpLocks/>
              </p:cNvGrpSpPr>
              <p:nvPr/>
            </p:nvGrpSpPr>
            <p:grpSpPr bwMode="auto">
              <a:xfrm>
                <a:off x="2137948" y="3710265"/>
                <a:ext cx="625475" cy="133350"/>
                <a:chOff x="2644" y="2807"/>
                <a:chExt cx="481" cy="83"/>
              </a:xfrm>
            </p:grpSpPr>
            <p:sp>
              <p:nvSpPr>
                <p:cNvPr id="284" name="Freeform 2923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" name="Freeform 2924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" name="Freeform 2925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" name="Freeform 2926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8" name="Freeform 2927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9" name="Freeform 2928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0" name="Freeform 2929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1" name="Freeform 2930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2" name="Freeform 2931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3" name="Freeform 2932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4" name="Freeform 2933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5" name="Freeform 2934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51" name="Line 2866"/>
              <p:cNvSpPr>
                <a:spLocks noChangeShapeType="1"/>
              </p:cNvSpPr>
              <p:nvPr/>
            </p:nvSpPr>
            <p:spPr bwMode="auto">
              <a:xfrm>
                <a:off x="447840" y="1136927"/>
                <a:ext cx="0" cy="7159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78" name="Text Box 2873"/>
              <p:cNvSpPr txBox="1">
                <a:spLocks noChangeArrowheads="1"/>
              </p:cNvSpPr>
              <p:nvPr/>
            </p:nvSpPr>
            <p:spPr bwMode="auto">
              <a:xfrm>
                <a:off x="435194" y="1268690"/>
                <a:ext cx="469900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Times New Roman" pitchFamily="18" charset="0"/>
                  </a:rPr>
                  <a:t>6m</a:t>
                </a:r>
                <a:endParaRPr lang="el-GR" altLang="zh-CN" sz="1600" b="1" dirty="0">
                  <a:latin typeface="Times New Roman" pitchFamily="18" charset="0"/>
                </a:endParaRPr>
              </a:p>
            </p:txBody>
          </p:sp>
          <p:cxnSp>
            <p:nvCxnSpPr>
              <p:cNvPr id="279" name="直接连接符 278"/>
              <p:cNvCxnSpPr/>
              <p:nvPr/>
            </p:nvCxnSpPr>
            <p:spPr bwMode="auto">
              <a:xfrm>
                <a:off x="312026" y="1129085"/>
                <a:ext cx="437323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" name="直接连接符 279"/>
              <p:cNvCxnSpPr/>
              <p:nvPr/>
            </p:nvCxnSpPr>
            <p:spPr bwMode="auto">
              <a:xfrm>
                <a:off x="313351" y="1853979"/>
                <a:ext cx="437323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" name="直接连接符 280"/>
              <p:cNvCxnSpPr/>
              <p:nvPr/>
            </p:nvCxnSpPr>
            <p:spPr bwMode="auto">
              <a:xfrm>
                <a:off x="328613" y="3699376"/>
                <a:ext cx="437323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2" name="Line 2866"/>
              <p:cNvSpPr>
                <a:spLocks noChangeShapeType="1"/>
              </p:cNvSpPr>
              <p:nvPr/>
            </p:nvSpPr>
            <p:spPr bwMode="auto">
              <a:xfrm>
                <a:off x="455385" y="1859695"/>
                <a:ext cx="0" cy="1834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3" name="Text Box 2873"/>
              <p:cNvSpPr txBox="1">
                <a:spLocks noChangeArrowheads="1"/>
              </p:cNvSpPr>
              <p:nvPr/>
            </p:nvSpPr>
            <p:spPr bwMode="auto">
              <a:xfrm>
                <a:off x="474663" y="2583140"/>
                <a:ext cx="469900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algn="ctr"/>
                <a:r>
                  <a:rPr lang="en-US" altLang="zh-CN" sz="1600" b="1" dirty="0" smtClean="0">
                    <a:latin typeface="Times New Roman" pitchFamily="18" charset="0"/>
                  </a:rPr>
                  <a:t>16m</a:t>
                </a:r>
                <a:endParaRPr lang="el-GR" altLang="zh-CN" sz="1600" b="1" dirty="0">
                  <a:latin typeface="Times New Roman" pitchFamily="18" charset="0"/>
                </a:endParaRPr>
              </a:p>
            </p:txBody>
          </p:sp>
        </p:grpSp>
        <p:sp>
          <p:nvSpPr>
            <p:cNvPr id="120" name="Text Box 2839"/>
            <p:cNvSpPr txBox="1">
              <a:spLocks noChangeArrowheads="1"/>
            </p:cNvSpPr>
            <p:nvPr/>
          </p:nvSpPr>
          <p:spPr bwMode="auto">
            <a:xfrm>
              <a:off x="802860" y="3573740"/>
              <a:ext cx="101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1" name="Text Box 2862"/>
            <p:cNvSpPr txBox="1">
              <a:spLocks noChangeArrowheads="1"/>
            </p:cNvSpPr>
            <p:nvPr/>
          </p:nvSpPr>
          <p:spPr bwMode="auto">
            <a:xfrm>
              <a:off x="3385723" y="1646515"/>
              <a:ext cx="3190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22" name="Text Box 2863"/>
            <p:cNvSpPr txBox="1">
              <a:spLocks noChangeArrowheads="1"/>
            </p:cNvSpPr>
            <p:nvPr/>
          </p:nvSpPr>
          <p:spPr bwMode="auto">
            <a:xfrm>
              <a:off x="3266660" y="1971952"/>
              <a:ext cx="3190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23" name="Text Box 2864"/>
            <p:cNvSpPr txBox="1">
              <a:spLocks noChangeArrowheads="1"/>
            </p:cNvSpPr>
            <p:nvPr/>
          </p:nvSpPr>
          <p:spPr bwMode="auto">
            <a:xfrm>
              <a:off x="5546310" y="196560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24" name="Text Box 2865"/>
            <p:cNvSpPr txBox="1">
              <a:spLocks noChangeArrowheads="1"/>
            </p:cNvSpPr>
            <p:nvPr/>
          </p:nvSpPr>
          <p:spPr bwMode="auto">
            <a:xfrm>
              <a:off x="5401848" y="1648102"/>
              <a:ext cx="3079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25" name="Text Box 2874"/>
            <p:cNvSpPr txBox="1">
              <a:spLocks noChangeArrowheads="1"/>
            </p:cNvSpPr>
            <p:nvPr/>
          </p:nvSpPr>
          <p:spPr bwMode="auto">
            <a:xfrm>
              <a:off x="7928447" y="1498517"/>
              <a:ext cx="2968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dirty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26" name="Text Box 2879"/>
            <p:cNvSpPr txBox="1">
              <a:spLocks noChangeArrowheads="1"/>
            </p:cNvSpPr>
            <p:nvPr/>
          </p:nvSpPr>
          <p:spPr bwMode="auto">
            <a:xfrm>
              <a:off x="1031460" y="338165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27" name="Text Box 2880"/>
            <p:cNvSpPr txBox="1">
              <a:spLocks noChangeArrowheads="1"/>
            </p:cNvSpPr>
            <p:nvPr/>
          </p:nvSpPr>
          <p:spPr bwMode="auto">
            <a:xfrm>
              <a:off x="7652923" y="338165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128" name="Text Box 2881"/>
            <p:cNvSpPr txBox="1">
              <a:spLocks noChangeArrowheads="1"/>
            </p:cNvSpPr>
            <p:nvPr/>
          </p:nvSpPr>
          <p:spPr bwMode="auto">
            <a:xfrm>
              <a:off x="8072023" y="3591202"/>
              <a:ext cx="101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9" name="Text Box 2884"/>
            <p:cNvSpPr txBox="1">
              <a:spLocks noChangeArrowheads="1"/>
            </p:cNvSpPr>
            <p:nvPr/>
          </p:nvSpPr>
          <p:spPr bwMode="auto">
            <a:xfrm>
              <a:off x="3095649" y="1461008"/>
              <a:ext cx="436338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sym typeface="Wingdings" pitchFamily="2" charset="2"/>
                </a:rPr>
                <a:t></a:t>
              </a:r>
            </a:p>
          </p:txBody>
        </p:sp>
        <p:grpSp>
          <p:nvGrpSpPr>
            <p:cNvPr id="130" name="组合 129"/>
            <p:cNvGrpSpPr/>
            <p:nvPr/>
          </p:nvGrpSpPr>
          <p:grpSpPr>
            <a:xfrm>
              <a:off x="2857744" y="1462595"/>
              <a:ext cx="3104491" cy="944332"/>
              <a:chOff x="2857744" y="1462595"/>
              <a:chExt cx="3104491" cy="944332"/>
            </a:xfrm>
          </p:grpSpPr>
          <p:sp>
            <p:nvSpPr>
              <p:cNvPr id="141" name="Freeform 2845"/>
              <p:cNvSpPr>
                <a:spLocks/>
              </p:cNvSpPr>
              <p:nvPr/>
            </p:nvSpPr>
            <p:spPr bwMode="auto">
              <a:xfrm>
                <a:off x="3117435" y="1849715"/>
                <a:ext cx="2844800" cy="557212"/>
              </a:xfrm>
              <a:custGeom>
                <a:avLst/>
                <a:gdLst>
                  <a:gd name="T0" fmla="*/ 0 w 1792"/>
                  <a:gd name="T1" fmla="*/ 1 h 351"/>
                  <a:gd name="T2" fmla="*/ 24 w 1792"/>
                  <a:gd name="T3" fmla="*/ 118 h 351"/>
                  <a:gd name="T4" fmla="*/ 99 w 1792"/>
                  <a:gd name="T5" fmla="*/ 225 h 351"/>
                  <a:gd name="T6" fmla="*/ 255 w 1792"/>
                  <a:gd name="T7" fmla="*/ 310 h 351"/>
                  <a:gd name="T8" fmla="*/ 445 w 1792"/>
                  <a:gd name="T9" fmla="*/ 341 h 351"/>
                  <a:gd name="T10" fmla="*/ 643 w 1792"/>
                  <a:gd name="T11" fmla="*/ 349 h 351"/>
                  <a:gd name="T12" fmla="*/ 913 w 1792"/>
                  <a:gd name="T13" fmla="*/ 349 h 351"/>
                  <a:gd name="T14" fmla="*/ 1255 w 1792"/>
                  <a:gd name="T15" fmla="*/ 336 h 351"/>
                  <a:gd name="T16" fmla="*/ 1525 w 1792"/>
                  <a:gd name="T17" fmla="*/ 305 h 351"/>
                  <a:gd name="T18" fmla="*/ 1678 w 1792"/>
                  <a:gd name="T19" fmla="*/ 234 h 351"/>
                  <a:gd name="T20" fmla="*/ 1760 w 1792"/>
                  <a:gd name="T21" fmla="*/ 133 h 351"/>
                  <a:gd name="T22" fmla="*/ 1792 w 1792"/>
                  <a:gd name="T23" fmla="*/ 0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92" h="351">
                    <a:moveTo>
                      <a:pt x="0" y="1"/>
                    </a:moveTo>
                    <a:cubicBezTo>
                      <a:pt x="4" y="20"/>
                      <a:pt x="8" y="81"/>
                      <a:pt x="24" y="118"/>
                    </a:cubicBezTo>
                    <a:cubicBezTo>
                      <a:pt x="40" y="155"/>
                      <a:pt x="60" y="193"/>
                      <a:pt x="99" y="225"/>
                    </a:cubicBezTo>
                    <a:cubicBezTo>
                      <a:pt x="138" y="257"/>
                      <a:pt x="197" y="291"/>
                      <a:pt x="255" y="310"/>
                    </a:cubicBezTo>
                    <a:cubicBezTo>
                      <a:pt x="312" y="330"/>
                      <a:pt x="380" y="335"/>
                      <a:pt x="445" y="341"/>
                    </a:cubicBezTo>
                    <a:cubicBezTo>
                      <a:pt x="509" y="347"/>
                      <a:pt x="565" y="348"/>
                      <a:pt x="643" y="349"/>
                    </a:cubicBezTo>
                    <a:cubicBezTo>
                      <a:pt x="721" y="350"/>
                      <a:pt x="811" y="351"/>
                      <a:pt x="913" y="349"/>
                    </a:cubicBezTo>
                    <a:cubicBezTo>
                      <a:pt x="1015" y="347"/>
                      <a:pt x="1153" y="343"/>
                      <a:pt x="1255" y="336"/>
                    </a:cubicBezTo>
                    <a:cubicBezTo>
                      <a:pt x="1357" y="328"/>
                      <a:pt x="1455" y="321"/>
                      <a:pt x="1525" y="305"/>
                    </a:cubicBezTo>
                    <a:cubicBezTo>
                      <a:pt x="1595" y="289"/>
                      <a:pt x="1638" y="263"/>
                      <a:pt x="1678" y="234"/>
                    </a:cubicBezTo>
                    <a:cubicBezTo>
                      <a:pt x="1717" y="206"/>
                      <a:pt x="1740" y="172"/>
                      <a:pt x="1760" y="133"/>
                    </a:cubicBezTo>
                    <a:cubicBezTo>
                      <a:pt x="1779" y="94"/>
                      <a:pt x="1785" y="28"/>
                      <a:pt x="1792" y="0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Text Box 2885"/>
              <p:cNvSpPr txBox="1">
                <a:spLocks noChangeArrowheads="1"/>
              </p:cNvSpPr>
              <p:nvPr/>
            </p:nvSpPr>
            <p:spPr bwMode="auto">
              <a:xfrm>
                <a:off x="2857744" y="1462595"/>
                <a:ext cx="436338" cy="4816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2200" dirty="0">
                    <a:sym typeface="Wingdings" pitchFamily="2" charset="2"/>
                  </a:rPr>
                  <a:t></a:t>
                </a:r>
              </a:p>
            </p:txBody>
          </p:sp>
        </p:grpSp>
        <p:grpSp>
          <p:nvGrpSpPr>
            <p:cNvPr id="131" name="组合 130"/>
            <p:cNvGrpSpPr/>
            <p:nvPr/>
          </p:nvGrpSpPr>
          <p:grpSpPr>
            <a:xfrm>
              <a:off x="1309273" y="1441958"/>
              <a:ext cx="6089650" cy="1809519"/>
              <a:chOff x="1309273" y="1441958"/>
              <a:chExt cx="6089650" cy="1809519"/>
            </a:xfrm>
          </p:grpSpPr>
          <p:sp>
            <p:nvSpPr>
              <p:cNvPr id="139" name="Freeform 2847"/>
              <p:cNvSpPr>
                <a:spLocks/>
              </p:cNvSpPr>
              <p:nvPr/>
            </p:nvSpPr>
            <p:spPr bwMode="auto">
              <a:xfrm>
                <a:off x="1542635" y="1843365"/>
                <a:ext cx="5856288" cy="1408112"/>
              </a:xfrm>
              <a:custGeom>
                <a:avLst/>
                <a:gdLst>
                  <a:gd name="T0" fmla="*/ 0 w 3689"/>
                  <a:gd name="T1" fmla="*/ 6 h 887"/>
                  <a:gd name="T2" fmla="*/ 35 w 3689"/>
                  <a:gd name="T3" fmla="*/ 166 h 887"/>
                  <a:gd name="T4" fmla="*/ 131 w 3689"/>
                  <a:gd name="T5" fmla="*/ 374 h 887"/>
                  <a:gd name="T6" fmla="*/ 294 w 3689"/>
                  <a:gd name="T7" fmla="*/ 560 h 887"/>
                  <a:gd name="T8" fmla="*/ 537 w 3689"/>
                  <a:gd name="T9" fmla="*/ 707 h 887"/>
                  <a:gd name="T10" fmla="*/ 899 w 3689"/>
                  <a:gd name="T11" fmla="*/ 803 h 887"/>
                  <a:gd name="T12" fmla="*/ 1232 w 3689"/>
                  <a:gd name="T13" fmla="*/ 860 h 887"/>
                  <a:gd name="T14" fmla="*/ 1660 w 3689"/>
                  <a:gd name="T15" fmla="*/ 880 h 887"/>
                  <a:gd name="T16" fmla="*/ 2144 w 3689"/>
                  <a:gd name="T17" fmla="*/ 880 h 887"/>
                  <a:gd name="T18" fmla="*/ 2592 w 3689"/>
                  <a:gd name="T19" fmla="*/ 838 h 887"/>
                  <a:gd name="T20" fmla="*/ 3011 w 3689"/>
                  <a:gd name="T21" fmla="*/ 739 h 887"/>
                  <a:gd name="T22" fmla="*/ 3328 w 3689"/>
                  <a:gd name="T23" fmla="*/ 593 h 887"/>
                  <a:gd name="T24" fmla="*/ 3528 w 3689"/>
                  <a:gd name="T25" fmla="*/ 420 h 887"/>
                  <a:gd name="T26" fmla="*/ 3654 w 3689"/>
                  <a:gd name="T27" fmla="*/ 188 h 887"/>
                  <a:gd name="T28" fmla="*/ 3689 w 3689"/>
                  <a:gd name="T29" fmla="*/ 0 h 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89" h="887">
                    <a:moveTo>
                      <a:pt x="0" y="6"/>
                    </a:moveTo>
                    <a:cubicBezTo>
                      <a:pt x="5" y="33"/>
                      <a:pt x="13" y="105"/>
                      <a:pt x="35" y="166"/>
                    </a:cubicBezTo>
                    <a:cubicBezTo>
                      <a:pt x="57" y="227"/>
                      <a:pt x="88" y="308"/>
                      <a:pt x="131" y="374"/>
                    </a:cubicBezTo>
                    <a:cubicBezTo>
                      <a:pt x="174" y="440"/>
                      <a:pt x="226" y="504"/>
                      <a:pt x="294" y="560"/>
                    </a:cubicBezTo>
                    <a:cubicBezTo>
                      <a:pt x="362" y="616"/>
                      <a:pt x="436" y="667"/>
                      <a:pt x="537" y="707"/>
                    </a:cubicBezTo>
                    <a:cubicBezTo>
                      <a:pt x="638" y="747"/>
                      <a:pt x="783" y="778"/>
                      <a:pt x="899" y="803"/>
                    </a:cubicBezTo>
                    <a:cubicBezTo>
                      <a:pt x="1015" y="828"/>
                      <a:pt x="1105" y="847"/>
                      <a:pt x="1232" y="860"/>
                    </a:cubicBezTo>
                    <a:cubicBezTo>
                      <a:pt x="1359" y="873"/>
                      <a:pt x="1508" y="877"/>
                      <a:pt x="1660" y="880"/>
                    </a:cubicBezTo>
                    <a:cubicBezTo>
                      <a:pt x="1812" y="883"/>
                      <a:pt x="1989" y="887"/>
                      <a:pt x="2144" y="880"/>
                    </a:cubicBezTo>
                    <a:cubicBezTo>
                      <a:pt x="2299" y="873"/>
                      <a:pt x="2448" y="861"/>
                      <a:pt x="2592" y="838"/>
                    </a:cubicBezTo>
                    <a:cubicBezTo>
                      <a:pt x="2736" y="815"/>
                      <a:pt x="2888" y="780"/>
                      <a:pt x="3011" y="739"/>
                    </a:cubicBezTo>
                    <a:cubicBezTo>
                      <a:pt x="3134" y="698"/>
                      <a:pt x="3242" y="646"/>
                      <a:pt x="3328" y="593"/>
                    </a:cubicBezTo>
                    <a:cubicBezTo>
                      <a:pt x="3414" y="540"/>
                      <a:pt x="3474" y="487"/>
                      <a:pt x="3528" y="420"/>
                    </a:cubicBezTo>
                    <a:cubicBezTo>
                      <a:pt x="3582" y="353"/>
                      <a:pt x="3627" y="258"/>
                      <a:pt x="3654" y="188"/>
                    </a:cubicBezTo>
                    <a:cubicBezTo>
                      <a:pt x="3681" y="118"/>
                      <a:pt x="3682" y="39"/>
                      <a:pt x="3689" y="0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Text Box 2886"/>
              <p:cNvSpPr txBox="1">
                <a:spLocks noChangeArrowheads="1"/>
              </p:cNvSpPr>
              <p:nvPr/>
            </p:nvSpPr>
            <p:spPr bwMode="auto">
              <a:xfrm>
                <a:off x="1309273" y="1441958"/>
                <a:ext cx="436338" cy="4816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2200" dirty="0">
                    <a:sym typeface="Wingdings" pitchFamily="2" charset="2"/>
                  </a:rPr>
                  <a:t></a:t>
                </a: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2396710" y="1453070"/>
              <a:ext cx="4062413" cy="1377720"/>
              <a:chOff x="2396710" y="1453070"/>
              <a:chExt cx="4062413" cy="1377720"/>
            </a:xfrm>
          </p:grpSpPr>
          <p:sp>
            <p:nvSpPr>
              <p:cNvPr id="137" name="Freeform 2846"/>
              <p:cNvSpPr>
                <a:spLocks/>
              </p:cNvSpPr>
              <p:nvPr/>
            </p:nvSpPr>
            <p:spPr bwMode="auto">
              <a:xfrm>
                <a:off x="2607848" y="1852890"/>
                <a:ext cx="3851275" cy="977900"/>
              </a:xfrm>
              <a:custGeom>
                <a:avLst/>
                <a:gdLst>
                  <a:gd name="T0" fmla="*/ 0 w 2409"/>
                  <a:gd name="T1" fmla="*/ 2 h 606"/>
                  <a:gd name="T2" fmla="*/ 32 w 2409"/>
                  <a:gd name="T3" fmla="*/ 166 h 606"/>
                  <a:gd name="T4" fmla="*/ 112 w 2409"/>
                  <a:gd name="T5" fmla="*/ 307 h 606"/>
                  <a:gd name="T6" fmla="*/ 275 w 2409"/>
                  <a:gd name="T7" fmla="*/ 448 h 606"/>
                  <a:gd name="T8" fmla="*/ 502 w 2409"/>
                  <a:gd name="T9" fmla="*/ 541 h 606"/>
                  <a:gd name="T10" fmla="*/ 870 w 2409"/>
                  <a:gd name="T11" fmla="*/ 595 h 606"/>
                  <a:gd name="T12" fmla="*/ 1228 w 2409"/>
                  <a:gd name="T13" fmla="*/ 605 h 606"/>
                  <a:gd name="T14" fmla="*/ 1542 w 2409"/>
                  <a:gd name="T15" fmla="*/ 589 h 606"/>
                  <a:gd name="T16" fmla="*/ 1830 w 2409"/>
                  <a:gd name="T17" fmla="*/ 538 h 606"/>
                  <a:gd name="T18" fmla="*/ 2081 w 2409"/>
                  <a:gd name="T19" fmla="*/ 437 h 606"/>
                  <a:gd name="T20" fmla="*/ 2267 w 2409"/>
                  <a:gd name="T21" fmla="*/ 290 h 606"/>
                  <a:gd name="T22" fmla="*/ 2368 w 2409"/>
                  <a:gd name="T23" fmla="*/ 150 h 606"/>
                  <a:gd name="T24" fmla="*/ 2409 w 2409"/>
                  <a:gd name="T25" fmla="*/ 0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09" h="606">
                    <a:moveTo>
                      <a:pt x="0" y="2"/>
                    </a:moveTo>
                    <a:cubicBezTo>
                      <a:pt x="5" y="29"/>
                      <a:pt x="13" y="115"/>
                      <a:pt x="32" y="166"/>
                    </a:cubicBezTo>
                    <a:cubicBezTo>
                      <a:pt x="51" y="217"/>
                      <a:pt x="72" y="260"/>
                      <a:pt x="112" y="307"/>
                    </a:cubicBezTo>
                    <a:cubicBezTo>
                      <a:pt x="152" y="354"/>
                      <a:pt x="210" y="409"/>
                      <a:pt x="275" y="448"/>
                    </a:cubicBezTo>
                    <a:cubicBezTo>
                      <a:pt x="340" y="487"/>
                      <a:pt x="403" y="517"/>
                      <a:pt x="502" y="541"/>
                    </a:cubicBezTo>
                    <a:cubicBezTo>
                      <a:pt x="601" y="565"/>
                      <a:pt x="749" y="584"/>
                      <a:pt x="870" y="595"/>
                    </a:cubicBezTo>
                    <a:cubicBezTo>
                      <a:pt x="991" y="606"/>
                      <a:pt x="1116" y="606"/>
                      <a:pt x="1228" y="605"/>
                    </a:cubicBezTo>
                    <a:cubicBezTo>
                      <a:pt x="1340" y="604"/>
                      <a:pt x="1442" y="600"/>
                      <a:pt x="1542" y="589"/>
                    </a:cubicBezTo>
                    <a:cubicBezTo>
                      <a:pt x="1642" y="578"/>
                      <a:pt x="1740" y="563"/>
                      <a:pt x="1830" y="538"/>
                    </a:cubicBezTo>
                    <a:cubicBezTo>
                      <a:pt x="1920" y="513"/>
                      <a:pt x="2008" y="478"/>
                      <a:pt x="2081" y="437"/>
                    </a:cubicBezTo>
                    <a:cubicBezTo>
                      <a:pt x="2154" y="396"/>
                      <a:pt x="2219" y="338"/>
                      <a:pt x="2267" y="290"/>
                    </a:cubicBezTo>
                    <a:cubicBezTo>
                      <a:pt x="2315" y="242"/>
                      <a:pt x="2344" y="198"/>
                      <a:pt x="2368" y="150"/>
                    </a:cubicBezTo>
                    <a:cubicBezTo>
                      <a:pt x="2392" y="102"/>
                      <a:pt x="2401" y="51"/>
                      <a:pt x="2409" y="0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Text Box 2887"/>
              <p:cNvSpPr txBox="1">
                <a:spLocks noChangeArrowheads="1"/>
              </p:cNvSpPr>
              <p:nvPr/>
            </p:nvSpPr>
            <p:spPr bwMode="auto">
              <a:xfrm>
                <a:off x="2396710" y="1453070"/>
                <a:ext cx="436338" cy="4816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2200" dirty="0">
                    <a:sym typeface="Wingdings" pitchFamily="2" charset="2"/>
                  </a:rPr>
                  <a:t></a:t>
                </a:r>
              </a:p>
            </p:txBody>
          </p:sp>
        </p:grpSp>
        <p:sp>
          <p:nvSpPr>
            <p:cNvPr id="133" name="Text Box 2888"/>
            <p:cNvSpPr txBox="1">
              <a:spLocks noChangeArrowheads="1"/>
            </p:cNvSpPr>
            <p:nvPr/>
          </p:nvSpPr>
          <p:spPr bwMode="auto">
            <a:xfrm>
              <a:off x="707610" y="1667152"/>
              <a:ext cx="2857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34" name="Text Box 2889"/>
            <p:cNvSpPr txBox="1">
              <a:spLocks noChangeArrowheads="1"/>
            </p:cNvSpPr>
            <p:nvPr/>
          </p:nvSpPr>
          <p:spPr bwMode="auto">
            <a:xfrm>
              <a:off x="1431510" y="3334258"/>
              <a:ext cx="436338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sym typeface="Wingdings" pitchFamily="2" charset="2"/>
                </a:rPr>
                <a:t></a:t>
              </a:r>
            </a:p>
          </p:txBody>
        </p:sp>
        <p:sp>
          <p:nvSpPr>
            <p:cNvPr id="135" name="Text Box 2861"/>
            <p:cNvSpPr txBox="1">
              <a:spLocks noChangeArrowheads="1"/>
            </p:cNvSpPr>
            <p:nvPr/>
          </p:nvSpPr>
          <p:spPr bwMode="auto">
            <a:xfrm>
              <a:off x="838293" y="1522690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36" name="Text Box 2900"/>
            <p:cNvSpPr txBox="1">
              <a:spLocks noChangeArrowheads="1"/>
            </p:cNvSpPr>
            <p:nvPr/>
          </p:nvSpPr>
          <p:spPr bwMode="auto">
            <a:xfrm>
              <a:off x="7456073" y="2815550"/>
              <a:ext cx="574196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i="1" dirty="0" smtClean="0">
                  <a:latin typeface="Times New Roman" pitchFamily="18" charset="0"/>
                </a:rPr>
                <a:t>M</a:t>
              </a:r>
              <a:r>
                <a:rPr lang="en-US" altLang="zh-CN" sz="1600" dirty="0" smtClean="0">
                  <a:latin typeface="Times New Roman" pitchFamily="18" charset="0"/>
                </a:rPr>
                <a:t>=4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</p:grpSp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3194050" y="5735638"/>
            <a:ext cx="2732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流网的画法</a:t>
            </a:r>
          </a:p>
        </p:txBody>
      </p:sp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77823" y="2718077"/>
            <a:ext cx="474662" cy="531813"/>
            <a:chOff x="3677823" y="2718077"/>
            <a:chExt cx="474662" cy="531813"/>
          </a:xfrm>
        </p:grpSpPr>
        <p:sp>
          <p:nvSpPr>
            <p:cNvPr id="203" name="Line 2859"/>
            <p:cNvSpPr>
              <a:spLocks noChangeShapeType="1"/>
            </p:cNvSpPr>
            <p:nvPr/>
          </p:nvSpPr>
          <p:spPr bwMode="auto">
            <a:xfrm flipH="1">
              <a:off x="3758785" y="2787927"/>
              <a:ext cx="69850" cy="436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2860"/>
            <p:cNvSpPr>
              <a:spLocks noChangeShapeType="1"/>
            </p:cNvSpPr>
            <p:nvPr/>
          </p:nvSpPr>
          <p:spPr bwMode="auto">
            <a:xfrm>
              <a:off x="3677823" y="2951440"/>
              <a:ext cx="474662" cy="42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Text Box 2871"/>
            <p:cNvSpPr txBox="1">
              <a:spLocks noChangeArrowheads="1"/>
            </p:cNvSpPr>
            <p:nvPr/>
          </p:nvSpPr>
          <p:spPr bwMode="auto">
            <a:xfrm>
              <a:off x="3719098" y="2718077"/>
              <a:ext cx="4238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>
                  <a:latin typeface="Times New Roman" pitchFamily="18" charset="0"/>
                  <a:sym typeface="Symbol" pitchFamily="18" charset="2"/>
                </a:rPr>
                <a:t>l</a:t>
              </a:r>
              <a:endParaRPr lang="el-GR" altLang="zh-CN" sz="1600">
                <a:latin typeface="Times New Roman" pitchFamily="18" charset="0"/>
              </a:endParaRPr>
            </a:p>
          </p:txBody>
        </p:sp>
        <p:sp>
          <p:nvSpPr>
            <p:cNvPr id="216" name="Text Box 2872"/>
            <p:cNvSpPr txBox="1">
              <a:spLocks noChangeArrowheads="1"/>
            </p:cNvSpPr>
            <p:nvPr/>
          </p:nvSpPr>
          <p:spPr bwMode="auto">
            <a:xfrm rot="16200000">
              <a:off x="3682585" y="2911753"/>
              <a:ext cx="3397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>
                  <a:latin typeface="Times New Roman" pitchFamily="18" charset="0"/>
                  <a:sym typeface="Symbol" pitchFamily="18" charset="2"/>
                </a:rPr>
                <a:t>s</a:t>
              </a:r>
              <a:endParaRPr lang="el-GR" altLang="zh-CN" sz="1600">
                <a:latin typeface="Times New Roman" pitchFamily="18" charset="0"/>
              </a:endParaRPr>
            </a:p>
          </p:txBody>
        </p:sp>
      </p:grpSp>
      <p:sp>
        <p:nvSpPr>
          <p:cNvPr id="232" name="Text Box 2888"/>
          <p:cNvSpPr txBox="1">
            <a:spLocks noChangeArrowheads="1"/>
          </p:cNvSpPr>
          <p:nvPr/>
        </p:nvSpPr>
        <p:spPr bwMode="auto">
          <a:xfrm>
            <a:off x="1097223" y="1754615"/>
            <a:ext cx="325730" cy="481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200" dirty="0">
                <a:latin typeface="Times New Roman" pitchFamily="18" charset="0"/>
              </a:rPr>
              <a:t>1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826744" y="2024340"/>
            <a:ext cx="1570091" cy="2069609"/>
            <a:chOff x="1826744" y="2024340"/>
            <a:chExt cx="1570091" cy="2069609"/>
          </a:xfrm>
        </p:grpSpPr>
        <p:sp>
          <p:nvSpPr>
            <p:cNvPr id="193" name="Freeform 2849"/>
            <p:cNvSpPr>
              <a:spLocks/>
            </p:cNvSpPr>
            <p:nvPr/>
          </p:nvSpPr>
          <p:spPr bwMode="auto">
            <a:xfrm>
              <a:off x="2022060" y="2024340"/>
              <a:ext cx="1374775" cy="1682750"/>
            </a:xfrm>
            <a:custGeom>
              <a:avLst/>
              <a:gdLst>
                <a:gd name="T0" fmla="*/ 866 w 866"/>
                <a:gd name="T1" fmla="*/ 0 h 1060"/>
                <a:gd name="T2" fmla="*/ 751 w 866"/>
                <a:gd name="T3" fmla="*/ 49 h 1060"/>
                <a:gd name="T4" fmla="*/ 592 w 866"/>
                <a:gd name="T5" fmla="*/ 144 h 1060"/>
                <a:gd name="T6" fmla="*/ 425 w 866"/>
                <a:gd name="T7" fmla="*/ 277 h 1060"/>
                <a:gd name="T8" fmla="*/ 235 w 866"/>
                <a:gd name="T9" fmla="*/ 478 h 1060"/>
                <a:gd name="T10" fmla="*/ 94 w 866"/>
                <a:gd name="T11" fmla="*/ 749 h 1060"/>
                <a:gd name="T12" fmla="*/ 0 w 866"/>
                <a:gd name="T13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60">
                  <a:moveTo>
                    <a:pt x="866" y="0"/>
                  </a:moveTo>
                  <a:cubicBezTo>
                    <a:pt x="847" y="8"/>
                    <a:pt x="797" y="25"/>
                    <a:pt x="751" y="49"/>
                  </a:cubicBezTo>
                  <a:cubicBezTo>
                    <a:pt x="705" y="73"/>
                    <a:pt x="646" y="106"/>
                    <a:pt x="592" y="144"/>
                  </a:cubicBezTo>
                  <a:cubicBezTo>
                    <a:pt x="538" y="182"/>
                    <a:pt x="484" y="221"/>
                    <a:pt x="425" y="277"/>
                  </a:cubicBezTo>
                  <a:cubicBezTo>
                    <a:pt x="366" y="333"/>
                    <a:pt x="290" y="399"/>
                    <a:pt x="235" y="478"/>
                  </a:cubicBezTo>
                  <a:cubicBezTo>
                    <a:pt x="180" y="557"/>
                    <a:pt x="133" y="652"/>
                    <a:pt x="94" y="749"/>
                  </a:cubicBezTo>
                  <a:cubicBezTo>
                    <a:pt x="55" y="846"/>
                    <a:pt x="20" y="995"/>
                    <a:pt x="0" y="106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Text Box 2890"/>
            <p:cNvSpPr txBox="1">
              <a:spLocks noChangeArrowheads="1"/>
            </p:cNvSpPr>
            <p:nvPr/>
          </p:nvSpPr>
          <p:spPr bwMode="auto">
            <a:xfrm>
              <a:off x="1826744" y="3643441"/>
              <a:ext cx="325730" cy="4505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753749" y="2046565"/>
            <a:ext cx="800249" cy="2078546"/>
            <a:chOff x="2753749" y="2046565"/>
            <a:chExt cx="800249" cy="2078546"/>
          </a:xfrm>
        </p:grpSpPr>
        <p:sp>
          <p:nvSpPr>
            <p:cNvPr id="194" name="Freeform 2850"/>
            <p:cNvSpPr>
              <a:spLocks/>
            </p:cNvSpPr>
            <p:nvPr/>
          </p:nvSpPr>
          <p:spPr bwMode="auto">
            <a:xfrm>
              <a:off x="2868198" y="2046565"/>
              <a:ext cx="685800" cy="1660525"/>
            </a:xfrm>
            <a:custGeom>
              <a:avLst/>
              <a:gdLst>
                <a:gd name="T0" fmla="*/ 346 w 346"/>
                <a:gd name="T1" fmla="*/ 0 h 1046"/>
                <a:gd name="T2" fmla="*/ 314 w 346"/>
                <a:gd name="T3" fmla="*/ 115 h 1046"/>
                <a:gd name="T4" fmla="*/ 250 w 346"/>
                <a:gd name="T5" fmla="*/ 262 h 1046"/>
                <a:gd name="T6" fmla="*/ 157 w 346"/>
                <a:gd name="T7" fmla="*/ 451 h 1046"/>
                <a:gd name="T8" fmla="*/ 56 w 346"/>
                <a:gd name="T9" fmla="*/ 684 h 1046"/>
                <a:gd name="T10" fmla="*/ 13 w 346"/>
                <a:gd name="T11" fmla="*/ 907 h 1046"/>
                <a:gd name="T12" fmla="*/ 0 w 346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1046">
                  <a:moveTo>
                    <a:pt x="346" y="0"/>
                  </a:moveTo>
                  <a:cubicBezTo>
                    <a:pt x="338" y="35"/>
                    <a:pt x="330" y="71"/>
                    <a:pt x="314" y="115"/>
                  </a:cubicBezTo>
                  <a:cubicBezTo>
                    <a:pt x="298" y="159"/>
                    <a:pt x="276" y="206"/>
                    <a:pt x="250" y="262"/>
                  </a:cubicBezTo>
                  <a:cubicBezTo>
                    <a:pt x="224" y="318"/>
                    <a:pt x="189" y="381"/>
                    <a:pt x="157" y="451"/>
                  </a:cubicBezTo>
                  <a:cubicBezTo>
                    <a:pt x="125" y="521"/>
                    <a:pt x="80" y="608"/>
                    <a:pt x="56" y="684"/>
                  </a:cubicBezTo>
                  <a:cubicBezTo>
                    <a:pt x="32" y="760"/>
                    <a:pt x="22" y="847"/>
                    <a:pt x="13" y="907"/>
                  </a:cubicBezTo>
                  <a:cubicBezTo>
                    <a:pt x="4" y="967"/>
                    <a:pt x="3" y="1017"/>
                    <a:pt x="0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Text Box 2891"/>
            <p:cNvSpPr txBox="1">
              <a:spLocks noChangeArrowheads="1"/>
            </p:cNvSpPr>
            <p:nvPr/>
          </p:nvSpPr>
          <p:spPr bwMode="auto">
            <a:xfrm>
              <a:off x="2753749" y="3643441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380906" y="2044977"/>
            <a:ext cx="503292" cy="2096036"/>
            <a:chOff x="3380906" y="2044977"/>
            <a:chExt cx="503292" cy="2096036"/>
          </a:xfrm>
        </p:grpSpPr>
        <p:sp>
          <p:nvSpPr>
            <p:cNvPr id="195" name="Freeform 2851"/>
            <p:cNvSpPr>
              <a:spLocks/>
            </p:cNvSpPr>
            <p:nvPr/>
          </p:nvSpPr>
          <p:spPr bwMode="auto">
            <a:xfrm>
              <a:off x="3517485" y="2044977"/>
              <a:ext cx="366713" cy="1671638"/>
            </a:xfrm>
            <a:custGeom>
              <a:avLst/>
              <a:gdLst>
                <a:gd name="T0" fmla="*/ 231 w 231"/>
                <a:gd name="T1" fmla="*/ 0 h 1053"/>
                <a:gd name="T2" fmla="*/ 205 w 231"/>
                <a:gd name="T3" fmla="*/ 150 h 1053"/>
                <a:gd name="T4" fmla="*/ 148 w 231"/>
                <a:gd name="T5" fmla="*/ 372 h 1053"/>
                <a:gd name="T6" fmla="*/ 90 w 231"/>
                <a:gd name="T7" fmla="*/ 567 h 1053"/>
                <a:gd name="T8" fmla="*/ 40 w 231"/>
                <a:gd name="T9" fmla="*/ 772 h 1053"/>
                <a:gd name="T10" fmla="*/ 0 w 231"/>
                <a:gd name="T11" fmla="*/ 1053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1053">
                  <a:moveTo>
                    <a:pt x="231" y="0"/>
                  </a:moveTo>
                  <a:cubicBezTo>
                    <a:pt x="227" y="25"/>
                    <a:pt x="219" y="88"/>
                    <a:pt x="205" y="150"/>
                  </a:cubicBezTo>
                  <a:cubicBezTo>
                    <a:pt x="191" y="212"/>
                    <a:pt x="167" y="302"/>
                    <a:pt x="148" y="372"/>
                  </a:cubicBezTo>
                  <a:cubicBezTo>
                    <a:pt x="129" y="442"/>
                    <a:pt x="108" y="500"/>
                    <a:pt x="90" y="567"/>
                  </a:cubicBezTo>
                  <a:cubicBezTo>
                    <a:pt x="72" y="634"/>
                    <a:pt x="55" y="691"/>
                    <a:pt x="40" y="772"/>
                  </a:cubicBezTo>
                  <a:cubicBezTo>
                    <a:pt x="25" y="853"/>
                    <a:pt x="8" y="995"/>
                    <a:pt x="0" y="1053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Text Box 2892"/>
            <p:cNvSpPr txBox="1">
              <a:spLocks noChangeArrowheads="1"/>
            </p:cNvSpPr>
            <p:nvPr/>
          </p:nvSpPr>
          <p:spPr bwMode="auto">
            <a:xfrm>
              <a:off x="3380906" y="3659343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914333" y="2049740"/>
            <a:ext cx="325730" cy="2091273"/>
            <a:chOff x="3914333" y="2049740"/>
            <a:chExt cx="325730" cy="2091273"/>
          </a:xfrm>
        </p:grpSpPr>
        <p:sp>
          <p:nvSpPr>
            <p:cNvPr id="196" name="Freeform 2852"/>
            <p:cNvSpPr>
              <a:spLocks/>
            </p:cNvSpPr>
            <p:nvPr/>
          </p:nvSpPr>
          <p:spPr bwMode="auto">
            <a:xfrm>
              <a:off x="4087398" y="2049740"/>
              <a:ext cx="149225" cy="1643062"/>
            </a:xfrm>
            <a:custGeom>
              <a:avLst/>
              <a:gdLst>
                <a:gd name="T0" fmla="*/ 94 w 94"/>
                <a:gd name="T1" fmla="*/ 0 h 1035"/>
                <a:gd name="T2" fmla="*/ 80 w 94"/>
                <a:gd name="T3" fmla="*/ 224 h 1035"/>
                <a:gd name="T4" fmla="*/ 45 w 94"/>
                <a:gd name="T5" fmla="*/ 520 h 1035"/>
                <a:gd name="T6" fmla="*/ 19 w 94"/>
                <a:gd name="T7" fmla="*/ 798 h 1035"/>
                <a:gd name="T8" fmla="*/ 0 w 94"/>
                <a:gd name="T9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035">
                  <a:moveTo>
                    <a:pt x="94" y="0"/>
                  </a:moveTo>
                  <a:cubicBezTo>
                    <a:pt x="92" y="37"/>
                    <a:pt x="88" y="137"/>
                    <a:pt x="80" y="224"/>
                  </a:cubicBezTo>
                  <a:cubicBezTo>
                    <a:pt x="72" y="311"/>
                    <a:pt x="55" y="424"/>
                    <a:pt x="45" y="520"/>
                  </a:cubicBezTo>
                  <a:cubicBezTo>
                    <a:pt x="35" y="616"/>
                    <a:pt x="26" y="712"/>
                    <a:pt x="19" y="798"/>
                  </a:cubicBezTo>
                  <a:cubicBezTo>
                    <a:pt x="12" y="884"/>
                    <a:pt x="4" y="986"/>
                    <a:pt x="0" y="1035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Text Box 2893"/>
            <p:cNvSpPr txBox="1">
              <a:spLocks noChangeArrowheads="1"/>
            </p:cNvSpPr>
            <p:nvPr/>
          </p:nvSpPr>
          <p:spPr bwMode="auto">
            <a:xfrm>
              <a:off x="3914333" y="3659343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5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431831" y="2044977"/>
            <a:ext cx="325730" cy="2080134"/>
            <a:chOff x="4431831" y="2044977"/>
            <a:chExt cx="325730" cy="2080134"/>
          </a:xfrm>
        </p:grpSpPr>
        <p:sp>
          <p:nvSpPr>
            <p:cNvPr id="197" name="Freeform 2853"/>
            <p:cNvSpPr>
              <a:spLocks/>
            </p:cNvSpPr>
            <p:nvPr/>
          </p:nvSpPr>
          <p:spPr bwMode="auto">
            <a:xfrm>
              <a:off x="4590635" y="2044977"/>
              <a:ext cx="9525" cy="1666875"/>
            </a:xfrm>
            <a:custGeom>
              <a:avLst/>
              <a:gdLst>
                <a:gd name="T0" fmla="*/ 6 w 6"/>
                <a:gd name="T1" fmla="*/ 0 h 1050"/>
                <a:gd name="T2" fmla="*/ 1 w 6"/>
                <a:gd name="T3" fmla="*/ 295 h 1050"/>
                <a:gd name="T4" fmla="*/ 0 w 6"/>
                <a:gd name="T5" fmla="*/ 556 h 1050"/>
                <a:gd name="T6" fmla="*/ 1 w 6"/>
                <a:gd name="T7" fmla="*/ 801 h 1050"/>
                <a:gd name="T8" fmla="*/ 1 w 6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50">
                  <a:moveTo>
                    <a:pt x="6" y="0"/>
                  </a:moveTo>
                  <a:cubicBezTo>
                    <a:pt x="6" y="49"/>
                    <a:pt x="2" y="202"/>
                    <a:pt x="1" y="295"/>
                  </a:cubicBezTo>
                  <a:cubicBezTo>
                    <a:pt x="0" y="388"/>
                    <a:pt x="0" y="472"/>
                    <a:pt x="0" y="556"/>
                  </a:cubicBezTo>
                  <a:cubicBezTo>
                    <a:pt x="0" y="640"/>
                    <a:pt x="1" y="719"/>
                    <a:pt x="1" y="801"/>
                  </a:cubicBezTo>
                  <a:cubicBezTo>
                    <a:pt x="1" y="883"/>
                    <a:pt x="2" y="966"/>
                    <a:pt x="1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Text Box 2894"/>
            <p:cNvSpPr txBox="1">
              <a:spLocks noChangeArrowheads="1"/>
            </p:cNvSpPr>
            <p:nvPr/>
          </p:nvSpPr>
          <p:spPr bwMode="auto">
            <a:xfrm>
              <a:off x="4431831" y="3643441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6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928773" y="2046565"/>
            <a:ext cx="325730" cy="2086497"/>
            <a:chOff x="4928773" y="2046565"/>
            <a:chExt cx="325730" cy="2086497"/>
          </a:xfrm>
        </p:grpSpPr>
        <p:sp>
          <p:nvSpPr>
            <p:cNvPr id="198" name="Freeform 2854"/>
            <p:cNvSpPr>
              <a:spLocks/>
            </p:cNvSpPr>
            <p:nvPr/>
          </p:nvSpPr>
          <p:spPr bwMode="auto">
            <a:xfrm>
              <a:off x="4946235" y="2046565"/>
              <a:ext cx="142875" cy="1666875"/>
            </a:xfrm>
            <a:custGeom>
              <a:avLst/>
              <a:gdLst>
                <a:gd name="T0" fmla="*/ 0 w 90"/>
                <a:gd name="T1" fmla="*/ 0 h 1050"/>
                <a:gd name="T2" fmla="*/ 16 w 90"/>
                <a:gd name="T3" fmla="*/ 280 h 1050"/>
                <a:gd name="T4" fmla="*/ 42 w 90"/>
                <a:gd name="T5" fmla="*/ 561 h 1050"/>
                <a:gd name="T6" fmla="*/ 78 w 90"/>
                <a:gd name="T7" fmla="*/ 833 h 1050"/>
                <a:gd name="T8" fmla="*/ 90 w 9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1050">
                  <a:moveTo>
                    <a:pt x="0" y="0"/>
                  </a:moveTo>
                  <a:cubicBezTo>
                    <a:pt x="3" y="47"/>
                    <a:pt x="9" y="187"/>
                    <a:pt x="16" y="280"/>
                  </a:cubicBezTo>
                  <a:cubicBezTo>
                    <a:pt x="23" y="373"/>
                    <a:pt x="32" y="469"/>
                    <a:pt x="42" y="561"/>
                  </a:cubicBezTo>
                  <a:cubicBezTo>
                    <a:pt x="52" y="653"/>
                    <a:pt x="70" y="752"/>
                    <a:pt x="78" y="833"/>
                  </a:cubicBezTo>
                  <a:cubicBezTo>
                    <a:pt x="86" y="914"/>
                    <a:pt x="88" y="982"/>
                    <a:pt x="90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Text Box 2895"/>
            <p:cNvSpPr txBox="1">
              <a:spLocks noChangeArrowheads="1"/>
            </p:cNvSpPr>
            <p:nvPr/>
          </p:nvSpPr>
          <p:spPr bwMode="auto">
            <a:xfrm>
              <a:off x="4928773" y="3651392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7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270085" y="2049740"/>
            <a:ext cx="511468" cy="2083322"/>
            <a:chOff x="5270085" y="2049740"/>
            <a:chExt cx="511468" cy="2083322"/>
          </a:xfrm>
        </p:grpSpPr>
        <p:sp>
          <p:nvSpPr>
            <p:cNvPr id="199" name="Freeform 2855"/>
            <p:cNvSpPr>
              <a:spLocks/>
            </p:cNvSpPr>
            <p:nvPr/>
          </p:nvSpPr>
          <p:spPr bwMode="auto">
            <a:xfrm>
              <a:off x="5270085" y="2049740"/>
              <a:ext cx="373063" cy="1651000"/>
            </a:xfrm>
            <a:custGeom>
              <a:avLst/>
              <a:gdLst>
                <a:gd name="T0" fmla="*/ 0 w 235"/>
                <a:gd name="T1" fmla="*/ 0 h 1040"/>
                <a:gd name="T2" fmla="*/ 24 w 235"/>
                <a:gd name="T3" fmla="*/ 179 h 1040"/>
                <a:gd name="T4" fmla="*/ 93 w 235"/>
                <a:gd name="T5" fmla="*/ 442 h 1040"/>
                <a:gd name="T6" fmla="*/ 184 w 235"/>
                <a:gd name="T7" fmla="*/ 723 h 1040"/>
                <a:gd name="T8" fmla="*/ 235 w 235"/>
                <a:gd name="T9" fmla="*/ 1040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040">
                  <a:moveTo>
                    <a:pt x="0" y="0"/>
                  </a:moveTo>
                  <a:cubicBezTo>
                    <a:pt x="4" y="30"/>
                    <a:pt x="8" y="105"/>
                    <a:pt x="24" y="179"/>
                  </a:cubicBezTo>
                  <a:cubicBezTo>
                    <a:pt x="40" y="253"/>
                    <a:pt x="66" y="351"/>
                    <a:pt x="93" y="442"/>
                  </a:cubicBezTo>
                  <a:cubicBezTo>
                    <a:pt x="120" y="533"/>
                    <a:pt x="160" y="623"/>
                    <a:pt x="184" y="723"/>
                  </a:cubicBezTo>
                  <a:cubicBezTo>
                    <a:pt x="208" y="823"/>
                    <a:pt x="221" y="931"/>
                    <a:pt x="235" y="104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Text Box 2896"/>
            <p:cNvSpPr txBox="1">
              <a:spLocks noChangeArrowheads="1"/>
            </p:cNvSpPr>
            <p:nvPr/>
          </p:nvSpPr>
          <p:spPr bwMode="auto">
            <a:xfrm>
              <a:off x="5455823" y="3651392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8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52660" y="2046565"/>
            <a:ext cx="830555" cy="2102399"/>
            <a:chOff x="5552660" y="2046565"/>
            <a:chExt cx="830555" cy="2102399"/>
          </a:xfrm>
        </p:grpSpPr>
        <p:sp>
          <p:nvSpPr>
            <p:cNvPr id="200" name="Freeform 2856"/>
            <p:cNvSpPr>
              <a:spLocks/>
            </p:cNvSpPr>
            <p:nvPr/>
          </p:nvSpPr>
          <p:spPr bwMode="auto">
            <a:xfrm>
              <a:off x="5552660" y="2046565"/>
              <a:ext cx="688975" cy="1660525"/>
            </a:xfrm>
            <a:custGeom>
              <a:avLst/>
              <a:gdLst>
                <a:gd name="T0" fmla="*/ 0 w 434"/>
                <a:gd name="T1" fmla="*/ 0 h 1046"/>
                <a:gd name="T2" fmla="*/ 33 w 434"/>
                <a:gd name="T3" fmla="*/ 105 h 1046"/>
                <a:gd name="T4" fmla="*/ 75 w 434"/>
                <a:gd name="T5" fmla="*/ 192 h 1046"/>
                <a:gd name="T6" fmla="*/ 187 w 434"/>
                <a:gd name="T7" fmla="*/ 360 h 1046"/>
                <a:gd name="T8" fmla="*/ 322 w 434"/>
                <a:gd name="T9" fmla="*/ 576 h 1046"/>
                <a:gd name="T10" fmla="*/ 406 w 434"/>
                <a:gd name="T11" fmla="*/ 836 h 1046"/>
                <a:gd name="T12" fmla="*/ 434 w 434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4" h="1046">
                  <a:moveTo>
                    <a:pt x="0" y="0"/>
                  </a:moveTo>
                  <a:cubicBezTo>
                    <a:pt x="5" y="17"/>
                    <a:pt x="21" y="73"/>
                    <a:pt x="33" y="105"/>
                  </a:cubicBezTo>
                  <a:cubicBezTo>
                    <a:pt x="45" y="137"/>
                    <a:pt x="49" y="149"/>
                    <a:pt x="75" y="192"/>
                  </a:cubicBezTo>
                  <a:cubicBezTo>
                    <a:pt x="101" y="235"/>
                    <a:pt x="146" y="296"/>
                    <a:pt x="187" y="360"/>
                  </a:cubicBezTo>
                  <a:cubicBezTo>
                    <a:pt x="228" y="424"/>
                    <a:pt x="286" y="497"/>
                    <a:pt x="322" y="576"/>
                  </a:cubicBezTo>
                  <a:cubicBezTo>
                    <a:pt x="358" y="655"/>
                    <a:pt x="388" y="758"/>
                    <a:pt x="406" y="836"/>
                  </a:cubicBezTo>
                  <a:cubicBezTo>
                    <a:pt x="425" y="914"/>
                    <a:pt x="428" y="1002"/>
                    <a:pt x="434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Text Box 2897"/>
            <p:cNvSpPr txBox="1">
              <a:spLocks noChangeArrowheads="1"/>
            </p:cNvSpPr>
            <p:nvPr/>
          </p:nvSpPr>
          <p:spPr bwMode="auto">
            <a:xfrm>
              <a:off x="6057485" y="3667294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9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684423" y="2016402"/>
            <a:ext cx="1584299" cy="2116660"/>
            <a:chOff x="5684423" y="2016402"/>
            <a:chExt cx="1584299" cy="2116660"/>
          </a:xfrm>
        </p:grpSpPr>
        <p:sp>
          <p:nvSpPr>
            <p:cNvPr id="201" name="Freeform 2857"/>
            <p:cNvSpPr>
              <a:spLocks/>
            </p:cNvSpPr>
            <p:nvPr/>
          </p:nvSpPr>
          <p:spPr bwMode="auto">
            <a:xfrm>
              <a:off x="5684423" y="2016402"/>
              <a:ext cx="1363662" cy="1695450"/>
            </a:xfrm>
            <a:custGeom>
              <a:avLst/>
              <a:gdLst>
                <a:gd name="T0" fmla="*/ 0 w 859"/>
                <a:gd name="T1" fmla="*/ 1 h 1068"/>
                <a:gd name="T2" fmla="*/ 82 w 859"/>
                <a:gd name="T3" fmla="*/ 20 h 1068"/>
                <a:gd name="T4" fmla="*/ 280 w 859"/>
                <a:gd name="T5" fmla="*/ 121 h 1068"/>
                <a:gd name="T6" fmla="*/ 507 w 859"/>
                <a:gd name="T7" fmla="*/ 310 h 1068"/>
                <a:gd name="T8" fmla="*/ 693 w 859"/>
                <a:gd name="T9" fmla="*/ 550 h 1068"/>
                <a:gd name="T10" fmla="*/ 818 w 859"/>
                <a:gd name="T11" fmla="*/ 796 h 1068"/>
                <a:gd name="T12" fmla="*/ 859 w 859"/>
                <a:gd name="T13" fmla="*/ 1068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9" h="1068">
                  <a:moveTo>
                    <a:pt x="0" y="1"/>
                  </a:moveTo>
                  <a:cubicBezTo>
                    <a:pt x="14" y="5"/>
                    <a:pt x="35" y="0"/>
                    <a:pt x="82" y="20"/>
                  </a:cubicBezTo>
                  <a:cubicBezTo>
                    <a:pt x="129" y="40"/>
                    <a:pt x="209" y="73"/>
                    <a:pt x="280" y="121"/>
                  </a:cubicBezTo>
                  <a:cubicBezTo>
                    <a:pt x="351" y="169"/>
                    <a:pt x="438" y="239"/>
                    <a:pt x="507" y="310"/>
                  </a:cubicBezTo>
                  <a:cubicBezTo>
                    <a:pt x="576" y="381"/>
                    <a:pt x="641" y="469"/>
                    <a:pt x="693" y="550"/>
                  </a:cubicBezTo>
                  <a:cubicBezTo>
                    <a:pt x="745" y="631"/>
                    <a:pt x="790" y="710"/>
                    <a:pt x="818" y="796"/>
                  </a:cubicBezTo>
                  <a:cubicBezTo>
                    <a:pt x="846" y="882"/>
                    <a:pt x="852" y="975"/>
                    <a:pt x="859" y="106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Text Box 2898"/>
            <p:cNvSpPr txBox="1">
              <a:spLocks noChangeArrowheads="1"/>
            </p:cNvSpPr>
            <p:nvPr/>
          </p:nvSpPr>
          <p:spPr bwMode="auto">
            <a:xfrm>
              <a:off x="6801928" y="3651392"/>
              <a:ext cx="466794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10</a:t>
              </a:r>
            </a:p>
          </p:txBody>
        </p:sp>
      </p:grpSp>
      <p:sp>
        <p:nvSpPr>
          <p:cNvPr id="243" name="Text Box 2899"/>
          <p:cNvSpPr txBox="1">
            <a:spLocks noChangeArrowheads="1"/>
          </p:cNvSpPr>
          <p:nvPr/>
        </p:nvSpPr>
        <p:spPr bwMode="auto">
          <a:xfrm>
            <a:off x="7623836" y="1735776"/>
            <a:ext cx="456343" cy="481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200" dirty="0">
                <a:latin typeface="Times New Roman" pitchFamily="18" charset="0"/>
              </a:rPr>
              <a:t>11</a:t>
            </a:r>
          </a:p>
        </p:txBody>
      </p:sp>
      <p:sp>
        <p:nvSpPr>
          <p:cNvPr id="244" name="Text Box 2900"/>
          <p:cNvSpPr txBox="1">
            <a:spLocks noChangeArrowheads="1"/>
          </p:cNvSpPr>
          <p:nvPr/>
        </p:nvSpPr>
        <p:spPr bwMode="auto">
          <a:xfrm>
            <a:off x="7456073" y="2525990"/>
            <a:ext cx="64152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i="1" dirty="0" smtClean="0">
                <a:latin typeface="Times New Roman" pitchFamily="18" charset="0"/>
              </a:rPr>
              <a:t>N</a:t>
            </a:r>
            <a:r>
              <a:rPr lang="en-US" altLang="zh-CN" sz="1600" dirty="0" smtClean="0">
                <a:latin typeface="Times New Roman" pitchFamily="18" charset="0"/>
              </a:rPr>
              <a:t>=10</a:t>
            </a:r>
            <a:endParaRPr lang="en-US" altLang="zh-CN" sz="1600" dirty="0">
              <a:latin typeface="Times New Roman" pitchFamily="18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1647454" y="4593459"/>
            <a:ext cx="6176631" cy="479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C00000"/>
              </a:buClr>
              <a:buFont typeface="+mj-lt"/>
              <a:buAutoNum type="arabicPeriod" startAt="3"/>
            </a:pPr>
            <a:r>
              <a:rPr lang="zh-CN" altLang="en-US" sz="2400" b="1" dirty="0">
                <a:ea typeface="黑体" panose="02010609060101010101" pitchFamily="49" charset="-122"/>
                <a:cs typeface="Times New Roman" panose="02020603050405020304" pitchFamily="18" charset="0"/>
              </a:rPr>
              <a:t>初步</a:t>
            </a:r>
            <a:r>
              <a:rPr lang="zh-CN" altLang="en-US" sz="24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绘制等势线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813411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/>
      <p:bldP spid="243" grpId="0"/>
      <p:bldP spid="24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10" name="Rectangle 2"/>
          <p:cNvSpPr>
            <a:spLocks noChangeArrowheads="1"/>
          </p:cNvSpPr>
          <p:nvPr/>
        </p:nvSpPr>
        <p:spPr bwMode="auto">
          <a:xfrm>
            <a:off x="3194050" y="5735638"/>
            <a:ext cx="2732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流网的画法</a:t>
            </a:r>
          </a:p>
        </p:txBody>
      </p:sp>
      <p:sp>
        <p:nvSpPr>
          <p:cNvPr id="111" name="矩形 110"/>
          <p:cNvSpPr/>
          <p:nvPr/>
        </p:nvSpPr>
        <p:spPr>
          <a:xfrm>
            <a:off x="1647454" y="4593459"/>
            <a:ext cx="6176631" cy="479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C00000"/>
              </a:buClr>
              <a:buFont typeface="+mj-lt"/>
              <a:buAutoNum type="arabicPeriod" startAt="4"/>
            </a:pPr>
            <a:r>
              <a:rPr lang="zh-CN" altLang="en-US" sz="2400" b="1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反复修改</a:t>
            </a:r>
            <a:endParaRPr lang="zh-CN" altLang="en-US" sz="2400" dirty="0"/>
          </a:p>
        </p:txBody>
      </p:sp>
      <p:grpSp>
        <p:nvGrpSpPr>
          <p:cNvPr id="341" name="组合 340"/>
          <p:cNvGrpSpPr/>
          <p:nvPr/>
        </p:nvGrpSpPr>
        <p:grpSpPr>
          <a:xfrm>
            <a:off x="312026" y="738465"/>
            <a:ext cx="8001374" cy="3648070"/>
            <a:chOff x="312026" y="738465"/>
            <a:chExt cx="8001374" cy="3648070"/>
          </a:xfrm>
        </p:grpSpPr>
        <p:grpSp>
          <p:nvGrpSpPr>
            <p:cNvPr id="342" name="组合 341"/>
            <p:cNvGrpSpPr/>
            <p:nvPr/>
          </p:nvGrpSpPr>
          <p:grpSpPr>
            <a:xfrm>
              <a:off x="312026" y="738465"/>
              <a:ext cx="8001374" cy="3648070"/>
              <a:chOff x="312026" y="738465"/>
              <a:chExt cx="8001374" cy="3648070"/>
            </a:xfrm>
          </p:grpSpPr>
          <p:sp>
            <p:nvSpPr>
              <p:cNvPr id="366" name="矩形 365"/>
              <p:cNvSpPr/>
              <p:nvPr/>
            </p:nvSpPr>
            <p:spPr bwMode="auto">
              <a:xfrm>
                <a:off x="5685576" y="1742792"/>
                <a:ext cx="2288437" cy="104115"/>
              </a:xfrm>
              <a:prstGeom prst="rect">
                <a:avLst/>
              </a:prstGeom>
              <a:solidFill>
                <a:srgbClr val="0066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7" name="矩形 366"/>
              <p:cNvSpPr/>
              <p:nvPr/>
            </p:nvSpPr>
            <p:spPr bwMode="auto">
              <a:xfrm>
                <a:off x="1060449" y="1131683"/>
                <a:ext cx="2344915" cy="710697"/>
              </a:xfrm>
              <a:prstGeom prst="rect">
                <a:avLst/>
              </a:prstGeom>
              <a:solidFill>
                <a:srgbClr val="0066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8" name="任意多边形 367"/>
              <p:cNvSpPr/>
              <p:nvPr/>
            </p:nvSpPr>
            <p:spPr bwMode="auto">
              <a:xfrm>
                <a:off x="1048043" y="1851334"/>
                <a:ext cx="6921305" cy="1856935"/>
              </a:xfrm>
              <a:custGeom>
                <a:avLst/>
                <a:gdLst>
                  <a:gd name="connsiteX0" fmla="*/ 28135 w 6921305"/>
                  <a:gd name="connsiteY0" fmla="*/ 21101 h 1856935"/>
                  <a:gd name="connsiteX1" fmla="*/ 2349305 w 6921305"/>
                  <a:gd name="connsiteY1" fmla="*/ 21101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28135 w 6921305"/>
                  <a:gd name="connsiteY9" fmla="*/ 21101 h 1856935"/>
                  <a:gd name="connsiteX0" fmla="*/ 28135 w 6921305"/>
                  <a:gd name="connsiteY0" fmla="*/ 4415 h 1856935"/>
                  <a:gd name="connsiteX1" fmla="*/ 2349305 w 6921305"/>
                  <a:gd name="connsiteY1" fmla="*/ 21101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28135 w 6921305"/>
                  <a:gd name="connsiteY9" fmla="*/ 4415 h 1856935"/>
                  <a:gd name="connsiteX0" fmla="*/ 28135 w 6921305"/>
                  <a:gd name="connsiteY0" fmla="*/ 4415 h 1856935"/>
                  <a:gd name="connsiteX1" fmla="*/ 2352642 w 6921305"/>
                  <a:gd name="connsiteY1" fmla="*/ 1078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28135 w 6921305"/>
                  <a:gd name="connsiteY9" fmla="*/ 4415 h 1856935"/>
                  <a:gd name="connsiteX0" fmla="*/ 14786 w 6921305"/>
                  <a:gd name="connsiteY0" fmla="*/ 11089 h 1856935"/>
                  <a:gd name="connsiteX1" fmla="*/ 2352642 w 6921305"/>
                  <a:gd name="connsiteY1" fmla="*/ 1078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14786 w 6921305"/>
                  <a:gd name="connsiteY9" fmla="*/ 11089 h 1856935"/>
                  <a:gd name="connsiteX0" fmla="*/ 8112 w 6921305"/>
                  <a:gd name="connsiteY0" fmla="*/ 11089 h 1856935"/>
                  <a:gd name="connsiteX1" fmla="*/ 2352642 w 6921305"/>
                  <a:gd name="connsiteY1" fmla="*/ 1078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886135 w 6921305"/>
                  <a:gd name="connsiteY5" fmla="*/ 0 h 1856935"/>
                  <a:gd name="connsiteX6" fmla="*/ 6921305 w 6921305"/>
                  <a:gd name="connsiteY6" fmla="*/ 0 h 1856935"/>
                  <a:gd name="connsiteX7" fmla="*/ 6921305 w 6921305"/>
                  <a:gd name="connsiteY7" fmla="*/ 1856935 h 1856935"/>
                  <a:gd name="connsiteX8" fmla="*/ 0 w 6921305"/>
                  <a:gd name="connsiteY8" fmla="*/ 1856935 h 1856935"/>
                  <a:gd name="connsiteX9" fmla="*/ 8112 w 6921305"/>
                  <a:gd name="connsiteY9" fmla="*/ 11089 h 1856935"/>
                  <a:gd name="connsiteX0" fmla="*/ 8112 w 6921305"/>
                  <a:gd name="connsiteY0" fmla="*/ 11089 h 1856935"/>
                  <a:gd name="connsiteX1" fmla="*/ 2352642 w 6921305"/>
                  <a:gd name="connsiteY1" fmla="*/ 1078 h 1856935"/>
                  <a:gd name="connsiteX2" fmla="*/ 2349305 w 6921305"/>
                  <a:gd name="connsiteY2" fmla="*/ 203981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921305 w 6921305"/>
                  <a:gd name="connsiteY5" fmla="*/ 0 h 1856935"/>
                  <a:gd name="connsiteX6" fmla="*/ 6921305 w 6921305"/>
                  <a:gd name="connsiteY6" fmla="*/ 1856935 h 1856935"/>
                  <a:gd name="connsiteX7" fmla="*/ 0 w 6921305"/>
                  <a:gd name="connsiteY7" fmla="*/ 1856935 h 1856935"/>
                  <a:gd name="connsiteX8" fmla="*/ 8112 w 6921305"/>
                  <a:gd name="connsiteY8" fmla="*/ 11089 h 1856935"/>
                  <a:gd name="connsiteX0" fmla="*/ 8112 w 6921305"/>
                  <a:gd name="connsiteY0" fmla="*/ 11089 h 1856935"/>
                  <a:gd name="connsiteX1" fmla="*/ 2352642 w 6921305"/>
                  <a:gd name="connsiteY1" fmla="*/ 1078 h 1856935"/>
                  <a:gd name="connsiteX2" fmla="*/ 2358830 w 6921305"/>
                  <a:gd name="connsiteY2" fmla="*/ 188106 h 1856935"/>
                  <a:gd name="connsiteX3" fmla="*/ 4628271 w 6921305"/>
                  <a:gd name="connsiteY3" fmla="*/ 203981 h 1856935"/>
                  <a:gd name="connsiteX4" fmla="*/ 4628271 w 6921305"/>
                  <a:gd name="connsiteY4" fmla="*/ 0 h 1856935"/>
                  <a:gd name="connsiteX5" fmla="*/ 6921305 w 6921305"/>
                  <a:gd name="connsiteY5" fmla="*/ 0 h 1856935"/>
                  <a:gd name="connsiteX6" fmla="*/ 6921305 w 6921305"/>
                  <a:gd name="connsiteY6" fmla="*/ 1856935 h 1856935"/>
                  <a:gd name="connsiteX7" fmla="*/ 0 w 6921305"/>
                  <a:gd name="connsiteY7" fmla="*/ 1856935 h 1856935"/>
                  <a:gd name="connsiteX8" fmla="*/ 8112 w 6921305"/>
                  <a:gd name="connsiteY8" fmla="*/ 11089 h 1856935"/>
                  <a:gd name="connsiteX0" fmla="*/ 8112 w 6921305"/>
                  <a:gd name="connsiteY0" fmla="*/ 11089 h 1856935"/>
                  <a:gd name="connsiteX1" fmla="*/ 2352642 w 6921305"/>
                  <a:gd name="connsiteY1" fmla="*/ 1078 h 1856935"/>
                  <a:gd name="connsiteX2" fmla="*/ 2358830 w 6921305"/>
                  <a:gd name="connsiteY2" fmla="*/ 188106 h 1856935"/>
                  <a:gd name="connsiteX3" fmla="*/ 4634621 w 6921305"/>
                  <a:gd name="connsiteY3" fmla="*/ 184931 h 1856935"/>
                  <a:gd name="connsiteX4" fmla="*/ 4628271 w 6921305"/>
                  <a:gd name="connsiteY4" fmla="*/ 0 h 1856935"/>
                  <a:gd name="connsiteX5" fmla="*/ 6921305 w 6921305"/>
                  <a:gd name="connsiteY5" fmla="*/ 0 h 1856935"/>
                  <a:gd name="connsiteX6" fmla="*/ 6921305 w 6921305"/>
                  <a:gd name="connsiteY6" fmla="*/ 1856935 h 1856935"/>
                  <a:gd name="connsiteX7" fmla="*/ 0 w 6921305"/>
                  <a:gd name="connsiteY7" fmla="*/ 1856935 h 1856935"/>
                  <a:gd name="connsiteX8" fmla="*/ 8112 w 6921305"/>
                  <a:gd name="connsiteY8" fmla="*/ 11089 h 1856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921305" h="1856935">
                    <a:moveTo>
                      <a:pt x="8112" y="11089"/>
                    </a:moveTo>
                    <a:lnTo>
                      <a:pt x="2352642" y="1078"/>
                    </a:lnTo>
                    <a:cubicBezTo>
                      <a:pt x="2351530" y="68712"/>
                      <a:pt x="2359942" y="120472"/>
                      <a:pt x="2358830" y="188106"/>
                    </a:cubicBezTo>
                    <a:lnTo>
                      <a:pt x="4634621" y="184931"/>
                    </a:lnTo>
                    <a:lnTo>
                      <a:pt x="4628271" y="0"/>
                    </a:lnTo>
                    <a:lnTo>
                      <a:pt x="6921305" y="0"/>
                    </a:lnTo>
                    <a:lnTo>
                      <a:pt x="6921305" y="1856935"/>
                    </a:lnTo>
                    <a:lnTo>
                      <a:pt x="0" y="1856935"/>
                    </a:lnTo>
                    <a:lnTo>
                      <a:pt x="8112" y="11089"/>
                    </a:lnTo>
                    <a:close/>
                  </a:path>
                </a:pathLst>
              </a:custGeom>
              <a:solidFill>
                <a:srgbClr val="CCEC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9" name="矩形 368"/>
              <p:cNvSpPr/>
              <p:nvPr/>
            </p:nvSpPr>
            <p:spPr bwMode="auto">
              <a:xfrm>
                <a:off x="1041009" y="3716935"/>
                <a:ext cx="6935094" cy="66960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0" name="AutoShape 2834"/>
              <p:cNvSpPr>
                <a:spLocks noChangeArrowheads="1"/>
              </p:cNvSpPr>
              <p:nvPr/>
            </p:nvSpPr>
            <p:spPr bwMode="auto">
              <a:xfrm flipV="1">
                <a:off x="1483898" y="1008340"/>
                <a:ext cx="136525" cy="117475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1" name="Line 2835"/>
              <p:cNvSpPr>
                <a:spLocks noChangeShapeType="1"/>
              </p:cNvSpPr>
              <p:nvPr/>
            </p:nvSpPr>
            <p:spPr bwMode="auto">
              <a:xfrm>
                <a:off x="1410873" y="1186140"/>
                <a:ext cx="11906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2" name="Line 2836"/>
              <p:cNvSpPr>
                <a:spLocks noChangeShapeType="1"/>
              </p:cNvSpPr>
              <p:nvPr/>
            </p:nvSpPr>
            <p:spPr bwMode="auto">
              <a:xfrm>
                <a:off x="1582323" y="1186140"/>
                <a:ext cx="11906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3" name="Line 2837"/>
              <p:cNvSpPr>
                <a:spLocks noChangeShapeType="1"/>
              </p:cNvSpPr>
              <p:nvPr/>
            </p:nvSpPr>
            <p:spPr bwMode="auto">
              <a:xfrm>
                <a:off x="1491835" y="1230590"/>
                <a:ext cx="16986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4" name="Line 2838"/>
              <p:cNvSpPr>
                <a:spLocks noChangeShapeType="1"/>
              </p:cNvSpPr>
              <p:nvPr/>
            </p:nvSpPr>
            <p:spPr bwMode="auto">
              <a:xfrm>
                <a:off x="1545810" y="1275040"/>
                <a:ext cx="7143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5" name="Text Box 2839"/>
              <p:cNvSpPr txBox="1">
                <a:spLocks noChangeArrowheads="1"/>
              </p:cNvSpPr>
              <p:nvPr/>
            </p:nvSpPr>
            <p:spPr bwMode="auto">
              <a:xfrm>
                <a:off x="802364" y="3573740"/>
                <a:ext cx="102592" cy="3754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>
                <a:spAutoFit/>
              </a:bodyPr>
              <a:lstStyle/>
              <a:p>
                <a:pPr algn="ctr"/>
                <a:r>
                  <a:rPr lang="en-US" altLang="zh-CN" sz="1600" b="1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376" name="Freeform 2840"/>
              <p:cNvSpPr>
                <a:spLocks/>
              </p:cNvSpPr>
              <p:nvPr/>
            </p:nvSpPr>
            <p:spPr bwMode="auto">
              <a:xfrm>
                <a:off x="3406360" y="738465"/>
                <a:ext cx="2278063" cy="1301750"/>
              </a:xfrm>
              <a:custGeom>
                <a:avLst/>
                <a:gdLst>
                  <a:gd name="T0" fmla="*/ 0 w 1435"/>
                  <a:gd name="T1" fmla="*/ 85 h 820"/>
                  <a:gd name="T2" fmla="*/ 0 w 1435"/>
                  <a:gd name="T3" fmla="*/ 820 h 820"/>
                  <a:gd name="T4" fmla="*/ 1435 w 1435"/>
                  <a:gd name="T5" fmla="*/ 820 h 820"/>
                  <a:gd name="T6" fmla="*/ 1435 w 1435"/>
                  <a:gd name="T7" fmla="*/ 479 h 820"/>
                  <a:gd name="T8" fmla="*/ 1403 w 1435"/>
                  <a:gd name="T9" fmla="*/ 478 h 820"/>
                  <a:gd name="T10" fmla="*/ 1334 w 1435"/>
                  <a:gd name="T11" fmla="*/ 473 h 820"/>
                  <a:gd name="T12" fmla="*/ 1258 w 1435"/>
                  <a:gd name="T13" fmla="*/ 462 h 820"/>
                  <a:gd name="T14" fmla="*/ 1141 w 1435"/>
                  <a:gd name="T15" fmla="*/ 430 h 820"/>
                  <a:gd name="T16" fmla="*/ 1006 w 1435"/>
                  <a:gd name="T17" fmla="*/ 388 h 820"/>
                  <a:gd name="T18" fmla="*/ 806 w 1435"/>
                  <a:gd name="T19" fmla="*/ 305 h 820"/>
                  <a:gd name="T20" fmla="*/ 672 w 1435"/>
                  <a:gd name="T21" fmla="*/ 234 h 820"/>
                  <a:gd name="T22" fmla="*/ 520 w 1435"/>
                  <a:gd name="T23" fmla="*/ 143 h 820"/>
                  <a:gd name="T24" fmla="*/ 422 w 1435"/>
                  <a:gd name="T25" fmla="*/ 85 h 820"/>
                  <a:gd name="T26" fmla="*/ 355 w 1435"/>
                  <a:gd name="T27" fmla="*/ 47 h 820"/>
                  <a:gd name="T28" fmla="*/ 274 w 1435"/>
                  <a:gd name="T29" fmla="*/ 15 h 820"/>
                  <a:gd name="T30" fmla="*/ 205 w 1435"/>
                  <a:gd name="T31" fmla="*/ 2 h 820"/>
                  <a:gd name="T32" fmla="*/ 123 w 1435"/>
                  <a:gd name="T33" fmla="*/ 4 h 820"/>
                  <a:gd name="T34" fmla="*/ 62 w 1435"/>
                  <a:gd name="T35" fmla="*/ 27 h 820"/>
                  <a:gd name="T36" fmla="*/ 19 w 1435"/>
                  <a:gd name="T37" fmla="*/ 60 h 820"/>
                  <a:gd name="T38" fmla="*/ 0 w 1435"/>
                  <a:gd name="T39" fmla="*/ 85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35" h="820">
                    <a:moveTo>
                      <a:pt x="0" y="85"/>
                    </a:moveTo>
                    <a:lnTo>
                      <a:pt x="0" y="820"/>
                    </a:lnTo>
                    <a:lnTo>
                      <a:pt x="1435" y="820"/>
                    </a:lnTo>
                    <a:lnTo>
                      <a:pt x="1435" y="479"/>
                    </a:lnTo>
                    <a:lnTo>
                      <a:pt x="1403" y="478"/>
                    </a:lnTo>
                    <a:cubicBezTo>
                      <a:pt x="1386" y="477"/>
                      <a:pt x="1358" y="476"/>
                      <a:pt x="1334" y="473"/>
                    </a:cubicBezTo>
                    <a:cubicBezTo>
                      <a:pt x="1310" y="470"/>
                      <a:pt x="1290" y="469"/>
                      <a:pt x="1258" y="462"/>
                    </a:cubicBezTo>
                    <a:cubicBezTo>
                      <a:pt x="1226" y="455"/>
                      <a:pt x="1183" y="442"/>
                      <a:pt x="1141" y="430"/>
                    </a:cubicBezTo>
                    <a:cubicBezTo>
                      <a:pt x="1099" y="418"/>
                      <a:pt x="1062" y="409"/>
                      <a:pt x="1006" y="388"/>
                    </a:cubicBezTo>
                    <a:cubicBezTo>
                      <a:pt x="950" y="367"/>
                      <a:pt x="862" y="331"/>
                      <a:pt x="806" y="305"/>
                    </a:cubicBezTo>
                    <a:cubicBezTo>
                      <a:pt x="750" y="279"/>
                      <a:pt x="720" y="261"/>
                      <a:pt x="672" y="234"/>
                    </a:cubicBezTo>
                    <a:cubicBezTo>
                      <a:pt x="624" y="207"/>
                      <a:pt x="562" y="167"/>
                      <a:pt x="520" y="143"/>
                    </a:cubicBezTo>
                    <a:cubicBezTo>
                      <a:pt x="478" y="119"/>
                      <a:pt x="449" y="101"/>
                      <a:pt x="422" y="85"/>
                    </a:cubicBezTo>
                    <a:cubicBezTo>
                      <a:pt x="395" y="70"/>
                      <a:pt x="380" y="59"/>
                      <a:pt x="355" y="47"/>
                    </a:cubicBezTo>
                    <a:cubicBezTo>
                      <a:pt x="330" y="35"/>
                      <a:pt x="299" y="23"/>
                      <a:pt x="274" y="15"/>
                    </a:cubicBezTo>
                    <a:cubicBezTo>
                      <a:pt x="249" y="8"/>
                      <a:pt x="230" y="4"/>
                      <a:pt x="205" y="2"/>
                    </a:cubicBezTo>
                    <a:cubicBezTo>
                      <a:pt x="180" y="0"/>
                      <a:pt x="147" y="0"/>
                      <a:pt x="123" y="4"/>
                    </a:cubicBezTo>
                    <a:cubicBezTo>
                      <a:pt x="99" y="8"/>
                      <a:pt x="79" y="18"/>
                      <a:pt x="62" y="27"/>
                    </a:cubicBezTo>
                    <a:cubicBezTo>
                      <a:pt x="45" y="36"/>
                      <a:pt x="29" y="50"/>
                      <a:pt x="19" y="60"/>
                    </a:cubicBezTo>
                    <a:cubicBezTo>
                      <a:pt x="9" y="70"/>
                      <a:pt x="4" y="81"/>
                      <a:pt x="0" y="85"/>
                    </a:cubicBezTo>
                    <a:close/>
                  </a:path>
                </a:pathLst>
              </a:custGeom>
              <a:solidFill>
                <a:srgbClr val="FFC000"/>
              </a:solid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7" name="Line 2841"/>
              <p:cNvSpPr>
                <a:spLocks noChangeShapeType="1"/>
              </p:cNvSpPr>
              <p:nvPr/>
            </p:nvSpPr>
            <p:spPr bwMode="auto">
              <a:xfrm>
                <a:off x="5687598" y="1843365"/>
                <a:ext cx="228641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8" name="Line 2842"/>
              <p:cNvSpPr>
                <a:spLocks noChangeShapeType="1"/>
              </p:cNvSpPr>
              <p:nvPr/>
            </p:nvSpPr>
            <p:spPr bwMode="auto">
              <a:xfrm flipH="1">
                <a:off x="1058862" y="1848127"/>
                <a:ext cx="23427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" name="Line 2843"/>
              <p:cNvSpPr>
                <a:spLocks noChangeShapeType="1"/>
              </p:cNvSpPr>
              <p:nvPr/>
            </p:nvSpPr>
            <p:spPr bwMode="auto">
              <a:xfrm flipH="1">
                <a:off x="1065474" y="1132165"/>
                <a:ext cx="233612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" name="Line 2844"/>
              <p:cNvSpPr>
                <a:spLocks noChangeShapeType="1"/>
              </p:cNvSpPr>
              <p:nvPr/>
            </p:nvSpPr>
            <p:spPr bwMode="auto">
              <a:xfrm>
                <a:off x="5687597" y="1741765"/>
                <a:ext cx="226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1" name="Line 2848"/>
              <p:cNvSpPr>
                <a:spLocks noChangeShapeType="1"/>
              </p:cNvSpPr>
              <p:nvPr/>
            </p:nvSpPr>
            <p:spPr bwMode="auto">
              <a:xfrm>
                <a:off x="1044160" y="3711852"/>
                <a:ext cx="6934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2" name="Line 2858"/>
              <p:cNvSpPr>
                <a:spLocks noChangeShapeType="1"/>
              </p:cNvSpPr>
              <p:nvPr/>
            </p:nvSpPr>
            <p:spPr bwMode="auto">
              <a:xfrm>
                <a:off x="5595523" y="1100415"/>
                <a:ext cx="1676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3" name="Text Box 2861"/>
              <p:cNvSpPr txBox="1">
                <a:spLocks noChangeArrowheads="1"/>
              </p:cNvSpPr>
              <p:nvPr/>
            </p:nvSpPr>
            <p:spPr bwMode="auto">
              <a:xfrm>
                <a:off x="838293" y="1522690"/>
                <a:ext cx="33214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 dirty="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384" name="Text Box 2862"/>
              <p:cNvSpPr txBox="1">
                <a:spLocks noChangeArrowheads="1"/>
              </p:cNvSpPr>
              <p:nvPr/>
            </p:nvSpPr>
            <p:spPr bwMode="auto">
              <a:xfrm>
                <a:off x="3385723" y="1646515"/>
                <a:ext cx="32092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385" name="Text Box 2863"/>
              <p:cNvSpPr txBox="1">
                <a:spLocks noChangeArrowheads="1"/>
              </p:cNvSpPr>
              <p:nvPr/>
            </p:nvSpPr>
            <p:spPr bwMode="auto">
              <a:xfrm>
                <a:off x="3266660" y="1971952"/>
                <a:ext cx="33214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386" name="Text Box 2864"/>
              <p:cNvSpPr txBox="1">
                <a:spLocks noChangeArrowheads="1"/>
              </p:cNvSpPr>
              <p:nvPr/>
            </p:nvSpPr>
            <p:spPr bwMode="auto">
              <a:xfrm>
                <a:off x="5546310" y="1965602"/>
                <a:ext cx="33214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387" name="Text Box 2865"/>
              <p:cNvSpPr txBox="1">
                <a:spLocks noChangeArrowheads="1"/>
              </p:cNvSpPr>
              <p:nvPr/>
            </p:nvSpPr>
            <p:spPr bwMode="auto">
              <a:xfrm>
                <a:off x="5401848" y="1648102"/>
                <a:ext cx="32092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E</a:t>
                </a:r>
              </a:p>
            </p:txBody>
          </p:sp>
          <p:sp>
            <p:nvSpPr>
              <p:cNvPr id="388" name="Line 2867"/>
              <p:cNvSpPr>
                <a:spLocks noChangeShapeType="1"/>
              </p:cNvSpPr>
              <p:nvPr/>
            </p:nvSpPr>
            <p:spPr bwMode="auto">
              <a:xfrm>
                <a:off x="6138448" y="1094065"/>
                <a:ext cx="0" cy="6413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" name="Line 2868"/>
              <p:cNvSpPr>
                <a:spLocks noChangeShapeType="1"/>
              </p:cNvSpPr>
              <p:nvPr/>
            </p:nvSpPr>
            <p:spPr bwMode="auto">
              <a:xfrm>
                <a:off x="6944898" y="1506815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0" name="Text Box 2869"/>
              <p:cNvSpPr txBox="1">
                <a:spLocks noChangeArrowheads="1"/>
              </p:cNvSpPr>
              <p:nvPr/>
            </p:nvSpPr>
            <p:spPr bwMode="auto">
              <a:xfrm>
                <a:off x="6127335" y="1154390"/>
                <a:ext cx="774700" cy="3520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Times New Roman" pitchFamily="18" charset="0"/>
                    <a:sym typeface="Symbol" pitchFamily="18" charset="2"/>
                  </a:rPr>
                  <a:t></a:t>
                </a:r>
                <a:r>
                  <a:rPr lang="en-US" altLang="zh-CN" sz="1600" b="1" i="1" dirty="0">
                    <a:latin typeface="Times New Roman" pitchFamily="18" charset="0"/>
                  </a:rPr>
                  <a:t>H</a:t>
                </a:r>
                <a:r>
                  <a:rPr lang="en-US" altLang="zh-CN" sz="1600" b="1" dirty="0">
                    <a:latin typeface="Times New Roman" pitchFamily="18" charset="0"/>
                  </a:rPr>
                  <a:t>=5m</a:t>
                </a:r>
                <a:endParaRPr lang="el-GR" altLang="zh-CN" sz="1600" b="1" dirty="0">
                  <a:latin typeface="Times New Roman" pitchFamily="18" charset="0"/>
                </a:endParaRPr>
              </a:p>
            </p:txBody>
          </p:sp>
          <p:sp>
            <p:nvSpPr>
              <p:cNvPr id="391" name="Text Box 2870"/>
              <p:cNvSpPr txBox="1">
                <a:spLocks noChangeArrowheads="1"/>
              </p:cNvSpPr>
              <p:nvPr/>
            </p:nvSpPr>
            <p:spPr bwMode="auto">
              <a:xfrm>
                <a:off x="6941723" y="1389340"/>
                <a:ext cx="374650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algn="ctr"/>
                <a:r>
                  <a:rPr lang="en-US" altLang="zh-CN" sz="1600" b="1">
                    <a:latin typeface="Times New Roman" pitchFamily="18" charset="0"/>
                    <a:sym typeface="Symbol" pitchFamily="18" charset="2"/>
                  </a:rPr>
                  <a:t>1</a:t>
                </a:r>
                <a:r>
                  <a:rPr lang="en-US" altLang="zh-CN" sz="1600" b="1">
                    <a:latin typeface="Times New Roman" pitchFamily="18" charset="0"/>
                  </a:rPr>
                  <a:t>m</a:t>
                </a:r>
                <a:endParaRPr lang="el-GR" altLang="zh-CN" sz="1600" b="1">
                  <a:latin typeface="Times New Roman" pitchFamily="18" charset="0"/>
                </a:endParaRPr>
              </a:p>
            </p:txBody>
          </p:sp>
          <p:sp>
            <p:nvSpPr>
              <p:cNvPr id="392" name="Text Box 2874"/>
              <p:cNvSpPr txBox="1">
                <a:spLocks noChangeArrowheads="1"/>
              </p:cNvSpPr>
              <p:nvPr/>
            </p:nvSpPr>
            <p:spPr bwMode="auto">
              <a:xfrm>
                <a:off x="8003700" y="1631625"/>
                <a:ext cx="309700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 dirty="0">
                    <a:latin typeface="Times New Roman" pitchFamily="18" charset="0"/>
                  </a:rPr>
                  <a:t>F</a:t>
                </a:r>
              </a:p>
            </p:txBody>
          </p:sp>
          <p:sp>
            <p:nvSpPr>
              <p:cNvPr id="393" name="AutoShape 2875"/>
              <p:cNvSpPr>
                <a:spLocks noChangeArrowheads="1"/>
              </p:cNvSpPr>
              <p:nvPr/>
            </p:nvSpPr>
            <p:spPr bwMode="auto">
              <a:xfrm flipV="1">
                <a:off x="6584535" y="1624290"/>
                <a:ext cx="136525" cy="117475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4" name="Line 2876"/>
              <p:cNvSpPr>
                <a:spLocks noChangeShapeType="1"/>
              </p:cNvSpPr>
              <p:nvPr/>
            </p:nvSpPr>
            <p:spPr bwMode="auto">
              <a:xfrm>
                <a:off x="6521035" y="1778277"/>
                <a:ext cx="11906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5" name="Line 2877"/>
              <p:cNvSpPr>
                <a:spLocks noChangeShapeType="1"/>
              </p:cNvSpPr>
              <p:nvPr/>
            </p:nvSpPr>
            <p:spPr bwMode="auto">
              <a:xfrm>
                <a:off x="6682960" y="1778277"/>
                <a:ext cx="11906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6" name="Line 2878"/>
              <p:cNvSpPr>
                <a:spLocks noChangeShapeType="1"/>
              </p:cNvSpPr>
              <p:nvPr/>
            </p:nvSpPr>
            <p:spPr bwMode="auto">
              <a:xfrm>
                <a:off x="6592473" y="1813202"/>
                <a:ext cx="16986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7" name="Text Box 2879"/>
              <p:cNvSpPr txBox="1">
                <a:spLocks noChangeArrowheads="1"/>
              </p:cNvSpPr>
              <p:nvPr/>
            </p:nvSpPr>
            <p:spPr bwMode="auto">
              <a:xfrm>
                <a:off x="1031460" y="3381652"/>
                <a:ext cx="344966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G</a:t>
                </a:r>
              </a:p>
            </p:txBody>
          </p:sp>
          <p:sp>
            <p:nvSpPr>
              <p:cNvPr id="398" name="Text Box 2880"/>
              <p:cNvSpPr txBox="1">
                <a:spLocks noChangeArrowheads="1"/>
              </p:cNvSpPr>
              <p:nvPr/>
            </p:nvSpPr>
            <p:spPr bwMode="auto">
              <a:xfrm>
                <a:off x="7652923" y="3381652"/>
                <a:ext cx="344966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1600" b="1">
                    <a:latin typeface="Times New Roman" pitchFamily="18" charset="0"/>
                  </a:rPr>
                  <a:t>H</a:t>
                </a:r>
              </a:p>
            </p:txBody>
          </p:sp>
          <p:sp>
            <p:nvSpPr>
              <p:cNvPr id="399" name="Text Box 2881"/>
              <p:cNvSpPr txBox="1">
                <a:spLocks noChangeArrowheads="1"/>
              </p:cNvSpPr>
              <p:nvPr/>
            </p:nvSpPr>
            <p:spPr bwMode="auto">
              <a:xfrm>
                <a:off x="8071527" y="3591202"/>
                <a:ext cx="102592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>
                <a:spAutoFit/>
              </a:bodyPr>
              <a:lstStyle/>
              <a:p>
                <a:pPr algn="ctr"/>
                <a:r>
                  <a:rPr lang="en-US" altLang="zh-CN" sz="1600" b="1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400" name="Line 2882"/>
              <p:cNvSpPr>
                <a:spLocks noChangeShapeType="1"/>
              </p:cNvSpPr>
              <p:nvPr/>
            </p:nvSpPr>
            <p:spPr bwMode="auto">
              <a:xfrm flipV="1">
                <a:off x="6954423" y="1854477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1" name="Text Box 2883"/>
              <p:cNvSpPr txBox="1">
                <a:spLocks noChangeArrowheads="1"/>
              </p:cNvSpPr>
              <p:nvPr/>
            </p:nvSpPr>
            <p:spPr bwMode="auto">
              <a:xfrm>
                <a:off x="5162135" y="3999863"/>
                <a:ext cx="1011815" cy="350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zh-CN" altLang="en-US" sz="1600" b="1" dirty="0">
                    <a:latin typeface="Times New Roman" pitchFamily="18" charset="0"/>
                  </a:rPr>
                  <a:t>不透水层</a:t>
                </a:r>
              </a:p>
            </p:txBody>
          </p:sp>
          <p:grpSp>
            <p:nvGrpSpPr>
              <p:cNvPr id="402" name="Group 2909"/>
              <p:cNvGrpSpPr>
                <a:grpSpLocks/>
              </p:cNvGrpSpPr>
              <p:nvPr/>
            </p:nvGrpSpPr>
            <p:grpSpPr bwMode="auto">
              <a:xfrm>
                <a:off x="7211598" y="3710265"/>
                <a:ext cx="625475" cy="133350"/>
                <a:chOff x="2644" y="2807"/>
                <a:chExt cx="481" cy="83"/>
              </a:xfrm>
            </p:grpSpPr>
            <p:sp>
              <p:nvSpPr>
                <p:cNvPr id="423" name="Freeform 2910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4" name="Freeform 2911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5" name="Freeform 2912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6" name="Freeform 2913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7" name="Freeform 2914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8" name="Freeform 2915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9" name="Freeform 2916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0" name="Freeform 2917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1" name="Freeform 2918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2" name="Freeform 2919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3" name="Freeform 2920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4" name="Freeform 2921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3" name="Group 2922"/>
              <p:cNvGrpSpPr>
                <a:grpSpLocks/>
              </p:cNvGrpSpPr>
              <p:nvPr/>
            </p:nvGrpSpPr>
            <p:grpSpPr bwMode="auto">
              <a:xfrm>
                <a:off x="2137948" y="3710265"/>
                <a:ext cx="625475" cy="133350"/>
                <a:chOff x="2644" y="2807"/>
                <a:chExt cx="481" cy="83"/>
              </a:xfrm>
            </p:grpSpPr>
            <p:sp>
              <p:nvSpPr>
                <p:cNvPr id="411" name="Freeform 2923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2" name="Freeform 2924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3" name="Freeform 2925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4" name="Freeform 2926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5" name="Freeform 2927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6" name="Freeform 2928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7" name="Freeform 2929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8" name="Freeform 2930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9" name="Freeform 2931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0" name="Freeform 2932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1" name="Freeform 2933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2" name="Freeform 2934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04" name="Line 2866"/>
              <p:cNvSpPr>
                <a:spLocks noChangeShapeType="1"/>
              </p:cNvSpPr>
              <p:nvPr/>
            </p:nvSpPr>
            <p:spPr bwMode="auto">
              <a:xfrm>
                <a:off x="447840" y="1136927"/>
                <a:ext cx="0" cy="7159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405" name="Text Box 2873"/>
              <p:cNvSpPr txBox="1">
                <a:spLocks noChangeArrowheads="1"/>
              </p:cNvSpPr>
              <p:nvPr/>
            </p:nvSpPr>
            <p:spPr bwMode="auto">
              <a:xfrm>
                <a:off x="435194" y="1268690"/>
                <a:ext cx="469900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Times New Roman" pitchFamily="18" charset="0"/>
                  </a:rPr>
                  <a:t>6m</a:t>
                </a:r>
                <a:endParaRPr lang="el-GR" altLang="zh-CN" sz="1600" b="1" dirty="0">
                  <a:latin typeface="Times New Roman" pitchFamily="18" charset="0"/>
                </a:endParaRPr>
              </a:p>
            </p:txBody>
          </p:sp>
          <p:cxnSp>
            <p:nvCxnSpPr>
              <p:cNvPr id="406" name="直接连接符 405"/>
              <p:cNvCxnSpPr/>
              <p:nvPr/>
            </p:nvCxnSpPr>
            <p:spPr bwMode="auto">
              <a:xfrm>
                <a:off x="312026" y="1129085"/>
                <a:ext cx="437323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7" name="直接连接符 406"/>
              <p:cNvCxnSpPr/>
              <p:nvPr/>
            </p:nvCxnSpPr>
            <p:spPr bwMode="auto">
              <a:xfrm>
                <a:off x="313351" y="1853979"/>
                <a:ext cx="437323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8" name="直接连接符 407"/>
              <p:cNvCxnSpPr/>
              <p:nvPr/>
            </p:nvCxnSpPr>
            <p:spPr bwMode="auto">
              <a:xfrm>
                <a:off x="328613" y="3699376"/>
                <a:ext cx="437323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09" name="Line 2866"/>
              <p:cNvSpPr>
                <a:spLocks noChangeShapeType="1"/>
              </p:cNvSpPr>
              <p:nvPr/>
            </p:nvSpPr>
            <p:spPr bwMode="auto">
              <a:xfrm>
                <a:off x="455385" y="1859695"/>
                <a:ext cx="0" cy="1834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410" name="Text Box 2873"/>
              <p:cNvSpPr txBox="1">
                <a:spLocks noChangeArrowheads="1"/>
              </p:cNvSpPr>
              <p:nvPr/>
            </p:nvSpPr>
            <p:spPr bwMode="auto">
              <a:xfrm>
                <a:off x="474663" y="2583140"/>
                <a:ext cx="469900" cy="3527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algn="ctr"/>
                <a:r>
                  <a:rPr lang="en-US" altLang="zh-CN" sz="1600" b="1" dirty="0" smtClean="0">
                    <a:latin typeface="Times New Roman" pitchFamily="18" charset="0"/>
                  </a:rPr>
                  <a:t>16m</a:t>
                </a:r>
                <a:endParaRPr lang="el-GR" altLang="zh-CN" sz="1600" b="1" dirty="0">
                  <a:latin typeface="Times New Roman" pitchFamily="18" charset="0"/>
                </a:endParaRPr>
              </a:p>
            </p:txBody>
          </p:sp>
        </p:grpSp>
        <p:sp>
          <p:nvSpPr>
            <p:cNvPr id="343" name="Text Box 2839"/>
            <p:cNvSpPr txBox="1">
              <a:spLocks noChangeArrowheads="1"/>
            </p:cNvSpPr>
            <p:nvPr/>
          </p:nvSpPr>
          <p:spPr bwMode="auto">
            <a:xfrm>
              <a:off x="802860" y="3573740"/>
              <a:ext cx="101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44" name="Text Box 2862"/>
            <p:cNvSpPr txBox="1">
              <a:spLocks noChangeArrowheads="1"/>
            </p:cNvSpPr>
            <p:nvPr/>
          </p:nvSpPr>
          <p:spPr bwMode="auto">
            <a:xfrm>
              <a:off x="3385723" y="1646515"/>
              <a:ext cx="3190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45" name="Text Box 2863"/>
            <p:cNvSpPr txBox="1">
              <a:spLocks noChangeArrowheads="1"/>
            </p:cNvSpPr>
            <p:nvPr/>
          </p:nvSpPr>
          <p:spPr bwMode="auto">
            <a:xfrm>
              <a:off x="3266660" y="1971952"/>
              <a:ext cx="3190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346" name="Text Box 2864"/>
            <p:cNvSpPr txBox="1">
              <a:spLocks noChangeArrowheads="1"/>
            </p:cNvSpPr>
            <p:nvPr/>
          </p:nvSpPr>
          <p:spPr bwMode="auto">
            <a:xfrm>
              <a:off x="5546310" y="196560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47" name="Text Box 2865"/>
            <p:cNvSpPr txBox="1">
              <a:spLocks noChangeArrowheads="1"/>
            </p:cNvSpPr>
            <p:nvPr/>
          </p:nvSpPr>
          <p:spPr bwMode="auto">
            <a:xfrm>
              <a:off x="5401848" y="1648102"/>
              <a:ext cx="3079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348" name="Text Box 2874"/>
            <p:cNvSpPr txBox="1">
              <a:spLocks noChangeArrowheads="1"/>
            </p:cNvSpPr>
            <p:nvPr/>
          </p:nvSpPr>
          <p:spPr bwMode="auto">
            <a:xfrm>
              <a:off x="7928447" y="1498517"/>
              <a:ext cx="2968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dirty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49" name="Text Box 2879"/>
            <p:cNvSpPr txBox="1">
              <a:spLocks noChangeArrowheads="1"/>
            </p:cNvSpPr>
            <p:nvPr/>
          </p:nvSpPr>
          <p:spPr bwMode="auto">
            <a:xfrm>
              <a:off x="1031460" y="338165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350" name="Text Box 2880"/>
            <p:cNvSpPr txBox="1">
              <a:spLocks noChangeArrowheads="1"/>
            </p:cNvSpPr>
            <p:nvPr/>
          </p:nvSpPr>
          <p:spPr bwMode="auto">
            <a:xfrm>
              <a:off x="7652923" y="338165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351" name="Text Box 2881"/>
            <p:cNvSpPr txBox="1">
              <a:spLocks noChangeArrowheads="1"/>
            </p:cNvSpPr>
            <p:nvPr/>
          </p:nvSpPr>
          <p:spPr bwMode="auto">
            <a:xfrm>
              <a:off x="8072023" y="3591202"/>
              <a:ext cx="101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52" name="Text Box 2884"/>
            <p:cNvSpPr txBox="1">
              <a:spLocks noChangeArrowheads="1"/>
            </p:cNvSpPr>
            <p:nvPr/>
          </p:nvSpPr>
          <p:spPr bwMode="auto">
            <a:xfrm>
              <a:off x="3095649" y="1461008"/>
              <a:ext cx="436338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sym typeface="Wingdings" pitchFamily="2" charset="2"/>
                </a:rPr>
                <a:t></a:t>
              </a:r>
            </a:p>
          </p:txBody>
        </p:sp>
        <p:grpSp>
          <p:nvGrpSpPr>
            <p:cNvPr id="353" name="组合 352"/>
            <p:cNvGrpSpPr/>
            <p:nvPr/>
          </p:nvGrpSpPr>
          <p:grpSpPr>
            <a:xfrm>
              <a:off x="2857744" y="1462595"/>
              <a:ext cx="3104491" cy="944332"/>
              <a:chOff x="2857744" y="1462595"/>
              <a:chExt cx="3104491" cy="944332"/>
            </a:xfrm>
          </p:grpSpPr>
          <p:sp>
            <p:nvSpPr>
              <p:cNvPr id="364" name="Freeform 2845"/>
              <p:cNvSpPr>
                <a:spLocks/>
              </p:cNvSpPr>
              <p:nvPr/>
            </p:nvSpPr>
            <p:spPr bwMode="auto">
              <a:xfrm>
                <a:off x="3117435" y="1849715"/>
                <a:ext cx="2844800" cy="557212"/>
              </a:xfrm>
              <a:custGeom>
                <a:avLst/>
                <a:gdLst>
                  <a:gd name="T0" fmla="*/ 0 w 1792"/>
                  <a:gd name="T1" fmla="*/ 1 h 351"/>
                  <a:gd name="T2" fmla="*/ 24 w 1792"/>
                  <a:gd name="T3" fmla="*/ 118 h 351"/>
                  <a:gd name="T4" fmla="*/ 99 w 1792"/>
                  <a:gd name="T5" fmla="*/ 225 h 351"/>
                  <a:gd name="T6" fmla="*/ 255 w 1792"/>
                  <a:gd name="T7" fmla="*/ 310 h 351"/>
                  <a:gd name="T8" fmla="*/ 445 w 1792"/>
                  <a:gd name="T9" fmla="*/ 341 h 351"/>
                  <a:gd name="T10" fmla="*/ 643 w 1792"/>
                  <a:gd name="T11" fmla="*/ 349 h 351"/>
                  <a:gd name="T12" fmla="*/ 913 w 1792"/>
                  <a:gd name="T13" fmla="*/ 349 h 351"/>
                  <a:gd name="T14" fmla="*/ 1255 w 1792"/>
                  <a:gd name="T15" fmla="*/ 336 h 351"/>
                  <a:gd name="T16" fmla="*/ 1525 w 1792"/>
                  <a:gd name="T17" fmla="*/ 305 h 351"/>
                  <a:gd name="T18" fmla="*/ 1678 w 1792"/>
                  <a:gd name="T19" fmla="*/ 234 h 351"/>
                  <a:gd name="T20" fmla="*/ 1760 w 1792"/>
                  <a:gd name="T21" fmla="*/ 133 h 351"/>
                  <a:gd name="T22" fmla="*/ 1792 w 1792"/>
                  <a:gd name="T23" fmla="*/ 0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92" h="351">
                    <a:moveTo>
                      <a:pt x="0" y="1"/>
                    </a:moveTo>
                    <a:cubicBezTo>
                      <a:pt x="4" y="20"/>
                      <a:pt x="8" y="81"/>
                      <a:pt x="24" y="118"/>
                    </a:cubicBezTo>
                    <a:cubicBezTo>
                      <a:pt x="40" y="155"/>
                      <a:pt x="60" y="193"/>
                      <a:pt x="99" y="225"/>
                    </a:cubicBezTo>
                    <a:cubicBezTo>
                      <a:pt x="138" y="257"/>
                      <a:pt x="197" y="291"/>
                      <a:pt x="255" y="310"/>
                    </a:cubicBezTo>
                    <a:cubicBezTo>
                      <a:pt x="312" y="330"/>
                      <a:pt x="380" y="335"/>
                      <a:pt x="445" y="341"/>
                    </a:cubicBezTo>
                    <a:cubicBezTo>
                      <a:pt x="509" y="347"/>
                      <a:pt x="565" y="348"/>
                      <a:pt x="643" y="349"/>
                    </a:cubicBezTo>
                    <a:cubicBezTo>
                      <a:pt x="721" y="350"/>
                      <a:pt x="811" y="351"/>
                      <a:pt x="913" y="349"/>
                    </a:cubicBezTo>
                    <a:cubicBezTo>
                      <a:pt x="1015" y="347"/>
                      <a:pt x="1153" y="343"/>
                      <a:pt x="1255" y="336"/>
                    </a:cubicBezTo>
                    <a:cubicBezTo>
                      <a:pt x="1357" y="328"/>
                      <a:pt x="1455" y="321"/>
                      <a:pt x="1525" y="305"/>
                    </a:cubicBezTo>
                    <a:cubicBezTo>
                      <a:pt x="1595" y="289"/>
                      <a:pt x="1638" y="263"/>
                      <a:pt x="1678" y="234"/>
                    </a:cubicBezTo>
                    <a:cubicBezTo>
                      <a:pt x="1717" y="206"/>
                      <a:pt x="1740" y="172"/>
                      <a:pt x="1760" y="133"/>
                    </a:cubicBezTo>
                    <a:cubicBezTo>
                      <a:pt x="1779" y="94"/>
                      <a:pt x="1785" y="28"/>
                      <a:pt x="1792" y="0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" name="Text Box 2885"/>
              <p:cNvSpPr txBox="1">
                <a:spLocks noChangeArrowheads="1"/>
              </p:cNvSpPr>
              <p:nvPr/>
            </p:nvSpPr>
            <p:spPr bwMode="auto">
              <a:xfrm>
                <a:off x="2857744" y="1462595"/>
                <a:ext cx="436338" cy="4816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2200" dirty="0">
                    <a:sym typeface="Wingdings" pitchFamily="2" charset="2"/>
                  </a:rPr>
                  <a:t></a:t>
                </a:r>
              </a:p>
            </p:txBody>
          </p:sp>
        </p:grpSp>
        <p:grpSp>
          <p:nvGrpSpPr>
            <p:cNvPr id="354" name="组合 353"/>
            <p:cNvGrpSpPr/>
            <p:nvPr/>
          </p:nvGrpSpPr>
          <p:grpSpPr>
            <a:xfrm>
              <a:off x="1309273" y="1441958"/>
              <a:ext cx="6089650" cy="1809519"/>
              <a:chOff x="1309273" y="1441958"/>
              <a:chExt cx="6089650" cy="1809519"/>
            </a:xfrm>
          </p:grpSpPr>
          <p:sp>
            <p:nvSpPr>
              <p:cNvPr id="362" name="Freeform 2847"/>
              <p:cNvSpPr>
                <a:spLocks/>
              </p:cNvSpPr>
              <p:nvPr/>
            </p:nvSpPr>
            <p:spPr bwMode="auto">
              <a:xfrm>
                <a:off x="1542635" y="1843365"/>
                <a:ext cx="5856288" cy="1408112"/>
              </a:xfrm>
              <a:custGeom>
                <a:avLst/>
                <a:gdLst>
                  <a:gd name="T0" fmla="*/ 0 w 3689"/>
                  <a:gd name="T1" fmla="*/ 6 h 887"/>
                  <a:gd name="T2" fmla="*/ 35 w 3689"/>
                  <a:gd name="T3" fmla="*/ 166 h 887"/>
                  <a:gd name="T4" fmla="*/ 131 w 3689"/>
                  <a:gd name="T5" fmla="*/ 374 h 887"/>
                  <a:gd name="T6" fmla="*/ 294 w 3689"/>
                  <a:gd name="T7" fmla="*/ 560 h 887"/>
                  <a:gd name="T8" fmla="*/ 537 w 3689"/>
                  <a:gd name="T9" fmla="*/ 707 h 887"/>
                  <a:gd name="T10" fmla="*/ 899 w 3689"/>
                  <a:gd name="T11" fmla="*/ 803 h 887"/>
                  <a:gd name="T12" fmla="*/ 1232 w 3689"/>
                  <a:gd name="T13" fmla="*/ 860 h 887"/>
                  <a:gd name="T14" fmla="*/ 1660 w 3689"/>
                  <a:gd name="T15" fmla="*/ 880 h 887"/>
                  <a:gd name="T16" fmla="*/ 2144 w 3689"/>
                  <a:gd name="T17" fmla="*/ 880 h 887"/>
                  <a:gd name="T18" fmla="*/ 2592 w 3689"/>
                  <a:gd name="T19" fmla="*/ 838 h 887"/>
                  <a:gd name="T20" fmla="*/ 3011 w 3689"/>
                  <a:gd name="T21" fmla="*/ 739 h 887"/>
                  <a:gd name="T22" fmla="*/ 3328 w 3689"/>
                  <a:gd name="T23" fmla="*/ 593 h 887"/>
                  <a:gd name="T24" fmla="*/ 3528 w 3689"/>
                  <a:gd name="T25" fmla="*/ 420 h 887"/>
                  <a:gd name="T26" fmla="*/ 3654 w 3689"/>
                  <a:gd name="T27" fmla="*/ 188 h 887"/>
                  <a:gd name="T28" fmla="*/ 3689 w 3689"/>
                  <a:gd name="T29" fmla="*/ 0 h 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89" h="887">
                    <a:moveTo>
                      <a:pt x="0" y="6"/>
                    </a:moveTo>
                    <a:cubicBezTo>
                      <a:pt x="5" y="33"/>
                      <a:pt x="13" y="105"/>
                      <a:pt x="35" y="166"/>
                    </a:cubicBezTo>
                    <a:cubicBezTo>
                      <a:pt x="57" y="227"/>
                      <a:pt x="88" y="308"/>
                      <a:pt x="131" y="374"/>
                    </a:cubicBezTo>
                    <a:cubicBezTo>
                      <a:pt x="174" y="440"/>
                      <a:pt x="226" y="504"/>
                      <a:pt x="294" y="560"/>
                    </a:cubicBezTo>
                    <a:cubicBezTo>
                      <a:pt x="362" y="616"/>
                      <a:pt x="436" y="667"/>
                      <a:pt x="537" y="707"/>
                    </a:cubicBezTo>
                    <a:cubicBezTo>
                      <a:pt x="638" y="747"/>
                      <a:pt x="783" y="778"/>
                      <a:pt x="899" y="803"/>
                    </a:cubicBezTo>
                    <a:cubicBezTo>
                      <a:pt x="1015" y="828"/>
                      <a:pt x="1105" y="847"/>
                      <a:pt x="1232" y="860"/>
                    </a:cubicBezTo>
                    <a:cubicBezTo>
                      <a:pt x="1359" y="873"/>
                      <a:pt x="1508" y="877"/>
                      <a:pt x="1660" y="880"/>
                    </a:cubicBezTo>
                    <a:cubicBezTo>
                      <a:pt x="1812" y="883"/>
                      <a:pt x="1989" y="887"/>
                      <a:pt x="2144" y="880"/>
                    </a:cubicBezTo>
                    <a:cubicBezTo>
                      <a:pt x="2299" y="873"/>
                      <a:pt x="2448" y="861"/>
                      <a:pt x="2592" y="838"/>
                    </a:cubicBezTo>
                    <a:cubicBezTo>
                      <a:pt x="2736" y="815"/>
                      <a:pt x="2888" y="780"/>
                      <a:pt x="3011" y="739"/>
                    </a:cubicBezTo>
                    <a:cubicBezTo>
                      <a:pt x="3134" y="698"/>
                      <a:pt x="3242" y="646"/>
                      <a:pt x="3328" y="593"/>
                    </a:cubicBezTo>
                    <a:cubicBezTo>
                      <a:pt x="3414" y="540"/>
                      <a:pt x="3474" y="487"/>
                      <a:pt x="3528" y="420"/>
                    </a:cubicBezTo>
                    <a:cubicBezTo>
                      <a:pt x="3582" y="353"/>
                      <a:pt x="3627" y="258"/>
                      <a:pt x="3654" y="188"/>
                    </a:cubicBezTo>
                    <a:cubicBezTo>
                      <a:pt x="3681" y="118"/>
                      <a:pt x="3682" y="39"/>
                      <a:pt x="3689" y="0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" name="Text Box 2886"/>
              <p:cNvSpPr txBox="1">
                <a:spLocks noChangeArrowheads="1"/>
              </p:cNvSpPr>
              <p:nvPr/>
            </p:nvSpPr>
            <p:spPr bwMode="auto">
              <a:xfrm>
                <a:off x="1309273" y="1441958"/>
                <a:ext cx="436338" cy="4816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2200" dirty="0">
                    <a:sym typeface="Wingdings" pitchFamily="2" charset="2"/>
                  </a:rPr>
                  <a:t></a:t>
                </a:r>
              </a:p>
            </p:txBody>
          </p:sp>
        </p:grpSp>
        <p:grpSp>
          <p:nvGrpSpPr>
            <p:cNvPr id="355" name="组合 354"/>
            <p:cNvGrpSpPr/>
            <p:nvPr/>
          </p:nvGrpSpPr>
          <p:grpSpPr>
            <a:xfrm>
              <a:off x="2396710" y="1453070"/>
              <a:ext cx="4062413" cy="1377720"/>
              <a:chOff x="2396710" y="1453070"/>
              <a:chExt cx="4062413" cy="1377720"/>
            </a:xfrm>
          </p:grpSpPr>
          <p:sp>
            <p:nvSpPr>
              <p:cNvPr id="360" name="Freeform 2846"/>
              <p:cNvSpPr>
                <a:spLocks/>
              </p:cNvSpPr>
              <p:nvPr/>
            </p:nvSpPr>
            <p:spPr bwMode="auto">
              <a:xfrm>
                <a:off x="2607848" y="1852890"/>
                <a:ext cx="3851275" cy="977900"/>
              </a:xfrm>
              <a:custGeom>
                <a:avLst/>
                <a:gdLst>
                  <a:gd name="T0" fmla="*/ 0 w 2409"/>
                  <a:gd name="T1" fmla="*/ 2 h 606"/>
                  <a:gd name="T2" fmla="*/ 32 w 2409"/>
                  <a:gd name="T3" fmla="*/ 166 h 606"/>
                  <a:gd name="T4" fmla="*/ 112 w 2409"/>
                  <a:gd name="T5" fmla="*/ 307 h 606"/>
                  <a:gd name="T6" fmla="*/ 275 w 2409"/>
                  <a:gd name="T7" fmla="*/ 448 h 606"/>
                  <a:gd name="T8" fmla="*/ 502 w 2409"/>
                  <a:gd name="T9" fmla="*/ 541 h 606"/>
                  <a:gd name="T10" fmla="*/ 870 w 2409"/>
                  <a:gd name="T11" fmla="*/ 595 h 606"/>
                  <a:gd name="T12" fmla="*/ 1228 w 2409"/>
                  <a:gd name="T13" fmla="*/ 605 h 606"/>
                  <a:gd name="T14" fmla="*/ 1542 w 2409"/>
                  <a:gd name="T15" fmla="*/ 589 h 606"/>
                  <a:gd name="T16" fmla="*/ 1830 w 2409"/>
                  <a:gd name="T17" fmla="*/ 538 h 606"/>
                  <a:gd name="T18" fmla="*/ 2081 w 2409"/>
                  <a:gd name="T19" fmla="*/ 437 h 606"/>
                  <a:gd name="T20" fmla="*/ 2267 w 2409"/>
                  <a:gd name="T21" fmla="*/ 290 h 606"/>
                  <a:gd name="T22" fmla="*/ 2368 w 2409"/>
                  <a:gd name="T23" fmla="*/ 150 h 606"/>
                  <a:gd name="T24" fmla="*/ 2409 w 2409"/>
                  <a:gd name="T25" fmla="*/ 0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09" h="606">
                    <a:moveTo>
                      <a:pt x="0" y="2"/>
                    </a:moveTo>
                    <a:cubicBezTo>
                      <a:pt x="5" y="29"/>
                      <a:pt x="13" y="115"/>
                      <a:pt x="32" y="166"/>
                    </a:cubicBezTo>
                    <a:cubicBezTo>
                      <a:pt x="51" y="217"/>
                      <a:pt x="72" y="260"/>
                      <a:pt x="112" y="307"/>
                    </a:cubicBezTo>
                    <a:cubicBezTo>
                      <a:pt x="152" y="354"/>
                      <a:pt x="210" y="409"/>
                      <a:pt x="275" y="448"/>
                    </a:cubicBezTo>
                    <a:cubicBezTo>
                      <a:pt x="340" y="487"/>
                      <a:pt x="403" y="517"/>
                      <a:pt x="502" y="541"/>
                    </a:cubicBezTo>
                    <a:cubicBezTo>
                      <a:pt x="601" y="565"/>
                      <a:pt x="749" y="584"/>
                      <a:pt x="870" y="595"/>
                    </a:cubicBezTo>
                    <a:cubicBezTo>
                      <a:pt x="991" y="606"/>
                      <a:pt x="1116" y="606"/>
                      <a:pt x="1228" y="605"/>
                    </a:cubicBezTo>
                    <a:cubicBezTo>
                      <a:pt x="1340" y="604"/>
                      <a:pt x="1442" y="600"/>
                      <a:pt x="1542" y="589"/>
                    </a:cubicBezTo>
                    <a:cubicBezTo>
                      <a:pt x="1642" y="578"/>
                      <a:pt x="1740" y="563"/>
                      <a:pt x="1830" y="538"/>
                    </a:cubicBezTo>
                    <a:cubicBezTo>
                      <a:pt x="1920" y="513"/>
                      <a:pt x="2008" y="478"/>
                      <a:pt x="2081" y="437"/>
                    </a:cubicBezTo>
                    <a:cubicBezTo>
                      <a:pt x="2154" y="396"/>
                      <a:pt x="2219" y="338"/>
                      <a:pt x="2267" y="290"/>
                    </a:cubicBezTo>
                    <a:cubicBezTo>
                      <a:pt x="2315" y="242"/>
                      <a:pt x="2344" y="198"/>
                      <a:pt x="2368" y="150"/>
                    </a:cubicBezTo>
                    <a:cubicBezTo>
                      <a:pt x="2392" y="102"/>
                      <a:pt x="2401" y="51"/>
                      <a:pt x="2409" y="0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1" name="Text Box 2887"/>
              <p:cNvSpPr txBox="1">
                <a:spLocks noChangeArrowheads="1"/>
              </p:cNvSpPr>
              <p:nvPr/>
            </p:nvSpPr>
            <p:spPr bwMode="auto">
              <a:xfrm>
                <a:off x="2396710" y="1453070"/>
                <a:ext cx="436338" cy="4816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defTabSz="1101725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defTabSz="11017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en-US" altLang="zh-CN" sz="2200" dirty="0">
                    <a:sym typeface="Wingdings" pitchFamily="2" charset="2"/>
                  </a:rPr>
                  <a:t></a:t>
                </a:r>
              </a:p>
            </p:txBody>
          </p:sp>
        </p:grpSp>
        <p:sp>
          <p:nvSpPr>
            <p:cNvPr id="356" name="Text Box 2888"/>
            <p:cNvSpPr txBox="1">
              <a:spLocks noChangeArrowheads="1"/>
            </p:cNvSpPr>
            <p:nvPr/>
          </p:nvSpPr>
          <p:spPr bwMode="auto">
            <a:xfrm>
              <a:off x="707610" y="1667152"/>
              <a:ext cx="2857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57" name="Text Box 2889"/>
            <p:cNvSpPr txBox="1">
              <a:spLocks noChangeArrowheads="1"/>
            </p:cNvSpPr>
            <p:nvPr/>
          </p:nvSpPr>
          <p:spPr bwMode="auto">
            <a:xfrm>
              <a:off x="1431510" y="3334258"/>
              <a:ext cx="436338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sym typeface="Wingdings" pitchFamily="2" charset="2"/>
                </a:rPr>
                <a:t></a:t>
              </a:r>
            </a:p>
          </p:txBody>
        </p:sp>
        <p:sp>
          <p:nvSpPr>
            <p:cNvPr id="358" name="Text Box 2861"/>
            <p:cNvSpPr txBox="1">
              <a:spLocks noChangeArrowheads="1"/>
            </p:cNvSpPr>
            <p:nvPr/>
          </p:nvSpPr>
          <p:spPr bwMode="auto">
            <a:xfrm>
              <a:off x="838293" y="1522690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59" name="Text Box 2900"/>
            <p:cNvSpPr txBox="1">
              <a:spLocks noChangeArrowheads="1"/>
            </p:cNvSpPr>
            <p:nvPr/>
          </p:nvSpPr>
          <p:spPr bwMode="auto">
            <a:xfrm>
              <a:off x="7456073" y="2815550"/>
              <a:ext cx="574196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i="1" dirty="0" smtClean="0">
                  <a:latin typeface="Times New Roman" pitchFamily="18" charset="0"/>
                </a:rPr>
                <a:t>M</a:t>
              </a:r>
              <a:r>
                <a:rPr lang="en-US" altLang="zh-CN" sz="1600" dirty="0" smtClean="0">
                  <a:latin typeface="Times New Roman" pitchFamily="18" charset="0"/>
                </a:rPr>
                <a:t>=4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</p:grpSp>
      <p:grpSp>
        <p:nvGrpSpPr>
          <p:cNvPr id="435" name="组合 434"/>
          <p:cNvGrpSpPr/>
          <p:nvPr/>
        </p:nvGrpSpPr>
        <p:grpSpPr>
          <a:xfrm>
            <a:off x="3677823" y="2718077"/>
            <a:ext cx="474662" cy="531813"/>
            <a:chOff x="3677823" y="2718077"/>
            <a:chExt cx="474662" cy="531813"/>
          </a:xfrm>
        </p:grpSpPr>
        <p:sp>
          <p:nvSpPr>
            <p:cNvPr id="436" name="Line 2859"/>
            <p:cNvSpPr>
              <a:spLocks noChangeShapeType="1"/>
            </p:cNvSpPr>
            <p:nvPr/>
          </p:nvSpPr>
          <p:spPr bwMode="auto">
            <a:xfrm flipH="1">
              <a:off x="3758785" y="2787927"/>
              <a:ext cx="69850" cy="436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Line 2860"/>
            <p:cNvSpPr>
              <a:spLocks noChangeShapeType="1"/>
            </p:cNvSpPr>
            <p:nvPr/>
          </p:nvSpPr>
          <p:spPr bwMode="auto">
            <a:xfrm>
              <a:off x="3677823" y="2951440"/>
              <a:ext cx="474662" cy="42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Text Box 2871"/>
            <p:cNvSpPr txBox="1">
              <a:spLocks noChangeArrowheads="1"/>
            </p:cNvSpPr>
            <p:nvPr/>
          </p:nvSpPr>
          <p:spPr bwMode="auto">
            <a:xfrm>
              <a:off x="3719098" y="2718077"/>
              <a:ext cx="4238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>
                  <a:latin typeface="Times New Roman" pitchFamily="18" charset="0"/>
                  <a:sym typeface="Symbol" pitchFamily="18" charset="2"/>
                </a:rPr>
                <a:t>l</a:t>
              </a:r>
              <a:endParaRPr lang="el-GR" altLang="zh-CN" sz="1600">
                <a:latin typeface="Times New Roman" pitchFamily="18" charset="0"/>
              </a:endParaRPr>
            </a:p>
          </p:txBody>
        </p:sp>
        <p:sp>
          <p:nvSpPr>
            <p:cNvPr id="439" name="Text Box 2872"/>
            <p:cNvSpPr txBox="1">
              <a:spLocks noChangeArrowheads="1"/>
            </p:cNvSpPr>
            <p:nvPr/>
          </p:nvSpPr>
          <p:spPr bwMode="auto">
            <a:xfrm rot="16200000">
              <a:off x="3682585" y="2911753"/>
              <a:ext cx="3397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>
                  <a:latin typeface="Times New Roman" pitchFamily="18" charset="0"/>
                  <a:sym typeface="Symbol" pitchFamily="18" charset="2"/>
                </a:rPr>
                <a:t>s</a:t>
              </a:r>
              <a:endParaRPr lang="el-GR" altLang="zh-CN" sz="1600">
                <a:latin typeface="Times New Roman" pitchFamily="18" charset="0"/>
              </a:endParaRPr>
            </a:p>
          </p:txBody>
        </p:sp>
      </p:grpSp>
      <p:sp>
        <p:nvSpPr>
          <p:cNvPr id="440" name="Text Box 2888"/>
          <p:cNvSpPr txBox="1">
            <a:spLocks noChangeArrowheads="1"/>
          </p:cNvSpPr>
          <p:nvPr/>
        </p:nvSpPr>
        <p:spPr bwMode="auto">
          <a:xfrm>
            <a:off x="1097223" y="1754615"/>
            <a:ext cx="325730" cy="481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200" dirty="0">
                <a:latin typeface="Times New Roman" pitchFamily="18" charset="0"/>
              </a:rPr>
              <a:t>1</a:t>
            </a:r>
          </a:p>
        </p:txBody>
      </p:sp>
      <p:grpSp>
        <p:nvGrpSpPr>
          <p:cNvPr id="441" name="组合 440"/>
          <p:cNvGrpSpPr/>
          <p:nvPr/>
        </p:nvGrpSpPr>
        <p:grpSpPr>
          <a:xfrm>
            <a:off x="1826744" y="2024340"/>
            <a:ext cx="1570091" cy="2069609"/>
            <a:chOff x="1826744" y="2024340"/>
            <a:chExt cx="1570091" cy="2069609"/>
          </a:xfrm>
        </p:grpSpPr>
        <p:sp>
          <p:nvSpPr>
            <p:cNvPr id="442" name="Freeform 2849"/>
            <p:cNvSpPr>
              <a:spLocks/>
            </p:cNvSpPr>
            <p:nvPr/>
          </p:nvSpPr>
          <p:spPr bwMode="auto">
            <a:xfrm>
              <a:off x="2022060" y="2024340"/>
              <a:ext cx="1374775" cy="1682750"/>
            </a:xfrm>
            <a:custGeom>
              <a:avLst/>
              <a:gdLst>
                <a:gd name="T0" fmla="*/ 866 w 866"/>
                <a:gd name="T1" fmla="*/ 0 h 1060"/>
                <a:gd name="T2" fmla="*/ 751 w 866"/>
                <a:gd name="T3" fmla="*/ 49 h 1060"/>
                <a:gd name="T4" fmla="*/ 592 w 866"/>
                <a:gd name="T5" fmla="*/ 144 h 1060"/>
                <a:gd name="T6" fmla="*/ 425 w 866"/>
                <a:gd name="T7" fmla="*/ 277 h 1060"/>
                <a:gd name="T8" fmla="*/ 235 w 866"/>
                <a:gd name="T9" fmla="*/ 478 h 1060"/>
                <a:gd name="T10" fmla="*/ 94 w 866"/>
                <a:gd name="T11" fmla="*/ 749 h 1060"/>
                <a:gd name="T12" fmla="*/ 0 w 866"/>
                <a:gd name="T13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60">
                  <a:moveTo>
                    <a:pt x="866" y="0"/>
                  </a:moveTo>
                  <a:cubicBezTo>
                    <a:pt x="847" y="8"/>
                    <a:pt x="797" y="25"/>
                    <a:pt x="751" y="49"/>
                  </a:cubicBezTo>
                  <a:cubicBezTo>
                    <a:pt x="705" y="73"/>
                    <a:pt x="646" y="106"/>
                    <a:pt x="592" y="144"/>
                  </a:cubicBezTo>
                  <a:cubicBezTo>
                    <a:pt x="538" y="182"/>
                    <a:pt x="484" y="221"/>
                    <a:pt x="425" y="277"/>
                  </a:cubicBezTo>
                  <a:cubicBezTo>
                    <a:pt x="366" y="333"/>
                    <a:pt x="290" y="399"/>
                    <a:pt x="235" y="478"/>
                  </a:cubicBezTo>
                  <a:cubicBezTo>
                    <a:pt x="180" y="557"/>
                    <a:pt x="133" y="652"/>
                    <a:pt x="94" y="749"/>
                  </a:cubicBezTo>
                  <a:cubicBezTo>
                    <a:pt x="55" y="846"/>
                    <a:pt x="20" y="995"/>
                    <a:pt x="0" y="106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Text Box 2890"/>
            <p:cNvSpPr txBox="1">
              <a:spLocks noChangeArrowheads="1"/>
            </p:cNvSpPr>
            <p:nvPr/>
          </p:nvSpPr>
          <p:spPr bwMode="auto">
            <a:xfrm>
              <a:off x="1826744" y="3643441"/>
              <a:ext cx="325730" cy="4505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444" name="组合 443"/>
          <p:cNvGrpSpPr/>
          <p:nvPr/>
        </p:nvGrpSpPr>
        <p:grpSpPr>
          <a:xfrm>
            <a:off x="2753749" y="2046565"/>
            <a:ext cx="800249" cy="2078546"/>
            <a:chOff x="2753749" y="2046565"/>
            <a:chExt cx="800249" cy="2078546"/>
          </a:xfrm>
        </p:grpSpPr>
        <p:sp>
          <p:nvSpPr>
            <p:cNvPr id="445" name="Freeform 2850"/>
            <p:cNvSpPr>
              <a:spLocks/>
            </p:cNvSpPr>
            <p:nvPr/>
          </p:nvSpPr>
          <p:spPr bwMode="auto">
            <a:xfrm>
              <a:off x="2868198" y="2046565"/>
              <a:ext cx="685800" cy="1660525"/>
            </a:xfrm>
            <a:custGeom>
              <a:avLst/>
              <a:gdLst>
                <a:gd name="T0" fmla="*/ 346 w 346"/>
                <a:gd name="T1" fmla="*/ 0 h 1046"/>
                <a:gd name="T2" fmla="*/ 314 w 346"/>
                <a:gd name="T3" fmla="*/ 115 h 1046"/>
                <a:gd name="T4" fmla="*/ 250 w 346"/>
                <a:gd name="T5" fmla="*/ 262 h 1046"/>
                <a:gd name="T6" fmla="*/ 157 w 346"/>
                <a:gd name="T7" fmla="*/ 451 h 1046"/>
                <a:gd name="T8" fmla="*/ 56 w 346"/>
                <a:gd name="T9" fmla="*/ 684 h 1046"/>
                <a:gd name="T10" fmla="*/ 13 w 346"/>
                <a:gd name="T11" fmla="*/ 907 h 1046"/>
                <a:gd name="T12" fmla="*/ 0 w 346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1046">
                  <a:moveTo>
                    <a:pt x="346" y="0"/>
                  </a:moveTo>
                  <a:cubicBezTo>
                    <a:pt x="338" y="35"/>
                    <a:pt x="330" y="71"/>
                    <a:pt x="314" y="115"/>
                  </a:cubicBezTo>
                  <a:cubicBezTo>
                    <a:pt x="298" y="159"/>
                    <a:pt x="276" y="206"/>
                    <a:pt x="250" y="262"/>
                  </a:cubicBezTo>
                  <a:cubicBezTo>
                    <a:pt x="224" y="318"/>
                    <a:pt x="189" y="381"/>
                    <a:pt x="157" y="451"/>
                  </a:cubicBezTo>
                  <a:cubicBezTo>
                    <a:pt x="125" y="521"/>
                    <a:pt x="80" y="608"/>
                    <a:pt x="56" y="684"/>
                  </a:cubicBezTo>
                  <a:cubicBezTo>
                    <a:pt x="32" y="760"/>
                    <a:pt x="22" y="847"/>
                    <a:pt x="13" y="907"/>
                  </a:cubicBezTo>
                  <a:cubicBezTo>
                    <a:pt x="4" y="967"/>
                    <a:pt x="3" y="1017"/>
                    <a:pt x="0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Text Box 2891"/>
            <p:cNvSpPr txBox="1">
              <a:spLocks noChangeArrowheads="1"/>
            </p:cNvSpPr>
            <p:nvPr/>
          </p:nvSpPr>
          <p:spPr bwMode="auto">
            <a:xfrm>
              <a:off x="2753749" y="3643441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447" name="组合 446"/>
          <p:cNvGrpSpPr/>
          <p:nvPr/>
        </p:nvGrpSpPr>
        <p:grpSpPr>
          <a:xfrm>
            <a:off x="3380906" y="2044977"/>
            <a:ext cx="503292" cy="2096036"/>
            <a:chOff x="3380906" y="2044977"/>
            <a:chExt cx="503292" cy="2096036"/>
          </a:xfrm>
        </p:grpSpPr>
        <p:sp>
          <p:nvSpPr>
            <p:cNvPr id="448" name="Freeform 2851"/>
            <p:cNvSpPr>
              <a:spLocks/>
            </p:cNvSpPr>
            <p:nvPr/>
          </p:nvSpPr>
          <p:spPr bwMode="auto">
            <a:xfrm>
              <a:off x="3517485" y="2044977"/>
              <a:ext cx="366713" cy="1671638"/>
            </a:xfrm>
            <a:custGeom>
              <a:avLst/>
              <a:gdLst>
                <a:gd name="T0" fmla="*/ 231 w 231"/>
                <a:gd name="T1" fmla="*/ 0 h 1053"/>
                <a:gd name="T2" fmla="*/ 205 w 231"/>
                <a:gd name="T3" fmla="*/ 150 h 1053"/>
                <a:gd name="T4" fmla="*/ 148 w 231"/>
                <a:gd name="T5" fmla="*/ 372 h 1053"/>
                <a:gd name="T6" fmla="*/ 90 w 231"/>
                <a:gd name="T7" fmla="*/ 567 h 1053"/>
                <a:gd name="T8" fmla="*/ 40 w 231"/>
                <a:gd name="T9" fmla="*/ 772 h 1053"/>
                <a:gd name="T10" fmla="*/ 0 w 231"/>
                <a:gd name="T11" fmla="*/ 1053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1053">
                  <a:moveTo>
                    <a:pt x="231" y="0"/>
                  </a:moveTo>
                  <a:cubicBezTo>
                    <a:pt x="227" y="25"/>
                    <a:pt x="219" y="88"/>
                    <a:pt x="205" y="150"/>
                  </a:cubicBezTo>
                  <a:cubicBezTo>
                    <a:pt x="191" y="212"/>
                    <a:pt x="167" y="302"/>
                    <a:pt x="148" y="372"/>
                  </a:cubicBezTo>
                  <a:cubicBezTo>
                    <a:pt x="129" y="442"/>
                    <a:pt x="108" y="500"/>
                    <a:pt x="90" y="567"/>
                  </a:cubicBezTo>
                  <a:cubicBezTo>
                    <a:pt x="72" y="634"/>
                    <a:pt x="55" y="691"/>
                    <a:pt x="40" y="772"/>
                  </a:cubicBezTo>
                  <a:cubicBezTo>
                    <a:pt x="25" y="853"/>
                    <a:pt x="8" y="995"/>
                    <a:pt x="0" y="1053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" name="Text Box 2892"/>
            <p:cNvSpPr txBox="1">
              <a:spLocks noChangeArrowheads="1"/>
            </p:cNvSpPr>
            <p:nvPr/>
          </p:nvSpPr>
          <p:spPr bwMode="auto">
            <a:xfrm>
              <a:off x="3380906" y="3659343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450" name="组合 449"/>
          <p:cNvGrpSpPr/>
          <p:nvPr/>
        </p:nvGrpSpPr>
        <p:grpSpPr>
          <a:xfrm>
            <a:off x="3914333" y="2049740"/>
            <a:ext cx="325730" cy="2091273"/>
            <a:chOff x="3914333" y="2049740"/>
            <a:chExt cx="325730" cy="2091273"/>
          </a:xfrm>
        </p:grpSpPr>
        <p:sp>
          <p:nvSpPr>
            <p:cNvPr id="451" name="Freeform 2852"/>
            <p:cNvSpPr>
              <a:spLocks/>
            </p:cNvSpPr>
            <p:nvPr/>
          </p:nvSpPr>
          <p:spPr bwMode="auto">
            <a:xfrm>
              <a:off x="4087398" y="2049740"/>
              <a:ext cx="149225" cy="1643062"/>
            </a:xfrm>
            <a:custGeom>
              <a:avLst/>
              <a:gdLst>
                <a:gd name="T0" fmla="*/ 94 w 94"/>
                <a:gd name="T1" fmla="*/ 0 h 1035"/>
                <a:gd name="T2" fmla="*/ 80 w 94"/>
                <a:gd name="T3" fmla="*/ 224 h 1035"/>
                <a:gd name="T4" fmla="*/ 45 w 94"/>
                <a:gd name="T5" fmla="*/ 520 h 1035"/>
                <a:gd name="T6" fmla="*/ 19 w 94"/>
                <a:gd name="T7" fmla="*/ 798 h 1035"/>
                <a:gd name="T8" fmla="*/ 0 w 94"/>
                <a:gd name="T9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035">
                  <a:moveTo>
                    <a:pt x="94" y="0"/>
                  </a:moveTo>
                  <a:cubicBezTo>
                    <a:pt x="92" y="37"/>
                    <a:pt x="88" y="137"/>
                    <a:pt x="80" y="224"/>
                  </a:cubicBezTo>
                  <a:cubicBezTo>
                    <a:pt x="72" y="311"/>
                    <a:pt x="55" y="424"/>
                    <a:pt x="45" y="520"/>
                  </a:cubicBezTo>
                  <a:cubicBezTo>
                    <a:pt x="35" y="616"/>
                    <a:pt x="26" y="712"/>
                    <a:pt x="19" y="798"/>
                  </a:cubicBezTo>
                  <a:cubicBezTo>
                    <a:pt x="12" y="884"/>
                    <a:pt x="4" y="986"/>
                    <a:pt x="0" y="1035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" name="Text Box 2893"/>
            <p:cNvSpPr txBox="1">
              <a:spLocks noChangeArrowheads="1"/>
            </p:cNvSpPr>
            <p:nvPr/>
          </p:nvSpPr>
          <p:spPr bwMode="auto">
            <a:xfrm>
              <a:off x="3914333" y="3659343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5</a:t>
              </a:r>
            </a:p>
          </p:txBody>
        </p:sp>
      </p:grpSp>
      <p:grpSp>
        <p:nvGrpSpPr>
          <p:cNvPr id="453" name="组合 452"/>
          <p:cNvGrpSpPr/>
          <p:nvPr/>
        </p:nvGrpSpPr>
        <p:grpSpPr>
          <a:xfrm>
            <a:off x="4431831" y="2044977"/>
            <a:ext cx="325730" cy="2080134"/>
            <a:chOff x="4431831" y="2044977"/>
            <a:chExt cx="325730" cy="2080134"/>
          </a:xfrm>
        </p:grpSpPr>
        <p:sp>
          <p:nvSpPr>
            <p:cNvPr id="454" name="Freeform 2853"/>
            <p:cNvSpPr>
              <a:spLocks/>
            </p:cNvSpPr>
            <p:nvPr/>
          </p:nvSpPr>
          <p:spPr bwMode="auto">
            <a:xfrm>
              <a:off x="4590635" y="2044977"/>
              <a:ext cx="9525" cy="1666875"/>
            </a:xfrm>
            <a:custGeom>
              <a:avLst/>
              <a:gdLst>
                <a:gd name="T0" fmla="*/ 6 w 6"/>
                <a:gd name="T1" fmla="*/ 0 h 1050"/>
                <a:gd name="T2" fmla="*/ 1 w 6"/>
                <a:gd name="T3" fmla="*/ 295 h 1050"/>
                <a:gd name="T4" fmla="*/ 0 w 6"/>
                <a:gd name="T5" fmla="*/ 556 h 1050"/>
                <a:gd name="T6" fmla="*/ 1 w 6"/>
                <a:gd name="T7" fmla="*/ 801 h 1050"/>
                <a:gd name="T8" fmla="*/ 1 w 6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50">
                  <a:moveTo>
                    <a:pt x="6" y="0"/>
                  </a:moveTo>
                  <a:cubicBezTo>
                    <a:pt x="6" y="49"/>
                    <a:pt x="2" y="202"/>
                    <a:pt x="1" y="295"/>
                  </a:cubicBezTo>
                  <a:cubicBezTo>
                    <a:pt x="0" y="388"/>
                    <a:pt x="0" y="472"/>
                    <a:pt x="0" y="556"/>
                  </a:cubicBezTo>
                  <a:cubicBezTo>
                    <a:pt x="0" y="640"/>
                    <a:pt x="1" y="719"/>
                    <a:pt x="1" y="801"/>
                  </a:cubicBezTo>
                  <a:cubicBezTo>
                    <a:pt x="1" y="883"/>
                    <a:pt x="2" y="966"/>
                    <a:pt x="1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5" name="Text Box 2894"/>
            <p:cNvSpPr txBox="1">
              <a:spLocks noChangeArrowheads="1"/>
            </p:cNvSpPr>
            <p:nvPr/>
          </p:nvSpPr>
          <p:spPr bwMode="auto">
            <a:xfrm>
              <a:off x="4431831" y="3643441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6</a:t>
              </a:r>
            </a:p>
          </p:txBody>
        </p:sp>
      </p:grpSp>
      <p:grpSp>
        <p:nvGrpSpPr>
          <p:cNvPr id="456" name="组合 455"/>
          <p:cNvGrpSpPr/>
          <p:nvPr/>
        </p:nvGrpSpPr>
        <p:grpSpPr>
          <a:xfrm>
            <a:off x="4928773" y="2046565"/>
            <a:ext cx="325730" cy="2086497"/>
            <a:chOff x="4928773" y="2046565"/>
            <a:chExt cx="325730" cy="2086497"/>
          </a:xfrm>
        </p:grpSpPr>
        <p:sp>
          <p:nvSpPr>
            <p:cNvPr id="457" name="Freeform 2854"/>
            <p:cNvSpPr>
              <a:spLocks/>
            </p:cNvSpPr>
            <p:nvPr/>
          </p:nvSpPr>
          <p:spPr bwMode="auto">
            <a:xfrm>
              <a:off x="4946235" y="2046565"/>
              <a:ext cx="142875" cy="1666875"/>
            </a:xfrm>
            <a:custGeom>
              <a:avLst/>
              <a:gdLst>
                <a:gd name="T0" fmla="*/ 0 w 90"/>
                <a:gd name="T1" fmla="*/ 0 h 1050"/>
                <a:gd name="T2" fmla="*/ 16 w 90"/>
                <a:gd name="T3" fmla="*/ 280 h 1050"/>
                <a:gd name="T4" fmla="*/ 42 w 90"/>
                <a:gd name="T5" fmla="*/ 561 h 1050"/>
                <a:gd name="T6" fmla="*/ 78 w 90"/>
                <a:gd name="T7" fmla="*/ 833 h 1050"/>
                <a:gd name="T8" fmla="*/ 90 w 9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1050">
                  <a:moveTo>
                    <a:pt x="0" y="0"/>
                  </a:moveTo>
                  <a:cubicBezTo>
                    <a:pt x="3" y="47"/>
                    <a:pt x="9" y="187"/>
                    <a:pt x="16" y="280"/>
                  </a:cubicBezTo>
                  <a:cubicBezTo>
                    <a:pt x="23" y="373"/>
                    <a:pt x="32" y="469"/>
                    <a:pt x="42" y="561"/>
                  </a:cubicBezTo>
                  <a:cubicBezTo>
                    <a:pt x="52" y="653"/>
                    <a:pt x="70" y="752"/>
                    <a:pt x="78" y="833"/>
                  </a:cubicBezTo>
                  <a:cubicBezTo>
                    <a:pt x="86" y="914"/>
                    <a:pt x="88" y="982"/>
                    <a:pt x="90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" name="Text Box 2895"/>
            <p:cNvSpPr txBox="1">
              <a:spLocks noChangeArrowheads="1"/>
            </p:cNvSpPr>
            <p:nvPr/>
          </p:nvSpPr>
          <p:spPr bwMode="auto">
            <a:xfrm>
              <a:off x="4928773" y="3651392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7</a:t>
              </a:r>
            </a:p>
          </p:txBody>
        </p:sp>
      </p:grpSp>
      <p:grpSp>
        <p:nvGrpSpPr>
          <p:cNvPr id="459" name="组合 458"/>
          <p:cNvGrpSpPr/>
          <p:nvPr/>
        </p:nvGrpSpPr>
        <p:grpSpPr>
          <a:xfrm>
            <a:off x="5270085" y="2049740"/>
            <a:ext cx="511468" cy="2083322"/>
            <a:chOff x="5270085" y="2049740"/>
            <a:chExt cx="511468" cy="2083322"/>
          </a:xfrm>
        </p:grpSpPr>
        <p:sp>
          <p:nvSpPr>
            <p:cNvPr id="460" name="Freeform 2855"/>
            <p:cNvSpPr>
              <a:spLocks/>
            </p:cNvSpPr>
            <p:nvPr/>
          </p:nvSpPr>
          <p:spPr bwMode="auto">
            <a:xfrm>
              <a:off x="5270085" y="2049740"/>
              <a:ext cx="373063" cy="1651000"/>
            </a:xfrm>
            <a:custGeom>
              <a:avLst/>
              <a:gdLst>
                <a:gd name="T0" fmla="*/ 0 w 235"/>
                <a:gd name="T1" fmla="*/ 0 h 1040"/>
                <a:gd name="T2" fmla="*/ 24 w 235"/>
                <a:gd name="T3" fmla="*/ 179 h 1040"/>
                <a:gd name="T4" fmla="*/ 93 w 235"/>
                <a:gd name="T5" fmla="*/ 442 h 1040"/>
                <a:gd name="T6" fmla="*/ 184 w 235"/>
                <a:gd name="T7" fmla="*/ 723 h 1040"/>
                <a:gd name="T8" fmla="*/ 235 w 235"/>
                <a:gd name="T9" fmla="*/ 1040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040">
                  <a:moveTo>
                    <a:pt x="0" y="0"/>
                  </a:moveTo>
                  <a:cubicBezTo>
                    <a:pt x="4" y="30"/>
                    <a:pt x="8" y="105"/>
                    <a:pt x="24" y="179"/>
                  </a:cubicBezTo>
                  <a:cubicBezTo>
                    <a:pt x="40" y="253"/>
                    <a:pt x="66" y="351"/>
                    <a:pt x="93" y="442"/>
                  </a:cubicBezTo>
                  <a:cubicBezTo>
                    <a:pt x="120" y="533"/>
                    <a:pt x="160" y="623"/>
                    <a:pt x="184" y="723"/>
                  </a:cubicBezTo>
                  <a:cubicBezTo>
                    <a:pt x="208" y="823"/>
                    <a:pt x="221" y="931"/>
                    <a:pt x="235" y="104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" name="Text Box 2896"/>
            <p:cNvSpPr txBox="1">
              <a:spLocks noChangeArrowheads="1"/>
            </p:cNvSpPr>
            <p:nvPr/>
          </p:nvSpPr>
          <p:spPr bwMode="auto">
            <a:xfrm>
              <a:off x="5455823" y="3651392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8</a:t>
              </a:r>
            </a:p>
          </p:txBody>
        </p:sp>
      </p:grpSp>
      <p:grpSp>
        <p:nvGrpSpPr>
          <p:cNvPr id="462" name="组合 461"/>
          <p:cNvGrpSpPr/>
          <p:nvPr/>
        </p:nvGrpSpPr>
        <p:grpSpPr>
          <a:xfrm>
            <a:off x="5552660" y="2046565"/>
            <a:ext cx="830555" cy="2102399"/>
            <a:chOff x="5552660" y="2046565"/>
            <a:chExt cx="830555" cy="2102399"/>
          </a:xfrm>
        </p:grpSpPr>
        <p:sp>
          <p:nvSpPr>
            <p:cNvPr id="463" name="Freeform 2856"/>
            <p:cNvSpPr>
              <a:spLocks/>
            </p:cNvSpPr>
            <p:nvPr/>
          </p:nvSpPr>
          <p:spPr bwMode="auto">
            <a:xfrm>
              <a:off x="5552660" y="2046565"/>
              <a:ext cx="688975" cy="1660525"/>
            </a:xfrm>
            <a:custGeom>
              <a:avLst/>
              <a:gdLst>
                <a:gd name="T0" fmla="*/ 0 w 434"/>
                <a:gd name="T1" fmla="*/ 0 h 1046"/>
                <a:gd name="T2" fmla="*/ 33 w 434"/>
                <a:gd name="T3" fmla="*/ 105 h 1046"/>
                <a:gd name="T4" fmla="*/ 75 w 434"/>
                <a:gd name="T5" fmla="*/ 192 h 1046"/>
                <a:gd name="T6" fmla="*/ 187 w 434"/>
                <a:gd name="T7" fmla="*/ 360 h 1046"/>
                <a:gd name="T8" fmla="*/ 322 w 434"/>
                <a:gd name="T9" fmla="*/ 576 h 1046"/>
                <a:gd name="T10" fmla="*/ 406 w 434"/>
                <a:gd name="T11" fmla="*/ 836 h 1046"/>
                <a:gd name="T12" fmla="*/ 434 w 434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4" h="1046">
                  <a:moveTo>
                    <a:pt x="0" y="0"/>
                  </a:moveTo>
                  <a:cubicBezTo>
                    <a:pt x="5" y="17"/>
                    <a:pt x="21" y="73"/>
                    <a:pt x="33" y="105"/>
                  </a:cubicBezTo>
                  <a:cubicBezTo>
                    <a:pt x="45" y="137"/>
                    <a:pt x="49" y="149"/>
                    <a:pt x="75" y="192"/>
                  </a:cubicBezTo>
                  <a:cubicBezTo>
                    <a:pt x="101" y="235"/>
                    <a:pt x="146" y="296"/>
                    <a:pt x="187" y="360"/>
                  </a:cubicBezTo>
                  <a:cubicBezTo>
                    <a:pt x="228" y="424"/>
                    <a:pt x="286" y="497"/>
                    <a:pt x="322" y="576"/>
                  </a:cubicBezTo>
                  <a:cubicBezTo>
                    <a:pt x="358" y="655"/>
                    <a:pt x="388" y="758"/>
                    <a:pt x="406" y="836"/>
                  </a:cubicBezTo>
                  <a:cubicBezTo>
                    <a:pt x="425" y="914"/>
                    <a:pt x="428" y="1002"/>
                    <a:pt x="434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" name="Text Box 2897"/>
            <p:cNvSpPr txBox="1">
              <a:spLocks noChangeArrowheads="1"/>
            </p:cNvSpPr>
            <p:nvPr/>
          </p:nvSpPr>
          <p:spPr bwMode="auto">
            <a:xfrm>
              <a:off x="6057485" y="3667294"/>
              <a:ext cx="325730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9</a:t>
              </a:r>
            </a:p>
          </p:txBody>
        </p:sp>
      </p:grpSp>
      <p:grpSp>
        <p:nvGrpSpPr>
          <p:cNvPr id="465" name="组合 464"/>
          <p:cNvGrpSpPr/>
          <p:nvPr/>
        </p:nvGrpSpPr>
        <p:grpSpPr>
          <a:xfrm>
            <a:off x="5684423" y="2016402"/>
            <a:ext cx="1584299" cy="2116660"/>
            <a:chOff x="5684423" y="2016402"/>
            <a:chExt cx="1584299" cy="2116660"/>
          </a:xfrm>
        </p:grpSpPr>
        <p:sp>
          <p:nvSpPr>
            <p:cNvPr id="466" name="Freeform 2857"/>
            <p:cNvSpPr>
              <a:spLocks/>
            </p:cNvSpPr>
            <p:nvPr/>
          </p:nvSpPr>
          <p:spPr bwMode="auto">
            <a:xfrm>
              <a:off x="5684423" y="2016402"/>
              <a:ext cx="1363662" cy="1695450"/>
            </a:xfrm>
            <a:custGeom>
              <a:avLst/>
              <a:gdLst>
                <a:gd name="T0" fmla="*/ 0 w 859"/>
                <a:gd name="T1" fmla="*/ 1 h 1068"/>
                <a:gd name="T2" fmla="*/ 82 w 859"/>
                <a:gd name="T3" fmla="*/ 20 h 1068"/>
                <a:gd name="T4" fmla="*/ 280 w 859"/>
                <a:gd name="T5" fmla="*/ 121 h 1068"/>
                <a:gd name="T6" fmla="*/ 507 w 859"/>
                <a:gd name="T7" fmla="*/ 310 h 1068"/>
                <a:gd name="T8" fmla="*/ 693 w 859"/>
                <a:gd name="T9" fmla="*/ 550 h 1068"/>
                <a:gd name="T10" fmla="*/ 818 w 859"/>
                <a:gd name="T11" fmla="*/ 796 h 1068"/>
                <a:gd name="T12" fmla="*/ 859 w 859"/>
                <a:gd name="T13" fmla="*/ 1068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9" h="1068">
                  <a:moveTo>
                    <a:pt x="0" y="1"/>
                  </a:moveTo>
                  <a:cubicBezTo>
                    <a:pt x="14" y="5"/>
                    <a:pt x="35" y="0"/>
                    <a:pt x="82" y="20"/>
                  </a:cubicBezTo>
                  <a:cubicBezTo>
                    <a:pt x="129" y="40"/>
                    <a:pt x="209" y="73"/>
                    <a:pt x="280" y="121"/>
                  </a:cubicBezTo>
                  <a:cubicBezTo>
                    <a:pt x="351" y="169"/>
                    <a:pt x="438" y="239"/>
                    <a:pt x="507" y="310"/>
                  </a:cubicBezTo>
                  <a:cubicBezTo>
                    <a:pt x="576" y="381"/>
                    <a:pt x="641" y="469"/>
                    <a:pt x="693" y="550"/>
                  </a:cubicBezTo>
                  <a:cubicBezTo>
                    <a:pt x="745" y="631"/>
                    <a:pt x="790" y="710"/>
                    <a:pt x="818" y="796"/>
                  </a:cubicBezTo>
                  <a:cubicBezTo>
                    <a:pt x="846" y="882"/>
                    <a:pt x="852" y="975"/>
                    <a:pt x="859" y="106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" name="Text Box 2898"/>
            <p:cNvSpPr txBox="1">
              <a:spLocks noChangeArrowheads="1"/>
            </p:cNvSpPr>
            <p:nvPr/>
          </p:nvSpPr>
          <p:spPr bwMode="auto">
            <a:xfrm>
              <a:off x="6801928" y="3651392"/>
              <a:ext cx="466794" cy="4816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200" dirty="0">
                  <a:latin typeface="Times New Roman" pitchFamily="18" charset="0"/>
                </a:rPr>
                <a:t>10</a:t>
              </a:r>
            </a:p>
          </p:txBody>
        </p:sp>
      </p:grpSp>
      <p:sp>
        <p:nvSpPr>
          <p:cNvPr id="468" name="Text Box 2899"/>
          <p:cNvSpPr txBox="1">
            <a:spLocks noChangeArrowheads="1"/>
          </p:cNvSpPr>
          <p:nvPr/>
        </p:nvSpPr>
        <p:spPr bwMode="auto">
          <a:xfrm>
            <a:off x="7623836" y="1735776"/>
            <a:ext cx="456343" cy="481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200" dirty="0">
                <a:latin typeface="Times New Roman" pitchFamily="18" charset="0"/>
              </a:rPr>
              <a:t>11</a:t>
            </a:r>
          </a:p>
        </p:txBody>
      </p:sp>
      <p:sp>
        <p:nvSpPr>
          <p:cNvPr id="469" name="Text Box 2900"/>
          <p:cNvSpPr txBox="1">
            <a:spLocks noChangeArrowheads="1"/>
          </p:cNvSpPr>
          <p:nvPr/>
        </p:nvSpPr>
        <p:spPr bwMode="auto">
          <a:xfrm>
            <a:off x="7456073" y="2525990"/>
            <a:ext cx="64152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i="1" dirty="0" smtClean="0">
                <a:latin typeface="Times New Roman" pitchFamily="18" charset="0"/>
              </a:rPr>
              <a:t>N</a:t>
            </a:r>
            <a:r>
              <a:rPr lang="en-US" altLang="zh-CN" sz="1600" dirty="0" smtClean="0">
                <a:latin typeface="Times New Roman" pitchFamily="18" charset="0"/>
              </a:rPr>
              <a:t>=10</a:t>
            </a:r>
            <a:endParaRPr lang="en-US" altLang="zh-CN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49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74" name="矩形 173"/>
          <p:cNvSpPr/>
          <p:nvPr/>
        </p:nvSpPr>
        <p:spPr bwMode="auto">
          <a:xfrm>
            <a:off x="5685576" y="2463432"/>
            <a:ext cx="2288437" cy="104115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5" name="矩形 174"/>
          <p:cNvSpPr/>
          <p:nvPr/>
        </p:nvSpPr>
        <p:spPr bwMode="auto">
          <a:xfrm>
            <a:off x="1066800" y="1852323"/>
            <a:ext cx="2338565" cy="710697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6" name="任意多边形 175"/>
          <p:cNvSpPr/>
          <p:nvPr/>
        </p:nvSpPr>
        <p:spPr bwMode="auto">
          <a:xfrm>
            <a:off x="1048043" y="2571974"/>
            <a:ext cx="6921305" cy="1856935"/>
          </a:xfrm>
          <a:custGeom>
            <a:avLst/>
            <a:gdLst>
              <a:gd name="connsiteX0" fmla="*/ 28135 w 6921305"/>
              <a:gd name="connsiteY0" fmla="*/ 21101 h 1856935"/>
              <a:gd name="connsiteX1" fmla="*/ 2349305 w 6921305"/>
              <a:gd name="connsiteY1" fmla="*/ 21101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28135 w 6921305"/>
              <a:gd name="connsiteY9" fmla="*/ 21101 h 1856935"/>
              <a:gd name="connsiteX0" fmla="*/ 28135 w 6921305"/>
              <a:gd name="connsiteY0" fmla="*/ 4415 h 1856935"/>
              <a:gd name="connsiteX1" fmla="*/ 2349305 w 6921305"/>
              <a:gd name="connsiteY1" fmla="*/ 21101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28135 w 6921305"/>
              <a:gd name="connsiteY9" fmla="*/ 4415 h 1856935"/>
              <a:gd name="connsiteX0" fmla="*/ 28135 w 6921305"/>
              <a:gd name="connsiteY0" fmla="*/ 4415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28135 w 6921305"/>
              <a:gd name="connsiteY9" fmla="*/ 4415 h 1856935"/>
              <a:gd name="connsiteX0" fmla="*/ 14786 w 6921305"/>
              <a:gd name="connsiteY0" fmla="*/ 11089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14786 w 6921305"/>
              <a:gd name="connsiteY9" fmla="*/ 11089 h 1856935"/>
              <a:gd name="connsiteX0" fmla="*/ 8112 w 6921305"/>
              <a:gd name="connsiteY0" fmla="*/ 11089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8112 w 6921305"/>
              <a:gd name="connsiteY9" fmla="*/ 11089 h 1856935"/>
              <a:gd name="connsiteX0" fmla="*/ 8112 w 6921305"/>
              <a:gd name="connsiteY0" fmla="*/ 11089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921305 w 6921305"/>
              <a:gd name="connsiteY5" fmla="*/ 0 h 1856935"/>
              <a:gd name="connsiteX6" fmla="*/ 6921305 w 6921305"/>
              <a:gd name="connsiteY6" fmla="*/ 1856935 h 1856935"/>
              <a:gd name="connsiteX7" fmla="*/ 0 w 6921305"/>
              <a:gd name="connsiteY7" fmla="*/ 1856935 h 1856935"/>
              <a:gd name="connsiteX8" fmla="*/ 8112 w 6921305"/>
              <a:gd name="connsiteY8" fmla="*/ 11089 h 185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21305" h="1856935">
                <a:moveTo>
                  <a:pt x="8112" y="11089"/>
                </a:moveTo>
                <a:lnTo>
                  <a:pt x="2352642" y="1078"/>
                </a:lnTo>
                <a:cubicBezTo>
                  <a:pt x="2351530" y="68712"/>
                  <a:pt x="2350417" y="136347"/>
                  <a:pt x="2349305" y="203981"/>
                </a:cubicBezTo>
                <a:lnTo>
                  <a:pt x="4628271" y="203981"/>
                </a:lnTo>
                <a:lnTo>
                  <a:pt x="4628271" y="0"/>
                </a:lnTo>
                <a:lnTo>
                  <a:pt x="6921305" y="0"/>
                </a:lnTo>
                <a:lnTo>
                  <a:pt x="6921305" y="1856935"/>
                </a:lnTo>
                <a:lnTo>
                  <a:pt x="0" y="1856935"/>
                </a:lnTo>
                <a:lnTo>
                  <a:pt x="8112" y="11089"/>
                </a:lnTo>
                <a:close/>
              </a:path>
            </a:pathLst>
          </a:custGeom>
          <a:solidFill>
            <a:srgbClr val="CCEC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7" name="矩形 176"/>
          <p:cNvSpPr/>
          <p:nvPr/>
        </p:nvSpPr>
        <p:spPr bwMode="auto">
          <a:xfrm>
            <a:off x="1041009" y="4437575"/>
            <a:ext cx="6935094" cy="6696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8" name="AutoShape 2834"/>
          <p:cNvSpPr>
            <a:spLocks noChangeArrowheads="1"/>
          </p:cNvSpPr>
          <p:nvPr/>
        </p:nvSpPr>
        <p:spPr bwMode="auto">
          <a:xfrm flipV="1">
            <a:off x="1483898" y="1728980"/>
            <a:ext cx="136525" cy="1174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" name="Line 2835"/>
          <p:cNvSpPr>
            <a:spLocks noChangeShapeType="1"/>
          </p:cNvSpPr>
          <p:nvPr/>
        </p:nvSpPr>
        <p:spPr bwMode="auto">
          <a:xfrm>
            <a:off x="1410873" y="1906780"/>
            <a:ext cx="1190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" name="Line 2836"/>
          <p:cNvSpPr>
            <a:spLocks noChangeShapeType="1"/>
          </p:cNvSpPr>
          <p:nvPr/>
        </p:nvSpPr>
        <p:spPr bwMode="auto">
          <a:xfrm>
            <a:off x="1582323" y="1906780"/>
            <a:ext cx="1190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" name="Line 2837"/>
          <p:cNvSpPr>
            <a:spLocks noChangeShapeType="1"/>
          </p:cNvSpPr>
          <p:nvPr/>
        </p:nvSpPr>
        <p:spPr bwMode="auto">
          <a:xfrm>
            <a:off x="1491835" y="1951230"/>
            <a:ext cx="1698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2" name="Line 2838"/>
          <p:cNvSpPr>
            <a:spLocks noChangeShapeType="1"/>
          </p:cNvSpPr>
          <p:nvPr/>
        </p:nvSpPr>
        <p:spPr bwMode="auto">
          <a:xfrm>
            <a:off x="1545810" y="1995680"/>
            <a:ext cx="7143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" name="Text Box 2839"/>
          <p:cNvSpPr txBox="1">
            <a:spLocks noChangeArrowheads="1"/>
          </p:cNvSpPr>
          <p:nvPr/>
        </p:nvSpPr>
        <p:spPr bwMode="auto">
          <a:xfrm>
            <a:off x="802364" y="4294380"/>
            <a:ext cx="10259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ctr"/>
            <a:r>
              <a:rPr lang="en-US" altLang="zh-CN" sz="1600" b="1" dirty="0">
                <a:latin typeface="Times New Roman" pitchFamily="18" charset="0"/>
              </a:rPr>
              <a:t>0</a:t>
            </a:r>
          </a:p>
        </p:txBody>
      </p:sp>
      <p:sp>
        <p:nvSpPr>
          <p:cNvPr id="184" name="Freeform 2840"/>
          <p:cNvSpPr>
            <a:spLocks/>
          </p:cNvSpPr>
          <p:nvPr/>
        </p:nvSpPr>
        <p:spPr bwMode="auto">
          <a:xfrm>
            <a:off x="3406360" y="1459105"/>
            <a:ext cx="2278063" cy="1301750"/>
          </a:xfrm>
          <a:custGeom>
            <a:avLst/>
            <a:gdLst>
              <a:gd name="T0" fmla="*/ 0 w 1435"/>
              <a:gd name="T1" fmla="*/ 85 h 820"/>
              <a:gd name="T2" fmla="*/ 0 w 1435"/>
              <a:gd name="T3" fmla="*/ 820 h 820"/>
              <a:gd name="T4" fmla="*/ 1435 w 1435"/>
              <a:gd name="T5" fmla="*/ 820 h 820"/>
              <a:gd name="T6" fmla="*/ 1435 w 1435"/>
              <a:gd name="T7" fmla="*/ 479 h 820"/>
              <a:gd name="T8" fmla="*/ 1403 w 1435"/>
              <a:gd name="T9" fmla="*/ 478 h 820"/>
              <a:gd name="T10" fmla="*/ 1334 w 1435"/>
              <a:gd name="T11" fmla="*/ 473 h 820"/>
              <a:gd name="T12" fmla="*/ 1258 w 1435"/>
              <a:gd name="T13" fmla="*/ 462 h 820"/>
              <a:gd name="T14" fmla="*/ 1141 w 1435"/>
              <a:gd name="T15" fmla="*/ 430 h 820"/>
              <a:gd name="T16" fmla="*/ 1006 w 1435"/>
              <a:gd name="T17" fmla="*/ 388 h 820"/>
              <a:gd name="T18" fmla="*/ 806 w 1435"/>
              <a:gd name="T19" fmla="*/ 305 h 820"/>
              <a:gd name="T20" fmla="*/ 672 w 1435"/>
              <a:gd name="T21" fmla="*/ 234 h 820"/>
              <a:gd name="T22" fmla="*/ 520 w 1435"/>
              <a:gd name="T23" fmla="*/ 143 h 820"/>
              <a:gd name="T24" fmla="*/ 422 w 1435"/>
              <a:gd name="T25" fmla="*/ 85 h 820"/>
              <a:gd name="T26" fmla="*/ 355 w 1435"/>
              <a:gd name="T27" fmla="*/ 47 h 820"/>
              <a:gd name="T28" fmla="*/ 274 w 1435"/>
              <a:gd name="T29" fmla="*/ 15 h 820"/>
              <a:gd name="T30" fmla="*/ 205 w 1435"/>
              <a:gd name="T31" fmla="*/ 2 h 820"/>
              <a:gd name="T32" fmla="*/ 123 w 1435"/>
              <a:gd name="T33" fmla="*/ 4 h 820"/>
              <a:gd name="T34" fmla="*/ 62 w 1435"/>
              <a:gd name="T35" fmla="*/ 27 h 820"/>
              <a:gd name="T36" fmla="*/ 19 w 1435"/>
              <a:gd name="T37" fmla="*/ 60 h 820"/>
              <a:gd name="T38" fmla="*/ 0 w 1435"/>
              <a:gd name="T39" fmla="*/ 85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35" h="820">
                <a:moveTo>
                  <a:pt x="0" y="85"/>
                </a:moveTo>
                <a:lnTo>
                  <a:pt x="0" y="820"/>
                </a:lnTo>
                <a:lnTo>
                  <a:pt x="1435" y="820"/>
                </a:lnTo>
                <a:lnTo>
                  <a:pt x="1435" y="479"/>
                </a:lnTo>
                <a:lnTo>
                  <a:pt x="1403" y="478"/>
                </a:lnTo>
                <a:cubicBezTo>
                  <a:pt x="1386" y="477"/>
                  <a:pt x="1358" y="476"/>
                  <a:pt x="1334" y="473"/>
                </a:cubicBezTo>
                <a:cubicBezTo>
                  <a:pt x="1310" y="470"/>
                  <a:pt x="1290" y="469"/>
                  <a:pt x="1258" y="462"/>
                </a:cubicBezTo>
                <a:cubicBezTo>
                  <a:pt x="1226" y="455"/>
                  <a:pt x="1183" y="442"/>
                  <a:pt x="1141" y="430"/>
                </a:cubicBezTo>
                <a:cubicBezTo>
                  <a:pt x="1099" y="418"/>
                  <a:pt x="1062" y="409"/>
                  <a:pt x="1006" y="388"/>
                </a:cubicBezTo>
                <a:cubicBezTo>
                  <a:pt x="950" y="367"/>
                  <a:pt x="862" y="331"/>
                  <a:pt x="806" y="305"/>
                </a:cubicBezTo>
                <a:cubicBezTo>
                  <a:pt x="750" y="279"/>
                  <a:pt x="720" y="261"/>
                  <a:pt x="672" y="234"/>
                </a:cubicBezTo>
                <a:cubicBezTo>
                  <a:pt x="624" y="207"/>
                  <a:pt x="562" y="167"/>
                  <a:pt x="520" y="143"/>
                </a:cubicBezTo>
                <a:cubicBezTo>
                  <a:pt x="478" y="119"/>
                  <a:pt x="449" y="101"/>
                  <a:pt x="422" y="85"/>
                </a:cubicBezTo>
                <a:cubicBezTo>
                  <a:pt x="395" y="70"/>
                  <a:pt x="380" y="59"/>
                  <a:pt x="355" y="47"/>
                </a:cubicBezTo>
                <a:cubicBezTo>
                  <a:pt x="330" y="35"/>
                  <a:pt x="299" y="23"/>
                  <a:pt x="274" y="15"/>
                </a:cubicBezTo>
                <a:cubicBezTo>
                  <a:pt x="249" y="8"/>
                  <a:pt x="230" y="4"/>
                  <a:pt x="205" y="2"/>
                </a:cubicBezTo>
                <a:cubicBezTo>
                  <a:pt x="180" y="0"/>
                  <a:pt x="147" y="0"/>
                  <a:pt x="123" y="4"/>
                </a:cubicBezTo>
                <a:cubicBezTo>
                  <a:pt x="99" y="8"/>
                  <a:pt x="79" y="18"/>
                  <a:pt x="62" y="27"/>
                </a:cubicBezTo>
                <a:cubicBezTo>
                  <a:pt x="45" y="36"/>
                  <a:pt x="29" y="50"/>
                  <a:pt x="19" y="60"/>
                </a:cubicBezTo>
                <a:cubicBezTo>
                  <a:pt x="9" y="70"/>
                  <a:pt x="4" y="81"/>
                  <a:pt x="0" y="85"/>
                </a:cubicBezTo>
                <a:close/>
              </a:path>
            </a:pathLst>
          </a:custGeom>
          <a:solidFill>
            <a:srgbClr val="FFC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" name="Line 2841"/>
          <p:cNvSpPr>
            <a:spLocks noChangeShapeType="1"/>
          </p:cNvSpPr>
          <p:nvPr/>
        </p:nvSpPr>
        <p:spPr bwMode="auto">
          <a:xfrm>
            <a:off x="5687598" y="2564005"/>
            <a:ext cx="228641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" name="Line 2842"/>
          <p:cNvSpPr>
            <a:spLocks noChangeShapeType="1"/>
          </p:cNvSpPr>
          <p:nvPr/>
        </p:nvSpPr>
        <p:spPr bwMode="auto">
          <a:xfrm flipH="1">
            <a:off x="1058862" y="2568767"/>
            <a:ext cx="234273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" name="Line 2843"/>
          <p:cNvSpPr>
            <a:spLocks noChangeShapeType="1"/>
          </p:cNvSpPr>
          <p:nvPr/>
        </p:nvSpPr>
        <p:spPr bwMode="auto">
          <a:xfrm flipH="1">
            <a:off x="1065894" y="1852805"/>
            <a:ext cx="23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" name="Line 2844"/>
          <p:cNvSpPr>
            <a:spLocks noChangeShapeType="1"/>
          </p:cNvSpPr>
          <p:nvPr/>
        </p:nvSpPr>
        <p:spPr bwMode="auto">
          <a:xfrm>
            <a:off x="5687597" y="2462405"/>
            <a:ext cx="226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" name="Freeform 2845"/>
          <p:cNvSpPr>
            <a:spLocks/>
          </p:cNvSpPr>
          <p:nvPr/>
        </p:nvSpPr>
        <p:spPr bwMode="auto">
          <a:xfrm>
            <a:off x="3117435" y="2570355"/>
            <a:ext cx="2844800" cy="557212"/>
          </a:xfrm>
          <a:custGeom>
            <a:avLst/>
            <a:gdLst>
              <a:gd name="T0" fmla="*/ 0 w 1792"/>
              <a:gd name="T1" fmla="*/ 1 h 351"/>
              <a:gd name="T2" fmla="*/ 24 w 1792"/>
              <a:gd name="T3" fmla="*/ 118 h 351"/>
              <a:gd name="T4" fmla="*/ 99 w 1792"/>
              <a:gd name="T5" fmla="*/ 225 h 351"/>
              <a:gd name="T6" fmla="*/ 255 w 1792"/>
              <a:gd name="T7" fmla="*/ 310 h 351"/>
              <a:gd name="T8" fmla="*/ 445 w 1792"/>
              <a:gd name="T9" fmla="*/ 341 h 351"/>
              <a:gd name="T10" fmla="*/ 643 w 1792"/>
              <a:gd name="T11" fmla="*/ 349 h 351"/>
              <a:gd name="T12" fmla="*/ 913 w 1792"/>
              <a:gd name="T13" fmla="*/ 349 h 351"/>
              <a:gd name="T14" fmla="*/ 1255 w 1792"/>
              <a:gd name="T15" fmla="*/ 336 h 351"/>
              <a:gd name="T16" fmla="*/ 1525 w 1792"/>
              <a:gd name="T17" fmla="*/ 305 h 351"/>
              <a:gd name="T18" fmla="*/ 1678 w 1792"/>
              <a:gd name="T19" fmla="*/ 234 h 351"/>
              <a:gd name="T20" fmla="*/ 1760 w 1792"/>
              <a:gd name="T21" fmla="*/ 133 h 351"/>
              <a:gd name="T22" fmla="*/ 1792 w 1792"/>
              <a:gd name="T23" fmla="*/ 0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792" h="351">
                <a:moveTo>
                  <a:pt x="0" y="1"/>
                </a:moveTo>
                <a:cubicBezTo>
                  <a:pt x="4" y="20"/>
                  <a:pt x="8" y="81"/>
                  <a:pt x="24" y="118"/>
                </a:cubicBezTo>
                <a:cubicBezTo>
                  <a:pt x="40" y="155"/>
                  <a:pt x="60" y="193"/>
                  <a:pt x="99" y="225"/>
                </a:cubicBezTo>
                <a:cubicBezTo>
                  <a:pt x="138" y="257"/>
                  <a:pt x="197" y="291"/>
                  <a:pt x="255" y="310"/>
                </a:cubicBezTo>
                <a:cubicBezTo>
                  <a:pt x="312" y="330"/>
                  <a:pt x="380" y="335"/>
                  <a:pt x="445" y="341"/>
                </a:cubicBezTo>
                <a:cubicBezTo>
                  <a:pt x="509" y="347"/>
                  <a:pt x="565" y="348"/>
                  <a:pt x="643" y="349"/>
                </a:cubicBezTo>
                <a:cubicBezTo>
                  <a:pt x="721" y="350"/>
                  <a:pt x="811" y="351"/>
                  <a:pt x="913" y="349"/>
                </a:cubicBezTo>
                <a:cubicBezTo>
                  <a:pt x="1015" y="347"/>
                  <a:pt x="1153" y="343"/>
                  <a:pt x="1255" y="336"/>
                </a:cubicBezTo>
                <a:cubicBezTo>
                  <a:pt x="1357" y="328"/>
                  <a:pt x="1455" y="321"/>
                  <a:pt x="1525" y="305"/>
                </a:cubicBezTo>
                <a:cubicBezTo>
                  <a:pt x="1595" y="289"/>
                  <a:pt x="1638" y="263"/>
                  <a:pt x="1678" y="234"/>
                </a:cubicBezTo>
                <a:cubicBezTo>
                  <a:pt x="1717" y="206"/>
                  <a:pt x="1740" y="172"/>
                  <a:pt x="1760" y="133"/>
                </a:cubicBezTo>
                <a:cubicBezTo>
                  <a:pt x="1779" y="94"/>
                  <a:pt x="1785" y="28"/>
                  <a:pt x="1792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0" name="Freeform 2846"/>
          <p:cNvSpPr>
            <a:spLocks/>
          </p:cNvSpPr>
          <p:nvPr/>
        </p:nvSpPr>
        <p:spPr bwMode="auto">
          <a:xfrm>
            <a:off x="2607848" y="2573530"/>
            <a:ext cx="3851275" cy="977900"/>
          </a:xfrm>
          <a:custGeom>
            <a:avLst/>
            <a:gdLst>
              <a:gd name="T0" fmla="*/ 0 w 2409"/>
              <a:gd name="T1" fmla="*/ 2 h 606"/>
              <a:gd name="T2" fmla="*/ 32 w 2409"/>
              <a:gd name="T3" fmla="*/ 166 h 606"/>
              <a:gd name="T4" fmla="*/ 112 w 2409"/>
              <a:gd name="T5" fmla="*/ 307 h 606"/>
              <a:gd name="T6" fmla="*/ 275 w 2409"/>
              <a:gd name="T7" fmla="*/ 448 h 606"/>
              <a:gd name="T8" fmla="*/ 502 w 2409"/>
              <a:gd name="T9" fmla="*/ 541 h 606"/>
              <a:gd name="T10" fmla="*/ 870 w 2409"/>
              <a:gd name="T11" fmla="*/ 595 h 606"/>
              <a:gd name="T12" fmla="*/ 1228 w 2409"/>
              <a:gd name="T13" fmla="*/ 605 h 606"/>
              <a:gd name="T14" fmla="*/ 1542 w 2409"/>
              <a:gd name="T15" fmla="*/ 589 h 606"/>
              <a:gd name="T16" fmla="*/ 1830 w 2409"/>
              <a:gd name="T17" fmla="*/ 538 h 606"/>
              <a:gd name="T18" fmla="*/ 2081 w 2409"/>
              <a:gd name="T19" fmla="*/ 437 h 606"/>
              <a:gd name="T20" fmla="*/ 2267 w 2409"/>
              <a:gd name="T21" fmla="*/ 290 h 606"/>
              <a:gd name="T22" fmla="*/ 2368 w 2409"/>
              <a:gd name="T23" fmla="*/ 150 h 606"/>
              <a:gd name="T24" fmla="*/ 2409 w 2409"/>
              <a:gd name="T25" fmla="*/ 0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09" h="606">
                <a:moveTo>
                  <a:pt x="0" y="2"/>
                </a:moveTo>
                <a:cubicBezTo>
                  <a:pt x="5" y="29"/>
                  <a:pt x="13" y="115"/>
                  <a:pt x="32" y="166"/>
                </a:cubicBezTo>
                <a:cubicBezTo>
                  <a:pt x="51" y="217"/>
                  <a:pt x="72" y="260"/>
                  <a:pt x="112" y="307"/>
                </a:cubicBezTo>
                <a:cubicBezTo>
                  <a:pt x="152" y="354"/>
                  <a:pt x="210" y="409"/>
                  <a:pt x="275" y="448"/>
                </a:cubicBezTo>
                <a:cubicBezTo>
                  <a:pt x="340" y="487"/>
                  <a:pt x="403" y="517"/>
                  <a:pt x="502" y="541"/>
                </a:cubicBezTo>
                <a:cubicBezTo>
                  <a:pt x="601" y="565"/>
                  <a:pt x="749" y="584"/>
                  <a:pt x="870" y="595"/>
                </a:cubicBezTo>
                <a:cubicBezTo>
                  <a:pt x="991" y="606"/>
                  <a:pt x="1116" y="606"/>
                  <a:pt x="1228" y="605"/>
                </a:cubicBezTo>
                <a:cubicBezTo>
                  <a:pt x="1340" y="604"/>
                  <a:pt x="1442" y="600"/>
                  <a:pt x="1542" y="589"/>
                </a:cubicBezTo>
                <a:cubicBezTo>
                  <a:pt x="1642" y="578"/>
                  <a:pt x="1740" y="563"/>
                  <a:pt x="1830" y="538"/>
                </a:cubicBezTo>
                <a:cubicBezTo>
                  <a:pt x="1920" y="513"/>
                  <a:pt x="2008" y="478"/>
                  <a:pt x="2081" y="437"/>
                </a:cubicBezTo>
                <a:cubicBezTo>
                  <a:pt x="2154" y="396"/>
                  <a:pt x="2219" y="338"/>
                  <a:pt x="2267" y="290"/>
                </a:cubicBezTo>
                <a:cubicBezTo>
                  <a:pt x="2315" y="242"/>
                  <a:pt x="2344" y="198"/>
                  <a:pt x="2368" y="150"/>
                </a:cubicBezTo>
                <a:cubicBezTo>
                  <a:pt x="2392" y="102"/>
                  <a:pt x="2401" y="51"/>
                  <a:pt x="2409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" name="Freeform 2847"/>
          <p:cNvSpPr>
            <a:spLocks/>
          </p:cNvSpPr>
          <p:nvPr/>
        </p:nvSpPr>
        <p:spPr bwMode="auto">
          <a:xfrm>
            <a:off x="1542635" y="2564005"/>
            <a:ext cx="5856288" cy="1408112"/>
          </a:xfrm>
          <a:custGeom>
            <a:avLst/>
            <a:gdLst>
              <a:gd name="T0" fmla="*/ 0 w 3689"/>
              <a:gd name="T1" fmla="*/ 6 h 887"/>
              <a:gd name="T2" fmla="*/ 35 w 3689"/>
              <a:gd name="T3" fmla="*/ 166 h 887"/>
              <a:gd name="T4" fmla="*/ 131 w 3689"/>
              <a:gd name="T5" fmla="*/ 374 h 887"/>
              <a:gd name="T6" fmla="*/ 294 w 3689"/>
              <a:gd name="T7" fmla="*/ 560 h 887"/>
              <a:gd name="T8" fmla="*/ 537 w 3689"/>
              <a:gd name="T9" fmla="*/ 707 h 887"/>
              <a:gd name="T10" fmla="*/ 899 w 3689"/>
              <a:gd name="T11" fmla="*/ 803 h 887"/>
              <a:gd name="T12" fmla="*/ 1232 w 3689"/>
              <a:gd name="T13" fmla="*/ 860 h 887"/>
              <a:gd name="T14" fmla="*/ 1660 w 3689"/>
              <a:gd name="T15" fmla="*/ 880 h 887"/>
              <a:gd name="T16" fmla="*/ 2144 w 3689"/>
              <a:gd name="T17" fmla="*/ 880 h 887"/>
              <a:gd name="T18" fmla="*/ 2592 w 3689"/>
              <a:gd name="T19" fmla="*/ 838 h 887"/>
              <a:gd name="T20" fmla="*/ 3011 w 3689"/>
              <a:gd name="T21" fmla="*/ 739 h 887"/>
              <a:gd name="T22" fmla="*/ 3328 w 3689"/>
              <a:gd name="T23" fmla="*/ 593 h 887"/>
              <a:gd name="T24" fmla="*/ 3528 w 3689"/>
              <a:gd name="T25" fmla="*/ 420 h 887"/>
              <a:gd name="T26" fmla="*/ 3654 w 3689"/>
              <a:gd name="T27" fmla="*/ 188 h 887"/>
              <a:gd name="T28" fmla="*/ 3689 w 3689"/>
              <a:gd name="T29" fmla="*/ 0 h 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689" h="887">
                <a:moveTo>
                  <a:pt x="0" y="6"/>
                </a:moveTo>
                <a:cubicBezTo>
                  <a:pt x="5" y="33"/>
                  <a:pt x="13" y="105"/>
                  <a:pt x="35" y="166"/>
                </a:cubicBezTo>
                <a:cubicBezTo>
                  <a:pt x="57" y="227"/>
                  <a:pt x="88" y="308"/>
                  <a:pt x="131" y="374"/>
                </a:cubicBezTo>
                <a:cubicBezTo>
                  <a:pt x="174" y="440"/>
                  <a:pt x="226" y="504"/>
                  <a:pt x="294" y="560"/>
                </a:cubicBezTo>
                <a:cubicBezTo>
                  <a:pt x="362" y="616"/>
                  <a:pt x="436" y="667"/>
                  <a:pt x="537" y="707"/>
                </a:cubicBezTo>
                <a:cubicBezTo>
                  <a:pt x="638" y="747"/>
                  <a:pt x="783" y="778"/>
                  <a:pt x="899" y="803"/>
                </a:cubicBezTo>
                <a:cubicBezTo>
                  <a:pt x="1015" y="828"/>
                  <a:pt x="1105" y="847"/>
                  <a:pt x="1232" y="860"/>
                </a:cubicBezTo>
                <a:cubicBezTo>
                  <a:pt x="1359" y="873"/>
                  <a:pt x="1508" y="877"/>
                  <a:pt x="1660" y="880"/>
                </a:cubicBezTo>
                <a:cubicBezTo>
                  <a:pt x="1812" y="883"/>
                  <a:pt x="1989" y="887"/>
                  <a:pt x="2144" y="880"/>
                </a:cubicBezTo>
                <a:cubicBezTo>
                  <a:pt x="2299" y="873"/>
                  <a:pt x="2448" y="861"/>
                  <a:pt x="2592" y="838"/>
                </a:cubicBezTo>
                <a:cubicBezTo>
                  <a:pt x="2736" y="815"/>
                  <a:pt x="2888" y="780"/>
                  <a:pt x="3011" y="739"/>
                </a:cubicBezTo>
                <a:cubicBezTo>
                  <a:pt x="3134" y="698"/>
                  <a:pt x="3242" y="646"/>
                  <a:pt x="3328" y="593"/>
                </a:cubicBezTo>
                <a:cubicBezTo>
                  <a:pt x="3414" y="540"/>
                  <a:pt x="3474" y="487"/>
                  <a:pt x="3528" y="420"/>
                </a:cubicBezTo>
                <a:cubicBezTo>
                  <a:pt x="3582" y="353"/>
                  <a:pt x="3627" y="258"/>
                  <a:pt x="3654" y="188"/>
                </a:cubicBezTo>
                <a:cubicBezTo>
                  <a:pt x="3681" y="118"/>
                  <a:pt x="3682" y="39"/>
                  <a:pt x="3689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" name="Line 2848"/>
          <p:cNvSpPr>
            <a:spLocks noChangeShapeType="1"/>
          </p:cNvSpPr>
          <p:nvPr/>
        </p:nvSpPr>
        <p:spPr bwMode="auto">
          <a:xfrm>
            <a:off x="1044160" y="4432492"/>
            <a:ext cx="6934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" name="Freeform 2849"/>
          <p:cNvSpPr>
            <a:spLocks/>
          </p:cNvSpPr>
          <p:nvPr/>
        </p:nvSpPr>
        <p:spPr bwMode="auto">
          <a:xfrm>
            <a:off x="2022060" y="2744980"/>
            <a:ext cx="1374775" cy="1682750"/>
          </a:xfrm>
          <a:custGeom>
            <a:avLst/>
            <a:gdLst>
              <a:gd name="T0" fmla="*/ 866 w 866"/>
              <a:gd name="T1" fmla="*/ 0 h 1060"/>
              <a:gd name="T2" fmla="*/ 751 w 866"/>
              <a:gd name="T3" fmla="*/ 49 h 1060"/>
              <a:gd name="T4" fmla="*/ 592 w 866"/>
              <a:gd name="T5" fmla="*/ 144 h 1060"/>
              <a:gd name="T6" fmla="*/ 425 w 866"/>
              <a:gd name="T7" fmla="*/ 277 h 1060"/>
              <a:gd name="T8" fmla="*/ 235 w 866"/>
              <a:gd name="T9" fmla="*/ 478 h 1060"/>
              <a:gd name="T10" fmla="*/ 94 w 866"/>
              <a:gd name="T11" fmla="*/ 749 h 1060"/>
              <a:gd name="T12" fmla="*/ 0 w 866"/>
              <a:gd name="T13" fmla="*/ 1060 h 10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6" h="1060">
                <a:moveTo>
                  <a:pt x="866" y="0"/>
                </a:moveTo>
                <a:cubicBezTo>
                  <a:pt x="847" y="8"/>
                  <a:pt x="797" y="25"/>
                  <a:pt x="751" y="49"/>
                </a:cubicBezTo>
                <a:cubicBezTo>
                  <a:pt x="705" y="73"/>
                  <a:pt x="646" y="106"/>
                  <a:pt x="592" y="144"/>
                </a:cubicBezTo>
                <a:cubicBezTo>
                  <a:pt x="538" y="182"/>
                  <a:pt x="484" y="221"/>
                  <a:pt x="425" y="277"/>
                </a:cubicBezTo>
                <a:cubicBezTo>
                  <a:pt x="366" y="333"/>
                  <a:pt x="290" y="399"/>
                  <a:pt x="235" y="478"/>
                </a:cubicBezTo>
                <a:cubicBezTo>
                  <a:pt x="180" y="557"/>
                  <a:pt x="133" y="652"/>
                  <a:pt x="94" y="749"/>
                </a:cubicBezTo>
                <a:cubicBezTo>
                  <a:pt x="55" y="846"/>
                  <a:pt x="20" y="995"/>
                  <a:pt x="0" y="106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" name="Freeform 2850"/>
          <p:cNvSpPr>
            <a:spLocks/>
          </p:cNvSpPr>
          <p:nvPr/>
        </p:nvSpPr>
        <p:spPr bwMode="auto">
          <a:xfrm>
            <a:off x="2868198" y="2767205"/>
            <a:ext cx="685800" cy="1660525"/>
          </a:xfrm>
          <a:custGeom>
            <a:avLst/>
            <a:gdLst>
              <a:gd name="T0" fmla="*/ 346 w 346"/>
              <a:gd name="T1" fmla="*/ 0 h 1046"/>
              <a:gd name="T2" fmla="*/ 314 w 346"/>
              <a:gd name="T3" fmla="*/ 115 h 1046"/>
              <a:gd name="T4" fmla="*/ 250 w 346"/>
              <a:gd name="T5" fmla="*/ 262 h 1046"/>
              <a:gd name="T6" fmla="*/ 157 w 346"/>
              <a:gd name="T7" fmla="*/ 451 h 1046"/>
              <a:gd name="T8" fmla="*/ 56 w 346"/>
              <a:gd name="T9" fmla="*/ 684 h 1046"/>
              <a:gd name="T10" fmla="*/ 13 w 346"/>
              <a:gd name="T11" fmla="*/ 907 h 1046"/>
              <a:gd name="T12" fmla="*/ 0 w 346"/>
              <a:gd name="T13" fmla="*/ 1046 h 10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1046">
                <a:moveTo>
                  <a:pt x="346" y="0"/>
                </a:moveTo>
                <a:cubicBezTo>
                  <a:pt x="338" y="35"/>
                  <a:pt x="330" y="71"/>
                  <a:pt x="314" y="115"/>
                </a:cubicBezTo>
                <a:cubicBezTo>
                  <a:pt x="298" y="159"/>
                  <a:pt x="276" y="206"/>
                  <a:pt x="250" y="262"/>
                </a:cubicBezTo>
                <a:cubicBezTo>
                  <a:pt x="224" y="318"/>
                  <a:pt x="189" y="381"/>
                  <a:pt x="157" y="451"/>
                </a:cubicBezTo>
                <a:cubicBezTo>
                  <a:pt x="125" y="521"/>
                  <a:pt x="80" y="608"/>
                  <a:pt x="56" y="684"/>
                </a:cubicBezTo>
                <a:cubicBezTo>
                  <a:pt x="32" y="760"/>
                  <a:pt x="22" y="847"/>
                  <a:pt x="13" y="907"/>
                </a:cubicBezTo>
                <a:cubicBezTo>
                  <a:pt x="4" y="967"/>
                  <a:pt x="3" y="1017"/>
                  <a:pt x="0" y="1046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" name="Freeform 2851"/>
          <p:cNvSpPr>
            <a:spLocks/>
          </p:cNvSpPr>
          <p:nvPr/>
        </p:nvSpPr>
        <p:spPr bwMode="auto">
          <a:xfrm>
            <a:off x="3517485" y="2765617"/>
            <a:ext cx="366713" cy="1671638"/>
          </a:xfrm>
          <a:custGeom>
            <a:avLst/>
            <a:gdLst>
              <a:gd name="T0" fmla="*/ 231 w 231"/>
              <a:gd name="T1" fmla="*/ 0 h 1053"/>
              <a:gd name="T2" fmla="*/ 205 w 231"/>
              <a:gd name="T3" fmla="*/ 150 h 1053"/>
              <a:gd name="T4" fmla="*/ 148 w 231"/>
              <a:gd name="T5" fmla="*/ 372 h 1053"/>
              <a:gd name="T6" fmla="*/ 90 w 231"/>
              <a:gd name="T7" fmla="*/ 567 h 1053"/>
              <a:gd name="T8" fmla="*/ 40 w 231"/>
              <a:gd name="T9" fmla="*/ 772 h 1053"/>
              <a:gd name="T10" fmla="*/ 0 w 231"/>
              <a:gd name="T11" fmla="*/ 1053 h 10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1" h="1053">
                <a:moveTo>
                  <a:pt x="231" y="0"/>
                </a:moveTo>
                <a:cubicBezTo>
                  <a:pt x="227" y="25"/>
                  <a:pt x="219" y="88"/>
                  <a:pt x="205" y="150"/>
                </a:cubicBezTo>
                <a:cubicBezTo>
                  <a:pt x="191" y="212"/>
                  <a:pt x="167" y="302"/>
                  <a:pt x="148" y="372"/>
                </a:cubicBezTo>
                <a:cubicBezTo>
                  <a:pt x="129" y="442"/>
                  <a:pt x="108" y="500"/>
                  <a:pt x="90" y="567"/>
                </a:cubicBezTo>
                <a:cubicBezTo>
                  <a:pt x="72" y="634"/>
                  <a:pt x="55" y="691"/>
                  <a:pt x="40" y="772"/>
                </a:cubicBezTo>
                <a:cubicBezTo>
                  <a:pt x="25" y="853"/>
                  <a:pt x="8" y="995"/>
                  <a:pt x="0" y="1053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" name="Freeform 2852"/>
          <p:cNvSpPr>
            <a:spLocks/>
          </p:cNvSpPr>
          <p:nvPr/>
        </p:nvSpPr>
        <p:spPr bwMode="auto">
          <a:xfrm>
            <a:off x="4087398" y="2770380"/>
            <a:ext cx="149225" cy="1643062"/>
          </a:xfrm>
          <a:custGeom>
            <a:avLst/>
            <a:gdLst>
              <a:gd name="T0" fmla="*/ 94 w 94"/>
              <a:gd name="T1" fmla="*/ 0 h 1035"/>
              <a:gd name="T2" fmla="*/ 80 w 94"/>
              <a:gd name="T3" fmla="*/ 224 h 1035"/>
              <a:gd name="T4" fmla="*/ 45 w 94"/>
              <a:gd name="T5" fmla="*/ 520 h 1035"/>
              <a:gd name="T6" fmla="*/ 19 w 94"/>
              <a:gd name="T7" fmla="*/ 798 h 1035"/>
              <a:gd name="T8" fmla="*/ 0 w 94"/>
              <a:gd name="T9" fmla="*/ 1035 h 1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" h="1035">
                <a:moveTo>
                  <a:pt x="94" y="0"/>
                </a:moveTo>
                <a:cubicBezTo>
                  <a:pt x="92" y="37"/>
                  <a:pt x="88" y="137"/>
                  <a:pt x="80" y="224"/>
                </a:cubicBezTo>
                <a:cubicBezTo>
                  <a:pt x="72" y="311"/>
                  <a:pt x="55" y="424"/>
                  <a:pt x="45" y="520"/>
                </a:cubicBezTo>
                <a:cubicBezTo>
                  <a:pt x="35" y="616"/>
                  <a:pt x="26" y="712"/>
                  <a:pt x="19" y="798"/>
                </a:cubicBezTo>
                <a:cubicBezTo>
                  <a:pt x="12" y="884"/>
                  <a:pt x="4" y="986"/>
                  <a:pt x="0" y="1035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7" name="Freeform 2853"/>
          <p:cNvSpPr>
            <a:spLocks/>
          </p:cNvSpPr>
          <p:nvPr/>
        </p:nvSpPr>
        <p:spPr bwMode="auto">
          <a:xfrm>
            <a:off x="4590635" y="2765617"/>
            <a:ext cx="9525" cy="1666875"/>
          </a:xfrm>
          <a:custGeom>
            <a:avLst/>
            <a:gdLst>
              <a:gd name="T0" fmla="*/ 6 w 6"/>
              <a:gd name="T1" fmla="*/ 0 h 1050"/>
              <a:gd name="T2" fmla="*/ 1 w 6"/>
              <a:gd name="T3" fmla="*/ 295 h 1050"/>
              <a:gd name="T4" fmla="*/ 0 w 6"/>
              <a:gd name="T5" fmla="*/ 556 h 1050"/>
              <a:gd name="T6" fmla="*/ 1 w 6"/>
              <a:gd name="T7" fmla="*/ 801 h 1050"/>
              <a:gd name="T8" fmla="*/ 1 w 6"/>
              <a:gd name="T9" fmla="*/ 105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" h="1050">
                <a:moveTo>
                  <a:pt x="6" y="0"/>
                </a:moveTo>
                <a:cubicBezTo>
                  <a:pt x="6" y="49"/>
                  <a:pt x="2" y="202"/>
                  <a:pt x="1" y="295"/>
                </a:cubicBezTo>
                <a:cubicBezTo>
                  <a:pt x="0" y="388"/>
                  <a:pt x="0" y="472"/>
                  <a:pt x="0" y="556"/>
                </a:cubicBezTo>
                <a:cubicBezTo>
                  <a:pt x="0" y="640"/>
                  <a:pt x="1" y="719"/>
                  <a:pt x="1" y="801"/>
                </a:cubicBezTo>
                <a:cubicBezTo>
                  <a:pt x="1" y="883"/>
                  <a:pt x="2" y="966"/>
                  <a:pt x="1" y="105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" name="Freeform 2854"/>
          <p:cNvSpPr>
            <a:spLocks/>
          </p:cNvSpPr>
          <p:nvPr/>
        </p:nvSpPr>
        <p:spPr bwMode="auto">
          <a:xfrm>
            <a:off x="4946235" y="2767205"/>
            <a:ext cx="142875" cy="1666875"/>
          </a:xfrm>
          <a:custGeom>
            <a:avLst/>
            <a:gdLst>
              <a:gd name="T0" fmla="*/ 0 w 90"/>
              <a:gd name="T1" fmla="*/ 0 h 1050"/>
              <a:gd name="T2" fmla="*/ 16 w 90"/>
              <a:gd name="T3" fmla="*/ 280 h 1050"/>
              <a:gd name="T4" fmla="*/ 42 w 90"/>
              <a:gd name="T5" fmla="*/ 561 h 1050"/>
              <a:gd name="T6" fmla="*/ 78 w 90"/>
              <a:gd name="T7" fmla="*/ 833 h 1050"/>
              <a:gd name="T8" fmla="*/ 90 w 90"/>
              <a:gd name="T9" fmla="*/ 105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1050">
                <a:moveTo>
                  <a:pt x="0" y="0"/>
                </a:moveTo>
                <a:cubicBezTo>
                  <a:pt x="3" y="47"/>
                  <a:pt x="9" y="187"/>
                  <a:pt x="16" y="280"/>
                </a:cubicBezTo>
                <a:cubicBezTo>
                  <a:pt x="23" y="373"/>
                  <a:pt x="32" y="469"/>
                  <a:pt x="42" y="561"/>
                </a:cubicBezTo>
                <a:cubicBezTo>
                  <a:pt x="52" y="653"/>
                  <a:pt x="70" y="752"/>
                  <a:pt x="78" y="833"/>
                </a:cubicBezTo>
                <a:cubicBezTo>
                  <a:pt x="86" y="914"/>
                  <a:pt x="88" y="982"/>
                  <a:pt x="90" y="105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9" name="Freeform 2855"/>
          <p:cNvSpPr>
            <a:spLocks/>
          </p:cNvSpPr>
          <p:nvPr/>
        </p:nvSpPr>
        <p:spPr bwMode="auto">
          <a:xfrm>
            <a:off x="5270085" y="2770380"/>
            <a:ext cx="373063" cy="1651000"/>
          </a:xfrm>
          <a:custGeom>
            <a:avLst/>
            <a:gdLst>
              <a:gd name="T0" fmla="*/ 0 w 235"/>
              <a:gd name="T1" fmla="*/ 0 h 1040"/>
              <a:gd name="T2" fmla="*/ 24 w 235"/>
              <a:gd name="T3" fmla="*/ 179 h 1040"/>
              <a:gd name="T4" fmla="*/ 93 w 235"/>
              <a:gd name="T5" fmla="*/ 442 h 1040"/>
              <a:gd name="T6" fmla="*/ 184 w 235"/>
              <a:gd name="T7" fmla="*/ 723 h 1040"/>
              <a:gd name="T8" fmla="*/ 235 w 235"/>
              <a:gd name="T9" fmla="*/ 1040 h 1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5" h="1040">
                <a:moveTo>
                  <a:pt x="0" y="0"/>
                </a:moveTo>
                <a:cubicBezTo>
                  <a:pt x="4" y="30"/>
                  <a:pt x="8" y="105"/>
                  <a:pt x="24" y="179"/>
                </a:cubicBezTo>
                <a:cubicBezTo>
                  <a:pt x="40" y="253"/>
                  <a:pt x="66" y="351"/>
                  <a:pt x="93" y="442"/>
                </a:cubicBezTo>
                <a:cubicBezTo>
                  <a:pt x="120" y="533"/>
                  <a:pt x="160" y="623"/>
                  <a:pt x="184" y="723"/>
                </a:cubicBezTo>
                <a:cubicBezTo>
                  <a:pt x="208" y="823"/>
                  <a:pt x="221" y="931"/>
                  <a:pt x="235" y="104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0" name="Freeform 2856"/>
          <p:cNvSpPr>
            <a:spLocks/>
          </p:cNvSpPr>
          <p:nvPr/>
        </p:nvSpPr>
        <p:spPr bwMode="auto">
          <a:xfrm>
            <a:off x="5552660" y="2767205"/>
            <a:ext cx="688975" cy="1660525"/>
          </a:xfrm>
          <a:custGeom>
            <a:avLst/>
            <a:gdLst>
              <a:gd name="T0" fmla="*/ 0 w 434"/>
              <a:gd name="T1" fmla="*/ 0 h 1046"/>
              <a:gd name="T2" fmla="*/ 33 w 434"/>
              <a:gd name="T3" fmla="*/ 105 h 1046"/>
              <a:gd name="T4" fmla="*/ 75 w 434"/>
              <a:gd name="T5" fmla="*/ 192 h 1046"/>
              <a:gd name="T6" fmla="*/ 187 w 434"/>
              <a:gd name="T7" fmla="*/ 360 h 1046"/>
              <a:gd name="T8" fmla="*/ 322 w 434"/>
              <a:gd name="T9" fmla="*/ 576 h 1046"/>
              <a:gd name="T10" fmla="*/ 406 w 434"/>
              <a:gd name="T11" fmla="*/ 836 h 1046"/>
              <a:gd name="T12" fmla="*/ 434 w 434"/>
              <a:gd name="T13" fmla="*/ 1046 h 10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4" h="1046">
                <a:moveTo>
                  <a:pt x="0" y="0"/>
                </a:moveTo>
                <a:cubicBezTo>
                  <a:pt x="5" y="17"/>
                  <a:pt x="21" y="73"/>
                  <a:pt x="33" y="105"/>
                </a:cubicBezTo>
                <a:cubicBezTo>
                  <a:pt x="45" y="137"/>
                  <a:pt x="49" y="149"/>
                  <a:pt x="75" y="192"/>
                </a:cubicBezTo>
                <a:cubicBezTo>
                  <a:pt x="101" y="235"/>
                  <a:pt x="146" y="296"/>
                  <a:pt x="187" y="360"/>
                </a:cubicBezTo>
                <a:cubicBezTo>
                  <a:pt x="228" y="424"/>
                  <a:pt x="286" y="497"/>
                  <a:pt x="322" y="576"/>
                </a:cubicBezTo>
                <a:cubicBezTo>
                  <a:pt x="358" y="655"/>
                  <a:pt x="388" y="758"/>
                  <a:pt x="406" y="836"/>
                </a:cubicBezTo>
                <a:cubicBezTo>
                  <a:pt x="425" y="914"/>
                  <a:pt x="428" y="1002"/>
                  <a:pt x="434" y="1046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" name="Freeform 2857"/>
          <p:cNvSpPr>
            <a:spLocks/>
          </p:cNvSpPr>
          <p:nvPr/>
        </p:nvSpPr>
        <p:spPr bwMode="auto">
          <a:xfrm>
            <a:off x="5684423" y="2737042"/>
            <a:ext cx="1363662" cy="1695450"/>
          </a:xfrm>
          <a:custGeom>
            <a:avLst/>
            <a:gdLst>
              <a:gd name="T0" fmla="*/ 0 w 859"/>
              <a:gd name="T1" fmla="*/ 1 h 1068"/>
              <a:gd name="T2" fmla="*/ 82 w 859"/>
              <a:gd name="T3" fmla="*/ 20 h 1068"/>
              <a:gd name="T4" fmla="*/ 280 w 859"/>
              <a:gd name="T5" fmla="*/ 121 h 1068"/>
              <a:gd name="T6" fmla="*/ 507 w 859"/>
              <a:gd name="T7" fmla="*/ 310 h 1068"/>
              <a:gd name="T8" fmla="*/ 693 w 859"/>
              <a:gd name="T9" fmla="*/ 550 h 1068"/>
              <a:gd name="T10" fmla="*/ 818 w 859"/>
              <a:gd name="T11" fmla="*/ 796 h 1068"/>
              <a:gd name="T12" fmla="*/ 859 w 859"/>
              <a:gd name="T13" fmla="*/ 1068 h 10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9" h="1068">
                <a:moveTo>
                  <a:pt x="0" y="1"/>
                </a:moveTo>
                <a:cubicBezTo>
                  <a:pt x="14" y="5"/>
                  <a:pt x="35" y="0"/>
                  <a:pt x="82" y="20"/>
                </a:cubicBezTo>
                <a:cubicBezTo>
                  <a:pt x="129" y="40"/>
                  <a:pt x="209" y="73"/>
                  <a:pt x="280" y="121"/>
                </a:cubicBezTo>
                <a:cubicBezTo>
                  <a:pt x="351" y="169"/>
                  <a:pt x="438" y="239"/>
                  <a:pt x="507" y="310"/>
                </a:cubicBezTo>
                <a:cubicBezTo>
                  <a:pt x="576" y="381"/>
                  <a:pt x="641" y="469"/>
                  <a:pt x="693" y="550"/>
                </a:cubicBezTo>
                <a:cubicBezTo>
                  <a:pt x="745" y="631"/>
                  <a:pt x="790" y="710"/>
                  <a:pt x="818" y="796"/>
                </a:cubicBezTo>
                <a:cubicBezTo>
                  <a:pt x="846" y="882"/>
                  <a:pt x="852" y="975"/>
                  <a:pt x="859" y="1068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2" name="Line 2858"/>
          <p:cNvSpPr>
            <a:spLocks noChangeShapeType="1"/>
          </p:cNvSpPr>
          <p:nvPr/>
        </p:nvSpPr>
        <p:spPr bwMode="auto">
          <a:xfrm>
            <a:off x="5595523" y="1821055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" name="Text Box 2862"/>
          <p:cNvSpPr txBox="1">
            <a:spLocks noChangeArrowheads="1"/>
          </p:cNvSpPr>
          <p:nvPr/>
        </p:nvSpPr>
        <p:spPr bwMode="auto">
          <a:xfrm>
            <a:off x="3385723" y="2367155"/>
            <a:ext cx="32092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B</a:t>
            </a:r>
          </a:p>
        </p:txBody>
      </p:sp>
      <p:sp>
        <p:nvSpPr>
          <p:cNvPr id="207" name="Text Box 2863"/>
          <p:cNvSpPr txBox="1">
            <a:spLocks noChangeArrowheads="1"/>
          </p:cNvSpPr>
          <p:nvPr/>
        </p:nvSpPr>
        <p:spPr bwMode="auto">
          <a:xfrm>
            <a:off x="3266660" y="2692592"/>
            <a:ext cx="33214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C</a:t>
            </a:r>
          </a:p>
        </p:txBody>
      </p:sp>
      <p:sp>
        <p:nvSpPr>
          <p:cNvPr id="208" name="Text Box 2864"/>
          <p:cNvSpPr txBox="1">
            <a:spLocks noChangeArrowheads="1"/>
          </p:cNvSpPr>
          <p:nvPr/>
        </p:nvSpPr>
        <p:spPr bwMode="auto">
          <a:xfrm>
            <a:off x="5546310" y="2686242"/>
            <a:ext cx="33214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D</a:t>
            </a:r>
          </a:p>
        </p:txBody>
      </p:sp>
      <p:sp>
        <p:nvSpPr>
          <p:cNvPr id="209" name="Text Box 2865"/>
          <p:cNvSpPr txBox="1">
            <a:spLocks noChangeArrowheads="1"/>
          </p:cNvSpPr>
          <p:nvPr/>
        </p:nvSpPr>
        <p:spPr bwMode="auto">
          <a:xfrm>
            <a:off x="5401848" y="2368742"/>
            <a:ext cx="32092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E</a:t>
            </a:r>
          </a:p>
        </p:txBody>
      </p:sp>
      <p:sp>
        <p:nvSpPr>
          <p:cNvPr id="211" name="Line 2867"/>
          <p:cNvSpPr>
            <a:spLocks noChangeShapeType="1"/>
          </p:cNvSpPr>
          <p:nvPr/>
        </p:nvSpPr>
        <p:spPr bwMode="auto">
          <a:xfrm>
            <a:off x="6138448" y="1814705"/>
            <a:ext cx="0" cy="64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" name="Line 2868"/>
          <p:cNvSpPr>
            <a:spLocks noChangeShapeType="1"/>
          </p:cNvSpPr>
          <p:nvPr/>
        </p:nvSpPr>
        <p:spPr bwMode="auto">
          <a:xfrm>
            <a:off x="6944898" y="222745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3" name="Text Box 2869"/>
          <p:cNvSpPr txBox="1">
            <a:spLocks noChangeArrowheads="1"/>
          </p:cNvSpPr>
          <p:nvPr/>
        </p:nvSpPr>
        <p:spPr bwMode="auto">
          <a:xfrm>
            <a:off x="6127335" y="1875030"/>
            <a:ext cx="77470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 dirty="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600" b="1" i="1" dirty="0">
                <a:latin typeface="Times New Roman" pitchFamily="18" charset="0"/>
              </a:rPr>
              <a:t>H</a:t>
            </a:r>
            <a:r>
              <a:rPr lang="en-US" altLang="zh-CN" sz="1600" b="1" dirty="0">
                <a:latin typeface="Times New Roman" pitchFamily="18" charset="0"/>
              </a:rPr>
              <a:t>=5m</a:t>
            </a:r>
            <a:endParaRPr lang="el-GR" altLang="zh-CN" sz="1600" b="1" dirty="0">
              <a:latin typeface="Times New Roman" pitchFamily="18" charset="0"/>
            </a:endParaRPr>
          </a:p>
        </p:txBody>
      </p:sp>
      <p:sp>
        <p:nvSpPr>
          <p:cNvPr id="214" name="Text Box 2870"/>
          <p:cNvSpPr txBox="1">
            <a:spLocks noChangeArrowheads="1"/>
          </p:cNvSpPr>
          <p:nvPr/>
        </p:nvSpPr>
        <p:spPr bwMode="auto">
          <a:xfrm>
            <a:off x="6941723" y="2109980"/>
            <a:ext cx="37465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CN" sz="1600" b="1">
                <a:latin typeface="Times New Roman" pitchFamily="18" charset="0"/>
              </a:rPr>
              <a:t>m</a:t>
            </a:r>
            <a:endParaRPr lang="el-GR" altLang="zh-CN" sz="1600" b="1">
              <a:latin typeface="Times New Roman" pitchFamily="18" charset="0"/>
            </a:endParaRPr>
          </a:p>
        </p:txBody>
      </p:sp>
      <p:sp>
        <p:nvSpPr>
          <p:cNvPr id="218" name="Text Box 2874"/>
          <p:cNvSpPr txBox="1">
            <a:spLocks noChangeArrowheads="1"/>
          </p:cNvSpPr>
          <p:nvPr/>
        </p:nvSpPr>
        <p:spPr bwMode="auto">
          <a:xfrm>
            <a:off x="7928447" y="2219157"/>
            <a:ext cx="30970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 dirty="0">
                <a:latin typeface="Times New Roman" pitchFamily="18" charset="0"/>
              </a:rPr>
              <a:t>F</a:t>
            </a:r>
          </a:p>
        </p:txBody>
      </p:sp>
      <p:sp>
        <p:nvSpPr>
          <p:cNvPr id="219" name="AutoShape 2875"/>
          <p:cNvSpPr>
            <a:spLocks noChangeArrowheads="1"/>
          </p:cNvSpPr>
          <p:nvPr/>
        </p:nvSpPr>
        <p:spPr bwMode="auto">
          <a:xfrm flipV="1">
            <a:off x="6584535" y="2344930"/>
            <a:ext cx="136525" cy="1174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" name="Line 2876"/>
          <p:cNvSpPr>
            <a:spLocks noChangeShapeType="1"/>
          </p:cNvSpPr>
          <p:nvPr/>
        </p:nvSpPr>
        <p:spPr bwMode="auto">
          <a:xfrm>
            <a:off x="6521035" y="2498917"/>
            <a:ext cx="1190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" name="Line 2877"/>
          <p:cNvSpPr>
            <a:spLocks noChangeShapeType="1"/>
          </p:cNvSpPr>
          <p:nvPr/>
        </p:nvSpPr>
        <p:spPr bwMode="auto">
          <a:xfrm>
            <a:off x="6682960" y="2498917"/>
            <a:ext cx="1190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2" name="Line 2878"/>
          <p:cNvSpPr>
            <a:spLocks noChangeShapeType="1"/>
          </p:cNvSpPr>
          <p:nvPr/>
        </p:nvSpPr>
        <p:spPr bwMode="auto">
          <a:xfrm>
            <a:off x="6592473" y="2533842"/>
            <a:ext cx="1698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3" name="Text Box 2879"/>
          <p:cNvSpPr txBox="1">
            <a:spLocks noChangeArrowheads="1"/>
          </p:cNvSpPr>
          <p:nvPr/>
        </p:nvSpPr>
        <p:spPr bwMode="auto">
          <a:xfrm>
            <a:off x="1031460" y="4102292"/>
            <a:ext cx="344966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G</a:t>
            </a:r>
          </a:p>
        </p:txBody>
      </p:sp>
      <p:sp>
        <p:nvSpPr>
          <p:cNvPr id="224" name="Text Box 2880"/>
          <p:cNvSpPr txBox="1">
            <a:spLocks noChangeArrowheads="1"/>
          </p:cNvSpPr>
          <p:nvPr/>
        </p:nvSpPr>
        <p:spPr bwMode="auto">
          <a:xfrm>
            <a:off x="7652923" y="4102292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>
                <a:latin typeface="Times New Roman" pitchFamily="18" charset="0"/>
              </a:rPr>
              <a:t>H</a:t>
            </a:r>
          </a:p>
        </p:txBody>
      </p:sp>
      <p:sp>
        <p:nvSpPr>
          <p:cNvPr id="225" name="Text Box 2881"/>
          <p:cNvSpPr txBox="1">
            <a:spLocks noChangeArrowheads="1"/>
          </p:cNvSpPr>
          <p:nvPr/>
        </p:nvSpPr>
        <p:spPr bwMode="auto">
          <a:xfrm>
            <a:off x="8071527" y="4311842"/>
            <a:ext cx="10259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ctr"/>
            <a:r>
              <a:rPr lang="en-US" altLang="zh-CN" sz="1600" b="1">
                <a:latin typeface="Times New Roman" pitchFamily="18" charset="0"/>
              </a:rPr>
              <a:t>0</a:t>
            </a:r>
          </a:p>
        </p:txBody>
      </p:sp>
      <p:sp>
        <p:nvSpPr>
          <p:cNvPr id="226" name="Line 2882"/>
          <p:cNvSpPr>
            <a:spLocks noChangeShapeType="1"/>
          </p:cNvSpPr>
          <p:nvPr/>
        </p:nvSpPr>
        <p:spPr bwMode="auto">
          <a:xfrm flipV="1">
            <a:off x="6954423" y="257511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" name="Text Box 2883"/>
          <p:cNvSpPr txBox="1">
            <a:spLocks noChangeArrowheads="1"/>
          </p:cNvSpPr>
          <p:nvPr/>
        </p:nvSpPr>
        <p:spPr bwMode="auto">
          <a:xfrm>
            <a:off x="5162135" y="4696650"/>
            <a:ext cx="1011815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1600" b="1" dirty="0">
                <a:latin typeface="Times New Roman" pitchFamily="18" charset="0"/>
              </a:rPr>
              <a:t>不透水层</a:t>
            </a:r>
          </a:p>
        </p:txBody>
      </p:sp>
      <p:sp>
        <p:nvSpPr>
          <p:cNvPr id="228" name="Text Box 2884"/>
          <p:cNvSpPr txBox="1">
            <a:spLocks noChangeArrowheads="1"/>
          </p:cNvSpPr>
          <p:nvPr/>
        </p:nvSpPr>
        <p:spPr bwMode="auto">
          <a:xfrm>
            <a:off x="3123785" y="2287780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</a:t>
            </a:r>
          </a:p>
        </p:txBody>
      </p:sp>
      <p:sp>
        <p:nvSpPr>
          <p:cNvPr id="229" name="Text Box 2885"/>
          <p:cNvSpPr txBox="1">
            <a:spLocks noChangeArrowheads="1"/>
          </p:cNvSpPr>
          <p:nvPr/>
        </p:nvSpPr>
        <p:spPr bwMode="auto">
          <a:xfrm>
            <a:off x="2899948" y="2289367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</a:t>
            </a:r>
          </a:p>
        </p:txBody>
      </p:sp>
      <p:sp>
        <p:nvSpPr>
          <p:cNvPr id="230" name="Text Box 2886"/>
          <p:cNvSpPr txBox="1">
            <a:spLocks noChangeArrowheads="1"/>
          </p:cNvSpPr>
          <p:nvPr/>
        </p:nvSpPr>
        <p:spPr bwMode="auto">
          <a:xfrm>
            <a:off x="1309273" y="2268730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</a:t>
            </a:r>
          </a:p>
        </p:txBody>
      </p:sp>
      <p:sp>
        <p:nvSpPr>
          <p:cNvPr id="231" name="Text Box 2887"/>
          <p:cNvSpPr txBox="1">
            <a:spLocks noChangeArrowheads="1"/>
          </p:cNvSpPr>
          <p:nvPr/>
        </p:nvSpPr>
        <p:spPr bwMode="auto">
          <a:xfrm>
            <a:off x="2396710" y="2279842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</a:t>
            </a:r>
          </a:p>
        </p:txBody>
      </p:sp>
      <p:sp>
        <p:nvSpPr>
          <p:cNvPr id="232" name="Text Box 2888"/>
          <p:cNvSpPr txBox="1">
            <a:spLocks noChangeArrowheads="1"/>
          </p:cNvSpPr>
          <p:nvPr/>
        </p:nvSpPr>
        <p:spPr bwMode="auto">
          <a:xfrm>
            <a:off x="707610" y="238779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1</a:t>
            </a:r>
          </a:p>
        </p:txBody>
      </p:sp>
      <p:sp>
        <p:nvSpPr>
          <p:cNvPr id="233" name="Text Box 2889"/>
          <p:cNvSpPr txBox="1">
            <a:spLocks noChangeArrowheads="1"/>
          </p:cNvSpPr>
          <p:nvPr/>
        </p:nvSpPr>
        <p:spPr bwMode="auto">
          <a:xfrm>
            <a:off x="1431510" y="4161030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</a:t>
            </a:r>
          </a:p>
        </p:txBody>
      </p:sp>
      <p:sp>
        <p:nvSpPr>
          <p:cNvPr id="234" name="Text Box 2890"/>
          <p:cNvSpPr txBox="1">
            <a:spLocks noChangeArrowheads="1"/>
          </p:cNvSpPr>
          <p:nvPr/>
        </p:nvSpPr>
        <p:spPr bwMode="auto">
          <a:xfrm>
            <a:off x="1858548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2</a:t>
            </a:r>
          </a:p>
        </p:txBody>
      </p:sp>
      <p:sp>
        <p:nvSpPr>
          <p:cNvPr id="235" name="Text Box 2891"/>
          <p:cNvSpPr txBox="1">
            <a:spLocks noChangeArrowheads="1"/>
          </p:cNvSpPr>
          <p:nvPr/>
        </p:nvSpPr>
        <p:spPr bwMode="auto">
          <a:xfrm>
            <a:off x="2841210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3</a:t>
            </a:r>
          </a:p>
        </p:txBody>
      </p:sp>
      <p:sp>
        <p:nvSpPr>
          <p:cNvPr id="236" name="Text Box 2892"/>
          <p:cNvSpPr txBox="1">
            <a:spLocks noChangeArrowheads="1"/>
          </p:cNvSpPr>
          <p:nvPr/>
        </p:nvSpPr>
        <p:spPr bwMode="auto">
          <a:xfrm>
            <a:off x="3412710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4</a:t>
            </a:r>
          </a:p>
        </p:txBody>
      </p:sp>
      <p:sp>
        <p:nvSpPr>
          <p:cNvPr id="237" name="Text Box 2893"/>
          <p:cNvSpPr txBox="1">
            <a:spLocks noChangeArrowheads="1"/>
          </p:cNvSpPr>
          <p:nvPr/>
        </p:nvSpPr>
        <p:spPr bwMode="auto">
          <a:xfrm>
            <a:off x="3930235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5</a:t>
            </a:r>
          </a:p>
        </p:txBody>
      </p:sp>
      <p:sp>
        <p:nvSpPr>
          <p:cNvPr id="238" name="Text Box 2894"/>
          <p:cNvSpPr txBox="1">
            <a:spLocks noChangeArrowheads="1"/>
          </p:cNvSpPr>
          <p:nvPr/>
        </p:nvSpPr>
        <p:spPr bwMode="auto">
          <a:xfrm>
            <a:off x="4463635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6</a:t>
            </a:r>
          </a:p>
        </p:txBody>
      </p:sp>
      <p:sp>
        <p:nvSpPr>
          <p:cNvPr id="239" name="Text Box 2895"/>
          <p:cNvSpPr txBox="1">
            <a:spLocks noChangeArrowheads="1"/>
          </p:cNvSpPr>
          <p:nvPr/>
        </p:nvSpPr>
        <p:spPr bwMode="auto">
          <a:xfrm>
            <a:off x="4928773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7</a:t>
            </a:r>
          </a:p>
        </p:txBody>
      </p:sp>
      <p:sp>
        <p:nvSpPr>
          <p:cNvPr id="240" name="Text Box 2896"/>
          <p:cNvSpPr txBox="1">
            <a:spLocks noChangeArrowheads="1"/>
          </p:cNvSpPr>
          <p:nvPr/>
        </p:nvSpPr>
        <p:spPr bwMode="auto">
          <a:xfrm>
            <a:off x="5455823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8</a:t>
            </a:r>
          </a:p>
        </p:txBody>
      </p:sp>
      <p:sp>
        <p:nvSpPr>
          <p:cNvPr id="241" name="Text Box 2897"/>
          <p:cNvSpPr txBox="1">
            <a:spLocks noChangeArrowheads="1"/>
          </p:cNvSpPr>
          <p:nvPr/>
        </p:nvSpPr>
        <p:spPr bwMode="auto">
          <a:xfrm>
            <a:off x="6057485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9</a:t>
            </a:r>
          </a:p>
        </p:txBody>
      </p:sp>
      <p:sp>
        <p:nvSpPr>
          <p:cNvPr id="242" name="Text Box 2898"/>
          <p:cNvSpPr txBox="1">
            <a:spLocks noChangeArrowheads="1"/>
          </p:cNvSpPr>
          <p:nvPr/>
        </p:nvSpPr>
        <p:spPr bwMode="auto">
          <a:xfrm>
            <a:off x="6857585" y="4451542"/>
            <a:ext cx="38985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10</a:t>
            </a:r>
          </a:p>
        </p:txBody>
      </p:sp>
      <p:sp>
        <p:nvSpPr>
          <p:cNvPr id="243" name="Text Box 2899"/>
          <p:cNvSpPr txBox="1">
            <a:spLocks noChangeArrowheads="1"/>
          </p:cNvSpPr>
          <p:nvPr/>
        </p:nvSpPr>
        <p:spPr bwMode="auto">
          <a:xfrm>
            <a:off x="7918035" y="2402080"/>
            <a:ext cx="37850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11</a:t>
            </a:r>
          </a:p>
        </p:txBody>
      </p:sp>
      <p:sp>
        <p:nvSpPr>
          <p:cNvPr id="244" name="Text Box 2900"/>
          <p:cNvSpPr txBox="1">
            <a:spLocks noChangeArrowheads="1"/>
          </p:cNvSpPr>
          <p:nvPr/>
        </p:nvSpPr>
        <p:spPr bwMode="auto">
          <a:xfrm>
            <a:off x="7373523" y="3246630"/>
            <a:ext cx="654346" cy="732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 i="1" dirty="0">
                <a:latin typeface="Times New Roman" pitchFamily="18" charset="0"/>
              </a:rPr>
              <a:t>N</a:t>
            </a:r>
            <a:r>
              <a:rPr lang="en-US" altLang="zh-CN" sz="1600" b="1" dirty="0">
                <a:latin typeface="Times New Roman" pitchFamily="18" charset="0"/>
              </a:rPr>
              <a:t>=10</a:t>
            </a:r>
          </a:p>
          <a:p>
            <a:r>
              <a:rPr lang="en-US" altLang="zh-CN" sz="1600" b="1" i="1" dirty="0">
                <a:latin typeface="Times New Roman" pitchFamily="18" charset="0"/>
              </a:rPr>
              <a:t>M</a:t>
            </a:r>
            <a:r>
              <a:rPr lang="en-US" altLang="zh-CN" sz="1600" b="1" dirty="0">
                <a:latin typeface="Times New Roman" pitchFamily="18" charset="0"/>
              </a:rPr>
              <a:t>=4</a:t>
            </a:r>
          </a:p>
        </p:txBody>
      </p:sp>
      <p:grpSp>
        <p:nvGrpSpPr>
          <p:cNvPr id="252" name="Group 2909"/>
          <p:cNvGrpSpPr>
            <a:grpSpLocks/>
          </p:cNvGrpSpPr>
          <p:nvPr/>
        </p:nvGrpSpPr>
        <p:grpSpPr bwMode="auto">
          <a:xfrm>
            <a:off x="7211598" y="4430905"/>
            <a:ext cx="625475" cy="133350"/>
            <a:chOff x="2644" y="2807"/>
            <a:chExt cx="481" cy="83"/>
          </a:xfrm>
        </p:grpSpPr>
        <p:sp>
          <p:nvSpPr>
            <p:cNvPr id="253" name="Freeform 2910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4" name="Freeform 2911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5" name="Freeform 2912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" name="Freeform 2913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7" name="Freeform 2914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8" name="Freeform 2915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9" name="Freeform 2916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0" name="Freeform 2917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" name="Freeform 2918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2" name="Freeform 2919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3" name="Freeform 2920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4" name="Freeform 2921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65" name="Group 2922"/>
          <p:cNvGrpSpPr>
            <a:grpSpLocks/>
          </p:cNvGrpSpPr>
          <p:nvPr/>
        </p:nvGrpSpPr>
        <p:grpSpPr bwMode="auto">
          <a:xfrm>
            <a:off x="2137948" y="4430905"/>
            <a:ext cx="625475" cy="133350"/>
            <a:chOff x="2644" y="2807"/>
            <a:chExt cx="481" cy="83"/>
          </a:xfrm>
        </p:grpSpPr>
        <p:sp>
          <p:nvSpPr>
            <p:cNvPr id="266" name="Freeform 2923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7" name="Freeform 2924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8" name="Freeform 2925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9" name="Freeform 2926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0" name="Freeform 2927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1" name="Freeform 2928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2" name="Freeform 2929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3" name="Freeform 2930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4" name="Freeform 2931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5" name="Freeform 2932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" name="Freeform 2933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" name="Freeform 2934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9" name="Text Box 2861"/>
          <p:cNvSpPr txBox="1">
            <a:spLocks noChangeArrowheads="1"/>
          </p:cNvSpPr>
          <p:nvPr/>
        </p:nvSpPr>
        <p:spPr bwMode="auto">
          <a:xfrm>
            <a:off x="838293" y="2243330"/>
            <a:ext cx="33214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 dirty="0">
                <a:latin typeface="Times New Roman" pitchFamily="18" charset="0"/>
              </a:rPr>
              <a:t>A</a:t>
            </a:r>
          </a:p>
        </p:txBody>
      </p:sp>
      <p:sp>
        <p:nvSpPr>
          <p:cNvPr id="110" name="Line 2866"/>
          <p:cNvSpPr>
            <a:spLocks noChangeShapeType="1"/>
          </p:cNvSpPr>
          <p:nvPr/>
        </p:nvSpPr>
        <p:spPr bwMode="auto">
          <a:xfrm>
            <a:off x="447840" y="1857567"/>
            <a:ext cx="0" cy="71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Text Box 2873"/>
          <p:cNvSpPr txBox="1">
            <a:spLocks noChangeArrowheads="1"/>
          </p:cNvSpPr>
          <p:nvPr/>
        </p:nvSpPr>
        <p:spPr bwMode="auto">
          <a:xfrm>
            <a:off x="435194" y="1989330"/>
            <a:ext cx="46990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 dirty="0">
                <a:latin typeface="Times New Roman" pitchFamily="18" charset="0"/>
              </a:rPr>
              <a:t>6m</a:t>
            </a:r>
            <a:endParaRPr lang="el-GR" altLang="zh-CN" sz="1600" b="1" dirty="0">
              <a:latin typeface="Times New Roman" pitchFamily="18" charset="0"/>
            </a:endParaRPr>
          </a:p>
        </p:txBody>
      </p:sp>
      <p:cxnSp>
        <p:nvCxnSpPr>
          <p:cNvPr id="112" name="直接连接符 111"/>
          <p:cNvCxnSpPr/>
          <p:nvPr/>
        </p:nvCxnSpPr>
        <p:spPr bwMode="auto">
          <a:xfrm>
            <a:off x="312026" y="1849725"/>
            <a:ext cx="43732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接连接符 112"/>
          <p:cNvCxnSpPr/>
          <p:nvPr/>
        </p:nvCxnSpPr>
        <p:spPr bwMode="auto">
          <a:xfrm>
            <a:off x="313351" y="2574619"/>
            <a:ext cx="43732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组合 2"/>
          <p:cNvGrpSpPr/>
          <p:nvPr/>
        </p:nvGrpSpPr>
        <p:grpSpPr>
          <a:xfrm>
            <a:off x="2314317" y="2679280"/>
            <a:ext cx="4416948" cy="1182837"/>
            <a:chOff x="2314317" y="1940710"/>
            <a:chExt cx="4416948" cy="1182837"/>
          </a:xfrm>
        </p:grpSpPr>
        <p:sp>
          <p:nvSpPr>
            <p:cNvPr id="114" name="Text Box 2869"/>
            <p:cNvSpPr txBox="1">
              <a:spLocks noChangeArrowheads="1"/>
            </p:cNvSpPr>
            <p:nvPr/>
          </p:nvSpPr>
          <p:spPr bwMode="auto">
            <a:xfrm>
              <a:off x="2314317" y="1940710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15" name="Text Box 2869"/>
            <p:cNvSpPr txBox="1">
              <a:spLocks noChangeArrowheads="1"/>
            </p:cNvSpPr>
            <p:nvPr/>
          </p:nvSpPr>
          <p:spPr bwMode="auto">
            <a:xfrm>
              <a:off x="2711165" y="2437141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16" name="Text Box 2869"/>
            <p:cNvSpPr txBox="1">
              <a:spLocks noChangeArrowheads="1"/>
            </p:cNvSpPr>
            <p:nvPr/>
          </p:nvSpPr>
          <p:spPr bwMode="auto">
            <a:xfrm>
              <a:off x="3243808" y="2643876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17" name="Text Box 2869"/>
            <p:cNvSpPr txBox="1">
              <a:spLocks noChangeArrowheads="1"/>
            </p:cNvSpPr>
            <p:nvPr/>
          </p:nvSpPr>
          <p:spPr bwMode="auto">
            <a:xfrm>
              <a:off x="3731186" y="2714816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18" name="Text Box 2869"/>
            <p:cNvSpPr txBox="1">
              <a:spLocks noChangeArrowheads="1"/>
            </p:cNvSpPr>
            <p:nvPr/>
          </p:nvSpPr>
          <p:spPr bwMode="auto">
            <a:xfrm>
              <a:off x="4200458" y="2731438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19" name="Text Box 2869"/>
            <p:cNvSpPr txBox="1">
              <a:spLocks noChangeArrowheads="1"/>
            </p:cNvSpPr>
            <p:nvPr/>
          </p:nvSpPr>
          <p:spPr bwMode="auto">
            <a:xfrm>
              <a:off x="4624465" y="2748060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20" name="Text Box 2869"/>
            <p:cNvSpPr txBox="1">
              <a:spLocks noChangeArrowheads="1"/>
            </p:cNvSpPr>
            <p:nvPr/>
          </p:nvSpPr>
          <p:spPr bwMode="auto">
            <a:xfrm>
              <a:off x="5048472" y="2710364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21" name="Text Box 2869"/>
            <p:cNvSpPr txBox="1">
              <a:spLocks noChangeArrowheads="1"/>
            </p:cNvSpPr>
            <p:nvPr/>
          </p:nvSpPr>
          <p:spPr bwMode="auto">
            <a:xfrm>
              <a:off x="5526797" y="2627403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22" name="Text Box 2869"/>
            <p:cNvSpPr txBox="1">
              <a:spLocks noChangeArrowheads="1"/>
            </p:cNvSpPr>
            <p:nvPr/>
          </p:nvSpPr>
          <p:spPr bwMode="auto">
            <a:xfrm>
              <a:off x="6005122" y="2399594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23" name="Text Box 2869"/>
            <p:cNvSpPr txBox="1">
              <a:spLocks noChangeArrowheads="1"/>
            </p:cNvSpPr>
            <p:nvPr/>
          </p:nvSpPr>
          <p:spPr bwMode="auto">
            <a:xfrm>
              <a:off x="6401970" y="1945460"/>
              <a:ext cx="32929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b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cxnSp>
        <p:nvCxnSpPr>
          <p:cNvPr id="124" name="直接连接符 123"/>
          <p:cNvCxnSpPr/>
          <p:nvPr/>
        </p:nvCxnSpPr>
        <p:spPr bwMode="auto">
          <a:xfrm>
            <a:off x="328613" y="4420016"/>
            <a:ext cx="43732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Line 2866"/>
          <p:cNvSpPr>
            <a:spLocks noChangeShapeType="1"/>
          </p:cNvSpPr>
          <p:nvPr/>
        </p:nvSpPr>
        <p:spPr bwMode="auto">
          <a:xfrm>
            <a:off x="455385" y="2580335"/>
            <a:ext cx="0" cy="18341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" name="Text Box 2873"/>
          <p:cNvSpPr txBox="1">
            <a:spLocks noChangeArrowheads="1"/>
          </p:cNvSpPr>
          <p:nvPr/>
        </p:nvSpPr>
        <p:spPr bwMode="auto">
          <a:xfrm>
            <a:off x="474663" y="3303780"/>
            <a:ext cx="46990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 dirty="0" smtClean="0">
                <a:latin typeface="Times New Roman" pitchFamily="18" charset="0"/>
              </a:rPr>
              <a:t>16m</a:t>
            </a:r>
            <a:endParaRPr lang="el-GR" altLang="zh-CN" sz="1600" b="1" dirty="0">
              <a:latin typeface="Times New Roman" pitchFamily="18" charset="0"/>
            </a:endParaRPr>
          </a:p>
        </p:txBody>
      </p:sp>
      <p:sp>
        <p:nvSpPr>
          <p:cNvPr id="127" name="Rectangle 2"/>
          <p:cNvSpPr>
            <a:spLocks noChangeArrowheads="1"/>
          </p:cNvSpPr>
          <p:nvPr/>
        </p:nvSpPr>
        <p:spPr bwMode="auto">
          <a:xfrm>
            <a:off x="3194050" y="5735638"/>
            <a:ext cx="27574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的应用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6700" y="625165"/>
            <a:ext cx="6857968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</a:t>
            </a:r>
            <a:r>
              <a:rPr lang="zh-CN" altLang="en-US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确定</a:t>
            </a:r>
            <a:r>
              <a:rPr lang="zh-CN" altLang="zh-CN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测</a:t>
            </a:r>
            <a:r>
              <a:rPr lang="zh-CN" altLang="zh-CN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管水头、位置水头和压力</a:t>
            </a:r>
            <a:r>
              <a:rPr lang="zh-CN" altLang="zh-CN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水头</a:t>
            </a:r>
            <a:endParaRPr lang="en-US" altLang="zh-CN" sz="2800" b="1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132231" y="3074935"/>
            <a:ext cx="376938" cy="446276"/>
            <a:chOff x="2132231" y="3074935"/>
            <a:chExt cx="376938" cy="446276"/>
          </a:xfrm>
        </p:grpSpPr>
        <p:sp>
          <p:nvSpPr>
            <p:cNvPr id="246" name="Text Box 2902"/>
            <p:cNvSpPr txBox="1">
              <a:spLocks noChangeArrowheads="1"/>
            </p:cNvSpPr>
            <p:nvPr/>
          </p:nvSpPr>
          <p:spPr bwMode="auto">
            <a:xfrm>
              <a:off x="2132231" y="3074935"/>
              <a:ext cx="312906" cy="446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 b="1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45" name="Oval 2901"/>
            <p:cNvSpPr>
              <a:spLocks noChangeArrowheads="1"/>
            </p:cNvSpPr>
            <p:nvPr/>
          </p:nvSpPr>
          <p:spPr bwMode="auto">
            <a:xfrm>
              <a:off x="2422769" y="3355482"/>
              <a:ext cx="86400" cy="864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 defTabSz="1101725"/>
              <a:endParaRPr lang="zh-CN" altLang="zh-CN" b="1"/>
            </a:p>
          </p:txBody>
        </p:sp>
      </p:grpSp>
      <p:sp>
        <p:nvSpPr>
          <p:cNvPr id="8" name="剪去单角的矩形 7"/>
          <p:cNvSpPr/>
          <p:nvPr/>
        </p:nvSpPr>
        <p:spPr bwMode="auto">
          <a:xfrm>
            <a:off x="5732889" y="3657600"/>
            <a:ext cx="3188473" cy="1510748"/>
          </a:xfrm>
          <a:prstGeom prst="snip1Rect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88900" dist="50800" dir="4800000" sx="102000" sy="102000" algn="ctr" rotWithShape="0">
              <a:srgbClr val="000000">
                <a:alpha val="97000"/>
              </a:srgbClr>
            </a:outerShdw>
          </a:effectLst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046056" y="3828859"/>
            <a:ext cx="2048378" cy="51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10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h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=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H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=5m</a:t>
            </a:r>
            <a:endParaRPr lang="en-US" altLang="zh-CN" sz="24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421078" y="4432884"/>
            <a:ext cx="1721051" cy="51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 0.5m</a:t>
            </a:r>
          </a:p>
        </p:txBody>
      </p:sp>
      <p:sp>
        <p:nvSpPr>
          <p:cNvPr id="9" name="右箭头 8"/>
          <p:cNvSpPr/>
          <p:nvPr/>
        </p:nvSpPr>
        <p:spPr bwMode="auto">
          <a:xfrm>
            <a:off x="6114548" y="4564049"/>
            <a:ext cx="278296" cy="286247"/>
          </a:xfrm>
          <a:prstGeom prst="rightArrow">
            <a:avLst/>
          </a:prstGeom>
          <a:solidFill>
            <a:srgbClr val="FFC000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340804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33" grpId="0"/>
      <p:bldP spid="130" grpId="0"/>
      <p:bldP spid="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74" name="矩形 173"/>
          <p:cNvSpPr/>
          <p:nvPr/>
        </p:nvSpPr>
        <p:spPr bwMode="auto">
          <a:xfrm>
            <a:off x="5685576" y="2463432"/>
            <a:ext cx="2288437" cy="104115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5" name="矩形 174"/>
          <p:cNvSpPr/>
          <p:nvPr/>
        </p:nvSpPr>
        <p:spPr bwMode="auto">
          <a:xfrm>
            <a:off x="1066800" y="1852323"/>
            <a:ext cx="2338565" cy="710697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6" name="任意多边形 175"/>
          <p:cNvSpPr/>
          <p:nvPr/>
        </p:nvSpPr>
        <p:spPr bwMode="auto">
          <a:xfrm>
            <a:off x="1048043" y="2571974"/>
            <a:ext cx="6921305" cy="1856935"/>
          </a:xfrm>
          <a:custGeom>
            <a:avLst/>
            <a:gdLst>
              <a:gd name="connsiteX0" fmla="*/ 28135 w 6921305"/>
              <a:gd name="connsiteY0" fmla="*/ 21101 h 1856935"/>
              <a:gd name="connsiteX1" fmla="*/ 2349305 w 6921305"/>
              <a:gd name="connsiteY1" fmla="*/ 21101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28135 w 6921305"/>
              <a:gd name="connsiteY9" fmla="*/ 21101 h 1856935"/>
              <a:gd name="connsiteX0" fmla="*/ 28135 w 6921305"/>
              <a:gd name="connsiteY0" fmla="*/ 4415 h 1856935"/>
              <a:gd name="connsiteX1" fmla="*/ 2349305 w 6921305"/>
              <a:gd name="connsiteY1" fmla="*/ 21101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28135 w 6921305"/>
              <a:gd name="connsiteY9" fmla="*/ 4415 h 1856935"/>
              <a:gd name="connsiteX0" fmla="*/ 28135 w 6921305"/>
              <a:gd name="connsiteY0" fmla="*/ 4415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28135 w 6921305"/>
              <a:gd name="connsiteY9" fmla="*/ 4415 h 1856935"/>
              <a:gd name="connsiteX0" fmla="*/ 14786 w 6921305"/>
              <a:gd name="connsiteY0" fmla="*/ 11089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14786 w 6921305"/>
              <a:gd name="connsiteY9" fmla="*/ 11089 h 1856935"/>
              <a:gd name="connsiteX0" fmla="*/ 8112 w 6921305"/>
              <a:gd name="connsiteY0" fmla="*/ 11089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886135 w 6921305"/>
              <a:gd name="connsiteY5" fmla="*/ 0 h 1856935"/>
              <a:gd name="connsiteX6" fmla="*/ 6921305 w 6921305"/>
              <a:gd name="connsiteY6" fmla="*/ 0 h 1856935"/>
              <a:gd name="connsiteX7" fmla="*/ 6921305 w 6921305"/>
              <a:gd name="connsiteY7" fmla="*/ 1856935 h 1856935"/>
              <a:gd name="connsiteX8" fmla="*/ 0 w 6921305"/>
              <a:gd name="connsiteY8" fmla="*/ 1856935 h 1856935"/>
              <a:gd name="connsiteX9" fmla="*/ 8112 w 6921305"/>
              <a:gd name="connsiteY9" fmla="*/ 11089 h 1856935"/>
              <a:gd name="connsiteX0" fmla="*/ 8112 w 6921305"/>
              <a:gd name="connsiteY0" fmla="*/ 11089 h 1856935"/>
              <a:gd name="connsiteX1" fmla="*/ 2352642 w 6921305"/>
              <a:gd name="connsiteY1" fmla="*/ 1078 h 1856935"/>
              <a:gd name="connsiteX2" fmla="*/ 2349305 w 6921305"/>
              <a:gd name="connsiteY2" fmla="*/ 203981 h 1856935"/>
              <a:gd name="connsiteX3" fmla="*/ 4628271 w 6921305"/>
              <a:gd name="connsiteY3" fmla="*/ 203981 h 1856935"/>
              <a:gd name="connsiteX4" fmla="*/ 4628271 w 6921305"/>
              <a:gd name="connsiteY4" fmla="*/ 0 h 1856935"/>
              <a:gd name="connsiteX5" fmla="*/ 6921305 w 6921305"/>
              <a:gd name="connsiteY5" fmla="*/ 0 h 1856935"/>
              <a:gd name="connsiteX6" fmla="*/ 6921305 w 6921305"/>
              <a:gd name="connsiteY6" fmla="*/ 1856935 h 1856935"/>
              <a:gd name="connsiteX7" fmla="*/ 0 w 6921305"/>
              <a:gd name="connsiteY7" fmla="*/ 1856935 h 1856935"/>
              <a:gd name="connsiteX8" fmla="*/ 8112 w 6921305"/>
              <a:gd name="connsiteY8" fmla="*/ 11089 h 1856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21305" h="1856935">
                <a:moveTo>
                  <a:pt x="8112" y="11089"/>
                </a:moveTo>
                <a:lnTo>
                  <a:pt x="2352642" y="1078"/>
                </a:lnTo>
                <a:cubicBezTo>
                  <a:pt x="2351530" y="68712"/>
                  <a:pt x="2350417" y="136347"/>
                  <a:pt x="2349305" y="203981"/>
                </a:cubicBezTo>
                <a:lnTo>
                  <a:pt x="4628271" y="203981"/>
                </a:lnTo>
                <a:lnTo>
                  <a:pt x="4628271" y="0"/>
                </a:lnTo>
                <a:lnTo>
                  <a:pt x="6921305" y="0"/>
                </a:lnTo>
                <a:lnTo>
                  <a:pt x="6921305" y="1856935"/>
                </a:lnTo>
                <a:lnTo>
                  <a:pt x="0" y="1856935"/>
                </a:lnTo>
                <a:lnTo>
                  <a:pt x="8112" y="11089"/>
                </a:lnTo>
                <a:close/>
              </a:path>
            </a:pathLst>
          </a:custGeom>
          <a:solidFill>
            <a:srgbClr val="CCEC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7" name="矩形 176"/>
          <p:cNvSpPr/>
          <p:nvPr/>
        </p:nvSpPr>
        <p:spPr bwMode="auto">
          <a:xfrm>
            <a:off x="1041009" y="4437575"/>
            <a:ext cx="6935094" cy="6696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8" name="AutoShape 2834"/>
          <p:cNvSpPr>
            <a:spLocks noChangeArrowheads="1"/>
          </p:cNvSpPr>
          <p:nvPr/>
        </p:nvSpPr>
        <p:spPr bwMode="auto">
          <a:xfrm flipV="1">
            <a:off x="1483898" y="1728980"/>
            <a:ext cx="136525" cy="1174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" name="Line 2835"/>
          <p:cNvSpPr>
            <a:spLocks noChangeShapeType="1"/>
          </p:cNvSpPr>
          <p:nvPr/>
        </p:nvSpPr>
        <p:spPr bwMode="auto">
          <a:xfrm>
            <a:off x="1410873" y="1906780"/>
            <a:ext cx="1190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" name="Line 2836"/>
          <p:cNvSpPr>
            <a:spLocks noChangeShapeType="1"/>
          </p:cNvSpPr>
          <p:nvPr/>
        </p:nvSpPr>
        <p:spPr bwMode="auto">
          <a:xfrm>
            <a:off x="1582323" y="1906780"/>
            <a:ext cx="1190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" name="Line 2837"/>
          <p:cNvSpPr>
            <a:spLocks noChangeShapeType="1"/>
          </p:cNvSpPr>
          <p:nvPr/>
        </p:nvSpPr>
        <p:spPr bwMode="auto">
          <a:xfrm>
            <a:off x="1491835" y="1951230"/>
            <a:ext cx="1698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2" name="Line 2838"/>
          <p:cNvSpPr>
            <a:spLocks noChangeShapeType="1"/>
          </p:cNvSpPr>
          <p:nvPr/>
        </p:nvSpPr>
        <p:spPr bwMode="auto">
          <a:xfrm>
            <a:off x="1545810" y="1995680"/>
            <a:ext cx="7143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" name="Text Box 2839"/>
          <p:cNvSpPr txBox="1">
            <a:spLocks noChangeArrowheads="1"/>
          </p:cNvSpPr>
          <p:nvPr/>
        </p:nvSpPr>
        <p:spPr bwMode="auto">
          <a:xfrm>
            <a:off x="802364" y="4294380"/>
            <a:ext cx="10259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ctr"/>
            <a:r>
              <a:rPr lang="en-US" altLang="zh-CN" sz="1600" b="1" dirty="0">
                <a:latin typeface="Times New Roman" pitchFamily="18" charset="0"/>
              </a:rPr>
              <a:t>0</a:t>
            </a:r>
          </a:p>
        </p:txBody>
      </p:sp>
      <p:sp>
        <p:nvSpPr>
          <p:cNvPr id="184" name="Freeform 2840"/>
          <p:cNvSpPr>
            <a:spLocks/>
          </p:cNvSpPr>
          <p:nvPr/>
        </p:nvSpPr>
        <p:spPr bwMode="auto">
          <a:xfrm>
            <a:off x="3406360" y="1459105"/>
            <a:ext cx="2278063" cy="1301750"/>
          </a:xfrm>
          <a:custGeom>
            <a:avLst/>
            <a:gdLst>
              <a:gd name="T0" fmla="*/ 0 w 1435"/>
              <a:gd name="T1" fmla="*/ 85 h 820"/>
              <a:gd name="T2" fmla="*/ 0 w 1435"/>
              <a:gd name="T3" fmla="*/ 820 h 820"/>
              <a:gd name="T4" fmla="*/ 1435 w 1435"/>
              <a:gd name="T5" fmla="*/ 820 h 820"/>
              <a:gd name="T6" fmla="*/ 1435 w 1435"/>
              <a:gd name="T7" fmla="*/ 479 h 820"/>
              <a:gd name="T8" fmla="*/ 1403 w 1435"/>
              <a:gd name="T9" fmla="*/ 478 h 820"/>
              <a:gd name="T10" fmla="*/ 1334 w 1435"/>
              <a:gd name="T11" fmla="*/ 473 h 820"/>
              <a:gd name="T12" fmla="*/ 1258 w 1435"/>
              <a:gd name="T13" fmla="*/ 462 h 820"/>
              <a:gd name="T14" fmla="*/ 1141 w 1435"/>
              <a:gd name="T15" fmla="*/ 430 h 820"/>
              <a:gd name="T16" fmla="*/ 1006 w 1435"/>
              <a:gd name="T17" fmla="*/ 388 h 820"/>
              <a:gd name="T18" fmla="*/ 806 w 1435"/>
              <a:gd name="T19" fmla="*/ 305 h 820"/>
              <a:gd name="T20" fmla="*/ 672 w 1435"/>
              <a:gd name="T21" fmla="*/ 234 h 820"/>
              <a:gd name="T22" fmla="*/ 520 w 1435"/>
              <a:gd name="T23" fmla="*/ 143 h 820"/>
              <a:gd name="T24" fmla="*/ 422 w 1435"/>
              <a:gd name="T25" fmla="*/ 85 h 820"/>
              <a:gd name="T26" fmla="*/ 355 w 1435"/>
              <a:gd name="T27" fmla="*/ 47 h 820"/>
              <a:gd name="T28" fmla="*/ 274 w 1435"/>
              <a:gd name="T29" fmla="*/ 15 h 820"/>
              <a:gd name="T30" fmla="*/ 205 w 1435"/>
              <a:gd name="T31" fmla="*/ 2 h 820"/>
              <a:gd name="T32" fmla="*/ 123 w 1435"/>
              <a:gd name="T33" fmla="*/ 4 h 820"/>
              <a:gd name="T34" fmla="*/ 62 w 1435"/>
              <a:gd name="T35" fmla="*/ 27 h 820"/>
              <a:gd name="T36" fmla="*/ 19 w 1435"/>
              <a:gd name="T37" fmla="*/ 60 h 820"/>
              <a:gd name="T38" fmla="*/ 0 w 1435"/>
              <a:gd name="T39" fmla="*/ 85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35" h="820">
                <a:moveTo>
                  <a:pt x="0" y="85"/>
                </a:moveTo>
                <a:lnTo>
                  <a:pt x="0" y="820"/>
                </a:lnTo>
                <a:lnTo>
                  <a:pt x="1435" y="820"/>
                </a:lnTo>
                <a:lnTo>
                  <a:pt x="1435" y="479"/>
                </a:lnTo>
                <a:lnTo>
                  <a:pt x="1403" y="478"/>
                </a:lnTo>
                <a:cubicBezTo>
                  <a:pt x="1386" y="477"/>
                  <a:pt x="1358" y="476"/>
                  <a:pt x="1334" y="473"/>
                </a:cubicBezTo>
                <a:cubicBezTo>
                  <a:pt x="1310" y="470"/>
                  <a:pt x="1290" y="469"/>
                  <a:pt x="1258" y="462"/>
                </a:cubicBezTo>
                <a:cubicBezTo>
                  <a:pt x="1226" y="455"/>
                  <a:pt x="1183" y="442"/>
                  <a:pt x="1141" y="430"/>
                </a:cubicBezTo>
                <a:cubicBezTo>
                  <a:pt x="1099" y="418"/>
                  <a:pt x="1062" y="409"/>
                  <a:pt x="1006" y="388"/>
                </a:cubicBezTo>
                <a:cubicBezTo>
                  <a:pt x="950" y="367"/>
                  <a:pt x="862" y="331"/>
                  <a:pt x="806" y="305"/>
                </a:cubicBezTo>
                <a:cubicBezTo>
                  <a:pt x="750" y="279"/>
                  <a:pt x="720" y="261"/>
                  <a:pt x="672" y="234"/>
                </a:cubicBezTo>
                <a:cubicBezTo>
                  <a:pt x="624" y="207"/>
                  <a:pt x="562" y="167"/>
                  <a:pt x="520" y="143"/>
                </a:cubicBezTo>
                <a:cubicBezTo>
                  <a:pt x="478" y="119"/>
                  <a:pt x="449" y="101"/>
                  <a:pt x="422" y="85"/>
                </a:cubicBezTo>
                <a:cubicBezTo>
                  <a:pt x="395" y="70"/>
                  <a:pt x="380" y="59"/>
                  <a:pt x="355" y="47"/>
                </a:cubicBezTo>
                <a:cubicBezTo>
                  <a:pt x="330" y="35"/>
                  <a:pt x="299" y="23"/>
                  <a:pt x="274" y="15"/>
                </a:cubicBezTo>
                <a:cubicBezTo>
                  <a:pt x="249" y="8"/>
                  <a:pt x="230" y="4"/>
                  <a:pt x="205" y="2"/>
                </a:cubicBezTo>
                <a:cubicBezTo>
                  <a:pt x="180" y="0"/>
                  <a:pt x="147" y="0"/>
                  <a:pt x="123" y="4"/>
                </a:cubicBezTo>
                <a:cubicBezTo>
                  <a:pt x="99" y="8"/>
                  <a:pt x="79" y="18"/>
                  <a:pt x="62" y="27"/>
                </a:cubicBezTo>
                <a:cubicBezTo>
                  <a:pt x="45" y="36"/>
                  <a:pt x="29" y="50"/>
                  <a:pt x="19" y="60"/>
                </a:cubicBezTo>
                <a:cubicBezTo>
                  <a:pt x="9" y="70"/>
                  <a:pt x="4" y="81"/>
                  <a:pt x="0" y="85"/>
                </a:cubicBezTo>
                <a:close/>
              </a:path>
            </a:pathLst>
          </a:custGeom>
          <a:solidFill>
            <a:srgbClr val="FFC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" name="Line 2841"/>
          <p:cNvSpPr>
            <a:spLocks noChangeShapeType="1"/>
          </p:cNvSpPr>
          <p:nvPr/>
        </p:nvSpPr>
        <p:spPr bwMode="auto">
          <a:xfrm>
            <a:off x="5687598" y="2564005"/>
            <a:ext cx="228641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" name="Line 2842"/>
          <p:cNvSpPr>
            <a:spLocks noChangeShapeType="1"/>
          </p:cNvSpPr>
          <p:nvPr/>
        </p:nvSpPr>
        <p:spPr bwMode="auto">
          <a:xfrm flipH="1">
            <a:off x="1058862" y="2568767"/>
            <a:ext cx="234273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" name="Line 2843"/>
          <p:cNvSpPr>
            <a:spLocks noChangeShapeType="1"/>
          </p:cNvSpPr>
          <p:nvPr/>
        </p:nvSpPr>
        <p:spPr bwMode="auto">
          <a:xfrm flipH="1">
            <a:off x="1065894" y="1852805"/>
            <a:ext cx="23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" name="Line 2844"/>
          <p:cNvSpPr>
            <a:spLocks noChangeShapeType="1"/>
          </p:cNvSpPr>
          <p:nvPr/>
        </p:nvSpPr>
        <p:spPr bwMode="auto">
          <a:xfrm>
            <a:off x="5687597" y="2462405"/>
            <a:ext cx="226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" name="Freeform 2845"/>
          <p:cNvSpPr>
            <a:spLocks/>
          </p:cNvSpPr>
          <p:nvPr/>
        </p:nvSpPr>
        <p:spPr bwMode="auto">
          <a:xfrm>
            <a:off x="3117435" y="2570355"/>
            <a:ext cx="2844800" cy="557212"/>
          </a:xfrm>
          <a:custGeom>
            <a:avLst/>
            <a:gdLst>
              <a:gd name="T0" fmla="*/ 0 w 1792"/>
              <a:gd name="T1" fmla="*/ 1 h 351"/>
              <a:gd name="T2" fmla="*/ 24 w 1792"/>
              <a:gd name="T3" fmla="*/ 118 h 351"/>
              <a:gd name="T4" fmla="*/ 99 w 1792"/>
              <a:gd name="T5" fmla="*/ 225 h 351"/>
              <a:gd name="T6" fmla="*/ 255 w 1792"/>
              <a:gd name="T7" fmla="*/ 310 h 351"/>
              <a:gd name="T8" fmla="*/ 445 w 1792"/>
              <a:gd name="T9" fmla="*/ 341 h 351"/>
              <a:gd name="T10" fmla="*/ 643 w 1792"/>
              <a:gd name="T11" fmla="*/ 349 h 351"/>
              <a:gd name="T12" fmla="*/ 913 w 1792"/>
              <a:gd name="T13" fmla="*/ 349 h 351"/>
              <a:gd name="T14" fmla="*/ 1255 w 1792"/>
              <a:gd name="T15" fmla="*/ 336 h 351"/>
              <a:gd name="T16" fmla="*/ 1525 w 1792"/>
              <a:gd name="T17" fmla="*/ 305 h 351"/>
              <a:gd name="T18" fmla="*/ 1678 w 1792"/>
              <a:gd name="T19" fmla="*/ 234 h 351"/>
              <a:gd name="T20" fmla="*/ 1760 w 1792"/>
              <a:gd name="T21" fmla="*/ 133 h 351"/>
              <a:gd name="T22" fmla="*/ 1792 w 1792"/>
              <a:gd name="T23" fmla="*/ 0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792" h="351">
                <a:moveTo>
                  <a:pt x="0" y="1"/>
                </a:moveTo>
                <a:cubicBezTo>
                  <a:pt x="4" y="20"/>
                  <a:pt x="8" y="81"/>
                  <a:pt x="24" y="118"/>
                </a:cubicBezTo>
                <a:cubicBezTo>
                  <a:pt x="40" y="155"/>
                  <a:pt x="60" y="193"/>
                  <a:pt x="99" y="225"/>
                </a:cubicBezTo>
                <a:cubicBezTo>
                  <a:pt x="138" y="257"/>
                  <a:pt x="197" y="291"/>
                  <a:pt x="255" y="310"/>
                </a:cubicBezTo>
                <a:cubicBezTo>
                  <a:pt x="312" y="330"/>
                  <a:pt x="380" y="335"/>
                  <a:pt x="445" y="341"/>
                </a:cubicBezTo>
                <a:cubicBezTo>
                  <a:pt x="509" y="347"/>
                  <a:pt x="565" y="348"/>
                  <a:pt x="643" y="349"/>
                </a:cubicBezTo>
                <a:cubicBezTo>
                  <a:pt x="721" y="350"/>
                  <a:pt x="811" y="351"/>
                  <a:pt x="913" y="349"/>
                </a:cubicBezTo>
                <a:cubicBezTo>
                  <a:pt x="1015" y="347"/>
                  <a:pt x="1153" y="343"/>
                  <a:pt x="1255" y="336"/>
                </a:cubicBezTo>
                <a:cubicBezTo>
                  <a:pt x="1357" y="328"/>
                  <a:pt x="1455" y="321"/>
                  <a:pt x="1525" y="305"/>
                </a:cubicBezTo>
                <a:cubicBezTo>
                  <a:pt x="1595" y="289"/>
                  <a:pt x="1638" y="263"/>
                  <a:pt x="1678" y="234"/>
                </a:cubicBezTo>
                <a:cubicBezTo>
                  <a:pt x="1717" y="206"/>
                  <a:pt x="1740" y="172"/>
                  <a:pt x="1760" y="133"/>
                </a:cubicBezTo>
                <a:cubicBezTo>
                  <a:pt x="1779" y="94"/>
                  <a:pt x="1785" y="28"/>
                  <a:pt x="1792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0" name="Freeform 2846"/>
          <p:cNvSpPr>
            <a:spLocks/>
          </p:cNvSpPr>
          <p:nvPr/>
        </p:nvSpPr>
        <p:spPr bwMode="auto">
          <a:xfrm>
            <a:off x="2607848" y="2573530"/>
            <a:ext cx="3851275" cy="977900"/>
          </a:xfrm>
          <a:custGeom>
            <a:avLst/>
            <a:gdLst>
              <a:gd name="T0" fmla="*/ 0 w 2409"/>
              <a:gd name="T1" fmla="*/ 2 h 606"/>
              <a:gd name="T2" fmla="*/ 32 w 2409"/>
              <a:gd name="T3" fmla="*/ 166 h 606"/>
              <a:gd name="T4" fmla="*/ 112 w 2409"/>
              <a:gd name="T5" fmla="*/ 307 h 606"/>
              <a:gd name="T6" fmla="*/ 275 w 2409"/>
              <a:gd name="T7" fmla="*/ 448 h 606"/>
              <a:gd name="T8" fmla="*/ 502 w 2409"/>
              <a:gd name="T9" fmla="*/ 541 h 606"/>
              <a:gd name="T10" fmla="*/ 870 w 2409"/>
              <a:gd name="T11" fmla="*/ 595 h 606"/>
              <a:gd name="T12" fmla="*/ 1228 w 2409"/>
              <a:gd name="T13" fmla="*/ 605 h 606"/>
              <a:gd name="T14" fmla="*/ 1542 w 2409"/>
              <a:gd name="T15" fmla="*/ 589 h 606"/>
              <a:gd name="T16" fmla="*/ 1830 w 2409"/>
              <a:gd name="T17" fmla="*/ 538 h 606"/>
              <a:gd name="T18" fmla="*/ 2081 w 2409"/>
              <a:gd name="T19" fmla="*/ 437 h 606"/>
              <a:gd name="T20" fmla="*/ 2267 w 2409"/>
              <a:gd name="T21" fmla="*/ 290 h 606"/>
              <a:gd name="T22" fmla="*/ 2368 w 2409"/>
              <a:gd name="T23" fmla="*/ 150 h 606"/>
              <a:gd name="T24" fmla="*/ 2409 w 2409"/>
              <a:gd name="T25" fmla="*/ 0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09" h="606">
                <a:moveTo>
                  <a:pt x="0" y="2"/>
                </a:moveTo>
                <a:cubicBezTo>
                  <a:pt x="5" y="29"/>
                  <a:pt x="13" y="115"/>
                  <a:pt x="32" y="166"/>
                </a:cubicBezTo>
                <a:cubicBezTo>
                  <a:pt x="51" y="217"/>
                  <a:pt x="72" y="260"/>
                  <a:pt x="112" y="307"/>
                </a:cubicBezTo>
                <a:cubicBezTo>
                  <a:pt x="152" y="354"/>
                  <a:pt x="210" y="409"/>
                  <a:pt x="275" y="448"/>
                </a:cubicBezTo>
                <a:cubicBezTo>
                  <a:pt x="340" y="487"/>
                  <a:pt x="403" y="517"/>
                  <a:pt x="502" y="541"/>
                </a:cubicBezTo>
                <a:cubicBezTo>
                  <a:pt x="601" y="565"/>
                  <a:pt x="749" y="584"/>
                  <a:pt x="870" y="595"/>
                </a:cubicBezTo>
                <a:cubicBezTo>
                  <a:pt x="991" y="606"/>
                  <a:pt x="1116" y="606"/>
                  <a:pt x="1228" y="605"/>
                </a:cubicBezTo>
                <a:cubicBezTo>
                  <a:pt x="1340" y="604"/>
                  <a:pt x="1442" y="600"/>
                  <a:pt x="1542" y="589"/>
                </a:cubicBezTo>
                <a:cubicBezTo>
                  <a:pt x="1642" y="578"/>
                  <a:pt x="1740" y="563"/>
                  <a:pt x="1830" y="538"/>
                </a:cubicBezTo>
                <a:cubicBezTo>
                  <a:pt x="1920" y="513"/>
                  <a:pt x="2008" y="478"/>
                  <a:pt x="2081" y="437"/>
                </a:cubicBezTo>
                <a:cubicBezTo>
                  <a:pt x="2154" y="396"/>
                  <a:pt x="2219" y="338"/>
                  <a:pt x="2267" y="290"/>
                </a:cubicBezTo>
                <a:cubicBezTo>
                  <a:pt x="2315" y="242"/>
                  <a:pt x="2344" y="198"/>
                  <a:pt x="2368" y="150"/>
                </a:cubicBezTo>
                <a:cubicBezTo>
                  <a:pt x="2392" y="102"/>
                  <a:pt x="2401" y="51"/>
                  <a:pt x="2409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" name="Freeform 2847"/>
          <p:cNvSpPr>
            <a:spLocks/>
          </p:cNvSpPr>
          <p:nvPr/>
        </p:nvSpPr>
        <p:spPr bwMode="auto">
          <a:xfrm>
            <a:off x="1542635" y="2564005"/>
            <a:ext cx="5856288" cy="1408112"/>
          </a:xfrm>
          <a:custGeom>
            <a:avLst/>
            <a:gdLst>
              <a:gd name="T0" fmla="*/ 0 w 3689"/>
              <a:gd name="T1" fmla="*/ 6 h 887"/>
              <a:gd name="T2" fmla="*/ 35 w 3689"/>
              <a:gd name="T3" fmla="*/ 166 h 887"/>
              <a:gd name="T4" fmla="*/ 131 w 3689"/>
              <a:gd name="T5" fmla="*/ 374 h 887"/>
              <a:gd name="T6" fmla="*/ 294 w 3689"/>
              <a:gd name="T7" fmla="*/ 560 h 887"/>
              <a:gd name="T8" fmla="*/ 537 w 3689"/>
              <a:gd name="T9" fmla="*/ 707 h 887"/>
              <a:gd name="T10" fmla="*/ 899 w 3689"/>
              <a:gd name="T11" fmla="*/ 803 h 887"/>
              <a:gd name="T12" fmla="*/ 1232 w 3689"/>
              <a:gd name="T13" fmla="*/ 860 h 887"/>
              <a:gd name="T14" fmla="*/ 1660 w 3689"/>
              <a:gd name="T15" fmla="*/ 880 h 887"/>
              <a:gd name="T16" fmla="*/ 2144 w 3689"/>
              <a:gd name="T17" fmla="*/ 880 h 887"/>
              <a:gd name="T18" fmla="*/ 2592 w 3689"/>
              <a:gd name="T19" fmla="*/ 838 h 887"/>
              <a:gd name="T20" fmla="*/ 3011 w 3689"/>
              <a:gd name="T21" fmla="*/ 739 h 887"/>
              <a:gd name="T22" fmla="*/ 3328 w 3689"/>
              <a:gd name="T23" fmla="*/ 593 h 887"/>
              <a:gd name="T24" fmla="*/ 3528 w 3689"/>
              <a:gd name="T25" fmla="*/ 420 h 887"/>
              <a:gd name="T26" fmla="*/ 3654 w 3689"/>
              <a:gd name="T27" fmla="*/ 188 h 887"/>
              <a:gd name="T28" fmla="*/ 3689 w 3689"/>
              <a:gd name="T29" fmla="*/ 0 h 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689" h="887">
                <a:moveTo>
                  <a:pt x="0" y="6"/>
                </a:moveTo>
                <a:cubicBezTo>
                  <a:pt x="5" y="33"/>
                  <a:pt x="13" y="105"/>
                  <a:pt x="35" y="166"/>
                </a:cubicBezTo>
                <a:cubicBezTo>
                  <a:pt x="57" y="227"/>
                  <a:pt x="88" y="308"/>
                  <a:pt x="131" y="374"/>
                </a:cubicBezTo>
                <a:cubicBezTo>
                  <a:pt x="174" y="440"/>
                  <a:pt x="226" y="504"/>
                  <a:pt x="294" y="560"/>
                </a:cubicBezTo>
                <a:cubicBezTo>
                  <a:pt x="362" y="616"/>
                  <a:pt x="436" y="667"/>
                  <a:pt x="537" y="707"/>
                </a:cubicBezTo>
                <a:cubicBezTo>
                  <a:pt x="638" y="747"/>
                  <a:pt x="783" y="778"/>
                  <a:pt x="899" y="803"/>
                </a:cubicBezTo>
                <a:cubicBezTo>
                  <a:pt x="1015" y="828"/>
                  <a:pt x="1105" y="847"/>
                  <a:pt x="1232" y="860"/>
                </a:cubicBezTo>
                <a:cubicBezTo>
                  <a:pt x="1359" y="873"/>
                  <a:pt x="1508" y="877"/>
                  <a:pt x="1660" y="880"/>
                </a:cubicBezTo>
                <a:cubicBezTo>
                  <a:pt x="1812" y="883"/>
                  <a:pt x="1989" y="887"/>
                  <a:pt x="2144" y="880"/>
                </a:cubicBezTo>
                <a:cubicBezTo>
                  <a:pt x="2299" y="873"/>
                  <a:pt x="2448" y="861"/>
                  <a:pt x="2592" y="838"/>
                </a:cubicBezTo>
                <a:cubicBezTo>
                  <a:pt x="2736" y="815"/>
                  <a:pt x="2888" y="780"/>
                  <a:pt x="3011" y="739"/>
                </a:cubicBezTo>
                <a:cubicBezTo>
                  <a:pt x="3134" y="698"/>
                  <a:pt x="3242" y="646"/>
                  <a:pt x="3328" y="593"/>
                </a:cubicBezTo>
                <a:cubicBezTo>
                  <a:pt x="3414" y="540"/>
                  <a:pt x="3474" y="487"/>
                  <a:pt x="3528" y="420"/>
                </a:cubicBezTo>
                <a:cubicBezTo>
                  <a:pt x="3582" y="353"/>
                  <a:pt x="3627" y="258"/>
                  <a:pt x="3654" y="188"/>
                </a:cubicBezTo>
                <a:cubicBezTo>
                  <a:pt x="3681" y="118"/>
                  <a:pt x="3682" y="39"/>
                  <a:pt x="3689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" name="Line 2848"/>
          <p:cNvSpPr>
            <a:spLocks noChangeShapeType="1"/>
          </p:cNvSpPr>
          <p:nvPr/>
        </p:nvSpPr>
        <p:spPr bwMode="auto">
          <a:xfrm>
            <a:off x="1044160" y="4432492"/>
            <a:ext cx="6934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" name="Freeform 2849"/>
          <p:cNvSpPr>
            <a:spLocks/>
          </p:cNvSpPr>
          <p:nvPr/>
        </p:nvSpPr>
        <p:spPr bwMode="auto">
          <a:xfrm>
            <a:off x="2022060" y="2744980"/>
            <a:ext cx="1374775" cy="1682750"/>
          </a:xfrm>
          <a:custGeom>
            <a:avLst/>
            <a:gdLst>
              <a:gd name="T0" fmla="*/ 866 w 866"/>
              <a:gd name="T1" fmla="*/ 0 h 1060"/>
              <a:gd name="T2" fmla="*/ 751 w 866"/>
              <a:gd name="T3" fmla="*/ 49 h 1060"/>
              <a:gd name="T4" fmla="*/ 592 w 866"/>
              <a:gd name="T5" fmla="*/ 144 h 1060"/>
              <a:gd name="T6" fmla="*/ 425 w 866"/>
              <a:gd name="T7" fmla="*/ 277 h 1060"/>
              <a:gd name="T8" fmla="*/ 235 w 866"/>
              <a:gd name="T9" fmla="*/ 478 h 1060"/>
              <a:gd name="T10" fmla="*/ 94 w 866"/>
              <a:gd name="T11" fmla="*/ 749 h 1060"/>
              <a:gd name="T12" fmla="*/ 0 w 866"/>
              <a:gd name="T13" fmla="*/ 1060 h 10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6" h="1060">
                <a:moveTo>
                  <a:pt x="866" y="0"/>
                </a:moveTo>
                <a:cubicBezTo>
                  <a:pt x="847" y="8"/>
                  <a:pt x="797" y="25"/>
                  <a:pt x="751" y="49"/>
                </a:cubicBezTo>
                <a:cubicBezTo>
                  <a:pt x="705" y="73"/>
                  <a:pt x="646" y="106"/>
                  <a:pt x="592" y="144"/>
                </a:cubicBezTo>
                <a:cubicBezTo>
                  <a:pt x="538" y="182"/>
                  <a:pt x="484" y="221"/>
                  <a:pt x="425" y="277"/>
                </a:cubicBezTo>
                <a:cubicBezTo>
                  <a:pt x="366" y="333"/>
                  <a:pt x="290" y="399"/>
                  <a:pt x="235" y="478"/>
                </a:cubicBezTo>
                <a:cubicBezTo>
                  <a:pt x="180" y="557"/>
                  <a:pt x="133" y="652"/>
                  <a:pt x="94" y="749"/>
                </a:cubicBezTo>
                <a:cubicBezTo>
                  <a:pt x="55" y="846"/>
                  <a:pt x="20" y="995"/>
                  <a:pt x="0" y="106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" name="Freeform 2850"/>
          <p:cNvSpPr>
            <a:spLocks/>
          </p:cNvSpPr>
          <p:nvPr/>
        </p:nvSpPr>
        <p:spPr bwMode="auto">
          <a:xfrm>
            <a:off x="2868198" y="2767205"/>
            <a:ext cx="685800" cy="1660525"/>
          </a:xfrm>
          <a:custGeom>
            <a:avLst/>
            <a:gdLst>
              <a:gd name="T0" fmla="*/ 346 w 346"/>
              <a:gd name="T1" fmla="*/ 0 h 1046"/>
              <a:gd name="T2" fmla="*/ 314 w 346"/>
              <a:gd name="T3" fmla="*/ 115 h 1046"/>
              <a:gd name="T4" fmla="*/ 250 w 346"/>
              <a:gd name="T5" fmla="*/ 262 h 1046"/>
              <a:gd name="T6" fmla="*/ 157 w 346"/>
              <a:gd name="T7" fmla="*/ 451 h 1046"/>
              <a:gd name="T8" fmla="*/ 56 w 346"/>
              <a:gd name="T9" fmla="*/ 684 h 1046"/>
              <a:gd name="T10" fmla="*/ 13 w 346"/>
              <a:gd name="T11" fmla="*/ 907 h 1046"/>
              <a:gd name="T12" fmla="*/ 0 w 346"/>
              <a:gd name="T13" fmla="*/ 1046 h 10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1046">
                <a:moveTo>
                  <a:pt x="346" y="0"/>
                </a:moveTo>
                <a:cubicBezTo>
                  <a:pt x="338" y="35"/>
                  <a:pt x="330" y="71"/>
                  <a:pt x="314" y="115"/>
                </a:cubicBezTo>
                <a:cubicBezTo>
                  <a:pt x="298" y="159"/>
                  <a:pt x="276" y="206"/>
                  <a:pt x="250" y="262"/>
                </a:cubicBezTo>
                <a:cubicBezTo>
                  <a:pt x="224" y="318"/>
                  <a:pt x="189" y="381"/>
                  <a:pt x="157" y="451"/>
                </a:cubicBezTo>
                <a:cubicBezTo>
                  <a:pt x="125" y="521"/>
                  <a:pt x="80" y="608"/>
                  <a:pt x="56" y="684"/>
                </a:cubicBezTo>
                <a:cubicBezTo>
                  <a:pt x="32" y="760"/>
                  <a:pt x="22" y="847"/>
                  <a:pt x="13" y="907"/>
                </a:cubicBezTo>
                <a:cubicBezTo>
                  <a:pt x="4" y="967"/>
                  <a:pt x="3" y="1017"/>
                  <a:pt x="0" y="1046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" name="Freeform 2851"/>
          <p:cNvSpPr>
            <a:spLocks/>
          </p:cNvSpPr>
          <p:nvPr/>
        </p:nvSpPr>
        <p:spPr bwMode="auto">
          <a:xfrm>
            <a:off x="3517485" y="2765617"/>
            <a:ext cx="366713" cy="1671638"/>
          </a:xfrm>
          <a:custGeom>
            <a:avLst/>
            <a:gdLst>
              <a:gd name="T0" fmla="*/ 231 w 231"/>
              <a:gd name="T1" fmla="*/ 0 h 1053"/>
              <a:gd name="T2" fmla="*/ 205 w 231"/>
              <a:gd name="T3" fmla="*/ 150 h 1053"/>
              <a:gd name="T4" fmla="*/ 148 w 231"/>
              <a:gd name="T5" fmla="*/ 372 h 1053"/>
              <a:gd name="T6" fmla="*/ 90 w 231"/>
              <a:gd name="T7" fmla="*/ 567 h 1053"/>
              <a:gd name="T8" fmla="*/ 40 w 231"/>
              <a:gd name="T9" fmla="*/ 772 h 1053"/>
              <a:gd name="T10" fmla="*/ 0 w 231"/>
              <a:gd name="T11" fmla="*/ 1053 h 10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1" h="1053">
                <a:moveTo>
                  <a:pt x="231" y="0"/>
                </a:moveTo>
                <a:cubicBezTo>
                  <a:pt x="227" y="25"/>
                  <a:pt x="219" y="88"/>
                  <a:pt x="205" y="150"/>
                </a:cubicBezTo>
                <a:cubicBezTo>
                  <a:pt x="191" y="212"/>
                  <a:pt x="167" y="302"/>
                  <a:pt x="148" y="372"/>
                </a:cubicBezTo>
                <a:cubicBezTo>
                  <a:pt x="129" y="442"/>
                  <a:pt x="108" y="500"/>
                  <a:pt x="90" y="567"/>
                </a:cubicBezTo>
                <a:cubicBezTo>
                  <a:pt x="72" y="634"/>
                  <a:pt x="55" y="691"/>
                  <a:pt x="40" y="772"/>
                </a:cubicBezTo>
                <a:cubicBezTo>
                  <a:pt x="25" y="853"/>
                  <a:pt x="8" y="995"/>
                  <a:pt x="0" y="1053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" name="Freeform 2852"/>
          <p:cNvSpPr>
            <a:spLocks/>
          </p:cNvSpPr>
          <p:nvPr/>
        </p:nvSpPr>
        <p:spPr bwMode="auto">
          <a:xfrm>
            <a:off x="4087398" y="2770380"/>
            <a:ext cx="149225" cy="1643062"/>
          </a:xfrm>
          <a:custGeom>
            <a:avLst/>
            <a:gdLst>
              <a:gd name="T0" fmla="*/ 94 w 94"/>
              <a:gd name="T1" fmla="*/ 0 h 1035"/>
              <a:gd name="T2" fmla="*/ 80 w 94"/>
              <a:gd name="T3" fmla="*/ 224 h 1035"/>
              <a:gd name="T4" fmla="*/ 45 w 94"/>
              <a:gd name="T5" fmla="*/ 520 h 1035"/>
              <a:gd name="T6" fmla="*/ 19 w 94"/>
              <a:gd name="T7" fmla="*/ 798 h 1035"/>
              <a:gd name="T8" fmla="*/ 0 w 94"/>
              <a:gd name="T9" fmla="*/ 1035 h 1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" h="1035">
                <a:moveTo>
                  <a:pt x="94" y="0"/>
                </a:moveTo>
                <a:cubicBezTo>
                  <a:pt x="92" y="37"/>
                  <a:pt x="88" y="137"/>
                  <a:pt x="80" y="224"/>
                </a:cubicBezTo>
                <a:cubicBezTo>
                  <a:pt x="72" y="311"/>
                  <a:pt x="55" y="424"/>
                  <a:pt x="45" y="520"/>
                </a:cubicBezTo>
                <a:cubicBezTo>
                  <a:pt x="35" y="616"/>
                  <a:pt x="26" y="712"/>
                  <a:pt x="19" y="798"/>
                </a:cubicBezTo>
                <a:cubicBezTo>
                  <a:pt x="12" y="884"/>
                  <a:pt x="4" y="986"/>
                  <a:pt x="0" y="1035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7" name="Freeform 2853"/>
          <p:cNvSpPr>
            <a:spLocks/>
          </p:cNvSpPr>
          <p:nvPr/>
        </p:nvSpPr>
        <p:spPr bwMode="auto">
          <a:xfrm>
            <a:off x="4590635" y="2765617"/>
            <a:ext cx="9525" cy="1666875"/>
          </a:xfrm>
          <a:custGeom>
            <a:avLst/>
            <a:gdLst>
              <a:gd name="T0" fmla="*/ 6 w 6"/>
              <a:gd name="T1" fmla="*/ 0 h 1050"/>
              <a:gd name="T2" fmla="*/ 1 w 6"/>
              <a:gd name="T3" fmla="*/ 295 h 1050"/>
              <a:gd name="T4" fmla="*/ 0 w 6"/>
              <a:gd name="T5" fmla="*/ 556 h 1050"/>
              <a:gd name="T6" fmla="*/ 1 w 6"/>
              <a:gd name="T7" fmla="*/ 801 h 1050"/>
              <a:gd name="T8" fmla="*/ 1 w 6"/>
              <a:gd name="T9" fmla="*/ 105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" h="1050">
                <a:moveTo>
                  <a:pt x="6" y="0"/>
                </a:moveTo>
                <a:cubicBezTo>
                  <a:pt x="6" y="49"/>
                  <a:pt x="2" y="202"/>
                  <a:pt x="1" y="295"/>
                </a:cubicBezTo>
                <a:cubicBezTo>
                  <a:pt x="0" y="388"/>
                  <a:pt x="0" y="472"/>
                  <a:pt x="0" y="556"/>
                </a:cubicBezTo>
                <a:cubicBezTo>
                  <a:pt x="0" y="640"/>
                  <a:pt x="1" y="719"/>
                  <a:pt x="1" y="801"/>
                </a:cubicBezTo>
                <a:cubicBezTo>
                  <a:pt x="1" y="883"/>
                  <a:pt x="2" y="966"/>
                  <a:pt x="1" y="105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" name="Freeform 2854"/>
          <p:cNvSpPr>
            <a:spLocks/>
          </p:cNvSpPr>
          <p:nvPr/>
        </p:nvSpPr>
        <p:spPr bwMode="auto">
          <a:xfrm>
            <a:off x="4946235" y="2767205"/>
            <a:ext cx="142875" cy="1666875"/>
          </a:xfrm>
          <a:custGeom>
            <a:avLst/>
            <a:gdLst>
              <a:gd name="T0" fmla="*/ 0 w 90"/>
              <a:gd name="T1" fmla="*/ 0 h 1050"/>
              <a:gd name="T2" fmla="*/ 16 w 90"/>
              <a:gd name="T3" fmla="*/ 280 h 1050"/>
              <a:gd name="T4" fmla="*/ 42 w 90"/>
              <a:gd name="T5" fmla="*/ 561 h 1050"/>
              <a:gd name="T6" fmla="*/ 78 w 90"/>
              <a:gd name="T7" fmla="*/ 833 h 1050"/>
              <a:gd name="T8" fmla="*/ 90 w 90"/>
              <a:gd name="T9" fmla="*/ 105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" h="1050">
                <a:moveTo>
                  <a:pt x="0" y="0"/>
                </a:moveTo>
                <a:cubicBezTo>
                  <a:pt x="3" y="47"/>
                  <a:pt x="9" y="187"/>
                  <a:pt x="16" y="280"/>
                </a:cubicBezTo>
                <a:cubicBezTo>
                  <a:pt x="23" y="373"/>
                  <a:pt x="32" y="469"/>
                  <a:pt x="42" y="561"/>
                </a:cubicBezTo>
                <a:cubicBezTo>
                  <a:pt x="52" y="653"/>
                  <a:pt x="70" y="752"/>
                  <a:pt x="78" y="833"/>
                </a:cubicBezTo>
                <a:cubicBezTo>
                  <a:pt x="86" y="914"/>
                  <a:pt x="88" y="982"/>
                  <a:pt x="90" y="105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9" name="Freeform 2855"/>
          <p:cNvSpPr>
            <a:spLocks/>
          </p:cNvSpPr>
          <p:nvPr/>
        </p:nvSpPr>
        <p:spPr bwMode="auto">
          <a:xfrm>
            <a:off x="5270085" y="2770380"/>
            <a:ext cx="373063" cy="1651000"/>
          </a:xfrm>
          <a:custGeom>
            <a:avLst/>
            <a:gdLst>
              <a:gd name="T0" fmla="*/ 0 w 235"/>
              <a:gd name="T1" fmla="*/ 0 h 1040"/>
              <a:gd name="T2" fmla="*/ 24 w 235"/>
              <a:gd name="T3" fmla="*/ 179 h 1040"/>
              <a:gd name="T4" fmla="*/ 93 w 235"/>
              <a:gd name="T5" fmla="*/ 442 h 1040"/>
              <a:gd name="T6" fmla="*/ 184 w 235"/>
              <a:gd name="T7" fmla="*/ 723 h 1040"/>
              <a:gd name="T8" fmla="*/ 235 w 235"/>
              <a:gd name="T9" fmla="*/ 1040 h 1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5" h="1040">
                <a:moveTo>
                  <a:pt x="0" y="0"/>
                </a:moveTo>
                <a:cubicBezTo>
                  <a:pt x="4" y="30"/>
                  <a:pt x="8" y="105"/>
                  <a:pt x="24" y="179"/>
                </a:cubicBezTo>
                <a:cubicBezTo>
                  <a:pt x="40" y="253"/>
                  <a:pt x="66" y="351"/>
                  <a:pt x="93" y="442"/>
                </a:cubicBezTo>
                <a:cubicBezTo>
                  <a:pt x="120" y="533"/>
                  <a:pt x="160" y="623"/>
                  <a:pt x="184" y="723"/>
                </a:cubicBezTo>
                <a:cubicBezTo>
                  <a:pt x="208" y="823"/>
                  <a:pt x="221" y="931"/>
                  <a:pt x="235" y="104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0" name="Freeform 2856"/>
          <p:cNvSpPr>
            <a:spLocks/>
          </p:cNvSpPr>
          <p:nvPr/>
        </p:nvSpPr>
        <p:spPr bwMode="auto">
          <a:xfrm>
            <a:off x="5552660" y="2767205"/>
            <a:ext cx="688975" cy="1660525"/>
          </a:xfrm>
          <a:custGeom>
            <a:avLst/>
            <a:gdLst>
              <a:gd name="T0" fmla="*/ 0 w 434"/>
              <a:gd name="T1" fmla="*/ 0 h 1046"/>
              <a:gd name="T2" fmla="*/ 33 w 434"/>
              <a:gd name="T3" fmla="*/ 105 h 1046"/>
              <a:gd name="T4" fmla="*/ 75 w 434"/>
              <a:gd name="T5" fmla="*/ 192 h 1046"/>
              <a:gd name="T6" fmla="*/ 187 w 434"/>
              <a:gd name="T7" fmla="*/ 360 h 1046"/>
              <a:gd name="T8" fmla="*/ 322 w 434"/>
              <a:gd name="T9" fmla="*/ 576 h 1046"/>
              <a:gd name="T10" fmla="*/ 406 w 434"/>
              <a:gd name="T11" fmla="*/ 836 h 1046"/>
              <a:gd name="T12" fmla="*/ 434 w 434"/>
              <a:gd name="T13" fmla="*/ 1046 h 10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4" h="1046">
                <a:moveTo>
                  <a:pt x="0" y="0"/>
                </a:moveTo>
                <a:cubicBezTo>
                  <a:pt x="5" y="17"/>
                  <a:pt x="21" y="73"/>
                  <a:pt x="33" y="105"/>
                </a:cubicBezTo>
                <a:cubicBezTo>
                  <a:pt x="45" y="137"/>
                  <a:pt x="49" y="149"/>
                  <a:pt x="75" y="192"/>
                </a:cubicBezTo>
                <a:cubicBezTo>
                  <a:pt x="101" y="235"/>
                  <a:pt x="146" y="296"/>
                  <a:pt x="187" y="360"/>
                </a:cubicBezTo>
                <a:cubicBezTo>
                  <a:pt x="228" y="424"/>
                  <a:pt x="286" y="497"/>
                  <a:pt x="322" y="576"/>
                </a:cubicBezTo>
                <a:cubicBezTo>
                  <a:pt x="358" y="655"/>
                  <a:pt x="388" y="758"/>
                  <a:pt x="406" y="836"/>
                </a:cubicBezTo>
                <a:cubicBezTo>
                  <a:pt x="425" y="914"/>
                  <a:pt x="428" y="1002"/>
                  <a:pt x="434" y="1046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" name="Freeform 2857"/>
          <p:cNvSpPr>
            <a:spLocks/>
          </p:cNvSpPr>
          <p:nvPr/>
        </p:nvSpPr>
        <p:spPr bwMode="auto">
          <a:xfrm>
            <a:off x="5684423" y="2737042"/>
            <a:ext cx="1363662" cy="1695450"/>
          </a:xfrm>
          <a:custGeom>
            <a:avLst/>
            <a:gdLst>
              <a:gd name="T0" fmla="*/ 0 w 859"/>
              <a:gd name="T1" fmla="*/ 1 h 1068"/>
              <a:gd name="T2" fmla="*/ 82 w 859"/>
              <a:gd name="T3" fmla="*/ 20 h 1068"/>
              <a:gd name="T4" fmla="*/ 280 w 859"/>
              <a:gd name="T5" fmla="*/ 121 h 1068"/>
              <a:gd name="T6" fmla="*/ 507 w 859"/>
              <a:gd name="T7" fmla="*/ 310 h 1068"/>
              <a:gd name="T8" fmla="*/ 693 w 859"/>
              <a:gd name="T9" fmla="*/ 550 h 1068"/>
              <a:gd name="T10" fmla="*/ 818 w 859"/>
              <a:gd name="T11" fmla="*/ 796 h 1068"/>
              <a:gd name="T12" fmla="*/ 859 w 859"/>
              <a:gd name="T13" fmla="*/ 1068 h 10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9" h="1068">
                <a:moveTo>
                  <a:pt x="0" y="1"/>
                </a:moveTo>
                <a:cubicBezTo>
                  <a:pt x="14" y="5"/>
                  <a:pt x="35" y="0"/>
                  <a:pt x="82" y="20"/>
                </a:cubicBezTo>
                <a:cubicBezTo>
                  <a:pt x="129" y="40"/>
                  <a:pt x="209" y="73"/>
                  <a:pt x="280" y="121"/>
                </a:cubicBezTo>
                <a:cubicBezTo>
                  <a:pt x="351" y="169"/>
                  <a:pt x="438" y="239"/>
                  <a:pt x="507" y="310"/>
                </a:cubicBezTo>
                <a:cubicBezTo>
                  <a:pt x="576" y="381"/>
                  <a:pt x="641" y="469"/>
                  <a:pt x="693" y="550"/>
                </a:cubicBezTo>
                <a:cubicBezTo>
                  <a:pt x="745" y="631"/>
                  <a:pt x="790" y="710"/>
                  <a:pt x="818" y="796"/>
                </a:cubicBezTo>
                <a:cubicBezTo>
                  <a:pt x="846" y="882"/>
                  <a:pt x="852" y="975"/>
                  <a:pt x="859" y="1068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2" name="Line 2858"/>
          <p:cNvSpPr>
            <a:spLocks noChangeShapeType="1"/>
          </p:cNvSpPr>
          <p:nvPr/>
        </p:nvSpPr>
        <p:spPr bwMode="auto">
          <a:xfrm>
            <a:off x="5595523" y="1821055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" name="Text Box 2862"/>
          <p:cNvSpPr txBox="1">
            <a:spLocks noChangeArrowheads="1"/>
          </p:cNvSpPr>
          <p:nvPr/>
        </p:nvSpPr>
        <p:spPr bwMode="auto">
          <a:xfrm>
            <a:off x="3385723" y="2367155"/>
            <a:ext cx="32092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B</a:t>
            </a:r>
          </a:p>
        </p:txBody>
      </p:sp>
      <p:sp>
        <p:nvSpPr>
          <p:cNvPr id="207" name="Text Box 2863"/>
          <p:cNvSpPr txBox="1">
            <a:spLocks noChangeArrowheads="1"/>
          </p:cNvSpPr>
          <p:nvPr/>
        </p:nvSpPr>
        <p:spPr bwMode="auto">
          <a:xfrm>
            <a:off x="3266660" y="2692592"/>
            <a:ext cx="33214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C</a:t>
            </a:r>
          </a:p>
        </p:txBody>
      </p:sp>
      <p:sp>
        <p:nvSpPr>
          <p:cNvPr id="208" name="Text Box 2864"/>
          <p:cNvSpPr txBox="1">
            <a:spLocks noChangeArrowheads="1"/>
          </p:cNvSpPr>
          <p:nvPr/>
        </p:nvSpPr>
        <p:spPr bwMode="auto">
          <a:xfrm>
            <a:off x="5546310" y="2686242"/>
            <a:ext cx="33214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D</a:t>
            </a:r>
          </a:p>
        </p:txBody>
      </p:sp>
      <p:sp>
        <p:nvSpPr>
          <p:cNvPr id="209" name="Text Box 2865"/>
          <p:cNvSpPr txBox="1">
            <a:spLocks noChangeArrowheads="1"/>
          </p:cNvSpPr>
          <p:nvPr/>
        </p:nvSpPr>
        <p:spPr bwMode="auto">
          <a:xfrm>
            <a:off x="5401848" y="2368742"/>
            <a:ext cx="32092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E</a:t>
            </a:r>
          </a:p>
        </p:txBody>
      </p:sp>
      <p:sp>
        <p:nvSpPr>
          <p:cNvPr id="211" name="Line 2867"/>
          <p:cNvSpPr>
            <a:spLocks noChangeShapeType="1"/>
          </p:cNvSpPr>
          <p:nvPr/>
        </p:nvSpPr>
        <p:spPr bwMode="auto">
          <a:xfrm>
            <a:off x="6138448" y="1814705"/>
            <a:ext cx="0" cy="64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" name="Line 2868"/>
          <p:cNvSpPr>
            <a:spLocks noChangeShapeType="1"/>
          </p:cNvSpPr>
          <p:nvPr/>
        </p:nvSpPr>
        <p:spPr bwMode="auto">
          <a:xfrm>
            <a:off x="6944898" y="222745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3" name="Text Box 2869"/>
          <p:cNvSpPr txBox="1">
            <a:spLocks noChangeArrowheads="1"/>
          </p:cNvSpPr>
          <p:nvPr/>
        </p:nvSpPr>
        <p:spPr bwMode="auto">
          <a:xfrm>
            <a:off x="6127335" y="1875030"/>
            <a:ext cx="77470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 dirty="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600" b="1" i="1" dirty="0">
                <a:latin typeface="Times New Roman" pitchFamily="18" charset="0"/>
              </a:rPr>
              <a:t>H</a:t>
            </a:r>
            <a:r>
              <a:rPr lang="en-US" altLang="zh-CN" sz="1600" b="1" dirty="0">
                <a:latin typeface="Times New Roman" pitchFamily="18" charset="0"/>
              </a:rPr>
              <a:t>=5m</a:t>
            </a:r>
            <a:endParaRPr lang="el-GR" altLang="zh-CN" sz="1600" b="1" dirty="0">
              <a:latin typeface="Times New Roman" pitchFamily="18" charset="0"/>
            </a:endParaRPr>
          </a:p>
        </p:txBody>
      </p:sp>
      <p:sp>
        <p:nvSpPr>
          <p:cNvPr id="214" name="Text Box 2870"/>
          <p:cNvSpPr txBox="1">
            <a:spLocks noChangeArrowheads="1"/>
          </p:cNvSpPr>
          <p:nvPr/>
        </p:nvSpPr>
        <p:spPr bwMode="auto">
          <a:xfrm>
            <a:off x="6941723" y="2109980"/>
            <a:ext cx="37465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CN" sz="1600" b="1">
                <a:latin typeface="Times New Roman" pitchFamily="18" charset="0"/>
              </a:rPr>
              <a:t>m</a:t>
            </a:r>
            <a:endParaRPr lang="el-GR" altLang="zh-CN" sz="1600" b="1">
              <a:latin typeface="Times New Roman" pitchFamily="18" charset="0"/>
            </a:endParaRPr>
          </a:p>
        </p:txBody>
      </p:sp>
      <p:sp>
        <p:nvSpPr>
          <p:cNvPr id="218" name="Text Box 2874"/>
          <p:cNvSpPr txBox="1">
            <a:spLocks noChangeArrowheads="1"/>
          </p:cNvSpPr>
          <p:nvPr/>
        </p:nvSpPr>
        <p:spPr bwMode="auto">
          <a:xfrm>
            <a:off x="7928447" y="2219157"/>
            <a:ext cx="30970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 dirty="0">
                <a:latin typeface="Times New Roman" pitchFamily="18" charset="0"/>
              </a:rPr>
              <a:t>F</a:t>
            </a:r>
          </a:p>
        </p:txBody>
      </p:sp>
      <p:sp>
        <p:nvSpPr>
          <p:cNvPr id="219" name="AutoShape 2875"/>
          <p:cNvSpPr>
            <a:spLocks noChangeArrowheads="1"/>
          </p:cNvSpPr>
          <p:nvPr/>
        </p:nvSpPr>
        <p:spPr bwMode="auto">
          <a:xfrm flipV="1">
            <a:off x="6584535" y="2344930"/>
            <a:ext cx="136525" cy="1174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" name="Line 2876"/>
          <p:cNvSpPr>
            <a:spLocks noChangeShapeType="1"/>
          </p:cNvSpPr>
          <p:nvPr/>
        </p:nvSpPr>
        <p:spPr bwMode="auto">
          <a:xfrm>
            <a:off x="6521035" y="2498917"/>
            <a:ext cx="1190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" name="Line 2877"/>
          <p:cNvSpPr>
            <a:spLocks noChangeShapeType="1"/>
          </p:cNvSpPr>
          <p:nvPr/>
        </p:nvSpPr>
        <p:spPr bwMode="auto">
          <a:xfrm>
            <a:off x="6682960" y="2498917"/>
            <a:ext cx="1190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2" name="Line 2878"/>
          <p:cNvSpPr>
            <a:spLocks noChangeShapeType="1"/>
          </p:cNvSpPr>
          <p:nvPr/>
        </p:nvSpPr>
        <p:spPr bwMode="auto">
          <a:xfrm>
            <a:off x="6592473" y="2533842"/>
            <a:ext cx="1698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3" name="Text Box 2879"/>
          <p:cNvSpPr txBox="1">
            <a:spLocks noChangeArrowheads="1"/>
          </p:cNvSpPr>
          <p:nvPr/>
        </p:nvSpPr>
        <p:spPr bwMode="auto">
          <a:xfrm>
            <a:off x="1031460" y="4102292"/>
            <a:ext cx="344966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G</a:t>
            </a:r>
          </a:p>
        </p:txBody>
      </p:sp>
      <p:sp>
        <p:nvSpPr>
          <p:cNvPr id="224" name="Text Box 2880"/>
          <p:cNvSpPr txBox="1">
            <a:spLocks noChangeArrowheads="1"/>
          </p:cNvSpPr>
          <p:nvPr/>
        </p:nvSpPr>
        <p:spPr bwMode="auto">
          <a:xfrm>
            <a:off x="7652923" y="4102292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>
                <a:latin typeface="Times New Roman" pitchFamily="18" charset="0"/>
              </a:rPr>
              <a:t>H</a:t>
            </a:r>
          </a:p>
        </p:txBody>
      </p:sp>
      <p:sp>
        <p:nvSpPr>
          <p:cNvPr id="225" name="Text Box 2881"/>
          <p:cNvSpPr txBox="1">
            <a:spLocks noChangeArrowheads="1"/>
          </p:cNvSpPr>
          <p:nvPr/>
        </p:nvSpPr>
        <p:spPr bwMode="auto">
          <a:xfrm>
            <a:off x="8071527" y="4311842"/>
            <a:ext cx="10259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ctr"/>
            <a:r>
              <a:rPr lang="en-US" altLang="zh-CN" sz="1600" b="1">
                <a:latin typeface="Times New Roman" pitchFamily="18" charset="0"/>
              </a:rPr>
              <a:t>0</a:t>
            </a:r>
          </a:p>
        </p:txBody>
      </p:sp>
      <p:sp>
        <p:nvSpPr>
          <p:cNvPr id="226" name="Line 2882"/>
          <p:cNvSpPr>
            <a:spLocks noChangeShapeType="1"/>
          </p:cNvSpPr>
          <p:nvPr/>
        </p:nvSpPr>
        <p:spPr bwMode="auto">
          <a:xfrm flipV="1">
            <a:off x="6954423" y="257511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" name="Text Box 2883"/>
          <p:cNvSpPr txBox="1">
            <a:spLocks noChangeArrowheads="1"/>
          </p:cNvSpPr>
          <p:nvPr/>
        </p:nvSpPr>
        <p:spPr bwMode="auto">
          <a:xfrm>
            <a:off x="5162135" y="4696650"/>
            <a:ext cx="1011815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1600" b="1" dirty="0">
                <a:latin typeface="Times New Roman" pitchFamily="18" charset="0"/>
              </a:rPr>
              <a:t>不透水层</a:t>
            </a:r>
          </a:p>
        </p:txBody>
      </p:sp>
      <p:sp>
        <p:nvSpPr>
          <p:cNvPr id="228" name="Text Box 2884"/>
          <p:cNvSpPr txBox="1">
            <a:spLocks noChangeArrowheads="1"/>
          </p:cNvSpPr>
          <p:nvPr/>
        </p:nvSpPr>
        <p:spPr bwMode="auto">
          <a:xfrm>
            <a:off x="3123785" y="2287780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</a:t>
            </a:r>
          </a:p>
        </p:txBody>
      </p:sp>
      <p:sp>
        <p:nvSpPr>
          <p:cNvPr id="229" name="Text Box 2885"/>
          <p:cNvSpPr txBox="1">
            <a:spLocks noChangeArrowheads="1"/>
          </p:cNvSpPr>
          <p:nvPr/>
        </p:nvSpPr>
        <p:spPr bwMode="auto">
          <a:xfrm>
            <a:off x="2899948" y="2289367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</a:t>
            </a:r>
          </a:p>
        </p:txBody>
      </p:sp>
      <p:sp>
        <p:nvSpPr>
          <p:cNvPr id="230" name="Text Box 2886"/>
          <p:cNvSpPr txBox="1">
            <a:spLocks noChangeArrowheads="1"/>
          </p:cNvSpPr>
          <p:nvPr/>
        </p:nvSpPr>
        <p:spPr bwMode="auto">
          <a:xfrm>
            <a:off x="1309273" y="2268730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</a:t>
            </a:r>
          </a:p>
        </p:txBody>
      </p:sp>
      <p:sp>
        <p:nvSpPr>
          <p:cNvPr id="231" name="Text Box 2887"/>
          <p:cNvSpPr txBox="1">
            <a:spLocks noChangeArrowheads="1"/>
          </p:cNvSpPr>
          <p:nvPr/>
        </p:nvSpPr>
        <p:spPr bwMode="auto">
          <a:xfrm>
            <a:off x="2396710" y="2279842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</a:t>
            </a:r>
          </a:p>
        </p:txBody>
      </p:sp>
      <p:sp>
        <p:nvSpPr>
          <p:cNvPr id="232" name="Text Box 2888"/>
          <p:cNvSpPr txBox="1">
            <a:spLocks noChangeArrowheads="1"/>
          </p:cNvSpPr>
          <p:nvPr/>
        </p:nvSpPr>
        <p:spPr bwMode="auto">
          <a:xfrm>
            <a:off x="707610" y="238779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1</a:t>
            </a:r>
          </a:p>
        </p:txBody>
      </p:sp>
      <p:sp>
        <p:nvSpPr>
          <p:cNvPr id="233" name="Text Box 2889"/>
          <p:cNvSpPr txBox="1">
            <a:spLocks noChangeArrowheads="1"/>
          </p:cNvSpPr>
          <p:nvPr/>
        </p:nvSpPr>
        <p:spPr bwMode="auto">
          <a:xfrm>
            <a:off x="1431510" y="4161030"/>
            <a:ext cx="36740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sym typeface="Wingdings" pitchFamily="2" charset="2"/>
              </a:rPr>
              <a:t></a:t>
            </a:r>
          </a:p>
        </p:txBody>
      </p:sp>
      <p:sp>
        <p:nvSpPr>
          <p:cNvPr id="234" name="Text Box 2890"/>
          <p:cNvSpPr txBox="1">
            <a:spLocks noChangeArrowheads="1"/>
          </p:cNvSpPr>
          <p:nvPr/>
        </p:nvSpPr>
        <p:spPr bwMode="auto">
          <a:xfrm>
            <a:off x="1858548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2</a:t>
            </a:r>
          </a:p>
        </p:txBody>
      </p:sp>
      <p:sp>
        <p:nvSpPr>
          <p:cNvPr id="235" name="Text Box 2891"/>
          <p:cNvSpPr txBox="1">
            <a:spLocks noChangeArrowheads="1"/>
          </p:cNvSpPr>
          <p:nvPr/>
        </p:nvSpPr>
        <p:spPr bwMode="auto">
          <a:xfrm>
            <a:off x="2841210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3</a:t>
            </a:r>
          </a:p>
        </p:txBody>
      </p:sp>
      <p:sp>
        <p:nvSpPr>
          <p:cNvPr id="236" name="Text Box 2892"/>
          <p:cNvSpPr txBox="1">
            <a:spLocks noChangeArrowheads="1"/>
          </p:cNvSpPr>
          <p:nvPr/>
        </p:nvSpPr>
        <p:spPr bwMode="auto">
          <a:xfrm>
            <a:off x="3412710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4</a:t>
            </a:r>
          </a:p>
        </p:txBody>
      </p:sp>
      <p:sp>
        <p:nvSpPr>
          <p:cNvPr id="237" name="Text Box 2893"/>
          <p:cNvSpPr txBox="1">
            <a:spLocks noChangeArrowheads="1"/>
          </p:cNvSpPr>
          <p:nvPr/>
        </p:nvSpPr>
        <p:spPr bwMode="auto">
          <a:xfrm>
            <a:off x="3930235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5</a:t>
            </a:r>
          </a:p>
        </p:txBody>
      </p:sp>
      <p:sp>
        <p:nvSpPr>
          <p:cNvPr id="238" name="Text Box 2894"/>
          <p:cNvSpPr txBox="1">
            <a:spLocks noChangeArrowheads="1"/>
          </p:cNvSpPr>
          <p:nvPr/>
        </p:nvSpPr>
        <p:spPr bwMode="auto">
          <a:xfrm>
            <a:off x="4463635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6</a:t>
            </a:r>
          </a:p>
        </p:txBody>
      </p:sp>
      <p:sp>
        <p:nvSpPr>
          <p:cNvPr id="239" name="Text Box 2895"/>
          <p:cNvSpPr txBox="1">
            <a:spLocks noChangeArrowheads="1"/>
          </p:cNvSpPr>
          <p:nvPr/>
        </p:nvSpPr>
        <p:spPr bwMode="auto">
          <a:xfrm>
            <a:off x="4928773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7</a:t>
            </a:r>
          </a:p>
        </p:txBody>
      </p:sp>
      <p:sp>
        <p:nvSpPr>
          <p:cNvPr id="240" name="Text Box 2896"/>
          <p:cNvSpPr txBox="1">
            <a:spLocks noChangeArrowheads="1"/>
          </p:cNvSpPr>
          <p:nvPr/>
        </p:nvSpPr>
        <p:spPr bwMode="auto">
          <a:xfrm>
            <a:off x="5455823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8</a:t>
            </a:r>
          </a:p>
        </p:txBody>
      </p:sp>
      <p:sp>
        <p:nvSpPr>
          <p:cNvPr id="241" name="Text Box 2897"/>
          <p:cNvSpPr txBox="1">
            <a:spLocks noChangeArrowheads="1"/>
          </p:cNvSpPr>
          <p:nvPr/>
        </p:nvSpPr>
        <p:spPr bwMode="auto">
          <a:xfrm>
            <a:off x="6057485" y="4451542"/>
            <a:ext cx="287258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9</a:t>
            </a:r>
          </a:p>
        </p:txBody>
      </p:sp>
      <p:sp>
        <p:nvSpPr>
          <p:cNvPr id="242" name="Text Box 2898"/>
          <p:cNvSpPr txBox="1">
            <a:spLocks noChangeArrowheads="1"/>
          </p:cNvSpPr>
          <p:nvPr/>
        </p:nvSpPr>
        <p:spPr bwMode="auto">
          <a:xfrm>
            <a:off x="6857585" y="4451542"/>
            <a:ext cx="38985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10</a:t>
            </a:r>
          </a:p>
        </p:txBody>
      </p:sp>
      <p:sp>
        <p:nvSpPr>
          <p:cNvPr id="243" name="Text Box 2899"/>
          <p:cNvSpPr txBox="1">
            <a:spLocks noChangeArrowheads="1"/>
          </p:cNvSpPr>
          <p:nvPr/>
        </p:nvSpPr>
        <p:spPr bwMode="auto">
          <a:xfrm>
            <a:off x="7918035" y="2402080"/>
            <a:ext cx="37850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>
                <a:latin typeface="Times New Roman" pitchFamily="18" charset="0"/>
              </a:rPr>
              <a:t>11</a:t>
            </a:r>
          </a:p>
        </p:txBody>
      </p:sp>
      <p:sp>
        <p:nvSpPr>
          <p:cNvPr id="244" name="Text Box 2900"/>
          <p:cNvSpPr txBox="1">
            <a:spLocks noChangeArrowheads="1"/>
          </p:cNvSpPr>
          <p:nvPr/>
        </p:nvSpPr>
        <p:spPr bwMode="auto">
          <a:xfrm>
            <a:off x="7373523" y="3246630"/>
            <a:ext cx="654346" cy="732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 i="1" dirty="0">
                <a:latin typeface="Times New Roman" pitchFamily="18" charset="0"/>
              </a:rPr>
              <a:t>N</a:t>
            </a:r>
            <a:r>
              <a:rPr lang="en-US" altLang="zh-CN" sz="1600" b="1" dirty="0">
                <a:latin typeface="Times New Roman" pitchFamily="18" charset="0"/>
              </a:rPr>
              <a:t>=10</a:t>
            </a:r>
          </a:p>
          <a:p>
            <a:r>
              <a:rPr lang="en-US" altLang="zh-CN" sz="1600" b="1" i="1" dirty="0">
                <a:latin typeface="Times New Roman" pitchFamily="18" charset="0"/>
              </a:rPr>
              <a:t>M</a:t>
            </a:r>
            <a:r>
              <a:rPr lang="en-US" altLang="zh-CN" sz="1600" b="1" dirty="0">
                <a:latin typeface="Times New Roman" pitchFamily="18" charset="0"/>
              </a:rPr>
              <a:t>=4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542760" y="3392680"/>
            <a:ext cx="937040" cy="1025525"/>
            <a:chOff x="2542760" y="3392680"/>
            <a:chExt cx="937040" cy="1025525"/>
          </a:xfrm>
        </p:grpSpPr>
        <p:sp>
          <p:nvSpPr>
            <p:cNvPr id="247" name="Line 2903"/>
            <p:cNvSpPr>
              <a:spLocks noChangeShapeType="1"/>
            </p:cNvSpPr>
            <p:nvPr/>
          </p:nvSpPr>
          <p:spPr bwMode="auto">
            <a:xfrm>
              <a:off x="2617373" y="3397442"/>
              <a:ext cx="0" cy="1020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48" name="Line 2904"/>
            <p:cNvSpPr>
              <a:spLocks noChangeShapeType="1"/>
            </p:cNvSpPr>
            <p:nvPr/>
          </p:nvSpPr>
          <p:spPr bwMode="auto">
            <a:xfrm>
              <a:off x="2542760" y="3392680"/>
              <a:ext cx="173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49" name="Text Box 2906"/>
            <p:cNvSpPr txBox="1">
              <a:spLocks noChangeArrowheads="1"/>
            </p:cNvSpPr>
            <p:nvPr/>
          </p:nvSpPr>
          <p:spPr bwMode="auto">
            <a:xfrm>
              <a:off x="2584034" y="3772092"/>
              <a:ext cx="895766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b="1" dirty="0" err="1" smtClean="0">
                  <a:latin typeface="Times New Roman" pitchFamily="18" charset="0"/>
                </a:rPr>
                <a:t>z</a:t>
              </a:r>
              <a:r>
                <a:rPr lang="en-US" altLang="zh-CN" sz="1600" b="1" baseline="-25000" dirty="0" err="1" smtClean="0">
                  <a:latin typeface="Times New Roman" pitchFamily="18" charset="0"/>
                </a:rPr>
                <a:t>a</a:t>
              </a:r>
              <a:r>
                <a:rPr lang="en-US" altLang="zh-CN" sz="1600" b="1" dirty="0" smtClean="0">
                  <a:latin typeface="Times New Roman" pitchFamily="18" charset="0"/>
                </a:rPr>
                <a:t>=8.8m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</p:grpSp>
      <p:grpSp>
        <p:nvGrpSpPr>
          <p:cNvPr id="252" name="Group 2909"/>
          <p:cNvGrpSpPr>
            <a:grpSpLocks/>
          </p:cNvGrpSpPr>
          <p:nvPr/>
        </p:nvGrpSpPr>
        <p:grpSpPr bwMode="auto">
          <a:xfrm>
            <a:off x="7211598" y="4430905"/>
            <a:ext cx="625475" cy="133350"/>
            <a:chOff x="2644" y="2807"/>
            <a:chExt cx="481" cy="83"/>
          </a:xfrm>
        </p:grpSpPr>
        <p:sp>
          <p:nvSpPr>
            <p:cNvPr id="253" name="Freeform 2910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4" name="Freeform 2911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5" name="Freeform 2912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" name="Freeform 2913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7" name="Freeform 2914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8" name="Freeform 2915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9" name="Freeform 2916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0" name="Freeform 2917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" name="Freeform 2918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2" name="Freeform 2919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3" name="Freeform 2920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4" name="Freeform 2921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65" name="Group 2922"/>
          <p:cNvGrpSpPr>
            <a:grpSpLocks/>
          </p:cNvGrpSpPr>
          <p:nvPr/>
        </p:nvGrpSpPr>
        <p:grpSpPr bwMode="auto">
          <a:xfrm>
            <a:off x="2137948" y="4430905"/>
            <a:ext cx="625475" cy="133350"/>
            <a:chOff x="2644" y="2807"/>
            <a:chExt cx="481" cy="83"/>
          </a:xfrm>
        </p:grpSpPr>
        <p:sp>
          <p:nvSpPr>
            <p:cNvPr id="266" name="Freeform 2923"/>
            <p:cNvSpPr>
              <a:spLocks/>
            </p:cNvSpPr>
            <p:nvPr/>
          </p:nvSpPr>
          <p:spPr bwMode="auto">
            <a:xfrm>
              <a:off x="2644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7" name="Freeform 2924"/>
            <p:cNvSpPr>
              <a:spLocks/>
            </p:cNvSpPr>
            <p:nvPr/>
          </p:nvSpPr>
          <p:spPr bwMode="auto">
            <a:xfrm>
              <a:off x="2729" y="2810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8" name="Freeform 2925"/>
            <p:cNvSpPr>
              <a:spLocks/>
            </p:cNvSpPr>
            <p:nvPr/>
          </p:nvSpPr>
          <p:spPr bwMode="auto">
            <a:xfrm>
              <a:off x="2693" y="2807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9" name="Freeform 2926"/>
            <p:cNvSpPr>
              <a:spLocks/>
            </p:cNvSpPr>
            <p:nvPr/>
          </p:nvSpPr>
          <p:spPr bwMode="auto">
            <a:xfrm>
              <a:off x="2792" y="2837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0" name="Freeform 2927"/>
            <p:cNvSpPr>
              <a:spLocks/>
            </p:cNvSpPr>
            <p:nvPr/>
          </p:nvSpPr>
          <p:spPr bwMode="auto">
            <a:xfrm>
              <a:off x="2759" y="2859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1" name="Freeform 2928"/>
            <p:cNvSpPr>
              <a:spLocks/>
            </p:cNvSpPr>
            <p:nvPr/>
          </p:nvSpPr>
          <p:spPr bwMode="auto">
            <a:xfrm>
              <a:off x="2829" y="2813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2" name="Freeform 2929"/>
            <p:cNvSpPr>
              <a:spLocks/>
            </p:cNvSpPr>
            <p:nvPr/>
          </p:nvSpPr>
          <p:spPr bwMode="auto">
            <a:xfrm>
              <a:off x="2868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3" name="Freeform 2930"/>
            <p:cNvSpPr>
              <a:spLocks/>
            </p:cNvSpPr>
            <p:nvPr/>
          </p:nvSpPr>
          <p:spPr bwMode="auto">
            <a:xfrm>
              <a:off x="2953" y="2811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4" name="Freeform 2931"/>
            <p:cNvSpPr>
              <a:spLocks/>
            </p:cNvSpPr>
            <p:nvPr/>
          </p:nvSpPr>
          <p:spPr bwMode="auto">
            <a:xfrm>
              <a:off x="2917" y="2808"/>
              <a:ext cx="97" cy="73"/>
            </a:xfrm>
            <a:custGeom>
              <a:avLst/>
              <a:gdLst>
                <a:gd name="T0" fmla="*/ 97 w 97"/>
                <a:gd name="T1" fmla="*/ 0 h 73"/>
                <a:gd name="T2" fmla="*/ 0 w 97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lnTo>
                    <a:pt x="0" y="7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5" name="Freeform 2932"/>
            <p:cNvSpPr>
              <a:spLocks/>
            </p:cNvSpPr>
            <p:nvPr/>
          </p:nvSpPr>
          <p:spPr bwMode="auto">
            <a:xfrm>
              <a:off x="3016" y="2838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" name="Freeform 2933"/>
            <p:cNvSpPr>
              <a:spLocks/>
            </p:cNvSpPr>
            <p:nvPr/>
          </p:nvSpPr>
          <p:spPr bwMode="auto">
            <a:xfrm>
              <a:off x="2983" y="2860"/>
              <a:ext cx="54" cy="30"/>
            </a:xfrm>
            <a:custGeom>
              <a:avLst/>
              <a:gdLst>
                <a:gd name="T0" fmla="*/ 0 w 54"/>
                <a:gd name="T1" fmla="*/ 0 h 30"/>
                <a:gd name="T2" fmla="*/ 54 w 54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" h="30">
                  <a:moveTo>
                    <a:pt x="0" y="0"/>
                  </a:moveTo>
                  <a:lnTo>
                    <a:pt x="54" y="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7" name="Freeform 2934"/>
            <p:cNvSpPr>
              <a:spLocks/>
            </p:cNvSpPr>
            <p:nvPr/>
          </p:nvSpPr>
          <p:spPr bwMode="auto">
            <a:xfrm>
              <a:off x="3053" y="2814"/>
              <a:ext cx="72" cy="40"/>
            </a:xfrm>
            <a:custGeom>
              <a:avLst/>
              <a:gdLst>
                <a:gd name="T0" fmla="*/ 0 w 72"/>
                <a:gd name="T1" fmla="*/ 0 h 40"/>
                <a:gd name="T2" fmla="*/ 72 w 72"/>
                <a:gd name="T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" h="40">
                  <a:moveTo>
                    <a:pt x="0" y="0"/>
                  </a:moveTo>
                  <a:lnTo>
                    <a:pt x="72" y="4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9" name="Text Box 2861"/>
          <p:cNvSpPr txBox="1">
            <a:spLocks noChangeArrowheads="1"/>
          </p:cNvSpPr>
          <p:nvPr/>
        </p:nvSpPr>
        <p:spPr bwMode="auto">
          <a:xfrm>
            <a:off x="838293" y="2243330"/>
            <a:ext cx="332142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defTabSz="1101725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defTabSz="11017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1600" b="1" dirty="0">
                <a:latin typeface="Times New Roman" pitchFamily="18" charset="0"/>
              </a:rPr>
              <a:t>A</a:t>
            </a:r>
          </a:p>
        </p:txBody>
      </p:sp>
      <p:sp>
        <p:nvSpPr>
          <p:cNvPr id="110" name="Line 2866"/>
          <p:cNvSpPr>
            <a:spLocks noChangeShapeType="1"/>
          </p:cNvSpPr>
          <p:nvPr/>
        </p:nvSpPr>
        <p:spPr bwMode="auto">
          <a:xfrm>
            <a:off x="447840" y="1857567"/>
            <a:ext cx="0" cy="71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Text Box 2873"/>
          <p:cNvSpPr txBox="1">
            <a:spLocks noChangeArrowheads="1"/>
          </p:cNvSpPr>
          <p:nvPr/>
        </p:nvSpPr>
        <p:spPr bwMode="auto">
          <a:xfrm>
            <a:off x="435194" y="1989330"/>
            <a:ext cx="46990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 dirty="0">
                <a:latin typeface="Times New Roman" pitchFamily="18" charset="0"/>
              </a:rPr>
              <a:t>6m</a:t>
            </a:r>
            <a:endParaRPr lang="el-GR" altLang="zh-CN" sz="1600" b="1" dirty="0">
              <a:latin typeface="Times New Roman" pitchFamily="18" charset="0"/>
            </a:endParaRPr>
          </a:p>
        </p:txBody>
      </p:sp>
      <p:cxnSp>
        <p:nvCxnSpPr>
          <p:cNvPr id="112" name="直接连接符 111"/>
          <p:cNvCxnSpPr/>
          <p:nvPr/>
        </p:nvCxnSpPr>
        <p:spPr bwMode="auto">
          <a:xfrm>
            <a:off x="312026" y="1849725"/>
            <a:ext cx="43732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接连接符 112"/>
          <p:cNvCxnSpPr/>
          <p:nvPr/>
        </p:nvCxnSpPr>
        <p:spPr bwMode="auto">
          <a:xfrm>
            <a:off x="313351" y="2574619"/>
            <a:ext cx="43732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4" name="直接连接符 123"/>
          <p:cNvCxnSpPr/>
          <p:nvPr/>
        </p:nvCxnSpPr>
        <p:spPr bwMode="auto">
          <a:xfrm>
            <a:off x="328613" y="4420016"/>
            <a:ext cx="43732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Line 2866"/>
          <p:cNvSpPr>
            <a:spLocks noChangeShapeType="1"/>
          </p:cNvSpPr>
          <p:nvPr/>
        </p:nvSpPr>
        <p:spPr bwMode="auto">
          <a:xfrm>
            <a:off x="455385" y="2580335"/>
            <a:ext cx="0" cy="18341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" name="Text Box 2873"/>
          <p:cNvSpPr txBox="1">
            <a:spLocks noChangeArrowheads="1"/>
          </p:cNvSpPr>
          <p:nvPr/>
        </p:nvSpPr>
        <p:spPr bwMode="auto">
          <a:xfrm>
            <a:off x="474663" y="3303780"/>
            <a:ext cx="469900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/>
            <a:r>
              <a:rPr lang="en-US" altLang="zh-CN" sz="1600" b="1" dirty="0" smtClean="0">
                <a:latin typeface="Times New Roman" pitchFamily="18" charset="0"/>
              </a:rPr>
              <a:t>16m</a:t>
            </a:r>
            <a:endParaRPr lang="el-GR" altLang="zh-CN" sz="1600" b="1" dirty="0">
              <a:latin typeface="Times New Roman" pitchFamily="18" charset="0"/>
            </a:endParaRPr>
          </a:p>
        </p:txBody>
      </p:sp>
      <p:sp>
        <p:nvSpPr>
          <p:cNvPr id="127" name="Rectangle 2"/>
          <p:cNvSpPr>
            <a:spLocks noChangeArrowheads="1"/>
          </p:cNvSpPr>
          <p:nvPr/>
        </p:nvSpPr>
        <p:spPr bwMode="auto">
          <a:xfrm>
            <a:off x="3194050" y="5735638"/>
            <a:ext cx="27574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的应用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6700" y="625165"/>
            <a:ext cx="6857968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</a:t>
            </a:r>
            <a:r>
              <a:rPr lang="zh-CN" altLang="en-US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确定</a:t>
            </a:r>
            <a:r>
              <a:rPr lang="zh-CN" altLang="zh-CN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测</a:t>
            </a:r>
            <a:r>
              <a:rPr lang="zh-CN" altLang="zh-CN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管水头、位置水头和压力</a:t>
            </a:r>
            <a:r>
              <a:rPr lang="zh-CN" altLang="zh-CN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水头</a:t>
            </a:r>
            <a:endParaRPr lang="en-US" altLang="zh-CN" sz="2800" b="1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132231" y="3074935"/>
            <a:ext cx="376938" cy="446276"/>
            <a:chOff x="2132231" y="3074935"/>
            <a:chExt cx="376938" cy="446276"/>
          </a:xfrm>
        </p:grpSpPr>
        <p:sp>
          <p:nvSpPr>
            <p:cNvPr id="246" name="Text Box 2902"/>
            <p:cNvSpPr txBox="1">
              <a:spLocks noChangeArrowheads="1"/>
            </p:cNvSpPr>
            <p:nvPr/>
          </p:nvSpPr>
          <p:spPr bwMode="auto">
            <a:xfrm>
              <a:off x="2132231" y="3074935"/>
              <a:ext cx="312906" cy="446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 b="1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45" name="Oval 2901"/>
            <p:cNvSpPr>
              <a:spLocks noChangeArrowheads="1"/>
            </p:cNvSpPr>
            <p:nvPr/>
          </p:nvSpPr>
          <p:spPr bwMode="auto">
            <a:xfrm>
              <a:off x="2422769" y="3355482"/>
              <a:ext cx="86400" cy="864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 defTabSz="1101725"/>
              <a:endParaRPr lang="zh-CN" altLang="zh-CN" b="1"/>
            </a:p>
          </p:txBody>
        </p:sp>
      </p:grpSp>
      <p:sp>
        <p:nvSpPr>
          <p:cNvPr id="130" name="剪去单角的矩形 129"/>
          <p:cNvSpPr/>
          <p:nvPr/>
        </p:nvSpPr>
        <p:spPr bwMode="auto">
          <a:xfrm>
            <a:off x="4508400" y="2894264"/>
            <a:ext cx="4373217" cy="2376000"/>
          </a:xfrm>
          <a:prstGeom prst="snip1Rect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88900" dist="50800" dir="4800000" sx="102000" sy="102000" algn="ctr" rotWithShape="0">
              <a:srgbClr val="000000">
                <a:alpha val="97000"/>
              </a:srgb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268969" y="3058737"/>
            <a:ext cx="2379498" cy="479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点的水头计算</a:t>
            </a:r>
            <a:endParaRPr lang="zh-CN" altLang="en-US" sz="2400" b="1" dirty="0">
              <a:solidFill>
                <a:srgbClr val="C0000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4707891" y="3651277"/>
            <a:ext cx="373371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測管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水头：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000" b="1" i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000" b="1" i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0.5=21.5m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12579" y="4092065"/>
            <a:ext cx="274466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位置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水头：</a:t>
            </a:r>
            <a:r>
              <a:rPr lang="en-US" altLang="zh-CN" sz="20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000" b="1" i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 8.8m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17267" y="4532853"/>
            <a:ext cx="391004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压力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水头：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000" b="1" i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ua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000" b="1" i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0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000" b="1" i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 12.7m</a:t>
            </a:r>
          </a:p>
        </p:txBody>
      </p:sp>
      <p:sp>
        <p:nvSpPr>
          <p:cNvPr id="131" name="Text Box 2869"/>
          <p:cNvSpPr txBox="1">
            <a:spLocks noChangeArrowheads="1"/>
          </p:cNvSpPr>
          <p:nvPr/>
        </p:nvSpPr>
        <p:spPr bwMode="auto">
          <a:xfrm>
            <a:off x="2314317" y="2679280"/>
            <a:ext cx="329295" cy="37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600" b="1" i="1" dirty="0" smtClean="0">
                <a:solidFill>
                  <a:srgbClr val="C00000"/>
                </a:solidFill>
                <a:latin typeface="Times New Roman" pitchFamily="18" charset="0"/>
              </a:rPr>
              <a:t>h</a:t>
            </a:r>
            <a:endParaRPr lang="el-GR" altLang="zh-CN" sz="1600" b="1" dirty="0">
              <a:solidFill>
                <a:srgbClr val="C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5723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animBg="1"/>
      <p:bldP spid="130" grpId="0" animBg="1"/>
      <p:bldP spid="132" grpId="0"/>
      <p:bldP spid="134" grpId="0"/>
      <p:bldP spid="135" grpId="0"/>
      <p:bldP spid="136" grpId="0"/>
      <p:bldP spid="13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/>
          <p:cNvGrpSpPr/>
          <p:nvPr/>
        </p:nvGrpSpPr>
        <p:grpSpPr>
          <a:xfrm>
            <a:off x="312026" y="1459105"/>
            <a:ext cx="7984511" cy="3648070"/>
            <a:chOff x="312026" y="1459105"/>
            <a:chExt cx="7984511" cy="3648070"/>
          </a:xfrm>
        </p:grpSpPr>
        <p:sp>
          <p:nvSpPr>
            <p:cNvPr id="128" name="矩形 127"/>
            <p:cNvSpPr/>
            <p:nvPr/>
          </p:nvSpPr>
          <p:spPr bwMode="auto">
            <a:xfrm>
              <a:off x="5685576" y="2463432"/>
              <a:ext cx="2288437" cy="104115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1066800" y="1852323"/>
              <a:ext cx="2338565" cy="710697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0" name="任意多边形 129"/>
            <p:cNvSpPr/>
            <p:nvPr/>
          </p:nvSpPr>
          <p:spPr bwMode="auto">
            <a:xfrm>
              <a:off x="1048043" y="2571974"/>
              <a:ext cx="6921305" cy="1856935"/>
            </a:xfrm>
            <a:custGeom>
              <a:avLst/>
              <a:gdLst>
                <a:gd name="connsiteX0" fmla="*/ 28135 w 6921305"/>
                <a:gd name="connsiteY0" fmla="*/ 21101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21101 h 1856935"/>
                <a:gd name="connsiteX0" fmla="*/ 28135 w 6921305"/>
                <a:gd name="connsiteY0" fmla="*/ 4415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28135 w 6921305"/>
                <a:gd name="connsiteY0" fmla="*/ 4415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14786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14786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8112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70499 w 6921305"/>
                <a:gd name="connsiteY2" fmla="*/ 179759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70499 w 6921305"/>
                <a:gd name="connsiteY2" fmla="*/ 179759 h 1856935"/>
                <a:gd name="connsiteX3" fmla="*/ 4616160 w 6921305"/>
                <a:gd name="connsiteY3" fmla="*/ 17673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21305" h="1856935">
                  <a:moveTo>
                    <a:pt x="8112" y="11089"/>
                  </a:moveTo>
                  <a:lnTo>
                    <a:pt x="2352642" y="1078"/>
                  </a:lnTo>
                  <a:cubicBezTo>
                    <a:pt x="2351530" y="68712"/>
                    <a:pt x="2371611" y="112125"/>
                    <a:pt x="2370499" y="179759"/>
                  </a:cubicBezTo>
                  <a:lnTo>
                    <a:pt x="4616160" y="176731"/>
                  </a:lnTo>
                  <a:lnTo>
                    <a:pt x="4628271" y="0"/>
                  </a:lnTo>
                  <a:lnTo>
                    <a:pt x="6921305" y="0"/>
                  </a:lnTo>
                  <a:lnTo>
                    <a:pt x="6921305" y="1856935"/>
                  </a:lnTo>
                  <a:lnTo>
                    <a:pt x="0" y="1856935"/>
                  </a:lnTo>
                  <a:lnTo>
                    <a:pt x="8112" y="11089"/>
                  </a:lnTo>
                  <a:close/>
                </a:path>
              </a:pathLst>
            </a:custGeom>
            <a:solidFill>
              <a:srgbClr val="CCEC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1041009" y="4437575"/>
              <a:ext cx="6935094" cy="669600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2" name="AutoShape 2834"/>
            <p:cNvSpPr>
              <a:spLocks noChangeArrowheads="1"/>
            </p:cNvSpPr>
            <p:nvPr/>
          </p:nvSpPr>
          <p:spPr bwMode="auto">
            <a:xfrm flipV="1">
              <a:off x="1483898" y="172898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Line 2835"/>
            <p:cNvSpPr>
              <a:spLocks noChangeShapeType="1"/>
            </p:cNvSpPr>
            <p:nvPr/>
          </p:nvSpPr>
          <p:spPr bwMode="auto">
            <a:xfrm>
              <a:off x="1410873" y="190678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2836"/>
            <p:cNvSpPr>
              <a:spLocks noChangeShapeType="1"/>
            </p:cNvSpPr>
            <p:nvPr/>
          </p:nvSpPr>
          <p:spPr bwMode="auto">
            <a:xfrm>
              <a:off x="1582323" y="190678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2837"/>
            <p:cNvSpPr>
              <a:spLocks noChangeShapeType="1"/>
            </p:cNvSpPr>
            <p:nvPr/>
          </p:nvSpPr>
          <p:spPr bwMode="auto">
            <a:xfrm>
              <a:off x="1491835" y="1951230"/>
              <a:ext cx="1698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2838"/>
            <p:cNvSpPr>
              <a:spLocks noChangeShapeType="1"/>
            </p:cNvSpPr>
            <p:nvPr/>
          </p:nvSpPr>
          <p:spPr bwMode="auto">
            <a:xfrm>
              <a:off x="1545810" y="1995680"/>
              <a:ext cx="7143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Text Box 2839"/>
            <p:cNvSpPr txBox="1">
              <a:spLocks noChangeArrowheads="1"/>
            </p:cNvSpPr>
            <p:nvPr/>
          </p:nvSpPr>
          <p:spPr bwMode="auto">
            <a:xfrm>
              <a:off x="802364" y="4294380"/>
              <a:ext cx="10259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39" name="Freeform 2840"/>
            <p:cNvSpPr>
              <a:spLocks/>
            </p:cNvSpPr>
            <p:nvPr/>
          </p:nvSpPr>
          <p:spPr bwMode="auto">
            <a:xfrm>
              <a:off x="3406360" y="1459105"/>
              <a:ext cx="2278063" cy="1301750"/>
            </a:xfrm>
            <a:custGeom>
              <a:avLst/>
              <a:gdLst>
                <a:gd name="T0" fmla="*/ 0 w 1435"/>
                <a:gd name="T1" fmla="*/ 85 h 820"/>
                <a:gd name="T2" fmla="*/ 0 w 1435"/>
                <a:gd name="T3" fmla="*/ 820 h 820"/>
                <a:gd name="T4" fmla="*/ 1435 w 1435"/>
                <a:gd name="T5" fmla="*/ 820 h 820"/>
                <a:gd name="T6" fmla="*/ 1435 w 1435"/>
                <a:gd name="T7" fmla="*/ 479 h 820"/>
                <a:gd name="T8" fmla="*/ 1403 w 1435"/>
                <a:gd name="T9" fmla="*/ 478 h 820"/>
                <a:gd name="T10" fmla="*/ 1334 w 1435"/>
                <a:gd name="T11" fmla="*/ 473 h 820"/>
                <a:gd name="T12" fmla="*/ 1258 w 1435"/>
                <a:gd name="T13" fmla="*/ 462 h 820"/>
                <a:gd name="T14" fmla="*/ 1141 w 1435"/>
                <a:gd name="T15" fmla="*/ 430 h 820"/>
                <a:gd name="T16" fmla="*/ 1006 w 1435"/>
                <a:gd name="T17" fmla="*/ 388 h 820"/>
                <a:gd name="T18" fmla="*/ 806 w 1435"/>
                <a:gd name="T19" fmla="*/ 305 h 820"/>
                <a:gd name="T20" fmla="*/ 672 w 1435"/>
                <a:gd name="T21" fmla="*/ 234 h 820"/>
                <a:gd name="T22" fmla="*/ 520 w 1435"/>
                <a:gd name="T23" fmla="*/ 143 h 820"/>
                <a:gd name="T24" fmla="*/ 422 w 1435"/>
                <a:gd name="T25" fmla="*/ 85 h 820"/>
                <a:gd name="T26" fmla="*/ 355 w 1435"/>
                <a:gd name="T27" fmla="*/ 47 h 820"/>
                <a:gd name="T28" fmla="*/ 274 w 1435"/>
                <a:gd name="T29" fmla="*/ 15 h 820"/>
                <a:gd name="T30" fmla="*/ 205 w 1435"/>
                <a:gd name="T31" fmla="*/ 2 h 820"/>
                <a:gd name="T32" fmla="*/ 123 w 1435"/>
                <a:gd name="T33" fmla="*/ 4 h 820"/>
                <a:gd name="T34" fmla="*/ 62 w 1435"/>
                <a:gd name="T35" fmla="*/ 27 h 820"/>
                <a:gd name="T36" fmla="*/ 19 w 1435"/>
                <a:gd name="T37" fmla="*/ 60 h 820"/>
                <a:gd name="T38" fmla="*/ 0 w 1435"/>
                <a:gd name="T39" fmla="*/ 85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35" h="820">
                  <a:moveTo>
                    <a:pt x="0" y="85"/>
                  </a:moveTo>
                  <a:lnTo>
                    <a:pt x="0" y="820"/>
                  </a:lnTo>
                  <a:lnTo>
                    <a:pt x="1435" y="820"/>
                  </a:lnTo>
                  <a:lnTo>
                    <a:pt x="1435" y="479"/>
                  </a:lnTo>
                  <a:lnTo>
                    <a:pt x="1403" y="478"/>
                  </a:lnTo>
                  <a:cubicBezTo>
                    <a:pt x="1386" y="477"/>
                    <a:pt x="1358" y="476"/>
                    <a:pt x="1334" y="473"/>
                  </a:cubicBezTo>
                  <a:cubicBezTo>
                    <a:pt x="1310" y="470"/>
                    <a:pt x="1290" y="469"/>
                    <a:pt x="1258" y="462"/>
                  </a:cubicBezTo>
                  <a:cubicBezTo>
                    <a:pt x="1226" y="455"/>
                    <a:pt x="1183" y="442"/>
                    <a:pt x="1141" y="430"/>
                  </a:cubicBezTo>
                  <a:cubicBezTo>
                    <a:pt x="1099" y="418"/>
                    <a:pt x="1062" y="409"/>
                    <a:pt x="1006" y="388"/>
                  </a:cubicBezTo>
                  <a:cubicBezTo>
                    <a:pt x="950" y="367"/>
                    <a:pt x="862" y="331"/>
                    <a:pt x="806" y="305"/>
                  </a:cubicBezTo>
                  <a:cubicBezTo>
                    <a:pt x="750" y="279"/>
                    <a:pt x="720" y="261"/>
                    <a:pt x="672" y="234"/>
                  </a:cubicBezTo>
                  <a:cubicBezTo>
                    <a:pt x="624" y="207"/>
                    <a:pt x="562" y="167"/>
                    <a:pt x="520" y="143"/>
                  </a:cubicBezTo>
                  <a:cubicBezTo>
                    <a:pt x="478" y="119"/>
                    <a:pt x="449" y="101"/>
                    <a:pt x="422" y="85"/>
                  </a:cubicBezTo>
                  <a:cubicBezTo>
                    <a:pt x="395" y="70"/>
                    <a:pt x="380" y="59"/>
                    <a:pt x="355" y="47"/>
                  </a:cubicBezTo>
                  <a:cubicBezTo>
                    <a:pt x="330" y="35"/>
                    <a:pt x="299" y="23"/>
                    <a:pt x="274" y="15"/>
                  </a:cubicBezTo>
                  <a:cubicBezTo>
                    <a:pt x="249" y="8"/>
                    <a:pt x="230" y="4"/>
                    <a:pt x="205" y="2"/>
                  </a:cubicBezTo>
                  <a:cubicBezTo>
                    <a:pt x="180" y="0"/>
                    <a:pt x="147" y="0"/>
                    <a:pt x="123" y="4"/>
                  </a:cubicBezTo>
                  <a:cubicBezTo>
                    <a:pt x="99" y="8"/>
                    <a:pt x="79" y="18"/>
                    <a:pt x="62" y="27"/>
                  </a:cubicBezTo>
                  <a:cubicBezTo>
                    <a:pt x="45" y="36"/>
                    <a:pt x="29" y="50"/>
                    <a:pt x="19" y="60"/>
                  </a:cubicBezTo>
                  <a:cubicBezTo>
                    <a:pt x="9" y="70"/>
                    <a:pt x="4" y="81"/>
                    <a:pt x="0" y="85"/>
                  </a:cubicBezTo>
                  <a:close/>
                </a:path>
              </a:pathLst>
            </a:custGeom>
            <a:solidFill>
              <a:srgbClr val="FFC000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2841"/>
            <p:cNvSpPr>
              <a:spLocks noChangeShapeType="1"/>
            </p:cNvSpPr>
            <p:nvPr/>
          </p:nvSpPr>
          <p:spPr bwMode="auto">
            <a:xfrm>
              <a:off x="5687598" y="2564005"/>
              <a:ext cx="22864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2842"/>
            <p:cNvSpPr>
              <a:spLocks noChangeShapeType="1"/>
            </p:cNvSpPr>
            <p:nvPr/>
          </p:nvSpPr>
          <p:spPr bwMode="auto">
            <a:xfrm flipH="1">
              <a:off x="1058862" y="2568767"/>
              <a:ext cx="23427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2843"/>
            <p:cNvSpPr>
              <a:spLocks noChangeShapeType="1"/>
            </p:cNvSpPr>
            <p:nvPr/>
          </p:nvSpPr>
          <p:spPr bwMode="auto">
            <a:xfrm flipH="1">
              <a:off x="1065894" y="1852805"/>
              <a:ext cx="234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2844"/>
            <p:cNvSpPr>
              <a:spLocks noChangeShapeType="1"/>
            </p:cNvSpPr>
            <p:nvPr/>
          </p:nvSpPr>
          <p:spPr bwMode="auto">
            <a:xfrm>
              <a:off x="5687597" y="2462405"/>
              <a:ext cx="226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2845"/>
            <p:cNvSpPr>
              <a:spLocks/>
            </p:cNvSpPr>
            <p:nvPr/>
          </p:nvSpPr>
          <p:spPr bwMode="auto">
            <a:xfrm>
              <a:off x="3117435" y="2570355"/>
              <a:ext cx="2844800" cy="557212"/>
            </a:xfrm>
            <a:custGeom>
              <a:avLst/>
              <a:gdLst>
                <a:gd name="T0" fmla="*/ 0 w 1792"/>
                <a:gd name="T1" fmla="*/ 1 h 351"/>
                <a:gd name="T2" fmla="*/ 24 w 1792"/>
                <a:gd name="T3" fmla="*/ 118 h 351"/>
                <a:gd name="T4" fmla="*/ 99 w 1792"/>
                <a:gd name="T5" fmla="*/ 225 h 351"/>
                <a:gd name="T6" fmla="*/ 255 w 1792"/>
                <a:gd name="T7" fmla="*/ 310 h 351"/>
                <a:gd name="T8" fmla="*/ 445 w 1792"/>
                <a:gd name="T9" fmla="*/ 341 h 351"/>
                <a:gd name="T10" fmla="*/ 643 w 1792"/>
                <a:gd name="T11" fmla="*/ 349 h 351"/>
                <a:gd name="T12" fmla="*/ 913 w 1792"/>
                <a:gd name="T13" fmla="*/ 349 h 351"/>
                <a:gd name="T14" fmla="*/ 1255 w 1792"/>
                <a:gd name="T15" fmla="*/ 336 h 351"/>
                <a:gd name="T16" fmla="*/ 1525 w 1792"/>
                <a:gd name="T17" fmla="*/ 305 h 351"/>
                <a:gd name="T18" fmla="*/ 1678 w 1792"/>
                <a:gd name="T19" fmla="*/ 234 h 351"/>
                <a:gd name="T20" fmla="*/ 1760 w 1792"/>
                <a:gd name="T21" fmla="*/ 133 h 351"/>
                <a:gd name="T22" fmla="*/ 1792 w 1792"/>
                <a:gd name="T2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92" h="351">
                  <a:moveTo>
                    <a:pt x="0" y="1"/>
                  </a:moveTo>
                  <a:cubicBezTo>
                    <a:pt x="4" y="20"/>
                    <a:pt x="8" y="81"/>
                    <a:pt x="24" y="118"/>
                  </a:cubicBezTo>
                  <a:cubicBezTo>
                    <a:pt x="40" y="155"/>
                    <a:pt x="60" y="193"/>
                    <a:pt x="99" y="225"/>
                  </a:cubicBezTo>
                  <a:cubicBezTo>
                    <a:pt x="138" y="257"/>
                    <a:pt x="197" y="291"/>
                    <a:pt x="255" y="310"/>
                  </a:cubicBezTo>
                  <a:cubicBezTo>
                    <a:pt x="312" y="330"/>
                    <a:pt x="380" y="335"/>
                    <a:pt x="445" y="341"/>
                  </a:cubicBezTo>
                  <a:cubicBezTo>
                    <a:pt x="509" y="347"/>
                    <a:pt x="565" y="348"/>
                    <a:pt x="643" y="349"/>
                  </a:cubicBezTo>
                  <a:cubicBezTo>
                    <a:pt x="721" y="350"/>
                    <a:pt x="811" y="351"/>
                    <a:pt x="913" y="349"/>
                  </a:cubicBezTo>
                  <a:cubicBezTo>
                    <a:pt x="1015" y="347"/>
                    <a:pt x="1153" y="343"/>
                    <a:pt x="1255" y="336"/>
                  </a:cubicBezTo>
                  <a:cubicBezTo>
                    <a:pt x="1357" y="328"/>
                    <a:pt x="1455" y="321"/>
                    <a:pt x="1525" y="305"/>
                  </a:cubicBezTo>
                  <a:cubicBezTo>
                    <a:pt x="1595" y="289"/>
                    <a:pt x="1638" y="263"/>
                    <a:pt x="1678" y="234"/>
                  </a:cubicBezTo>
                  <a:cubicBezTo>
                    <a:pt x="1717" y="206"/>
                    <a:pt x="1740" y="172"/>
                    <a:pt x="1760" y="133"/>
                  </a:cubicBezTo>
                  <a:cubicBezTo>
                    <a:pt x="1779" y="94"/>
                    <a:pt x="1785" y="28"/>
                    <a:pt x="179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2846"/>
            <p:cNvSpPr>
              <a:spLocks/>
            </p:cNvSpPr>
            <p:nvPr/>
          </p:nvSpPr>
          <p:spPr bwMode="auto">
            <a:xfrm>
              <a:off x="2607848" y="2573530"/>
              <a:ext cx="3851275" cy="977900"/>
            </a:xfrm>
            <a:custGeom>
              <a:avLst/>
              <a:gdLst>
                <a:gd name="T0" fmla="*/ 0 w 2409"/>
                <a:gd name="T1" fmla="*/ 2 h 606"/>
                <a:gd name="T2" fmla="*/ 32 w 2409"/>
                <a:gd name="T3" fmla="*/ 166 h 606"/>
                <a:gd name="T4" fmla="*/ 112 w 2409"/>
                <a:gd name="T5" fmla="*/ 307 h 606"/>
                <a:gd name="T6" fmla="*/ 275 w 2409"/>
                <a:gd name="T7" fmla="*/ 448 h 606"/>
                <a:gd name="T8" fmla="*/ 502 w 2409"/>
                <a:gd name="T9" fmla="*/ 541 h 606"/>
                <a:gd name="T10" fmla="*/ 870 w 2409"/>
                <a:gd name="T11" fmla="*/ 595 h 606"/>
                <a:gd name="T12" fmla="*/ 1228 w 2409"/>
                <a:gd name="T13" fmla="*/ 605 h 606"/>
                <a:gd name="T14" fmla="*/ 1542 w 2409"/>
                <a:gd name="T15" fmla="*/ 589 h 606"/>
                <a:gd name="T16" fmla="*/ 1830 w 2409"/>
                <a:gd name="T17" fmla="*/ 538 h 606"/>
                <a:gd name="T18" fmla="*/ 2081 w 2409"/>
                <a:gd name="T19" fmla="*/ 437 h 606"/>
                <a:gd name="T20" fmla="*/ 2267 w 2409"/>
                <a:gd name="T21" fmla="*/ 290 h 606"/>
                <a:gd name="T22" fmla="*/ 2368 w 2409"/>
                <a:gd name="T23" fmla="*/ 150 h 606"/>
                <a:gd name="T24" fmla="*/ 2409 w 2409"/>
                <a:gd name="T25" fmla="*/ 0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09" h="606">
                  <a:moveTo>
                    <a:pt x="0" y="2"/>
                  </a:moveTo>
                  <a:cubicBezTo>
                    <a:pt x="5" y="29"/>
                    <a:pt x="13" y="115"/>
                    <a:pt x="32" y="166"/>
                  </a:cubicBezTo>
                  <a:cubicBezTo>
                    <a:pt x="51" y="217"/>
                    <a:pt x="72" y="260"/>
                    <a:pt x="112" y="307"/>
                  </a:cubicBezTo>
                  <a:cubicBezTo>
                    <a:pt x="152" y="354"/>
                    <a:pt x="210" y="409"/>
                    <a:pt x="275" y="448"/>
                  </a:cubicBezTo>
                  <a:cubicBezTo>
                    <a:pt x="340" y="487"/>
                    <a:pt x="403" y="517"/>
                    <a:pt x="502" y="541"/>
                  </a:cubicBezTo>
                  <a:cubicBezTo>
                    <a:pt x="601" y="565"/>
                    <a:pt x="749" y="584"/>
                    <a:pt x="870" y="595"/>
                  </a:cubicBezTo>
                  <a:cubicBezTo>
                    <a:pt x="991" y="606"/>
                    <a:pt x="1116" y="606"/>
                    <a:pt x="1228" y="605"/>
                  </a:cubicBezTo>
                  <a:cubicBezTo>
                    <a:pt x="1340" y="604"/>
                    <a:pt x="1442" y="600"/>
                    <a:pt x="1542" y="589"/>
                  </a:cubicBezTo>
                  <a:cubicBezTo>
                    <a:pt x="1642" y="578"/>
                    <a:pt x="1740" y="563"/>
                    <a:pt x="1830" y="538"/>
                  </a:cubicBezTo>
                  <a:cubicBezTo>
                    <a:pt x="1920" y="513"/>
                    <a:pt x="2008" y="478"/>
                    <a:pt x="2081" y="437"/>
                  </a:cubicBezTo>
                  <a:cubicBezTo>
                    <a:pt x="2154" y="396"/>
                    <a:pt x="2219" y="338"/>
                    <a:pt x="2267" y="290"/>
                  </a:cubicBezTo>
                  <a:cubicBezTo>
                    <a:pt x="2315" y="242"/>
                    <a:pt x="2344" y="198"/>
                    <a:pt x="2368" y="150"/>
                  </a:cubicBezTo>
                  <a:cubicBezTo>
                    <a:pt x="2392" y="102"/>
                    <a:pt x="2401" y="51"/>
                    <a:pt x="240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2847"/>
            <p:cNvSpPr>
              <a:spLocks/>
            </p:cNvSpPr>
            <p:nvPr/>
          </p:nvSpPr>
          <p:spPr bwMode="auto">
            <a:xfrm>
              <a:off x="1542635" y="2564005"/>
              <a:ext cx="5856288" cy="1408112"/>
            </a:xfrm>
            <a:custGeom>
              <a:avLst/>
              <a:gdLst>
                <a:gd name="T0" fmla="*/ 0 w 3689"/>
                <a:gd name="T1" fmla="*/ 6 h 887"/>
                <a:gd name="T2" fmla="*/ 35 w 3689"/>
                <a:gd name="T3" fmla="*/ 166 h 887"/>
                <a:gd name="T4" fmla="*/ 131 w 3689"/>
                <a:gd name="T5" fmla="*/ 374 h 887"/>
                <a:gd name="T6" fmla="*/ 294 w 3689"/>
                <a:gd name="T7" fmla="*/ 560 h 887"/>
                <a:gd name="T8" fmla="*/ 537 w 3689"/>
                <a:gd name="T9" fmla="*/ 707 h 887"/>
                <a:gd name="T10" fmla="*/ 899 w 3689"/>
                <a:gd name="T11" fmla="*/ 803 h 887"/>
                <a:gd name="T12" fmla="*/ 1232 w 3689"/>
                <a:gd name="T13" fmla="*/ 860 h 887"/>
                <a:gd name="T14" fmla="*/ 1660 w 3689"/>
                <a:gd name="T15" fmla="*/ 880 h 887"/>
                <a:gd name="T16" fmla="*/ 2144 w 3689"/>
                <a:gd name="T17" fmla="*/ 880 h 887"/>
                <a:gd name="T18" fmla="*/ 2592 w 3689"/>
                <a:gd name="T19" fmla="*/ 838 h 887"/>
                <a:gd name="T20" fmla="*/ 3011 w 3689"/>
                <a:gd name="T21" fmla="*/ 739 h 887"/>
                <a:gd name="T22" fmla="*/ 3328 w 3689"/>
                <a:gd name="T23" fmla="*/ 593 h 887"/>
                <a:gd name="T24" fmla="*/ 3528 w 3689"/>
                <a:gd name="T25" fmla="*/ 420 h 887"/>
                <a:gd name="T26" fmla="*/ 3654 w 3689"/>
                <a:gd name="T27" fmla="*/ 188 h 887"/>
                <a:gd name="T28" fmla="*/ 3689 w 3689"/>
                <a:gd name="T29" fmla="*/ 0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89" h="887">
                  <a:moveTo>
                    <a:pt x="0" y="6"/>
                  </a:moveTo>
                  <a:cubicBezTo>
                    <a:pt x="5" y="33"/>
                    <a:pt x="13" y="105"/>
                    <a:pt x="35" y="166"/>
                  </a:cubicBezTo>
                  <a:cubicBezTo>
                    <a:pt x="57" y="227"/>
                    <a:pt x="88" y="308"/>
                    <a:pt x="131" y="374"/>
                  </a:cubicBezTo>
                  <a:cubicBezTo>
                    <a:pt x="174" y="440"/>
                    <a:pt x="226" y="504"/>
                    <a:pt x="294" y="560"/>
                  </a:cubicBezTo>
                  <a:cubicBezTo>
                    <a:pt x="362" y="616"/>
                    <a:pt x="436" y="667"/>
                    <a:pt x="537" y="707"/>
                  </a:cubicBezTo>
                  <a:cubicBezTo>
                    <a:pt x="638" y="747"/>
                    <a:pt x="783" y="778"/>
                    <a:pt x="899" y="803"/>
                  </a:cubicBezTo>
                  <a:cubicBezTo>
                    <a:pt x="1015" y="828"/>
                    <a:pt x="1105" y="847"/>
                    <a:pt x="1232" y="860"/>
                  </a:cubicBezTo>
                  <a:cubicBezTo>
                    <a:pt x="1359" y="873"/>
                    <a:pt x="1508" y="877"/>
                    <a:pt x="1660" y="880"/>
                  </a:cubicBezTo>
                  <a:cubicBezTo>
                    <a:pt x="1812" y="883"/>
                    <a:pt x="1989" y="887"/>
                    <a:pt x="2144" y="880"/>
                  </a:cubicBezTo>
                  <a:cubicBezTo>
                    <a:pt x="2299" y="873"/>
                    <a:pt x="2448" y="861"/>
                    <a:pt x="2592" y="838"/>
                  </a:cubicBezTo>
                  <a:cubicBezTo>
                    <a:pt x="2736" y="815"/>
                    <a:pt x="2888" y="780"/>
                    <a:pt x="3011" y="739"/>
                  </a:cubicBezTo>
                  <a:cubicBezTo>
                    <a:pt x="3134" y="698"/>
                    <a:pt x="3242" y="646"/>
                    <a:pt x="3328" y="593"/>
                  </a:cubicBezTo>
                  <a:cubicBezTo>
                    <a:pt x="3414" y="540"/>
                    <a:pt x="3474" y="487"/>
                    <a:pt x="3528" y="420"/>
                  </a:cubicBezTo>
                  <a:cubicBezTo>
                    <a:pt x="3582" y="353"/>
                    <a:pt x="3627" y="258"/>
                    <a:pt x="3654" y="188"/>
                  </a:cubicBezTo>
                  <a:cubicBezTo>
                    <a:pt x="3681" y="118"/>
                    <a:pt x="3682" y="39"/>
                    <a:pt x="368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2848"/>
            <p:cNvSpPr>
              <a:spLocks noChangeShapeType="1"/>
            </p:cNvSpPr>
            <p:nvPr/>
          </p:nvSpPr>
          <p:spPr bwMode="auto">
            <a:xfrm>
              <a:off x="1044160" y="4432492"/>
              <a:ext cx="6934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2849"/>
            <p:cNvSpPr>
              <a:spLocks/>
            </p:cNvSpPr>
            <p:nvPr/>
          </p:nvSpPr>
          <p:spPr bwMode="auto">
            <a:xfrm>
              <a:off x="2022060" y="2744980"/>
              <a:ext cx="1374775" cy="1682750"/>
            </a:xfrm>
            <a:custGeom>
              <a:avLst/>
              <a:gdLst>
                <a:gd name="T0" fmla="*/ 866 w 866"/>
                <a:gd name="T1" fmla="*/ 0 h 1060"/>
                <a:gd name="T2" fmla="*/ 751 w 866"/>
                <a:gd name="T3" fmla="*/ 49 h 1060"/>
                <a:gd name="T4" fmla="*/ 592 w 866"/>
                <a:gd name="T5" fmla="*/ 144 h 1060"/>
                <a:gd name="T6" fmla="*/ 425 w 866"/>
                <a:gd name="T7" fmla="*/ 277 h 1060"/>
                <a:gd name="T8" fmla="*/ 235 w 866"/>
                <a:gd name="T9" fmla="*/ 478 h 1060"/>
                <a:gd name="T10" fmla="*/ 94 w 866"/>
                <a:gd name="T11" fmla="*/ 749 h 1060"/>
                <a:gd name="T12" fmla="*/ 0 w 866"/>
                <a:gd name="T13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60">
                  <a:moveTo>
                    <a:pt x="866" y="0"/>
                  </a:moveTo>
                  <a:cubicBezTo>
                    <a:pt x="847" y="8"/>
                    <a:pt x="797" y="25"/>
                    <a:pt x="751" y="49"/>
                  </a:cubicBezTo>
                  <a:cubicBezTo>
                    <a:pt x="705" y="73"/>
                    <a:pt x="646" y="106"/>
                    <a:pt x="592" y="144"/>
                  </a:cubicBezTo>
                  <a:cubicBezTo>
                    <a:pt x="538" y="182"/>
                    <a:pt x="484" y="221"/>
                    <a:pt x="425" y="277"/>
                  </a:cubicBezTo>
                  <a:cubicBezTo>
                    <a:pt x="366" y="333"/>
                    <a:pt x="290" y="399"/>
                    <a:pt x="235" y="478"/>
                  </a:cubicBezTo>
                  <a:cubicBezTo>
                    <a:pt x="180" y="557"/>
                    <a:pt x="133" y="652"/>
                    <a:pt x="94" y="749"/>
                  </a:cubicBezTo>
                  <a:cubicBezTo>
                    <a:pt x="55" y="846"/>
                    <a:pt x="20" y="995"/>
                    <a:pt x="0" y="106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2850"/>
            <p:cNvSpPr>
              <a:spLocks/>
            </p:cNvSpPr>
            <p:nvPr/>
          </p:nvSpPr>
          <p:spPr bwMode="auto">
            <a:xfrm>
              <a:off x="2868198" y="2767205"/>
              <a:ext cx="685800" cy="1660525"/>
            </a:xfrm>
            <a:custGeom>
              <a:avLst/>
              <a:gdLst>
                <a:gd name="T0" fmla="*/ 346 w 346"/>
                <a:gd name="T1" fmla="*/ 0 h 1046"/>
                <a:gd name="T2" fmla="*/ 314 w 346"/>
                <a:gd name="T3" fmla="*/ 115 h 1046"/>
                <a:gd name="T4" fmla="*/ 250 w 346"/>
                <a:gd name="T5" fmla="*/ 262 h 1046"/>
                <a:gd name="T6" fmla="*/ 157 w 346"/>
                <a:gd name="T7" fmla="*/ 451 h 1046"/>
                <a:gd name="T8" fmla="*/ 56 w 346"/>
                <a:gd name="T9" fmla="*/ 684 h 1046"/>
                <a:gd name="T10" fmla="*/ 13 w 346"/>
                <a:gd name="T11" fmla="*/ 907 h 1046"/>
                <a:gd name="T12" fmla="*/ 0 w 346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1046">
                  <a:moveTo>
                    <a:pt x="346" y="0"/>
                  </a:moveTo>
                  <a:cubicBezTo>
                    <a:pt x="338" y="35"/>
                    <a:pt x="330" y="71"/>
                    <a:pt x="314" y="115"/>
                  </a:cubicBezTo>
                  <a:cubicBezTo>
                    <a:pt x="298" y="159"/>
                    <a:pt x="276" y="206"/>
                    <a:pt x="250" y="262"/>
                  </a:cubicBezTo>
                  <a:cubicBezTo>
                    <a:pt x="224" y="318"/>
                    <a:pt x="189" y="381"/>
                    <a:pt x="157" y="451"/>
                  </a:cubicBezTo>
                  <a:cubicBezTo>
                    <a:pt x="125" y="521"/>
                    <a:pt x="80" y="608"/>
                    <a:pt x="56" y="684"/>
                  </a:cubicBezTo>
                  <a:cubicBezTo>
                    <a:pt x="32" y="760"/>
                    <a:pt x="22" y="847"/>
                    <a:pt x="13" y="907"/>
                  </a:cubicBezTo>
                  <a:cubicBezTo>
                    <a:pt x="4" y="967"/>
                    <a:pt x="3" y="1017"/>
                    <a:pt x="0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2851"/>
            <p:cNvSpPr>
              <a:spLocks/>
            </p:cNvSpPr>
            <p:nvPr/>
          </p:nvSpPr>
          <p:spPr bwMode="auto">
            <a:xfrm>
              <a:off x="3517485" y="2765617"/>
              <a:ext cx="366713" cy="1671638"/>
            </a:xfrm>
            <a:custGeom>
              <a:avLst/>
              <a:gdLst>
                <a:gd name="T0" fmla="*/ 231 w 231"/>
                <a:gd name="T1" fmla="*/ 0 h 1053"/>
                <a:gd name="T2" fmla="*/ 205 w 231"/>
                <a:gd name="T3" fmla="*/ 150 h 1053"/>
                <a:gd name="T4" fmla="*/ 148 w 231"/>
                <a:gd name="T5" fmla="*/ 372 h 1053"/>
                <a:gd name="T6" fmla="*/ 90 w 231"/>
                <a:gd name="T7" fmla="*/ 567 h 1053"/>
                <a:gd name="T8" fmla="*/ 40 w 231"/>
                <a:gd name="T9" fmla="*/ 772 h 1053"/>
                <a:gd name="T10" fmla="*/ 0 w 231"/>
                <a:gd name="T11" fmla="*/ 1053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1053">
                  <a:moveTo>
                    <a:pt x="231" y="0"/>
                  </a:moveTo>
                  <a:cubicBezTo>
                    <a:pt x="227" y="25"/>
                    <a:pt x="219" y="88"/>
                    <a:pt x="205" y="150"/>
                  </a:cubicBezTo>
                  <a:cubicBezTo>
                    <a:pt x="191" y="212"/>
                    <a:pt x="167" y="302"/>
                    <a:pt x="148" y="372"/>
                  </a:cubicBezTo>
                  <a:cubicBezTo>
                    <a:pt x="129" y="442"/>
                    <a:pt x="108" y="500"/>
                    <a:pt x="90" y="567"/>
                  </a:cubicBezTo>
                  <a:cubicBezTo>
                    <a:pt x="72" y="634"/>
                    <a:pt x="55" y="691"/>
                    <a:pt x="40" y="772"/>
                  </a:cubicBezTo>
                  <a:cubicBezTo>
                    <a:pt x="25" y="853"/>
                    <a:pt x="8" y="995"/>
                    <a:pt x="0" y="1053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2852"/>
            <p:cNvSpPr>
              <a:spLocks/>
            </p:cNvSpPr>
            <p:nvPr/>
          </p:nvSpPr>
          <p:spPr bwMode="auto">
            <a:xfrm>
              <a:off x="4087398" y="2770380"/>
              <a:ext cx="149225" cy="1643062"/>
            </a:xfrm>
            <a:custGeom>
              <a:avLst/>
              <a:gdLst>
                <a:gd name="T0" fmla="*/ 94 w 94"/>
                <a:gd name="T1" fmla="*/ 0 h 1035"/>
                <a:gd name="T2" fmla="*/ 80 w 94"/>
                <a:gd name="T3" fmla="*/ 224 h 1035"/>
                <a:gd name="T4" fmla="*/ 45 w 94"/>
                <a:gd name="T5" fmla="*/ 520 h 1035"/>
                <a:gd name="T6" fmla="*/ 19 w 94"/>
                <a:gd name="T7" fmla="*/ 798 h 1035"/>
                <a:gd name="T8" fmla="*/ 0 w 94"/>
                <a:gd name="T9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035">
                  <a:moveTo>
                    <a:pt x="94" y="0"/>
                  </a:moveTo>
                  <a:cubicBezTo>
                    <a:pt x="92" y="37"/>
                    <a:pt x="88" y="137"/>
                    <a:pt x="80" y="224"/>
                  </a:cubicBezTo>
                  <a:cubicBezTo>
                    <a:pt x="72" y="311"/>
                    <a:pt x="55" y="424"/>
                    <a:pt x="45" y="520"/>
                  </a:cubicBezTo>
                  <a:cubicBezTo>
                    <a:pt x="35" y="616"/>
                    <a:pt x="26" y="712"/>
                    <a:pt x="19" y="798"/>
                  </a:cubicBezTo>
                  <a:cubicBezTo>
                    <a:pt x="12" y="884"/>
                    <a:pt x="4" y="986"/>
                    <a:pt x="0" y="1035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2853"/>
            <p:cNvSpPr>
              <a:spLocks/>
            </p:cNvSpPr>
            <p:nvPr/>
          </p:nvSpPr>
          <p:spPr bwMode="auto">
            <a:xfrm>
              <a:off x="4590635" y="2765617"/>
              <a:ext cx="9525" cy="1666875"/>
            </a:xfrm>
            <a:custGeom>
              <a:avLst/>
              <a:gdLst>
                <a:gd name="T0" fmla="*/ 6 w 6"/>
                <a:gd name="T1" fmla="*/ 0 h 1050"/>
                <a:gd name="T2" fmla="*/ 1 w 6"/>
                <a:gd name="T3" fmla="*/ 295 h 1050"/>
                <a:gd name="T4" fmla="*/ 0 w 6"/>
                <a:gd name="T5" fmla="*/ 556 h 1050"/>
                <a:gd name="T6" fmla="*/ 1 w 6"/>
                <a:gd name="T7" fmla="*/ 801 h 1050"/>
                <a:gd name="T8" fmla="*/ 1 w 6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50">
                  <a:moveTo>
                    <a:pt x="6" y="0"/>
                  </a:moveTo>
                  <a:cubicBezTo>
                    <a:pt x="6" y="49"/>
                    <a:pt x="2" y="202"/>
                    <a:pt x="1" y="295"/>
                  </a:cubicBezTo>
                  <a:cubicBezTo>
                    <a:pt x="0" y="388"/>
                    <a:pt x="0" y="472"/>
                    <a:pt x="0" y="556"/>
                  </a:cubicBezTo>
                  <a:cubicBezTo>
                    <a:pt x="0" y="640"/>
                    <a:pt x="1" y="719"/>
                    <a:pt x="1" y="801"/>
                  </a:cubicBezTo>
                  <a:cubicBezTo>
                    <a:pt x="1" y="883"/>
                    <a:pt x="2" y="966"/>
                    <a:pt x="1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2854"/>
            <p:cNvSpPr>
              <a:spLocks/>
            </p:cNvSpPr>
            <p:nvPr/>
          </p:nvSpPr>
          <p:spPr bwMode="auto">
            <a:xfrm>
              <a:off x="4946235" y="2767205"/>
              <a:ext cx="142875" cy="1666875"/>
            </a:xfrm>
            <a:custGeom>
              <a:avLst/>
              <a:gdLst>
                <a:gd name="T0" fmla="*/ 0 w 90"/>
                <a:gd name="T1" fmla="*/ 0 h 1050"/>
                <a:gd name="T2" fmla="*/ 16 w 90"/>
                <a:gd name="T3" fmla="*/ 280 h 1050"/>
                <a:gd name="T4" fmla="*/ 42 w 90"/>
                <a:gd name="T5" fmla="*/ 561 h 1050"/>
                <a:gd name="T6" fmla="*/ 78 w 90"/>
                <a:gd name="T7" fmla="*/ 833 h 1050"/>
                <a:gd name="T8" fmla="*/ 90 w 9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1050">
                  <a:moveTo>
                    <a:pt x="0" y="0"/>
                  </a:moveTo>
                  <a:cubicBezTo>
                    <a:pt x="3" y="47"/>
                    <a:pt x="9" y="187"/>
                    <a:pt x="16" y="280"/>
                  </a:cubicBezTo>
                  <a:cubicBezTo>
                    <a:pt x="23" y="373"/>
                    <a:pt x="32" y="469"/>
                    <a:pt x="42" y="561"/>
                  </a:cubicBezTo>
                  <a:cubicBezTo>
                    <a:pt x="52" y="653"/>
                    <a:pt x="70" y="752"/>
                    <a:pt x="78" y="833"/>
                  </a:cubicBezTo>
                  <a:cubicBezTo>
                    <a:pt x="86" y="914"/>
                    <a:pt x="88" y="982"/>
                    <a:pt x="90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2855"/>
            <p:cNvSpPr>
              <a:spLocks/>
            </p:cNvSpPr>
            <p:nvPr/>
          </p:nvSpPr>
          <p:spPr bwMode="auto">
            <a:xfrm>
              <a:off x="5270085" y="2770380"/>
              <a:ext cx="373063" cy="1651000"/>
            </a:xfrm>
            <a:custGeom>
              <a:avLst/>
              <a:gdLst>
                <a:gd name="T0" fmla="*/ 0 w 235"/>
                <a:gd name="T1" fmla="*/ 0 h 1040"/>
                <a:gd name="T2" fmla="*/ 24 w 235"/>
                <a:gd name="T3" fmla="*/ 179 h 1040"/>
                <a:gd name="T4" fmla="*/ 93 w 235"/>
                <a:gd name="T5" fmla="*/ 442 h 1040"/>
                <a:gd name="T6" fmla="*/ 184 w 235"/>
                <a:gd name="T7" fmla="*/ 723 h 1040"/>
                <a:gd name="T8" fmla="*/ 235 w 235"/>
                <a:gd name="T9" fmla="*/ 1040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040">
                  <a:moveTo>
                    <a:pt x="0" y="0"/>
                  </a:moveTo>
                  <a:cubicBezTo>
                    <a:pt x="4" y="30"/>
                    <a:pt x="8" y="105"/>
                    <a:pt x="24" y="179"/>
                  </a:cubicBezTo>
                  <a:cubicBezTo>
                    <a:pt x="40" y="253"/>
                    <a:pt x="66" y="351"/>
                    <a:pt x="93" y="442"/>
                  </a:cubicBezTo>
                  <a:cubicBezTo>
                    <a:pt x="120" y="533"/>
                    <a:pt x="160" y="623"/>
                    <a:pt x="184" y="723"/>
                  </a:cubicBezTo>
                  <a:cubicBezTo>
                    <a:pt x="208" y="823"/>
                    <a:pt x="221" y="931"/>
                    <a:pt x="235" y="104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2856"/>
            <p:cNvSpPr>
              <a:spLocks/>
            </p:cNvSpPr>
            <p:nvPr/>
          </p:nvSpPr>
          <p:spPr bwMode="auto">
            <a:xfrm>
              <a:off x="5552660" y="2767205"/>
              <a:ext cx="688975" cy="1660525"/>
            </a:xfrm>
            <a:custGeom>
              <a:avLst/>
              <a:gdLst>
                <a:gd name="T0" fmla="*/ 0 w 434"/>
                <a:gd name="T1" fmla="*/ 0 h 1046"/>
                <a:gd name="T2" fmla="*/ 33 w 434"/>
                <a:gd name="T3" fmla="*/ 105 h 1046"/>
                <a:gd name="T4" fmla="*/ 75 w 434"/>
                <a:gd name="T5" fmla="*/ 192 h 1046"/>
                <a:gd name="T6" fmla="*/ 187 w 434"/>
                <a:gd name="T7" fmla="*/ 360 h 1046"/>
                <a:gd name="T8" fmla="*/ 322 w 434"/>
                <a:gd name="T9" fmla="*/ 576 h 1046"/>
                <a:gd name="T10" fmla="*/ 406 w 434"/>
                <a:gd name="T11" fmla="*/ 836 h 1046"/>
                <a:gd name="T12" fmla="*/ 434 w 434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4" h="1046">
                  <a:moveTo>
                    <a:pt x="0" y="0"/>
                  </a:moveTo>
                  <a:cubicBezTo>
                    <a:pt x="5" y="17"/>
                    <a:pt x="21" y="73"/>
                    <a:pt x="33" y="105"/>
                  </a:cubicBezTo>
                  <a:cubicBezTo>
                    <a:pt x="45" y="137"/>
                    <a:pt x="49" y="149"/>
                    <a:pt x="75" y="192"/>
                  </a:cubicBezTo>
                  <a:cubicBezTo>
                    <a:pt x="101" y="235"/>
                    <a:pt x="146" y="296"/>
                    <a:pt x="187" y="360"/>
                  </a:cubicBezTo>
                  <a:cubicBezTo>
                    <a:pt x="228" y="424"/>
                    <a:pt x="286" y="497"/>
                    <a:pt x="322" y="576"/>
                  </a:cubicBezTo>
                  <a:cubicBezTo>
                    <a:pt x="358" y="655"/>
                    <a:pt x="388" y="758"/>
                    <a:pt x="406" y="836"/>
                  </a:cubicBezTo>
                  <a:cubicBezTo>
                    <a:pt x="425" y="914"/>
                    <a:pt x="428" y="1002"/>
                    <a:pt x="434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Freeform 2857"/>
            <p:cNvSpPr>
              <a:spLocks/>
            </p:cNvSpPr>
            <p:nvPr/>
          </p:nvSpPr>
          <p:spPr bwMode="auto">
            <a:xfrm>
              <a:off x="5684423" y="2737042"/>
              <a:ext cx="1363662" cy="1695450"/>
            </a:xfrm>
            <a:custGeom>
              <a:avLst/>
              <a:gdLst>
                <a:gd name="T0" fmla="*/ 0 w 859"/>
                <a:gd name="T1" fmla="*/ 1 h 1068"/>
                <a:gd name="T2" fmla="*/ 82 w 859"/>
                <a:gd name="T3" fmla="*/ 20 h 1068"/>
                <a:gd name="T4" fmla="*/ 280 w 859"/>
                <a:gd name="T5" fmla="*/ 121 h 1068"/>
                <a:gd name="T6" fmla="*/ 507 w 859"/>
                <a:gd name="T7" fmla="*/ 310 h 1068"/>
                <a:gd name="T8" fmla="*/ 693 w 859"/>
                <a:gd name="T9" fmla="*/ 550 h 1068"/>
                <a:gd name="T10" fmla="*/ 818 w 859"/>
                <a:gd name="T11" fmla="*/ 796 h 1068"/>
                <a:gd name="T12" fmla="*/ 859 w 859"/>
                <a:gd name="T13" fmla="*/ 1068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9" h="1068">
                  <a:moveTo>
                    <a:pt x="0" y="1"/>
                  </a:moveTo>
                  <a:cubicBezTo>
                    <a:pt x="14" y="5"/>
                    <a:pt x="35" y="0"/>
                    <a:pt x="82" y="20"/>
                  </a:cubicBezTo>
                  <a:cubicBezTo>
                    <a:pt x="129" y="40"/>
                    <a:pt x="209" y="73"/>
                    <a:pt x="280" y="121"/>
                  </a:cubicBezTo>
                  <a:cubicBezTo>
                    <a:pt x="351" y="169"/>
                    <a:pt x="438" y="239"/>
                    <a:pt x="507" y="310"/>
                  </a:cubicBezTo>
                  <a:cubicBezTo>
                    <a:pt x="576" y="381"/>
                    <a:pt x="641" y="469"/>
                    <a:pt x="693" y="550"/>
                  </a:cubicBezTo>
                  <a:cubicBezTo>
                    <a:pt x="745" y="631"/>
                    <a:pt x="790" y="710"/>
                    <a:pt x="818" y="796"/>
                  </a:cubicBezTo>
                  <a:cubicBezTo>
                    <a:pt x="846" y="882"/>
                    <a:pt x="852" y="975"/>
                    <a:pt x="859" y="106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2858"/>
            <p:cNvSpPr>
              <a:spLocks noChangeShapeType="1"/>
            </p:cNvSpPr>
            <p:nvPr/>
          </p:nvSpPr>
          <p:spPr bwMode="auto">
            <a:xfrm>
              <a:off x="5595523" y="182105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Text Box 2862"/>
            <p:cNvSpPr txBox="1">
              <a:spLocks noChangeArrowheads="1"/>
            </p:cNvSpPr>
            <p:nvPr/>
          </p:nvSpPr>
          <p:spPr bwMode="auto">
            <a:xfrm>
              <a:off x="3385723" y="2367155"/>
              <a:ext cx="32092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59" name="Text Box 2863"/>
            <p:cNvSpPr txBox="1">
              <a:spLocks noChangeArrowheads="1"/>
            </p:cNvSpPr>
            <p:nvPr/>
          </p:nvSpPr>
          <p:spPr bwMode="auto">
            <a:xfrm>
              <a:off x="3266660" y="2692592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60" name="Text Box 2864"/>
            <p:cNvSpPr txBox="1">
              <a:spLocks noChangeArrowheads="1"/>
            </p:cNvSpPr>
            <p:nvPr/>
          </p:nvSpPr>
          <p:spPr bwMode="auto">
            <a:xfrm>
              <a:off x="5546310" y="2686242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61" name="Text Box 2865"/>
            <p:cNvSpPr txBox="1">
              <a:spLocks noChangeArrowheads="1"/>
            </p:cNvSpPr>
            <p:nvPr/>
          </p:nvSpPr>
          <p:spPr bwMode="auto">
            <a:xfrm>
              <a:off x="5401848" y="2368742"/>
              <a:ext cx="32092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62" name="Line 2867"/>
            <p:cNvSpPr>
              <a:spLocks noChangeShapeType="1"/>
            </p:cNvSpPr>
            <p:nvPr/>
          </p:nvSpPr>
          <p:spPr bwMode="auto">
            <a:xfrm>
              <a:off x="6138448" y="1814705"/>
              <a:ext cx="0" cy="641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2868"/>
            <p:cNvSpPr>
              <a:spLocks noChangeShapeType="1"/>
            </p:cNvSpPr>
            <p:nvPr/>
          </p:nvSpPr>
          <p:spPr bwMode="auto">
            <a:xfrm>
              <a:off x="6944898" y="222745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Text Box 2869"/>
            <p:cNvSpPr txBox="1">
              <a:spLocks noChangeArrowheads="1"/>
            </p:cNvSpPr>
            <p:nvPr/>
          </p:nvSpPr>
          <p:spPr bwMode="auto">
            <a:xfrm>
              <a:off x="6127335" y="1875030"/>
              <a:ext cx="7747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>
                  <a:latin typeface="Times New Roman" pitchFamily="18" charset="0"/>
                </a:rPr>
                <a:t>H</a:t>
              </a:r>
              <a:r>
                <a:rPr lang="en-US" altLang="zh-CN" sz="1600" b="1" dirty="0">
                  <a:latin typeface="Times New Roman" pitchFamily="18" charset="0"/>
                </a:rPr>
                <a:t>=5m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sp>
          <p:nvSpPr>
            <p:cNvPr id="165" name="Text Box 2870"/>
            <p:cNvSpPr txBox="1">
              <a:spLocks noChangeArrowheads="1"/>
            </p:cNvSpPr>
            <p:nvPr/>
          </p:nvSpPr>
          <p:spPr bwMode="auto">
            <a:xfrm>
              <a:off x="6941723" y="2109980"/>
              <a:ext cx="37465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1600" b="1">
                  <a:latin typeface="Times New Roman" pitchFamily="18" charset="0"/>
                </a:rPr>
                <a:t>m</a:t>
              </a:r>
              <a:endParaRPr lang="el-GR" altLang="zh-CN" sz="1600" b="1">
                <a:latin typeface="Times New Roman" pitchFamily="18" charset="0"/>
              </a:endParaRPr>
            </a:p>
          </p:txBody>
        </p:sp>
        <p:sp>
          <p:nvSpPr>
            <p:cNvPr id="166" name="Text Box 2874"/>
            <p:cNvSpPr txBox="1">
              <a:spLocks noChangeArrowheads="1"/>
            </p:cNvSpPr>
            <p:nvPr/>
          </p:nvSpPr>
          <p:spPr bwMode="auto">
            <a:xfrm>
              <a:off x="7928447" y="2219157"/>
              <a:ext cx="3097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67" name="AutoShape 2875"/>
            <p:cNvSpPr>
              <a:spLocks noChangeArrowheads="1"/>
            </p:cNvSpPr>
            <p:nvPr/>
          </p:nvSpPr>
          <p:spPr bwMode="auto">
            <a:xfrm flipV="1">
              <a:off x="6584535" y="234493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" name="Line 2876"/>
            <p:cNvSpPr>
              <a:spLocks noChangeShapeType="1"/>
            </p:cNvSpPr>
            <p:nvPr/>
          </p:nvSpPr>
          <p:spPr bwMode="auto">
            <a:xfrm>
              <a:off x="6521035" y="249891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2877"/>
            <p:cNvSpPr>
              <a:spLocks noChangeShapeType="1"/>
            </p:cNvSpPr>
            <p:nvPr/>
          </p:nvSpPr>
          <p:spPr bwMode="auto">
            <a:xfrm>
              <a:off x="6682960" y="249891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2878"/>
            <p:cNvSpPr>
              <a:spLocks noChangeShapeType="1"/>
            </p:cNvSpPr>
            <p:nvPr/>
          </p:nvSpPr>
          <p:spPr bwMode="auto">
            <a:xfrm>
              <a:off x="6592473" y="2533842"/>
              <a:ext cx="1698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Text Box 2879"/>
            <p:cNvSpPr txBox="1">
              <a:spLocks noChangeArrowheads="1"/>
            </p:cNvSpPr>
            <p:nvPr/>
          </p:nvSpPr>
          <p:spPr bwMode="auto">
            <a:xfrm>
              <a:off x="1031460" y="4102292"/>
              <a:ext cx="344966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203" name="Text Box 2880"/>
            <p:cNvSpPr txBox="1">
              <a:spLocks noChangeArrowheads="1"/>
            </p:cNvSpPr>
            <p:nvPr/>
          </p:nvSpPr>
          <p:spPr bwMode="auto">
            <a:xfrm>
              <a:off x="7652923" y="410229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204" name="Text Box 2881"/>
            <p:cNvSpPr txBox="1">
              <a:spLocks noChangeArrowheads="1"/>
            </p:cNvSpPr>
            <p:nvPr/>
          </p:nvSpPr>
          <p:spPr bwMode="auto">
            <a:xfrm>
              <a:off x="8071527" y="4311842"/>
              <a:ext cx="10259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05" name="Line 2882"/>
            <p:cNvSpPr>
              <a:spLocks noChangeShapeType="1"/>
            </p:cNvSpPr>
            <p:nvPr/>
          </p:nvSpPr>
          <p:spPr bwMode="auto">
            <a:xfrm flipV="1">
              <a:off x="6954423" y="2575117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Text Box 2883"/>
            <p:cNvSpPr txBox="1">
              <a:spLocks noChangeArrowheads="1"/>
            </p:cNvSpPr>
            <p:nvPr/>
          </p:nvSpPr>
          <p:spPr bwMode="auto">
            <a:xfrm>
              <a:off x="5162135" y="4696650"/>
              <a:ext cx="101181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 sz="1600" b="1" dirty="0">
                  <a:latin typeface="Times New Roman" pitchFamily="18" charset="0"/>
                </a:rPr>
                <a:t>不透水层</a:t>
              </a:r>
            </a:p>
          </p:txBody>
        </p:sp>
        <p:sp>
          <p:nvSpPr>
            <p:cNvPr id="216" name="Text Box 2884"/>
            <p:cNvSpPr txBox="1">
              <a:spLocks noChangeArrowheads="1"/>
            </p:cNvSpPr>
            <p:nvPr/>
          </p:nvSpPr>
          <p:spPr bwMode="auto">
            <a:xfrm>
              <a:off x="3123785" y="228778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</a:t>
              </a:r>
            </a:p>
          </p:txBody>
        </p:sp>
        <p:sp>
          <p:nvSpPr>
            <p:cNvPr id="247" name="Text Box 2885"/>
            <p:cNvSpPr txBox="1">
              <a:spLocks noChangeArrowheads="1"/>
            </p:cNvSpPr>
            <p:nvPr/>
          </p:nvSpPr>
          <p:spPr bwMode="auto">
            <a:xfrm>
              <a:off x="2899948" y="2289367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</a:t>
              </a:r>
            </a:p>
          </p:txBody>
        </p:sp>
        <p:sp>
          <p:nvSpPr>
            <p:cNvPr id="248" name="Text Box 2886"/>
            <p:cNvSpPr txBox="1">
              <a:spLocks noChangeArrowheads="1"/>
            </p:cNvSpPr>
            <p:nvPr/>
          </p:nvSpPr>
          <p:spPr bwMode="auto">
            <a:xfrm>
              <a:off x="1309273" y="226873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</a:t>
              </a:r>
            </a:p>
          </p:txBody>
        </p:sp>
        <p:sp>
          <p:nvSpPr>
            <p:cNvPr id="249" name="Text Box 2887"/>
            <p:cNvSpPr txBox="1">
              <a:spLocks noChangeArrowheads="1"/>
            </p:cNvSpPr>
            <p:nvPr/>
          </p:nvSpPr>
          <p:spPr bwMode="auto">
            <a:xfrm>
              <a:off x="2396710" y="2279842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</a:t>
              </a:r>
            </a:p>
          </p:txBody>
        </p:sp>
        <p:sp>
          <p:nvSpPr>
            <p:cNvPr id="278" name="Text Box 2888"/>
            <p:cNvSpPr txBox="1">
              <a:spLocks noChangeArrowheads="1"/>
            </p:cNvSpPr>
            <p:nvPr/>
          </p:nvSpPr>
          <p:spPr bwMode="auto">
            <a:xfrm>
              <a:off x="707610" y="238779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79" name="Text Box 2889"/>
            <p:cNvSpPr txBox="1">
              <a:spLocks noChangeArrowheads="1"/>
            </p:cNvSpPr>
            <p:nvPr/>
          </p:nvSpPr>
          <p:spPr bwMode="auto">
            <a:xfrm>
              <a:off x="1431510" y="416103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</a:t>
              </a:r>
            </a:p>
          </p:txBody>
        </p:sp>
        <p:sp>
          <p:nvSpPr>
            <p:cNvPr id="280" name="Text Box 2890"/>
            <p:cNvSpPr txBox="1">
              <a:spLocks noChangeArrowheads="1"/>
            </p:cNvSpPr>
            <p:nvPr/>
          </p:nvSpPr>
          <p:spPr bwMode="auto">
            <a:xfrm>
              <a:off x="1858548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81" name="Text Box 2891"/>
            <p:cNvSpPr txBox="1">
              <a:spLocks noChangeArrowheads="1"/>
            </p:cNvSpPr>
            <p:nvPr/>
          </p:nvSpPr>
          <p:spPr bwMode="auto">
            <a:xfrm>
              <a:off x="2841210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82" name="Text Box 2892"/>
            <p:cNvSpPr txBox="1">
              <a:spLocks noChangeArrowheads="1"/>
            </p:cNvSpPr>
            <p:nvPr/>
          </p:nvSpPr>
          <p:spPr bwMode="auto">
            <a:xfrm>
              <a:off x="3412710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83" name="Text Box 2893"/>
            <p:cNvSpPr txBox="1">
              <a:spLocks noChangeArrowheads="1"/>
            </p:cNvSpPr>
            <p:nvPr/>
          </p:nvSpPr>
          <p:spPr bwMode="auto">
            <a:xfrm>
              <a:off x="393023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84" name="Text Box 2894"/>
            <p:cNvSpPr txBox="1">
              <a:spLocks noChangeArrowheads="1"/>
            </p:cNvSpPr>
            <p:nvPr/>
          </p:nvSpPr>
          <p:spPr bwMode="auto">
            <a:xfrm>
              <a:off x="446363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85" name="Text Box 2895"/>
            <p:cNvSpPr txBox="1">
              <a:spLocks noChangeArrowheads="1"/>
            </p:cNvSpPr>
            <p:nvPr/>
          </p:nvSpPr>
          <p:spPr bwMode="auto">
            <a:xfrm>
              <a:off x="4928773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86" name="Text Box 2896"/>
            <p:cNvSpPr txBox="1">
              <a:spLocks noChangeArrowheads="1"/>
            </p:cNvSpPr>
            <p:nvPr/>
          </p:nvSpPr>
          <p:spPr bwMode="auto">
            <a:xfrm>
              <a:off x="5455823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87" name="Text Box 2897"/>
            <p:cNvSpPr txBox="1">
              <a:spLocks noChangeArrowheads="1"/>
            </p:cNvSpPr>
            <p:nvPr/>
          </p:nvSpPr>
          <p:spPr bwMode="auto">
            <a:xfrm>
              <a:off x="605748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88" name="Text Box 2898"/>
            <p:cNvSpPr txBox="1">
              <a:spLocks noChangeArrowheads="1"/>
            </p:cNvSpPr>
            <p:nvPr/>
          </p:nvSpPr>
          <p:spPr bwMode="auto">
            <a:xfrm>
              <a:off x="6857585" y="4451542"/>
              <a:ext cx="38985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289" name="Text Box 2899"/>
            <p:cNvSpPr txBox="1">
              <a:spLocks noChangeArrowheads="1"/>
            </p:cNvSpPr>
            <p:nvPr/>
          </p:nvSpPr>
          <p:spPr bwMode="auto">
            <a:xfrm>
              <a:off x="7918035" y="2402080"/>
              <a:ext cx="37850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90" name="Text Box 2900"/>
            <p:cNvSpPr txBox="1">
              <a:spLocks noChangeArrowheads="1"/>
            </p:cNvSpPr>
            <p:nvPr/>
          </p:nvSpPr>
          <p:spPr bwMode="auto">
            <a:xfrm>
              <a:off x="7373523" y="3246630"/>
              <a:ext cx="654346" cy="7325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i="1" dirty="0">
                  <a:latin typeface="Times New Roman" pitchFamily="18" charset="0"/>
                </a:rPr>
                <a:t>N</a:t>
              </a:r>
              <a:r>
                <a:rPr lang="en-US" altLang="zh-CN" sz="1600" b="1" dirty="0">
                  <a:latin typeface="Times New Roman" pitchFamily="18" charset="0"/>
                </a:rPr>
                <a:t>=10</a:t>
              </a:r>
            </a:p>
            <a:p>
              <a:r>
                <a:rPr lang="en-US" altLang="zh-CN" sz="1600" b="1" i="1" dirty="0">
                  <a:latin typeface="Times New Roman" pitchFamily="18" charset="0"/>
                </a:rPr>
                <a:t>M</a:t>
              </a:r>
              <a:r>
                <a:rPr lang="en-US" altLang="zh-CN" sz="1600" b="1" dirty="0">
                  <a:latin typeface="Times New Roman" pitchFamily="18" charset="0"/>
                </a:rPr>
                <a:t>=4</a:t>
              </a:r>
            </a:p>
          </p:txBody>
        </p:sp>
        <p:grpSp>
          <p:nvGrpSpPr>
            <p:cNvPr id="291" name="Group 2909"/>
            <p:cNvGrpSpPr>
              <a:grpSpLocks/>
            </p:cNvGrpSpPr>
            <p:nvPr/>
          </p:nvGrpSpPr>
          <p:grpSpPr bwMode="auto">
            <a:xfrm>
              <a:off x="7211598" y="4430905"/>
              <a:ext cx="625475" cy="133350"/>
              <a:chOff x="2644" y="2807"/>
              <a:chExt cx="481" cy="83"/>
            </a:xfrm>
          </p:grpSpPr>
          <p:sp>
            <p:nvSpPr>
              <p:cNvPr id="313" name="Freeform 2910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4" name="Freeform 2911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5" name="Freeform 2912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2913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2914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8" name="Freeform 2915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9" name="Freeform 2916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0" name="Freeform 2917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1" name="Freeform 2918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2" name="Freeform 2919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3" name="Freeform 2920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4" name="Freeform 2921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92" name="Group 2922"/>
            <p:cNvGrpSpPr>
              <a:grpSpLocks/>
            </p:cNvGrpSpPr>
            <p:nvPr/>
          </p:nvGrpSpPr>
          <p:grpSpPr bwMode="auto">
            <a:xfrm>
              <a:off x="2137948" y="4430905"/>
              <a:ext cx="625475" cy="133350"/>
              <a:chOff x="2644" y="2807"/>
              <a:chExt cx="481" cy="83"/>
            </a:xfrm>
          </p:grpSpPr>
          <p:sp>
            <p:nvSpPr>
              <p:cNvPr id="301" name="Freeform 2923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2" name="Freeform 2924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3" name="Freeform 2925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4" name="Freeform 2926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5" name="Freeform 2927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6" name="Freeform 2928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" name="Freeform 2929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8" name="Freeform 2930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9" name="Freeform 2931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0" name="Freeform 2932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1" name="Freeform 2933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2" name="Freeform 2934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93" name="Text Box 2861"/>
            <p:cNvSpPr txBox="1">
              <a:spLocks noChangeArrowheads="1"/>
            </p:cNvSpPr>
            <p:nvPr/>
          </p:nvSpPr>
          <p:spPr bwMode="auto">
            <a:xfrm>
              <a:off x="838293" y="2243330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94" name="Line 2866"/>
            <p:cNvSpPr>
              <a:spLocks noChangeShapeType="1"/>
            </p:cNvSpPr>
            <p:nvPr/>
          </p:nvSpPr>
          <p:spPr bwMode="auto">
            <a:xfrm>
              <a:off x="447840" y="1857567"/>
              <a:ext cx="0" cy="715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Text Box 2873"/>
            <p:cNvSpPr txBox="1">
              <a:spLocks noChangeArrowheads="1"/>
            </p:cNvSpPr>
            <p:nvPr/>
          </p:nvSpPr>
          <p:spPr bwMode="auto">
            <a:xfrm>
              <a:off x="435194" y="1989330"/>
              <a:ext cx="4699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cxnSp>
          <p:nvCxnSpPr>
            <p:cNvPr id="296" name="直接连接符 295"/>
            <p:cNvCxnSpPr/>
            <p:nvPr/>
          </p:nvCxnSpPr>
          <p:spPr bwMode="auto">
            <a:xfrm>
              <a:off x="312026" y="1849725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7" name="直接连接符 296"/>
            <p:cNvCxnSpPr/>
            <p:nvPr/>
          </p:nvCxnSpPr>
          <p:spPr bwMode="auto">
            <a:xfrm>
              <a:off x="313351" y="2574619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直接连接符 297"/>
            <p:cNvCxnSpPr/>
            <p:nvPr/>
          </p:nvCxnSpPr>
          <p:spPr bwMode="auto">
            <a:xfrm>
              <a:off x="328613" y="4420016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9" name="Line 2866"/>
            <p:cNvSpPr>
              <a:spLocks noChangeShapeType="1"/>
            </p:cNvSpPr>
            <p:nvPr/>
          </p:nvSpPr>
          <p:spPr bwMode="auto">
            <a:xfrm>
              <a:off x="455385" y="2580335"/>
              <a:ext cx="0" cy="18341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Text Box 2873"/>
            <p:cNvSpPr txBox="1">
              <a:spLocks noChangeArrowheads="1"/>
            </p:cNvSpPr>
            <p:nvPr/>
          </p:nvSpPr>
          <p:spPr bwMode="auto">
            <a:xfrm>
              <a:off x="474663" y="3303780"/>
              <a:ext cx="4699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latin typeface="Times New Roman" pitchFamily="18" charset="0"/>
                </a:rPr>
                <a:t>16m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</p:grpSp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33" name="Rectangle 2"/>
          <p:cNvSpPr>
            <a:spLocks noChangeArrowheads="1"/>
          </p:cNvSpPr>
          <p:nvPr/>
        </p:nvSpPr>
        <p:spPr bwMode="auto">
          <a:xfrm>
            <a:off x="3194050" y="5735638"/>
            <a:ext cx="27574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的应用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456700" y="625165"/>
            <a:ext cx="3611886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）确定孔隙水压力</a:t>
            </a:r>
            <a:endParaRPr lang="en-US" altLang="zh-CN" sz="2800" b="1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2202571" y="2645433"/>
            <a:ext cx="837507" cy="786716"/>
            <a:chOff x="2202571" y="2645433"/>
            <a:chExt cx="837507" cy="786716"/>
          </a:xfrm>
        </p:grpSpPr>
        <p:sp>
          <p:nvSpPr>
            <p:cNvPr id="116" name="Oval 2901"/>
            <p:cNvSpPr>
              <a:spLocks noChangeArrowheads="1"/>
            </p:cNvSpPr>
            <p:nvPr/>
          </p:nvSpPr>
          <p:spPr bwMode="auto">
            <a:xfrm>
              <a:off x="2429803" y="3333943"/>
              <a:ext cx="86400" cy="86400"/>
            </a:xfrm>
            <a:prstGeom prst="ellipse">
              <a:avLst/>
            </a:pr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 defTabSz="1101725"/>
              <a:endParaRPr lang="zh-CN" altLang="zh-CN"/>
            </a:p>
          </p:txBody>
        </p:sp>
        <p:sp>
          <p:nvSpPr>
            <p:cNvPr id="118" name="Text Box 2902"/>
            <p:cNvSpPr txBox="1">
              <a:spLocks noChangeArrowheads="1"/>
            </p:cNvSpPr>
            <p:nvPr/>
          </p:nvSpPr>
          <p:spPr bwMode="auto">
            <a:xfrm>
              <a:off x="2202571" y="3095599"/>
              <a:ext cx="27463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19" name="Oval 2907"/>
            <p:cNvSpPr>
              <a:spLocks noChangeArrowheads="1"/>
            </p:cNvSpPr>
            <p:nvPr/>
          </p:nvSpPr>
          <p:spPr bwMode="auto">
            <a:xfrm>
              <a:off x="2953678" y="2881506"/>
              <a:ext cx="86400" cy="86400"/>
            </a:xfrm>
            <a:prstGeom prst="ellipse">
              <a:avLst/>
            </a:pr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 defTabSz="1101725"/>
              <a:endParaRPr lang="zh-CN" altLang="zh-CN"/>
            </a:p>
          </p:txBody>
        </p:sp>
        <p:sp>
          <p:nvSpPr>
            <p:cNvPr id="120" name="Text Box 2908"/>
            <p:cNvSpPr txBox="1">
              <a:spLocks noChangeArrowheads="1"/>
            </p:cNvSpPr>
            <p:nvPr/>
          </p:nvSpPr>
          <p:spPr bwMode="auto">
            <a:xfrm>
              <a:off x="2726446" y="2645433"/>
              <a:ext cx="2857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121" name="剪去单角的矩形 120"/>
          <p:cNvSpPr/>
          <p:nvPr/>
        </p:nvSpPr>
        <p:spPr bwMode="auto">
          <a:xfrm>
            <a:off x="5372933" y="3646588"/>
            <a:ext cx="3188473" cy="1510748"/>
          </a:xfrm>
          <a:prstGeom prst="snip1Rect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88900" dist="50800" dir="4800000" sx="102000" sy="102000" algn="ctr" rotWithShape="0">
              <a:srgbClr val="000000">
                <a:alpha val="97000"/>
              </a:srgbClr>
            </a:outerShdw>
          </a:effectLst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5791973" y="3833158"/>
            <a:ext cx="1916230" cy="4792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563" indent="-182563"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zh-CN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孔隙水压力</a:t>
            </a:r>
            <a:endParaRPr lang="en-US" altLang="zh-CN" sz="2400" b="1" dirty="0">
              <a:solidFill>
                <a:srgbClr val="C0000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107960"/>
              </p:ext>
            </p:extLst>
          </p:nvPr>
        </p:nvGraphicFramePr>
        <p:xfrm>
          <a:off x="6048835" y="4373571"/>
          <a:ext cx="1465510" cy="52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19" name="公式" r:id="rId4" imgW="634680" imgH="228600" progId="Equation.3">
                  <p:embed/>
                </p:oleObj>
              </mc:Choice>
              <mc:Fallback>
                <p:oleObj name="公式" r:id="rId4" imgW="6346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48835" y="4373571"/>
                        <a:ext cx="1465510" cy="525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040589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组合 115"/>
          <p:cNvGrpSpPr/>
          <p:nvPr/>
        </p:nvGrpSpPr>
        <p:grpSpPr>
          <a:xfrm>
            <a:off x="312026" y="1459105"/>
            <a:ext cx="7984511" cy="3648070"/>
            <a:chOff x="312026" y="1459105"/>
            <a:chExt cx="7984511" cy="3648070"/>
          </a:xfrm>
        </p:grpSpPr>
        <p:sp>
          <p:nvSpPr>
            <p:cNvPr id="117" name="矩形 116"/>
            <p:cNvSpPr/>
            <p:nvPr/>
          </p:nvSpPr>
          <p:spPr bwMode="auto">
            <a:xfrm>
              <a:off x="5685576" y="2463432"/>
              <a:ext cx="2288437" cy="104115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8" name="矩形 117"/>
            <p:cNvSpPr/>
            <p:nvPr/>
          </p:nvSpPr>
          <p:spPr bwMode="auto">
            <a:xfrm>
              <a:off x="1066800" y="1852323"/>
              <a:ext cx="2338565" cy="710697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9" name="任意多边形 118"/>
            <p:cNvSpPr/>
            <p:nvPr/>
          </p:nvSpPr>
          <p:spPr bwMode="auto">
            <a:xfrm>
              <a:off x="1048043" y="2571974"/>
              <a:ext cx="6921305" cy="1856935"/>
            </a:xfrm>
            <a:custGeom>
              <a:avLst/>
              <a:gdLst>
                <a:gd name="connsiteX0" fmla="*/ 28135 w 6921305"/>
                <a:gd name="connsiteY0" fmla="*/ 21101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21101 h 1856935"/>
                <a:gd name="connsiteX0" fmla="*/ 28135 w 6921305"/>
                <a:gd name="connsiteY0" fmla="*/ 4415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28135 w 6921305"/>
                <a:gd name="connsiteY0" fmla="*/ 4415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14786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14786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8112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70499 w 6921305"/>
                <a:gd name="connsiteY2" fmla="*/ 179759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70499 w 6921305"/>
                <a:gd name="connsiteY2" fmla="*/ 179759 h 1856935"/>
                <a:gd name="connsiteX3" fmla="*/ 4616160 w 6921305"/>
                <a:gd name="connsiteY3" fmla="*/ 17673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21305" h="1856935">
                  <a:moveTo>
                    <a:pt x="8112" y="11089"/>
                  </a:moveTo>
                  <a:lnTo>
                    <a:pt x="2352642" y="1078"/>
                  </a:lnTo>
                  <a:cubicBezTo>
                    <a:pt x="2351530" y="68712"/>
                    <a:pt x="2371611" y="112125"/>
                    <a:pt x="2370499" y="179759"/>
                  </a:cubicBezTo>
                  <a:lnTo>
                    <a:pt x="4616160" y="176731"/>
                  </a:lnTo>
                  <a:lnTo>
                    <a:pt x="4628271" y="0"/>
                  </a:lnTo>
                  <a:lnTo>
                    <a:pt x="6921305" y="0"/>
                  </a:lnTo>
                  <a:lnTo>
                    <a:pt x="6921305" y="1856935"/>
                  </a:lnTo>
                  <a:lnTo>
                    <a:pt x="0" y="1856935"/>
                  </a:lnTo>
                  <a:lnTo>
                    <a:pt x="8112" y="11089"/>
                  </a:lnTo>
                  <a:close/>
                </a:path>
              </a:pathLst>
            </a:custGeom>
            <a:solidFill>
              <a:srgbClr val="CCEC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0" name="矩形 119"/>
            <p:cNvSpPr/>
            <p:nvPr/>
          </p:nvSpPr>
          <p:spPr bwMode="auto">
            <a:xfrm>
              <a:off x="1041009" y="4437575"/>
              <a:ext cx="6935094" cy="669600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2" name="AutoShape 2834"/>
            <p:cNvSpPr>
              <a:spLocks noChangeArrowheads="1"/>
            </p:cNvSpPr>
            <p:nvPr/>
          </p:nvSpPr>
          <p:spPr bwMode="auto">
            <a:xfrm flipV="1">
              <a:off x="1483898" y="172898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2835"/>
            <p:cNvSpPr>
              <a:spLocks noChangeShapeType="1"/>
            </p:cNvSpPr>
            <p:nvPr/>
          </p:nvSpPr>
          <p:spPr bwMode="auto">
            <a:xfrm>
              <a:off x="1410873" y="190678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2836"/>
            <p:cNvSpPr>
              <a:spLocks noChangeShapeType="1"/>
            </p:cNvSpPr>
            <p:nvPr/>
          </p:nvSpPr>
          <p:spPr bwMode="auto">
            <a:xfrm>
              <a:off x="1582323" y="190678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2837"/>
            <p:cNvSpPr>
              <a:spLocks noChangeShapeType="1"/>
            </p:cNvSpPr>
            <p:nvPr/>
          </p:nvSpPr>
          <p:spPr bwMode="auto">
            <a:xfrm>
              <a:off x="1491835" y="1951230"/>
              <a:ext cx="1698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2838"/>
            <p:cNvSpPr>
              <a:spLocks noChangeShapeType="1"/>
            </p:cNvSpPr>
            <p:nvPr/>
          </p:nvSpPr>
          <p:spPr bwMode="auto">
            <a:xfrm>
              <a:off x="1545810" y="1995680"/>
              <a:ext cx="7143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Text Box 2839"/>
            <p:cNvSpPr txBox="1">
              <a:spLocks noChangeArrowheads="1"/>
            </p:cNvSpPr>
            <p:nvPr/>
          </p:nvSpPr>
          <p:spPr bwMode="auto">
            <a:xfrm>
              <a:off x="802364" y="4294380"/>
              <a:ext cx="10259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37" name="Freeform 2840"/>
            <p:cNvSpPr>
              <a:spLocks/>
            </p:cNvSpPr>
            <p:nvPr/>
          </p:nvSpPr>
          <p:spPr bwMode="auto">
            <a:xfrm>
              <a:off x="3406360" y="1459105"/>
              <a:ext cx="2278063" cy="1301750"/>
            </a:xfrm>
            <a:custGeom>
              <a:avLst/>
              <a:gdLst>
                <a:gd name="T0" fmla="*/ 0 w 1435"/>
                <a:gd name="T1" fmla="*/ 85 h 820"/>
                <a:gd name="T2" fmla="*/ 0 w 1435"/>
                <a:gd name="T3" fmla="*/ 820 h 820"/>
                <a:gd name="T4" fmla="*/ 1435 w 1435"/>
                <a:gd name="T5" fmla="*/ 820 h 820"/>
                <a:gd name="T6" fmla="*/ 1435 w 1435"/>
                <a:gd name="T7" fmla="*/ 479 h 820"/>
                <a:gd name="T8" fmla="*/ 1403 w 1435"/>
                <a:gd name="T9" fmla="*/ 478 h 820"/>
                <a:gd name="T10" fmla="*/ 1334 w 1435"/>
                <a:gd name="T11" fmla="*/ 473 h 820"/>
                <a:gd name="T12" fmla="*/ 1258 w 1435"/>
                <a:gd name="T13" fmla="*/ 462 h 820"/>
                <a:gd name="T14" fmla="*/ 1141 w 1435"/>
                <a:gd name="T15" fmla="*/ 430 h 820"/>
                <a:gd name="T16" fmla="*/ 1006 w 1435"/>
                <a:gd name="T17" fmla="*/ 388 h 820"/>
                <a:gd name="T18" fmla="*/ 806 w 1435"/>
                <a:gd name="T19" fmla="*/ 305 h 820"/>
                <a:gd name="T20" fmla="*/ 672 w 1435"/>
                <a:gd name="T21" fmla="*/ 234 h 820"/>
                <a:gd name="T22" fmla="*/ 520 w 1435"/>
                <a:gd name="T23" fmla="*/ 143 h 820"/>
                <a:gd name="T24" fmla="*/ 422 w 1435"/>
                <a:gd name="T25" fmla="*/ 85 h 820"/>
                <a:gd name="T26" fmla="*/ 355 w 1435"/>
                <a:gd name="T27" fmla="*/ 47 h 820"/>
                <a:gd name="T28" fmla="*/ 274 w 1435"/>
                <a:gd name="T29" fmla="*/ 15 h 820"/>
                <a:gd name="T30" fmla="*/ 205 w 1435"/>
                <a:gd name="T31" fmla="*/ 2 h 820"/>
                <a:gd name="T32" fmla="*/ 123 w 1435"/>
                <a:gd name="T33" fmla="*/ 4 h 820"/>
                <a:gd name="T34" fmla="*/ 62 w 1435"/>
                <a:gd name="T35" fmla="*/ 27 h 820"/>
                <a:gd name="T36" fmla="*/ 19 w 1435"/>
                <a:gd name="T37" fmla="*/ 60 h 820"/>
                <a:gd name="T38" fmla="*/ 0 w 1435"/>
                <a:gd name="T39" fmla="*/ 85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35" h="820">
                  <a:moveTo>
                    <a:pt x="0" y="85"/>
                  </a:moveTo>
                  <a:lnTo>
                    <a:pt x="0" y="820"/>
                  </a:lnTo>
                  <a:lnTo>
                    <a:pt x="1435" y="820"/>
                  </a:lnTo>
                  <a:lnTo>
                    <a:pt x="1435" y="479"/>
                  </a:lnTo>
                  <a:lnTo>
                    <a:pt x="1403" y="478"/>
                  </a:lnTo>
                  <a:cubicBezTo>
                    <a:pt x="1386" y="477"/>
                    <a:pt x="1358" y="476"/>
                    <a:pt x="1334" y="473"/>
                  </a:cubicBezTo>
                  <a:cubicBezTo>
                    <a:pt x="1310" y="470"/>
                    <a:pt x="1290" y="469"/>
                    <a:pt x="1258" y="462"/>
                  </a:cubicBezTo>
                  <a:cubicBezTo>
                    <a:pt x="1226" y="455"/>
                    <a:pt x="1183" y="442"/>
                    <a:pt x="1141" y="430"/>
                  </a:cubicBezTo>
                  <a:cubicBezTo>
                    <a:pt x="1099" y="418"/>
                    <a:pt x="1062" y="409"/>
                    <a:pt x="1006" y="388"/>
                  </a:cubicBezTo>
                  <a:cubicBezTo>
                    <a:pt x="950" y="367"/>
                    <a:pt x="862" y="331"/>
                    <a:pt x="806" y="305"/>
                  </a:cubicBezTo>
                  <a:cubicBezTo>
                    <a:pt x="750" y="279"/>
                    <a:pt x="720" y="261"/>
                    <a:pt x="672" y="234"/>
                  </a:cubicBezTo>
                  <a:cubicBezTo>
                    <a:pt x="624" y="207"/>
                    <a:pt x="562" y="167"/>
                    <a:pt x="520" y="143"/>
                  </a:cubicBezTo>
                  <a:cubicBezTo>
                    <a:pt x="478" y="119"/>
                    <a:pt x="449" y="101"/>
                    <a:pt x="422" y="85"/>
                  </a:cubicBezTo>
                  <a:cubicBezTo>
                    <a:pt x="395" y="70"/>
                    <a:pt x="380" y="59"/>
                    <a:pt x="355" y="47"/>
                  </a:cubicBezTo>
                  <a:cubicBezTo>
                    <a:pt x="330" y="35"/>
                    <a:pt x="299" y="23"/>
                    <a:pt x="274" y="15"/>
                  </a:cubicBezTo>
                  <a:cubicBezTo>
                    <a:pt x="249" y="8"/>
                    <a:pt x="230" y="4"/>
                    <a:pt x="205" y="2"/>
                  </a:cubicBezTo>
                  <a:cubicBezTo>
                    <a:pt x="180" y="0"/>
                    <a:pt x="147" y="0"/>
                    <a:pt x="123" y="4"/>
                  </a:cubicBezTo>
                  <a:cubicBezTo>
                    <a:pt x="99" y="8"/>
                    <a:pt x="79" y="18"/>
                    <a:pt x="62" y="27"/>
                  </a:cubicBezTo>
                  <a:cubicBezTo>
                    <a:pt x="45" y="36"/>
                    <a:pt x="29" y="50"/>
                    <a:pt x="19" y="60"/>
                  </a:cubicBezTo>
                  <a:cubicBezTo>
                    <a:pt x="9" y="70"/>
                    <a:pt x="4" y="81"/>
                    <a:pt x="0" y="85"/>
                  </a:cubicBezTo>
                  <a:close/>
                </a:path>
              </a:pathLst>
            </a:custGeom>
            <a:solidFill>
              <a:srgbClr val="FFC000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2841"/>
            <p:cNvSpPr>
              <a:spLocks noChangeShapeType="1"/>
            </p:cNvSpPr>
            <p:nvPr/>
          </p:nvSpPr>
          <p:spPr bwMode="auto">
            <a:xfrm>
              <a:off x="5687598" y="2564005"/>
              <a:ext cx="22864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2842"/>
            <p:cNvSpPr>
              <a:spLocks noChangeShapeType="1"/>
            </p:cNvSpPr>
            <p:nvPr/>
          </p:nvSpPr>
          <p:spPr bwMode="auto">
            <a:xfrm flipH="1">
              <a:off x="1058862" y="2568767"/>
              <a:ext cx="23427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2843"/>
            <p:cNvSpPr>
              <a:spLocks noChangeShapeType="1"/>
            </p:cNvSpPr>
            <p:nvPr/>
          </p:nvSpPr>
          <p:spPr bwMode="auto">
            <a:xfrm flipH="1">
              <a:off x="1065894" y="1852805"/>
              <a:ext cx="234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2844"/>
            <p:cNvSpPr>
              <a:spLocks noChangeShapeType="1"/>
            </p:cNvSpPr>
            <p:nvPr/>
          </p:nvSpPr>
          <p:spPr bwMode="auto">
            <a:xfrm>
              <a:off x="5687597" y="2462405"/>
              <a:ext cx="226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2845"/>
            <p:cNvSpPr>
              <a:spLocks/>
            </p:cNvSpPr>
            <p:nvPr/>
          </p:nvSpPr>
          <p:spPr bwMode="auto">
            <a:xfrm>
              <a:off x="3117435" y="2570355"/>
              <a:ext cx="2844800" cy="557212"/>
            </a:xfrm>
            <a:custGeom>
              <a:avLst/>
              <a:gdLst>
                <a:gd name="T0" fmla="*/ 0 w 1792"/>
                <a:gd name="T1" fmla="*/ 1 h 351"/>
                <a:gd name="T2" fmla="*/ 24 w 1792"/>
                <a:gd name="T3" fmla="*/ 118 h 351"/>
                <a:gd name="T4" fmla="*/ 99 w 1792"/>
                <a:gd name="T5" fmla="*/ 225 h 351"/>
                <a:gd name="T6" fmla="*/ 255 w 1792"/>
                <a:gd name="T7" fmla="*/ 310 h 351"/>
                <a:gd name="T8" fmla="*/ 445 w 1792"/>
                <a:gd name="T9" fmla="*/ 341 h 351"/>
                <a:gd name="T10" fmla="*/ 643 w 1792"/>
                <a:gd name="T11" fmla="*/ 349 h 351"/>
                <a:gd name="T12" fmla="*/ 913 w 1792"/>
                <a:gd name="T13" fmla="*/ 349 h 351"/>
                <a:gd name="T14" fmla="*/ 1255 w 1792"/>
                <a:gd name="T15" fmla="*/ 336 h 351"/>
                <a:gd name="T16" fmla="*/ 1525 w 1792"/>
                <a:gd name="T17" fmla="*/ 305 h 351"/>
                <a:gd name="T18" fmla="*/ 1678 w 1792"/>
                <a:gd name="T19" fmla="*/ 234 h 351"/>
                <a:gd name="T20" fmla="*/ 1760 w 1792"/>
                <a:gd name="T21" fmla="*/ 133 h 351"/>
                <a:gd name="T22" fmla="*/ 1792 w 1792"/>
                <a:gd name="T2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92" h="351">
                  <a:moveTo>
                    <a:pt x="0" y="1"/>
                  </a:moveTo>
                  <a:cubicBezTo>
                    <a:pt x="4" y="20"/>
                    <a:pt x="8" y="81"/>
                    <a:pt x="24" y="118"/>
                  </a:cubicBezTo>
                  <a:cubicBezTo>
                    <a:pt x="40" y="155"/>
                    <a:pt x="60" y="193"/>
                    <a:pt x="99" y="225"/>
                  </a:cubicBezTo>
                  <a:cubicBezTo>
                    <a:pt x="138" y="257"/>
                    <a:pt x="197" y="291"/>
                    <a:pt x="255" y="310"/>
                  </a:cubicBezTo>
                  <a:cubicBezTo>
                    <a:pt x="312" y="330"/>
                    <a:pt x="380" y="335"/>
                    <a:pt x="445" y="341"/>
                  </a:cubicBezTo>
                  <a:cubicBezTo>
                    <a:pt x="509" y="347"/>
                    <a:pt x="565" y="348"/>
                    <a:pt x="643" y="349"/>
                  </a:cubicBezTo>
                  <a:cubicBezTo>
                    <a:pt x="721" y="350"/>
                    <a:pt x="811" y="351"/>
                    <a:pt x="913" y="349"/>
                  </a:cubicBezTo>
                  <a:cubicBezTo>
                    <a:pt x="1015" y="347"/>
                    <a:pt x="1153" y="343"/>
                    <a:pt x="1255" y="336"/>
                  </a:cubicBezTo>
                  <a:cubicBezTo>
                    <a:pt x="1357" y="328"/>
                    <a:pt x="1455" y="321"/>
                    <a:pt x="1525" y="305"/>
                  </a:cubicBezTo>
                  <a:cubicBezTo>
                    <a:pt x="1595" y="289"/>
                    <a:pt x="1638" y="263"/>
                    <a:pt x="1678" y="234"/>
                  </a:cubicBezTo>
                  <a:cubicBezTo>
                    <a:pt x="1717" y="206"/>
                    <a:pt x="1740" y="172"/>
                    <a:pt x="1760" y="133"/>
                  </a:cubicBezTo>
                  <a:cubicBezTo>
                    <a:pt x="1779" y="94"/>
                    <a:pt x="1785" y="28"/>
                    <a:pt x="179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2846"/>
            <p:cNvSpPr>
              <a:spLocks/>
            </p:cNvSpPr>
            <p:nvPr/>
          </p:nvSpPr>
          <p:spPr bwMode="auto">
            <a:xfrm>
              <a:off x="2607848" y="2573530"/>
              <a:ext cx="3851275" cy="977900"/>
            </a:xfrm>
            <a:custGeom>
              <a:avLst/>
              <a:gdLst>
                <a:gd name="T0" fmla="*/ 0 w 2409"/>
                <a:gd name="T1" fmla="*/ 2 h 606"/>
                <a:gd name="T2" fmla="*/ 32 w 2409"/>
                <a:gd name="T3" fmla="*/ 166 h 606"/>
                <a:gd name="T4" fmla="*/ 112 w 2409"/>
                <a:gd name="T5" fmla="*/ 307 h 606"/>
                <a:gd name="T6" fmla="*/ 275 w 2409"/>
                <a:gd name="T7" fmla="*/ 448 h 606"/>
                <a:gd name="T8" fmla="*/ 502 w 2409"/>
                <a:gd name="T9" fmla="*/ 541 h 606"/>
                <a:gd name="T10" fmla="*/ 870 w 2409"/>
                <a:gd name="T11" fmla="*/ 595 h 606"/>
                <a:gd name="T12" fmla="*/ 1228 w 2409"/>
                <a:gd name="T13" fmla="*/ 605 h 606"/>
                <a:gd name="T14" fmla="*/ 1542 w 2409"/>
                <a:gd name="T15" fmla="*/ 589 h 606"/>
                <a:gd name="T16" fmla="*/ 1830 w 2409"/>
                <a:gd name="T17" fmla="*/ 538 h 606"/>
                <a:gd name="T18" fmla="*/ 2081 w 2409"/>
                <a:gd name="T19" fmla="*/ 437 h 606"/>
                <a:gd name="T20" fmla="*/ 2267 w 2409"/>
                <a:gd name="T21" fmla="*/ 290 h 606"/>
                <a:gd name="T22" fmla="*/ 2368 w 2409"/>
                <a:gd name="T23" fmla="*/ 150 h 606"/>
                <a:gd name="T24" fmla="*/ 2409 w 2409"/>
                <a:gd name="T25" fmla="*/ 0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09" h="606">
                  <a:moveTo>
                    <a:pt x="0" y="2"/>
                  </a:moveTo>
                  <a:cubicBezTo>
                    <a:pt x="5" y="29"/>
                    <a:pt x="13" y="115"/>
                    <a:pt x="32" y="166"/>
                  </a:cubicBezTo>
                  <a:cubicBezTo>
                    <a:pt x="51" y="217"/>
                    <a:pt x="72" y="260"/>
                    <a:pt x="112" y="307"/>
                  </a:cubicBezTo>
                  <a:cubicBezTo>
                    <a:pt x="152" y="354"/>
                    <a:pt x="210" y="409"/>
                    <a:pt x="275" y="448"/>
                  </a:cubicBezTo>
                  <a:cubicBezTo>
                    <a:pt x="340" y="487"/>
                    <a:pt x="403" y="517"/>
                    <a:pt x="502" y="541"/>
                  </a:cubicBezTo>
                  <a:cubicBezTo>
                    <a:pt x="601" y="565"/>
                    <a:pt x="749" y="584"/>
                    <a:pt x="870" y="595"/>
                  </a:cubicBezTo>
                  <a:cubicBezTo>
                    <a:pt x="991" y="606"/>
                    <a:pt x="1116" y="606"/>
                    <a:pt x="1228" y="605"/>
                  </a:cubicBezTo>
                  <a:cubicBezTo>
                    <a:pt x="1340" y="604"/>
                    <a:pt x="1442" y="600"/>
                    <a:pt x="1542" y="589"/>
                  </a:cubicBezTo>
                  <a:cubicBezTo>
                    <a:pt x="1642" y="578"/>
                    <a:pt x="1740" y="563"/>
                    <a:pt x="1830" y="538"/>
                  </a:cubicBezTo>
                  <a:cubicBezTo>
                    <a:pt x="1920" y="513"/>
                    <a:pt x="2008" y="478"/>
                    <a:pt x="2081" y="437"/>
                  </a:cubicBezTo>
                  <a:cubicBezTo>
                    <a:pt x="2154" y="396"/>
                    <a:pt x="2219" y="338"/>
                    <a:pt x="2267" y="290"/>
                  </a:cubicBezTo>
                  <a:cubicBezTo>
                    <a:pt x="2315" y="242"/>
                    <a:pt x="2344" y="198"/>
                    <a:pt x="2368" y="150"/>
                  </a:cubicBezTo>
                  <a:cubicBezTo>
                    <a:pt x="2392" y="102"/>
                    <a:pt x="2401" y="51"/>
                    <a:pt x="240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2847"/>
            <p:cNvSpPr>
              <a:spLocks/>
            </p:cNvSpPr>
            <p:nvPr/>
          </p:nvSpPr>
          <p:spPr bwMode="auto">
            <a:xfrm>
              <a:off x="1542635" y="2564005"/>
              <a:ext cx="5856288" cy="1408112"/>
            </a:xfrm>
            <a:custGeom>
              <a:avLst/>
              <a:gdLst>
                <a:gd name="T0" fmla="*/ 0 w 3689"/>
                <a:gd name="T1" fmla="*/ 6 h 887"/>
                <a:gd name="T2" fmla="*/ 35 w 3689"/>
                <a:gd name="T3" fmla="*/ 166 h 887"/>
                <a:gd name="T4" fmla="*/ 131 w 3689"/>
                <a:gd name="T5" fmla="*/ 374 h 887"/>
                <a:gd name="T6" fmla="*/ 294 w 3689"/>
                <a:gd name="T7" fmla="*/ 560 h 887"/>
                <a:gd name="T8" fmla="*/ 537 w 3689"/>
                <a:gd name="T9" fmla="*/ 707 h 887"/>
                <a:gd name="T10" fmla="*/ 899 w 3689"/>
                <a:gd name="T11" fmla="*/ 803 h 887"/>
                <a:gd name="T12" fmla="*/ 1232 w 3689"/>
                <a:gd name="T13" fmla="*/ 860 h 887"/>
                <a:gd name="T14" fmla="*/ 1660 w 3689"/>
                <a:gd name="T15" fmla="*/ 880 h 887"/>
                <a:gd name="T16" fmla="*/ 2144 w 3689"/>
                <a:gd name="T17" fmla="*/ 880 h 887"/>
                <a:gd name="T18" fmla="*/ 2592 w 3689"/>
                <a:gd name="T19" fmla="*/ 838 h 887"/>
                <a:gd name="T20" fmla="*/ 3011 w 3689"/>
                <a:gd name="T21" fmla="*/ 739 h 887"/>
                <a:gd name="T22" fmla="*/ 3328 w 3689"/>
                <a:gd name="T23" fmla="*/ 593 h 887"/>
                <a:gd name="T24" fmla="*/ 3528 w 3689"/>
                <a:gd name="T25" fmla="*/ 420 h 887"/>
                <a:gd name="T26" fmla="*/ 3654 w 3689"/>
                <a:gd name="T27" fmla="*/ 188 h 887"/>
                <a:gd name="T28" fmla="*/ 3689 w 3689"/>
                <a:gd name="T29" fmla="*/ 0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89" h="887">
                  <a:moveTo>
                    <a:pt x="0" y="6"/>
                  </a:moveTo>
                  <a:cubicBezTo>
                    <a:pt x="5" y="33"/>
                    <a:pt x="13" y="105"/>
                    <a:pt x="35" y="166"/>
                  </a:cubicBezTo>
                  <a:cubicBezTo>
                    <a:pt x="57" y="227"/>
                    <a:pt x="88" y="308"/>
                    <a:pt x="131" y="374"/>
                  </a:cubicBezTo>
                  <a:cubicBezTo>
                    <a:pt x="174" y="440"/>
                    <a:pt x="226" y="504"/>
                    <a:pt x="294" y="560"/>
                  </a:cubicBezTo>
                  <a:cubicBezTo>
                    <a:pt x="362" y="616"/>
                    <a:pt x="436" y="667"/>
                    <a:pt x="537" y="707"/>
                  </a:cubicBezTo>
                  <a:cubicBezTo>
                    <a:pt x="638" y="747"/>
                    <a:pt x="783" y="778"/>
                    <a:pt x="899" y="803"/>
                  </a:cubicBezTo>
                  <a:cubicBezTo>
                    <a:pt x="1015" y="828"/>
                    <a:pt x="1105" y="847"/>
                    <a:pt x="1232" y="860"/>
                  </a:cubicBezTo>
                  <a:cubicBezTo>
                    <a:pt x="1359" y="873"/>
                    <a:pt x="1508" y="877"/>
                    <a:pt x="1660" y="880"/>
                  </a:cubicBezTo>
                  <a:cubicBezTo>
                    <a:pt x="1812" y="883"/>
                    <a:pt x="1989" y="887"/>
                    <a:pt x="2144" y="880"/>
                  </a:cubicBezTo>
                  <a:cubicBezTo>
                    <a:pt x="2299" y="873"/>
                    <a:pt x="2448" y="861"/>
                    <a:pt x="2592" y="838"/>
                  </a:cubicBezTo>
                  <a:cubicBezTo>
                    <a:pt x="2736" y="815"/>
                    <a:pt x="2888" y="780"/>
                    <a:pt x="3011" y="739"/>
                  </a:cubicBezTo>
                  <a:cubicBezTo>
                    <a:pt x="3134" y="698"/>
                    <a:pt x="3242" y="646"/>
                    <a:pt x="3328" y="593"/>
                  </a:cubicBezTo>
                  <a:cubicBezTo>
                    <a:pt x="3414" y="540"/>
                    <a:pt x="3474" y="487"/>
                    <a:pt x="3528" y="420"/>
                  </a:cubicBezTo>
                  <a:cubicBezTo>
                    <a:pt x="3582" y="353"/>
                    <a:pt x="3627" y="258"/>
                    <a:pt x="3654" y="188"/>
                  </a:cubicBezTo>
                  <a:cubicBezTo>
                    <a:pt x="3681" y="118"/>
                    <a:pt x="3682" y="39"/>
                    <a:pt x="368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2848"/>
            <p:cNvSpPr>
              <a:spLocks noChangeShapeType="1"/>
            </p:cNvSpPr>
            <p:nvPr/>
          </p:nvSpPr>
          <p:spPr bwMode="auto">
            <a:xfrm>
              <a:off x="1044160" y="4432492"/>
              <a:ext cx="6934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2849"/>
            <p:cNvSpPr>
              <a:spLocks/>
            </p:cNvSpPr>
            <p:nvPr/>
          </p:nvSpPr>
          <p:spPr bwMode="auto">
            <a:xfrm>
              <a:off x="2022060" y="2744980"/>
              <a:ext cx="1374775" cy="1682750"/>
            </a:xfrm>
            <a:custGeom>
              <a:avLst/>
              <a:gdLst>
                <a:gd name="T0" fmla="*/ 866 w 866"/>
                <a:gd name="T1" fmla="*/ 0 h 1060"/>
                <a:gd name="T2" fmla="*/ 751 w 866"/>
                <a:gd name="T3" fmla="*/ 49 h 1060"/>
                <a:gd name="T4" fmla="*/ 592 w 866"/>
                <a:gd name="T5" fmla="*/ 144 h 1060"/>
                <a:gd name="T6" fmla="*/ 425 w 866"/>
                <a:gd name="T7" fmla="*/ 277 h 1060"/>
                <a:gd name="T8" fmla="*/ 235 w 866"/>
                <a:gd name="T9" fmla="*/ 478 h 1060"/>
                <a:gd name="T10" fmla="*/ 94 w 866"/>
                <a:gd name="T11" fmla="*/ 749 h 1060"/>
                <a:gd name="T12" fmla="*/ 0 w 866"/>
                <a:gd name="T13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60">
                  <a:moveTo>
                    <a:pt x="866" y="0"/>
                  </a:moveTo>
                  <a:cubicBezTo>
                    <a:pt x="847" y="8"/>
                    <a:pt x="797" y="25"/>
                    <a:pt x="751" y="49"/>
                  </a:cubicBezTo>
                  <a:cubicBezTo>
                    <a:pt x="705" y="73"/>
                    <a:pt x="646" y="106"/>
                    <a:pt x="592" y="144"/>
                  </a:cubicBezTo>
                  <a:cubicBezTo>
                    <a:pt x="538" y="182"/>
                    <a:pt x="484" y="221"/>
                    <a:pt x="425" y="277"/>
                  </a:cubicBezTo>
                  <a:cubicBezTo>
                    <a:pt x="366" y="333"/>
                    <a:pt x="290" y="399"/>
                    <a:pt x="235" y="478"/>
                  </a:cubicBezTo>
                  <a:cubicBezTo>
                    <a:pt x="180" y="557"/>
                    <a:pt x="133" y="652"/>
                    <a:pt x="94" y="749"/>
                  </a:cubicBezTo>
                  <a:cubicBezTo>
                    <a:pt x="55" y="846"/>
                    <a:pt x="20" y="995"/>
                    <a:pt x="0" y="106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2850"/>
            <p:cNvSpPr>
              <a:spLocks/>
            </p:cNvSpPr>
            <p:nvPr/>
          </p:nvSpPr>
          <p:spPr bwMode="auto">
            <a:xfrm>
              <a:off x="2868198" y="2767205"/>
              <a:ext cx="685800" cy="1660525"/>
            </a:xfrm>
            <a:custGeom>
              <a:avLst/>
              <a:gdLst>
                <a:gd name="T0" fmla="*/ 346 w 346"/>
                <a:gd name="T1" fmla="*/ 0 h 1046"/>
                <a:gd name="T2" fmla="*/ 314 w 346"/>
                <a:gd name="T3" fmla="*/ 115 h 1046"/>
                <a:gd name="T4" fmla="*/ 250 w 346"/>
                <a:gd name="T5" fmla="*/ 262 h 1046"/>
                <a:gd name="T6" fmla="*/ 157 w 346"/>
                <a:gd name="T7" fmla="*/ 451 h 1046"/>
                <a:gd name="T8" fmla="*/ 56 w 346"/>
                <a:gd name="T9" fmla="*/ 684 h 1046"/>
                <a:gd name="T10" fmla="*/ 13 w 346"/>
                <a:gd name="T11" fmla="*/ 907 h 1046"/>
                <a:gd name="T12" fmla="*/ 0 w 346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1046">
                  <a:moveTo>
                    <a:pt x="346" y="0"/>
                  </a:moveTo>
                  <a:cubicBezTo>
                    <a:pt x="338" y="35"/>
                    <a:pt x="330" y="71"/>
                    <a:pt x="314" y="115"/>
                  </a:cubicBezTo>
                  <a:cubicBezTo>
                    <a:pt x="298" y="159"/>
                    <a:pt x="276" y="206"/>
                    <a:pt x="250" y="262"/>
                  </a:cubicBezTo>
                  <a:cubicBezTo>
                    <a:pt x="224" y="318"/>
                    <a:pt x="189" y="381"/>
                    <a:pt x="157" y="451"/>
                  </a:cubicBezTo>
                  <a:cubicBezTo>
                    <a:pt x="125" y="521"/>
                    <a:pt x="80" y="608"/>
                    <a:pt x="56" y="684"/>
                  </a:cubicBezTo>
                  <a:cubicBezTo>
                    <a:pt x="32" y="760"/>
                    <a:pt x="22" y="847"/>
                    <a:pt x="13" y="907"/>
                  </a:cubicBezTo>
                  <a:cubicBezTo>
                    <a:pt x="4" y="967"/>
                    <a:pt x="3" y="1017"/>
                    <a:pt x="0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2851"/>
            <p:cNvSpPr>
              <a:spLocks/>
            </p:cNvSpPr>
            <p:nvPr/>
          </p:nvSpPr>
          <p:spPr bwMode="auto">
            <a:xfrm>
              <a:off x="3517485" y="2765617"/>
              <a:ext cx="366713" cy="1671638"/>
            </a:xfrm>
            <a:custGeom>
              <a:avLst/>
              <a:gdLst>
                <a:gd name="T0" fmla="*/ 231 w 231"/>
                <a:gd name="T1" fmla="*/ 0 h 1053"/>
                <a:gd name="T2" fmla="*/ 205 w 231"/>
                <a:gd name="T3" fmla="*/ 150 h 1053"/>
                <a:gd name="T4" fmla="*/ 148 w 231"/>
                <a:gd name="T5" fmla="*/ 372 h 1053"/>
                <a:gd name="T6" fmla="*/ 90 w 231"/>
                <a:gd name="T7" fmla="*/ 567 h 1053"/>
                <a:gd name="T8" fmla="*/ 40 w 231"/>
                <a:gd name="T9" fmla="*/ 772 h 1053"/>
                <a:gd name="T10" fmla="*/ 0 w 231"/>
                <a:gd name="T11" fmla="*/ 1053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1053">
                  <a:moveTo>
                    <a:pt x="231" y="0"/>
                  </a:moveTo>
                  <a:cubicBezTo>
                    <a:pt x="227" y="25"/>
                    <a:pt x="219" y="88"/>
                    <a:pt x="205" y="150"/>
                  </a:cubicBezTo>
                  <a:cubicBezTo>
                    <a:pt x="191" y="212"/>
                    <a:pt x="167" y="302"/>
                    <a:pt x="148" y="372"/>
                  </a:cubicBezTo>
                  <a:cubicBezTo>
                    <a:pt x="129" y="442"/>
                    <a:pt x="108" y="500"/>
                    <a:pt x="90" y="567"/>
                  </a:cubicBezTo>
                  <a:cubicBezTo>
                    <a:pt x="72" y="634"/>
                    <a:pt x="55" y="691"/>
                    <a:pt x="40" y="772"/>
                  </a:cubicBezTo>
                  <a:cubicBezTo>
                    <a:pt x="25" y="853"/>
                    <a:pt x="8" y="995"/>
                    <a:pt x="0" y="1053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2852"/>
            <p:cNvSpPr>
              <a:spLocks/>
            </p:cNvSpPr>
            <p:nvPr/>
          </p:nvSpPr>
          <p:spPr bwMode="auto">
            <a:xfrm>
              <a:off x="4087398" y="2770380"/>
              <a:ext cx="149225" cy="1643062"/>
            </a:xfrm>
            <a:custGeom>
              <a:avLst/>
              <a:gdLst>
                <a:gd name="T0" fmla="*/ 94 w 94"/>
                <a:gd name="T1" fmla="*/ 0 h 1035"/>
                <a:gd name="T2" fmla="*/ 80 w 94"/>
                <a:gd name="T3" fmla="*/ 224 h 1035"/>
                <a:gd name="T4" fmla="*/ 45 w 94"/>
                <a:gd name="T5" fmla="*/ 520 h 1035"/>
                <a:gd name="T6" fmla="*/ 19 w 94"/>
                <a:gd name="T7" fmla="*/ 798 h 1035"/>
                <a:gd name="T8" fmla="*/ 0 w 94"/>
                <a:gd name="T9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035">
                  <a:moveTo>
                    <a:pt x="94" y="0"/>
                  </a:moveTo>
                  <a:cubicBezTo>
                    <a:pt x="92" y="37"/>
                    <a:pt x="88" y="137"/>
                    <a:pt x="80" y="224"/>
                  </a:cubicBezTo>
                  <a:cubicBezTo>
                    <a:pt x="72" y="311"/>
                    <a:pt x="55" y="424"/>
                    <a:pt x="45" y="520"/>
                  </a:cubicBezTo>
                  <a:cubicBezTo>
                    <a:pt x="35" y="616"/>
                    <a:pt x="26" y="712"/>
                    <a:pt x="19" y="798"/>
                  </a:cubicBezTo>
                  <a:cubicBezTo>
                    <a:pt x="12" y="884"/>
                    <a:pt x="4" y="986"/>
                    <a:pt x="0" y="1035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2853"/>
            <p:cNvSpPr>
              <a:spLocks/>
            </p:cNvSpPr>
            <p:nvPr/>
          </p:nvSpPr>
          <p:spPr bwMode="auto">
            <a:xfrm>
              <a:off x="4590635" y="2765617"/>
              <a:ext cx="9525" cy="1666875"/>
            </a:xfrm>
            <a:custGeom>
              <a:avLst/>
              <a:gdLst>
                <a:gd name="T0" fmla="*/ 6 w 6"/>
                <a:gd name="T1" fmla="*/ 0 h 1050"/>
                <a:gd name="T2" fmla="*/ 1 w 6"/>
                <a:gd name="T3" fmla="*/ 295 h 1050"/>
                <a:gd name="T4" fmla="*/ 0 w 6"/>
                <a:gd name="T5" fmla="*/ 556 h 1050"/>
                <a:gd name="T6" fmla="*/ 1 w 6"/>
                <a:gd name="T7" fmla="*/ 801 h 1050"/>
                <a:gd name="T8" fmla="*/ 1 w 6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50">
                  <a:moveTo>
                    <a:pt x="6" y="0"/>
                  </a:moveTo>
                  <a:cubicBezTo>
                    <a:pt x="6" y="49"/>
                    <a:pt x="2" y="202"/>
                    <a:pt x="1" y="295"/>
                  </a:cubicBezTo>
                  <a:cubicBezTo>
                    <a:pt x="0" y="388"/>
                    <a:pt x="0" y="472"/>
                    <a:pt x="0" y="556"/>
                  </a:cubicBezTo>
                  <a:cubicBezTo>
                    <a:pt x="0" y="640"/>
                    <a:pt x="1" y="719"/>
                    <a:pt x="1" y="801"/>
                  </a:cubicBezTo>
                  <a:cubicBezTo>
                    <a:pt x="1" y="883"/>
                    <a:pt x="2" y="966"/>
                    <a:pt x="1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2854"/>
            <p:cNvSpPr>
              <a:spLocks/>
            </p:cNvSpPr>
            <p:nvPr/>
          </p:nvSpPr>
          <p:spPr bwMode="auto">
            <a:xfrm>
              <a:off x="4946235" y="2767205"/>
              <a:ext cx="142875" cy="1666875"/>
            </a:xfrm>
            <a:custGeom>
              <a:avLst/>
              <a:gdLst>
                <a:gd name="T0" fmla="*/ 0 w 90"/>
                <a:gd name="T1" fmla="*/ 0 h 1050"/>
                <a:gd name="T2" fmla="*/ 16 w 90"/>
                <a:gd name="T3" fmla="*/ 280 h 1050"/>
                <a:gd name="T4" fmla="*/ 42 w 90"/>
                <a:gd name="T5" fmla="*/ 561 h 1050"/>
                <a:gd name="T6" fmla="*/ 78 w 90"/>
                <a:gd name="T7" fmla="*/ 833 h 1050"/>
                <a:gd name="T8" fmla="*/ 90 w 9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1050">
                  <a:moveTo>
                    <a:pt x="0" y="0"/>
                  </a:moveTo>
                  <a:cubicBezTo>
                    <a:pt x="3" y="47"/>
                    <a:pt x="9" y="187"/>
                    <a:pt x="16" y="280"/>
                  </a:cubicBezTo>
                  <a:cubicBezTo>
                    <a:pt x="23" y="373"/>
                    <a:pt x="32" y="469"/>
                    <a:pt x="42" y="561"/>
                  </a:cubicBezTo>
                  <a:cubicBezTo>
                    <a:pt x="52" y="653"/>
                    <a:pt x="70" y="752"/>
                    <a:pt x="78" y="833"/>
                  </a:cubicBezTo>
                  <a:cubicBezTo>
                    <a:pt x="86" y="914"/>
                    <a:pt x="88" y="982"/>
                    <a:pt x="90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2855"/>
            <p:cNvSpPr>
              <a:spLocks/>
            </p:cNvSpPr>
            <p:nvPr/>
          </p:nvSpPr>
          <p:spPr bwMode="auto">
            <a:xfrm>
              <a:off x="5270085" y="2770380"/>
              <a:ext cx="373063" cy="1651000"/>
            </a:xfrm>
            <a:custGeom>
              <a:avLst/>
              <a:gdLst>
                <a:gd name="T0" fmla="*/ 0 w 235"/>
                <a:gd name="T1" fmla="*/ 0 h 1040"/>
                <a:gd name="T2" fmla="*/ 24 w 235"/>
                <a:gd name="T3" fmla="*/ 179 h 1040"/>
                <a:gd name="T4" fmla="*/ 93 w 235"/>
                <a:gd name="T5" fmla="*/ 442 h 1040"/>
                <a:gd name="T6" fmla="*/ 184 w 235"/>
                <a:gd name="T7" fmla="*/ 723 h 1040"/>
                <a:gd name="T8" fmla="*/ 235 w 235"/>
                <a:gd name="T9" fmla="*/ 1040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040">
                  <a:moveTo>
                    <a:pt x="0" y="0"/>
                  </a:moveTo>
                  <a:cubicBezTo>
                    <a:pt x="4" y="30"/>
                    <a:pt x="8" y="105"/>
                    <a:pt x="24" y="179"/>
                  </a:cubicBezTo>
                  <a:cubicBezTo>
                    <a:pt x="40" y="253"/>
                    <a:pt x="66" y="351"/>
                    <a:pt x="93" y="442"/>
                  </a:cubicBezTo>
                  <a:cubicBezTo>
                    <a:pt x="120" y="533"/>
                    <a:pt x="160" y="623"/>
                    <a:pt x="184" y="723"/>
                  </a:cubicBezTo>
                  <a:cubicBezTo>
                    <a:pt x="208" y="823"/>
                    <a:pt x="221" y="931"/>
                    <a:pt x="235" y="104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2856"/>
            <p:cNvSpPr>
              <a:spLocks/>
            </p:cNvSpPr>
            <p:nvPr/>
          </p:nvSpPr>
          <p:spPr bwMode="auto">
            <a:xfrm>
              <a:off x="5552660" y="2767205"/>
              <a:ext cx="688975" cy="1660525"/>
            </a:xfrm>
            <a:custGeom>
              <a:avLst/>
              <a:gdLst>
                <a:gd name="T0" fmla="*/ 0 w 434"/>
                <a:gd name="T1" fmla="*/ 0 h 1046"/>
                <a:gd name="T2" fmla="*/ 33 w 434"/>
                <a:gd name="T3" fmla="*/ 105 h 1046"/>
                <a:gd name="T4" fmla="*/ 75 w 434"/>
                <a:gd name="T5" fmla="*/ 192 h 1046"/>
                <a:gd name="T6" fmla="*/ 187 w 434"/>
                <a:gd name="T7" fmla="*/ 360 h 1046"/>
                <a:gd name="T8" fmla="*/ 322 w 434"/>
                <a:gd name="T9" fmla="*/ 576 h 1046"/>
                <a:gd name="T10" fmla="*/ 406 w 434"/>
                <a:gd name="T11" fmla="*/ 836 h 1046"/>
                <a:gd name="T12" fmla="*/ 434 w 434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4" h="1046">
                  <a:moveTo>
                    <a:pt x="0" y="0"/>
                  </a:moveTo>
                  <a:cubicBezTo>
                    <a:pt x="5" y="17"/>
                    <a:pt x="21" y="73"/>
                    <a:pt x="33" y="105"/>
                  </a:cubicBezTo>
                  <a:cubicBezTo>
                    <a:pt x="45" y="137"/>
                    <a:pt x="49" y="149"/>
                    <a:pt x="75" y="192"/>
                  </a:cubicBezTo>
                  <a:cubicBezTo>
                    <a:pt x="101" y="235"/>
                    <a:pt x="146" y="296"/>
                    <a:pt x="187" y="360"/>
                  </a:cubicBezTo>
                  <a:cubicBezTo>
                    <a:pt x="228" y="424"/>
                    <a:pt x="286" y="497"/>
                    <a:pt x="322" y="576"/>
                  </a:cubicBezTo>
                  <a:cubicBezTo>
                    <a:pt x="358" y="655"/>
                    <a:pt x="388" y="758"/>
                    <a:pt x="406" y="836"/>
                  </a:cubicBezTo>
                  <a:cubicBezTo>
                    <a:pt x="425" y="914"/>
                    <a:pt x="428" y="1002"/>
                    <a:pt x="434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2857"/>
            <p:cNvSpPr>
              <a:spLocks/>
            </p:cNvSpPr>
            <p:nvPr/>
          </p:nvSpPr>
          <p:spPr bwMode="auto">
            <a:xfrm>
              <a:off x="5684423" y="2737042"/>
              <a:ext cx="1363662" cy="1695450"/>
            </a:xfrm>
            <a:custGeom>
              <a:avLst/>
              <a:gdLst>
                <a:gd name="T0" fmla="*/ 0 w 859"/>
                <a:gd name="T1" fmla="*/ 1 h 1068"/>
                <a:gd name="T2" fmla="*/ 82 w 859"/>
                <a:gd name="T3" fmla="*/ 20 h 1068"/>
                <a:gd name="T4" fmla="*/ 280 w 859"/>
                <a:gd name="T5" fmla="*/ 121 h 1068"/>
                <a:gd name="T6" fmla="*/ 507 w 859"/>
                <a:gd name="T7" fmla="*/ 310 h 1068"/>
                <a:gd name="T8" fmla="*/ 693 w 859"/>
                <a:gd name="T9" fmla="*/ 550 h 1068"/>
                <a:gd name="T10" fmla="*/ 818 w 859"/>
                <a:gd name="T11" fmla="*/ 796 h 1068"/>
                <a:gd name="T12" fmla="*/ 859 w 859"/>
                <a:gd name="T13" fmla="*/ 1068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9" h="1068">
                  <a:moveTo>
                    <a:pt x="0" y="1"/>
                  </a:moveTo>
                  <a:cubicBezTo>
                    <a:pt x="14" y="5"/>
                    <a:pt x="35" y="0"/>
                    <a:pt x="82" y="20"/>
                  </a:cubicBezTo>
                  <a:cubicBezTo>
                    <a:pt x="129" y="40"/>
                    <a:pt x="209" y="73"/>
                    <a:pt x="280" y="121"/>
                  </a:cubicBezTo>
                  <a:cubicBezTo>
                    <a:pt x="351" y="169"/>
                    <a:pt x="438" y="239"/>
                    <a:pt x="507" y="310"/>
                  </a:cubicBezTo>
                  <a:cubicBezTo>
                    <a:pt x="576" y="381"/>
                    <a:pt x="641" y="469"/>
                    <a:pt x="693" y="550"/>
                  </a:cubicBezTo>
                  <a:cubicBezTo>
                    <a:pt x="745" y="631"/>
                    <a:pt x="790" y="710"/>
                    <a:pt x="818" y="796"/>
                  </a:cubicBezTo>
                  <a:cubicBezTo>
                    <a:pt x="846" y="882"/>
                    <a:pt x="852" y="975"/>
                    <a:pt x="859" y="106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2858"/>
            <p:cNvSpPr>
              <a:spLocks noChangeShapeType="1"/>
            </p:cNvSpPr>
            <p:nvPr/>
          </p:nvSpPr>
          <p:spPr bwMode="auto">
            <a:xfrm>
              <a:off x="5595523" y="182105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Text Box 2862"/>
            <p:cNvSpPr txBox="1">
              <a:spLocks noChangeArrowheads="1"/>
            </p:cNvSpPr>
            <p:nvPr/>
          </p:nvSpPr>
          <p:spPr bwMode="auto">
            <a:xfrm>
              <a:off x="3385723" y="2367155"/>
              <a:ext cx="32092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57" name="Text Box 2863"/>
            <p:cNvSpPr txBox="1">
              <a:spLocks noChangeArrowheads="1"/>
            </p:cNvSpPr>
            <p:nvPr/>
          </p:nvSpPr>
          <p:spPr bwMode="auto">
            <a:xfrm>
              <a:off x="3266660" y="2692592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58" name="Text Box 2864"/>
            <p:cNvSpPr txBox="1">
              <a:spLocks noChangeArrowheads="1"/>
            </p:cNvSpPr>
            <p:nvPr/>
          </p:nvSpPr>
          <p:spPr bwMode="auto">
            <a:xfrm>
              <a:off x="5546310" y="2686242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59" name="Text Box 2865"/>
            <p:cNvSpPr txBox="1">
              <a:spLocks noChangeArrowheads="1"/>
            </p:cNvSpPr>
            <p:nvPr/>
          </p:nvSpPr>
          <p:spPr bwMode="auto">
            <a:xfrm>
              <a:off x="5401848" y="2368742"/>
              <a:ext cx="32092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60" name="Line 2867"/>
            <p:cNvSpPr>
              <a:spLocks noChangeShapeType="1"/>
            </p:cNvSpPr>
            <p:nvPr/>
          </p:nvSpPr>
          <p:spPr bwMode="auto">
            <a:xfrm>
              <a:off x="6138448" y="1814705"/>
              <a:ext cx="0" cy="641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2868"/>
            <p:cNvSpPr>
              <a:spLocks noChangeShapeType="1"/>
            </p:cNvSpPr>
            <p:nvPr/>
          </p:nvSpPr>
          <p:spPr bwMode="auto">
            <a:xfrm>
              <a:off x="6944898" y="222745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Text Box 2869"/>
            <p:cNvSpPr txBox="1">
              <a:spLocks noChangeArrowheads="1"/>
            </p:cNvSpPr>
            <p:nvPr/>
          </p:nvSpPr>
          <p:spPr bwMode="auto">
            <a:xfrm>
              <a:off x="6127335" y="1875030"/>
              <a:ext cx="7747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>
                  <a:latin typeface="Times New Roman" pitchFamily="18" charset="0"/>
                </a:rPr>
                <a:t>H</a:t>
              </a:r>
              <a:r>
                <a:rPr lang="en-US" altLang="zh-CN" sz="1600" b="1" dirty="0">
                  <a:latin typeface="Times New Roman" pitchFamily="18" charset="0"/>
                </a:rPr>
                <a:t>=5m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sp>
          <p:nvSpPr>
            <p:cNvPr id="163" name="Text Box 2870"/>
            <p:cNvSpPr txBox="1">
              <a:spLocks noChangeArrowheads="1"/>
            </p:cNvSpPr>
            <p:nvPr/>
          </p:nvSpPr>
          <p:spPr bwMode="auto">
            <a:xfrm>
              <a:off x="6941723" y="2109980"/>
              <a:ext cx="37465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1600" b="1">
                  <a:latin typeface="Times New Roman" pitchFamily="18" charset="0"/>
                </a:rPr>
                <a:t>m</a:t>
              </a:r>
              <a:endParaRPr lang="el-GR" altLang="zh-CN" sz="1600" b="1">
                <a:latin typeface="Times New Roman" pitchFamily="18" charset="0"/>
              </a:endParaRPr>
            </a:p>
          </p:txBody>
        </p:sp>
        <p:sp>
          <p:nvSpPr>
            <p:cNvPr id="164" name="Text Box 2874"/>
            <p:cNvSpPr txBox="1">
              <a:spLocks noChangeArrowheads="1"/>
            </p:cNvSpPr>
            <p:nvPr/>
          </p:nvSpPr>
          <p:spPr bwMode="auto">
            <a:xfrm>
              <a:off x="7928447" y="2219157"/>
              <a:ext cx="3097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65" name="AutoShape 2875"/>
            <p:cNvSpPr>
              <a:spLocks noChangeArrowheads="1"/>
            </p:cNvSpPr>
            <p:nvPr/>
          </p:nvSpPr>
          <p:spPr bwMode="auto">
            <a:xfrm flipV="1">
              <a:off x="6584535" y="234493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" name="Line 2876"/>
            <p:cNvSpPr>
              <a:spLocks noChangeShapeType="1"/>
            </p:cNvSpPr>
            <p:nvPr/>
          </p:nvSpPr>
          <p:spPr bwMode="auto">
            <a:xfrm>
              <a:off x="6521035" y="249891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2877"/>
            <p:cNvSpPr>
              <a:spLocks noChangeShapeType="1"/>
            </p:cNvSpPr>
            <p:nvPr/>
          </p:nvSpPr>
          <p:spPr bwMode="auto">
            <a:xfrm>
              <a:off x="6682960" y="249891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2878"/>
            <p:cNvSpPr>
              <a:spLocks noChangeShapeType="1"/>
            </p:cNvSpPr>
            <p:nvPr/>
          </p:nvSpPr>
          <p:spPr bwMode="auto">
            <a:xfrm>
              <a:off x="6592473" y="2533842"/>
              <a:ext cx="1698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Text Box 2879"/>
            <p:cNvSpPr txBox="1">
              <a:spLocks noChangeArrowheads="1"/>
            </p:cNvSpPr>
            <p:nvPr/>
          </p:nvSpPr>
          <p:spPr bwMode="auto">
            <a:xfrm>
              <a:off x="1031460" y="4102292"/>
              <a:ext cx="344966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70" name="Text Box 2880"/>
            <p:cNvSpPr txBox="1">
              <a:spLocks noChangeArrowheads="1"/>
            </p:cNvSpPr>
            <p:nvPr/>
          </p:nvSpPr>
          <p:spPr bwMode="auto">
            <a:xfrm>
              <a:off x="7652923" y="410229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171" name="Text Box 2881"/>
            <p:cNvSpPr txBox="1">
              <a:spLocks noChangeArrowheads="1"/>
            </p:cNvSpPr>
            <p:nvPr/>
          </p:nvSpPr>
          <p:spPr bwMode="auto">
            <a:xfrm>
              <a:off x="8071527" y="4311842"/>
              <a:ext cx="10259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03" name="Line 2882"/>
            <p:cNvSpPr>
              <a:spLocks noChangeShapeType="1"/>
            </p:cNvSpPr>
            <p:nvPr/>
          </p:nvSpPr>
          <p:spPr bwMode="auto">
            <a:xfrm flipV="1">
              <a:off x="6954423" y="2575117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Text Box 2883"/>
            <p:cNvSpPr txBox="1">
              <a:spLocks noChangeArrowheads="1"/>
            </p:cNvSpPr>
            <p:nvPr/>
          </p:nvSpPr>
          <p:spPr bwMode="auto">
            <a:xfrm>
              <a:off x="5162135" y="4696650"/>
              <a:ext cx="101181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 sz="1600" b="1" dirty="0">
                  <a:latin typeface="Times New Roman" pitchFamily="18" charset="0"/>
                </a:rPr>
                <a:t>不透水层</a:t>
              </a:r>
            </a:p>
          </p:txBody>
        </p:sp>
        <p:sp>
          <p:nvSpPr>
            <p:cNvPr id="205" name="Text Box 2884"/>
            <p:cNvSpPr txBox="1">
              <a:spLocks noChangeArrowheads="1"/>
            </p:cNvSpPr>
            <p:nvPr/>
          </p:nvSpPr>
          <p:spPr bwMode="auto">
            <a:xfrm>
              <a:off x="3123785" y="228778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</a:t>
              </a:r>
            </a:p>
          </p:txBody>
        </p:sp>
        <p:sp>
          <p:nvSpPr>
            <p:cNvPr id="215" name="Text Box 2885"/>
            <p:cNvSpPr txBox="1">
              <a:spLocks noChangeArrowheads="1"/>
            </p:cNvSpPr>
            <p:nvPr/>
          </p:nvSpPr>
          <p:spPr bwMode="auto">
            <a:xfrm>
              <a:off x="2899948" y="2289367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</a:t>
              </a:r>
            </a:p>
          </p:txBody>
        </p:sp>
        <p:sp>
          <p:nvSpPr>
            <p:cNvPr id="216" name="Text Box 2886"/>
            <p:cNvSpPr txBox="1">
              <a:spLocks noChangeArrowheads="1"/>
            </p:cNvSpPr>
            <p:nvPr/>
          </p:nvSpPr>
          <p:spPr bwMode="auto">
            <a:xfrm>
              <a:off x="1309273" y="226873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</a:t>
              </a:r>
            </a:p>
          </p:txBody>
        </p:sp>
        <p:sp>
          <p:nvSpPr>
            <p:cNvPr id="245" name="Text Box 2887"/>
            <p:cNvSpPr txBox="1">
              <a:spLocks noChangeArrowheads="1"/>
            </p:cNvSpPr>
            <p:nvPr/>
          </p:nvSpPr>
          <p:spPr bwMode="auto">
            <a:xfrm>
              <a:off x="2396710" y="2279842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</a:t>
              </a:r>
            </a:p>
          </p:txBody>
        </p:sp>
        <p:sp>
          <p:nvSpPr>
            <p:cNvPr id="246" name="Text Box 2888"/>
            <p:cNvSpPr txBox="1">
              <a:spLocks noChangeArrowheads="1"/>
            </p:cNvSpPr>
            <p:nvPr/>
          </p:nvSpPr>
          <p:spPr bwMode="auto">
            <a:xfrm>
              <a:off x="707610" y="238779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47" name="Text Box 2889"/>
            <p:cNvSpPr txBox="1">
              <a:spLocks noChangeArrowheads="1"/>
            </p:cNvSpPr>
            <p:nvPr/>
          </p:nvSpPr>
          <p:spPr bwMode="auto">
            <a:xfrm>
              <a:off x="1431510" y="416103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</a:t>
              </a:r>
            </a:p>
          </p:txBody>
        </p:sp>
        <p:sp>
          <p:nvSpPr>
            <p:cNvPr id="248" name="Text Box 2890"/>
            <p:cNvSpPr txBox="1">
              <a:spLocks noChangeArrowheads="1"/>
            </p:cNvSpPr>
            <p:nvPr/>
          </p:nvSpPr>
          <p:spPr bwMode="auto">
            <a:xfrm>
              <a:off x="1858548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49" name="Text Box 2891"/>
            <p:cNvSpPr txBox="1">
              <a:spLocks noChangeArrowheads="1"/>
            </p:cNvSpPr>
            <p:nvPr/>
          </p:nvSpPr>
          <p:spPr bwMode="auto">
            <a:xfrm>
              <a:off x="2841210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50" name="Text Box 2892"/>
            <p:cNvSpPr txBox="1">
              <a:spLocks noChangeArrowheads="1"/>
            </p:cNvSpPr>
            <p:nvPr/>
          </p:nvSpPr>
          <p:spPr bwMode="auto">
            <a:xfrm>
              <a:off x="3412710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51" name="Text Box 2893"/>
            <p:cNvSpPr txBox="1">
              <a:spLocks noChangeArrowheads="1"/>
            </p:cNvSpPr>
            <p:nvPr/>
          </p:nvSpPr>
          <p:spPr bwMode="auto">
            <a:xfrm>
              <a:off x="393023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78" name="Text Box 2894"/>
            <p:cNvSpPr txBox="1">
              <a:spLocks noChangeArrowheads="1"/>
            </p:cNvSpPr>
            <p:nvPr/>
          </p:nvSpPr>
          <p:spPr bwMode="auto">
            <a:xfrm>
              <a:off x="446363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79" name="Text Box 2895"/>
            <p:cNvSpPr txBox="1">
              <a:spLocks noChangeArrowheads="1"/>
            </p:cNvSpPr>
            <p:nvPr/>
          </p:nvSpPr>
          <p:spPr bwMode="auto">
            <a:xfrm>
              <a:off x="4928773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80" name="Text Box 2896"/>
            <p:cNvSpPr txBox="1">
              <a:spLocks noChangeArrowheads="1"/>
            </p:cNvSpPr>
            <p:nvPr/>
          </p:nvSpPr>
          <p:spPr bwMode="auto">
            <a:xfrm>
              <a:off x="5455823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81" name="Text Box 2897"/>
            <p:cNvSpPr txBox="1">
              <a:spLocks noChangeArrowheads="1"/>
            </p:cNvSpPr>
            <p:nvPr/>
          </p:nvSpPr>
          <p:spPr bwMode="auto">
            <a:xfrm>
              <a:off x="605748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82" name="Text Box 2898"/>
            <p:cNvSpPr txBox="1">
              <a:spLocks noChangeArrowheads="1"/>
            </p:cNvSpPr>
            <p:nvPr/>
          </p:nvSpPr>
          <p:spPr bwMode="auto">
            <a:xfrm>
              <a:off x="6857585" y="4451542"/>
              <a:ext cx="38985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283" name="Text Box 2899"/>
            <p:cNvSpPr txBox="1">
              <a:spLocks noChangeArrowheads="1"/>
            </p:cNvSpPr>
            <p:nvPr/>
          </p:nvSpPr>
          <p:spPr bwMode="auto">
            <a:xfrm>
              <a:off x="7918035" y="2402080"/>
              <a:ext cx="37850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84" name="Text Box 2900"/>
            <p:cNvSpPr txBox="1">
              <a:spLocks noChangeArrowheads="1"/>
            </p:cNvSpPr>
            <p:nvPr/>
          </p:nvSpPr>
          <p:spPr bwMode="auto">
            <a:xfrm>
              <a:off x="7373523" y="3246630"/>
              <a:ext cx="654346" cy="7325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i="1" dirty="0">
                  <a:latin typeface="Times New Roman" pitchFamily="18" charset="0"/>
                </a:rPr>
                <a:t>N</a:t>
              </a:r>
              <a:r>
                <a:rPr lang="en-US" altLang="zh-CN" sz="1600" b="1" dirty="0">
                  <a:latin typeface="Times New Roman" pitchFamily="18" charset="0"/>
                </a:rPr>
                <a:t>=10</a:t>
              </a:r>
            </a:p>
            <a:p>
              <a:r>
                <a:rPr lang="en-US" altLang="zh-CN" sz="1600" b="1" i="1" dirty="0">
                  <a:latin typeface="Times New Roman" pitchFamily="18" charset="0"/>
                </a:rPr>
                <a:t>M</a:t>
              </a:r>
              <a:r>
                <a:rPr lang="en-US" altLang="zh-CN" sz="1600" b="1" dirty="0">
                  <a:latin typeface="Times New Roman" pitchFamily="18" charset="0"/>
                </a:rPr>
                <a:t>=4</a:t>
              </a:r>
            </a:p>
          </p:txBody>
        </p:sp>
        <p:grpSp>
          <p:nvGrpSpPr>
            <p:cNvPr id="285" name="Group 2909"/>
            <p:cNvGrpSpPr>
              <a:grpSpLocks/>
            </p:cNvGrpSpPr>
            <p:nvPr/>
          </p:nvGrpSpPr>
          <p:grpSpPr bwMode="auto">
            <a:xfrm>
              <a:off x="7211598" y="4430905"/>
              <a:ext cx="625475" cy="133350"/>
              <a:chOff x="2644" y="2807"/>
              <a:chExt cx="481" cy="83"/>
            </a:xfrm>
          </p:grpSpPr>
          <p:sp>
            <p:nvSpPr>
              <p:cNvPr id="307" name="Freeform 2910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8" name="Freeform 2911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9" name="Freeform 2912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0" name="Freeform 2913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1" name="Freeform 2914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2" name="Freeform 2915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3" name="Freeform 2916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4" name="Freeform 2917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5" name="Freeform 2918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2919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2920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8" name="Freeform 2921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86" name="Group 2922"/>
            <p:cNvGrpSpPr>
              <a:grpSpLocks/>
            </p:cNvGrpSpPr>
            <p:nvPr/>
          </p:nvGrpSpPr>
          <p:grpSpPr bwMode="auto">
            <a:xfrm>
              <a:off x="2137948" y="4430905"/>
              <a:ext cx="625475" cy="133350"/>
              <a:chOff x="2644" y="2807"/>
              <a:chExt cx="481" cy="83"/>
            </a:xfrm>
          </p:grpSpPr>
          <p:sp>
            <p:nvSpPr>
              <p:cNvPr id="295" name="Freeform 2923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6" name="Freeform 2924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" name="Freeform 2925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8" name="Freeform 2926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9" name="Freeform 2927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0" name="Freeform 2928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1" name="Freeform 2929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2" name="Freeform 2930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3" name="Freeform 2931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4" name="Freeform 2932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5" name="Freeform 2933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6" name="Freeform 2934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7" name="Text Box 2861"/>
            <p:cNvSpPr txBox="1">
              <a:spLocks noChangeArrowheads="1"/>
            </p:cNvSpPr>
            <p:nvPr/>
          </p:nvSpPr>
          <p:spPr bwMode="auto">
            <a:xfrm>
              <a:off x="838293" y="2243330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88" name="Line 2866"/>
            <p:cNvSpPr>
              <a:spLocks noChangeShapeType="1"/>
            </p:cNvSpPr>
            <p:nvPr/>
          </p:nvSpPr>
          <p:spPr bwMode="auto">
            <a:xfrm>
              <a:off x="447840" y="1857567"/>
              <a:ext cx="0" cy="715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Text Box 2873"/>
            <p:cNvSpPr txBox="1">
              <a:spLocks noChangeArrowheads="1"/>
            </p:cNvSpPr>
            <p:nvPr/>
          </p:nvSpPr>
          <p:spPr bwMode="auto">
            <a:xfrm>
              <a:off x="435194" y="1989330"/>
              <a:ext cx="4699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cxnSp>
          <p:nvCxnSpPr>
            <p:cNvPr id="290" name="直接连接符 289"/>
            <p:cNvCxnSpPr/>
            <p:nvPr/>
          </p:nvCxnSpPr>
          <p:spPr bwMode="auto">
            <a:xfrm>
              <a:off x="312026" y="1849725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1" name="直接连接符 290"/>
            <p:cNvCxnSpPr/>
            <p:nvPr/>
          </p:nvCxnSpPr>
          <p:spPr bwMode="auto">
            <a:xfrm>
              <a:off x="313351" y="2574619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/>
            <p:cNvCxnSpPr/>
            <p:nvPr/>
          </p:nvCxnSpPr>
          <p:spPr bwMode="auto">
            <a:xfrm>
              <a:off x="328613" y="4420016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3" name="Line 2866"/>
            <p:cNvSpPr>
              <a:spLocks noChangeShapeType="1"/>
            </p:cNvSpPr>
            <p:nvPr/>
          </p:nvSpPr>
          <p:spPr bwMode="auto">
            <a:xfrm>
              <a:off x="455385" y="2580335"/>
              <a:ext cx="0" cy="18341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Text Box 2873"/>
            <p:cNvSpPr txBox="1">
              <a:spLocks noChangeArrowheads="1"/>
            </p:cNvSpPr>
            <p:nvPr/>
          </p:nvSpPr>
          <p:spPr bwMode="auto">
            <a:xfrm>
              <a:off x="474663" y="3303780"/>
              <a:ext cx="4699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latin typeface="Times New Roman" pitchFamily="18" charset="0"/>
                </a:rPr>
                <a:t>16m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</p:grpSp>
      <p:sp>
        <p:nvSpPr>
          <p:cNvPr id="6" name="任意多边形 5"/>
          <p:cNvSpPr/>
          <p:nvPr/>
        </p:nvSpPr>
        <p:spPr bwMode="auto">
          <a:xfrm>
            <a:off x="3597923" y="3497821"/>
            <a:ext cx="562116" cy="454312"/>
          </a:xfrm>
          <a:custGeom>
            <a:avLst/>
            <a:gdLst>
              <a:gd name="connsiteX0" fmla="*/ 0 w 562116"/>
              <a:gd name="connsiteY0" fmla="*/ 431211 h 454312"/>
              <a:gd name="connsiteX1" fmla="*/ 517840 w 562116"/>
              <a:gd name="connsiteY1" fmla="*/ 454312 h 454312"/>
              <a:gd name="connsiteX2" fmla="*/ 562116 w 562116"/>
              <a:gd name="connsiteY2" fmla="*/ 44276 h 454312"/>
              <a:gd name="connsiteX3" fmla="*/ 309934 w 562116"/>
              <a:gd name="connsiteY3" fmla="*/ 25025 h 454312"/>
              <a:gd name="connsiteX4" fmla="*/ 115504 w 562116"/>
              <a:gd name="connsiteY4" fmla="*/ 0 h 454312"/>
              <a:gd name="connsiteX5" fmla="*/ 0 w 562116"/>
              <a:gd name="connsiteY5" fmla="*/ 431211 h 45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2116" h="454312">
                <a:moveTo>
                  <a:pt x="0" y="431211"/>
                </a:moveTo>
                <a:lnTo>
                  <a:pt x="517840" y="454312"/>
                </a:lnTo>
                <a:lnTo>
                  <a:pt x="562116" y="44276"/>
                </a:lnTo>
                <a:lnTo>
                  <a:pt x="309934" y="25025"/>
                </a:lnTo>
                <a:lnTo>
                  <a:pt x="115504" y="0"/>
                </a:lnTo>
                <a:lnTo>
                  <a:pt x="0" y="431211"/>
                </a:lnTo>
                <a:close/>
              </a:path>
            </a:pathLst>
          </a:cu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5676314" y="2499244"/>
            <a:ext cx="365760" cy="119575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3" name="Rectangle 2"/>
          <p:cNvSpPr>
            <a:spLocks noChangeArrowheads="1"/>
          </p:cNvSpPr>
          <p:nvPr/>
        </p:nvSpPr>
        <p:spPr bwMode="auto">
          <a:xfrm>
            <a:off x="3194050" y="5735638"/>
            <a:ext cx="27574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的应用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456700" y="625165"/>
            <a:ext cx="3251211" cy="5245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）确定水力坡降</a:t>
            </a:r>
          </a:p>
        </p:txBody>
      </p:sp>
      <p:grpSp>
        <p:nvGrpSpPr>
          <p:cNvPr id="128" name="组合 127"/>
          <p:cNvGrpSpPr/>
          <p:nvPr/>
        </p:nvGrpSpPr>
        <p:grpSpPr>
          <a:xfrm>
            <a:off x="3647029" y="3422385"/>
            <a:ext cx="505456" cy="588756"/>
            <a:chOff x="3647029" y="3422385"/>
            <a:chExt cx="505456" cy="588756"/>
          </a:xfrm>
        </p:grpSpPr>
        <p:sp>
          <p:nvSpPr>
            <p:cNvPr id="130" name="Text Box 2871"/>
            <p:cNvSpPr txBox="1">
              <a:spLocks noChangeArrowheads="1"/>
            </p:cNvSpPr>
            <p:nvPr/>
          </p:nvSpPr>
          <p:spPr bwMode="auto">
            <a:xfrm>
              <a:off x="3669860" y="3658352"/>
              <a:ext cx="423862" cy="352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i="1" dirty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l</a:t>
              </a:r>
              <a:endParaRPr lang="el-GR" altLang="zh-CN" sz="1600" i="1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134" name="Line 2860"/>
            <p:cNvSpPr>
              <a:spLocks noChangeShapeType="1"/>
            </p:cNvSpPr>
            <p:nvPr/>
          </p:nvSpPr>
          <p:spPr bwMode="auto">
            <a:xfrm>
              <a:off x="3647029" y="3706807"/>
              <a:ext cx="505456" cy="3968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Text Box 2869"/>
            <p:cNvSpPr txBox="1">
              <a:spLocks noChangeArrowheads="1"/>
            </p:cNvSpPr>
            <p:nvPr/>
          </p:nvSpPr>
          <p:spPr bwMode="auto">
            <a:xfrm>
              <a:off x="3743211" y="3422385"/>
              <a:ext cx="329295" cy="352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rgbClr val="C00000"/>
                  </a:solidFill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i="1" dirty="0" smtClean="0">
                  <a:solidFill>
                    <a:srgbClr val="C00000"/>
                  </a:solidFill>
                  <a:latin typeface="Times New Roman" pitchFamily="18" charset="0"/>
                </a:rPr>
                <a:t>h</a:t>
              </a:r>
              <a:endParaRPr lang="el-GR" altLang="zh-CN" sz="1600" dirty="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14" name="剪去单角的矩形 113"/>
          <p:cNvSpPr/>
          <p:nvPr/>
        </p:nvSpPr>
        <p:spPr bwMode="auto">
          <a:xfrm>
            <a:off x="5661327" y="3745064"/>
            <a:ext cx="3188473" cy="1510748"/>
          </a:xfrm>
          <a:prstGeom prst="snip1Rect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88900" dist="50800" dir="4800000" sx="102000" sy="102000" algn="ctr" rotWithShape="0">
              <a:srgbClr val="000000">
                <a:alpha val="97000"/>
              </a:srgbClr>
            </a:outerShdw>
          </a:effectLst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6136024" y="3836222"/>
            <a:ext cx="1606850" cy="4792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563" indent="-182563"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水力坡降</a:t>
            </a:r>
            <a:endParaRPr lang="en-US" altLang="zh-CN" sz="2400" b="1" dirty="0">
              <a:solidFill>
                <a:srgbClr val="C0000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1" name="对象 1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13341"/>
              </p:ext>
            </p:extLst>
          </p:nvPr>
        </p:nvGraphicFramePr>
        <p:xfrm>
          <a:off x="6525191" y="4319532"/>
          <a:ext cx="93345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3" name="公式" r:id="rId4" imgW="457200" imgH="406080" progId="Equation.3">
                  <p:embed/>
                </p:oleObj>
              </mc:Choice>
              <mc:Fallback>
                <p:oleObj name="公式" r:id="rId4" imgW="457200" imgH="4060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25191" y="4319532"/>
                        <a:ext cx="933450" cy="871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864725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14" grpId="0" animBg="1"/>
      <p:bldP spid="11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组合 140"/>
          <p:cNvGrpSpPr/>
          <p:nvPr/>
        </p:nvGrpSpPr>
        <p:grpSpPr>
          <a:xfrm>
            <a:off x="312026" y="1459105"/>
            <a:ext cx="7984511" cy="3648070"/>
            <a:chOff x="312026" y="1459105"/>
            <a:chExt cx="7984511" cy="3648070"/>
          </a:xfrm>
        </p:grpSpPr>
        <p:sp>
          <p:nvSpPr>
            <p:cNvPr id="142" name="矩形 141"/>
            <p:cNvSpPr/>
            <p:nvPr/>
          </p:nvSpPr>
          <p:spPr bwMode="auto">
            <a:xfrm>
              <a:off x="5685576" y="2463432"/>
              <a:ext cx="2288437" cy="104115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3" name="矩形 142"/>
            <p:cNvSpPr/>
            <p:nvPr/>
          </p:nvSpPr>
          <p:spPr bwMode="auto">
            <a:xfrm>
              <a:off x="1066800" y="1852323"/>
              <a:ext cx="2338565" cy="710697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4" name="任意多边形 143"/>
            <p:cNvSpPr/>
            <p:nvPr/>
          </p:nvSpPr>
          <p:spPr bwMode="auto">
            <a:xfrm>
              <a:off x="1048043" y="2571974"/>
              <a:ext cx="6921305" cy="1856935"/>
            </a:xfrm>
            <a:custGeom>
              <a:avLst/>
              <a:gdLst>
                <a:gd name="connsiteX0" fmla="*/ 28135 w 6921305"/>
                <a:gd name="connsiteY0" fmla="*/ 21101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21101 h 1856935"/>
                <a:gd name="connsiteX0" fmla="*/ 28135 w 6921305"/>
                <a:gd name="connsiteY0" fmla="*/ 4415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28135 w 6921305"/>
                <a:gd name="connsiteY0" fmla="*/ 4415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14786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14786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8112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70499 w 6921305"/>
                <a:gd name="connsiteY2" fmla="*/ 179759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70499 w 6921305"/>
                <a:gd name="connsiteY2" fmla="*/ 179759 h 1856935"/>
                <a:gd name="connsiteX3" fmla="*/ 4616160 w 6921305"/>
                <a:gd name="connsiteY3" fmla="*/ 17673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21305" h="1856935">
                  <a:moveTo>
                    <a:pt x="8112" y="11089"/>
                  </a:moveTo>
                  <a:lnTo>
                    <a:pt x="2352642" y="1078"/>
                  </a:lnTo>
                  <a:cubicBezTo>
                    <a:pt x="2351530" y="68712"/>
                    <a:pt x="2371611" y="112125"/>
                    <a:pt x="2370499" y="179759"/>
                  </a:cubicBezTo>
                  <a:lnTo>
                    <a:pt x="4616160" y="176731"/>
                  </a:lnTo>
                  <a:lnTo>
                    <a:pt x="4628271" y="0"/>
                  </a:lnTo>
                  <a:lnTo>
                    <a:pt x="6921305" y="0"/>
                  </a:lnTo>
                  <a:lnTo>
                    <a:pt x="6921305" y="1856935"/>
                  </a:lnTo>
                  <a:lnTo>
                    <a:pt x="0" y="1856935"/>
                  </a:lnTo>
                  <a:lnTo>
                    <a:pt x="8112" y="11089"/>
                  </a:lnTo>
                  <a:close/>
                </a:path>
              </a:pathLst>
            </a:custGeom>
            <a:solidFill>
              <a:srgbClr val="CCEC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5" name="矩形 144"/>
            <p:cNvSpPr/>
            <p:nvPr/>
          </p:nvSpPr>
          <p:spPr bwMode="auto">
            <a:xfrm>
              <a:off x="1041009" y="4437575"/>
              <a:ext cx="6935094" cy="669600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6" name="AutoShape 2834"/>
            <p:cNvSpPr>
              <a:spLocks noChangeArrowheads="1"/>
            </p:cNvSpPr>
            <p:nvPr/>
          </p:nvSpPr>
          <p:spPr bwMode="auto">
            <a:xfrm flipV="1">
              <a:off x="1483898" y="172898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2835"/>
            <p:cNvSpPr>
              <a:spLocks noChangeShapeType="1"/>
            </p:cNvSpPr>
            <p:nvPr/>
          </p:nvSpPr>
          <p:spPr bwMode="auto">
            <a:xfrm>
              <a:off x="1410873" y="190678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2836"/>
            <p:cNvSpPr>
              <a:spLocks noChangeShapeType="1"/>
            </p:cNvSpPr>
            <p:nvPr/>
          </p:nvSpPr>
          <p:spPr bwMode="auto">
            <a:xfrm>
              <a:off x="1582323" y="190678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2837"/>
            <p:cNvSpPr>
              <a:spLocks noChangeShapeType="1"/>
            </p:cNvSpPr>
            <p:nvPr/>
          </p:nvSpPr>
          <p:spPr bwMode="auto">
            <a:xfrm>
              <a:off x="1491835" y="1951230"/>
              <a:ext cx="1698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2838"/>
            <p:cNvSpPr>
              <a:spLocks noChangeShapeType="1"/>
            </p:cNvSpPr>
            <p:nvPr/>
          </p:nvSpPr>
          <p:spPr bwMode="auto">
            <a:xfrm>
              <a:off x="1545810" y="1995680"/>
              <a:ext cx="7143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Text Box 2839"/>
            <p:cNvSpPr txBox="1">
              <a:spLocks noChangeArrowheads="1"/>
            </p:cNvSpPr>
            <p:nvPr/>
          </p:nvSpPr>
          <p:spPr bwMode="auto">
            <a:xfrm>
              <a:off x="802364" y="4294380"/>
              <a:ext cx="10259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52" name="Freeform 2840"/>
            <p:cNvSpPr>
              <a:spLocks/>
            </p:cNvSpPr>
            <p:nvPr/>
          </p:nvSpPr>
          <p:spPr bwMode="auto">
            <a:xfrm>
              <a:off x="3406360" y="1459105"/>
              <a:ext cx="2278063" cy="1301750"/>
            </a:xfrm>
            <a:custGeom>
              <a:avLst/>
              <a:gdLst>
                <a:gd name="T0" fmla="*/ 0 w 1435"/>
                <a:gd name="T1" fmla="*/ 85 h 820"/>
                <a:gd name="T2" fmla="*/ 0 w 1435"/>
                <a:gd name="T3" fmla="*/ 820 h 820"/>
                <a:gd name="T4" fmla="*/ 1435 w 1435"/>
                <a:gd name="T5" fmla="*/ 820 h 820"/>
                <a:gd name="T6" fmla="*/ 1435 w 1435"/>
                <a:gd name="T7" fmla="*/ 479 h 820"/>
                <a:gd name="T8" fmla="*/ 1403 w 1435"/>
                <a:gd name="T9" fmla="*/ 478 h 820"/>
                <a:gd name="T10" fmla="*/ 1334 w 1435"/>
                <a:gd name="T11" fmla="*/ 473 h 820"/>
                <a:gd name="T12" fmla="*/ 1258 w 1435"/>
                <a:gd name="T13" fmla="*/ 462 h 820"/>
                <a:gd name="T14" fmla="*/ 1141 w 1435"/>
                <a:gd name="T15" fmla="*/ 430 h 820"/>
                <a:gd name="T16" fmla="*/ 1006 w 1435"/>
                <a:gd name="T17" fmla="*/ 388 h 820"/>
                <a:gd name="T18" fmla="*/ 806 w 1435"/>
                <a:gd name="T19" fmla="*/ 305 h 820"/>
                <a:gd name="T20" fmla="*/ 672 w 1435"/>
                <a:gd name="T21" fmla="*/ 234 h 820"/>
                <a:gd name="T22" fmla="*/ 520 w 1435"/>
                <a:gd name="T23" fmla="*/ 143 h 820"/>
                <a:gd name="T24" fmla="*/ 422 w 1435"/>
                <a:gd name="T25" fmla="*/ 85 h 820"/>
                <a:gd name="T26" fmla="*/ 355 w 1435"/>
                <a:gd name="T27" fmla="*/ 47 h 820"/>
                <a:gd name="T28" fmla="*/ 274 w 1435"/>
                <a:gd name="T29" fmla="*/ 15 h 820"/>
                <a:gd name="T30" fmla="*/ 205 w 1435"/>
                <a:gd name="T31" fmla="*/ 2 h 820"/>
                <a:gd name="T32" fmla="*/ 123 w 1435"/>
                <a:gd name="T33" fmla="*/ 4 h 820"/>
                <a:gd name="T34" fmla="*/ 62 w 1435"/>
                <a:gd name="T35" fmla="*/ 27 h 820"/>
                <a:gd name="T36" fmla="*/ 19 w 1435"/>
                <a:gd name="T37" fmla="*/ 60 h 820"/>
                <a:gd name="T38" fmla="*/ 0 w 1435"/>
                <a:gd name="T39" fmla="*/ 85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35" h="820">
                  <a:moveTo>
                    <a:pt x="0" y="85"/>
                  </a:moveTo>
                  <a:lnTo>
                    <a:pt x="0" y="820"/>
                  </a:lnTo>
                  <a:lnTo>
                    <a:pt x="1435" y="820"/>
                  </a:lnTo>
                  <a:lnTo>
                    <a:pt x="1435" y="479"/>
                  </a:lnTo>
                  <a:lnTo>
                    <a:pt x="1403" y="478"/>
                  </a:lnTo>
                  <a:cubicBezTo>
                    <a:pt x="1386" y="477"/>
                    <a:pt x="1358" y="476"/>
                    <a:pt x="1334" y="473"/>
                  </a:cubicBezTo>
                  <a:cubicBezTo>
                    <a:pt x="1310" y="470"/>
                    <a:pt x="1290" y="469"/>
                    <a:pt x="1258" y="462"/>
                  </a:cubicBezTo>
                  <a:cubicBezTo>
                    <a:pt x="1226" y="455"/>
                    <a:pt x="1183" y="442"/>
                    <a:pt x="1141" y="430"/>
                  </a:cubicBezTo>
                  <a:cubicBezTo>
                    <a:pt x="1099" y="418"/>
                    <a:pt x="1062" y="409"/>
                    <a:pt x="1006" y="388"/>
                  </a:cubicBezTo>
                  <a:cubicBezTo>
                    <a:pt x="950" y="367"/>
                    <a:pt x="862" y="331"/>
                    <a:pt x="806" y="305"/>
                  </a:cubicBezTo>
                  <a:cubicBezTo>
                    <a:pt x="750" y="279"/>
                    <a:pt x="720" y="261"/>
                    <a:pt x="672" y="234"/>
                  </a:cubicBezTo>
                  <a:cubicBezTo>
                    <a:pt x="624" y="207"/>
                    <a:pt x="562" y="167"/>
                    <a:pt x="520" y="143"/>
                  </a:cubicBezTo>
                  <a:cubicBezTo>
                    <a:pt x="478" y="119"/>
                    <a:pt x="449" y="101"/>
                    <a:pt x="422" y="85"/>
                  </a:cubicBezTo>
                  <a:cubicBezTo>
                    <a:pt x="395" y="70"/>
                    <a:pt x="380" y="59"/>
                    <a:pt x="355" y="47"/>
                  </a:cubicBezTo>
                  <a:cubicBezTo>
                    <a:pt x="330" y="35"/>
                    <a:pt x="299" y="23"/>
                    <a:pt x="274" y="15"/>
                  </a:cubicBezTo>
                  <a:cubicBezTo>
                    <a:pt x="249" y="8"/>
                    <a:pt x="230" y="4"/>
                    <a:pt x="205" y="2"/>
                  </a:cubicBezTo>
                  <a:cubicBezTo>
                    <a:pt x="180" y="0"/>
                    <a:pt x="147" y="0"/>
                    <a:pt x="123" y="4"/>
                  </a:cubicBezTo>
                  <a:cubicBezTo>
                    <a:pt x="99" y="8"/>
                    <a:pt x="79" y="18"/>
                    <a:pt x="62" y="27"/>
                  </a:cubicBezTo>
                  <a:cubicBezTo>
                    <a:pt x="45" y="36"/>
                    <a:pt x="29" y="50"/>
                    <a:pt x="19" y="60"/>
                  </a:cubicBezTo>
                  <a:cubicBezTo>
                    <a:pt x="9" y="70"/>
                    <a:pt x="4" y="81"/>
                    <a:pt x="0" y="85"/>
                  </a:cubicBezTo>
                  <a:close/>
                </a:path>
              </a:pathLst>
            </a:custGeom>
            <a:solidFill>
              <a:srgbClr val="FFC000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2841"/>
            <p:cNvSpPr>
              <a:spLocks noChangeShapeType="1"/>
            </p:cNvSpPr>
            <p:nvPr/>
          </p:nvSpPr>
          <p:spPr bwMode="auto">
            <a:xfrm>
              <a:off x="5687598" y="2564005"/>
              <a:ext cx="22864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2842"/>
            <p:cNvSpPr>
              <a:spLocks noChangeShapeType="1"/>
            </p:cNvSpPr>
            <p:nvPr/>
          </p:nvSpPr>
          <p:spPr bwMode="auto">
            <a:xfrm flipH="1">
              <a:off x="1058862" y="2568767"/>
              <a:ext cx="23427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2843"/>
            <p:cNvSpPr>
              <a:spLocks noChangeShapeType="1"/>
            </p:cNvSpPr>
            <p:nvPr/>
          </p:nvSpPr>
          <p:spPr bwMode="auto">
            <a:xfrm flipH="1">
              <a:off x="1065894" y="1852805"/>
              <a:ext cx="234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2844"/>
            <p:cNvSpPr>
              <a:spLocks noChangeShapeType="1"/>
            </p:cNvSpPr>
            <p:nvPr/>
          </p:nvSpPr>
          <p:spPr bwMode="auto">
            <a:xfrm>
              <a:off x="5687597" y="2462405"/>
              <a:ext cx="226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Freeform 2845"/>
            <p:cNvSpPr>
              <a:spLocks/>
            </p:cNvSpPr>
            <p:nvPr/>
          </p:nvSpPr>
          <p:spPr bwMode="auto">
            <a:xfrm>
              <a:off x="3117435" y="2570355"/>
              <a:ext cx="2844800" cy="557212"/>
            </a:xfrm>
            <a:custGeom>
              <a:avLst/>
              <a:gdLst>
                <a:gd name="T0" fmla="*/ 0 w 1792"/>
                <a:gd name="T1" fmla="*/ 1 h 351"/>
                <a:gd name="T2" fmla="*/ 24 w 1792"/>
                <a:gd name="T3" fmla="*/ 118 h 351"/>
                <a:gd name="T4" fmla="*/ 99 w 1792"/>
                <a:gd name="T5" fmla="*/ 225 h 351"/>
                <a:gd name="T6" fmla="*/ 255 w 1792"/>
                <a:gd name="T7" fmla="*/ 310 h 351"/>
                <a:gd name="T8" fmla="*/ 445 w 1792"/>
                <a:gd name="T9" fmla="*/ 341 h 351"/>
                <a:gd name="T10" fmla="*/ 643 w 1792"/>
                <a:gd name="T11" fmla="*/ 349 h 351"/>
                <a:gd name="T12" fmla="*/ 913 w 1792"/>
                <a:gd name="T13" fmla="*/ 349 h 351"/>
                <a:gd name="T14" fmla="*/ 1255 w 1792"/>
                <a:gd name="T15" fmla="*/ 336 h 351"/>
                <a:gd name="T16" fmla="*/ 1525 w 1792"/>
                <a:gd name="T17" fmla="*/ 305 h 351"/>
                <a:gd name="T18" fmla="*/ 1678 w 1792"/>
                <a:gd name="T19" fmla="*/ 234 h 351"/>
                <a:gd name="T20" fmla="*/ 1760 w 1792"/>
                <a:gd name="T21" fmla="*/ 133 h 351"/>
                <a:gd name="T22" fmla="*/ 1792 w 1792"/>
                <a:gd name="T2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92" h="351">
                  <a:moveTo>
                    <a:pt x="0" y="1"/>
                  </a:moveTo>
                  <a:cubicBezTo>
                    <a:pt x="4" y="20"/>
                    <a:pt x="8" y="81"/>
                    <a:pt x="24" y="118"/>
                  </a:cubicBezTo>
                  <a:cubicBezTo>
                    <a:pt x="40" y="155"/>
                    <a:pt x="60" y="193"/>
                    <a:pt x="99" y="225"/>
                  </a:cubicBezTo>
                  <a:cubicBezTo>
                    <a:pt x="138" y="257"/>
                    <a:pt x="197" y="291"/>
                    <a:pt x="255" y="310"/>
                  </a:cubicBezTo>
                  <a:cubicBezTo>
                    <a:pt x="312" y="330"/>
                    <a:pt x="380" y="335"/>
                    <a:pt x="445" y="341"/>
                  </a:cubicBezTo>
                  <a:cubicBezTo>
                    <a:pt x="509" y="347"/>
                    <a:pt x="565" y="348"/>
                    <a:pt x="643" y="349"/>
                  </a:cubicBezTo>
                  <a:cubicBezTo>
                    <a:pt x="721" y="350"/>
                    <a:pt x="811" y="351"/>
                    <a:pt x="913" y="349"/>
                  </a:cubicBezTo>
                  <a:cubicBezTo>
                    <a:pt x="1015" y="347"/>
                    <a:pt x="1153" y="343"/>
                    <a:pt x="1255" y="336"/>
                  </a:cubicBezTo>
                  <a:cubicBezTo>
                    <a:pt x="1357" y="328"/>
                    <a:pt x="1455" y="321"/>
                    <a:pt x="1525" y="305"/>
                  </a:cubicBezTo>
                  <a:cubicBezTo>
                    <a:pt x="1595" y="289"/>
                    <a:pt x="1638" y="263"/>
                    <a:pt x="1678" y="234"/>
                  </a:cubicBezTo>
                  <a:cubicBezTo>
                    <a:pt x="1717" y="206"/>
                    <a:pt x="1740" y="172"/>
                    <a:pt x="1760" y="133"/>
                  </a:cubicBezTo>
                  <a:cubicBezTo>
                    <a:pt x="1779" y="94"/>
                    <a:pt x="1785" y="28"/>
                    <a:pt x="179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Freeform 2846"/>
            <p:cNvSpPr>
              <a:spLocks/>
            </p:cNvSpPr>
            <p:nvPr/>
          </p:nvSpPr>
          <p:spPr bwMode="auto">
            <a:xfrm>
              <a:off x="2607848" y="2573530"/>
              <a:ext cx="3851275" cy="977900"/>
            </a:xfrm>
            <a:custGeom>
              <a:avLst/>
              <a:gdLst>
                <a:gd name="T0" fmla="*/ 0 w 2409"/>
                <a:gd name="T1" fmla="*/ 2 h 606"/>
                <a:gd name="T2" fmla="*/ 32 w 2409"/>
                <a:gd name="T3" fmla="*/ 166 h 606"/>
                <a:gd name="T4" fmla="*/ 112 w 2409"/>
                <a:gd name="T5" fmla="*/ 307 h 606"/>
                <a:gd name="T6" fmla="*/ 275 w 2409"/>
                <a:gd name="T7" fmla="*/ 448 h 606"/>
                <a:gd name="T8" fmla="*/ 502 w 2409"/>
                <a:gd name="T9" fmla="*/ 541 h 606"/>
                <a:gd name="T10" fmla="*/ 870 w 2409"/>
                <a:gd name="T11" fmla="*/ 595 h 606"/>
                <a:gd name="T12" fmla="*/ 1228 w 2409"/>
                <a:gd name="T13" fmla="*/ 605 h 606"/>
                <a:gd name="T14" fmla="*/ 1542 w 2409"/>
                <a:gd name="T15" fmla="*/ 589 h 606"/>
                <a:gd name="T16" fmla="*/ 1830 w 2409"/>
                <a:gd name="T17" fmla="*/ 538 h 606"/>
                <a:gd name="T18" fmla="*/ 2081 w 2409"/>
                <a:gd name="T19" fmla="*/ 437 h 606"/>
                <a:gd name="T20" fmla="*/ 2267 w 2409"/>
                <a:gd name="T21" fmla="*/ 290 h 606"/>
                <a:gd name="T22" fmla="*/ 2368 w 2409"/>
                <a:gd name="T23" fmla="*/ 150 h 606"/>
                <a:gd name="T24" fmla="*/ 2409 w 2409"/>
                <a:gd name="T25" fmla="*/ 0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09" h="606">
                  <a:moveTo>
                    <a:pt x="0" y="2"/>
                  </a:moveTo>
                  <a:cubicBezTo>
                    <a:pt x="5" y="29"/>
                    <a:pt x="13" y="115"/>
                    <a:pt x="32" y="166"/>
                  </a:cubicBezTo>
                  <a:cubicBezTo>
                    <a:pt x="51" y="217"/>
                    <a:pt x="72" y="260"/>
                    <a:pt x="112" y="307"/>
                  </a:cubicBezTo>
                  <a:cubicBezTo>
                    <a:pt x="152" y="354"/>
                    <a:pt x="210" y="409"/>
                    <a:pt x="275" y="448"/>
                  </a:cubicBezTo>
                  <a:cubicBezTo>
                    <a:pt x="340" y="487"/>
                    <a:pt x="403" y="517"/>
                    <a:pt x="502" y="541"/>
                  </a:cubicBezTo>
                  <a:cubicBezTo>
                    <a:pt x="601" y="565"/>
                    <a:pt x="749" y="584"/>
                    <a:pt x="870" y="595"/>
                  </a:cubicBezTo>
                  <a:cubicBezTo>
                    <a:pt x="991" y="606"/>
                    <a:pt x="1116" y="606"/>
                    <a:pt x="1228" y="605"/>
                  </a:cubicBezTo>
                  <a:cubicBezTo>
                    <a:pt x="1340" y="604"/>
                    <a:pt x="1442" y="600"/>
                    <a:pt x="1542" y="589"/>
                  </a:cubicBezTo>
                  <a:cubicBezTo>
                    <a:pt x="1642" y="578"/>
                    <a:pt x="1740" y="563"/>
                    <a:pt x="1830" y="538"/>
                  </a:cubicBezTo>
                  <a:cubicBezTo>
                    <a:pt x="1920" y="513"/>
                    <a:pt x="2008" y="478"/>
                    <a:pt x="2081" y="437"/>
                  </a:cubicBezTo>
                  <a:cubicBezTo>
                    <a:pt x="2154" y="396"/>
                    <a:pt x="2219" y="338"/>
                    <a:pt x="2267" y="290"/>
                  </a:cubicBezTo>
                  <a:cubicBezTo>
                    <a:pt x="2315" y="242"/>
                    <a:pt x="2344" y="198"/>
                    <a:pt x="2368" y="150"/>
                  </a:cubicBezTo>
                  <a:cubicBezTo>
                    <a:pt x="2392" y="102"/>
                    <a:pt x="2401" y="51"/>
                    <a:pt x="240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Freeform 2847"/>
            <p:cNvSpPr>
              <a:spLocks/>
            </p:cNvSpPr>
            <p:nvPr/>
          </p:nvSpPr>
          <p:spPr bwMode="auto">
            <a:xfrm>
              <a:off x="1542635" y="2564005"/>
              <a:ext cx="5856288" cy="1408112"/>
            </a:xfrm>
            <a:custGeom>
              <a:avLst/>
              <a:gdLst>
                <a:gd name="T0" fmla="*/ 0 w 3689"/>
                <a:gd name="T1" fmla="*/ 6 h 887"/>
                <a:gd name="T2" fmla="*/ 35 w 3689"/>
                <a:gd name="T3" fmla="*/ 166 h 887"/>
                <a:gd name="T4" fmla="*/ 131 w 3689"/>
                <a:gd name="T5" fmla="*/ 374 h 887"/>
                <a:gd name="T6" fmla="*/ 294 w 3689"/>
                <a:gd name="T7" fmla="*/ 560 h 887"/>
                <a:gd name="T8" fmla="*/ 537 w 3689"/>
                <a:gd name="T9" fmla="*/ 707 h 887"/>
                <a:gd name="T10" fmla="*/ 899 w 3689"/>
                <a:gd name="T11" fmla="*/ 803 h 887"/>
                <a:gd name="T12" fmla="*/ 1232 w 3689"/>
                <a:gd name="T13" fmla="*/ 860 h 887"/>
                <a:gd name="T14" fmla="*/ 1660 w 3689"/>
                <a:gd name="T15" fmla="*/ 880 h 887"/>
                <a:gd name="T16" fmla="*/ 2144 w 3689"/>
                <a:gd name="T17" fmla="*/ 880 h 887"/>
                <a:gd name="T18" fmla="*/ 2592 w 3689"/>
                <a:gd name="T19" fmla="*/ 838 h 887"/>
                <a:gd name="T20" fmla="*/ 3011 w 3689"/>
                <a:gd name="T21" fmla="*/ 739 h 887"/>
                <a:gd name="T22" fmla="*/ 3328 w 3689"/>
                <a:gd name="T23" fmla="*/ 593 h 887"/>
                <a:gd name="T24" fmla="*/ 3528 w 3689"/>
                <a:gd name="T25" fmla="*/ 420 h 887"/>
                <a:gd name="T26" fmla="*/ 3654 w 3689"/>
                <a:gd name="T27" fmla="*/ 188 h 887"/>
                <a:gd name="T28" fmla="*/ 3689 w 3689"/>
                <a:gd name="T29" fmla="*/ 0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89" h="887">
                  <a:moveTo>
                    <a:pt x="0" y="6"/>
                  </a:moveTo>
                  <a:cubicBezTo>
                    <a:pt x="5" y="33"/>
                    <a:pt x="13" y="105"/>
                    <a:pt x="35" y="166"/>
                  </a:cubicBezTo>
                  <a:cubicBezTo>
                    <a:pt x="57" y="227"/>
                    <a:pt x="88" y="308"/>
                    <a:pt x="131" y="374"/>
                  </a:cubicBezTo>
                  <a:cubicBezTo>
                    <a:pt x="174" y="440"/>
                    <a:pt x="226" y="504"/>
                    <a:pt x="294" y="560"/>
                  </a:cubicBezTo>
                  <a:cubicBezTo>
                    <a:pt x="362" y="616"/>
                    <a:pt x="436" y="667"/>
                    <a:pt x="537" y="707"/>
                  </a:cubicBezTo>
                  <a:cubicBezTo>
                    <a:pt x="638" y="747"/>
                    <a:pt x="783" y="778"/>
                    <a:pt x="899" y="803"/>
                  </a:cubicBezTo>
                  <a:cubicBezTo>
                    <a:pt x="1015" y="828"/>
                    <a:pt x="1105" y="847"/>
                    <a:pt x="1232" y="860"/>
                  </a:cubicBezTo>
                  <a:cubicBezTo>
                    <a:pt x="1359" y="873"/>
                    <a:pt x="1508" y="877"/>
                    <a:pt x="1660" y="880"/>
                  </a:cubicBezTo>
                  <a:cubicBezTo>
                    <a:pt x="1812" y="883"/>
                    <a:pt x="1989" y="887"/>
                    <a:pt x="2144" y="880"/>
                  </a:cubicBezTo>
                  <a:cubicBezTo>
                    <a:pt x="2299" y="873"/>
                    <a:pt x="2448" y="861"/>
                    <a:pt x="2592" y="838"/>
                  </a:cubicBezTo>
                  <a:cubicBezTo>
                    <a:pt x="2736" y="815"/>
                    <a:pt x="2888" y="780"/>
                    <a:pt x="3011" y="739"/>
                  </a:cubicBezTo>
                  <a:cubicBezTo>
                    <a:pt x="3134" y="698"/>
                    <a:pt x="3242" y="646"/>
                    <a:pt x="3328" y="593"/>
                  </a:cubicBezTo>
                  <a:cubicBezTo>
                    <a:pt x="3414" y="540"/>
                    <a:pt x="3474" y="487"/>
                    <a:pt x="3528" y="420"/>
                  </a:cubicBezTo>
                  <a:cubicBezTo>
                    <a:pt x="3582" y="353"/>
                    <a:pt x="3627" y="258"/>
                    <a:pt x="3654" y="188"/>
                  </a:cubicBezTo>
                  <a:cubicBezTo>
                    <a:pt x="3681" y="118"/>
                    <a:pt x="3682" y="39"/>
                    <a:pt x="368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2848"/>
            <p:cNvSpPr>
              <a:spLocks noChangeShapeType="1"/>
            </p:cNvSpPr>
            <p:nvPr/>
          </p:nvSpPr>
          <p:spPr bwMode="auto">
            <a:xfrm>
              <a:off x="1044160" y="4432492"/>
              <a:ext cx="6934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Freeform 2849"/>
            <p:cNvSpPr>
              <a:spLocks/>
            </p:cNvSpPr>
            <p:nvPr/>
          </p:nvSpPr>
          <p:spPr bwMode="auto">
            <a:xfrm>
              <a:off x="2022060" y="2744980"/>
              <a:ext cx="1374775" cy="1682750"/>
            </a:xfrm>
            <a:custGeom>
              <a:avLst/>
              <a:gdLst>
                <a:gd name="T0" fmla="*/ 866 w 866"/>
                <a:gd name="T1" fmla="*/ 0 h 1060"/>
                <a:gd name="T2" fmla="*/ 751 w 866"/>
                <a:gd name="T3" fmla="*/ 49 h 1060"/>
                <a:gd name="T4" fmla="*/ 592 w 866"/>
                <a:gd name="T5" fmla="*/ 144 h 1060"/>
                <a:gd name="T6" fmla="*/ 425 w 866"/>
                <a:gd name="T7" fmla="*/ 277 h 1060"/>
                <a:gd name="T8" fmla="*/ 235 w 866"/>
                <a:gd name="T9" fmla="*/ 478 h 1060"/>
                <a:gd name="T10" fmla="*/ 94 w 866"/>
                <a:gd name="T11" fmla="*/ 749 h 1060"/>
                <a:gd name="T12" fmla="*/ 0 w 866"/>
                <a:gd name="T13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60">
                  <a:moveTo>
                    <a:pt x="866" y="0"/>
                  </a:moveTo>
                  <a:cubicBezTo>
                    <a:pt x="847" y="8"/>
                    <a:pt x="797" y="25"/>
                    <a:pt x="751" y="49"/>
                  </a:cubicBezTo>
                  <a:cubicBezTo>
                    <a:pt x="705" y="73"/>
                    <a:pt x="646" y="106"/>
                    <a:pt x="592" y="144"/>
                  </a:cubicBezTo>
                  <a:cubicBezTo>
                    <a:pt x="538" y="182"/>
                    <a:pt x="484" y="221"/>
                    <a:pt x="425" y="277"/>
                  </a:cubicBezTo>
                  <a:cubicBezTo>
                    <a:pt x="366" y="333"/>
                    <a:pt x="290" y="399"/>
                    <a:pt x="235" y="478"/>
                  </a:cubicBezTo>
                  <a:cubicBezTo>
                    <a:pt x="180" y="557"/>
                    <a:pt x="133" y="652"/>
                    <a:pt x="94" y="749"/>
                  </a:cubicBezTo>
                  <a:cubicBezTo>
                    <a:pt x="55" y="846"/>
                    <a:pt x="20" y="995"/>
                    <a:pt x="0" y="106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Freeform 2850"/>
            <p:cNvSpPr>
              <a:spLocks/>
            </p:cNvSpPr>
            <p:nvPr/>
          </p:nvSpPr>
          <p:spPr bwMode="auto">
            <a:xfrm>
              <a:off x="2868198" y="2767205"/>
              <a:ext cx="685800" cy="1660525"/>
            </a:xfrm>
            <a:custGeom>
              <a:avLst/>
              <a:gdLst>
                <a:gd name="T0" fmla="*/ 346 w 346"/>
                <a:gd name="T1" fmla="*/ 0 h 1046"/>
                <a:gd name="T2" fmla="*/ 314 w 346"/>
                <a:gd name="T3" fmla="*/ 115 h 1046"/>
                <a:gd name="T4" fmla="*/ 250 w 346"/>
                <a:gd name="T5" fmla="*/ 262 h 1046"/>
                <a:gd name="T6" fmla="*/ 157 w 346"/>
                <a:gd name="T7" fmla="*/ 451 h 1046"/>
                <a:gd name="T8" fmla="*/ 56 w 346"/>
                <a:gd name="T9" fmla="*/ 684 h 1046"/>
                <a:gd name="T10" fmla="*/ 13 w 346"/>
                <a:gd name="T11" fmla="*/ 907 h 1046"/>
                <a:gd name="T12" fmla="*/ 0 w 346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1046">
                  <a:moveTo>
                    <a:pt x="346" y="0"/>
                  </a:moveTo>
                  <a:cubicBezTo>
                    <a:pt x="338" y="35"/>
                    <a:pt x="330" y="71"/>
                    <a:pt x="314" y="115"/>
                  </a:cubicBezTo>
                  <a:cubicBezTo>
                    <a:pt x="298" y="159"/>
                    <a:pt x="276" y="206"/>
                    <a:pt x="250" y="262"/>
                  </a:cubicBezTo>
                  <a:cubicBezTo>
                    <a:pt x="224" y="318"/>
                    <a:pt x="189" y="381"/>
                    <a:pt x="157" y="451"/>
                  </a:cubicBezTo>
                  <a:cubicBezTo>
                    <a:pt x="125" y="521"/>
                    <a:pt x="80" y="608"/>
                    <a:pt x="56" y="684"/>
                  </a:cubicBezTo>
                  <a:cubicBezTo>
                    <a:pt x="32" y="760"/>
                    <a:pt x="22" y="847"/>
                    <a:pt x="13" y="907"/>
                  </a:cubicBezTo>
                  <a:cubicBezTo>
                    <a:pt x="4" y="967"/>
                    <a:pt x="3" y="1017"/>
                    <a:pt x="0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Freeform 2851"/>
            <p:cNvSpPr>
              <a:spLocks/>
            </p:cNvSpPr>
            <p:nvPr/>
          </p:nvSpPr>
          <p:spPr bwMode="auto">
            <a:xfrm>
              <a:off x="3517485" y="2765617"/>
              <a:ext cx="366713" cy="1671638"/>
            </a:xfrm>
            <a:custGeom>
              <a:avLst/>
              <a:gdLst>
                <a:gd name="T0" fmla="*/ 231 w 231"/>
                <a:gd name="T1" fmla="*/ 0 h 1053"/>
                <a:gd name="T2" fmla="*/ 205 w 231"/>
                <a:gd name="T3" fmla="*/ 150 h 1053"/>
                <a:gd name="T4" fmla="*/ 148 w 231"/>
                <a:gd name="T5" fmla="*/ 372 h 1053"/>
                <a:gd name="T6" fmla="*/ 90 w 231"/>
                <a:gd name="T7" fmla="*/ 567 h 1053"/>
                <a:gd name="T8" fmla="*/ 40 w 231"/>
                <a:gd name="T9" fmla="*/ 772 h 1053"/>
                <a:gd name="T10" fmla="*/ 0 w 231"/>
                <a:gd name="T11" fmla="*/ 1053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1053">
                  <a:moveTo>
                    <a:pt x="231" y="0"/>
                  </a:moveTo>
                  <a:cubicBezTo>
                    <a:pt x="227" y="25"/>
                    <a:pt x="219" y="88"/>
                    <a:pt x="205" y="150"/>
                  </a:cubicBezTo>
                  <a:cubicBezTo>
                    <a:pt x="191" y="212"/>
                    <a:pt x="167" y="302"/>
                    <a:pt x="148" y="372"/>
                  </a:cubicBezTo>
                  <a:cubicBezTo>
                    <a:pt x="129" y="442"/>
                    <a:pt x="108" y="500"/>
                    <a:pt x="90" y="567"/>
                  </a:cubicBezTo>
                  <a:cubicBezTo>
                    <a:pt x="72" y="634"/>
                    <a:pt x="55" y="691"/>
                    <a:pt x="40" y="772"/>
                  </a:cubicBezTo>
                  <a:cubicBezTo>
                    <a:pt x="25" y="853"/>
                    <a:pt x="8" y="995"/>
                    <a:pt x="0" y="1053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Freeform 2852"/>
            <p:cNvSpPr>
              <a:spLocks/>
            </p:cNvSpPr>
            <p:nvPr/>
          </p:nvSpPr>
          <p:spPr bwMode="auto">
            <a:xfrm>
              <a:off x="4087398" y="2770380"/>
              <a:ext cx="149225" cy="1643062"/>
            </a:xfrm>
            <a:custGeom>
              <a:avLst/>
              <a:gdLst>
                <a:gd name="T0" fmla="*/ 94 w 94"/>
                <a:gd name="T1" fmla="*/ 0 h 1035"/>
                <a:gd name="T2" fmla="*/ 80 w 94"/>
                <a:gd name="T3" fmla="*/ 224 h 1035"/>
                <a:gd name="T4" fmla="*/ 45 w 94"/>
                <a:gd name="T5" fmla="*/ 520 h 1035"/>
                <a:gd name="T6" fmla="*/ 19 w 94"/>
                <a:gd name="T7" fmla="*/ 798 h 1035"/>
                <a:gd name="T8" fmla="*/ 0 w 94"/>
                <a:gd name="T9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035">
                  <a:moveTo>
                    <a:pt x="94" y="0"/>
                  </a:moveTo>
                  <a:cubicBezTo>
                    <a:pt x="92" y="37"/>
                    <a:pt x="88" y="137"/>
                    <a:pt x="80" y="224"/>
                  </a:cubicBezTo>
                  <a:cubicBezTo>
                    <a:pt x="72" y="311"/>
                    <a:pt x="55" y="424"/>
                    <a:pt x="45" y="520"/>
                  </a:cubicBezTo>
                  <a:cubicBezTo>
                    <a:pt x="35" y="616"/>
                    <a:pt x="26" y="712"/>
                    <a:pt x="19" y="798"/>
                  </a:cubicBezTo>
                  <a:cubicBezTo>
                    <a:pt x="12" y="884"/>
                    <a:pt x="4" y="986"/>
                    <a:pt x="0" y="1035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Freeform 2853"/>
            <p:cNvSpPr>
              <a:spLocks/>
            </p:cNvSpPr>
            <p:nvPr/>
          </p:nvSpPr>
          <p:spPr bwMode="auto">
            <a:xfrm>
              <a:off x="4590635" y="2765617"/>
              <a:ext cx="9525" cy="1666875"/>
            </a:xfrm>
            <a:custGeom>
              <a:avLst/>
              <a:gdLst>
                <a:gd name="T0" fmla="*/ 6 w 6"/>
                <a:gd name="T1" fmla="*/ 0 h 1050"/>
                <a:gd name="T2" fmla="*/ 1 w 6"/>
                <a:gd name="T3" fmla="*/ 295 h 1050"/>
                <a:gd name="T4" fmla="*/ 0 w 6"/>
                <a:gd name="T5" fmla="*/ 556 h 1050"/>
                <a:gd name="T6" fmla="*/ 1 w 6"/>
                <a:gd name="T7" fmla="*/ 801 h 1050"/>
                <a:gd name="T8" fmla="*/ 1 w 6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50">
                  <a:moveTo>
                    <a:pt x="6" y="0"/>
                  </a:moveTo>
                  <a:cubicBezTo>
                    <a:pt x="6" y="49"/>
                    <a:pt x="2" y="202"/>
                    <a:pt x="1" y="295"/>
                  </a:cubicBezTo>
                  <a:cubicBezTo>
                    <a:pt x="0" y="388"/>
                    <a:pt x="0" y="472"/>
                    <a:pt x="0" y="556"/>
                  </a:cubicBezTo>
                  <a:cubicBezTo>
                    <a:pt x="0" y="640"/>
                    <a:pt x="1" y="719"/>
                    <a:pt x="1" y="801"/>
                  </a:cubicBezTo>
                  <a:cubicBezTo>
                    <a:pt x="1" y="883"/>
                    <a:pt x="2" y="966"/>
                    <a:pt x="1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Freeform 2854"/>
            <p:cNvSpPr>
              <a:spLocks/>
            </p:cNvSpPr>
            <p:nvPr/>
          </p:nvSpPr>
          <p:spPr bwMode="auto">
            <a:xfrm>
              <a:off x="4946235" y="2767205"/>
              <a:ext cx="142875" cy="1666875"/>
            </a:xfrm>
            <a:custGeom>
              <a:avLst/>
              <a:gdLst>
                <a:gd name="T0" fmla="*/ 0 w 90"/>
                <a:gd name="T1" fmla="*/ 0 h 1050"/>
                <a:gd name="T2" fmla="*/ 16 w 90"/>
                <a:gd name="T3" fmla="*/ 280 h 1050"/>
                <a:gd name="T4" fmla="*/ 42 w 90"/>
                <a:gd name="T5" fmla="*/ 561 h 1050"/>
                <a:gd name="T6" fmla="*/ 78 w 90"/>
                <a:gd name="T7" fmla="*/ 833 h 1050"/>
                <a:gd name="T8" fmla="*/ 90 w 9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1050">
                  <a:moveTo>
                    <a:pt x="0" y="0"/>
                  </a:moveTo>
                  <a:cubicBezTo>
                    <a:pt x="3" y="47"/>
                    <a:pt x="9" y="187"/>
                    <a:pt x="16" y="280"/>
                  </a:cubicBezTo>
                  <a:cubicBezTo>
                    <a:pt x="23" y="373"/>
                    <a:pt x="32" y="469"/>
                    <a:pt x="42" y="561"/>
                  </a:cubicBezTo>
                  <a:cubicBezTo>
                    <a:pt x="52" y="653"/>
                    <a:pt x="70" y="752"/>
                    <a:pt x="78" y="833"/>
                  </a:cubicBezTo>
                  <a:cubicBezTo>
                    <a:pt x="86" y="914"/>
                    <a:pt x="88" y="982"/>
                    <a:pt x="90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Freeform 2855"/>
            <p:cNvSpPr>
              <a:spLocks/>
            </p:cNvSpPr>
            <p:nvPr/>
          </p:nvSpPr>
          <p:spPr bwMode="auto">
            <a:xfrm>
              <a:off x="5270085" y="2770380"/>
              <a:ext cx="373063" cy="1651000"/>
            </a:xfrm>
            <a:custGeom>
              <a:avLst/>
              <a:gdLst>
                <a:gd name="T0" fmla="*/ 0 w 235"/>
                <a:gd name="T1" fmla="*/ 0 h 1040"/>
                <a:gd name="T2" fmla="*/ 24 w 235"/>
                <a:gd name="T3" fmla="*/ 179 h 1040"/>
                <a:gd name="T4" fmla="*/ 93 w 235"/>
                <a:gd name="T5" fmla="*/ 442 h 1040"/>
                <a:gd name="T6" fmla="*/ 184 w 235"/>
                <a:gd name="T7" fmla="*/ 723 h 1040"/>
                <a:gd name="T8" fmla="*/ 235 w 235"/>
                <a:gd name="T9" fmla="*/ 1040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040">
                  <a:moveTo>
                    <a:pt x="0" y="0"/>
                  </a:moveTo>
                  <a:cubicBezTo>
                    <a:pt x="4" y="30"/>
                    <a:pt x="8" y="105"/>
                    <a:pt x="24" y="179"/>
                  </a:cubicBezTo>
                  <a:cubicBezTo>
                    <a:pt x="40" y="253"/>
                    <a:pt x="66" y="351"/>
                    <a:pt x="93" y="442"/>
                  </a:cubicBezTo>
                  <a:cubicBezTo>
                    <a:pt x="120" y="533"/>
                    <a:pt x="160" y="623"/>
                    <a:pt x="184" y="723"/>
                  </a:cubicBezTo>
                  <a:cubicBezTo>
                    <a:pt x="208" y="823"/>
                    <a:pt x="221" y="931"/>
                    <a:pt x="235" y="104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2856"/>
            <p:cNvSpPr>
              <a:spLocks/>
            </p:cNvSpPr>
            <p:nvPr/>
          </p:nvSpPr>
          <p:spPr bwMode="auto">
            <a:xfrm>
              <a:off x="5552660" y="2767205"/>
              <a:ext cx="688975" cy="1660525"/>
            </a:xfrm>
            <a:custGeom>
              <a:avLst/>
              <a:gdLst>
                <a:gd name="T0" fmla="*/ 0 w 434"/>
                <a:gd name="T1" fmla="*/ 0 h 1046"/>
                <a:gd name="T2" fmla="*/ 33 w 434"/>
                <a:gd name="T3" fmla="*/ 105 h 1046"/>
                <a:gd name="T4" fmla="*/ 75 w 434"/>
                <a:gd name="T5" fmla="*/ 192 h 1046"/>
                <a:gd name="T6" fmla="*/ 187 w 434"/>
                <a:gd name="T7" fmla="*/ 360 h 1046"/>
                <a:gd name="T8" fmla="*/ 322 w 434"/>
                <a:gd name="T9" fmla="*/ 576 h 1046"/>
                <a:gd name="T10" fmla="*/ 406 w 434"/>
                <a:gd name="T11" fmla="*/ 836 h 1046"/>
                <a:gd name="T12" fmla="*/ 434 w 434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4" h="1046">
                  <a:moveTo>
                    <a:pt x="0" y="0"/>
                  </a:moveTo>
                  <a:cubicBezTo>
                    <a:pt x="5" y="17"/>
                    <a:pt x="21" y="73"/>
                    <a:pt x="33" y="105"/>
                  </a:cubicBezTo>
                  <a:cubicBezTo>
                    <a:pt x="45" y="137"/>
                    <a:pt x="49" y="149"/>
                    <a:pt x="75" y="192"/>
                  </a:cubicBezTo>
                  <a:cubicBezTo>
                    <a:pt x="101" y="235"/>
                    <a:pt x="146" y="296"/>
                    <a:pt x="187" y="360"/>
                  </a:cubicBezTo>
                  <a:cubicBezTo>
                    <a:pt x="228" y="424"/>
                    <a:pt x="286" y="497"/>
                    <a:pt x="322" y="576"/>
                  </a:cubicBezTo>
                  <a:cubicBezTo>
                    <a:pt x="358" y="655"/>
                    <a:pt x="388" y="758"/>
                    <a:pt x="406" y="836"/>
                  </a:cubicBezTo>
                  <a:cubicBezTo>
                    <a:pt x="425" y="914"/>
                    <a:pt x="428" y="1002"/>
                    <a:pt x="434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Freeform 2857"/>
            <p:cNvSpPr>
              <a:spLocks/>
            </p:cNvSpPr>
            <p:nvPr/>
          </p:nvSpPr>
          <p:spPr bwMode="auto">
            <a:xfrm>
              <a:off x="5684423" y="2737042"/>
              <a:ext cx="1363662" cy="1695450"/>
            </a:xfrm>
            <a:custGeom>
              <a:avLst/>
              <a:gdLst>
                <a:gd name="T0" fmla="*/ 0 w 859"/>
                <a:gd name="T1" fmla="*/ 1 h 1068"/>
                <a:gd name="T2" fmla="*/ 82 w 859"/>
                <a:gd name="T3" fmla="*/ 20 h 1068"/>
                <a:gd name="T4" fmla="*/ 280 w 859"/>
                <a:gd name="T5" fmla="*/ 121 h 1068"/>
                <a:gd name="T6" fmla="*/ 507 w 859"/>
                <a:gd name="T7" fmla="*/ 310 h 1068"/>
                <a:gd name="T8" fmla="*/ 693 w 859"/>
                <a:gd name="T9" fmla="*/ 550 h 1068"/>
                <a:gd name="T10" fmla="*/ 818 w 859"/>
                <a:gd name="T11" fmla="*/ 796 h 1068"/>
                <a:gd name="T12" fmla="*/ 859 w 859"/>
                <a:gd name="T13" fmla="*/ 1068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9" h="1068">
                  <a:moveTo>
                    <a:pt x="0" y="1"/>
                  </a:moveTo>
                  <a:cubicBezTo>
                    <a:pt x="14" y="5"/>
                    <a:pt x="35" y="0"/>
                    <a:pt x="82" y="20"/>
                  </a:cubicBezTo>
                  <a:cubicBezTo>
                    <a:pt x="129" y="40"/>
                    <a:pt x="209" y="73"/>
                    <a:pt x="280" y="121"/>
                  </a:cubicBezTo>
                  <a:cubicBezTo>
                    <a:pt x="351" y="169"/>
                    <a:pt x="438" y="239"/>
                    <a:pt x="507" y="310"/>
                  </a:cubicBezTo>
                  <a:cubicBezTo>
                    <a:pt x="576" y="381"/>
                    <a:pt x="641" y="469"/>
                    <a:pt x="693" y="550"/>
                  </a:cubicBezTo>
                  <a:cubicBezTo>
                    <a:pt x="745" y="631"/>
                    <a:pt x="790" y="710"/>
                    <a:pt x="818" y="796"/>
                  </a:cubicBezTo>
                  <a:cubicBezTo>
                    <a:pt x="846" y="882"/>
                    <a:pt x="852" y="975"/>
                    <a:pt x="859" y="106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2858"/>
            <p:cNvSpPr>
              <a:spLocks noChangeShapeType="1"/>
            </p:cNvSpPr>
            <p:nvPr/>
          </p:nvSpPr>
          <p:spPr bwMode="auto">
            <a:xfrm>
              <a:off x="5595523" y="182105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Text Box 2862"/>
            <p:cNvSpPr txBox="1">
              <a:spLocks noChangeArrowheads="1"/>
            </p:cNvSpPr>
            <p:nvPr/>
          </p:nvSpPr>
          <p:spPr bwMode="auto">
            <a:xfrm>
              <a:off x="3385723" y="2367155"/>
              <a:ext cx="32092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03" name="Text Box 2863"/>
            <p:cNvSpPr txBox="1">
              <a:spLocks noChangeArrowheads="1"/>
            </p:cNvSpPr>
            <p:nvPr/>
          </p:nvSpPr>
          <p:spPr bwMode="auto">
            <a:xfrm>
              <a:off x="3266660" y="2692592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204" name="Text Box 2864"/>
            <p:cNvSpPr txBox="1">
              <a:spLocks noChangeArrowheads="1"/>
            </p:cNvSpPr>
            <p:nvPr/>
          </p:nvSpPr>
          <p:spPr bwMode="auto">
            <a:xfrm>
              <a:off x="5546310" y="2686242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205" name="Text Box 2865"/>
            <p:cNvSpPr txBox="1">
              <a:spLocks noChangeArrowheads="1"/>
            </p:cNvSpPr>
            <p:nvPr/>
          </p:nvSpPr>
          <p:spPr bwMode="auto">
            <a:xfrm>
              <a:off x="5401848" y="2368742"/>
              <a:ext cx="32092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215" name="Line 2867"/>
            <p:cNvSpPr>
              <a:spLocks noChangeShapeType="1"/>
            </p:cNvSpPr>
            <p:nvPr/>
          </p:nvSpPr>
          <p:spPr bwMode="auto">
            <a:xfrm>
              <a:off x="6138448" y="1814705"/>
              <a:ext cx="0" cy="641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868"/>
            <p:cNvSpPr>
              <a:spLocks noChangeShapeType="1"/>
            </p:cNvSpPr>
            <p:nvPr/>
          </p:nvSpPr>
          <p:spPr bwMode="auto">
            <a:xfrm>
              <a:off x="6944898" y="222745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Text Box 2869"/>
            <p:cNvSpPr txBox="1">
              <a:spLocks noChangeArrowheads="1"/>
            </p:cNvSpPr>
            <p:nvPr/>
          </p:nvSpPr>
          <p:spPr bwMode="auto">
            <a:xfrm>
              <a:off x="6127335" y="1875030"/>
              <a:ext cx="7747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>
                  <a:latin typeface="Times New Roman" pitchFamily="18" charset="0"/>
                </a:rPr>
                <a:t>H</a:t>
              </a:r>
              <a:r>
                <a:rPr lang="en-US" altLang="zh-CN" sz="1600" b="1" dirty="0">
                  <a:latin typeface="Times New Roman" pitchFamily="18" charset="0"/>
                </a:rPr>
                <a:t>=5m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sp>
          <p:nvSpPr>
            <p:cNvPr id="246" name="Text Box 2870"/>
            <p:cNvSpPr txBox="1">
              <a:spLocks noChangeArrowheads="1"/>
            </p:cNvSpPr>
            <p:nvPr/>
          </p:nvSpPr>
          <p:spPr bwMode="auto">
            <a:xfrm>
              <a:off x="6941723" y="2109980"/>
              <a:ext cx="37465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1600" b="1">
                  <a:latin typeface="Times New Roman" pitchFamily="18" charset="0"/>
                </a:rPr>
                <a:t>m</a:t>
              </a:r>
              <a:endParaRPr lang="el-GR" altLang="zh-CN" sz="1600" b="1">
                <a:latin typeface="Times New Roman" pitchFamily="18" charset="0"/>
              </a:endParaRPr>
            </a:p>
          </p:txBody>
        </p:sp>
        <p:sp>
          <p:nvSpPr>
            <p:cNvPr id="247" name="Text Box 2874"/>
            <p:cNvSpPr txBox="1">
              <a:spLocks noChangeArrowheads="1"/>
            </p:cNvSpPr>
            <p:nvPr/>
          </p:nvSpPr>
          <p:spPr bwMode="auto">
            <a:xfrm>
              <a:off x="7928447" y="2219157"/>
              <a:ext cx="3097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48" name="AutoShape 2875"/>
            <p:cNvSpPr>
              <a:spLocks noChangeArrowheads="1"/>
            </p:cNvSpPr>
            <p:nvPr/>
          </p:nvSpPr>
          <p:spPr bwMode="auto">
            <a:xfrm flipV="1">
              <a:off x="6584535" y="234493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" name="Line 2876"/>
            <p:cNvSpPr>
              <a:spLocks noChangeShapeType="1"/>
            </p:cNvSpPr>
            <p:nvPr/>
          </p:nvSpPr>
          <p:spPr bwMode="auto">
            <a:xfrm>
              <a:off x="6521035" y="249891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2877"/>
            <p:cNvSpPr>
              <a:spLocks noChangeShapeType="1"/>
            </p:cNvSpPr>
            <p:nvPr/>
          </p:nvSpPr>
          <p:spPr bwMode="auto">
            <a:xfrm>
              <a:off x="6682960" y="249891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2878"/>
            <p:cNvSpPr>
              <a:spLocks noChangeShapeType="1"/>
            </p:cNvSpPr>
            <p:nvPr/>
          </p:nvSpPr>
          <p:spPr bwMode="auto">
            <a:xfrm>
              <a:off x="6592473" y="2533842"/>
              <a:ext cx="1698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Text Box 2879"/>
            <p:cNvSpPr txBox="1">
              <a:spLocks noChangeArrowheads="1"/>
            </p:cNvSpPr>
            <p:nvPr/>
          </p:nvSpPr>
          <p:spPr bwMode="auto">
            <a:xfrm>
              <a:off x="1031460" y="4102292"/>
              <a:ext cx="344966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279" name="Text Box 2880"/>
            <p:cNvSpPr txBox="1">
              <a:spLocks noChangeArrowheads="1"/>
            </p:cNvSpPr>
            <p:nvPr/>
          </p:nvSpPr>
          <p:spPr bwMode="auto">
            <a:xfrm>
              <a:off x="7652923" y="410229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280" name="Text Box 2881"/>
            <p:cNvSpPr txBox="1">
              <a:spLocks noChangeArrowheads="1"/>
            </p:cNvSpPr>
            <p:nvPr/>
          </p:nvSpPr>
          <p:spPr bwMode="auto">
            <a:xfrm>
              <a:off x="8071527" y="4311842"/>
              <a:ext cx="10259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81" name="Line 2882"/>
            <p:cNvSpPr>
              <a:spLocks noChangeShapeType="1"/>
            </p:cNvSpPr>
            <p:nvPr/>
          </p:nvSpPr>
          <p:spPr bwMode="auto">
            <a:xfrm flipV="1">
              <a:off x="6954423" y="2575117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Text Box 2883"/>
            <p:cNvSpPr txBox="1">
              <a:spLocks noChangeArrowheads="1"/>
            </p:cNvSpPr>
            <p:nvPr/>
          </p:nvSpPr>
          <p:spPr bwMode="auto">
            <a:xfrm>
              <a:off x="5162135" y="4696650"/>
              <a:ext cx="101181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 sz="1600" b="1" dirty="0">
                  <a:latin typeface="Times New Roman" pitchFamily="18" charset="0"/>
                </a:rPr>
                <a:t>不透水层</a:t>
              </a:r>
            </a:p>
          </p:txBody>
        </p:sp>
        <p:sp>
          <p:nvSpPr>
            <p:cNvPr id="283" name="Text Box 2884"/>
            <p:cNvSpPr txBox="1">
              <a:spLocks noChangeArrowheads="1"/>
            </p:cNvSpPr>
            <p:nvPr/>
          </p:nvSpPr>
          <p:spPr bwMode="auto">
            <a:xfrm>
              <a:off x="3123785" y="228778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</a:t>
              </a:r>
            </a:p>
          </p:txBody>
        </p:sp>
        <p:sp>
          <p:nvSpPr>
            <p:cNvPr id="284" name="Text Box 2885"/>
            <p:cNvSpPr txBox="1">
              <a:spLocks noChangeArrowheads="1"/>
            </p:cNvSpPr>
            <p:nvPr/>
          </p:nvSpPr>
          <p:spPr bwMode="auto">
            <a:xfrm>
              <a:off x="2899948" y="2289367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</a:t>
              </a:r>
            </a:p>
          </p:txBody>
        </p:sp>
        <p:sp>
          <p:nvSpPr>
            <p:cNvPr id="285" name="Text Box 2886"/>
            <p:cNvSpPr txBox="1">
              <a:spLocks noChangeArrowheads="1"/>
            </p:cNvSpPr>
            <p:nvPr/>
          </p:nvSpPr>
          <p:spPr bwMode="auto">
            <a:xfrm>
              <a:off x="1309273" y="226873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</a:t>
              </a:r>
            </a:p>
          </p:txBody>
        </p:sp>
        <p:sp>
          <p:nvSpPr>
            <p:cNvPr id="286" name="Text Box 2887"/>
            <p:cNvSpPr txBox="1">
              <a:spLocks noChangeArrowheads="1"/>
            </p:cNvSpPr>
            <p:nvPr/>
          </p:nvSpPr>
          <p:spPr bwMode="auto">
            <a:xfrm>
              <a:off x="2396710" y="2279842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</a:t>
              </a:r>
            </a:p>
          </p:txBody>
        </p:sp>
        <p:sp>
          <p:nvSpPr>
            <p:cNvPr id="287" name="Text Box 2888"/>
            <p:cNvSpPr txBox="1">
              <a:spLocks noChangeArrowheads="1"/>
            </p:cNvSpPr>
            <p:nvPr/>
          </p:nvSpPr>
          <p:spPr bwMode="auto">
            <a:xfrm>
              <a:off x="707610" y="238779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88" name="Text Box 2889"/>
            <p:cNvSpPr txBox="1">
              <a:spLocks noChangeArrowheads="1"/>
            </p:cNvSpPr>
            <p:nvPr/>
          </p:nvSpPr>
          <p:spPr bwMode="auto">
            <a:xfrm>
              <a:off x="1431510" y="416103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</a:t>
              </a:r>
            </a:p>
          </p:txBody>
        </p:sp>
        <p:sp>
          <p:nvSpPr>
            <p:cNvPr id="289" name="Text Box 2890"/>
            <p:cNvSpPr txBox="1">
              <a:spLocks noChangeArrowheads="1"/>
            </p:cNvSpPr>
            <p:nvPr/>
          </p:nvSpPr>
          <p:spPr bwMode="auto">
            <a:xfrm>
              <a:off x="1858548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90" name="Text Box 2891"/>
            <p:cNvSpPr txBox="1">
              <a:spLocks noChangeArrowheads="1"/>
            </p:cNvSpPr>
            <p:nvPr/>
          </p:nvSpPr>
          <p:spPr bwMode="auto">
            <a:xfrm>
              <a:off x="2841210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91" name="Text Box 2892"/>
            <p:cNvSpPr txBox="1">
              <a:spLocks noChangeArrowheads="1"/>
            </p:cNvSpPr>
            <p:nvPr/>
          </p:nvSpPr>
          <p:spPr bwMode="auto">
            <a:xfrm>
              <a:off x="3412710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92" name="Text Box 2893"/>
            <p:cNvSpPr txBox="1">
              <a:spLocks noChangeArrowheads="1"/>
            </p:cNvSpPr>
            <p:nvPr/>
          </p:nvSpPr>
          <p:spPr bwMode="auto">
            <a:xfrm>
              <a:off x="393023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93" name="Text Box 2894"/>
            <p:cNvSpPr txBox="1">
              <a:spLocks noChangeArrowheads="1"/>
            </p:cNvSpPr>
            <p:nvPr/>
          </p:nvSpPr>
          <p:spPr bwMode="auto">
            <a:xfrm>
              <a:off x="446363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94" name="Text Box 2895"/>
            <p:cNvSpPr txBox="1">
              <a:spLocks noChangeArrowheads="1"/>
            </p:cNvSpPr>
            <p:nvPr/>
          </p:nvSpPr>
          <p:spPr bwMode="auto">
            <a:xfrm>
              <a:off x="4928773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95" name="Text Box 2896"/>
            <p:cNvSpPr txBox="1">
              <a:spLocks noChangeArrowheads="1"/>
            </p:cNvSpPr>
            <p:nvPr/>
          </p:nvSpPr>
          <p:spPr bwMode="auto">
            <a:xfrm>
              <a:off x="5455823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96" name="Text Box 2897"/>
            <p:cNvSpPr txBox="1">
              <a:spLocks noChangeArrowheads="1"/>
            </p:cNvSpPr>
            <p:nvPr/>
          </p:nvSpPr>
          <p:spPr bwMode="auto">
            <a:xfrm>
              <a:off x="605748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97" name="Text Box 2898"/>
            <p:cNvSpPr txBox="1">
              <a:spLocks noChangeArrowheads="1"/>
            </p:cNvSpPr>
            <p:nvPr/>
          </p:nvSpPr>
          <p:spPr bwMode="auto">
            <a:xfrm>
              <a:off x="6857585" y="4451542"/>
              <a:ext cx="38985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298" name="Text Box 2899"/>
            <p:cNvSpPr txBox="1">
              <a:spLocks noChangeArrowheads="1"/>
            </p:cNvSpPr>
            <p:nvPr/>
          </p:nvSpPr>
          <p:spPr bwMode="auto">
            <a:xfrm>
              <a:off x="7918035" y="2402080"/>
              <a:ext cx="37850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99" name="Text Box 2900"/>
            <p:cNvSpPr txBox="1">
              <a:spLocks noChangeArrowheads="1"/>
            </p:cNvSpPr>
            <p:nvPr/>
          </p:nvSpPr>
          <p:spPr bwMode="auto">
            <a:xfrm>
              <a:off x="7373523" y="3246630"/>
              <a:ext cx="654346" cy="7325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i="1" dirty="0">
                  <a:latin typeface="Times New Roman" pitchFamily="18" charset="0"/>
                </a:rPr>
                <a:t>N</a:t>
              </a:r>
              <a:r>
                <a:rPr lang="en-US" altLang="zh-CN" sz="1600" b="1" dirty="0">
                  <a:latin typeface="Times New Roman" pitchFamily="18" charset="0"/>
                </a:rPr>
                <a:t>=10</a:t>
              </a:r>
            </a:p>
            <a:p>
              <a:r>
                <a:rPr lang="en-US" altLang="zh-CN" sz="1600" b="1" i="1" dirty="0">
                  <a:latin typeface="Times New Roman" pitchFamily="18" charset="0"/>
                </a:rPr>
                <a:t>M</a:t>
              </a:r>
              <a:r>
                <a:rPr lang="en-US" altLang="zh-CN" sz="1600" b="1" dirty="0">
                  <a:latin typeface="Times New Roman" pitchFamily="18" charset="0"/>
                </a:rPr>
                <a:t>=4</a:t>
              </a:r>
            </a:p>
          </p:txBody>
        </p:sp>
        <p:grpSp>
          <p:nvGrpSpPr>
            <p:cNvPr id="300" name="Group 2909"/>
            <p:cNvGrpSpPr>
              <a:grpSpLocks/>
            </p:cNvGrpSpPr>
            <p:nvPr/>
          </p:nvGrpSpPr>
          <p:grpSpPr bwMode="auto">
            <a:xfrm>
              <a:off x="7211598" y="4430905"/>
              <a:ext cx="625475" cy="133350"/>
              <a:chOff x="2644" y="2807"/>
              <a:chExt cx="481" cy="83"/>
            </a:xfrm>
          </p:grpSpPr>
          <p:sp>
            <p:nvSpPr>
              <p:cNvPr id="322" name="Freeform 2910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3" name="Freeform 2911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4" name="Freeform 2912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5" name="Freeform 2913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6" name="Freeform 2914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" name="Freeform 2915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" name="Freeform 2916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9" name="Freeform 2917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0" name="Freeform 2918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1" name="Freeform 2919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2" name="Freeform 2920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3" name="Freeform 2921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01" name="Group 2922"/>
            <p:cNvGrpSpPr>
              <a:grpSpLocks/>
            </p:cNvGrpSpPr>
            <p:nvPr/>
          </p:nvGrpSpPr>
          <p:grpSpPr bwMode="auto">
            <a:xfrm>
              <a:off x="2137948" y="4430905"/>
              <a:ext cx="625475" cy="133350"/>
              <a:chOff x="2644" y="2807"/>
              <a:chExt cx="481" cy="83"/>
            </a:xfrm>
          </p:grpSpPr>
          <p:sp>
            <p:nvSpPr>
              <p:cNvPr id="310" name="Freeform 2923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1" name="Freeform 2924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2" name="Freeform 2925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3" name="Freeform 2926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4" name="Freeform 2927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5" name="Freeform 2928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6" name="Freeform 2929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7" name="Freeform 2930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8" name="Freeform 2931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9" name="Freeform 2932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0" name="Freeform 2933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1" name="Freeform 2934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2" name="Text Box 2861"/>
            <p:cNvSpPr txBox="1">
              <a:spLocks noChangeArrowheads="1"/>
            </p:cNvSpPr>
            <p:nvPr/>
          </p:nvSpPr>
          <p:spPr bwMode="auto">
            <a:xfrm>
              <a:off x="838293" y="2243330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03" name="Line 2866"/>
            <p:cNvSpPr>
              <a:spLocks noChangeShapeType="1"/>
            </p:cNvSpPr>
            <p:nvPr/>
          </p:nvSpPr>
          <p:spPr bwMode="auto">
            <a:xfrm>
              <a:off x="447840" y="1857567"/>
              <a:ext cx="0" cy="715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Text Box 2873"/>
            <p:cNvSpPr txBox="1">
              <a:spLocks noChangeArrowheads="1"/>
            </p:cNvSpPr>
            <p:nvPr/>
          </p:nvSpPr>
          <p:spPr bwMode="auto">
            <a:xfrm>
              <a:off x="435194" y="1989330"/>
              <a:ext cx="4699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cxnSp>
          <p:nvCxnSpPr>
            <p:cNvPr id="305" name="直接连接符 304"/>
            <p:cNvCxnSpPr/>
            <p:nvPr/>
          </p:nvCxnSpPr>
          <p:spPr bwMode="auto">
            <a:xfrm>
              <a:off x="312026" y="1849725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6" name="直接连接符 305"/>
            <p:cNvCxnSpPr/>
            <p:nvPr/>
          </p:nvCxnSpPr>
          <p:spPr bwMode="auto">
            <a:xfrm>
              <a:off x="313351" y="2574619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7" name="直接连接符 306"/>
            <p:cNvCxnSpPr/>
            <p:nvPr/>
          </p:nvCxnSpPr>
          <p:spPr bwMode="auto">
            <a:xfrm>
              <a:off x="328613" y="4420016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8" name="Line 2866"/>
            <p:cNvSpPr>
              <a:spLocks noChangeShapeType="1"/>
            </p:cNvSpPr>
            <p:nvPr/>
          </p:nvSpPr>
          <p:spPr bwMode="auto">
            <a:xfrm>
              <a:off x="455385" y="2580335"/>
              <a:ext cx="0" cy="18341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Text Box 2873"/>
            <p:cNvSpPr txBox="1">
              <a:spLocks noChangeArrowheads="1"/>
            </p:cNvSpPr>
            <p:nvPr/>
          </p:nvSpPr>
          <p:spPr bwMode="auto">
            <a:xfrm>
              <a:off x="474663" y="3303780"/>
              <a:ext cx="4699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latin typeface="Times New Roman" pitchFamily="18" charset="0"/>
                </a:rPr>
                <a:t>16m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</p:grpSp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33" name="Rectangle 2"/>
          <p:cNvSpPr>
            <a:spLocks noChangeArrowheads="1"/>
          </p:cNvSpPr>
          <p:nvPr/>
        </p:nvSpPr>
        <p:spPr bwMode="auto">
          <a:xfrm>
            <a:off x="3194050" y="5735638"/>
            <a:ext cx="27574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的应用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456700" y="625165"/>
            <a:ext cx="3251211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</a:t>
            </a:r>
            <a:r>
              <a:rPr lang="zh-CN" altLang="en-US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确定渗透</a:t>
            </a:r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流速</a:t>
            </a:r>
            <a:endParaRPr lang="zh-CN" altLang="en-US" sz="2800" b="1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2773836" y="3057813"/>
            <a:ext cx="218856" cy="216466"/>
            <a:chOff x="2773836" y="3057813"/>
            <a:chExt cx="218856" cy="216466"/>
          </a:xfrm>
        </p:grpSpPr>
        <p:sp>
          <p:nvSpPr>
            <p:cNvPr id="127" name="Oval 2901"/>
            <p:cNvSpPr>
              <a:spLocks noChangeArrowheads="1"/>
            </p:cNvSpPr>
            <p:nvPr/>
          </p:nvSpPr>
          <p:spPr bwMode="auto">
            <a:xfrm>
              <a:off x="2773836" y="3057813"/>
              <a:ext cx="54000" cy="54000"/>
            </a:xfrm>
            <a:prstGeom prst="ellipse">
              <a:avLst/>
            </a:pr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 defTabSz="1101725"/>
              <a:endParaRPr lang="zh-CN" altLang="zh-CN"/>
            </a:p>
          </p:txBody>
        </p:sp>
        <p:cxnSp>
          <p:nvCxnSpPr>
            <p:cNvPr id="129" name="直接箭头连接符 128"/>
            <p:cNvCxnSpPr>
              <a:stCxn id="127" idx="5"/>
            </p:cNvCxnSpPr>
            <p:nvPr/>
          </p:nvCxnSpPr>
          <p:spPr bwMode="auto">
            <a:xfrm>
              <a:off x="2809812" y="3091399"/>
              <a:ext cx="182880" cy="18288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30" name="组合 129"/>
          <p:cNvGrpSpPr/>
          <p:nvPr/>
        </p:nvGrpSpPr>
        <p:grpSpPr>
          <a:xfrm>
            <a:off x="4137362" y="3509967"/>
            <a:ext cx="336227" cy="54000"/>
            <a:chOff x="4137362" y="3509967"/>
            <a:chExt cx="336227" cy="54000"/>
          </a:xfrm>
        </p:grpSpPr>
        <p:sp>
          <p:nvSpPr>
            <p:cNvPr id="131" name="Oval 2901"/>
            <p:cNvSpPr>
              <a:spLocks noChangeArrowheads="1"/>
            </p:cNvSpPr>
            <p:nvPr/>
          </p:nvSpPr>
          <p:spPr bwMode="auto">
            <a:xfrm>
              <a:off x="4137362" y="3509967"/>
              <a:ext cx="54000" cy="54000"/>
            </a:xfrm>
            <a:prstGeom prst="ellipse">
              <a:avLst/>
            </a:pr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 defTabSz="1101725"/>
              <a:endParaRPr lang="zh-CN" altLang="zh-CN"/>
            </a:p>
          </p:txBody>
        </p:sp>
        <p:cxnSp>
          <p:nvCxnSpPr>
            <p:cNvPr id="134" name="直接箭头连接符 133"/>
            <p:cNvCxnSpPr/>
            <p:nvPr/>
          </p:nvCxnSpPr>
          <p:spPr bwMode="auto">
            <a:xfrm>
              <a:off x="4183454" y="3543947"/>
              <a:ext cx="290135" cy="11142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35" name="组合 134"/>
          <p:cNvGrpSpPr/>
          <p:nvPr/>
        </p:nvGrpSpPr>
        <p:grpSpPr>
          <a:xfrm>
            <a:off x="5809725" y="3198350"/>
            <a:ext cx="299943" cy="148624"/>
            <a:chOff x="5809725" y="3198350"/>
            <a:chExt cx="299943" cy="148624"/>
          </a:xfrm>
        </p:grpSpPr>
        <p:sp>
          <p:nvSpPr>
            <p:cNvPr id="136" name="Oval 2901"/>
            <p:cNvSpPr>
              <a:spLocks noChangeArrowheads="1"/>
            </p:cNvSpPr>
            <p:nvPr/>
          </p:nvSpPr>
          <p:spPr bwMode="auto">
            <a:xfrm>
              <a:off x="5809725" y="3292974"/>
              <a:ext cx="54000" cy="54000"/>
            </a:xfrm>
            <a:prstGeom prst="ellipse">
              <a:avLst/>
            </a:pr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 defTabSz="1101725"/>
              <a:endParaRPr lang="zh-CN" altLang="zh-CN"/>
            </a:p>
          </p:txBody>
        </p:sp>
        <p:cxnSp>
          <p:nvCxnSpPr>
            <p:cNvPr id="137" name="直接箭头连接符 136"/>
            <p:cNvCxnSpPr/>
            <p:nvPr/>
          </p:nvCxnSpPr>
          <p:spPr bwMode="auto">
            <a:xfrm flipV="1">
              <a:off x="5846733" y="3198350"/>
              <a:ext cx="262935" cy="119521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38" name="剪去单角的矩形 137"/>
          <p:cNvSpPr/>
          <p:nvPr/>
        </p:nvSpPr>
        <p:spPr bwMode="auto">
          <a:xfrm>
            <a:off x="5661327" y="3745064"/>
            <a:ext cx="3188473" cy="1510748"/>
          </a:xfrm>
          <a:prstGeom prst="snip1Rect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88900" dist="50800" dir="4800000" sx="102000" sy="102000" algn="ctr" rotWithShape="0">
              <a:srgbClr val="000000">
                <a:alpha val="97000"/>
              </a:srgbClr>
            </a:outerShdw>
          </a:effectLst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6080367" y="3883928"/>
            <a:ext cx="1606850" cy="4792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563" indent="-182563"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渗透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流速</a:t>
            </a:r>
            <a:endParaRPr lang="en-US" altLang="zh-CN" sz="2400" b="1" dirty="0">
              <a:solidFill>
                <a:srgbClr val="C0000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0" name="对象 1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2723"/>
              </p:ext>
            </p:extLst>
          </p:nvPr>
        </p:nvGraphicFramePr>
        <p:xfrm>
          <a:off x="6425884" y="4482414"/>
          <a:ext cx="1117935" cy="444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67" name="公式" r:id="rId4" imgW="469800" imgH="177480" progId="Equation.3">
                  <p:embed/>
                </p:oleObj>
              </mc:Choice>
              <mc:Fallback>
                <p:oleObj name="公式" r:id="rId4" imgW="469800" imgH="177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25884" y="4482414"/>
                        <a:ext cx="1117935" cy="444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088568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组合 359"/>
          <p:cNvGrpSpPr/>
          <p:nvPr/>
        </p:nvGrpSpPr>
        <p:grpSpPr>
          <a:xfrm>
            <a:off x="312026" y="1677159"/>
            <a:ext cx="7984511" cy="3648070"/>
            <a:chOff x="312026" y="1459105"/>
            <a:chExt cx="7984511" cy="3648070"/>
          </a:xfrm>
        </p:grpSpPr>
        <p:sp>
          <p:nvSpPr>
            <p:cNvPr id="361" name="矩形 360"/>
            <p:cNvSpPr/>
            <p:nvPr/>
          </p:nvSpPr>
          <p:spPr bwMode="auto">
            <a:xfrm>
              <a:off x="5685576" y="2463432"/>
              <a:ext cx="2288437" cy="104115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62" name="矩形 361"/>
            <p:cNvSpPr/>
            <p:nvPr/>
          </p:nvSpPr>
          <p:spPr bwMode="auto">
            <a:xfrm>
              <a:off x="1066800" y="1852323"/>
              <a:ext cx="2338565" cy="710697"/>
            </a:xfrm>
            <a:prstGeom prst="rect">
              <a:avLst/>
            </a:prstGeom>
            <a:solidFill>
              <a:srgbClr val="0066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63" name="任意多边形 362"/>
            <p:cNvSpPr/>
            <p:nvPr/>
          </p:nvSpPr>
          <p:spPr bwMode="auto">
            <a:xfrm>
              <a:off x="1048043" y="2571974"/>
              <a:ext cx="6921305" cy="1856935"/>
            </a:xfrm>
            <a:custGeom>
              <a:avLst/>
              <a:gdLst>
                <a:gd name="connsiteX0" fmla="*/ 28135 w 6921305"/>
                <a:gd name="connsiteY0" fmla="*/ 21101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21101 h 1856935"/>
                <a:gd name="connsiteX0" fmla="*/ 28135 w 6921305"/>
                <a:gd name="connsiteY0" fmla="*/ 4415 h 1856935"/>
                <a:gd name="connsiteX1" fmla="*/ 2349305 w 6921305"/>
                <a:gd name="connsiteY1" fmla="*/ 21101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28135 w 6921305"/>
                <a:gd name="connsiteY0" fmla="*/ 4415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28135 w 6921305"/>
                <a:gd name="connsiteY9" fmla="*/ 4415 h 1856935"/>
                <a:gd name="connsiteX0" fmla="*/ 14786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14786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886135 w 6921305"/>
                <a:gd name="connsiteY5" fmla="*/ 0 h 1856935"/>
                <a:gd name="connsiteX6" fmla="*/ 6921305 w 6921305"/>
                <a:gd name="connsiteY6" fmla="*/ 0 h 1856935"/>
                <a:gd name="connsiteX7" fmla="*/ 6921305 w 6921305"/>
                <a:gd name="connsiteY7" fmla="*/ 1856935 h 1856935"/>
                <a:gd name="connsiteX8" fmla="*/ 0 w 6921305"/>
                <a:gd name="connsiteY8" fmla="*/ 1856935 h 1856935"/>
                <a:gd name="connsiteX9" fmla="*/ 8112 w 6921305"/>
                <a:gd name="connsiteY9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49305 w 6921305"/>
                <a:gd name="connsiteY2" fmla="*/ 203981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70499 w 6921305"/>
                <a:gd name="connsiteY2" fmla="*/ 179759 h 1856935"/>
                <a:gd name="connsiteX3" fmla="*/ 4628271 w 6921305"/>
                <a:gd name="connsiteY3" fmla="*/ 20398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  <a:gd name="connsiteX0" fmla="*/ 8112 w 6921305"/>
                <a:gd name="connsiteY0" fmla="*/ 11089 h 1856935"/>
                <a:gd name="connsiteX1" fmla="*/ 2352642 w 6921305"/>
                <a:gd name="connsiteY1" fmla="*/ 1078 h 1856935"/>
                <a:gd name="connsiteX2" fmla="*/ 2370499 w 6921305"/>
                <a:gd name="connsiteY2" fmla="*/ 179759 h 1856935"/>
                <a:gd name="connsiteX3" fmla="*/ 4616160 w 6921305"/>
                <a:gd name="connsiteY3" fmla="*/ 176731 h 1856935"/>
                <a:gd name="connsiteX4" fmla="*/ 4628271 w 6921305"/>
                <a:gd name="connsiteY4" fmla="*/ 0 h 1856935"/>
                <a:gd name="connsiteX5" fmla="*/ 6921305 w 6921305"/>
                <a:gd name="connsiteY5" fmla="*/ 0 h 1856935"/>
                <a:gd name="connsiteX6" fmla="*/ 6921305 w 6921305"/>
                <a:gd name="connsiteY6" fmla="*/ 1856935 h 1856935"/>
                <a:gd name="connsiteX7" fmla="*/ 0 w 6921305"/>
                <a:gd name="connsiteY7" fmla="*/ 1856935 h 1856935"/>
                <a:gd name="connsiteX8" fmla="*/ 8112 w 6921305"/>
                <a:gd name="connsiteY8" fmla="*/ 11089 h 185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21305" h="1856935">
                  <a:moveTo>
                    <a:pt x="8112" y="11089"/>
                  </a:moveTo>
                  <a:lnTo>
                    <a:pt x="2352642" y="1078"/>
                  </a:lnTo>
                  <a:cubicBezTo>
                    <a:pt x="2351530" y="68712"/>
                    <a:pt x="2371611" y="112125"/>
                    <a:pt x="2370499" y="179759"/>
                  </a:cubicBezTo>
                  <a:lnTo>
                    <a:pt x="4616160" y="176731"/>
                  </a:lnTo>
                  <a:lnTo>
                    <a:pt x="4628271" y="0"/>
                  </a:lnTo>
                  <a:lnTo>
                    <a:pt x="6921305" y="0"/>
                  </a:lnTo>
                  <a:lnTo>
                    <a:pt x="6921305" y="1856935"/>
                  </a:lnTo>
                  <a:lnTo>
                    <a:pt x="0" y="1856935"/>
                  </a:lnTo>
                  <a:lnTo>
                    <a:pt x="8112" y="11089"/>
                  </a:lnTo>
                  <a:close/>
                </a:path>
              </a:pathLst>
            </a:custGeom>
            <a:solidFill>
              <a:srgbClr val="CCEC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64" name="矩形 363"/>
            <p:cNvSpPr/>
            <p:nvPr/>
          </p:nvSpPr>
          <p:spPr bwMode="auto">
            <a:xfrm>
              <a:off x="1041009" y="4437575"/>
              <a:ext cx="6935094" cy="669600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65" name="AutoShape 2834"/>
            <p:cNvSpPr>
              <a:spLocks noChangeArrowheads="1"/>
            </p:cNvSpPr>
            <p:nvPr/>
          </p:nvSpPr>
          <p:spPr bwMode="auto">
            <a:xfrm flipV="1">
              <a:off x="1483898" y="172898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" name="Line 2835"/>
            <p:cNvSpPr>
              <a:spLocks noChangeShapeType="1"/>
            </p:cNvSpPr>
            <p:nvPr/>
          </p:nvSpPr>
          <p:spPr bwMode="auto">
            <a:xfrm>
              <a:off x="1410873" y="190678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2836"/>
            <p:cNvSpPr>
              <a:spLocks noChangeShapeType="1"/>
            </p:cNvSpPr>
            <p:nvPr/>
          </p:nvSpPr>
          <p:spPr bwMode="auto">
            <a:xfrm>
              <a:off x="1582323" y="1906780"/>
              <a:ext cx="1190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2837"/>
            <p:cNvSpPr>
              <a:spLocks noChangeShapeType="1"/>
            </p:cNvSpPr>
            <p:nvPr/>
          </p:nvSpPr>
          <p:spPr bwMode="auto">
            <a:xfrm>
              <a:off x="1491835" y="1951230"/>
              <a:ext cx="1698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2838"/>
            <p:cNvSpPr>
              <a:spLocks noChangeShapeType="1"/>
            </p:cNvSpPr>
            <p:nvPr/>
          </p:nvSpPr>
          <p:spPr bwMode="auto">
            <a:xfrm>
              <a:off x="1545810" y="1995680"/>
              <a:ext cx="7143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Text Box 2839"/>
            <p:cNvSpPr txBox="1">
              <a:spLocks noChangeArrowheads="1"/>
            </p:cNvSpPr>
            <p:nvPr/>
          </p:nvSpPr>
          <p:spPr bwMode="auto">
            <a:xfrm>
              <a:off x="802364" y="4294380"/>
              <a:ext cx="10259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71" name="Freeform 2840"/>
            <p:cNvSpPr>
              <a:spLocks/>
            </p:cNvSpPr>
            <p:nvPr/>
          </p:nvSpPr>
          <p:spPr bwMode="auto">
            <a:xfrm>
              <a:off x="3406360" y="1459105"/>
              <a:ext cx="2278063" cy="1301750"/>
            </a:xfrm>
            <a:custGeom>
              <a:avLst/>
              <a:gdLst>
                <a:gd name="T0" fmla="*/ 0 w 1435"/>
                <a:gd name="T1" fmla="*/ 85 h 820"/>
                <a:gd name="T2" fmla="*/ 0 w 1435"/>
                <a:gd name="T3" fmla="*/ 820 h 820"/>
                <a:gd name="T4" fmla="*/ 1435 w 1435"/>
                <a:gd name="T5" fmla="*/ 820 h 820"/>
                <a:gd name="T6" fmla="*/ 1435 w 1435"/>
                <a:gd name="T7" fmla="*/ 479 h 820"/>
                <a:gd name="T8" fmla="*/ 1403 w 1435"/>
                <a:gd name="T9" fmla="*/ 478 h 820"/>
                <a:gd name="T10" fmla="*/ 1334 w 1435"/>
                <a:gd name="T11" fmla="*/ 473 h 820"/>
                <a:gd name="T12" fmla="*/ 1258 w 1435"/>
                <a:gd name="T13" fmla="*/ 462 h 820"/>
                <a:gd name="T14" fmla="*/ 1141 w 1435"/>
                <a:gd name="T15" fmla="*/ 430 h 820"/>
                <a:gd name="T16" fmla="*/ 1006 w 1435"/>
                <a:gd name="T17" fmla="*/ 388 h 820"/>
                <a:gd name="T18" fmla="*/ 806 w 1435"/>
                <a:gd name="T19" fmla="*/ 305 h 820"/>
                <a:gd name="T20" fmla="*/ 672 w 1435"/>
                <a:gd name="T21" fmla="*/ 234 h 820"/>
                <a:gd name="T22" fmla="*/ 520 w 1435"/>
                <a:gd name="T23" fmla="*/ 143 h 820"/>
                <a:gd name="T24" fmla="*/ 422 w 1435"/>
                <a:gd name="T25" fmla="*/ 85 h 820"/>
                <a:gd name="T26" fmla="*/ 355 w 1435"/>
                <a:gd name="T27" fmla="*/ 47 h 820"/>
                <a:gd name="T28" fmla="*/ 274 w 1435"/>
                <a:gd name="T29" fmla="*/ 15 h 820"/>
                <a:gd name="T30" fmla="*/ 205 w 1435"/>
                <a:gd name="T31" fmla="*/ 2 h 820"/>
                <a:gd name="T32" fmla="*/ 123 w 1435"/>
                <a:gd name="T33" fmla="*/ 4 h 820"/>
                <a:gd name="T34" fmla="*/ 62 w 1435"/>
                <a:gd name="T35" fmla="*/ 27 h 820"/>
                <a:gd name="T36" fmla="*/ 19 w 1435"/>
                <a:gd name="T37" fmla="*/ 60 h 820"/>
                <a:gd name="T38" fmla="*/ 0 w 1435"/>
                <a:gd name="T39" fmla="*/ 85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35" h="820">
                  <a:moveTo>
                    <a:pt x="0" y="85"/>
                  </a:moveTo>
                  <a:lnTo>
                    <a:pt x="0" y="820"/>
                  </a:lnTo>
                  <a:lnTo>
                    <a:pt x="1435" y="820"/>
                  </a:lnTo>
                  <a:lnTo>
                    <a:pt x="1435" y="479"/>
                  </a:lnTo>
                  <a:lnTo>
                    <a:pt x="1403" y="478"/>
                  </a:lnTo>
                  <a:cubicBezTo>
                    <a:pt x="1386" y="477"/>
                    <a:pt x="1358" y="476"/>
                    <a:pt x="1334" y="473"/>
                  </a:cubicBezTo>
                  <a:cubicBezTo>
                    <a:pt x="1310" y="470"/>
                    <a:pt x="1290" y="469"/>
                    <a:pt x="1258" y="462"/>
                  </a:cubicBezTo>
                  <a:cubicBezTo>
                    <a:pt x="1226" y="455"/>
                    <a:pt x="1183" y="442"/>
                    <a:pt x="1141" y="430"/>
                  </a:cubicBezTo>
                  <a:cubicBezTo>
                    <a:pt x="1099" y="418"/>
                    <a:pt x="1062" y="409"/>
                    <a:pt x="1006" y="388"/>
                  </a:cubicBezTo>
                  <a:cubicBezTo>
                    <a:pt x="950" y="367"/>
                    <a:pt x="862" y="331"/>
                    <a:pt x="806" y="305"/>
                  </a:cubicBezTo>
                  <a:cubicBezTo>
                    <a:pt x="750" y="279"/>
                    <a:pt x="720" y="261"/>
                    <a:pt x="672" y="234"/>
                  </a:cubicBezTo>
                  <a:cubicBezTo>
                    <a:pt x="624" y="207"/>
                    <a:pt x="562" y="167"/>
                    <a:pt x="520" y="143"/>
                  </a:cubicBezTo>
                  <a:cubicBezTo>
                    <a:pt x="478" y="119"/>
                    <a:pt x="449" y="101"/>
                    <a:pt x="422" y="85"/>
                  </a:cubicBezTo>
                  <a:cubicBezTo>
                    <a:pt x="395" y="70"/>
                    <a:pt x="380" y="59"/>
                    <a:pt x="355" y="47"/>
                  </a:cubicBezTo>
                  <a:cubicBezTo>
                    <a:pt x="330" y="35"/>
                    <a:pt x="299" y="23"/>
                    <a:pt x="274" y="15"/>
                  </a:cubicBezTo>
                  <a:cubicBezTo>
                    <a:pt x="249" y="8"/>
                    <a:pt x="230" y="4"/>
                    <a:pt x="205" y="2"/>
                  </a:cubicBezTo>
                  <a:cubicBezTo>
                    <a:pt x="180" y="0"/>
                    <a:pt x="147" y="0"/>
                    <a:pt x="123" y="4"/>
                  </a:cubicBezTo>
                  <a:cubicBezTo>
                    <a:pt x="99" y="8"/>
                    <a:pt x="79" y="18"/>
                    <a:pt x="62" y="27"/>
                  </a:cubicBezTo>
                  <a:cubicBezTo>
                    <a:pt x="45" y="36"/>
                    <a:pt x="29" y="50"/>
                    <a:pt x="19" y="60"/>
                  </a:cubicBezTo>
                  <a:cubicBezTo>
                    <a:pt x="9" y="70"/>
                    <a:pt x="4" y="81"/>
                    <a:pt x="0" y="85"/>
                  </a:cubicBezTo>
                  <a:close/>
                </a:path>
              </a:pathLst>
            </a:custGeom>
            <a:solidFill>
              <a:srgbClr val="FFC000"/>
            </a:solid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Line 2841"/>
            <p:cNvSpPr>
              <a:spLocks noChangeShapeType="1"/>
            </p:cNvSpPr>
            <p:nvPr/>
          </p:nvSpPr>
          <p:spPr bwMode="auto">
            <a:xfrm>
              <a:off x="5687598" y="2564005"/>
              <a:ext cx="22864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2842"/>
            <p:cNvSpPr>
              <a:spLocks noChangeShapeType="1"/>
            </p:cNvSpPr>
            <p:nvPr/>
          </p:nvSpPr>
          <p:spPr bwMode="auto">
            <a:xfrm flipH="1">
              <a:off x="1058862" y="2568767"/>
              <a:ext cx="23427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2843"/>
            <p:cNvSpPr>
              <a:spLocks noChangeShapeType="1"/>
            </p:cNvSpPr>
            <p:nvPr/>
          </p:nvSpPr>
          <p:spPr bwMode="auto">
            <a:xfrm flipH="1">
              <a:off x="1065894" y="1852805"/>
              <a:ext cx="234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2844"/>
            <p:cNvSpPr>
              <a:spLocks noChangeShapeType="1"/>
            </p:cNvSpPr>
            <p:nvPr/>
          </p:nvSpPr>
          <p:spPr bwMode="auto">
            <a:xfrm>
              <a:off x="5687597" y="2462405"/>
              <a:ext cx="226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Freeform 2845"/>
            <p:cNvSpPr>
              <a:spLocks/>
            </p:cNvSpPr>
            <p:nvPr/>
          </p:nvSpPr>
          <p:spPr bwMode="auto">
            <a:xfrm>
              <a:off x="3117435" y="2570355"/>
              <a:ext cx="2844800" cy="557212"/>
            </a:xfrm>
            <a:custGeom>
              <a:avLst/>
              <a:gdLst>
                <a:gd name="T0" fmla="*/ 0 w 1792"/>
                <a:gd name="T1" fmla="*/ 1 h 351"/>
                <a:gd name="T2" fmla="*/ 24 w 1792"/>
                <a:gd name="T3" fmla="*/ 118 h 351"/>
                <a:gd name="T4" fmla="*/ 99 w 1792"/>
                <a:gd name="T5" fmla="*/ 225 h 351"/>
                <a:gd name="T6" fmla="*/ 255 w 1792"/>
                <a:gd name="T7" fmla="*/ 310 h 351"/>
                <a:gd name="T8" fmla="*/ 445 w 1792"/>
                <a:gd name="T9" fmla="*/ 341 h 351"/>
                <a:gd name="T10" fmla="*/ 643 w 1792"/>
                <a:gd name="T11" fmla="*/ 349 h 351"/>
                <a:gd name="T12" fmla="*/ 913 w 1792"/>
                <a:gd name="T13" fmla="*/ 349 h 351"/>
                <a:gd name="T14" fmla="*/ 1255 w 1792"/>
                <a:gd name="T15" fmla="*/ 336 h 351"/>
                <a:gd name="T16" fmla="*/ 1525 w 1792"/>
                <a:gd name="T17" fmla="*/ 305 h 351"/>
                <a:gd name="T18" fmla="*/ 1678 w 1792"/>
                <a:gd name="T19" fmla="*/ 234 h 351"/>
                <a:gd name="T20" fmla="*/ 1760 w 1792"/>
                <a:gd name="T21" fmla="*/ 133 h 351"/>
                <a:gd name="T22" fmla="*/ 1792 w 1792"/>
                <a:gd name="T2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92" h="351">
                  <a:moveTo>
                    <a:pt x="0" y="1"/>
                  </a:moveTo>
                  <a:cubicBezTo>
                    <a:pt x="4" y="20"/>
                    <a:pt x="8" y="81"/>
                    <a:pt x="24" y="118"/>
                  </a:cubicBezTo>
                  <a:cubicBezTo>
                    <a:pt x="40" y="155"/>
                    <a:pt x="60" y="193"/>
                    <a:pt x="99" y="225"/>
                  </a:cubicBezTo>
                  <a:cubicBezTo>
                    <a:pt x="138" y="257"/>
                    <a:pt x="197" y="291"/>
                    <a:pt x="255" y="310"/>
                  </a:cubicBezTo>
                  <a:cubicBezTo>
                    <a:pt x="312" y="330"/>
                    <a:pt x="380" y="335"/>
                    <a:pt x="445" y="341"/>
                  </a:cubicBezTo>
                  <a:cubicBezTo>
                    <a:pt x="509" y="347"/>
                    <a:pt x="565" y="348"/>
                    <a:pt x="643" y="349"/>
                  </a:cubicBezTo>
                  <a:cubicBezTo>
                    <a:pt x="721" y="350"/>
                    <a:pt x="811" y="351"/>
                    <a:pt x="913" y="349"/>
                  </a:cubicBezTo>
                  <a:cubicBezTo>
                    <a:pt x="1015" y="347"/>
                    <a:pt x="1153" y="343"/>
                    <a:pt x="1255" y="336"/>
                  </a:cubicBezTo>
                  <a:cubicBezTo>
                    <a:pt x="1357" y="328"/>
                    <a:pt x="1455" y="321"/>
                    <a:pt x="1525" y="305"/>
                  </a:cubicBezTo>
                  <a:cubicBezTo>
                    <a:pt x="1595" y="289"/>
                    <a:pt x="1638" y="263"/>
                    <a:pt x="1678" y="234"/>
                  </a:cubicBezTo>
                  <a:cubicBezTo>
                    <a:pt x="1717" y="206"/>
                    <a:pt x="1740" y="172"/>
                    <a:pt x="1760" y="133"/>
                  </a:cubicBezTo>
                  <a:cubicBezTo>
                    <a:pt x="1779" y="94"/>
                    <a:pt x="1785" y="28"/>
                    <a:pt x="179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Freeform 2846"/>
            <p:cNvSpPr>
              <a:spLocks/>
            </p:cNvSpPr>
            <p:nvPr/>
          </p:nvSpPr>
          <p:spPr bwMode="auto">
            <a:xfrm>
              <a:off x="2607848" y="2573530"/>
              <a:ext cx="3851275" cy="977900"/>
            </a:xfrm>
            <a:custGeom>
              <a:avLst/>
              <a:gdLst>
                <a:gd name="T0" fmla="*/ 0 w 2409"/>
                <a:gd name="T1" fmla="*/ 2 h 606"/>
                <a:gd name="T2" fmla="*/ 32 w 2409"/>
                <a:gd name="T3" fmla="*/ 166 h 606"/>
                <a:gd name="T4" fmla="*/ 112 w 2409"/>
                <a:gd name="T5" fmla="*/ 307 h 606"/>
                <a:gd name="T6" fmla="*/ 275 w 2409"/>
                <a:gd name="T7" fmla="*/ 448 h 606"/>
                <a:gd name="T8" fmla="*/ 502 w 2409"/>
                <a:gd name="T9" fmla="*/ 541 h 606"/>
                <a:gd name="T10" fmla="*/ 870 w 2409"/>
                <a:gd name="T11" fmla="*/ 595 h 606"/>
                <a:gd name="T12" fmla="*/ 1228 w 2409"/>
                <a:gd name="T13" fmla="*/ 605 h 606"/>
                <a:gd name="T14" fmla="*/ 1542 w 2409"/>
                <a:gd name="T15" fmla="*/ 589 h 606"/>
                <a:gd name="T16" fmla="*/ 1830 w 2409"/>
                <a:gd name="T17" fmla="*/ 538 h 606"/>
                <a:gd name="T18" fmla="*/ 2081 w 2409"/>
                <a:gd name="T19" fmla="*/ 437 h 606"/>
                <a:gd name="T20" fmla="*/ 2267 w 2409"/>
                <a:gd name="T21" fmla="*/ 290 h 606"/>
                <a:gd name="T22" fmla="*/ 2368 w 2409"/>
                <a:gd name="T23" fmla="*/ 150 h 606"/>
                <a:gd name="T24" fmla="*/ 2409 w 2409"/>
                <a:gd name="T25" fmla="*/ 0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09" h="606">
                  <a:moveTo>
                    <a:pt x="0" y="2"/>
                  </a:moveTo>
                  <a:cubicBezTo>
                    <a:pt x="5" y="29"/>
                    <a:pt x="13" y="115"/>
                    <a:pt x="32" y="166"/>
                  </a:cubicBezTo>
                  <a:cubicBezTo>
                    <a:pt x="51" y="217"/>
                    <a:pt x="72" y="260"/>
                    <a:pt x="112" y="307"/>
                  </a:cubicBezTo>
                  <a:cubicBezTo>
                    <a:pt x="152" y="354"/>
                    <a:pt x="210" y="409"/>
                    <a:pt x="275" y="448"/>
                  </a:cubicBezTo>
                  <a:cubicBezTo>
                    <a:pt x="340" y="487"/>
                    <a:pt x="403" y="517"/>
                    <a:pt x="502" y="541"/>
                  </a:cubicBezTo>
                  <a:cubicBezTo>
                    <a:pt x="601" y="565"/>
                    <a:pt x="749" y="584"/>
                    <a:pt x="870" y="595"/>
                  </a:cubicBezTo>
                  <a:cubicBezTo>
                    <a:pt x="991" y="606"/>
                    <a:pt x="1116" y="606"/>
                    <a:pt x="1228" y="605"/>
                  </a:cubicBezTo>
                  <a:cubicBezTo>
                    <a:pt x="1340" y="604"/>
                    <a:pt x="1442" y="600"/>
                    <a:pt x="1542" y="589"/>
                  </a:cubicBezTo>
                  <a:cubicBezTo>
                    <a:pt x="1642" y="578"/>
                    <a:pt x="1740" y="563"/>
                    <a:pt x="1830" y="538"/>
                  </a:cubicBezTo>
                  <a:cubicBezTo>
                    <a:pt x="1920" y="513"/>
                    <a:pt x="2008" y="478"/>
                    <a:pt x="2081" y="437"/>
                  </a:cubicBezTo>
                  <a:cubicBezTo>
                    <a:pt x="2154" y="396"/>
                    <a:pt x="2219" y="338"/>
                    <a:pt x="2267" y="290"/>
                  </a:cubicBezTo>
                  <a:cubicBezTo>
                    <a:pt x="2315" y="242"/>
                    <a:pt x="2344" y="198"/>
                    <a:pt x="2368" y="150"/>
                  </a:cubicBezTo>
                  <a:cubicBezTo>
                    <a:pt x="2392" y="102"/>
                    <a:pt x="2401" y="51"/>
                    <a:pt x="240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Freeform 2847"/>
            <p:cNvSpPr>
              <a:spLocks/>
            </p:cNvSpPr>
            <p:nvPr/>
          </p:nvSpPr>
          <p:spPr bwMode="auto">
            <a:xfrm>
              <a:off x="1542635" y="2564005"/>
              <a:ext cx="5856288" cy="1408112"/>
            </a:xfrm>
            <a:custGeom>
              <a:avLst/>
              <a:gdLst>
                <a:gd name="T0" fmla="*/ 0 w 3689"/>
                <a:gd name="T1" fmla="*/ 6 h 887"/>
                <a:gd name="T2" fmla="*/ 35 w 3689"/>
                <a:gd name="T3" fmla="*/ 166 h 887"/>
                <a:gd name="T4" fmla="*/ 131 w 3689"/>
                <a:gd name="T5" fmla="*/ 374 h 887"/>
                <a:gd name="T6" fmla="*/ 294 w 3689"/>
                <a:gd name="T7" fmla="*/ 560 h 887"/>
                <a:gd name="T8" fmla="*/ 537 w 3689"/>
                <a:gd name="T9" fmla="*/ 707 h 887"/>
                <a:gd name="T10" fmla="*/ 899 w 3689"/>
                <a:gd name="T11" fmla="*/ 803 h 887"/>
                <a:gd name="T12" fmla="*/ 1232 w 3689"/>
                <a:gd name="T13" fmla="*/ 860 h 887"/>
                <a:gd name="T14" fmla="*/ 1660 w 3689"/>
                <a:gd name="T15" fmla="*/ 880 h 887"/>
                <a:gd name="T16" fmla="*/ 2144 w 3689"/>
                <a:gd name="T17" fmla="*/ 880 h 887"/>
                <a:gd name="T18" fmla="*/ 2592 w 3689"/>
                <a:gd name="T19" fmla="*/ 838 h 887"/>
                <a:gd name="T20" fmla="*/ 3011 w 3689"/>
                <a:gd name="T21" fmla="*/ 739 h 887"/>
                <a:gd name="T22" fmla="*/ 3328 w 3689"/>
                <a:gd name="T23" fmla="*/ 593 h 887"/>
                <a:gd name="T24" fmla="*/ 3528 w 3689"/>
                <a:gd name="T25" fmla="*/ 420 h 887"/>
                <a:gd name="T26" fmla="*/ 3654 w 3689"/>
                <a:gd name="T27" fmla="*/ 188 h 887"/>
                <a:gd name="T28" fmla="*/ 3689 w 3689"/>
                <a:gd name="T29" fmla="*/ 0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89" h="887">
                  <a:moveTo>
                    <a:pt x="0" y="6"/>
                  </a:moveTo>
                  <a:cubicBezTo>
                    <a:pt x="5" y="33"/>
                    <a:pt x="13" y="105"/>
                    <a:pt x="35" y="166"/>
                  </a:cubicBezTo>
                  <a:cubicBezTo>
                    <a:pt x="57" y="227"/>
                    <a:pt x="88" y="308"/>
                    <a:pt x="131" y="374"/>
                  </a:cubicBezTo>
                  <a:cubicBezTo>
                    <a:pt x="174" y="440"/>
                    <a:pt x="226" y="504"/>
                    <a:pt x="294" y="560"/>
                  </a:cubicBezTo>
                  <a:cubicBezTo>
                    <a:pt x="362" y="616"/>
                    <a:pt x="436" y="667"/>
                    <a:pt x="537" y="707"/>
                  </a:cubicBezTo>
                  <a:cubicBezTo>
                    <a:pt x="638" y="747"/>
                    <a:pt x="783" y="778"/>
                    <a:pt x="899" y="803"/>
                  </a:cubicBezTo>
                  <a:cubicBezTo>
                    <a:pt x="1015" y="828"/>
                    <a:pt x="1105" y="847"/>
                    <a:pt x="1232" y="860"/>
                  </a:cubicBezTo>
                  <a:cubicBezTo>
                    <a:pt x="1359" y="873"/>
                    <a:pt x="1508" y="877"/>
                    <a:pt x="1660" y="880"/>
                  </a:cubicBezTo>
                  <a:cubicBezTo>
                    <a:pt x="1812" y="883"/>
                    <a:pt x="1989" y="887"/>
                    <a:pt x="2144" y="880"/>
                  </a:cubicBezTo>
                  <a:cubicBezTo>
                    <a:pt x="2299" y="873"/>
                    <a:pt x="2448" y="861"/>
                    <a:pt x="2592" y="838"/>
                  </a:cubicBezTo>
                  <a:cubicBezTo>
                    <a:pt x="2736" y="815"/>
                    <a:pt x="2888" y="780"/>
                    <a:pt x="3011" y="739"/>
                  </a:cubicBezTo>
                  <a:cubicBezTo>
                    <a:pt x="3134" y="698"/>
                    <a:pt x="3242" y="646"/>
                    <a:pt x="3328" y="593"/>
                  </a:cubicBezTo>
                  <a:cubicBezTo>
                    <a:pt x="3414" y="540"/>
                    <a:pt x="3474" y="487"/>
                    <a:pt x="3528" y="420"/>
                  </a:cubicBezTo>
                  <a:cubicBezTo>
                    <a:pt x="3582" y="353"/>
                    <a:pt x="3627" y="258"/>
                    <a:pt x="3654" y="188"/>
                  </a:cubicBezTo>
                  <a:cubicBezTo>
                    <a:pt x="3681" y="118"/>
                    <a:pt x="3682" y="39"/>
                    <a:pt x="3689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Line 2848"/>
            <p:cNvSpPr>
              <a:spLocks noChangeShapeType="1"/>
            </p:cNvSpPr>
            <p:nvPr/>
          </p:nvSpPr>
          <p:spPr bwMode="auto">
            <a:xfrm>
              <a:off x="1044160" y="4432492"/>
              <a:ext cx="6934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Freeform 2849"/>
            <p:cNvSpPr>
              <a:spLocks/>
            </p:cNvSpPr>
            <p:nvPr/>
          </p:nvSpPr>
          <p:spPr bwMode="auto">
            <a:xfrm>
              <a:off x="2022060" y="2744980"/>
              <a:ext cx="1374775" cy="1682750"/>
            </a:xfrm>
            <a:custGeom>
              <a:avLst/>
              <a:gdLst>
                <a:gd name="T0" fmla="*/ 866 w 866"/>
                <a:gd name="T1" fmla="*/ 0 h 1060"/>
                <a:gd name="T2" fmla="*/ 751 w 866"/>
                <a:gd name="T3" fmla="*/ 49 h 1060"/>
                <a:gd name="T4" fmla="*/ 592 w 866"/>
                <a:gd name="T5" fmla="*/ 144 h 1060"/>
                <a:gd name="T6" fmla="*/ 425 w 866"/>
                <a:gd name="T7" fmla="*/ 277 h 1060"/>
                <a:gd name="T8" fmla="*/ 235 w 866"/>
                <a:gd name="T9" fmla="*/ 478 h 1060"/>
                <a:gd name="T10" fmla="*/ 94 w 866"/>
                <a:gd name="T11" fmla="*/ 749 h 1060"/>
                <a:gd name="T12" fmla="*/ 0 w 866"/>
                <a:gd name="T13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60">
                  <a:moveTo>
                    <a:pt x="866" y="0"/>
                  </a:moveTo>
                  <a:cubicBezTo>
                    <a:pt x="847" y="8"/>
                    <a:pt x="797" y="25"/>
                    <a:pt x="751" y="49"/>
                  </a:cubicBezTo>
                  <a:cubicBezTo>
                    <a:pt x="705" y="73"/>
                    <a:pt x="646" y="106"/>
                    <a:pt x="592" y="144"/>
                  </a:cubicBezTo>
                  <a:cubicBezTo>
                    <a:pt x="538" y="182"/>
                    <a:pt x="484" y="221"/>
                    <a:pt x="425" y="277"/>
                  </a:cubicBezTo>
                  <a:cubicBezTo>
                    <a:pt x="366" y="333"/>
                    <a:pt x="290" y="399"/>
                    <a:pt x="235" y="478"/>
                  </a:cubicBezTo>
                  <a:cubicBezTo>
                    <a:pt x="180" y="557"/>
                    <a:pt x="133" y="652"/>
                    <a:pt x="94" y="749"/>
                  </a:cubicBezTo>
                  <a:cubicBezTo>
                    <a:pt x="55" y="846"/>
                    <a:pt x="20" y="995"/>
                    <a:pt x="0" y="106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Freeform 2850"/>
            <p:cNvSpPr>
              <a:spLocks/>
            </p:cNvSpPr>
            <p:nvPr/>
          </p:nvSpPr>
          <p:spPr bwMode="auto">
            <a:xfrm>
              <a:off x="2868198" y="2767205"/>
              <a:ext cx="685800" cy="1660525"/>
            </a:xfrm>
            <a:custGeom>
              <a:avLst/>
              <a:gdLst>
                <a:gd name="T0" fmla="*/ 346 w 346"/>
                <a:gd name="T1" fmla="*/ 0 h 1046"/>
                <a:gd name="T2" fmla="*/ 314 w 346"/>
                <a:gd name="T3" fmla="*/ 115 h 1046"/>
                <a:gd name="T4" fmla="*/ 250 w 346"/>
                <a:gd name="T5" fmla="*/ 262 h 1046"/>
                <a:gd name="T6" fmla="*/ 157 w 346"/>
                <a:gd name="T7" fmla="*/ 451 h 1046"/>
                <a:gd name="T8" fmla="*/ 56 w 346"/>
                <a:gd name="T9" fmla="*/ 684 h 1046"/>
                <a:gd name="T10" fmla="*/ 13 w 346"/>
                <a:gd name="T11" fmla="*/ 907 h 1046"/>
                <a:gd name="T12" fmla="*/ 0 w 346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1046">
                  <a:moveTo>
                    <a:pt x="346" y="0"/>
                  </a:moveTo>
                  <a:cubicBezTo>
                    <a:pt x="338" y="35"/>
                    <a:pt x="330" y="71"/>
                    <a:pt x="314" y="115"/>
                  </a:cubicBezTo>
                  <a:cubicBezTo>
                    <a:pt x="298" y="159"/>
                    <a:pt x="276" y="206"/>
                    <a:pt x="250" y="262"/>
                  </a:cubicBezTo>
                  <a:cubicBezTo>
                    <a:pt x="224" y="318"/>
                    <a:pt x="189" y="381"/>
                    <a:pt x="157" y="451"/>
                  </a:cubicBezTo>
                  <a:cubicBezTo>
                    <a:pt x="125" y="521"/>
                    <a:pt x="80" y="608"/>
                    <a:pt x="56" y="684"/>
                  </a:cubicBezTo>
                  <a:cubicBezTo>
                    <a:pt x="32" y="760"/>
                    <a:pt x="22" y="847"/>
                    <a:pt x="13" y="907"/>
                  </a:cubicBezTo>
                  <a:cubicBezTo>
                    <a:pt x="4" y="967"/>
                    <a:pt x="3" y="1017"/>
                    <a:pt x="0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Freeform 2851"/>
            <p:cNvSpPr>
              <a:spLocks/>
            </p:cNvSpPr>
            <p:nvPr/>
          </p:nvSpPr>
          <p:spPr bwMode="auto">
            <a:xfrm>
              <a:off x="3517485" y="2765617"/>
              <a:ext cx="366713" cy="1671638"/>
            </a:xfrm>
            <a:custGeom>
              <a:avLst/>
              <a:gdLst>
                <a:gd name="T0" fmla="*/ 231 w 231"/>
                <a:gd name="T1" fmla="*/ 0 h 1053"/>
                <a:gd name="T2" fmla="*/ 205 w 231"/>
                <a:gd name="T3" fmla="*/ 150 h 1053"/>
                <a:gd name="T4" fmla="*/ 148 w 231"/>
                <a:gd name="T5" fmla="*/ 372 h 1053"/>
                <a:gd name="T6" fmla="*/ 90 w 231"/>
                <a:gd name="T7" fmla="*/ 567 h 1053"/>
                <a:gd name="T8" fmla="*/ 40 w 231"/>
                <a:gd name="T9" fmla="*/ 772 h 1053"/>
                <a:gd name="T10" fmla="*/ 0 w 231"/>
                <a:gd name="T11" fmla="*/ 1053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1" h="1053">
                  <a:moveTo>
                    <a:pt x="231" y="0"/>
                  </a:moveTo>
                  <a:cubicBezTo>
                    <a:pt x="227" y="25"/>
                    <a:pt x="219" y="88"/>
                    <a:pt x="205" y="150"/>
                  </a:cubicBezTo>
                  <a:cubicBezTo>
                    <a:pt x="191" y="212"/>
                    <a:pt x="167" y="302"/>
                    <a:pt x="148" y="372"/>
                  </a:cubicBezTo>
                  <a:cubicBezTo>
                    <a:pt x="129" y="442"/>
                    <a:pt x="108" y="500"/>
                    <a:pt x="90" y="567"/>
                  </a:cubicBezTo>
                  <a:cubicBezTo>
                    <a:pt x="72" y="634"/>
                    <a:pt x="55" y="691"/>
                    <a:pt x="40" y="772"/>
                  </a:cubicBezTo>
                  <a:cubicBezTo>
                    <a:pt x="25" y="853"/>
                    <a:pt x="8" y="995"/>
                    <a:pt x="0" y="1053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Freeform 2852"/>
            <p:cNvSpPr>
              <a:spLocks/>
            </p:cNvSpPr>
            <p:nvPr/>
          </p:nvSpPr>
          <p:spPr bwMode="auto">
            <a:xfrm>
              <a:off x="4087398" y="2770380"/>
              <a:ext cx="149225" cy="1643062"/>
            </a:xfrm>
            <a:custGeom>
              <a:avLst/>
              <a:gdLst>
                <a:gd name="T0" fmla="*/ 94 w 94"/>
                <a:gd name="T1" fmla="*/ 0 h 1035"/>
                <a:gd name="T2" fmla="*/ 80 w 94"/>
                <a:gd name="T3" fmla="*/ 224 h 1035"/>
                <a:gd name="T4" fmla="*/ 45 w 94"/>
                <a:gd name="T5" fmla="*/ 520 h 1035"/>
                <a:gd name="T6" fmla="*/ 19 w 94"/>
                <a:gd name="T7" fmla="*/ 798 h 1035"/>
                <a:gd name="T8" fmla="*/ 0 w 94"/>
                <a:gd name="T9" fmla="*/ 1035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035">
                  <a:moveTo>
                    <a:pt x="94" y="0"/>
                  </a:moveTo>
                  <a:cubicBezTo>
                    <a:pt x="92" y="37"/>
                    <a:pt x="88" y="137"/>
                    <a:pt x="80" y="224"/>
                  </a:cubicBezTo>
                  <a:cubicBezTo>
                    <a:pt x="72" y="311"/>
                    <a:pt x="55" y="424"/>
                    <a:pt x="45" y="520"/>
                  </a:cubicBezTo>
                  <a:cubicBezTo>
                    <a:pt x="35" y="616"/>
                    <a:pt x="26" y="712"/>
                    <a:pt x="19" y="798"/>
                  </a:cubicBezTo>
                  <a:cubicBezTo>
                    <a:pt x="12" y="884"/>
                    <a:pt x="4" y="986"/>
                    <a:pt x="0" y="1035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Freeform 2853"/>
            <p:cNvSpPr>
              <a:spLocks/>
            </p:cNvSpPr>
            <p:nvPr/>
          </p:nvSpPr>
          <p:spPr bwMode="auto">
            <a:xfrm>
              <a:off x="4590635" y="2765617"/>
              <a:ext cx="9525" cy="1666875"/>
            </a:xfrm>
            <a:custGeom>
              <a:avLst/>
              <a:gdLst>
                <a:gd name="T0" fmla="*/ 6 w 6"/>
                <a:gd name="T1" fmla="*/ 0 h 1050"/>
                <a:gd name="T2" fmla="*/ 1 w 6"/>
                <a:gd name="T3" fmla="*/ 295 h 1050"/>
                <a:gd name="T4" fmla="*/ 0 w 6"/>
                <a:gd name="T5" fmla="*/ 556 h 1050"/>
                <a:gd name="T6" fmla="*/ 1 w 6"/>
                <a:gd name="T7" fmla="*/ 801 h 1050"/>
                <a:gd name="T8" fmla="*/ 1 w 6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50">
                  <a:moveTo>
                    <a:pt x="6" y="0"/>
                  </a:moveTo>
                  <a:cubicBezTo>
                    <a:pt x="6" y="49"/>
                    <a:pt x="2" y="202"/>
                    <a:pt x="1" y="295"/>
                  </a:cubicBezTo>
                  <a:cubicBezTo>
                    <a:pt x="0" y="388"/>
                    <a:pt x="0" y="472"/>
                    <a:pt x="0" y="556"/>
                  </a:cubicBezTo>
                  <a:cubicBezTo>
                    <a:pt x="0" y="640"/>
                    <a:pt x="1" y="719"/>
                    <a:pt x="1" y="801"/>
                  </a:cubicBezTo>
                  <a:cubicBezTo>
                    <a:pt x="1" y="883"/>
                    <a:pt x="2" y="966"/>
                    <a:pt x="1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Freeform 2854"/>
            <p:cNvSpPr>
              <a:spLocks/>
            </p:cNvSpPr>
            <p:nvPr/>
          </p:nvSpPr>
          <p:spPr bwMode="auto">
            <a:xfrm>
              <a:off x="4946235" y="2767205"/>
              <a:ext cx="142875" cy="1666875"/>
            </a:xfrm>
            <a:custGeom>
              <a:avLst/>
              <a:gdLst>
                <a:gd name="T0" fmla="*/ 0 w 90"/>
                <a:gd name="T1" fmla="*/ 0 h 1050"/>
                <a:gd name="T2" fmla="*/ 16 w 90"/>
                <a:gd name="T3" fmla="*/ 280 h 1050"/>
                <a:gd name="T4" fmla="*/ 42 w 90"/>
                <a:gd name="T5" fmla="*/ 561 h 1050"/>
                <a:gd name="T6" fmla="*/ 78 w 90"/>
                <a:gd name="T7" fmla="*/ 833 h 1050"/>
                <a:gd name="T8" fmla="*/ 90 w 9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1050">
                  <a:moveTo>
                    <a:pt x="0" y="0"/>
                  </a:moveTo>
                  <a:cubicBezTo>
                    <a:pt x="3" y="47"/>
                    <a:pt x="9" y="187"/>
                    <a:pt x="16" y="280"/>
                  </a:cubicBezTo>
                  <a:cubicBezTo>
                    <a:pt x="23" y="373"/>
                    <a:pt x="32" y="469"/>
                    <a:pt x="42" y="561"/>
                  </a:cubicBezTo>
                  <a:cubicBezTo>
                    <a:pt x="52" y="653"/>
                    <a:pt x="70" y="752"/>
                    <a:pt x="78" y="833"/>
                  </a:cubicBezTo>
                  <a:cubicBezTo>
                    <a:pt x="86" y="914"/>
                    <a:pt x="88" y="982"/>
                    <a:pt x="90" y="105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Freeform 2855"/>
            <p:cNvSpPr>
              <a:spLocks/>
            </p:cNvSpPr>
            <p:nvPr/>
          </p:nvSpPr>
          <p:spPr bwMode="auto">
            <a:xfrm>
              <a:off x="5270085" y="2770380"/>
              <a:ext cx="373063" cy="1651000"/>
            </a:xfrm>
            <a:custGeom>
              <a:avLst/>
              <a:gdLst>
                <a:gd name="T0" fmla="*/ 0 w 235"/>
                <a:gd name="T1" fmla="*/ 0 h 1040"/>
                <a:gd name="T2" fmla="*/ 24 w 235"/>
                <a:gd name="T3" fmla="*/ 179 h 1040"/>
                <a:gd name="T4" fmla="*/ 93 w 235"/>
                <a:gd name="T5" fmla="*/ 442 h 1040"/>
                <a:gd name="T6" fmla="*/ 184 w 235"/>
                <a:gd name="T7" fmla="*/ 723 h 1040"/>
                <a:gd name="T8" fmla="*/ 235 w 235"/>
                <a:gd name="T9" fmla="*/ 1040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040">
                  <a:moveTo>
                    <a:pt x="0" y="0"/>
                  </a:moveTo>
                  <a:cubicBezTo>
                    <a:pt x="4" y="30"/>
                    <a:pt x="8" y="105"/>
                    <a:pt x="24" y="179"/>
                  </a:cubicBezTo>
                  <a:cubicBezTo>
                    <a:pt x="40" y="253"/>
                    <a:pt x="66" y="351"/>
                    <a:pt x="93" y="442"/>
                  </a:cubicBezTo>
                  <a:cubicBezTo>
                    <a:pt x="120" y="533"/>
                    <a:pt x="160" y="623"/>
                    <a:pt x="184" y="723"/>
                  </a:cubicBezTo>
                  <a:cubicBezTo>
                    <a:pt x="208" y="823"/>
                    <a:pt x="221" y="931"/>
                    <a:pt x="235" y="104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Freeform 2856"/>
            <p:cNvSpPr>
              <a:spLocks/>
            </p:cNvSpPr>
            <p:nvPr/>
          </p:nvSpPr>
          <p:spPr bwMode="auto">
            <a:xfrm>
              <a:off x="5552660" y="2767205"/>
              <a:ext cx="688975" cy="1660525"/>
            </a:xfrm>
            <a:custGeom>
              <a:avLst/>
              <a:gdLst>
                <a:gd name="T0" fmla="*/ 0 w 434"/>
                <a:gd name="T1" fmla="*/ 0 h 1046"/>
                <a:gd name="T2" fmla="*/ 33 w 434"/>
                <a:gd name="T3" fmla="*/ 105 h 1046"/>
                <a:gd name="T4" fmla="*/ 75 w 434"/>
                <a:gd name="T5" fmla="*/ 192 h 1046"/>
                <a:gd name="T6" fmla="*/ 187 w 434"/>
                <a:gd name="T7" fmla="*/ 360 h 1046"/>
                <a:gd name="T8" fmla="*/ 322 w 434"/>
                <a:gd name="T9" fmla="*/ 576 h 1046"/>
                <a:gd name="T10" fmla="*/ 406 w 434"/>
                <a:gd name="T11" fmla="*/ 836 h 1046"/>
                <a:gd name="T12" fmla="*/ 434 w 434"/>
                <a:gd name="T13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4" h="1046">
                  <a:moveTo>
                    <a:pt x="0" y="0"/>
                  </a:moveTo>
                  <a:cubicBezTo>
                    <a:pt x="5" y="17"/>
                    <a:pt x="21" y="73"/>
                    <a:pt x="33" y="105"/>
                  </a:cubicBezTo>
                  <a:cubicBezTo>
                    <a:pt x="45" y="137"/>
                    <a:pt x="49" y="149"/>
                    <a:pt x="75" y="192"/>
                  </a:cubicBezTo>
                  <a:cubicBezTo>
                    <a:pt x="101" y="235"/>
                    <a:pt x="146" y="296"/>
                    <a:pt x="187" y="360"/>
                  </a:cubicBezTo>
                  <a:cubicBezTo>
                    <a:pt x="228" y="424"/>
                    <a:pt x="286" y="497"/>
                    <a:pt x="322" y="576"/>
                  </a:cubicBezTo>
                  <a:cubicBezTo>
                    <a:pt x="358" y="655"/>
                    <a:pt x="388" y="758"/>
                    <a:pt x="406" y="836"/>
                  </a:cubicBezTo>
                  <a:cubicBezTo>
                    <a:pt x="425" y="914"/>
                    <a:pt x="428" y="1002"/>
                    <a:pt x="434" y="104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Freeform 2857"/>
            <p:cNvSpPr>
              <a:spLocks/>
            </p:cNvSpPr>
            <p:nvPr/>
          </p:nvSpPr>
          <p:spPr bwMode="auto">
            <a:xfrm>
              <a:off x="5684423" y="2737042"/>
              <a:ext cx="1363662" cy="1695450"/>
            </a:xfrm>
            <a:custGeom>
              <a:avLst/>
              <a:gdLst>
                <a:gd name="T0" fmla="*/ 0 w 859"/>
                <a:gd name="T1" fmla="*/ 1 h 1068"/>
                <a:gd name="T2" fmla="*/ 82 w 859"/>
                <a:gd name="T3" fmla="*/ 20 h 1068"/>
                <a:gd name="T4" fmla="*/ 280 w 859"/>
                <a:gd name="T5" fmla="*/ 121 h 1068"/>
                <a:gd name="T6" fmla="*/ 507 w 859"/>
                <a:gd name="T7" fmla="*/ 310 h 1068"/>
                <a:gd name="T8" fmla="*/ 693 w 859"/>
                <a:gd name="T9" fmla="*/ 550 h 1068"/>
                <a:gd name="T10" fmla="*/ 818 w 859"/>
                <a:gd name="T11" fmla="*/ 796 h 1068"/>
                <a:gd name="T12" fmla="*/ 859 w 859"/>
                <a:gd name="T13" fmla="*/ 1068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9" h="1068">
                  <a:moveTo>
                    <a:pt x="0" y="1"/>
                  </a:moveTo>
                  <a:cubicBezTo>
                    <a:pt x="14" y="5"/>
                    <a:pt x="35" y="0"/>
                    <a:pt x="82" y="20"/>
                  </a:cubicBezTo>
                  <a:cubicBezTo>
                    <a:pt x="129" y="40"/>
                    <a:pt x="209" y="73"/>
                    <a:pt x="280" y="121"/>
                  </a:cubicBezTo>
                  <a:cubicBezTo>
                    <a:pt x="351" y="169"/>
                    <a:pt x="438" y="239"/>
                    <a:pt x="507" y="310"/>
                  </a:cubicBezTo>
                  <a:cubicBezTo>
                    <a:pt x="576" y="381"/>
                    <a:pt x="641" y="469"/>
                    <a:pt x="693" y="550"/>
                  </a:cubicBezTo>
                  <a:cubicBezTo>
                    <a:pt x="745" y="631"/>
                    <a:pt x="790" y="710"/>
                    <a:pt x="818" y="796"/>
                  </a:cubicBezTo>
                  <a:cubicBezTo>
                    <a:pt x="846" y="882"/>
                    <a:pt x="852" y="975"/>
                    <a:pt x="859" y="106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Line 2858"/>
            <p:cNvSpPr>
              <a:spLocks noChangeShapeType="1"/>
            </p:cNvSpPr>
            <p:nvPr/>
          </p:nvSpPr>
          <p:spPr bwMode="auto">
            <a:xfrm>
              <a:off x="5595523" y="1821055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Text Box 2862"/>
            <p:cNvSpPr txBox="1">
              <a:spLocks noChangeArrowheads="1"/>
            </p:cNvSpPr>
            <p:nvPr/>
          </p:nvSpPr>
          <p:spPr bwMode="auto">
            <a:xfrm>
              <a:off x="3385723" y="2367155"/>
              <a:ext cx="32092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91" name="Text Box 2863"/>
            <p:cNvSpPr txBox="1">
              <a:spLocks noChangeArrowheads="1"/>
            </p:cNvSpPr>
            <p:nvPr/>
          </p:nvSpPr>
          <p:spPr bwMode="auto">
            <a:xfrm>
              <a:off x="3266660" y="2692592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392" name="Text Box 2864"/>
            <p:cNvSpPr txBox="1">
              <a:spLocks noChangeArrowheads="1"/>
            </p:cNvSpPr>
            <p:nvPr/>
          </p:nvSpPr>
          <p:spPr bwMode="auto">
            <a:xfrm>
              <a:off x="5546310" y="2686242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93" name="Text Box 2865"/>
            <p:cNvSpPr txBox="1">
              <a:spLocks noChangeArrowheads="1"/>
            </p:cNvSpPr>
            <p:nvPr/>
          </p:nvSpPr>
          <p:spPr bwMode="auto">
            <a:xfrm>
              <a:off x="5401848" y="2368742"/>
              <a:ext cx="32092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394" name="Line 2867"/>
            <p:cNvSpPr>
              <a:spLocks noChangeShapeType="1"/>
            </p:cNvSpPr>
            <p:nvPr/>
          </p:nvSpPr>
          <p:spPr bwMode="auto">
            <a:xfrm>
              <a:off x="6138448" y="1814705"/>
              <a:ext cx="0" cy="641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2868"/>
            <p:cNvSpPr>
              <a:spLocks noChangeShapeType="1"/>
            </p:cNvSpPr>
            <p:nvPr/>
          </p:nvSpPr>
          <p:spPr bwMode="auto">
            <a:xfrm>
              <a:off x="6944898" y="222745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Text Box 2869"/>
            <p:cNvSpPr txBox="1">
              <a:spLocks noChangeArrowheads="1"/>
            </p:cNvSpPr>
            <p:nvPr/>
          </p:nvSpPr>
          <p:spPr bwMode="auto">
            <a:xfrm>
              <a:off x="6127335" y="1875030"/>
              <a:ext cx="7747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  <a:sym typeface="Symbol" pitchFamily="18" charset="2"/>
                </a:rPr>
                <a:t></a:t>
              </a:r>
              <a:r>
                <a:rPr lang="en-US" altLang="zh-CN" sz="1600" b="1" i="1" dirty="0">
                  <a:latin typeface="Times New Roman" pitchFamily="18" charset="0"/>
                </a:rPr>
                <a:t>H</a:t>
              </a:r>
              <a:r>
                <a:rPr lang="en-US" altLang="zh-CN" sz="1600" b="1" dirty="0">
                  <a:latin typeface="Times New Roman" pitchFamily="18" charset="0"/>
                </a:rPr>
                <a:t>=5m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sp>
          <p:nvSpPr>
            <p:cNvPr id="397" name="Text Box 2870"/>
            <p:cNvSpPr txBox="1">
              <a:spLocks noChangeArrowheads="1"/>
            </p:cNvSpPr>
            <p:nvPr/>
          </p:nvSpPr>
          <p:spPr bwMode="auto">
            <a:xfrm>
              <a:off x="6941723" y="2109980"/>
              <a:ext cx="37465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1600" b="1">
                  <a:latin typeface="Times New Roman" pitchFamily="18" charset="0"/>
                </a:rPr>
                <a:t>m</a:t>
              </a:r>
              <a:endParaRPr lang="el-GR" altLang="zh-CN" sz="1600" b="1">
                <a:latin typeface="Times New Roman" pitchFamily="18" charset="0"/>
              </a:endParaRPr>
            </a:p>
          </p:txBody>
        </p:sp>
        <p:sp>
          <p:nvSpPr>
            <p:cNvPr id="398" name="Text Box 2874"/>
            <p:cNvSpPr txBox="1">
              <a:spLocks noChangeArrowheads="1"/>
            </p:cNvSpPr>
            <p:nvPr/>
          </p:nvSpPr>
          <p:spPr bwMode="auto">
            <a:xfrm>
              <a:off x="7928447" y="2219157"/>
              <a:ext cx="3097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99" name="AutoShape 2875"/>
            <p:cNvSpPr>
              <a:spLocks noChangeArrowheads="1"/>
            </p:cNvSpPr>
            <p:nvPr/>
          </p:nvSpPr>
          <p:spPr bwMode="auto">
            <a:xfrm flipV="1">
              <a:off x="6584535" y="2344930"/>
              <a:ext cx="136525" cy="11747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" name="Line 2876"/>
            <p:cNvSpPr>
              <a:spLocks noChangeShapeType="1"/>
            </p:cNvSpPr>
            <p:nvPr/>
          </p:nvSpPr>
          <p:spPr bwMode="auto">
            <a:xfrm>
              <a:off x="6521035" y="249891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2877"/>
            <p:cNvSpPr>
              <a:spLocks noChangeShapeType="1"/>
            </p:cNvSpPr>
            <p:nvPr/>
          </p:nvSpPr>
          <p:spPr bwMode="auto">
            <a:xfrm>
              <a:off x="6682960" y="2498917"/>
              <a:ext cx="1190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Line 2878"/>
            <p:cNvSpPr>
              <a:spLocks noChangeShapeType="1"/>
            </p:cNvSpPr>
            <p:nvPr/>
          </p:nvSpPr>
          <p:spPr bwMode="auto">
            <a:xfrm>
              <a:off x="6592473" y="2533842"/>
              <a:ext cx="16986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Text Box 2879"/>
            <p:cNvSpPr txBox="1">
              <a:spLocks noChangeArrowheads="1"/>
            </p:cNvSpPr>
            <p:nvPr/>
          </p:nvSpPr>
          <p:spPr bwMode="auto">
            <a:xfrm>
              <a:off x="1031460" y="4102292"/>
              <a:ext cx="344966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04" name="Text Box 2880"/>
            <p:cNvSpPr txBox="1">
              <a:spLocks noChangeArrowheads="1"/>
            </p:cNvSpPr>
            <p:nvPr/>
          </p:nvSpPr>
          <p:spPr bwMode="auto">
            <a:xfrm>
              <a:off x="7652923" y="4102292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405" name="Text Box 2881"/>
            <p:cNvSpPr txBox="1">
              <a:spLocks noChangeArrowheads="1"/>
            </p:cNvSpPr>
            <p:nvPr/>
          </p:nvSpPr>
          <p:spPr bwMode="auto">
            <a:xfrm>
              <a:off x="8071527" y="4311842"/>
              <a:ext cx="10259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06" name="Line 2882"/>
            <p:cNvSpPr>
              <a:spLocks noChangeShapeType="1"/>
            </p:cNvSpPr>
            <p:nvPr/>
          </p:nvSpPr>
          <p:spPr bwMode="auto">
            <a:xfrm flipV="1">
              <a:off x="6954423" y="2575117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Text Box 2883"/>
            <p:cNvSpPr txBox="1">
              <a:spLocks noChangeArrowheads="1"/>
            </p:cNvSpPr>
            <p:nvPr/>
          </p:nvSpPr>
          <p:spPr bwMode="auto">
            <a:xfrm>
              <a:off x="5162135" y="4696650"/>
              <a:ext cx="1011815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 sz="1600" b="1" dirty="0">
                  <a:latin typeface="Times New Roman" pitchFamily="18" charset="0"/>
                </a:rPr>
                <a:t>不透水层</a:t>
              </a:r>
            </a:p>
          </p:txBody>
        </p:sp>
        <p:sp>
          <p:nvSpPr>
            <p:cNvPr id="408" name="Text Box 2884"/>
            <p:cNvSpPr txBox="1">
              <a:spLocks noChangeArrowheads="1"/>
            </p:cNvSpPr>
            <p:nvPr/>
          </p:nvSpPr>
          <p:spPr bwMode="auto">
            <a:xfrm>
              <a:off x="3123785" y="228778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</a:t>
              </a:r>
            </a:p>
          </p:txBody>
        </p:sp>
        <p:sp>
          <p:nvSpPr>
            <p:cNvPr id="409" name="Text Box 2885"/>
            <p:cNvSpPr txBox="1">
              <a:spLocks noChangeArrowheads="1"/>
            </p:cNvSpPr>
            <p:nvPr/>
          </p:nvSpPr>
          <p:spPr bwMode="auto">
            <a:xfrm>
              <a:off x="2899948" y="2289367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</a:t>
              </a:r>
            </a:p>
          </p:txBody>
        </p:sp>
        <p:sp>
          <p:nvSpPr>
            <p:cNvPr id="410" name="Text Box 2886"/>
            <p:cNvSpPr txBox="1">
              <a:spLocks noChangeArrowheads="1"/>
            </p:cNvSpPr>
            <p:nvPr/>
          </p:nvSpPr>
          <p:spPr bwMode="auto">
            <a:xfrm>
              <a:off x="1309273" y="226873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</a:t>
              </a:r>
            </a:p>
          </p:txBody>
        </p:sp>
        <p:sp>
          <p:nvSpPr>
            <p:cNvPr id="411" name="Text Box 2887"/>
            <p:cNvSpPr txBox="1">
              <a:spLocks noChangeArrowheads="1"/>
            </p:cNvSpPr>
            <p:nvPr/>
          </p:nvSpPr>
          <p:spPr bwMode="auto">
            <a:xfrm>
              <a:off x="2396710" y="2279842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</a:t>
              </a:r>
            </a:p>
          </p:txBody>
        </p:sp>
        <p:sp>
          <p:nvSpPr>
            <p:cNvPr id="412" name="Text Box 2888"/>
            <p:cNvSpPr txBox="1">
              <a:spLocks noChangeArrowheads="1"/>
            </p:cNvSpPr>
            <p:nvPr/>
          </p:nvSpPr>
          <p:spPr bwMode="auto">
            <a:xfrm>
              <a:off x="707610" y="238779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13" name="Text Box 2889"/>
            <p:cNvSpPr txBox="1">
              <a:spLocks noChangeArrowheads="1"/>
            </p:cNvSpPr>
            <p:nvPr/>
          </p:nvSpPr>
          <p:spPr bwMode="auto">
            <a:xfrm>
              <a:off x="1431510" y="4161030"/>
              <a:ext cx="36740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sym typeface="Wingdings" pitchFamily="2" charset="2"/>
                </a:rPr>
                <a:t></a:t>
              </a:r>
            </a:p>
          </p:txBody>
        </p:sp>
        <p:sp>
          <p:nvSpPr>
            <p:cNvPr id="414" name="Text Box 2890"/>
            <p:cNvSpPr txBox="1">
              <a:spLocks noChangeArrowheads="1"/>
            </p:cNvSpPr>
            <p:nvPr/>
          </p:nvSpPr>
          <p:spPr bwMode="auto">
            <a:xfrm>
              <a:off x="1858548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15" name="Text Box 2891"/>
            <p:cNvSpPr txBox="1">
              <a:spLocks noChangeArrowheads="1"/>
            </p:cNvSpPr>
            <p:nvPr/>
          </p:nvSpPr>
          <p:spPr bwMode="auto">
            <a:xfrm>
              <a:off x="2841210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16" name="Text Box 2892"/>
            <p:cNvSpPr txBox="1">
              <a:spLocks noChangeArrowheads="1"/>
            </p:cNvSpPr>
            <p:nvPr/>
          </p:nvSpPr>
          <p:spPr bwMode="auto">
            <a:xfrm>
              <a:off x="3412710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17" name="Text Box 2893"/>
            <p:cNvSpPr txBox="1">
              <a:spLocks noChangeArrowheads="1"/>
            </p:cNvSpPr>
            <p:nvPr/>
          </p:nvSpPr>
          <p:spPr bwMode="auto">
            <a:xfrm>
              <a:off x="393023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18" name="Text Box 2894"/>
            <p:cNvSpPr txBox="1">
              <a:spLocks noChangeArrowheads="1"/>
            </p:cNvSpPr>
            <p:nvPr/>
          </p:nvSpPr>
          <p:spPr bwMode="auto">
            <a:xfrm>
              <a:off x="446363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19" name="Text Box 2895"/>
            <p:cNvSpPr txBox="1">
              <a:spLocks noChangeArrowheads="1"/>
            </p:cNvSpPr>
            <p:nvPr/>
          </p:nvSpPr>
          <p:spPr bwMode="auto">
            <a:xfrm>
              <a:off x="4928773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420" name="Text Box 2896"/>
            <p:cNvSpPr txBox="1">
              <a:spLocks noChangeArrowheads="1"/>
            </p:cNvSpPr>
            <p:nvPr/>
          </p:nvSpPr>
          <p:spPr bwMode="auto">
            <a:xfrm>
              <a:off x="5455823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421" name="Text Box 2897"/>
            <p:cNvSpPr txBox="1">
              <a:spLocks noChangeArrowheads="1"/>
            </p:cNvSpPr>
            <p:nvPr/>
          </p:nvSpPr>
          <p:spPr bwMode="auto">
            <a:xfrm>
              <a:off x="6057485" y="4451542"/>
              <a:ext cx="287258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422" name="Text Box 2898"/>
            <p:cNvSpPr txBox="1">
              <a:spLocks noChangeArrowheads="1"/>
            </p:cNvSpPr>
            <p:nvPr/>
          </p:nvSpPr>
          <p:spPr bwMode="auto">
            <a:xfrm>
              <a:off x="6857585" y="4451542"/>
              <a:ext cx="38985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423" name="Text Box 2899"/>
            <p:cNvSpPr txBox="1">
              <a:spLocks noChangeArrowheads="1"/>
            </p:cNvSpPr>
            <p:nvPr/>
          </p:nvSpPr>
          <p:spPr bwMode="auto">
            <a:xfrm>
              <a:off x="7918035" y="2402080"/>
              <a:ext cx="37850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424" name="Text Box 2900"/>
            <p:cNvSpPr txBox="1">
              <a:spLocks noChangeArrowheads="1"/>
            </p:cNvSpPr>
            <p:nvPr/>
          </p:nvSpPr>
          <p:spPr bwMode="auto">
            <a:xfrm>
              <a:off x="7373523" y="3246630"/>
              <a:ext cx="654346" cy="7325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i="1" dirty="0">
                  <a:latin typeface="Times New Roman" pitchFamily="18" charset="0"/>
                </a:rPr>
                <a:t>N</a:t>
              </a:r>
              <a:r>
                <a:rPr lang="en-US" altLang="zh-CN" sz="1600" b="1" dirty="0">
                  <a:latin typeface="Times New Roman" pitchFamily="18" charset="0"/>
                </a:rPr>
                <a:t>=10</a:t>
              </a:r>
            </a:p>
            <a:p>
              <a:r>
                <a:rPr lang="en-US" altLang="zh-CN" sz="1600" b="1" i="1" dirty="0">
                  <a:latin typeface="Times New Roman" pitchFamily="18" charset="0"/>
                </a:rPr>
                <a:t>M</a:t>
              </a:r>
              <a:r>
                <a:rPr lang="en-US" altLang="zh-CN" sz="1600" b="1" dirty="0">
                  <a:latin typeface="Times New Roman" pitchFamily="18" charset="0"/>
                </a:rPr>
                <a:t>=4</a:t>
              </a:r>
            </a:p>
          </p:txBody>
        </p:sp>
        <p:grpSp>
          <p:nvGrpSpPr>
            <p:cNvPr id="425" name="Group 2909"/>
            <p:cNvGrpSpPr>
              <a:grpSpLocks/>
            </p:cNvGrpSpPr>
            <p:nvPr/>
          </p:nvGrpSpPr>
          <p:grpSpPr bwMode="auto">
            <a:xfrm>
              <a:off x="7211598" y="4430905"/>
              <a:ext cx="625475" cy="133350"/>
              <a:chOff x="2644" y="2807"/>
              <a:chExt cx="481" cy="83"/>
            </a:xfrm>
          </p:grpSpPr>
          <p:sp>
            <p:nvSpPr>
              <p:cNvPr id="447" name="Freeform 2910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8" name="Freeform 2911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9" name="Freeform 2912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0" name="Freeform 2913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1" name="Freeform 2914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2" name="Freeform 2915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3" name="Freeform 2916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4" name="Freeform 2917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5" name="Freeform 2918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6" name="Freeform 2919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7" name="Freeform 2920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8" name="Freeform 2921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26" name="Group 2922"/>
            <p:cNvGrpSpPr>
              <a:grpSpLocks/>
            </p:cNvGrpSpPr>
            <p:nvPr/>
          </p:nvGrpSpPr>
          <p:grpSpPr bwMode="auto">
            <a:xfrm>
              <a:off x="2137948" y="4430905"/>
              <a:ext cx="625475" cy="133350"/>
              <a:chOff x="2644" y="2807"/>
              <a:chExt cx="481" cy="83"/>
            </a:xfrm>
          </p:grpSpPr>
          <p:sp>
            <p:nvSpPr>
              <p:cNvPr id="435" name="Freeform 2923"/>
              <p:cNvSpPr>
                <a:spLocks/>
              </p:cNvSpPr>
              <p:nvPr/>
            </p:nvSpPr>
            <p:spPr bwMode="auto">
              <a:xfrm>
                <a:off x="2644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6" name="Freeform 2924"/>
              <p:cNvSpPr>
                <a:spLocks/>
              </p:cNvSpPr>
              <p:nvPr/>
            </p:nvSpPr>
            <p:spPr bwMode="auto">
              <a:xfrm>
                <a:off x="2729" y="2810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7" name="Freeform 2925"/>
              <p:cNvSpPr>
                <a:spLocks/>
              </p:cNvSpPr>
              <p:nvPr/>
            </p:nvSpPr>
            <p:spPr bwMode="auto">
              <a:xfrm>
                <a:off x="2693" y="2807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8" name="Freeform 2926"/>
              <p:cNvSpPr>
                <a:spLocks/>
              </p:cNvSpPr>
              <p:nvPr/>
            </p:nvSpPr>
            <p:spPr bwMode="auto">
              <a:xfrm>
                <a:off x="2792" y="2837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9" name="Freeform 2927"/>
              <p:cNvSpPr>
                <a:spLocks/>
              </p:cNvSpPr>
              <p:nvPr/>
            </p:nvSpPr>
            <p:spPr bwMode="auto">
              <a:xfrm>
                <a:off x="2759" y="2859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" name="Freeform 2928"/>
              <p:cNvSpPr>
                <a:spLocks/>
              </p:cNvSpPr>
              <p:nvPr/>
            </p:nvSpPr>
            <p:spPr bwMode="auto">
              <a:xfrm>
                <a:off x="2829" y="2813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1" name="Freeform 2929"/>
              <p:cNvSpPr>
                <a:spLocks/>
              </p:cNvSpPr>
              <p:nvPr/>
            </p:nvSpPr>
            <p:spPr bwMode="auto">
              <a:xfrm>
                <a:off x="2868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2" name="Freeform 2930"/>
              <p:cNvSpPr>
                <a:spLocks/>
              </p:cNvSpPr>
              <p:nvPr/>
            </p:nvSpPr>
            <p:spPr bwMode="auto">
              <a:xfrm>
                <a:off x="2953" y="2811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3" name="Freeform 2931"/>
              <p:cNvSpPr>
                <a:spLocks/>
              </p:cNvSpPr>
              <p:nvPr/>
            </p:nvSpPr>
            <p:spPr bwMode="auto">
              <a:xfrm>
                <a:off x="2917" y="2808"/>
                <a:ext cx="97" cy="73"/>
              </a:xfrm>
              <a:custGeom>
                <a:avLst/>
                <a:gdLst>
                  <a:gd name="T0" fmla="*/ 97 w 97"/>
                  <a:gd name="T1" fmla="*/ 0 h 73"/>
                  <a:gd name="T2" fmla="*/ 0 w 97"/>
                  <a:gd name="T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7" h="73">
                    <a:moveTo>
                      <a:pt x="97" y="0"/>
                    </a:moveTo>
                    <a:lnTo>
                      <a:pt x="0" y="73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4" name="Freeform 2932"/>
              <p:cNvSpPr>
                <a:spLocks/>
              </p:cNvSpPr>
              <p:nvPr/>
            </p:nvSpPr>
            <p:spPr bwMode="auto">
              <a:xfrm>
                <a:off x="3016" y="2838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5" name="Freeform 2933"/>
              <p:cNvSpPr>
                <a:spLocks/>
              </p:cNvSpPr>
              <p:nvPr/>
            </p:nvSpPr>
            <p:spPr bwMode="auto">
              <a:xfrm>
                <a:off x="2983" y="2860"/>
                <a:ext cx="54" cy="30"/>
              </a:xfrm>
              <a:custGeom>
                <a:avLst/>
                <a:gdLst>
                  <a:gd name="T0" fmla="*/ 0 w 54"/>
                  <a:gd name="T1" fmla="*/ 0 h 30"/>
                  <a:gd name="T2" fmla="*/ 54 w 54"/>
                  <a:gd name="T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" h="30">
                    <a:moveTo>
                      <a:pt x="0" y="0"/>
                    </a:moveTo>
                    <a:lnTo>
                      <a:pt x="54" y="3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6" name="Freeform 2934"/>
              <p:cNvSpPr>
                <a:spLocks/>
              </p:cNvSpPr>
              <p:nvPr/>
            </p:nvSpPr>
            <p:spPr bwMode="auto">
              <a:xfrm>
                <a:off x="3053" y="2814"/>
                <a:ext cx="72" cy="40"/>
              </a:xfrm>
              <a:custGeom>
                <a:avLst/>
                <a:gdLst>
                  <a:gd name="T0" fmla="*/ 0 w 72"/>
                  <a:gd name="T1" fmla="*/ 0 h 40"/>
                  <a:gd name="T2" fmla="*/ 72 w 72"/>
                  <a:gd name="T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2" h="40">
                    <a:moveTo>
                      <a:pt x="0" y="0"/>
                    </a:moveTo>
                    <a:lnTo>
                      <a:pt x="72" y="40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27" name="Text Box 2861"/>
            <p:cNvSpPr txBox="1">
              <a:spLocks noChangeArrowheads="1"/>
            </p:cNvSpPr>
            <p:nvPr/>
          </p:nvSpPr>
          <p:spPr bwMode="auto">
            <a:xfrm>
              <a:off x="838293" y="2243330"/>
              <a:ext cx="332142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defTabSz="1101725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defTabSz="11017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600" b="1" dirty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28" name="Line 2866"/>
            <p:cNvSpPr>
              <a:spLocks noChangeShapeType="1"/>
            </p:cNvSpPr>
            <p:nvPr/>
          </p:nvSpPr>
          <p:spPr bwMode="auto">
            <a:xfrm>
              <a:off x="447840" y="1857567"/>
              <a:ext cx="0" cy="715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Text Box 2873"/>
            <p:cNvSpPr txBox="1">
              <a:spLocks noChangeArrowheads="1"/>
            </p:cNvSpPr>
            <p:nvPr/>
          </p:nvSpPr>
          <p:spPr bwMode="auto">
            <a:xfrm>
              <a:off x="435194" y="1989330"/>
              <a:ext cx="4699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itchFamily="18" charset="0"/>
                </a:rPr>
                <a:t>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  <p:cxnSp>
          <p:nvCxnSpPr>
            <p:cNvPr id="430" name="直接连接符 429"/>
            <p:cNvCxnSpPr/>
            <p:nvPr/>
          </p:nvCxnSpPr>
          <p:spPr bwMode="auto">
            <a:xfrm>
              <a:off x="312026" y="1849725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1" name="直接连接符 430"/>
            <p:cNvCxnSpPr/>
            <p:nvPr/>
          </p:nvCxnSpPr>
          <p:spPr bwMode="auto">
            <a:xfrm>
              <a:off x="313351" y="2574619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2" name="直接连接符 431"/>
            <p:cNvCxnSpPr/>
            <p:nvPr/>
          </p:nvCxnSpPr>
          <p:spPr bwMode="auto">
            <a:xfrm>
              <a:off x="328613" y="4420016"/>
              <a:ext cx="43732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33" name="Line 2866"/>
            <p:cNvSpPr>
              <a:spLocks noChangeShapeType="1"/>
            </p:cNvSpPr>
            <p:nvPr/>
          </p:nvSpPr>
          <p:spPr bwMode="auto">
            <a:xfrm>
              <a:off x="455385" y="2580335"/>
              <a:ext cx="0" cy="18341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Text Box 2873"/>
            <p:cNvSpPr txBox="1">
              <a:spLocks noChangeArrowheads="1"/>
            </p:cNvSpPr>
            <p:nvPr/>
          </p:nvSpPr>
          <p:spPr bwMode="auto">
            <a:xfrm>
              <a:off x="474663" y="3303780"/>
              <a:ext cx="469900" cy="3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/>
              <a:r>
                <a:rPr lang="en-US" altLang="zh-CN" sz="1600" b="1" dirty="0" smtClean="0">
                  <a:latin typeface="Times New Roman" pitchFamily="18" charset="0"/>
                </a:rPr>
                <a:t>16m</a:t>
              </a:r>
              <a:endParaRPr lang="el-GR" altLang="zh-CN" sz="1600" b="1" dirty="0">
                <a:latin typeface="Times New Roman" pitchFamily="18" charset="0"/>
              </a:endParaRPr>
            </a:p>
          </p:txBody>
        </p:sp>
      </p:grpSp>
      <p:sp>
        <p:nvSpPr>
          <p:cNvPr id="1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渗流与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流网画法及应用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39" name="Rectangle 2"/>
          <p:cNvSpPr>
            <a:spLocks noChangeArrowheads="1"/>
          </p:cNvSpPr>
          <p:nvPr/>
        </p:nvSpPr>
        <p:spPr bwMode="auto">
          <a:xfrm>
            <a:off x="3194050" y="5735638"/>
            <a:ext cx="27574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流网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的应用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158976" y="625165"/>
            <a:ext cx="3251211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</a:t>
            </a:r>
            <a:r>
              <a:rPr lang="zh-CN" altLang="en-US" sz="28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确定</a:t>
            </a:r>
            <a:r>
              <a:rPr lang="zh-CN" altLang="en-US" sz="28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渗透流量</a:t>
            </a:r>
            <a:endParaRPr lang="zh-CN" altLang="en-US" sz="2800" b="1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338" name="组合 337"/>
          <p:cNvGrpSpPr/>
          <p:nvPr/>
        </p:nvGrpSpPr>
        <p:grpSpPr>
          <a:xfrm>
            <a:off x="4373865" y="3734274"/>
            <a:ext cx="631116" cy="396875"/>
            <a:chOff x="4373865" y="3734274"/>
            <a:chExt cx="631116" cy="396875"/>
          </a:xfrm>
        </p:grpSpPr>
        <p:sp>
          <p:nvSpPr>
            <p:cNvPr id="339" name="Line 178"/>
            <p:cNvSpPr>
              <a:spLocks noChangeShapeType="1"/>
            </p:cNvSpPr>
            <p:nvPr/>
          </p:nvSpPr>
          <p:spPr bwMode="auto">
            <a:xfrm>
              <a:off x="4373865" y="3963316"/>
              <a:ext cx="196839" cy="708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0" name="Text Box 182"/>
            <p:cNvSpPr txBox="1">
              <a:spLocks noChangeArrowheads="1"/>
            </p:cNvSpPr>
            <p:nvPr/>
          </p:nvSpPr>
          <p:spPr bwMode="auto">
            <a:xfrm>
              <a:off x="4538256" y="3734274"/>
              <a:ext cx="466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000" b="1" i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q</a:t>
              </a:r>
            </a:p>
          </p:txBody>
        </p:sp>
      </p:grpSp>
      <p:grpSp>
        <p:nvGrpSpPr>
          <p:cNvPr id="341" name="组合 340"/>
          <p:cNvGrpSpPr/>
          <p:nvPr/>
        </p:nvGrpSpPr>
        <p:grpSpPr>
          <a:xfrm>
            <a:off x="4359288" y="2952397"/>
            <a:ext cx="654976" cy="1637275"/>
            <a:chOff x="4359288" y="2952397"/>
            <a:chExt cx="654976" cy="1637275"/>
          </a:xfrm>
        </p:grpSpPr>
        <p:sp>
          <p:nvSpPr>
            <p:cNvPr id="342" name="Text Box 182"/>
            <p:cNvSpPr txBox="1">
              <a:spLocks noChangeArrowheads="1"/>
            </p:cNvSpPr>
            <p:nvPr/>
          </p:nvSpPr>
          <p:spPr bwMode="auto">
            <a:xfrm>
              <a:off x="4547539" y="2952397"/>
              <a:ext cx="466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000" b="1" i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q</a:t>
              </a:r>
            </a:p>
          </p:txBody>
        </p:sp>
        <p:sp>
          <p:nvSpPr>
            <p:cNvPr id="343" name="Line 178"/>
            <p:cNvSpPr>
              <a:spLocks noChangeShapeType="1"/>
            </p:cNvSpPr>
            <p:nvPr/>
          </p:nvSpPr>
          <p:spPr bwMode="auto">
            <a:xfrm>
              <a:off x="4410968" y="3177463"/>
              <a:ext cx="196839" cy="708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4" name="Line 178"/>
            <p:cNvSpPr>
              <a:spLocks noChangeShapeType="1"/>
            </p:cNvSpPr>
            <p:nvPr/>
          </p:nvSpPr>
          <p:spPr bwMode="auto">
            <a:xfrm>
              <a:off x="4392418" y="3572377"/>
              <a:ext cx="196839" cy="708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5" name="Text Box 182"/>
            <p:cNvSpPr txBox="1">
              <a:spLocks noChangeArrowheads="1"/>
            </p:cNvSpPr>
            <p:nvPr/>
          </p:nvSpPr>
          <p:spPr bwMode="auto">
            <a:xfrm>
              <a:off x="4536933" y="3343338"/>
              <a:ext cx="466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000" b="1" i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q</a:t>
              </a:r>
            </a:p>
          </p:txBody>
        </p:sp>
        <p:sp>
          <p:nvSpPr>
            <p:cNvPr id="346" name="Line 178"/>
            <p:cNvSpPr>
              <a:spLocks noChangeShapeType="1"/>
            </p:cNvSpPr>
            <p:nvPr/>
          </p:nvSpPr>
          <p:spPr bwMode="auto">
            <a:xfrm>
              <a:off x="4359288" y="4425817"/>
              <a:ext cx="196839" cy="708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7" name="Text Box 182"/>
            <p:cNvSpPr txBox="1">
              <a:spLocks noChangeArrowheads="1"/>
            </p:cNvSpPr>
            <p:nvPr/>
          </p:nvSpPr>
          <p:spPr bwMode="auto">
            <a:xfrm>
              <a:off x="4531630" y="4192797"/>
              <a:ext cx="466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000" b="1" i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q</a:t>
              </a:r>
            </a:p>
          </p:txBody>
        </p:sp>
      </p:grpSp>
      <p:grpSp>
        <p:nvGrpSpPr>
          <p:cNvPr id="348" name="组合 347"/>
          <p:cNvGrpSpPr/>
          <p:nvPr/>
        </p:nvGrpSpPr>
        <p:grpSpPr>
          <a:xfrm>
            <a:off x="3267727" y="3611985"/>
            <a:ext cx="882597" cy="582167"/>
            <a:chOff x="3267727" y="3611985"/>
            <a:chExt cx="882597" cy="582167"/>
          </a:xfrm>
        </p:grpSpPr>
        <p:sp>
          <p:nvSpPr>
            <p:cNvPr id="349" name="Line 2859"/>
            <p:cNvSpPr>
              <a:spLocks noChangeShapeType="1"/>
            </p:cNvSpPr>
            <p:nvPr/>
          </p:nvSpPr>
          <p:spPr bwMode="auto">
            <a:xfrm flipH="1">
              <a:off x="3804050" y="3737040"/>
              <a:ext cx="69850" cy="436563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178"/>
            <p:cNvSpPr>
              <a:spLocks noChangeShapeType="1"/>
            </p:cNvSpPr>
            <p:nvPr/>
          </p:nvSpPr>
          <p:spPr bwMode="auto">
            <a:xfrm>
              <a:off x="3510501" y="3899575"/>
              <a:ext cx="270378" cy="5226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51" name="Text Box 14"/>
            <p:cNvSpPr txBox="1">
              <a:spLocks noChangeArrowheads="1"/>
            </p:cNvSpPr>
            <p:nvPr/>
          </p:nvSpPr>
          <p:spPr bwMode="auto">
            <a:xfrm>
              <a:off x="3267727" y="3611985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i="1" dirty="0">
                  <a:solidFill>
                    <a:srgbClr val="A50021"/>
                  </a:solidFill>
                </a:rPr>
                <a:t>v</a:t>
              </a:r>
            </a:p>
          </p:txBody>
        </p:sp>
        <p:sp>
          <p:nvSpPr>
            <p:cNvPr id="352" name="Text Box 14"/>
            <p:cNvSpPr txBox="1">
              <a:spLocks noChangeArrowheads="1"/>
            </p:cNvSpPr>
            <p:nvPr/>
          </p:nvSpPr>
          <p:spPr bwMode="auto">
            <a:xfrm>
              <a:off x="3845432" y="3732487"/>
              <a:ext cx="3048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i="1" dirty="0" smtClean="0">
                  <a:solidFill>
                    <a:srgbClr val="A50021"/>
                  </a:solidFill>
                </a:rPr>
                <a:t>s</a:t>
              </a:r>
              <a:endParaRPr lang="en-US" altLang="zh-CN" sz="2400" i="1" dirty="0">
                <a:solidFill>
                  <a:srgbClr val="A50021"/>
                </a:solidFill>
              </a:endParaRPr>
            </a:p>
          </p:txBody>
        </p:sp>
      </p:grpSp>
      <p:sp>
        <p:nvSpPr>
          <p:cNvPr id="353" name="剪去单角的矩形 352"/>
          <p:cNvSpPr/>
          <p:nvPr/>
        </p:nvSpPr>
        <p:spPr bwMode="auto">
          <a:xfrm>
            <a:off x="5494355" y="3148739"/>
            <a:ext cx="3312000" cy="2304000"/>
          </a:xfrm>
          <a:prstGeom prst="snip1Rect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88900" dist="50800" dir="4800000" sx="102000" sy="102000" algn="ctr" rotWithShape="0">
              <a:srgbClr val="000000">
                <a:alpha val="97000"/>
              </a:srgbClr>
            </a:outerShdw>
          </a:effectLst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54" name="矩形 353"/>
          <p:cNvSpPr/>
          <p:nvPr/>
        </p:nvSpPr>
        <p:spPr>
          <a:xfrm>
            <a:off x="5608546" y="3275940"/>
            <a:ext cx="22871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2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流线单宽流量</a:t>
            </a:r>
            <a:endParaRPr lang="en-US" altLang="zh-CN" sz="2200" b="1" dirty="0" smtClean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355" name="对象 3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670246"/>
              </p:ext>
            </p:extLst>
          </p:nvPr>
        </p:nvGraphicFramePr>
        <p:xfrm>
          <a:off x="5720658" y="3858977"/>
          <a:ext cx="1146219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8" name="公式" r:id="rId4" imgW="596880" imgH="203040" progId="Equation.3">
                  <p:embed/>
                </p:oleObj>
              </mc:Choice>
              <mc:Fallback>
                <p:oleObj name="公式" r:id="rId4" imgW="59688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20658" y="3858977"/>
                        <a:ext cx="1146219" cy="41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" name="对象 3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318212"/>
              </p:ext>
            </p:extLst>
          </p:nvPr>
        </p:nvGraphicFramePr>
        <p:xfrm>
          <a:off x="5736650" y="5013903"/>
          <a:ext cx="25479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9" name="公式" r:id="rId6" imgW="1257120" imgH="203040" progId="Equation.3">
                  <p:embed/>
                </p:oleObj>
              </mc:Choice>
              <mc:Fallback>
                <p:oleObj name="公式" r:id="rId6" imgW="125712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36650" y="5013903"/>
                        <a:ext cx="2547938" cy="414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" name="对象 3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340556"/>
              </p:ext>
            </p:extLst>
          </p:nvPr>
        </p:nvGraphicFramePr>
        <p:xfrm>
          <a:off x="6851541" y="3644036"/>
          <a:ext cx="992187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0" name="公式" r:id="rId8" imgW="571320" imgH="406080" progId="Equation.3">
                  <p:embed/>
                </p:oleObj>
              </mc:Choice>
              <mc:Fallback>
                <p:oleObj name="公式" r:id="rId8" imgW="571320" imgH="4060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51541" y="3644036"/>
                        <a:ext cx="992187" cy="820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" name="对象 3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927920"/>
              </p:ext>
            </p:extLst>
          </p:nvPr>
        </p:nvGraphicFramePr>
        <p:xfrm>
          <a:off x="7912963" y="3868279"/>
          <a:ext cx="7493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1" name="公式" r:id="rId10" imgW="431640" imgH="177480" progId="Equation.3">
                  <p:embed/>
                </p:oleObj>
              </mc:Choice>
              <mc:Fallback>
                <p:oleObj name="公式" r:id="rId10" imgW="431640" imgH="177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912963" y="3868279"/>
                        <a:ext cx="749300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" name="矩形 358"/>
          <p:cNvSpPr/>
          <p:nvPr/>
        </p:nvSpPr>
        <p:spPr>
          <a:xfrm>
            <a:off x="5617822" y="4469960"/>
            <a:ext cx="22871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2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总单宽流量</a:t>
            </a:r>
            <a:endParaRPr lang="en-US" altLang="zh-CN" sz="2200" b="1" dirty="0" smtClean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164421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" grpId="0" animBg="1"/>
      <p:bldP spid="354" grpId="0"/>
      <p:bldP spid="35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1" y="0"/>
            <a:ext cx="356790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平面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渗流及流网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总结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950317" y="837374"/>
            <a:ext cx="452545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平面渗流的数学描述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1477925" y="1393262"/>
            <a:ext cx="2636875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广义达西定律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运动方程：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边界条件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964487" y="2829194"/>
            <a:ext cx="4525450" cy="534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流网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1492095" y="3363816"/>
            <a:ext cx="5557291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势函数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和流函数的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概念和特性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流网的特性：</a:t>
            </a:r>
            <a:r>
              <a:rPr lang="zh-CN" altLang="en-US" sz="24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正交性、曲边正方形</a:t>
            </a: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流网的画法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流网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的应用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22916" y="1659087"/>
            <a:ext cx="3809487" cy="838200"/>
            <a:chOff x="3522916" y="2243287"/>
            <a:chExt cx="3809487" cy="83820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2050257"/>
                </p:ext>
              </p:extLst>
            </p:nvPr>
          </p:nvGraphicFramePr>
          <p:xfrm>
            <a:off x="5503603" y="2243287"/>
            <a:ext cx="1828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41" name="公式" r:id="rId4" imgW="914400" imgH="419040" progId="Equation.3">
                    <p:embed/>
                  </p:oleObj>
                </mc:Choice>
                <mc:Fallback>
                  <p:oleObj name="公式" r:id="rId4" imgW="9144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3603" y="2243287"/>
                          <a:ext cx="1828800" cy="838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>
              <a:off x="3522916" y="2416942"/>
              <a:ext cx="1931582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130000"/>
              </a:pP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Laplace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方程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759200" y="5788025"/>
            <a:ext cx="252306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Garamond" pitchFamily="18" charset="0"/>
                <a:ea typeface="黑体" pitchFamily="2" charset="-122"/>
              </a:rPr>
              <a:t>小     结</a:t>
            </a:r>
          </a:p>
        </p:txBody>
      </p:sp>
    </p:spTree>
    <p:extLst>
      <p:ext uri="{BB962C8B-B14F-4D97-AF65-F5344CB8AC3E}">
        <p14:creationId xmlns:p14="http://schemas.microsoft.com/office/powerpoint/2010/main" val="331662315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20" grpId="0" build="p"/>
      <p:bldP spid="21" grpId="0" autoUpdateAnimBg="0"/>
      <p:bldP spid="2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376363" y="1093788"/>
            <a:ext cx="6848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第二章：土的渗透性和渗流问题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078038" y="2411413"/>
            <a:ext cx="5738812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§2.1  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渗流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及其工程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 </a:t>
            </a: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kumimoji="1" lang="zh-CN" altLang="en-US" sz="3200" b="1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§2.2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土的渗透性与渗透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规律 </a:t>
            </a: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§2.3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平面渗流与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流网 </a:t>
            </a: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kumimoji="1" lang="zh-CN" altLang="en-US" sz="3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§2.4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渗透力与渗透变形</a:t>
            </a:r>
            <a:r>
              <a:rPr kumimoji="1" lang="zh-CN" altLang="en-US" sz="24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Box 4"/>
          <p:cNvSpPr txBox="1">
            <a:spLocks noChangeArrowheads="1"/>
          </p:cNvSpPr>
          <p:nvPr/>
        </p:nvSpPr>
        <p:spPr bwMode="auto">
          <a:xfrm>
            <a:off x="2776538" y="1804988"/>
            <a:ext cx="4729162" cy="293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5600" indent="-355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514350" indent="-51435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渗透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力及其特性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临界水力坡降</a:t>
            </a:r>
          </a:p>
          <a:p>
            <a:pPr marL="514350" indent="-51435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渗透破坏之流土</a:t>
            </a:r>
            <a:endParaRPr kumimoji="1" lang="en-US" altLang="zh-CN" sz="28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渗透破坏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之管涌</a:t>
            </a:r>
            <a:endParaRPr kumimoji="1"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7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6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力与渗透变形</a:t>
            </a:r>
          </a:p>
        </p:txBody>
      </p:sp>
      <p:sp>
        <p:nvSpPr>
          <p:cNvPr id="77" name="Rectangle 4"/>
          <p:cNvSpPr>
            <a:spLocks noChangeArrowheads="1"/>
          </p:cNvSpPr>
          <p:nvPr/>
        </p:nvSpPr>
        <p:spPr bwMode="auto">
          <a:xfrm>
            <a:off x="2776538" y="5700911"/>
            <a:ext cx="42926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力和渗透变形</a:t>
            </a:r>
            <a:endParaRPr kumimoji="1"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30019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351511" y="825084"/>
            <a:ext cx="4495800" cy="3779838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3040063" y="5799138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试验观察</a:t>
            </a:r>
          </a:p>
        </p:txBody>
      </p:sp>
      <p:sp>
        <p:nvSpPr>
          <p:cNvPr id="1499141" name="Rectangle 5"/>
          <p:cNvSpPr>
            <a:spLocks noChangeArrowheads="1"/>
          </p:cNvSpPr>
          <p:nvPr/>
        </p:nvSpPr>
        <p:spPr bwMode="auto">
          <a:xfrm>
            <a:off x="5381898" y="1057926"/>
            <a:ext cx="1480629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365125" indent="-365125" eaLnBrk="0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Wingdings" pitchFamily="2" charset="2"/>
              <a:buChar char="n"/>
            </a:pPr>
            <a:r>
              <a:rPr kumimoji="1" lang="en-US" altLang="zh-CN" sz="2400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Δ</a:t>
            </a:r>
            <a:r>
              <a:rPr kumimoji="1" lang="en-US" altLang="zh-CN" sz="24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=0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19798" y="2358609"/>
            <a:ext cx="2809875" cy="2101850"/>
            <a:chOff x="3032" y="1418"/>
            <a:chExt cx="1770" cy="1324"/>
          </a:xfrm>
        </p:grpSpPr>
        <p:sp>
          <p:nvSpPr>
            <p:cNvPr id="67625" name="Rectangle 24"/>
            <p:cNvSpPr>
              <a:spLocks noChangeArrowheads="1"/>
            </p:cNvSpPr>
            <p:nvPr/>
          </p:nvSpPr>
          <p:spPr bwMode="auto">
            <a:xfrm>
              <a:off x="4099" y="1517"/>
              <a:ext cx="415" cy="203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26" name="Freeform 25"/>
            <p:cNvSpPr>
              <a:spLocks/>
            </p:cNvSpPr>
            <p:nvPr/>
          </p:nvSpPr>
          <p:spPr bwMode="auto">
            <a:xfrm>
              <a:off x="3033" y="1512"/>
              <a:ext cx="1487" cy="1230"/>
            </a:xfrm>
            <a:custGeom>
              <a:avLst/>
              <a:gdLst>
                <a:gd name="T0" fmla="*/ 1483 w 1483"/>
                <a:gd name="T1" fmla="*/ 758 h 1224"/>
                <a:gd name="T2" fmla="*/ 1478 w 1483"/>
                <a:gd name="T3" fmla="*/ 950 h 1224"/>
                <a:gd name="T4" fmla="*/ 1305 w 1483"/>
                <a:gd name="T5" fmla="*/ 950 h 1224"/>
                <a:gd name="T6" fmla="*/ 1300 w 1483"/>
                <a:gd name="T7" fmla="*/ 1224 h 1224"/>
                <a:gd name="T8" fmla="*/ 182 w 1483"/>
                <a:gd name="T9" fmla="*/ 1219 h 1224"/>
                <a:gd name="T10" fmla="*/ 187 w 1483"/>
                <a:gd name="T11" fmla="*/ 158 h 1224"/>
                <a:gd name="T12" fmla="*/ 0 w 1483"/>
                <a:gd name="T13" fmla="*/ 149 h 1224"/>
                <a:gd name="T14" fmla="*/ 0 w 1483"/>
                <a:gd name="T15" fmla="*/ 5 h 1224"/>
                <a:gd name="T16" fmla="*/ 403 w 1483"/>
                <a:gd name="T17" fmla="*/ 0 h 1224"/>
                <a:gd name="T18" fmla="*/ 398 w 1483"/>
                <a:gd name="T19" fmla="*/ 154 h 1224"/>
                <a:gd name="T20" fmla="*/ 249 w 1483"/>
                <a:gd name="T21" fmla="*/ 158 h 1224"/>
                <a:gd name="T22" fmla="*/ 259 w 1483"/>
                <a:gd name="T23" fmla="*/ 1166 h 1224"/>
                <a:gd name="T24" fmla="*/ 1233 w 1483"/>
                <a:gd name="T25" fmla="*/ 1157 h 1224"/>
                <a:gd name="T26" fmla="*/ 1221 w 1483"/>
                <a:gd name="T27" fmla="*/ 943 h 1224"/>
                <a:gd name="T28" fmla="*/ 1060 w 1483"/>
                <a:gd name="T29" fmla="*/ 943 h 1224"/>
                <a:gd name="T30" fmla="*/ 1070 w 1483"/>
                <a:gd name="T31" fmla="*/ 754 h 1224"/>
                <a:gd name="T32" fmla="*/ 1483 w 1483"/>
                <a:gd name="T33" fmla="*/ 758 h 12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83"/>
                <a:gd name="T52" fmla="*/ 0 h 1224"/>
                <a:gd name="T53" fmla="*/ 1483 w 1483"/>
                <a:gd name="T54" fmla="*/ 1224 h 1224"/>
                <a:gd name="connsiteX0" fmla="*/ 10009 w 10009"/>
                <a:gd name="connsiteY0" fmla="*/ 6193 h 10000"/>
                <a:gd name="connsiteX1" fmla="*/ 9975 w 10009"/>
                <a:gd name="connsiteY1" fmla="*/ 7761 h 10000"/>
                <a:gd name="connsiteX2" fmla="*/ 8809 w 10009"/>
                <a:gd name="connsiteY2" fmla="*/ 7761 h 10000"/>
                <a:gd name="connsiteX3" fmla="*/ 8775 w 10009"/>
                <a:gd name="connsiteY3" fmla="*/ 10000 h 10000"/>
                <a:gd name="connsiteX4" fmla="*/ 1236 w 10009"/>
                <a:gd name="connsiteY4" fmla="*/ 9959 h 10000"/>
                <a:gd name="connsiteX5" fmla="*/ 1270 w 10009"/>
                <a:gd name="connsiteY5" fmla="*/ 1291 h 10000"/>
                <a:gd name="connsiteX6" fmla="*/ 0 w 10009"/>
                <a:gd name="connsiteY6" fmla="*/ 1285 h 10000"/>
                <a:gd name="connsiteX7" fmla="*/ 9 w 10009"/>
                <a:gd name="connsiteY7" fmla="*/ 41 h 10000"/>
                <a:gd name="connsiteX8" fmla="*/ 2726 w 10009"/>
                <a:gd name="connsiteY8" fmla="*/ 0 h 10000"/>
                <a:gd name="connsiteX9" fmla="*/ 2693 w 10009"/>
                <a:gd name="connsiteY9" fmla="*/ 1258 h 10000"/>
                <a:gd name="connsiteX10" fmla="*/ 1688 w 10009"/>
                <a:gd name="connsiteY10" fmla="*/ 1291 h 10000"/>
                <a:gd name="connsiteX11" fmla="*/ 1755 w 10009"/>
                <a:gd name="connsiteY11" fmla="*/ 9526 h 10000"/>
                <a:gd name="connsiteX12" fmla="*/ 8323 w 10009"/>
                <a:gd name="connsiteY12" fmla="*/ 9453 h 10000"/>
                <a:gd name="connsiteX13" fmla="*/ 8242 w 10009"/>
                <a:gd name="connsiteY13" fmla="*/ 7704 h 10000"/>
                <a:gd name="connsiteX14" fmla="*/ 7157 w 10009"/>
                <a:gd name="connsiteY14" fmla="*/ 7704 h 10000"/>
                <a:gd name="connsiteX15" fmla="*/ 7224 w 10009"/>
                <a:gd name="connsiteY15" fmla="*/ 6160 h 10000"/>
                <a:gd name="connsiteX16" fmla="*/ 10009 w 10009"/>
                <a:gd name="connsiteY16" fmla="*/ 6193 h 10000"/>
                <a:gd name="connsiteX0" fmla="*/ 10009 w 10009"/>
                <a:gd name="connsiteY0" fmla="*/ 6193 h 10000"/>
                <a:gd name="connsiteX1" fmla="*/ 9975 w 10009"/>
                <a:gd name="connsiteY1" fmla="*/ 7761 h 10000"/>
                <a:gd name="connsiteX2" fmla="*/ 8809 w 10009"/>
                <a:gd name="connsiteY2" fmla="*/ 7761 h 10000"/>
                <a:gd name="connsiteX3" fmla="*/ 8775 w 10009"/>
                <a:gd name="connsiteY3" fmla="*/ 10000 h 10000"/>
                <a:gd name="connsiteX4" fmla="*/ 1236 w 10009"/>
                <a:gd name="connsiteY4" fmla="*/ 9959 h 10000"/>
                <a:gd name="connsiteX5" fmla="*/ 1270 w 10009"/>
                <a:gd name="connsiteY5" fmla="*/ 1291 h 10000"/>
                <a:gd name="connsiteX6" fmla="*/ 0 w 10009"/>
                <a:gd name="connsiteY6" fmla="*/ 1285 h 10000"/>
                <a:gd name="connsiteX7" fmla="*/ 9 w 10009"/>
                <a:gd name="connsiteY7" fmla="*/ 41 h 10000"/>
                <a:gd name="connsiteX8" fmla="*/ 2726 w 10009"/>
                <a:gd name="connsiteY8" fmla="*/ 0 h 10000"/>
                <a:gd name="connsiteX9" fmla="*/ 2749 w 10009"/>
                <a:gd name="connsiteY9" fmla="*/ 1269 h 10000"/>
                <a:gd name="connsiteX10" fmla="*/ 1688 w 10009"/>
                <a:gd name="connsiteY10" fmla="*/ 1291 h 10000"/>
                <a:gd name="connsiteX11" fmla="*/ 1755 w 10009"/>
                <a:gd name="connsiteY11" fmla="*/ 9526 h 10000"/>
                <a:gd name="connsiteX12" fmla="*/ 8323 w 10009"/>
                <a:gd name="connsiteY12" fmla="*/ 9453 h 10000"/>
                <a:gd name="connsiteX13" fmla="*/ 8242 w 10009"/>
                <a:gd name="connsiteY13" fmla="*/ 7704 h 10000"/>
                <a:gd name="connsiteX14" fmla="*/ 7157 w 10009"/>
                <a:gd name="connsiteY14" fmla="*/ 7704 h 10000"/>
                <a:gd name="connsiteX15" fmla="*/ 7224 w 10009"/>
                <a:gd name="connsiteY15" fmla="*/ 6160 h 10000"/>
                <a:gd name="connsiteX16" fmla="*/ 10009 w 10009"/>
                <a:gd name="connsiteY16" fmla="*/ 6193 h 10000"/>
                <a:gd name="connsiteX0" fmla="*/ 10037 w 10037"/>
                <a:gd name="connsiteY0" fmla="*/ 6182 h 10000"/>
                <a:gd name="connsiteX1" fmla="*/ 9975 w 10037"/>
                <a:gd name="connsiteY1" fmla="*/ 7761 h 10000"/>
                <a:gd name="connsiteX2" fmla="*/ 8809 w 10037"/>
                <a:gd name="connsiteY2" fmla="*/ 7761 h 10000"/>
                <a:gd name="connsiteX3" fmla="*/ 8775 w 10037"/>
                <a:gd name="connsiteY3" fmla="*/ 10000 h 10000"/>
                <a:gd name="connsiteX4" fmla="*/ 1236 w 10037"/>
                <a:gd name="connsiteY4" fmla="*/ 9959 h 10000"/>
                <a:gd name="connsiteX5" fmla="*/ 1270 w 10037"/>
                <a:gd name="connsiteY5" fmla="*/ 1291 h 10000"/>
                <a:gd name="connsiteX6" fmla="*/ 0 w 10037"/>
                <a:gd name="connsiteY6" fmla="*/ 1285 h 10000"/>
                <a:gd name="connsiteX7" fmla="*/ 9 w 10037"/>
                <a:gd name="connsiteY7" fmla="*/ 41 h 10000"/>
                <a:gd name="connsiteX8" fmla="*/ 2726 w 10037"/>
                <a:gd name="connsiteY8" fmla="*/ 0 h 10000"/>
                <a:gd name="connsiteX9" fmla="*/ 2749 w 10037"/>
                <a:gd name="connsiteY9" fmla="*/ 1269 h 10000"/>
                <a:gd name="connsiteX10" fmla="*/ 1688 w 10037"/>
                <a:gd name="connsiteY10" fmla="*/ 1291 h 10000"/>
                <a:gd name="connsiteX11" fmla="*/ 1755 w 10037"/>
                <a:gd name="connsiteY11" fmla="*/ 9526 h 10000"/>
                <a:gd name="connsiteX12" fmla="*/ 8323 w 10037"/>
                <a:gd name="connsiteY12" fmla="*/ 9453 h 10000"/>
                <a:gd name="connsiteX13" fmla="*/ 8242 w 10037"/>
                <a:gd name="connsiteY13" fmla="*/ 7704 h 10000"/>
                <a:gd name="connsiteX14" fmla="*/ 7157 w 10037"/>
                <a:gd name="connsiteY14" fmla="*/ 7704 h 10000"/>
                <a:gd name="connsiteX15" fmla="*/ 7224 w 10037"/>
                <a:gd name="connsiteY15" fmla="*/ 6160 h 10000"/>
                <a:gd name="connsiteX16" fmla="*/ 10037 w 10037"/>
                <a:gd name="connsiteY16" fmla="*/ 6182 h 10000"/>
                <a:gd name="connsiteX0" fmla="*/ 10037 w 10037"/>
                <a:gd name="connsiteY0" fmla="*/ 6182 h 10000"/>
                <a:gd name="connsiteX1" fmla="*/ 9975 w 10037"/>
                <a:gd name="connsiteY1" fmla="*/ 7761 h 10000"/>
                <a:gd name="connsiteX2" fmla="*/ 8809 w 10037"/>
                <a:gd name="connsiteY2" fmla="*/ 7761 h 10000"/>
                <a:gd name="connsiteX3" fmla="*/ 8775 w 10037"/>
                <a:gd name="connsiteY3" fmla="*/ 10000 h 10000"/>
                <a:gd name="connsiteX4" fmla="*/ 1236 w 10037"/>
                <a:gd name="connsiteY4" fmla="*/ 9959 h 10000"/>
                <a:gd name="connsiteX5" fmla="*/ 1270 w 10037"/>
                <a:gd name="connsiteY5" fmla="*/ 1291 h 10000"/>
                <a:gd name="connsiteX6" fmla="*/ 0 w 10037"/>
                <a:gd name="connsiteY6" fmla="*/ 1285 h 10000"/>
                <a:gd name="connsiteX7" fmla="*/ 9 w 10037"/>
                <a:gd name="connsiteY7" fmla="*/ 41 h 10000"/>
                <a:gd name="connsiteX8" fmla="*/ 2726 w 10037"/>
                <a:gd name="connsiteY8" fmla="*/ 0 h 10000"/>
                <a:gd name="connsiteX9" fmla="*/ 2749 w 10037"/>
                <a:gd name="connsiteY9" fmla="*/ 1269 h 10000"/>
                <a:gd name="connsiteX10" fmla="*/ 1688 w 10037"/>
                <a:gd name="connsiteY10" fmla="*/ 1291 h 10000"/>
                <a:gd name="connsiteX11" fmla="*/ 1755 w 10037"/>
                <a:gd name="connsiteY11" fmla="*/ 9526 h 10000"/>
                <a:gd name="connsiteX12" fmla="*/ 8323 w 10037"/>
                <a:gd name="connsiteY12" fmla="*/ 9453 h 10000"/>
                <a:gd name="connsiteX13" fmla="*/ 8242 w 10037"/>
                <a:gd name="connsiteY13" fmla="*/ 7704 h 10000"/>
                <a:gd name="connsiteX14" fmla="*/ 7157 w 10037"/>
                <a:gd name="connsiteY14" fmla="*/ 7704 h 10000"/>
                <a:gd name="connsiteX15" fmla="*/ 7187 w 10037"/>
                <a:gd name="connsiteY15" fmla="*/ 6171 h 10000"/>
                <a:gd name="connsiteX16" fmla="*/ 10037 w 10037"/>
                <a:gd name="connsiteY16" fmla="*/ 6182 h 10000"/>
                <a:gd name="connsiteX0" fmla="*/ 10037 w 10037"/>
                <a:gd name="connsiteY0" fmla="*/ 6182 h 10000"/>
                <a:gd name="connsiteX1" fmla="*/ 9975 w 10037"/>
                <a:gd name="connsiteY1" fmla="*/ 7761 h 10000"/>
                <a:gd name="connsiteX2" fmla="*/ 8827 w 10037"/>
                <a:gd name="connsiteY2" fmla="*/ 7794 h 10000"/>
                <a:gd name="connsiteX3" fmla="*/ 8775 w 10037"/>
                <a:gd name="connsiteY3" fmla="*/ 10000 h 10000"/>
                <a:gd name="connsiteX4" fmla="*/ 1236 w 10037"/>
                <a:gd name="connsiteY4" fmla="*/ 9959 h 10000"/>
                <a:gd name="connsiteX5" fmla="*/ 1270 w 10037"/>
                <a:gd name="connsiteY5" fmla="*/ 1291 h 10000"/>
                <a:gd name="connsiteX6" fmla="*/ 0 w 10037"/>
                <a:gd name="connsiteY6" fmla="*/ 1285 h 10000"/>
                <a:gd name="connsiteX7" fmla="*/ 9 w 10037"/>
                <a:gd name="connsiteY7" fmla="*/ 41 h 10000"/>
                <a:gd name="connsiteX8" fmla="*/ 2726 w 10037"/>
                <a:gd name="connsiteY8" fmla="*/ 0 h 10000"/>
                <a:gd name="connsiteX9" fmla="*/ 2749 w 10037"/>
                <a:gd name="connsiteY9" fmla="*/ 1269 h 10000"/>
                <a:gd name="connsiteX10" fmla="*/ 1688 w 10037"/>
                <a:gd name="connsiteY10" fmla="*/ 1291 h 10000"/>
                <a:gd name="connsiteX11" fmla="*/ 1755 w 10037"/>
                <a:gd name="connsiteY11" fmla="*/ 9526 h 10000"/>
                <a:gd name="connsiteX12" fmla="*/ 8323 w 10037"/>
                <a:gd name="connsiteY12" fmla="*/ 9453 h 10000"/>
                <a:gd name="connsiteX13" fmla="*/ 8242 w 10037"/>
                <a:gd name="connsiteY13" fmla="*/ 7704 h 10000"/>
                <a:gd name="connsiteX14" fmla="*/ 7157 w 10037"/>
                <a:gd name="connsiteY14" fmla="*/ 7704 h 10000"/>
                <a:gd name="connsiteX15" fmla="*/ 7187 w 10037"/>
                <a:gd name="connsiteY15" fmla="*/ 6171 h 10000"/>
                <a:gd name="connsiteX16" fmla="*/ 10037 w 10037"/>
                <a:gd name="connsiteY16" fmla="*/ 6182 h 10000"/>
                <a:gd name="connsiteX0" fmla="*/ 10037 w 10037"/>
                <a:gd name="connsiteY0" fmla="*/ 6182 h 10000"/>
                <a:gd name="connsiteX1" fmla="*/ 9975 w 10037"/>
                <a:gd name="connsiteY1" fmla="*/ 7815 h 10000"/>
                <a:gd name="connsiteX2" fmla="*/ 8827 w 10037"/>
                <a:gd name="connsiteY2" fmla="*/ 7794 h 10000"/>
                <a:gd name="connsiteX3" fmla="*/ 8775 w 10037"/>
                <a:gd name="connsiteY3" fmla="*/ 10000 h 10000"/>
                <a:gd name="connsiteX4" fmla="*/ 1236 w 10037"/>
                <a:gd name="connsiteY4" fmla="*/ 9959 h 10000"/>
                <a:gd name="connsiteX5" fmla="*/ 1270 w 10037"/>
                <a:gd name="connsiteY5" fmla="*/ 1291 h 10000"/>
                <a:gd name="connsiteX6" fmla="*/ 0 w 10037"/>
                <a:gd name="connsiteY6" fmla="*/ 1285 h 10000"/>
                <a:gd name="connsiteX7" fmla="*/ 9 w 10037"/>
                <a:gd name="connsiteY7" fmla="*/ 41 h 10000"/>
                <a:gd name="connsiteX8" fmla="*/ 2726 w 10037"/>
                <a:gd name="connsiteY8" fmla="*/ 0 h 10000"/>
                <a:gd name="connsiteX9" fmla="*/ 2749 w 10037"/>
                <a:gd name="connsiteY9" fmla="*/ 1269 h 10000"/>
                <a:gd name="connsiteX10" fmla="*/ 1688 w 10037"/>
                <a:gd name="connsiteY10" fmla="*/ 1291 h 10000"/>
                <a:gd name="connsiteX11" fmla="*/ 1755 w 10037"/>
                <a:gd name="connsiteY11" fmla="*/ 9526 h 10000"/>
                <a:gd name="connsiteX12" fmla="*/ 8323 w 10037"/>
                <a:gd name="connsiteY12" fmla="*/ 9453 h 10000"/>
                <a:gd name="connsiteX13" fmla="*/ 8242 w 10037"/>
                <a:gd name="connsiteY13" fmla="*/ 7704 h 10000"/>
                <a:gd name="connsiteX14" fmla="*/ 7157 w 10037"/>
                <a:gd name="connsiteY14" fmla="*/ 7704 h 10000"/>
                <a:gd name="connsiteX15" fmla="*/ 7187 w 10037"/>
                <a:gd name="connsiteY15" fmla="*/ 6171 h 10000"/>
                <a:gd name="connsiteX16" fmla="*/ 10037 w 10037"/>
                <a:gd name="connsiteY16" fmla="*/ 6182 h 10000"/>
                <a:gd name="connsiteX0" fmla="*/ 10037 w 10037"/>
                <a:gd name="connsiteY0" fmla="*/ 6182 h 10000"/>
                <a:gd name="connsiteX1" fmla="*/ 9975 w 10037"/>
                <a:gd name="connsiteY1" fmla="*/ 7815 h 10000"/>
                <a:gd name="connsiteX2" fmla="*/ 8827 w 10037"/>
                <a:gd name="connsiteY2" fmla="*/ 7794 h 10000"/>
                <a:gd name="connsiteX3" fmla="*/ 8775 w 10037"/>
                <a:gd name="connsiteY3" fmla="*/ 10000 h 10000"/>
                <a:gd name="connsiteX4" fmla="*/ 1236 w 10037"/>
                <a:gd name="connsiteY4" fmla="*/ 9959 h 10000"/>
                <a:gd name="connsiteX5" fmla="*/ 1270 w 10037"/>
                <a:gd name="connsiteY5" fmla="*/ 1291 h 10000"/>
                <a:gd name="connsiteX6" fmla="*/ 0 w 10037"/>
                <a:gd name="connsiteY6" fmla="*/ 1285 h 10000"/>
                <a:gd name="connsiteX7" fmla="*/ 9 w 10037"/>
                <a:gd name="connsiteY7" fmla="*/ 41 h 10000"/>
                <a:gd name="connsiteX8" fmla="*/ 2726 w 10037"/>
                <a:gd name="connsiteY8" fmla="*/ 0 h 10000"/>
                <a:gd name="connsiteX9" fmla="*/ 2749 w 10037"/>
                <a:gd name="connsiteY9" fmla="*/ 1269 h 10000"/>
                <a:gd name="connsiteX10" fmla="*/ 1688 w 10037"/>
                <a:gd name="connsiteY10" fmla="*/ 1291 h 10000"/>
                <a:gd name="connsiteX11" fmla="*/ 1755 w 10037"/>
                <a:gd name="connsiteY11" fmla="*/ 9526 h 10000"/>
                <a:gd name="connsiteX12" fmla="*/ 8323 w 10037"/>
                <a:gd name="connsiteY12" fmla="*/ 9453 h 10000"/>
                <a:gd name="connsiteX13" fmla="*/ 8215 w 10037"/>
                <a:gd name="connsiteY13" fmla="*/ 7748 h 10000"/>
                <a:gd name="connsiteX14" fmla="*/ 7157 w 10037"/>
                <a:gd name="connsiteY14" fmla="*/ 7704 h 10000"/>
                <a:gd name="connsiteX15" fmla="*/ 7187 w 10037"/>
                <a:gd name="connsiteY15" fmla="*/ 6171 h 10000"/>
                <a:gd name="connsiteX16" fmla="*/ 10037 w 10037"/>
                <a:gd name="connsiteY16" fmla="*/ 6182 h 10000"/>
                <a:gd name="connsiteX0" fmla="*/ 10037 w 10037"/>
                <a:gd name="connsiteY0" fmla="*/ 6182 h 10046"/>
                <a:gd name="connsiteX1" fmla="*/ 9975 w 10037"/>
                <a:gd name="connsiteY1" fmla="*/ 7815 h 10046"/>
                <a:gd name="connsiteX2" fmla="*/ 8827 w 10037"/>
                <a:gd name="connsiteY2" fmla="*/ 7794 h 10046"/>
                <a:gd name="connsiteX3" fmla="*/ 8775 w 10037"/>
                <a:gd name="connsiteY3" fmla="*/ 10000 h 10046"/>
                <a:gd name="connsiteX4" fmla="*/ 1236 w 10037"/>
                <a:gd name="connsiteY4" fmla="*/ 10046 h 10046"/>
                <a:gd name="connsiteX5" fmla="*/ 1270 w 10037"/>
                <a:gd name="connsiteY5" fmla="*/ 1291 h 10046"/>
                <a:gd name="connsiteX6" fmla="*/ 0 w 10037"/>
                <a:gd name="connsiteY6" fmla="*/ 1285 h 10046"/>
                <a:gd name="connsiteX7" fmla="*/ 9 w 10037"/>
                <a:gd name="connsiteY7" fmla="*/ 41 h 10046"/>
                <a:gd name="connsiteX8" fmla="*/ 2726 w 10037"/>
                <a:gd name="connsiteY8" fmla="*/ 0 h 10046"/>
                <a:gd name="connsiteX9" fmla="*/ 2749 w 10037"/>
                <a:gd name="connsiteY9" fmla="*/ 1269 h 10046"/>
                <a:gd name="connsiteX10" fmla="*/ 1688 w 10037"/>
                <a:gd name="connsiteY10" fmla="*/ 1291 h 10046"/>
                <a:gd name="connsiteX11" fmla="*/ 1755 w 10037"/>
                <a:gd name="connsiteY11" fmla="*/ 9526 h 10046"/>
                <a:gd name="connsiteX12" fmla="*/ 8323 w 10037"/>
                <a:gd name="connsiteY12" fmla="*/ 9453 h 10046"/>
                <a:gd name="connsiteX13" fmla="*/ 8215 w 10037"/>
                <a:gd name="connsiteY13" fmla="*/ 7748 h 10046"/>
                <a:gd name="connsiteX14" fmla="*/ 7157 w 10037"/>
                <a:gd name="connsiteY14" fmla="*/ 7704 h 10046"/>
                <a:gd name="connsiteX15" fmla="*/ 7187 w 10037"/>
                <a:gd name="connsiteY15" fmla="*/ 6171 h 10046"/>
                <a:gd name="connsiteX16" fmla="*/ 10037 w 10037"/>
                <a:gd name="connsiteY16" fmla="*/ 6182 h 10046"/>
                <a:gd name="connsiteX0" fmla="*/ 10037 w 10037"/>
                <a:gd name="connsiteY0" fmla="*/ 6182 h 10046"/>
                <a:gd name="connsiteX1" fmla="*/ 9975 w 10037"/>
                <a:gd name="connsiteY1" fmla="*/ 7815 h 10046"/>
                <a:gd name="connsiteX2" fmla="*/ 8827 w 10037"/>
                <a:gd name="connsiteY2" fmla="*/ 7794 h 10046"/>
                <a:gd name="connsiteX3" fmla="*/ 8775 w 10037"/>
                <a:gd name="connsiteY3" fmla="*/ 10000 h 10046"/>
                <a:gd name="connsiteX4" fmla="*/ 1236 w 10037"/>
                <a:gd name="connsiteY4" fmla="*/ 10046 h 10046"/>
                <a:gd name="connsiteX5" fmla="*/ 1270 w 10037"/>
                <a:gd name="connsiteY5" fmla="*/ 1291 h 10046"/>
                <a:gd name="connsiteX6" fmla="*/ 0 w 10037"/>
                <a:gd name="connsiteY6" fmla="*/ 1285 h 10046"/>
                <a:gd name="connsiteX7" fmla="*/ 9 w 10037"/>
                <a:gd name="connsiteY7" fmla="*/ 41 h 10046"/>
                <a:gd name="connsiteX8" fmla="*/ 2726 w 10037"/>
                <a:gd name="connsiteY8" fmla="*/ 0 h 10046"/>
                <a:gd name="connsiteX9" fmla="*/ 2749 w 10037"/>
                <a:gd name="connsiteY9" fmla="*/ 1269 h 10046"/>
                <a:gd name="connsiteX10" fmla="*/ 1724 w 10037"/>
                <a:gd name="connsiteY10" fmla="*/ 1280 h 10046"/>
                <a:gd name="connsiteX11" fmla="*/ 1755 w 10037"/>
                <a:gd name="connsiteY11" fmla="*/ 9526 h 10046"/>
                <a:gd name="connsiteX12" fmla="*/ 8323 w 10037"/>
                <a:gd name="connsiteY12" fmla="*/ 9453 h 10046"/>
                <a:gd name="connsiteX13" fmla="*/ 8215 w 10037"/>
                <a:gd name="connsiteY13" fmla="*/ 7748 h 10046"/>
                <a:gd name="connsiteX14" fmla="*/ 7157 w 10037"/>
                <a:gd name="connsiteY14" fmla="*/ 7704 h 10046"/>
                <a:gd name="connsiteX15" fmla="*/ 7187 w 10037"/>
                <a:gd name="connsiteY15" fmla="*/ 6171 h 10046"/>
                <a:gd name="connsiteX16" fmla="*/ 10037 w 10037"/>
                <a:gd name="connsiteY16" fmla="*/ 6182 h 10046"/>
                <a:gd name="connsiteX0" fmla="*/ 10030 w 10030"/>
                <a:gd name="connsiteY0" fmla="*/ 6125 h 10046"/>
                <a:gd name="connsiteX1" fmla="*/ 9975 w 10030"/>
                <a:gd name="connsiteY1" fmla="*/ 7815 h 10046"/>
                <a:gd name="connsiteX2" fmla="*/ 8827 w 10030"/>
                <a:gd name="connsiteY2" fmla="*/ 7794 h 10046"/>
                <a:gd name="connsiteX3" fmla="*/ 8775 w 10030"/>
                <a:gd name="connsiteY3" fmla="*/ 10000 h 10046"/>
                <a:gd name="connsiteX4" fmla="*/ 1236 w 10030"/>
                <a:gd name="connsiteY4" fmla="*/ 10046 h 10046"/>
                <a:gd name="connsiteX5" fmla="*/ 1270 w 10030"/>
                <a:gd name="connsiteY5" fmla="*/ 1291 h 10046"/>
                <a:gd name="connsiteX6" fmla="*/ 0 w 10030"/>
                <a:gd name="connsiteY6" fmla="*/ 1285 h 10046"/>
                <a:gd name="connsiteX7" fmla="*/ 9 w 10030"/>
                <a:gd name="connsiteY7" fmla="*/ 41 h 10046"/>
                <a:gd name="connsiteX8" fmla="*/ 2726 w 10030"/>
                <a:gd name="connsiteY8" fmla="*/ 0 h 10046"/>
                <a:gd name="connsiteX9" fmla="*/ 2749 w 10030"/>
                <a:gd name="connsiteY9" fmla="*/ 1269 h 10046"/>
                <a:gd name="connsiteX10" fmla="*/ 1724 w 10030"/>
                <a:gd name="connsiteY10" fmla="*/ 1280 h 10046"/>
                <a:gd name="connsiteX11" fmla="*/ 1755 w 10030"/>
                <a:gd name="connsiteY11" fmla="*/ 9526 h 10046"/>
                <a:gd name="connsiteX12" fmla="*/ 8323 w 10030"/>
                <a:gd name="connsiteY12" fmla="*/ 9453 h 10046"/>
                <a:gd name="connsiteX13" fmla="*/ 8215 w 10030"/>
                <a:gd name="connsiteY13" fmla="*/ 7748 h 10046"/>
                <a:gd name="connsiteX14" fmla="*/ 7157 w 10030"/>
                <a:gd name="connsiteY14" fmla="*/ 7704 h 10046"/>
                <a:gd name="connsiteX15" fmla="*/ 7187 w 10030"/>
                <a:gd name="connsiteY15" fmla="*/ 6171 h 10046"/>
                <a:gd name="connsiteX16" fmla="*/ 10030 w 10030"/>
                <a:gd name="connsiteY16" fmla="*/ 6125 h 10046"/>
                <a:gd name="connsiteX0" fmla="*/ 10030 w 10030"/>
                <a:gd name="connsiteY0" fmla="*/ 6125 h 10046"/>
                <a:gd name="connsiteX1" fmla="*/ 9975 w 10030"/>
                <a:gd name="connsiteY1" fmla="*/ 7815 h 10046"/>
                <a:gd name="connsiteX2" fmla="*/ 8827 w 10030"/>
                <a:gd name="connsiteY2" fmla="*/ 7794 h 10046"/>
                <a:gd name="connsiteX3" fmla="*/ 8775 w 10030"/>
                <a:gd name="connsiteY3" fmla="*/ 10000 h 10046"/>
                <a:gd name="connsiteX4" fmla="*/ 1236 w 10030"/>
                <a:gd name="connsiteY4" fmla="*/ 10046 h 10046"/>
                <a:gd name="connsiteX5" fmla="*/ 1270 w 10030"/>
                <a:gd name="connsiteY5" fmla="*/ 1291 h 10046"/>
                <a:gd name="connsiteX6" fmla="*/ 0 w 10030"/>
                <a:gd name="connsiteY6" fmla="*/ 1285 h 10046"/>
                <a:gd name="connsiteX7" fmla="*/ 9 w 10030"/>
                <a:gd name="connsiteY7" fmla="*/ 41 h 10046"/>
                <a:gd name="connsiteX8" fmla="*/ 2726 w 10030"/>
                <a:gd name="connsiteY8" fmla="*/ 0 h 10046"/>
                <a:gd name="connsiteX9" fmla="*/ 2749 w 10030"/>
                <a:gd name="connsiteY9" fmla="*/ 1269 h 10046"/>
                <a:gd name="connsiteX10" fmla="*/ 1724 w 10030"/>
                <a:gd name="connsiteY10" fmla="*/ 1280 h 10046"/>
                <a:gd name="connsiteX11" fmla="*/ 1755 w 10030"/>
                <a:gd name="connsiteY11" fmla="*/ 9526 h 10046"/>
                <a:gd name="connsiteX12" fmla="*/ 8323 w 10030"/>
                <a:gd name="connsiteY12" fmla="*/ 9453 h 10046"/>
                <a:gd name="connsiteX13" fmla="*/ 8215 w 10030"/>
                <a:gd name="connsiteY13" fmla="*/ 7748 h 10046"/>
                <a:gd name="connsiteX14" fmla="*/ 7157 w 10030"/>
                <a:gd name="connsiteY14" fmla="*/ 7704 h 10046"/>
                <a:gd name="connsiteX15" fmla="*/ 7160 w 10030"/>
                <a:gd name="connsiteY15" fmla="*/ 6130 h 10046"/>
                <a:gd name="connsiteX16" fmla="*/ 10030 w 10030"/>
                <a:gd name="connsiteY16" fmla="*/ 6125 h 1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30" h="10046">
                  <a:moveTo>
                    <a:pt x="10030" y="6125"/>
                  </a:moveTo>
                  <a:cubicBezTo>
                    <a:pt x="10019" y="6648"/>
                    <a:pt x="9986" y="7292"/>
                    <a:pt x="9975" y="7815"/>
                  </a:cubicBezTo>
                  <a:lnTo>
                    <a:pt x="8827" y="7794"/>
                  </a:lnTo>
                  <a:cubicBezTo>
                    <a:pt x="8816" y="8540"/>
                    <a:pt x="8786" y="9254"/>
                    <a:pt x="8775" y="10000"/>
                  </a:cubicBezTo>
                  <a:lnTo>
                    <a:pt x="1236" y="10046"/>
                  </a:lnTo>
                  <a:cubicBezTo>
                    <a:pt x="1247" y="7157"/>
                    <a:pt x="1259" y="4180"/>
                    <a:pt x="1270" y="1291"/>
                  </a:cubicBezTo>
                  <a:lnTo>
                    <a:pt x="0" y="1285"/>
                  </a:lnTo>
                  <a:cubicBezTo>
                    <a:pt x="3" y="870"/>
                    <a:pt x="6" y="456"/>
                    <a:pt x="9" y="41"/>
                  </a:cubicBezTo>
                  <a:lnTo>
                    <a:pt x="2726" y="0"/>
                  </a:lnTo>
                  <a:cubicBezTo>
                    <a:pt x="2715" y="419"/>
                    <a:pt x="2760" y="850"/>
                    <a:pt x="2749" y="1269"/>
                  </a:cubicBezTo>
                  <a:lnTo>
                    <a:pt x="1724" y="1280"/>
                  </a:lnTo>
                  <a:cubicBezTo>
                    <a:pt x="1746" y="4025"/>
                    <a:pt x="1733" y="6781"/>
                    <a:pt x="1755" y="9526"/>
                  </a:cubicBezTo>
                  <a:lnTo>
                    <a:pt x="8323" y="9453"/>
                  </a:lnTo>
                  <a:lnTo>
                    <a:pt x="8215" y="7748"/>
                  </a:lnTo>
                  <a:lnTo>
                    <a:pt x="7157" y="7704"/>
                  </a:lnTo>
                  <a:cubicBezTo>
                    <a:pt x="7179" y="7189"/>
                    <a:pt x="7138" y="6645"/>
                    <a:pt x="7160" y="6130"/>
                  </a:cubicBezTo>
                  <a:lnTo>
                    <a:pt x="10030" y="6125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7627" name="Group 26"/>
            <p:cNvGrpSpPr>
              <a:grpSpLocks/>
            </p:cNvGrpSpPr>
            <p:nvPr/>
          </p:nvGrpSpPr>
          <p:grpSpPr bwMode="auto">
            <a:xfrm>
              <a:off x="4098" y="1424"/>
              <a:ext cx="409" cy="170"/>
              <a:chOff x="3808" y="1777"/>
              <a:chExt cx="409" cy="170"/>
            </a:xfrm>
          </p:grpSpPr>
          <p:grpSp>
            <p:nvGrpSpPr>
              <p:cNvPr id="67637" name="Group 27"/>
              <p:cNvGrpSpPr>
                <a:grpSpLocks/>
              </p:cNvGrpSpPr>
              <p:nvPr/>
            </p:nvGrpSpPr>
            <p:grpSpPr bwMode="auto">
              <a:xfrm>
                <a:off x="3921" y="1777"/>
                <a:ext cx="182" cy="170"/>
                <a:chOff x="3067" y="1097"/>
                <a:chExt cx="182" cy="170"/>
              </a:xfrm>
            </p:grpSpPr>
            <p:sp>
              <p:nvSpPr>
                <p:cNvPr id="67639" name="Line 28"/>
                <p:cNvSpPr>
                  <a:spLocks noChangeShapeType="1"/>
                </p:cNvSpPr>
                <p:nvPr/>
              </p:nvSpPr>
              <p:spPr bwMode="auto">
                <a:xfrm>
                  <a:off x="3104" y="1246"/>
                  <a:ext cx="9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40" name="Line 29"/>
                <p:cNvSpPr>
                  <a:spLocks noChangeShapeType="1"/>
                </p:cNvSpPr>
                <p:nvPr/>
              </p:nvSpPr>
              <p:spPr bwMode="auto">
                <a:xfrm>
                  <a:off x="3128" y="1267"/>
                  <a:ext cx="45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41" name="AutoShape 30"/>
                <p:cNvSpPr>
                  <a:spLocks noChangeArrowheads="1"/>
                </p:cNvSpPr>
                <p:nvPr/>
              </p:nvSpPr>
              <p:spPr bwMode="auto">
                <a:xfrm flipV="1">
                  <a:off x="3076" y="1097"/>
                  <a:ext cx="136" cy="91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28575" algn="ctr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lIns="0"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42" name="Line 31"/>
                <p:cNvSpPr>
                  <a:spLocks noChangeShapeType="1"/>
                </p:cNvSpPr>
                <p:nvPr/>
              </p:nvSpPr>
              <p:spPr bwMode="auto">
                <a:xfrm>
                  <a:off x="3067" y="1222"/>
                  <a:ext cx="18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67638" name="Line 32"/>
              <p:cNvSpPr>
                <a:spLocks noChangeShapeType="1"/>
              </p:cNvSpPr>
              <p:nvPr/>
            </p:nvSpPr>
            <p:spPr bwMode="auto">
              <a:xfrm>
                <a:off x="3808" y="1877"/>
                <a:ext cx="409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7628" name="Freeform 33"/>
            <p:cNvSpPr>
              <a:spLocks/>
            </p:cNvSpPr>
            <p:nvPr/>
          </p:nvSpPr>
          <p:spPr bwMode="auto">
            <a:xfrm>
              <a:off x="4500" y="1519"/>
              <a:ext cx="127" cy="196"/>
            </a:xfrm>
            <a:custGeom>
              <a:avLst/>
              <a:gdLst>
                <a:gd name="T0" fmla="*/ 0 w 109"/>
                <a:gd name="T1" fmla="*/ 196 h 196"/>
                <a:gd name="T2" fmla="*/ 109 w 109"/>
                <a:gd name="T3" fmla="*/ 196 h 196"/>
                <a:gd name="T4" fmla="*/ 109 w 109"/>
                <a:gd name="T5" fmla="*/ 0 h 196"/>
                <a:gd name="T6" fmla="*/ 0 60000 65536"/>
                <a:gd name="T7" fmla="*/ 0 60000 65536"/>
                <a:gd name="T8" fmla="*/ 0 60000 65536"/>
                <a:gd name="T9" fmla="*/ 0 w 109"/>
                <a:gd name="T10" fmla="*/ 0 h 196"/>
                <a:gd name="T11" fmla="*/ 109 w 109"/>
                <a:gd name="T12" fmla="*/ 196 h 1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196">
                  <a:moveTo>
                    <a:pt x="0" y="196"/>
                  </a:moveTo>
                  <a:lnTo>
                    <a:pt x="109" y="196"/>
                  </a:lnTo>
                  <a:lnTo>
                    <a:pt x="109" y="0"/>
                  </a:lnTo>
                </a:path>
              </a:pathLst>
            </a:custGeom>
            <a:noFill/>
            <a:ln w="6985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29" name="Freeform 34"/>
            <p:cNvSpPr>
              <a:spLocks/>
            </p:cNvSpPr>
            <p:nvPr/>
          </p:nvSpPr>
          <p:spPr bwMode="auto">
            <a:xfrm>
              <a:off x="4513" y="1522"/>
              <a:ext cx="289" cy="751"/>
            </a:xfrm>
            <a:custGeom>
              <a:avLst/>
              <a:gdLst>
                <a:gd name="T0" fmla="*/ 0 w 284"/>
                <a:gd name="T1" fmla="*/ 751 h 751"/>
                <a:gd name="T2" fmla="*/ 281 w 284"/>
                <a:gd name="T3" fmla="*/ 751 h 751"/>
                <a:gd name="T4" fmla="*/ 284 w 284"/>
                <a:gd name="T5" fmla="*/ 0 h 751"/>
                <a:gd name="T6" fmla="*/ 0 60000 65536"/>
                <a:gd name="T7" fmla="*/ 0 60000 65536"/>
                <a:gd name="T8" fmla="*/ 0 60000 65536"/>
                <a:gd name="T9" fmla="*/ 0 w 284"/>
                <a:gd name="T10" fmla="*/ 0 h 751"/>
                <a:gd name="T11" fmla="*/ 284 w 284"/>
                <a:gd name="T12" fmla="*/ 751 h 7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4" h="751">
                  <a:moveTo>
                    <a:pt x="0" y="751"/>
                  </a:moveTo>
                  <a:lnTo>
                    <a:pt x="281" y="751"/>
                  </a:lnTo>
                  <a:lnTo>
                    <a:pt x="284" y="0"/>
                  </a:lnTo>
                </a:path>
              </a:pathLst>
            </a:custGeom>
            <a:noFill/>
            <a:ln w="5715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7630" name="Group 35"/>
            <p:cNvGrpSpPr>
              <a:grpSpLocks/>
            </p:cNvGrpSpPr>
            <p:nvPr/>
          </p:nvGrpSpPr>
          <p:grpSpPr bwMode="auto">
            <a:xfrm>
              <a:off x="3032" y="1418"/>
              <a:ext cx="409" cy="166"/>
              <a:chOff x="2742" y="1771"/>
              <a:chExt cx="409" cy="166"/>
            </a:xfrm>
          </p:grpSpPr>
          <p:grpSp>
            <p:nvGrpSpPr>
              <p:cNvPr id="67631" name="Group 36"/>
              <p:cNvGrpSpPr>
                <a:grpSpLocks/>
              </p:cNvGrpSpPr>
              <p:nvPr/>
            </p:nvGrpSpPr>
            <p:grpSpPr bwMode="auto">
              <a:xfrm>
                <a:off x="2855" y="1771"/>
                <a:ext cx="182" cy="166"/>
                <a:chOff x="3067" y="1101"/>
                <a:chExt cx="182" cy="166"/>
              </a:xfrm>
            </p:grpSpPr>
            <p:sp>
              <p:nvSpPr>
                <p:cNvPr id="67633" name="Line 37"/>
                <p:cNvSpPr>
                  <a:spLocks noChangeShapeType="1"/>
                </p:cNvSpPr>
                <p:nvPr/>
              </p:nvSpPr>
              <p:spPr bwMode="auto">
                <a:xfrm>
                  <a:off x="3104" y="1246"/>
                  <a:ext cx="9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34" name="Line 38"/>
                <p:cNvSpPr>
                  <a:spLocks noChangeShapeType="1"/>
                </p:cNvSpPr>
                <p:nvPr/>
              </p:nvSpPr>
              <p:spPr bwMode="auto">
                <a:xfrm>
                  <a:off x="3128" y="1267"/>
                  <a:ext cx="45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35" name="AutoShape 39"/>
                <p:cNvSpPr>
                  <a:spLocks noChangeArrowheads="1"/>
                </p:cNvSpPr>
                <p:nvPr/>
              </p:nvSpPr>
              <p:spPr bwMode="auto">
                <a:xfrm flipV="1">
                  <a:off x="3076" y="1101"/>
                  <a:ext cx="136" cy="91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28575" algn="ctr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lIns="0"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36" name="Line 40"/>
                <p:cNvSpPr>
                  <a:spLocks noChangeShapeType="1"/>
                </p:cNvSpPr>
                <p:nvPr/>
              </p:nvSpPr>
              <p:spPr bwMode="auto">
                <a:xfrm>
                  <a:off x="3067" y="1222"/>
                  <a:ext cx="18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67632" name="Line 41"/>
              <p:cNvSpPr>
                <a:spLocks noChangeShapeType="1"/>
              </p:cNvSpPr>
              <p:nvPr/>
            </p:nvSpPr>
            <p:spPr bwMode="auto">
              <a:xfrm>
                <a:off x="2742" y="1874"/>
                <a:ext cx="409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" name="Group 42"/>
          <p:cNvGrpSpPr>
            <a:grpSpLocks/>
          </p:cNvGrpSpPr>
          <p:nvPr/>
        </p:nvGrpSpPr>
        <p:grpSpPr bwMode="auto">
          <a:xfrm>
            <a:off x="1253211" y="2439572"/>
            <a:ext cx="3467100" cy="1403350"/>
            <a:chOff x="3431" y="1469"/>
            <a:chExt cx="2184" cy="884"/>
          </a:xfrm>
        </p:grpSpPr>
        <p:sp>
          <p:nvSpPr>
            <p:cNvPr id="67617" name="Line 43"/>
            <p:cNvSpPr>
              <a:spLocks noChangeShapeType="1"/>
            </p:cNvSpPr>
            <p:nvPr/>
          </p:nvSpPr>
          <p:spPr bwMode="auto">
            <a:xfrm>
              <a:off x="4907" y="1525"/>
              <a:ext cx="227" cy="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8" name="Freeform 44"/>
            <p:cNvSpPr>
              <a:spLocks/>
            </p:cNvSpPr>
            <p:nvPr/>
          </p:nvSpPr>
          <p:spPr bwMode="auto">
            <a:xfrm>
              <a:off x="4999" y="1525"/>
              <a:ext cx="18" cy="731"/>
            </a:xfrm>
            <a:custGeom>
              <a:avLst/>
              <a:gdLst>
                <a:gd name="T0" fmla="*/ 18 w 18"/>
                <a:gd name="T1" fmla="*/ 0 h 731"/>
                <a:gd name="T2" fmla="*/ 0 w 18"/>
                <a:gd name="T3" fmla="*/ 731 h 731"/>
                <a:gd name="T4" fmla="*/ 0 60000 65536"/>
                <a:gd name="T5" fmla="*/ 0 60000 65536"/>
                <a:gd name="T6" fmla="*/ 0 w 18"/>
                <a:gd name="T7" fmla="*/ 0 h 731"/>
                <a:gd name="T8" fmla="*/ 18 w 18"/>
                <a:gd name="T9" fmla="*/ 731 h 73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" h="731">
                  <a:moveTo>
                    <a:pt x="18" y="0"/>
                  </a:moveTo>
                  <a:lnTo>
                    <a:pt x="0" y="731"/>
                  </a:lnTo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9" name="Text Box 45"/>
            <p:cNvSpPr txBox="1">
              <a:spLocks noChangeArrowheads="1"/>
            </p:cNvSpPr>
            <p:nvPr/>
          </p:nvSpPr>
          <p:spPr bwMode="auto">
            <a:xfrm>
              <a:off x="5071" y="1716"/>
              <a:ext cx="47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cs typeface="Times New Roman" panose="02020603050405020304" pitchFamily="18" charset="0"/>
                </a:rPr>
                <a:t>h</a:t>
              </a:r>
              <a:r>
                <a:rPr lang="en-US" altLang="zh-CN" sz="2400" b="1" baseline="-25000" dirty="0" smtClean="0"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 dirty="0" smtClean="0">
                  <a:cs typeface="Times New Roman" panose="02020603050405020304" pitchFamily="18" charset="0"/>
                </a:rPr>
                <a:t>=h</a:t>
              </a:r>
              <a:r>
                <a:rPr lang="en-US" altLang="zh-CN" sz="2400" b="1" baseline="-25000" dirty="0" smtClean="0">
                  <a:cs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67620" name="Text Box 46"/>
            <p:cNvSpPr txBox="1">
              <a:spLocks noChangeArrowheads="1"/>
            </p:cNvSpPr>
            <p:nvPr/>
          </p:nvSpPr>
          <p:spPr bwMode="auto">
            <a:xfrm>
              <a:off x="5534" y="2159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7621" name="Text Box 47"/>
            <p:cNvSpPr txBox="1">
              <a:spLocks noChangeArrowheads="1"/>
            </p:cNvSpPr>
            <p:nvPr/>
          </p:nvSpPr>
          <p:spPr bwMode="auto">
            <a:xfrm>
              <a:off x="3431" y="2159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7622" name="Line 48"/>
            <p:cNvSpPr>
              <a:spLocks noChangeShapeType="1"/>
            </p:cNvSpPr>
            <p:nvPr/>
          </p:nvSpPr>
          <p:spPr bwMode="auto">
            <a:xfrm>
              <a:off x="3834" y="1522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23" name="Freeform 49"/>
            <p:cNvSpPr>
              <a:spLocks/>
            </p:cNvSpPr>
            <p:nvPr/>
          </p:nvSpPr>
          <p:spPr bwMode="auto">
            <a:xfrm>
              <a:off x="3926" y="1517"/>
              <a:ext cx="1" cy="203"/>
            </a:xfrm>
            <a:custGeom>
              <a:avLst/>
              <a:gdLst>
                <a:gd name="T0" fmla="*/ 0 w 1"/>
                <a:gd name="T1" fmla="*/ 0 h 203"/>
                <a:gd name="T2" fmla="*/ 0 w 1"/>
                <a:gd name="T3" fmla="*/ 203 h 203"/>
                <a:gd name="T4" fmla="*/ 0 60000 65536"/>
                <a:gd name="T5" fmla="*/ 0 60000 65536"/>
                <a:gd name="T6" fmla="*/ 0 w 1"/>
                <a:gd name="T7" fmla="*/ 0 h 203"/>
                <a:gd name="T8" fmla="*/ 1 w 1"/>
                <a:gd name="T9" fmla="*/ 203 h 20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03">
                  <a:moveTo>
                    <a:pt x="0" y="0"/>
                  </a:moveTo>
                  <a:lnTo>
                    <a:pt x="0" y="20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24" name="Text Box 50"/>
            <p:cNvSpPr txBox="1">
              <a:spLocks noChangeArrowheads="1"/>
            </p:cNvSpPr>
            <p:nvPr/>
          </p:nvSpPr>
          <p:spPr bwMode="auto">
            <a:xfrm>
              <a:off x="3659" y="1469"/>
              <a:ext cx="16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err="1">
                  <a:cs typeface="Times New Roman" panose="02020603050405020304" pitchFamily="18" charset="0"/>
                </a:rPr>
                <a:t>h</a:t>
              </a:r>
              <a:r>
                <a:rPr lang="en-US" altLang="zh-CN" sz="2000" b="1" baseline="-25000" dirty="0" err="1">
                  <a:cs typeface="Times New Roman" panose="02020603050405020304" pitchFamily="18" charset="0"/>
                </a:rPr>
                <a:t>w</a:t>
              </a:r>
              <a:endParaRPr lang="en-US" altLang="zh-CN" sz="2000" b="1" baseline="-25000" dirty="0"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616623" y="863184"/>
            <a:ext cx="3940175" cy="3595688"/>
            <a:chOff x="3030" y="476"/>
            <a:chExt cx="2482" cy="2265"/>
          </a:xfrm>
        </p:grpSpPr>
        <p:sp>
          <p:nvSpPr>
            <p:cNvPr id="67598" name="Line 52"/>
            <p:cNvSpPr>
              <a:spLocks noChangeShapeType="1"/>
            </p:cNvSpPr>
            <p:nvPr/>
          </p:nvSpPr>
          <p:spPr bwMode="auto">
            <a:xfrm>
              <a:off x="3562" y="2261"/>
              <a:ext cx="195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599" name="Text Box 53"/>
            <p:cNvSpPr txBox="1">
              <a:spLocks noChangeArrowheads="1"/>
            </p:cNvSpPr>
            <p:nvPr/>
          </p:nvSpPr>
          <p:spPr bwMode="auto">
            <a:xfrm>
              <a:off x="3785" y="1832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67600" name="Group 54"/>
            <p:cNvGrpSpPr>
              <a:grpSpLocks/>
            </p:cNvGrpSpPr>
            <p:nvPr/>
          </p:nvGrpSpPr>
          <p:grpSpPr bwMode="auto">
            <a:xfrm>
              <a:off x="3030" y="476"/>
              <a:ext cx="2029" cy="2265"/>
              <a:chOff x="3030" y="476"/>
              <a:chExt cx="2029" cy="2265"/>
            </a:xfrm>
          </p:grpSpPr>
          <p:grpSp>
            <p:nvGrpSpPr>
              <p:cNvPr id="67601" name="Group 55"/>
              <p:cNvGrpSpPr>
                <a:grpSpLocks/>
              </p:cNvGrpSpPr>
              <p:nvPr/>
            </p:nvGrpSpPr>
            <p:grpSpPr bwMode="auto">
              <a:xfrm>
                <a:off x="3030" y="701"/>
                <a:ext cx="1797" cy="2040"/>
                <a:chOff x="1713" y="918"/>
                <a:chExt cx="1797" cy="2040"/>
              </a:xfrm>
            </p:grpSpPr>
            <p:sp>
              <p:nvSpPr>
                <p:cNvPr id="67613" name="Freeform 56"/>
                <p:cNvSpPr>
                  <a:spLocks/>
                </p:cNvSpPr>
                <p:nvPr/>
              </p:nvSpPr>
              <p:spPr bwMode="auto">
                <a:xfrm>
                  <a:off x="1973" y="1730"/>
                  <a:ext cx="973" cy="1162"/>
                </a:xfrm>
                <a:custGeom>
                  <a:avLst/>
                  <a:gdLst>
                    <a:gd name="T0" fmla="*/ 807 w 973"/>
                    <a:gd name="T1" fmla="*/ 0 h 1162"/>
                    <a:gd name="T2" fmla="*/ 805 w 973"/>
                    <a:gd name="T3" fmla="*/ 946 h 1162"/>
                    <a:gd name="T4" fmla="*/ 967 w 973"/>
                    <a:gd name="T5" fmla="*/ 946 h 1162"/>
                    <a:gd name="T6" fmla="*/ 973 w 973"/>
                    <a:gd name="T7" fmla="*/ 1159 h 1162"/>
                    <a:gd name="T8" fmla="*/ 4 w 973"/>
                    <a:gd name="T9" fmla="*/ 1162 h 1162"/>
                    <a:gd name="T10" fmla="*/ 0 w 973"/>
                    <a:gd name="T11" fmla="*/ 158 h 1162"/>
                    <a:gd name="T12" fmla="*/ 151 w 973"/>
                    <a:gd name="T13" fmla="*/ 154 h 1162"/>
                    <a:gd name="T14" fmla="*/ 151 w 973"/>
                    <a:gd name="T15" fmla="*/ 1 h 116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73"/>
                    <a:gd name="T25" fmla="*/ 0 h 1162"/>
                    <a:gd name="T26" fmla="*/ 973 w 973"/>
                    <a:gd name="T27" fmla="*/ 1162 h 116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73" h="1162">
                      <a:moveTo>
                        <a:pt x="807" y="0"/>
                      </a:moveTo>
                      <a:lnTo>
                        <a:pt x="805" y="946"/>
                      </a:lnTo>
                      <a:lnTo>
                        <a:pt x="967" y="946"/>
                      </a:lnTo>
                      <a:lnTo>
                        <a:pt x="973" y="1159"/>
                      </a:lnTo>
                      <a:lnTo>
                        <a:pt x="4" y="1162"/>
                      </a:lnTo>
                      <a:lnTo>
                        <a:pt x="0" y="158"/>
                      </a:lnTo>
                      <a:lnTo>
                        <a:pt x="151" y="154"/>
                      </a:lnTo>
                      <a:lnTo>
                        <a:pt x="151" y="1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14" name="Freeform 57"/>
                <p:cNvSpPr>
                  <a:spLocks/>
                </p:cNvSpPr>
                <p:nvPr/>
              </p:nvSpPr>
              <p:spPr bwMode="auto">
                <a:xfrm>
                  <a:off x="1713" y="921"/>
                  <a:ext cx="1797" cy="2037"/>
                </a:xfrm>
                <a:custGeom>
                  <a:avLst/>
                  <a:gdLst>
                    <a:gd name="T0" fmla="*/ 0 w 1797"/>
                    <a:gd name="T1" fmla="*/ 804 h 2037"/>
                    <a:gd name="T2" fmla="*/ 0 w 1797"/>
                    <a:gd name="T3" fmla="*/ 966 h 2037"/>
                    <a:gd name="T4" fmla="*/ 186 w 1797"/>
                    <a:gd name="T5" fmla="*/ 969 h 2037"/>
                    <a:gd name="T6" fmla="*/ 183 w 1797"/>
                    <a:gd name="T7" fmla="*/ 2035 h 2037"/>
                    <a:gd name="T8" fmla="*/ 1311 w 1797"/>
                    <a:gd name="T9" fmla="*/ 2037 h 2037"/>
                    <a:gd name="T10" fmla="*/ 1311 w 1797"/>
                    <a:gd name="T11" fmla="*/ 1764 h 2037"/>
                    <a:gd name="T12" fmla="*/ 1485 w 1797"/>
                    <a:gd name="T13" fmla="*/ 1764 h 2037"/>
                    <a:gd name="T14" fmla="*/ 1488 w 1797"/>
                    <a:gd name="T15" fmla="*/ 1590 h 2037"/>
                    <a:gd name="T16" fmla="*/ 1790 w 1797"/>
                    <a:gd name="T17" fmla="*/ 1589 h 2037"/>
                    <a:gd name="T18" fmla="*/ 1797 w 1797"/>
                    <a:gd name="T19" fmla="*/ 0 h 203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797"/>
                    <a:gd name="T31" fmla="*/ 0 h 2037"/>
                    <a:gd name="T32" fmla="*/ 1797 w 1797"/>
                    <a:gd name="T33" fmla="*/ 2037 h 203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797" h="2037">
                      <a:moveTo>
                        <a:pt x="0" y="804"/>
                      </a:moveTo>
                      <a:lnTo>
                        <a:pt x="0" y="966"/>
                      </a:lnTo>
                      <a:lnTo>
                        <a:pt x="186" y="969"/>
                      </a:lnTo>
                      <a:lnTo>
                        <a:pt x="183" y="2035"/>
                      </a:lnTo>
                      <a:lnTo>
                        <a:pt x="1311" y="2037"/>
                      </a:lnTo>
                      <a:lnTo>
                        <a:pt x="1311" y="1764"/>
                      </a:lnTo>
                      <a:lnTo>
                        <a:pt x="1485" y="1764"/>
                      </a:lnTo>
                      <a:lnTo>
                        <a:pt x="1488" y="1590"/>
                      </a:lnTo>
                      <a:lnTo>
                        <a:pt x="1790" y="1589"/>
                      </a:lnTo>
                      <a:lnTo>
                        <a:pt x="1797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15" name="Freeform 58"/>
                <p:cNvSpPr>
                  <a:spLocks/>
                </p:cNvSpPr>
                <p:nvPr/>
              </p:nvSpPr>
              <p:spPr bwMode="auto">
                <a:xfrm>
                  <a:off x="3195" y="925"/>
                  <a:ext cx="89" cy="984"/>
                </a:xfrm>
                <a:custGeom>
                  <a:avLst/>
                  <a:gdLst>
                    <a:gd name="T0" fmla="*/ 0 w 89"/>
                    <a:gd name="T1" fmla="*/ 811 h 991"/>
                    <a:gd name="T2" fmla="*/ 0 w 89"/>
                    <a:gd name="T3" fmla="*/ 991 h 991"/>
                    <a:gd name="T4" fmla="*/ 89 w 89"/>
                    <a:gd name="T5" fmla="*/ 990 h 991"/>
                    <a:gd name="T6" fmla="*/ 89 w 89"/>
                    <a:gd name="T7" fmla="*/ 0 h 9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9"/>
                    <a:gd name="T13" fmla="*/ 0 h 991"/>
                    <a:gd name="T14" fmla="*/ 89 w 89"/>
                    <a:gd name="T15" fmla="*/ 991 h 9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9" h="991">
                      <a:moveTo>
                        <a:pt x="0" y="811"/>
                      </a:moveTo>
                      <a:lnTo>
                        <a:pt x="0" y="991"/>
                      </a:lnTo>
                      <a:lnTo>
                        <a:pt x="89" y="990"/>
                      </a:lnTo>
                      <a:lnTo>
                        <a:pt x="89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16" name="Freeform 59"/>
                <p:cNvSpPr>
                  <a:spLocks/>
                </p:cNvSpPr>
                <p:nvPr/>
              </p:nvSpPr>
              <p:spPr bwMode="auto">
                <a:xfrm>
                  <a:off x="3194" y="918"/>
                  <a:ext cx="268" cy="1551"/>
                </a:xfrm>
                <a:custGeom>
                  <a:avLst/>
                  <a:gdLst>
                    <a:gd name="T0" fmla="*/ 135 w 264"/>
                    <a:gd name="T1" fmla="*/ 6 h 1551"/>
                    <a:gd name="T2" fmla="*/ 135 w 264"/>
                    <a:gd name="T3" fmla="*/ 1035 h 1551"/>
                    <a:gd name="T4" fmla="*/ 0 w 264"/>
                    <a:gd name="T5" fmla="*/ 1032 h 1551"/>
                    <a:gd name="T6" fmla="*/ 0 w 264"/>
                    <a:gd name="T7" fmla="*/ 1551 h 1551"/>
                    <a:gd name="T8" fmla="*/ 264 w 264"/>
                    <a:gd name="T9" fmla="*/ 1551 h 1551"/>
                    <a:gd name="T10" fmla="*/ 264 w 264"/>
                    <a:gd name="T11" fmla="*/ 0 h 155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64"/>
                    <a:gd name="T19" fmla="*/ 0 h 1551"/>
                    <a:gd name="T20" fmla="*/ 264 w 264"/>
                    <a:gd name="T21" fmla="*/ 1551 h 1551"/>
                    <a:gd name="connsiteX0" fmla="*/ 5266 w 10152"/>
                    <a:gd name="connsiteY0" fmla="*/ 39 h 10000"/>
                    <a:gd name="connsiteX1" fmla="*/ 5266 w 10152"/>
                    <a:gd name="connsiteY1" fmla="*/ 6673 h 10000"/>
                    <a:gd name="connsiteX2" fmla="*/ 0 w 10152"/>
                    <a:gd name="connsiteY2" fmla="*/ 6680 h 10000"/>
                    <a:gd name="connsiteX3" fmla="*/ 152 w 10152"/>
                    <a:gd name="connsiteY3" fmla="*/ 10000 h 10000"/>
                    <a:gd name="connsiteX4" fmla="*/ 10152 w 10152"/>
                    <a:gd name="connsiteY4" fmla="*/ 10000 h 10000"/>
                    <a:gd name="connsiteX5" fmla="*/ 10152 w 10152"/>
                    <a:gd name="connsiteY5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152" h="10000">
                      <a:moveTo>
                        <a:pt x="5266" y="39"/>
                      </a:moveTo>
                      <a:lnTo>
                        <a:pt x="5266" y="6673"/>
                      </a:lnTo>
                      <a:lnTo>
                        <a:pt x="0" y="6680"/>
                      </a:lnTo>
                      <a:cubicBezTo>
                        <a:pt x="51" y="7787"/>
                        <a:pt x="101" y="8893"/>
                        <a:pt x="152" y="10000"/>
                      </a:cubicBezTo>
                      <a:lnTo>
                        <a:pt x="10152" y="10000"/>
                      </a:lnTo>
                      <a:lnTo>
                        <a:pt x="10152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67602" name="Freeform 60"/>
              <p:cNvSpPr>
                <a:spLocks/>
              </p:cNvSpPr>
              <p:nvPr/>
            </p:nvSpPr>
            <p:spPr bwMode="auto">
              <a:xfrm>
                <a:off x="3924" y="1716"/>
                <a:ext cx="1" cy="550"/>
              </a:xfrm>
              <a:custGeom>
                <a:avLst/>
                <a:gdLst>
                  <a:gd name="T0" fmla="*/ 1 w 1"/>
                  <a:gd name="T1" fmla="*/ 0 h 550"/>
                  <a:gd name="T2" fmla="*/ 0 w 1"/>
                  <a:gd name="T3" fmla="*/ 550 h 550"/>
                  <a:gd name="T4" fmla="*/ 0 60000 65536"/>
                  <a:gd name="T5" fmla="*/ 0 60000 65536"/>
                  <a:gd name="T6" fmla="*/ 0 w 1"/>
                  <a:gd name="T7" fmla="*/ 0 h 550"/>
                  <a:gd name="T8" fmla="*/ 1 w 1"/>
                  <a:gd name="T9" fmla="*/ 550 h 55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50">
                    <a:moveTo>
                      <a:pt x="1" y="0"/>
                    </a:moveTo>
                    <a:lnTo>
                      <a:pt x="0" y="55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3" name="Line 61"/>
              <p:cNvSpPr>
                <a:spLocks noChangeShapeType="1"/>
              </p:cNvSpPr>
              <p:nvPr/>
            </p:nvSpPr>
            <p:spPr bwMode="auto">
              <a:xfrm>
                <a:off x="3834" y="1716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67604" name="Group 62"/>
              <p:cNvGrpSpPr>
                <a:grpSpLocks/>
              </p:cNvGrpSpPr>
              <p:nvPr/>
            </p:nvGrpSpPr>
            <p:grpSpPr bwMode="auto">
              <a:xfrm>
                <a:off x="4099" y="1720"/>
                <a:ext cx="412" cy="554"/>
                <a:chOff x="3809" y="2073"/>
                <a:chExt cx="412" cy="554"/>
              </a:xfrm>
            </p:grpSpPr>
            <p:sp>
              <p:nvSpPr>
                <p:cNvPr id="67611" name="Freeform 63"/>
                <p:cNvSpPr>
                  <a:spLocks/>
                </p:cNvSpPr>
                <p:nvPr/>
              </p:nvSpPr>
              <p:spPr bwMode="auto">
                <a:xfrm>
                  <a:off x="3809" y="2073"/>
                  <a:ext cx="412" cy="554"/>
                </a:xfrm>
                <a:custGeom>
                  <a:avLst/>
                  <a:gdLst>
                    <a:gd name="T0" fmla="*/ 408 w 412"/>
                    <a:gd name="T1" fmla="*/ 0 h 554"/>
                    <a:gd name="T2" fmla="*/ 412 w 412"/>
                    <a:gd name="T3" fmla="*/ 550 h 554"/>
                    <a:gd name="T4" fmla="*/ 0 w 412"/>
                    <a:gd name="T5" fmla="*/ 554 h 554"/>
                    <a:gd name="T6" fmla="*/ 4 w 412"/>
                    <a:gd name="T7" fmla="*/ 0 h 554"/>
                    <a:gd name="T8" fmla="*/ 408 w 412"/>
                    <a:gd name="T9" fmla="*/ 0 h 5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2"/>
                    <a:gd name="T16" fmla="*/ 0 h 554"/>
                    <a:gd name="T17" fmla="*/ 412 w 412"/>
                    <a:gd name="T18" fmla="*/ 554 h 554"/>
                    <a:gd name="connsiteX0" fmla="*/ 10003 w 10003"/>
                    <a:gd name="connsiteY0" fmla="*/ 0 h 10000"/>
                    <a:gd name="connsiteX1" fmla="*/ 10000 w 10003"/>
                    <a:gd name="connsiteY1" fmla="*/ 9928 h 10000"/>
                    <a:gd name="connsiteX2" fmla="*/ 0 w 10003"/>
                    <a:gd name="connsiteY2" fmla="*/ 10000 h 10000"/>
                    <a:gd name="connsiteX3" fmla="*/ 97 w 10003"/>
                    <a:gd name="connsiteY3" fmla="*/ 0 h 10000"/>
                    <a:gd name="connsiteX4" fmla="*/ 10003 w 10003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3" h="10000">
                      <a:moveTo>
                        <a:pt x="10003" y="0"/>
                      </a:moveTo>
                      <a:cubicBezTo>
                        <a:pt x="10002" y="3309"/>
                        <a:pt x="10001" y="6619"/>
                        <a:pt x="10000" y="9928"/>
                      </a:cubicBezTo>
                      <a:lnTo>
                        <a:pt x="0" y="10000"/>
                      </a:lnTo>
                      <a:cubicBezTo>
                        <a:pt x="32" y="6667"/>
                        <a:pt x="65" y="3333"/>
                        <a:pt x="97" y="0"/>
                      </a:cubicBezTo>
                      <a:lnTo>
                        <a:pt x="10003" y="0"/>
                      </a:lnTo>
                      <a:close/>
                    </a:path>
                  </a:pathLst>
                </a:custGeom>
                <a:solidFill>
                  <a:srgbClr val="FF990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12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3816" y="2222"/>
                  <a:ext cx="36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>
                      <a:solidFill>
                        <a:srgbClr val="800000"/>
                      </a:solidFill>
                      <a:latin typeface="Arial" charset="0"/>
                    </a:rPr>
                    <a:t>土样</a:t>
                  </a:r>
                </a:p>
              </p:txBody>
            </p:sp>
          </p:grpSp>
          <p:sp>
            <p:nvSpPr>
              <p:cNvPr id="67605" name="Text Box 65"/>
              <p:cNvSpPr txBox="1">
                <a:spLocks noChangeArrowheads="1"/>
              </p:cNvSpPr>
              <p:nvPr/>
            </p:nvSpPr>
            <p:spPr bwMode="auto">
              <a:xfrm>
                <a:off x="4651" y="2442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latin typeface="Arial" charset="0"/>
                    <a:ea typeface="幼圆" pitchFamily="49" charset="-122"/>
                  </a:rPr>
                  <a:t>滤网</a:t>
                </a:r>
              </a:p>
            </p:txBody>
          </p:sp>
          <p:sp>
            <p:nvSpPr>
              <p:cNvPr id="67606" name="Line 66"/>
              <p:cNvSpPr>
                <a:spLocks noChangeShapeType="1"/>
              </p:cNvSpPr>
              <p:nvPr/>
            </p:nvSpPr>
            <p:spPr bwMode="auto">
              <a:xfrm flipH="1" flipV="1">
                <a:off x="4424" y="2261"/>
                <a:ext cx="227" cy="2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7" name="Line 67"/>
              <p:cNvSpPr>
                <a:spLocks noChangeShapeType="1"/>
              </p:cNvSpPr>
              <p:nvPr/>
            </p:nvSpPr>
            <p:spPr bwMode="auto">
              <a:xfrm>
                <a:off x="4104" y="2265"/>
                <a:ext cx="409" cy="0"/>
              </a:xfrm>
              <a:prstGeom prst="line">
                <a:avLst/>
              </a:prstGeom>
              <a:noFill/>
              <a:ln w="57150">
                <a:solidFill>
                  <a:srgbClr val="8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8" name="Text Box 68"/>
              <p:cNvSpPr txBox="1">
                <a:spLocks noChangeArrowheads="1"/>
              </p:cNvSpPr>
              <p:nvPr/>
            </p:nvSpPr>
            <p:spPr bwMode="auto">
              <a:xfrm>
                <a:off x="3397" y="1207"/>
                <a:ext cx="52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rgbClr val="800000"/>
                    </a:solidFill>
                    <a:latin typeface="Arial" charset="0"/>
                  </a:rPr>
                  <a:t>贮水器</a:t>
                </a:r>
              </a:p>
            </p:txBody>
          </p:sp>
          <p:sp>
            <p:nvSpPr>
              <p:cNvPr id="67609" name="Text Box 69"/>
              <p:cNvSpPr txBox="1">
                <a:spLocks noChangeArrowheads="1"/>
              </p:cNvSpPr>
              <p:nvPr/>
            </p:nvSpPr>
            <p:spPr bwMode="auto">
              <a:xfrm>
                <a:off x="4562" y="476"/>
                <a:ext cx="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solidFill>
                      <a:srgbClr val="800000"/>
                    </a:solidFill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67610" name="Text Box 70"/>
              <p:cNvSpPr txBox="1">
                <a:spLocks noChangeArrowheads="1"/>
              </p:cNvSpPr>
              <p:nvPr/>
            </p:nvSpPr>
            <p:spPr bwMode="auto">
              <a:xfrm>
                <a:off x="4738" y="476"/>
                <a:ext cx="90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solidFill>
                      <a:srgbClr val="800000"/>
                    </a:solidFill>
                    <a:cs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7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5" name="Text Box 75"/>
          <p:cNvSpPr txBox="1">
            <a:spLocks noChangeArrowheads="1"/>
          </p:cNvSpPr>
          <p:nvPr/>
        </p:nvSpPr>
        <p:spPr bwMode="auto">
          <a:xfrm>
            <a:off x="5395394" y="1813680"/>
            <a:ext cx="3476532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SzPct val="140000"/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体中的孔隙水处于静止状态，无渗流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发生</a:t>
            </a:r>
            <a:endParaRPr lang="en-US" altLang="zh-CN" sz="24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marL="361950" indent="-361950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SzPct val="140000"/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相当于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将土样浸泡在静水中的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情况，土骨架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会受到浮力作用</a:t>
            </a:r>
          </a:p>
        </p:txBody>
      </p:sp>
    </p:spTree>
    <p:extLst>
      <p:ext uri="{BB962C8B-B14F-4D97-AF65-F5344CB8AC3E}">
        <p14:creationId xmlns:p14="http://schemas.microsoft.com/office/powerpoint/2010/main" val="195429351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99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99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99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99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9141" grpId="0" build="p"/>
      <p:bldP spid="5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362144" y="730936"/>
            <a:ext cx="4495800" cy="3779838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3040063" y="5799138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试验观察</a:t>
            </a:r>
          </a:p>
        </p:txBody>
      </p:sp>
      <p:sp>
        <p:nvSpPr>
          <p:cNvPr id="1499141" name="Rectangle 5"/>
          <p:cNvSpPr>
            <a:spLocks noChangeArrowheads="1"/>
          </p:cNvSpPr>
          <p:nvPr/>
        </p:nvSpPr>
        <p:spPr bwMode="auto">
          <a:xfrm>
            <a:off x="5370472" y="1064959"/>
            <a:ext cx="1483001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365125" indent="-365125" eaLnBrk="0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Wingdings" pitchFamily="2" charset="2"/>
              <a:buChar char="n"/>
            </a:pPr>
            <a:r>
              <a:rPr kumimoji="1" lang="en-US" altLang="zh-CN" sz="2400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Δ</a:t>
            </a:r>
            <a:r>
              <a:rPr kumimoji="1" lang="en-US" altLang="zh-CN" sz="24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&gt;0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99142" name="Line 6"/>
          <p:cNvSpPr>
            <a:spLocks noChangeShapeType="1"/>
          </p:cNvSpPr>
          <p:nvPr/>
        </p:nvSpPr>
        <p:spPr bwMode="auto">
          <a:xfrm flipV="1">
            <a:off x="3442098" y="1292911"/>
            <a:ext cx="0" cy="1152525"/>
          </a:xfrm>
          <a:prstGeom prst="line">
            <a:avLst/>
          </a:prstGeom>
          <a:noFill/>
          <a:ln w="6032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7625" name="Rectangle 24"/>
          <p:cNvSpPr>
            <a:spLocks noChangeArrowheads="1"/>
          </p:cNvSpPr>
          <p:nvPr/>
        </p:nvSpPr>
        <p:spPr bwMode="auto">
          <a:xfrm>
            <a:off x="2324294" y="2432737"/>
            <a:ext cx="658813" cy="312738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26" name="Freeform 25"/>
          <p:cNvSpPr>
            <a:spLocks/>
          </p:cNvSpPr>
          <p:nvPr/>
        </p:nvSpPr>
        <p:spPr bwMode="auto">
          <a:xfrm>
            <a:off x="633607" y="2413688"/>
            <a:ext cx="2359369" cy="1954096"/>
          </a:xfrm>
          <a:custGeom>
            <a:avLst/>
            <a:gdLst>
              <a:gd name="T0" fmla="*/ 1483 w 1483"/>
              <a:gd name="T1" fmla="*/ 758 h 1224"/>
              <a:gd name="T2" fmla="*/ 1478 w 1483"/>
              <a:gd name="T3" fmla="*/ 950 h 1224"/>
              <a:gd name="T4" fmla="*/ 1305 w 1483"/>
              <a:gd name="T5" fmla="*/ 950 h 1224"/>
              <a:gd name="T6" fmla="*/ 1300 w 1483"/>
              <a:gd name="T7" fmla="*/ 1224 h 1224"/>
              <a:gd name="T8" fmla="*/ 182 w 1483"/>
              <a:gd name="T9" fmla="*/ 1219 h 1224"/>
              <a:gd name="T10" fmla="*/ 187 w 1483"/>
              <a:gd name="T11" fmla="*/ 158 h 1224"/>
              <a:gd name="T12" fmla="*/ 0 w 1483"/>
              <a:gd name="T13" fmla="*/ 149 h 1224"/>
              <a:gd name="T14" fmla="*/ 0 w 1483"/>
              <a:gd name="T15" fmla="*/ 5 h 1224"/>
              <a:gd name="T16" fmla="*/ 403 w 1483"/>
              <a:gd name="T17" fmla="*/ 0 h 1224"/>
              <a:gd name="T18" fmla="*/ 398 w 1483"/>
              <a:gd name="T19" fmla="*/ 154 h 1224"/>
              <a:gd name="T20" fmla="*/ 249 w 1483"/>
              <a:gd name="T21" fmla="*/ 158 h 1224"/>
              <a:gd name="T22" fmla="*/ 259 w 1483"/>
              <a:gd name="T23" fmla="*/ 1166 h 1224"/>
              <a:gd name="T24" fmla="*/ 1233 w 1483"/>
              <a:gd name="T25" fmla="*/ 1157 h 1224"/>
              <a:gd name="T26" fmla="*/ 1221 w 1483"/>
              <a:gd name="T27" fmla="*/ 943 h 1224"/>
              <a:gd name="T28" fmla="*/ 1060 w 1483"/>
              <a:gd name="T29" fmla="*/ 943 h 1224"/>
              <a:gd name="T30" fmla="*/ 1070 w 1483"/>
              <a:gd name="T31" fmla="*/ 754 h 1224"/>
              <a:gd name="T32" fmla="*/ 1483 w 1483"/>
              <a:gd name="T33" fmla="*/ 758 h 122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483"/>
              <a:gd name="T52" fmla="*/ 0 h 1224"/>
              <a:gd name="T53" fmla="*/ 1483 w 1483"/>
              <a:gd name="T54" fmla="*/ 1224 h 1224"/>
              <a:gd name="connsiteX0" fmla="*/ 10000 w 10000"/>
              <a:gd name="connsiteY0" fmla="*/ 6193 h 10000"/>
              <a:gd name="connsiteX1" fmla="*/ 9966 w 10000"/>
              <a:gd name="connsiteY1" fmla="*/ 7761 h 10000"/>
              <a:gd name="connsiteX2" fmla="*/ 8800 w 10000"/>
              <a:gd name="connsiteY2" fmla="*/ 7761 h 10000"/>
              <a:gd name="connsiteX3" fmla="*/ 8766 w 10000"/>
              <a:gd name="connsiteY3" fmla="*/ 10000 h 10000"/>
              <a:gd name="connsiteX4" fmla="*/ 1227 w 10000"/>
              <a:gd name="connsiteY4" fmla="*/ 9959 h 10000"/>
              <a:gd name="connsiteX5" fmla="*/ 1261 w 10000"/>
              <a:gd name="connsiteY5" fmla="*/ 1291 h 10000"/>
              <a:gd name="connsiteX6" fmla="*/ 0 w 10000"/>
              <a:gd name="connsiteY6" fmla="*/ 1291 h 10000"/>
              <a:gd name="connsiteX7" fmla="*/ 0 w 10000"/>
              <a:gd name="connsiteY7" fmla="*/ 41 h 10000"/>
              <a:gd name="connsiteX8" fmla="*/ 2717 w 10000"/>
              <a:gd name="connsiteY8" fmla="*/ 0 h 10000"/>
              <a:gd name="connsiteX9" fmla="*/ 2684 w 10000"/>
              <a:gd name="connsiteY9" fmla="*/ 1258 h 10000"/>
              <a:gd name="connsiteX10" fmla="*/ 1679 w 10000"/>
              <a:gd name="connsiteY10" fmla="*/ 1291 h 10000"/>
              <a:gd name="connsiteX11" fmla="*/ 1746 w 10000"/>
              <a:gd name="connsiteY11" fmla="*/ 9526 h 10000"/>
              <a:gd name="connsiteX12" fmla="*/ 8314 w 10000"/>
              <a:gd name="connsiteY12" fmla="*/ 9453 h 10000"/>
              <a:gd name="connsiteX13" fmla="*/ 8233 w 10000"/>
              <a:gd name="connsiteY13" fmla="*/ 7704 h 10000"/>
              <a:gd name="connsiteX14" fmla="*/ 7148 w 10000"/>
              <a:gd name="connsiteY14" fmla="*/ 7704 h 10000"/>
              <a:gd name="connsiteX15" fmla="*/ 7215 w 10000"/>
              <a:gd name="connsiteY15" fmla="*/ 6160 h 10000"/>
              <a:gd name="connsiteX16" fmla="*/ 10000 w 10000"/>
              <a:gd name="connsiteY16" fmla="*/ 6193 h 10000"/>
              <a:gd name="connsiteX0" fmla="*/ 10000 w 10000"/>
              <a:gd name="connsiteY0" fmla="*/ 6193 h 10000"/>
              <a:gd name="connsiteX1" fmla="*/ 9966 w 10000"/>
              <a:gd name="connsiteY1" fmla="*/ 7761 h 10000"/>
              <a:gd name="connsiteX2" fmla="*/ 8800 w 10000"/>
              <a:gd name="connsiteY2" fmla="*/ 7761 h 10000"/>
              <a:gd name="connsiteX3" fmla="*/ 8766 w 10000"/>
              <a:gd name="connsiteY3" fmla="*/ 10000 h 10000"/>
              <a:gd name="connsiteX4" fmla="*/ 1227 w 10000"/>
              <a:gd name="connsiteY4" fmla="*/ 9959 h 10000"/>
              <a:gd name="connsiteX5" fmla="*/ 1261 w 10000"/>
              <a:gd name="connsiteY5" fmla="*/ 1291 h 10000"/>
              <a:gd name="connsiteX6" fmla="*/ 0 w 10000"/>
              <a:gd name="connsiteY6" fmla="*/ 1291 h 10000"/>
              <a:gd name="connsiteX7" fmla="*/ 0 w 10000"/>
              <a:gd name="connsiteY7" fmla="*/ 41 h 10000"/>
              <a:gd name="connsiteX8" fmla="*/ 2717 w 10000"/>
              <a:gd name="connsiteY8" fmla="*/ 0 h 10000"/>
              <a:gd name="connsiteX9" fmla="*/ 2745 w 10000"/>
              <a:gd name="connsiteY9" fmla="*/ 1258 h 10000"/>
              <a:gd name="connsiteX10" fmla="*/ 1679 w 10000"/>
              <a:gd name="connsiteY10" fmla="*/ 1291 h 10000"/>
              <a:gd name="connsiteX11" fmla="*/ 1746 w 10000"/>
              <a:gd name="connsiteY11" fmla="*/ 9526 h 10000"/>
              <a:gd name="connsiteX12" fmla="*/ 8314 w 10000"/>
              <a:gd name="connsiteY12" fmla="*/ 9453 h 10000"/>
              <a:gd name="connsiteX13" fmla="*/ 8233 w 10000"/>
              <a:gd name="connsiteY13" fmla="*/ 7704 h 10000"/>
              <a:gd name="connsiteX14" fmla="*/ 7148 w 10000"/>
              <a:gd name="connsiteY14" fmla="*/ 7704 h 10000"/>
              <a:gd name="connsiteX15" fmla="*/ 7215 w 10000"/>
              <a:gd name="connsiteY15" fmla="*/ 6160 h 10000"/>
              <a:gd name="connsiteX16" fmla="*/ 10000 w 10000"/>
              <a:gd name="connsiteY16" fmla="*/ 6193 h 10000"/>
              <a:gd name="connsiteX0" fmla="*/ 10000 w 10000"/>
              <a:gd name="connsiteY0" fmla="*/ 6193 h 10000"/>
              <a:gd name="connsiteX1" fmla="*/ 9966 w 10000"/>
              <a:gd name="connsiteY1" fmla="*/ 7761 h 10000"/>
              <a:gd name="connsiteX2" fmla="*/ 8800 w 10000"/>
              <a:gd name="connsiteY2" fmla="*/ 7761 h 10000"/>
              <a:gd name="connsiteX3" fmla="*/ 8766 w 10000"/>
              <a:gd name="connsiteY3" fmla="*/ 10000 h 10000"/>
              <a:gd name="connsiteX4" fmla="*/ 1227 w 10000"/>
              <a:gd name="connsiteY4" fmla="*/ 9959 h 10000"/>
              <a:gd name="connsiteX5" fmla="*/ 1261 w 10000"/>
              <a:gd name="connsiteY5" fmla="*/ 1291 h 10000"/>
              <a:gd name="connsiteX6" fmla="*/ 0 w 10000"/>
              <a:gd name="connsiteY6" fmla="*/ 1291 h 10000"/>
              <a:gd name="connsiteX7" fmla="*/ 0 w 10000"/>
              <a:gd name="connsiteY7" fmla="*/ 41 h 10000"/>
              <a:gd name="connsiteX8" fmla="*/ 2717 w 10000"/>
              <a:gd name="connsiteY8" fmla="*/ 0 h 10000"/>
              <a:gd name="connsiteX9" fmla="*/ 2745 w 10000"/>
              <a:gd name="connsiteY9" fmla="*/ 1258 h 10000"/>
              <a:gd name="connsiteX10" fmla="*/ 1742 w 10000"/>
              <a:gd name="connsiteY10" fmla="*/ 1291 h 10000"/>
              <a:gd name="connsiteX11" fmla="*/ 1746 w 10000"/>
              <a:gd name="connsiteY11" fmla="*/ 9526 h 10000"/>
              <a:gd name="connsiteX12" fmla="*/ 8314 w 10000"/>
              <a:gd name="connsiteY12" fmla="*/ 9453 h 10000"/>
              <a:gd name="connsiteX13" fmla="*/ 8233 w 10000"/>
              <a:gd name="connsiteY13" fmla="*/ 7704 h 10000"/>
              <a:gd name="connsiteX14" fmla="*/ 7148 w 10000"/>
              <a:gd name="connsiteY14" fmla="*/ 7704 h 10000"/>
              <a:gd name="connsiteX15" fmla="*/ 7215 w 10000"/>
              <a:gd name="connsiteY15" fmla="*/ 6160 h 10000"/>
              <a:gd name="connsiteX16" fmla="*/ 10000 w 10000"/>
              <a:gd name="connsiteY16" fmla="*/ 6193 h 10000"/>
              <a:gd name="connsiteX0" fmla="*/ 10000 w 10000"/>
              <a:gd name="connsiteY0" fmla="*/ 6193 h 10024"/>
              <a:gd name="connsiteX1" fmla="*/ 9966 w 10000"/>
              <a:gd name="connsiteY1" fmla="*/ 7761 h 10024"/>
              <a:gd name="connsiteX2" fmla="*/ 8800 w 10000"/>
              <a:gd name="connsiteY2" fmla="*/ 7761 h 10024"/>
              <a:gd name="connsiteX3" fmla="*/ 8766 w 10000"/>
              <a:gd name="connsiteY3" fmla="*/ 10000 h 10024"/>
              <a:gd name="connsiteX4" fmla="*/ 1227 w 10000"/>
              <a:gd name="connsiteY4" fmla="*/ 10024 h 10024"/>
              <a:gd name="connsiteX5" fmla="*/ 1261 w 10000"/>
              <a:gd name="connsiteY5" fmla="*/ 1291 h 10024"/>
              <a:gd name="connsiteX6" fmla="*/ 0 w 10000"/>
              <a:gd name="connsiteY6" fmla="*/ 1291 h 10024"/>
              <a:gd name="connsiteX7" fmla="*/ 0 w 10000"/>
              <a:gd name="connsiteY7" fmla="*/ 41 h 10024"/>
              <a:gd name="connsiteX8" fmla="*/ 2717 w 10000"/>
              <a:gd name="connsiteY8" fmla="*/ 0 h 10024"/>
              <a:gd name="connsiteX9" fmla="*/ 2745 w 10000"/>
              <a:gd name="connsiteY9" fmla="*/ 1258 h 10024"/>
              <a:gd name="connsiteX10" fmla="*/ 1742 w 10000"/>
              <a:gd name="connsiteY10" fmla="*/ 1291 h 10024"/>
              <a:gd name="connsiteX11" fmla="*/ 1746 w 10000"/>
              <a:gd name="connsiteY11" fmla="*/ 9526 h 10024"/>
              <a:gd name="connsiteX12" fmla="*/ 8314 w 10000"/>
              <a:gd name="connsiteY12" fmla="*/ 9453 h 10024"/>
              <a:gd name="connsiteX13" fmla="*/ 8233 w 10000"/>
              <a:gd name="connsiteY13" fmla="*/ 7704 h 10024"/>
              <a:gd name="connsiteX14" fmla="*/ 7148 w 10000"/>
              <a:gd name="connsiteY14" fmla="*/ 7704 h 10024"/>
              <a:gd name="connsiteX15" fmla="*/ 7215 w 10000"/>
              <a:gd name="connsiteY15" fmla="*/ 6160 h 10024"/>
              <a:gd name="connsiteX16" fmla="*/ 10000 w 10000"/>
              <a:gd name="connsiteY16" fmla="*/ 6193 h 10024"/>
              <a:gd name="connsiteX0" fmla="*/ 9982 w 9982"/>
              <a:gd name="connsiteY0" fmla="*/ 6182 h 10024"/>
              <a:gd name="connsiteX1" fmla="*/ 9966 w 9982"/>
              <a:gd name="connsiteY1" fmla="*/ 7761 h 10024"/>
              <a:gd name="connsiteX2" fmla="*/ 8800 w 9982"/>
              <a:gd name="connsiteY2" fmla="*/ 7761 h 10024"/>
              <a:gd name="connsiteX3" fmla="*/ 8766 w 9982"/>
              <a:gd name="connsiteY3" fmla="*/ 10000 h 10024"/>
              <a:gd name="connsiteX4" fmla="*/ 1227 w 9982"/>
              <a:gd name="connsiteY4" fmla="*/ 10024 h 10024"/>
              <a:gd name="connsiteX5" fmla="*/ 1261 w 9982"/>
              <a:gd name="connsiteY5" fmla="*/ 1291 h 10024"/>
              <a:gd name="connsiteX6" fmla="*/ 0 w 9982"/>
              <a:gd name="connsiteY6" fmla="*/ 1291 h 10024"/>
              <a:gd name="connsiteX7" fmla="*/ 0 w 9982"/>
              <a:gd name="connsiteY7" fmla="*/ 41 h 10024"/>
              <a:gd name="connsiteX8" fmla="*/ 2717 w 9982"/>
              <a:gd name="connsiteY8" fmla="*/ 0 h 10024"/>
              <a:gd name="connsiteX9" fmla="*/ 2745 w 9982"/>
              <a:gd name="connsiteY9" fmla="*/ 1258 h 10024"/>
              <a:gd name="connsiteX10" fmla="*/ 1742 w 9982"/>
              <a:gd name="connsiteY10" fmla="*/ 1291 h 10024"/>
              <a:gd name="connsiteX11" fmla="*/ 1746 w 9982"/>
              <a:gd name="connsiteY11" fmla="*/ 9526 h 10024"/>
              <a:gd name="connsiteX12" fmla="*/ 8314 w 9982"/>
              <a:gd name="connsiteY12" fmla="*/ 9453 h 10024"/>
              <a:gd name="connsiteX13" fmla="*/ 8233 w 9982"/>
              <a:gd name="connsiteY13" fmla="*/ 7704 h 10024"/>
              <a:gd name="connsiteX14" fmla="*/ 7148 w 9982"/>
              <a:gd name="connsiteY14" fmla="*/ 7704 h 10024"/>
              <a:gd name="connsiteX15" fmla="*/ 7215 w 9982"/>
              <a:gd name="connsiteY15" fmla="*/ 6160 h 10024"/>
              <a:gd name="connsiteX16" fmla="*/ 9982 w 9982"/>
              <a:gd name="connsiteY16" fmla="*/ 6182 h 10024"/>
              <a:gd name="connsiteX0" fmla="*/ 10007 w 10007"/>
              <a:gd name="connsiteY0" fmla="*/ 6118 h 10000"/>
              <a:gd name="connsiteX1" fmla="*/ 9984 w 10007"/>
              <a:gd name="connsiteY1" fmla="*/ 7742 h 10000"/>
              <a:gd name="connsiteX2" fmla="*/ 8816 w 10007"/>
              <a:gd name="connsiteY2" fmla="*/ 7742 h 10000"/>
              <a:gd name="connsiteX3" fmla="*/ 8782 w 10007"/>
              <a:gd name="connsiteY3" fmla="*/ 9976 h 10000"/>
              <a:gd name="connsiteX4" fmla="*/ 1229 w 10007"/>
              <a:gd name="connsiteY4" fmla="*/ 10000 h 10000"/>
              <a:gd name="connsiteX5" fmla="*/ 1263 w 10007"/>
              <a:gd name="connsiteY5" fmla="*/ 1288 h 10000"/>
              <a:gd name="connsiteX6" fmla="*/ 0 w 10007"/>
              <a:gd name="connsiteY6" fmla="*/ 1288 h 10000"/>
              <a:gd name="connsiteX7" fmla="*/ 0 w 10007"/>
              <a:gd name="connsiteY7" fmla="*/ 41 h 10000"/>
              <a:gd name="connsiteX8" fmla="*/ 2722 w 10007"/>
              <a:gd name="connsiteY8" fmla="*/ 0 h 10000"/>
              <a:gd name="connsiteX9" fmla="*/ 2750 w 10007"/>
              <a:gd name="connsiteY9" fmla="*/ 1255 h 10000"/>
              <a:gd name="connsiteX10" fmla="*/ 1745 w 10007"/>
              <a:gd name="connsiteY10" fmla="*/ 1288 h 10000"/>
              <a:gd name="connsiteX11" fmla="*/ 1749 w 10007"/>
              <a:gd name="connsiteY11" fmla="*/ 9503 h 10000"/>
              <a:gd name="connsiteX12" fmla="*/ 8329 w 10007"/>
              <a:gd name="connsiteY12" fmla="*/ 9430 h 10000"/>
              <a:gd name="connsiteX13" fmla="*/ 8248 w 10007"/>
              <a:gd name="connsiteY13" fmla="*/ 7686 h 10000"/>
              <a:gd name="connsiteX14" fmla="*/ 7161 w 10007"/>
              <a:gd name="connsiteY14" fmla="*/ 7686 h 10000"/>
              <a:gd name="connsiteX15" fmla="*/ 7228 w 10007"/>
              <a:gd name="connsiteY15" fmla="*/ 6145 h 10000"/>
              <a:gd name="connsiteX16" fmla="*/ 10007 w 10007"/>
              <a:gd name="connsiteY16" fmla="*/ 6118 h 10000"/>
              <a:gd name="connsiteX0" fmla="*/ 10007 w 10007"/>
              <a:gd name="connsiteY0" fmla="*/ 6118 h 10000"/>
              <a:gd name="connsiteX1" fmla="*/ 9984 w 10007"/>
              <a:gd name="connsiteY1" fmla="*/ 7742 h 10000"/>
              <a:gd name="connsiteX2" fmla="*/ 8816 w 10007"/>
              <a:gd name="connsiteY2" fmla="*/ 7742 h 10000"/>
              <a:gd name="connsiteX3" fmla="*/ 8782 w 10007"/>
              <a:gd name="connsiteY3" fmla="*/ 9976 h 10000"/>
              <a:gd name="connsiteX4" fmla="*/ 1229 w 10007"/>
              <a:gd name="connsiteY4" fmla="*/ 10000 h 10000"/>
              <a:gd name="connsiteX5" fmla="*/ 1263 w 10007"/>
              <a:gd name="connsiteY5" fmla="*/ 1288 h 10000"/>
              <a:gd name="connsiteX6" fmla="*/ 0 w 10007"/>
              <a:gd name="connsiteY6" fmla="*/ 1288 h 10000"/>
              <a:gd name="connsiteX7" fmla="*/ 0 w 10007"/>
              <a:gd name="connsiteY7" fmla="*/ 41 h 10000"/>
              <a:gd name="connsiteX8" fmla="*/ 2722 w 10007"/>
              <a:gd name="connsiteY8" fmla="*/ 0 h 10000"/>
              <a:gd name="connsiteX9" fmla="*/ 2750 w 10007"/>
              <a:gd name="connsiteY9" fmla="*/ 1255 h 10000"/>
              <a:gd name="connsiteX10" fmla="*/ 1745 w 10007"/>
              <a:gd name="connsiteY10" fmla="*/ 1288 h 10000"/>
              <a:gd name="connsiteX11" fmla="*/ 1749 w 10007"/>
              <a:gd name="connsiteY11" fmla="*/ 9503 h 10000"/>
              <a:gd name="connsiteX12" fmla="*/ 8329 w 10007"/>
              <a:gd name="connsiteY12" fmla="*/ 9430 h 10000"/>
              <a:gd name="connsiteX13" fmla="*/ 8248 w 10007"/>
              <a:gd name="connsiteY13" fmla="*/ 7686 h 10000"/>
              <a:gd name="connsiteX14" fmla="*/ 7161 w 10007"/>
              <a:gd name="connsiteY14" fmla="*/ 7686 h 10000"/>
              <a:gd name="connsiteX15" fmla="*/ 7187 w 10007"/>
              <a:gd name="connsiteY15" fmla="*/ 6153 h 10000"/>
              <a:gd name="connsiteX16" fmla="*/ 10007 w 10007"/>
              <a:gd name="connsiteY16" fmla="*/ 6118 h 10000"/>
              <a:gd name="connsiteX0" fmla="*/ 10007 w 10007"/>
              <a:gd name="connsiteY0" fmla="*/ 6118 h 10000"/>
              <a:gd name="connsiteX1" fmla="*/ 9984 w 10007"/>
              <a:gd name="connsiteY1" fmla="*/ 7742 h 10000"/>
              <a:gd name="connsiteX2" fmla="*/ 8816 w 10007"/>
              <a:gd name="connsiteY2" fmla="*/ 7742 h 10000"/>
              <a:gd name="connsiteX3" fmla="*/ 8782 w 10007"/>
              <a:gd name="connsiteY3" fmla="*/ 9976 h 10000"/>
              <a:gd name="connsiteX4" fmla="*/ 1229 w 10007"/>
              <a:gd name="connsiteY4" fmla="*/ 10000 h 10000"/>
              <a:gd name="connsiteX5" fmla="*/ 1263 w 10007"/>
              <a:gd name="connsiteY5" fmla="*/ 1288 h 10000"/>
              <a:gd name="connsiteX6" fmla="*/ 0 w 10007"/>
              <a:gd name="connsiteY6" fmla="*/ 1288 h 10000"/>
              <a:gd name="connsiteX7" fmla="*/ 0 w 10007"/>
              <a:gd name="connsiteY7" fmla="*/ 41 h 10000"/>
              <a:gd name="connsiteX8" fmla="*/ 2722 w 10007"/>
              <a:gd name="connsiteY8" fmla="*/ 0 h 10000"/>
              <a:gd name="connsiteX9" fmla="*/ 2750 w 10007"/>
              <a:gd name="connsiteY9" fmla="*/ 1255 h 10000"/>
              <a:gd name="connsiteX10" fmla="*/ 1745 w 10007"/>
              <a:gd name="connsiteY10" fmla="*/ 1288 h 10000"/>
              <a:gd name="connsiteX11" fmla="*/ 1749 w 10007"/>
              <a:gd name="connsiteY11" fmla="*/ 9503 h 10000"/>
              <a:gd name="connsiteX12" fmla="*/ 8329 w 10007"/>
              <a:gd name="connsiteY12" fmla="*/ 9430 h 10000"/>
              <a:gd name="connsiteX13" fmla="*/ 8248 w 10007"/>
              <a:gd name="connsiteY13" fmla="*/ 7686 h 10000"/>
              <a:gd name="connsiteX14" fmla="*/ 7161 w 10007"/>
              <a:gd name="connsiteY14" fmla="*/ 7686 h 10000"/>
              <a:gd name="connsiteX15" fmla="*/ 7180 w 10007"/>
              <a:gd name="connsiteY15" fmla="*/ 6104 h 10000"/>
              <a:gd name="connsiteX16" fmla="*/ 10007 w 10007"/>
              <a:gd name="connsiteY16" fmla="*/ 6118 h 10000"/>
              <a:gd name="connsiteX0" fmla="*/ 10007 w 10007"/>
              <a:gd name="connsiteY0" fmla="*/ 6118 h 10032"/>
              <a:gd name="connsiteX1" fmla="*/ 9984 w 10007"/>
              <a:gd name="connsiteY1" fmla="*/ 7742 h 10032"/>
              <a:gd name="connsiteX2" fmla="*/ 8816 w 10007"/>
              <a:gd name="connsiteY2" fmla="*/ 7742 h 10032"/>
              <a:gd name="connsiteX3" fmla="*/ 8856 w 10007"/>
              <a:gd name="connsiteY3" fmla="*/ 10032 h 10032"/>
              <a:gd name="connsiteX4" fmla="*/ 1229 w 10007"/>
              <a:gd name="connsiteY4" fmla="*/ 10000 h 10032"/>
              <a:gd name="connsiteX5" fmla="*/ 1263 w 10007"/>
              <a:gd name="connsiteY5" fmla="*/ 1288 h 10032"/>
              <a:gd name="connsiteX6" fmla="*/ 0 w 10007"/>
              <a:gd name="connsiteY6" fmla="*/ 1288 h 10032"/>
              <a:gd name="connsiteX7" fmla="*/ 0 w 10007"/>
              <a:gd name="connsiteY7" fmla="*/ 41 h 10032"/>
              <a:gd name="connsiteX8" fmla="*/ 2722 w 10007"/>
              <a:gd name="connsiteY8" fmla="*/ 0 h 10032"/>
              <a:gd name="connsiteX9" fmla="*/ 2750 w 10007"/>
              <a:gd name="connsiteY9" fmla="*/ 1255 h 10032"/>
              <a:gd name="connsiteX10" fmla="*/ 1745 w 10007"/>
              <a:gd name="connsiteY10" fmla="*/ 1288 h 10032"/>
              <a:gd name="connsiteX11" fmla="*/ 1749 w 10007"/>
              <a:gd name="connsiteY11" fmla="*/ 9503 h 10032"/>
              <a:gd name="connsiteX12" fmla="*/ 8329 w 10007"/>
              <a:gd name="connsiteY12" fmla="*/ 9430 h 10032"/>
              <a:gd name="connsiteX13" fmla="*/ 8248 w 10007"/>
              <a:gd name="connsiteY13" fmla="*/ 7686 h 10032"/>
              <a:gd name="connsiteX14" fmla="*/ 7161 w 10007"/>
              <a:gd name="connsiteY14" fmla="*/ 7686 h 10032"/>
              <a:gd name="connsiteX15" fmla="*/ 7180 w 10007"/>
              <a:gd name="connsiteY15" fmla="*/ 6104 h 10032"/>
              <a:gd name="connsiteX16" fmla="*/ 10007 w 10007"/>
              <a:gd name="connsiteY16" fmla="*/ 6118 h 10032"/>
              <a:gd name="connsiteX0" fmla="*/ 10035 w 10035"/>
              <a:gd name="connsiteY0" fmla="*/ 6118 h 10032"/>
              <a:gd name="connsiteX1" fmla="*/ 9984 w 10035"/>
              <a:gd name="connsiteY1" fmla="*/ 7742 h 10032"/>
              <a:gd name="connsiteX2" fmla="*/ 8816 w 10035"/>
              <a:gd name="connsiteY2" fmla="*/ 7742 h 10032"/>
              <a:gd name="connsiteX3" fmla="*/ 8856 w 10035"/>
              <a:gd name="connsiteY3" fmla="*/ 10032 h 10032"/>
              <a:gd name="connsiteX4" fmla="*/ 1229 w 10035"/>
              <a:gd name="connsiteY4" fmla="*/ 10000 h 10032"/>
              <a:gd name="connsiteX5" fmla="*/ 1263 w 10035"/>
              <a:gd name="connsiteY5" fmla="*/ 1288 h 10032"/>
              <a:gd name="connsiteX6" fmla="*/ 0 w 10035"/>
              <a:gd name="connsiteY6" fmla="*/ 1288 h 10032"/>
              <a:gd name="connsiteX7" fmla="*/ 0 w 10035"/>
              <a:gd name="connsiteY7" fmla="*/ 41 h 10032"/>
              <a:gd name="connsiteX8" fmla="*/ 2722 w 10035"/>
              <a:gd name="connsiteY8" fmla="*/ 0 h 10032"/>
              <a:gd name="connsiteX9" fmla="*/ 2750 w 10035"/>
              <a:gd name="connsiteY9" fmla="*/ 1255 h 10032"/>
              <a:gd name="connsiteX10" fmla="*/ 1745 w 10035"/>
              <a:gd name="connsiteY10" fmla="*/ 1288 h 10032"/>
              <a:gd name="connsiteX11" fmla="*/ 1749 w 10035"/>
              <a:gd name="connsiteY11" fmla="*/ 9503 h 10032"/>
              <a:gd name="connsiteX12" fmla="*/ 8329 w 10035"/>
              <a:gd name="connsiteY12" fmla="*/ 9430 h 10032"/>
              <a:gd name="connsiteX13" fmla="*/ 8248 w 10035"/>
              <a:gd name="connsiteY13" fmla="*/ 7686 h 10032"/>
              <a:gd name="connsiteX14" fmla="*/ 7161 w 10035"/>
              <a:gd name="connsiteY14" fmla="*/ 7686 h 10032"/>
              <a:gd name="connsiteX15" fmla="*/ 7180 w 10035"/>
              <a:gd name="connsiteY15" fmla="*/ 6104 h 10032"/>
              <a:gd name="connsiteX16" fmla="*/ 10035 w 10035"/>
              <a:gd name="connsiteY16" fmla="*/ 6118 h 10032"/>
              <a:gd name="connsiteX0" fmla="*/ 10035 w 10042"/>
              <a:gd name="connsiteY0" fmla="*/ 6118 h 10032"/>
              <a:gd name="connsiteX1" fmla="*/ 10040 w 10042"/>
              <a:gd name="connsiteY1" fmla="*/ 7787 h 10032"/>
              <a:gd name="connsiteX2" fmla="*/ 8816 w 10042"/>
              <a:gd name="connsiteY2" fmla="*/ 7742 h 10032"/>
              <a:gd name="connsiteX3" fmla="*/ 8856 w 10042"/>
              <a:gd name="connsiteY3" fmla="*/ 10032 h 10032"/>
              <a:gd name="connsiteX4" fmla="*/ 1229 w 10042"/>
              <a:gd name="connsiteY4" fmla="*/ 10000 h 10032"/>
              <a:gd name="connsiteX5" fmla="*/ 1263 w 10042"/>
              <a:gd name="connsiteY5" fmla="*/ 1288 h 10032"/>
              <a:gd name="connsiteX6" fmla="*/ 0 w 10042"/>
              <a:gd name="connsiteY6" fmla="*/ 1288 h 10032"/>
              <a:gd name="connsiteX7" fmla="*/ 0 w 10042"/>
              <a:gd name="connsiteY7" fmla="*/ 41 h 10032"/>
              <a:gd name="connsiteX8" fmla="*/ 2722 w 10042"/>
              <a:gd name="connsiteY8" fmla="*/ 0 h 10032"/>
              <a:gd name="connsiteX9" fmla="*/ 2750 w 10042"/>
              <a:gd name="connsiteY9" fmla="*/ 1255 h 10032"/>
              <a:gd name="connsiteX10" fmla="*/ 1745 w 10042"/>
              <a:gd name="connsiteY10" fmla="*/ 1288 h 10032"/>
              <a:gd name="connsiteX11" fmla="*/ 1749 w 10042"/>
              <a:gd name="connsiteY11" fmla="*/ 9503 h 10032"/>
              <a:gd name="connsiteX12" fmla="*/ 8329 w 10042"/>
              <a:gd name="connsiteY12" fmla="*/ 9430 h 10032"/>
              <a:gd name="connsiteX13" fmla="*/ 8248 w 10042"/>
              <a:gd name="connsiteY13" fmla="*/ 7686 h 10032"/>
              <a:gd name="connsiteX14" fmla="*/ 7161 w 10042"/>
              <a:gd name="connsiteY14" fmla="*/ 7686 h 10032"/>
              <a:gd name="connsiteX15" fmla="*/ 7180 w 10042"/>
              <a:gd name="connsiteY15" fmla="*/ 6104 h 10032"/>
              <a:gd name="connsiteX16" fmla="*/ 10035 w 10042"/>
              <a:gd name="connsiteY16" fmla="*/ 6118 h 10032"/>
              <a:gd name="connsiteX0" fmla="*/ 10035 w 10042"/>
              <a:gd name="connsiteY0" fmla="*/ 6118 h 10032"/>
              <a:gd name="connsiteX1" fmla="*/ 10040 w 10042"/>
              <a:gd name="connsiteY1" fmla="*/ 7787 h 10032"/>
              <a:gd name="connsiteX2" fmla="*/ 8816 w 10042"/>
              <a:gd name="connsiteY2" fmla="*/ 7787 h 10032"/>
              <a:gd name="connsiteX3" fmla="*/ 8856 w 10042"/>
              <a:gd name="connsiteY3" fmla="*/ 10032 h 10032"/>
              <a:gd name="connsiteX4" fmla="*/ 1229 w 10042"/>
              <a:gd name="connsiteY4" fmla="*/ 10000 h 10032"/>
              <a:gd name="connsiteX5" fmla="*/ 1263 w 10042"/>
              <a:gd name="connsiteY5" fmla="*/ 1288 h 10032"/>
              <a:gd name="connsiteX6" fmla="*/ 0 w 10042"/>
              <a:gd name="connsiteY6" fmla="*/ 1288 h 10032"/>
              <a:gd name="connsiteX7" fmla="*/ 0 w 10042"/>
              <a:gd name="connsiteY7" fmla="*/ 41 h 10032"/>
              <a:gd name="connsiteX8" fmla="*/ 2722 w 10042"/>
              <a:gd name="connsiteY8" fmla="*/ 0 h 10032"/>
              <a:gd name="connsiteX9" fmla="*/ 2750 w 10042"/>
              <a:gd name="connsiteY9" fmla="*/ 1255 h 10032"/>
              <a:gd name="connsiteX10" fmla="*/ 1745 w 10042"/>
              <a:gd name="connsiteY10" fmla="*/ 1288 h 10032"/>
              <a:gd name="connsiteX11" fmla="*/ 1749 w 10042"/>
              <a:gd name="connsiteY11" fmla="*/ 9503 h 10032"/>
              <a:gd name="connsiteX12" fmla="*/ 8329 w 10042"/>
              <a:gd name="connsiteY12" fmla="*/ 9430 h 10032"/>
              <a:gd name="connsiteX13" fmla="*/ 8248 w 10042"/>
              <a:gd name="connsiteY13" fmla="*/ 7686 h 10032"/>
              <a:gd name="connsiteX14" fmla="*/ 7161 w 10042"/>
              <a:gd name="connsiteY14" fmla="*/ 7686 h 10032"/>
              <a:gd name="connsiteX15" fmla="*/ 7180 w 10042"/>
              <a:gd name="connsiteY15" fmla="*/ 6104 h 10032"/>
              <a:gd name="connsiteX16" fmla="*/ 10035 w 10042"/>
              <a:gd name="connsiteY16" fmla="*/ 6118 h 1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042" h="10032">
                <a:moveTo>
                  <a:pt x="10035" y="6118"/>
                </a:moveTo>
                <a:cubicBezTo>
                  <a:pt x="10024" y="6640"/>
                  <a:pt x="10051" y="7266"/>
                  <a:pt x="10040" y="7787"/>
                </a:cubicBezTo>
                <a:lnTo>
                  <a:pt x="8816" y="7787"/>
                </a:lnTo>
                <a:cubicBezTo>
                  <a:pt x="8805" y="8532"/>
                  <a:pt x="8867" y="9288"/>
                  <a:pt x="8856" y="10032"/>
                </a:cubicBezTo>
                <a:lnTo>
                  <a:pt x="1229" y="10000"/>
                </a:lnTo>
                <a:cubicBezTo>
                  <a:pt x="1240" y="7118"/>
                  <a:pt x="1252" y="4170"/>
                  <a:pt x="1263" y="1288"/>
                </a:cubicBezTo>
                <a:lnTo>
                  <a:pt x="0" y="1288"/>
                </a:lnTo>
                <a:lnTo>
                  <a:pt x="0" y="41"/>
                </a:lnTo>
                <a:lnTo>
                  <a:pt x="2722" y="0"/>
                </a:lnTo>
                <a:cubicBezTo>
                  <a:pt x="2711" y="418"/>
                  <a:pt x="2761" y="837"/>
                  <a:pt x="2750" y="1255"/>
                </a:cubicBezTo>
                <a:lnTo>
                  <a:pt x="1745" y="1288"/>
                </a:lnTo>
                <a:cubicBezTo>
                  <a:pt x="1767" y="4026"/>
                  <a:pt x="1727" y="6765"/>
                  <a:pt x="1749" y="9503"/>
                </a:cubicBezTo>
                <a:lnTo>
                  <a:pt x="8329" y="9430"/>
                </a:lnTo>
                <a:cubicBezTo>
                  <a:pt x="8302" y="8849"/>
                  <a:pt x="8275" y="8267"/>
                  <a:pt x="8248" y="7686"/>
                </a:cubicBezTo>
                <a:lnTo>
                  <a:pt x="7161" y="7686"/>
                </a:lnTo>
                <a:cubicBezTo>
                  <a:pt x="7183" y="7172"/>
                  <a:pt x="7158" y="6618"/>
                  <a:pt x="7180" y="6104"/>
                </a:cubicBezTo>
                <a:lnTo>
                  <a:pt x="10035" y="6118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7627" name="Group 26"/>
          <p:cNvGrpSpPr>
            <a:grpSpLocks/>
          </p:cNvGrpSpPr>
          <p:nvPr/>
        </p:nvGrpSpPr>
        <p:grpSpPr bwMode="auto">
          <a:xfrm>
            <a:off x="2322706" y="2274009"/>
            <a:ext cx="649288" cy="269877"/>
            <a:chOff x="3808" y="1777"/>
            <a:chExt cx="409" cy="170"/>
          </a:xfrm>
        </p:grpSpPr>
        <p:grpSp>
          <p:nvGrpSpPr>
            <p:cNvPr id="67637" name="Group 27"/>
            <p:cNvGrpSpPr>
              <a:grpSpLocks/>
            </p:cNvGrpSpPr>
            <p:nvPr/>
          </p:nvGrpSpPr>
          <p:grpSpPr bwMode="auto">
            <a:xfrm>
              <a:off x="3921" y="1777"/>
              <a:ext cx="182" cy="170"/>
              <a:chOff x="3067" y="1097"/>
              <a:chExt cx="182" cy="170"/>
            </a:xfrm>
          </p:grpSpPr>
          <p:sp>
            <p:nvSpPr>
              <p:cNvPr id="67639" name="Line 28"/>
              <p:cNvSpPr>
                <a:spLocks noChangeShapeType="1"/>
              </p:cNvSpPr>
              <p:nvPr/>
            </p:nvSpPr>
            <p:spPr bwMode="auto">
              <a:xfrm>
                <a:off x="3104" y="1246"/>
                <a:ext cx="90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40" name="Line 29"/>
              <p:cNvSpPr>
                <a:spLocks noChangeShapeType="1"/>
              </p:cNvSpPr>
              <p:nvPr/>
            </p:nvSpPr>
            <p:spPr bwMode="auto">
              <a:xfrm>
                <a:off x="3128" y="1267"/>
                <a:ext cx="45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41" name="AutoShape 30"/>
              <p:cNvSpPr>
                <a:spLocks noChangeArrowheads="1"/>
              </p:cNvSpPr>
              <p:nvPr/>
            </p:nvSpPr>
            <p:spPr bwMode="auto">
              <a:xfrm flipV="1">
                <a:off x="3076" y="1097"/>
                <a:ext cx="136" cy="9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42" name="Line 31"/>
              <p:cNvSpPr>
                <a:spLocks noChangeShapeType="1"/>
              </p:cNvSpPr>
              <p:nvPr/>
            </p:nvSpPr>
            <p:spPr bwMode="auto">
              <a:xfrm>
                <a:off x="3067" y="1222"/>
                <a:ext cx="182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7638" name="Line 32"/>
            <p:cNvSpPr>
              <a:spLocks noChangeShapeType="1"/>
            </p:cNvSpPr>
            <p:nvPr/>
          </p:nvSpPr>
          <p:spPr bwMode="auto">
            <a:xfrm>
              <a:off x="3808" y="1876"/>
              <a:ext cx="409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7628" name="Freeform 33"/>
          <p:cNvSpPr>
            <a:spLocks/>
          </p:cNvSpPr>
          <p:nvPr/>
        </p:nvSpPr>
        <p:spPr bwMode="auto">
          <a:xfrm>
            <a:off x="2979931" y="2420037"/>
            <a:ext cx="184150" cy="320675"/>
          </a:xfrm>
          <a:custGeom>
            <a:avLst/>
            <a:gdLst>
              <a:gd name="T0" fmla="*/ 0 w 109"/>
              <a:gd name="T1" fmla="*/ 196 h 196"/>
              <a:gd name="T2" fmla="*/ 109 w 109"/>
              <a:gd name="T3" fmla="*/ 196 h 196"/>
              <a:gd name="T4" fmla="*/ 109 w 109"/>
              <a:gd name="T5" fmla="*/ 0 h 196"/>
              <a:gd name="T6" fmla="*/ 0 60000 65536"/>
              <a:gd name="T7" fmla="*/ 0 60000 65536"/>
              <a:gd name="T8" fmla="*/ 0 60000 65536"/>
              <a:gd name="T9" fmla="*/ 0 w 109"/>
              <a:gd name="T10" fmla="*/ 0 h 196"/>
              <a:gd name="T11" fmla="*/ 109 w 109"/>
              <a:gd name="T12" fmla="*/ 196 h 196"/>
              <a:gd name="connsiteX0" fmla="*/ 0 w 10642"/>
              <a:gd name="connsiteY0" fmla="*/ 10051 h 10051"/>
              <a:gd name="connsiteX1" fmla="*/ 10642 w 10642"/>
              <a:gd name="connsiteY1" fmla="*/ 10000 h 10051"/>
              <a:gd name="connsiteX2" fmla="*/ 10642 w 10642"/>
              <a:gd name="connsiteY2" fmla="*/ 0 h 10051"/>
              <a:gd name="connsiteX0" fmla="*/ 0 w 10642"/>
              <a:gd name="connsiteY0" fmla="*/ 10357 h 10357"/>
              <a:gd name="connsiteX1" fmla="*/ 10642 w 10642"/>
              <a:gd name="connsiteY1" fmla="*/ 10306 h 10357"/>
              <a:gd name="connsiteX2" fmla="*/ 10275 w 10642"/>
              <a:gd name="connsiteY2" fmla="*/ 0 h 10357"/>
              <a:gd name="connsiteX0" fmla="*/ 0 w 10677"/>
              <a:gd name="connsiteY0" fmla="*/ 10357 h 10357"/>
              <a:gd name="connsiteX1" fmla="*/ 10642 w 10677"/>
              <a:gd name="connsiteY1" fmla="*/ 10306 h 10357"/>
              <a:gd name="connsiteX2" fmla="*/ 10642 w 10677"/>
              <a:gd name="connsiteY2" fmla="*/ 0 h 10357"/>
              <a:gd name="connsiteX0" fmla="*/ 0 w 10677"/>
              <a:gd name="connsiteY0" fmla="*/ 10204 h 10306"/>
              <a:gd name="connsiteX1" fmla="*/ 10642 w 10677"/>
              <a:gd name="connsiteY1" fmla="*/ 10306 h 10306"/>
              <a:gd name="connsiteX2" fmla="*/ 10642 w 10677"/>
              <a:gd name="connsiteY2" fmla="*/ 0 h 10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77" h="10306">
                <a:moveTo>
                  <a:pt x="0" y="10204"/>
                </a:moveTo>
                <a:lnTo>
                  <a:pt x="10642" y="10306"/>
                </a:lnTo>
                <a:cubicBezTo>
                  <a:pt x="10520" y="6871"/>
                  <a:pt x="10764" y="3435"/>
                  <a:pt x="10642" y="0"/>
                </a:cubicBezTo>
              </a:path>
            </a:pathLst>
          </a:custGeom>
          <a:noFill/>
          <a:ln w="76200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7629" name="Freeform 34"/>
          <p:cNvSpPr>
            <a:spLocks/>
          </p:cNvSpPr>
          <p:nvPr/>
        </p:nvSpPr>
        <p:spPr bwMode="auto">
          <a:xfrm>
            <a:off x="2975169" y="2429562"/>
            <a:ext cx="465138" cy="1192213"/>
          </a:xfrm>
          <a:custGeom>
            <a:avLst/>
            <a:gdLst>
              <a:gd name="T0" fmla="*/ 0 w 284"/>
              <a:gd name="T1" fmla="*/ 751 h 751"/>
              <a:gd name="T2" fmla="*/ 281 w 284"/>
              <a:gd name="T3" fmla="*/ 751 h 751"/>
              <a:gd name="T4" fmla="*/ 284 w 284"/>
              <a:gd name="T5" fmla="*/ 0 h 751"/>
              <a:gd name="T6" fmla="*/ 0 60000 65536"/>
              <a:gd name="T7" fmla="*/ 0 60000 65536"/>
              <a:gd name="T8" fmla="*/ 0 60000 65536"/>
              <a:gd name="T9" fmla="*/ 0 w 284"/>
              <a:gd name="T10" fmla="*/ 0 h 751"/>
              <a:gd name="T11" fmla="*/ 284 w 284"/>
              <a:gd name="T12" fmla="*/ 751 h 7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4" h="751">
                <a:moveTo>
                  <a:pt x="0" y="751"/>
                </a:moveTo>
                <a:lnTo>
                  <a:pt x="281" y="751"/>
                </a:lnTo>
                <a:lnTo>
                  <a:pt x="284" y="0"/>
                </a:lnTo>
              </a:path>
            </a:pathLst>
          </a:custGeom>
          <a:noFill/>
          <a:ln w="63500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>
            <a:spAutoFit/>
          </a:bodyPr>
          <a:lstStyle/>
          <a:p>
            <a:endParaRPr lang="zh-CN" altLang="en-US"/>
          </a:p>
        </p:txBody>
      </p:sp>
      <p:grpSp>
        <p:nvGrpSpPr>
          <p:cNvPr id="67630" name="Group 35"/>
          <p:cNvGrpSpPr>
            <a:grpSpLocks/>
          </p:cNvGrpSpPr>
          <p:nvPr/>
        </p:nvGrpSpPr>
        <p:grpSpPr bwMode="auto">
          <a:xfrm>
            <a:off x="630431" y="2264462"/>
            <a:ext cx="649288" cy="263525"/>
            <a:chOff x="2742" y="1771"/>
            <a:chExt cx="409" cy="166"/>
          </a:xfrm>
        </p:grpSpPr>
        <p:grpSp>
          <p:nvGrpSpPr>
            <p:cNvPr id="67631" name="Group 36"/>
            <p:cNvGrpSpPr>
              <a:grpSpLocks/>
            </p:cNvGrpSpPr>
            <p:nvPr/>
          </p:nvGrpSpPr>
          <p:grpSpPr bwMode="auto">
            <a:xfrm>
              <a:off x="2855" y="1771"/>
              <a:ext cx="182" cy="166"/>
              <a:chOff x="3067" y="1101"/>
              <a:chExt cx="182" cy="166"/>
            </a:xfrm>
          </p:grpSpPr>
          <p:sp>
            <p:nvSpPr>
              <p:cNvPr id="67633" name="Line 37"/>
              <p:cNvSpPr>
                <a:spLocks noChangeShapeType="1"/>
              </p:cNvSpPr>
              <p:nvPr/>
            </p:nvSpPr>
            <p:spPr bwMode="auto">
              <a:xfrm>
                <a:off x="3104" y="1246"/>
                <a:ext cx="90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34" name="Line 38"/>
              <p:cNvSpPr>
                <a:spLocks noChangeShapeType="1"/>
              </p:cNvSpPr>
              <p:nvPr/>
            </p:nvSpPr>
            <p:spPr bwMode="auto">
              <a:xfrm>
                <a:off x="3128" y="1267"/>
                <a:ext cx="45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35" name="AutoShape 39"/>
              <p:cNvSpPr>
                <a:spLocks noChangeArrowheads="1"/>
              </p:cNvSpPr>
              <p:nvPr/>
            </p:nvSpPr>
            <p:spPr bwMode="auto">
              <a:xfrm flipV="1">
                <a:off x="3076" y="1101"/>
                <a:ext cx="136" cy="9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36" name="Line 40"/>
              <p:cNvSpPr>
                <a:spLocks noChangeShapeType="1"/>
              </p:cNvSpPr>
              <p:nvPr/>
            </p:nvSpPr>
            <p:spPr bwMode="auto">
              <a:xfrm>
                <a:off x="3067" y="1222"/>
                <a:ext cx="182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7632" name="Line 41"/>
            <p:cNvSpPr>
              <a:spLocks noChangeShapeType="1"/>
            </p:cNvSpPr>
            <p:nvPr/>
          </p:nvSpPr>
          <p:spPr bwMode="auto">
            <a:xfrm>
              <a:off x="2742" y="1866"/>
              <a:ext cx="409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559373" y="1297674"/>
            <a:ext cx="1084263" cy="2303462"/>
            <a:chOff x="4754369" y="1284288"/>
            <a:chExt cx="1084263" cy="2303462"/>
          </a:xfrm>
        </p:grpSpPr>
        <p:sp>
          <p:nvSpPr>
            <p:cNvPr id="67643" name="Freeform 18"/>
            <p:cNvSpPr>
              <a:spLocks/>
            </p:cNvSpPr>
            <p:nvPr/>
          </p:nvSpPr>
          <p:spPr bwMode="auto">
            <a:xfrm>
              <a:off x="4754369" y="1284288"/>
              <a:ext cx="814388" cy="1587"/>
            </a:xfrm>
            <a:custGeom>
              <a:avLst/>
              <a:gdLst>
                <a:gd name="T0" fmla="*/ 0 w 513"/>
                <a:gd name="T1" fmla="*/ 0 h 1"/>
                <a:gd name="T2" fmla="*/ 513 w 513"/>
                <a:gd name="T3" fmla="*/ 0 h 1"/>
                <a:gd name="T4" fmla="*/ 0 60000 65536"/>
                <a:gd name="T5" fmla="*/ 0 60000 65536"/>
                <a:gd name="T6" fmla="*/ 0 w 513"/>
                <a:gd name="T7" fmla="*/ 0 h 1"/>
                <a:gd name="T8" fmla="*/ 513 w 51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3" h="1">
                  <a:moveTo>
                    <a:pt x="0" y="0"/>
                  </a:moveTo>
                  <a:lnTo>
                    <a:pt x="513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44" name="Freeform 19"/>
            <p:cNvSpPr>
              <a:spLocks/>
            </p:cNvSpPr>
            <p:nvPr/>
          </p:nvSpPr>
          <p:spPr bwMode="auto">
            <a:xfrm>
              <a:off x="4973297" y="1286581"/>
              <a:ext cx="1588" cy="1130400"/>
            </a:xfrm>
            <a:custGeom>
              <a:avLst/>
              <a:gdLst>
                <a:gd name="T0" fmla="*/ 0 w 1"/>
                <a:gd name="T1" fmla="*/ 0 h 735"/>
                <a:gd name="T2" fmla="*/ 1 w 1"/>
                <a:gd name="T3" fmla="*/ 735 h 735"/>
                <a:gd name="T4" fmla="*/ 0 60000 65536"/>
                <a:gd name="T5" fmla="*/ 0 60000 65536"/>
                <a:gd name="T6" fmla="*/ 0 w 1"/>
                <a:gd name="T7" fmla="*/ 0 h 735"/>
                <a:gd name="T8" fmla="*/ 1 w 1"/>
                <a:gd name="T9" fmla="*/ 735 h 7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35">
                  <a:moveTo>
                    <a:pt x="0" y="0"/>
                  </a:moveTo>
                  <a:lnTo>
                    <a:pt x="1" y="735"/>
                  </a:lnTo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45" name="Line 20"/>
            <p:cNvSpPr>
              <a:spLocks noChangeShapeType="1"/>
            </p:cNvSpPr>
            <p:nvPr/>
          </p:nvSpPr>
          <p:spPr bwMode="auto">
            <a:xfrm>
              <a:off x="5475094" y="1284288"/>
              <a:ext cx="0" cy="2303462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46" name="Text Box 21"/>
            <p:cNvSpPr txBox="1">
              <a:spLocks noChangeArrowheads="1"/>
            </p:cNvSpPr>
            <p:nvPr/>
          </p:nvSpPr>
          <p:spPr bwMode="auto">
            <a:xfrm>
              <a:off x="5563994" y="2220913"/>
              <a:ext cx="27463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</a:rPr>
                <a:t>h</a:t>
              </a:r>
              <a:r>
                <a:rPr lang="en-US" altLang="zh-CN" sz="2400" b="1" baseline="-25000" dirty="0"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647" name="Text Box 22"/>
            <p:cNvSpPr txBox="1">
              <a:spLocks noChangeArrowheads="1"/>
            </p:cNvSpPr>
            <p:nvPr/>
          </p:nvSpPr>
          <p:spPr bwMode="auto">
            <a:xfrm>
              <a:off x="4873432" y="1644650"/>
              <a:ext cx="5889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l-GR" altLang="zh-CN" sz="2400" b="1" dirty="0">
                  <a:cs typeface="Times New Roman" panose="02020603050405020304" pitchFamily="18" charset="0"/>
                </a:rPr>
                <a:t>Δ</a:t>
              </a:r>
              <a:r>
                <a:rPr lang="en-US" altLang="zh-CN" sz="2400" b="1" i="1" dirty="0"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7617" name="Line 43"/>
            <p:cNvSpPr>
              <a:spLocks noChangeShapeType="1"/>
            </p:cNvSpPr>
            <p:nvPr/>
          </p:nvSpPr>
          <p:spPr bwMode="auto">
            <a:xfrm>
              <a:off x="4801990" y="2420938"/>
              <a:ext cx="360363" cy="0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8" name="Freeform 44"/>
            <p:cNvSpPr>
              <a:spLocks/>
            </p:cNvSpPr>
            <p:nvPr/>
          </p:nvSpPr>
          <p:spPr bwMode="auto">
            <a:xfrm>
              <a:off x="4948040" y="2420791"/>
              <a:ext cx="28575" cy="1160463"/>
            </a:xfrm>
            <a:custGeom>
              <a:avLst/>
              <a:gdLst>
                <a:gd name="T0" fmla="*/ 18 w 18"/>
                <a:gd name="T1" fmla="*/ 0 h 731"/>
                <a:gd name="T2" fmla="*/ 0 w 18"/>
                <a:gd name="T3" fmla="*/ 731 h 731"/>
                <a:gd name="T4" fmla="*/ 0 60000 65536"/>
                <a:gd name="T5" fmla="*/ 0 60000 65536"/>
                <a:gd name="T6" fmla="*/ 0 w 18"/>
                <a:gd name="T7" fmla="*/ 0 h 731"/>
                <a:gd name="T8" fmla="*/ 18 w 18"/>
                <a:gd name="T9" fmla="*/ 731 h 73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" h="731">
                  <a:moveTo>
                    <a:pt x="18" y="0"/>
                  </a:moveTo>
                  <a:lnTo>
                    <a:pt x="0" y="731"/>
                  </a:lnTo>
                </a:path>
              </a:pathLst>
            </a:custGeom>
            <a:noFill/>
            <a:ln w="12700">
              <a:solidFill>
                <a:srgbClr val="3333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9" name="Text Box 45"/>
            <p:cNvSpPr txBox="1">
              <a:spLocks noChangeArrowheads="1"/>
            </p:cNvSpPr>
            <p:nvPr/>
          </p:nvSpPr>
          <p:spPr bwMode="auto">
            <a:xfrm>
              <a:off x="4982965" y="2724151"/>
              <a:ext cx="27463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</a:rPr>
                <a:t>h</a:t>
              </a:r>
              <a:r>
                <a:rPr lang="en-US" altLang="zh-CN" sz="2400" b="1" baseline="-25000" dirty="0"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67620" name="Text Box 46"/>
          <p:cNvSpPr txBox="1">
            <a:spLocks noChangeArrowheads="1"/>
          </p:cNvSpPr>
          <p:nvPr/>
        </p:nvSpPr>
        <p:spPr bwMode="auto">
          <a:xfrm>
            <a:off x="4602357" y="3440799"/>
            <a:ext cx="128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7621" name="Text Box 47"/>
          <p:cNvSpPr txBox="1">
            <a:spLocks noChangeArrowheads="1"/>
          </p:cNvSpPr>
          <p:nvPr/>
        </p:nvSpPr>
        <p:spPr bwMode="auto">
          <a:xfrm>
            <a:off x="1263844" y="3440799"/>
            <a:ext cx="128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7622" name="Line 48"/>
          <p:cNvSpPr>
            <a:spLocks noChangeShapeType="1"/>
          </p:cNvSpPr>
          <p:nvPr/>
        </p:nvSpPr>
        <p:spPr bwMode="auto">
          <a:xfrm>
            <a:off x="1903607" y="2431149"/>
            <a:ext cx="360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7623" name="Freeform 49"/>
          <p:cNvSpPr>
            <a:spLocks/>
          </p:cNvSpPr>
          <p:nvPr/>
        </p:nvSpPr>
        <p:spPr bwMode="auto">
          <a:xfrm>
            <a:off x="2043601" y="2427680"/>
            <a:ext cx="1588" cy="306000"/>
          </a:xfrm>
          <a:custGeom>
            <a:avLst/>
            <a:gdLst>
              <a:gd name="T0" fmla="*/ 0 w 1"/>
              <a:gd name="T1" fmla="*/ 0 h 203"/>
              <a:gd name="T2" fmla="*/ 0 w 1"/>
              <a:gd name="T3" fmla="*/ 203 h 203"/>
              <a:gd name="T4" fmla="*/ 0 60000 65536"/>
              <a:gd name="T5" fmla="*/ 0 60000 65536"/>
              <a:gd name="T6" fmla="*/ 0 w 1"/>
              <a:gd name="T7" fmla="*/ 0 h 203"/>
              <a:gd name="T8" fmla="*/ 1 w 1"/>
              <a:gd name="T9" fmla="*/ 203 h 20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03">
                <a:moveTo>
                  <a:pt x="0" y="0"/>
                </a:moveTo>
                <a:lnTo>
                  <a:pt x="0" y="203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7624" name="Text Box 50"/>
          <p:cNvSpPr txBox="1">
            <a:spLocks noChangeArrowheads="1"/>
          </p:cNvSpPr>
          <p:nvPr/>
        </p:nvSpPr>
        <p:spPr bwMode="auto">
          <a:xfrm>
            <a:off x="1626096" y="2345424"/>
            <a:ext cx="2660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 err="1">
                <a:cs typeface="Times New Roman" panose="02020603050405020304" pitchFamily="18" charset="0"/>
              </a:rPr>
              <a:t>h</a:t>
            </a:r>
            <a:r>
              <a:rPr lang="en-US" altLang="zh-CN" sz="2000" b="1" baseline="-25000" dirty="0" err="1">
                <a:cs typeface="Times New Roman" panose="02020603050405020304" pitchFamily="18" charset="0"/>
              </a:rPr>
              <a:t>w</a:t>
            </a:r>
            <a:endParaRPr lang="en-US" altLang="zh-CN" sz="2000" b="1" baseline="-25000" dirty="0">
              <a:cs typeface="Times New Roman" panose="02020603050405020304" pitchFamily="18" charset="0"/>
            </a:endParaRPr>
          </a:p>
        </p:txBody>
      </p:sp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627256" y="769036"/>
            <a:ext cx="3940175" cy="3595688"/>
            <a:chOff x="3030" y="476"/>
            <a:chExt cx="2482" cy="2265"/>
          </a:xfrm>
        </p:grpSpPr>
        <p:sp>
          <p:nvSpPr>
            <p:cNvPr id="67598" name="Line 52"/>
            <p:cNvSpPr>
              <a:spLocks noChangeShapeType="1"/>
            </p:cNvSpPr>
            <p:nvPr/>
          </p:nvSpPr>
          <p:spPr bwMode="auto">
            <a:xfrm>
              <a:off x="3562" y="2261"/>
              <a:ext cx="195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599" name="Text Box 53"/>
            <p:cNvSpPr txBox="1">
              <a:spLocks noChangeArrowheads="1"/>
            </p:cNvSpPr>
            <p:nvPr/>
          </p:nvSpPr>
          <p:spPr bwMode="auto">
            <a:xfrm>
              <a:off x="3785" y="1832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67600" name="Group 54"/>
            <p:cNvGrpSpPr>
              <a:grpSpLocks/>
            </p:cNvGrpSpPr>
            <p:nvPr/>
          </p:nvGrpSpPr>
          <p:grpSpPr bwMode="auto">
            <a:xfrm>
              <a:off x="3030" y="476"/>
              <a:ext cx="2029" cy="2265"/>
              <a:chOff x="3030" y="476"/>
              <a:chExt cx="2029" cy="2265"/>
            </a:xfrm>
          </p:grpSpPr>
          <p:grpSp>
            <p:nvGrpSpPr>
              <p:cNvPr id="67601" name="Group 55"/>
              <p:cNvGrpSpPr>
                <a:grpSpLocks/>
              </p:cNvGrpSpPr>
              <p:nvPr/>
            </p:nvGrpSpPr>
            <p:grpSpPr bwMode="auto">
              <a:xfrm>
                <a:off x="3030" y="701"/>
                <a:ext cx="1797" cy="2040"/>
                <a:chOff x="1713" y="918"/>
                <a:chExt cx="1797" cy="2040"/>
              </a:xfrm>
            </p:grpSpPr>
            <p:sp>
              <p:nvSpPr>
                <p:cNvPr id="67613" name="Freeform 56"/>
                <p:cNvSpPr>
                  <a:spLocks/>
                </p:cNvSpPr>
                <p:nvPr/>
              </p:nvSpPr>
              <p:spPr bwMode="auto">
                <a:xfrm>
                  <a:off x="1973" y="1730"/>
                  <a:ext cx="973" cy="1162"/>
                </a:xfrm>
                <a:custGeom>
                  <a:avLst/>
                  <a:gdLst>
                    <a:gd name="T0" fmla="*/ 807 w 973"/>
                    <a:gd name="T1" fmla="*/ 0 h 1162"/>
                    <a:gd name="T2" fmla="*/ 805 w 973"/>
                    <a:gd name="T3" fmla="*/ 946 h 1162"/>
                    <a:gd name="T4" fmla="*/ 967 w 973"/>
                    <a:gd name="T5" fmla="*/ 946 h 1162"/>
                    <a:gd name="T6" fmla="*/ 973 w 973"/>
                    <a:gd name="T7" fmla="*/ 1159 h 1162"/>
                    <a:gd name="T8" fmla="*/ 4 w 973"/>
                    <a:gd name="T9" fmla="*/ 1162 h 1162"/>
                    <a:gd name="T10" fmla="*/ 0 w 973"/>
                    <a:gd name="T11" fmla="*/ 158 h 1162"/>
                    <a:gd name="T12" fmla="*/ 151 w 973"/>
                    <a:gd name="T13" fmla="*/ 154 h 1162"/>
                    <a:gd name="T14" fmla="*/ 151 w 973"/>
                    <a:gd name="T15" fmla="*/ 1 h 116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73"/>
                    <a:gd name="T25" fmla="*/ 0 h 1162"/>
                    <a:gd name="T26" fmla="*/ 973 w 973"/>
                    <a:gd name="T27" fmla="*/ 1162 h 116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73" h="1162">
                      <a:moveTo>
                        <a:pt x="807" y="0"/>
                      </a:moveTo>
                      <a:lnTo>
                        <a:pt x="805" y="946"/>
                      </a:lnTo>
                      <a:lnTo>
                        <a:pt x="967" y="946"/>
                      </a:lnTo>
                      <a:lnTo>
                        <a:pt x="973" y="1159"/>
                      </a:lnTo>
                      <a:lnTo>
                        <a:pt x="4" y="1162"/>
                      </a:lnTo>
                      <a:lnTo>
                        <a:pt x="0" y="158"/>
                      </a:lnTo>
                      <a:lnTo>
                        <a:pt x="151" y="154"/>
                      </a:lnTo>
                      <a:lnTo>
                        <a:pt x="151" y="1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14" name="Freeform 57"/>
                <p:cNvSpPr>
                  <a:spLocks/>
                </p:cNvSpPr>
                <p:nvPr/>
              </p:nvSpPr>
              <p:spPr bwMode="auto">
                <a:xfrm>
                  <a:off x="1713" y="921"/>
                  <a:ext cx="1797" cy="2037"/>
                </a:xfrm>
                <a:custGeom>
                  <a:avLst/>
                  <a:gdLst>
                    <a:gd name="T0" fmla="*/ 0 w 1797"/>
                    <a:gd name="T1" fmla="*/ 804 h 2037"/>
                    <a:gd name="T2" fmla="*/ 0 w 1797"/>
                    <a:gd name="T3" fmla="*/ 966 h 2037"/>
                    <a:gd name="T4" fmla="*/ 186 w 1797"/>
                    <a:gd name="T5" fmla="*/ 969 h 2037"/>
                    <a:gd name="T6" fmla="*/ 183 w 1797"/>
                    <a:gd name="T7" fmla="*/ 2035 h 2037"/>
                    <a:gd name="T8" fmla="*/ 1311 w 1797"/>
                    <a:gd name="T9" fmla="*/ 2037 h 2037"/>
                    <a:gd name="T10" fmla="*/ 1311 w 1797"/>
                    <a:gd name="T11" fmla="*/ 1764 h 2037"/>
                    <a:gd name="T12" fmla="*/ 1485 w 1797"/>
                    <a:gd name="T13" fmla="*/ 1764 h 2037"/>
                    <a:gd name="T14" fmla="*/ 1488 w 1797"/>
                    <a:gd name="T15" fmla="*/ 1590 h 2037"/>
                    <a:gd name="T16" fmla="*/ 1790 w 1797"/>
                    <a:gd name="T17" fmla="*/ 1589 h 2037"/>
                    <a:gd name="T18" fmla="*/ 1797 w 1797"/>
                    <a:gd name="T19" fmla="*/ 0 h 203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797"/>
                    <a:gd name="T31" fmla="*/ 0 h 2037"/>
                    <a:gd name="T32" fmla="*/ 1797 w 1797"/>
                    <a:gd name="T33" fmla="*/ 2037 h 203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797" h="2037">
                      <a:moveTo>
                        <a:pt x="0" y="804"/>
                      </a:moveTo>
                      <a:lnTo>
                        <a:pt x="0" y="966"/>
                      </a:lnTo>
                      <a:lnTo>
                        <a:pt x="186" y="969"/>
                      </a:lnTo>
                      <a:lnTo>
                        <a:pt x="183" y="2035"/>
                      </a:lnTo>
                      <a:lnTo>
                        <a:pt x="1311" y="2037"/>
                      </a:lnTo>
                      <a:lnTo>
                        <a:pt x="1311" y="1764"/>
                      </a:lnTo>
                      <a:lnTo>
                        <a:pt x="1485" y="1764"/>
                      </a:lnTo>
                      <a:lnTo>
                        <a:pt x="1488" y="1590"/>
                      </a:lnTo>
                      <a:lnTo>
                        <a:pt x="1790" y="1589"/>
                      </a:lnTo>
                      <a:lnTo>
                        <a:pt x="1797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15" name="Freeform 58"/>
                <p:cNvSpPr>
                  <a:spLocks/>
                </p:cNvSpPr>
                <p:nvPr/>
              </p:nvSpPr>
              <p:spPr bwMode="auto">
                <a:xfrm>
                  <a:off x="3195" y="926"/>
                  <a:ext cx="89" cy="991"/>
                </a:xfrm>
                <a:custGeom>
                  <a:avLst/>
                  <a:gdLst>
                    <a:gd name="T0" fmla="*/ 0 w 89"/>
                    <a:gd name="T1" fmla="*/ 811 h 991"/>
                    <a:gd name="T2" fmla="*/ 0 w 89"/>
                    <a:gd name="T3" fmla="*/ 991 h 991"/>
                    <a:gd name="T4" fmla="*/ 89 w 89"/>
                    <a:gd name="T5" fmla="*/ 990 h 991"/>
                    <a:gd name="T6" fmla="*/ 89 w 89"/>
                    <a:gd name="T7" fmla="*/ 0 h 9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9"/>
                    <a:gd name="T13" fmla="*/ 0 h 991"/>
                    <a:gd name="T14" fmla="*/ 89 w 89"/>
                    <a:gd name="T15" fmla="*/ 991 h 991"/>
                    <a:gd name="connsiteX0" fmla="*/ 0 w 10000"/>
                    <a:gd name="connsiteY0" fmla="*/ 8103 h 10000"/>
                    <a:gd name="connsiteX1" fmla="*/ 0 w 10000"/>
                    <a:gd name="connsiteY1" fmla="*/ 10000 h 10000"/>
                    <a:gd name="connsiteX2" fmla="*/ 10000 w 10000"/>
                    <a:gd name="connsiteY2" fmla="*/ 9990 h 10000"/>
                    <a:gd name="connsiteX3" fmla="*/ 10000 w 10000"/>
                    <a:gd name="connsiteY3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0000">
                      <a:moveTo>
                        <a:pt x="0" y="8103"/>
                      </a:moveTo>
                      <a:lnTo>
                        <a:pt x="0" y="10000"/>
                      </a:lnTo>
                      <a:lnTo>
                        <a:pt x="10000" y="999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16" name="Freeform 59"/>
                <p:cNvSpPr>
                  <a:spLocks/>
                </p:cNvSpPr>
                <p:nvPr/>
              </p:nvSpPr>
              <p:spPr bwMode="auto">
                <a:xfrm>
                  <a:off x="3198" y="918"/>
                  <a:ext cx="264" cy="1551"/>
                </a:xfrm>
                <a:custGeom>
                  <a:avLst/>
                  <a:gdLst>
                    <a:gd name="T0" fmla="*/ 135 w 264"/>
                    <a:gd name="T1" fmla="*/ 6 h 1551"/>
                    <a:gd name="T2" fmla="*/ 135 w 264"/>
                    <a:gd name="T3" fmla="*/ 1035 h 1551"/>
                    <a:gd name="T4" fmla="*/ 0 w 264"/>
                    <a:gd name="T5" fmla="*/ 1032 h 1551"/>
                    <a:gd name="T6" fmla="*/ 0 w 264"/>
                    <a:gd name="T7" fmla="*/ 1551 h 1551"/>
                    <a:gd name="T8" fmla="*/ 264 w 264"/>
                    <a:gd name="T9" fmla="*/ 1551 h 1551"/>
                    <a:gd name="T10" fmla="*/ 264 w 264"/>
                    <a:gd name="T11" fmla="*/ 0 h 155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64"/>
                    <a:gd name="T19" fmla="*/ 0 h 1551"/>
                    <a:gd name="T20" fmla="*/ 264 w 264"/>
                    <a:gd name="T21" fmla="*/ 1551 h 155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64" h="1551">
                      <a:moveTo>
                        <a:pt x="135" y="6"/>
                      </a:moveTo>
                      <a:lnTo>
                        <a:pt x="135" y="1035"/>
                      </a:lnTo>
                      <a:lnTo>
                        <a:pt x="0" y="1032"/>
                      </a:lnTo>
                      <a:lnTo>
                        <a:pt x="0" y="1551"/>
                      </a:lnTo>
                      <a:lnTo>
                        <a:pt x="264" y="1551"/>
                      </a:lnTo>
                      <a:lnTo>
                        <a:pt x="264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67602" name="Freeform 60"/>
              <p:cNvSpPr>
                <a:spLocks/>
              </p:cNvSpPr>
              <p:nvPr/>
            </p:nvSpPr>
            <p:spPr bwMode="auto">
              <a:xfrm>
                <a:off x="3922" y="1714"/>
                <a:ext cx="1" cy="550"/>
              </a:xfrm>
              <a:custGeom>
                <a:avLst/>
                <a:gdLst>
                  <a:gd name="T0" fmla="*/ 1 w 1"/>
                  <a:gd name="T1" fmla="*/ 0 h 550"/>
                  <a:gd name="T2" fmla="*/ 0 w 1"/>
                  <a:gd name="T3" fmla="*/ 550 h 550"/>
                  <a:gd name="T4" fmla="*/ 0 60000 65536"/>
                  <a:gd name="T5" fmla="*/ 0 60000 65536"/>
                  <a:gd name="T6" fmla="*/ 0 w 1"/>
                  <a:gd name="T7" fmla="*/ 0 h 550"/>
                  <a:gd name="T8" fmla="*/ 1 w 1"/>
                  <a:gd name="T9" fmla="*/ 550 h 55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50">
                    <a:moveTo>
                      <a:pt x="1" y="0"/>
                    </a:moveTo>
                    <a:lnTo>
                      <a:pt x="0" y="55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3" name="Line 61"/>
              <p:cNvSpPr>
                <a:spLocks noChangeShapeType="1"/>
              </p:cNvSpPr>
              <p:nvPr/>
            </p:nvSpPr>
            <p:spPr bwMode="auto">
              <a:xfrm>
                <a:off x="3834" y="1716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67604" name="Group 62"/>
              <p:cNvGrpSpPr>
                <a:grpSpLocks/>
              </p:cNvGrpSpPr>
              <p:nvPr/>
            </p:nvGrpSpPr>
            <p:grpSpPr bwMode="auto">
              <a:xfrm>
                <a:off x="4095" y="1716"/>
                <a:ext cx="420" cy="549"/>
                <a:chOff x="3805" y="2069"/>
                <a:chExt cx="420" cy="549"/>
              </a:xfrm>
            </p:grpSpPr>
            <p:sp>
              <p:nvSpPr>
                <p:cNvPr id="67611" name="Freeform 63"/>
                <p:cNvSpPr>
                  <a:spLocks/>
                </p:cNvSpPr>
                <p:nvPr/>
              </p:nvSpPr>
              <p:spPr bwMode="auto">
                <a:xfrm>
                  <a:off x="3805" y="2069"/>
                  <a:ext cx="420" cy="549"/>
                </a:xfrm>
                <a:custGeom>
                  <a:avLst/>
                  <a:gdLst>
                    <a:gd name="T0" fmla="*/ 408 w 412"/>
                    <a:gd name="T1" fmla="*/ 0 h 554"/>
                    <a:gd name="T2" fmla="*/ 412 w 412"/>
                    <a:gd name="T3" fmla="*/ 550 h 554"/>
                    <a:gd name="T4" fmla="*/ 0 w 412"/>
                    <a:gd name="T5" fmla="*/ 554 h 554"/>
                    <a:gd name="T6" fmla="*/ 4 w 412"/>
                    <a:gd name="T7" fmla="*/ 0 h 554"/>
                    <a:gd name="T8" fmla="*/ 408 w 412"/>
                    <a:gd name="T9" fmla="*/ 0 h 5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2"/>
                    <a:gd name="T16" fmla="*/ 0 h 554"/>
                    <a:gd name="T17" fmla="*/ 412 w 412"/>
                    <a:gd name="T18" fmla="*/ 554 h 55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2" h="554">
                      <a:moveTo>
                        <a:pt x="408" y="0"/>
                      </a:moveTo>
                      <a:lnTo>
                        <a:pt x="412" y="550"/>
                      </a:lnTo>
                      <a:lnTo>
                        <a:pt x="0" y="554"/>
                      </a:lnTo>
                      <a:lnTo>
                        <a:pt x="4" y="0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solidFill>
                  <a:srgbClr val="FF990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12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3816" y="2222"/>
                  <a:ext cx="36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>
                      <a:solidFill>
                        <a:srgbClr val="800000"/>
                      </a:solidFill>
                      <a:latin typeface="Arial" charset="0"/>
                    </a:rPr>
                    <a:t>土样</a:t>
                  </a:r>
                </a:p>
              </p:txBody>
            </p:sp>
          </p:grpSp>
          <p:sp>
            <p:nvSpPr>
              <p:cNvPr id="67605" name="Text Box 65"/>
              <p:cNvSpPr txBox="1">
                <a:spLocks noChangeArrowheads="1"/>
              </p:cNvSpPr>
              <p:nvPr/>
            </p:nvSpPr>
            <p:spPr bwMode="auto">
              <a:xfrm>
                <a:off x="4651" y="2442"/>
                <a:ext cx="40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latin typeface="Arial" charset="0"/>
                    <a:ea typeface="幼圆" pitchFamily="49" charset="-122"/>
                  </a:rPr>
                  <a:t>滤网</a:t>
                </a:r>
              </a:p>
            </p:txBody>
          </p:sp>
          <p:sp>
            <p:nvSpPr>
              <p:cNvPr id="67606" name="Line 66"/>
              <p:cNvSpPr>
                <a:spLocks noChangeShapeType="1"/>
              </p:cNvSpPr>
              <p:nvPr/>
            </p:nvSpPr>
            <p:spPr bwMode="auto">
              <a:xfrm flipH="1" flipV="1">
                <a:off x="4424" y="2261"/>
                <a:ext cx="227" cy="2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7" name="Line 67"/>
              <p:cNvSpPr>
                <a:spLocks noChangeShapeType="1"/>
              </p:cNvSpPr>
              <p:nvPr/>
            </p:nvSpPr>
            <p:spPr bwMode="auto">
              <a:xfrm>
                <a:off x="4104" y="2265"/>
                <a:ext cx="409" cy="0"/>
              </a:xfrm>
              <a:prstGeom prst="line">
                <a:avLst/>
              </a:prstGeom>
              <a:noFill/>
              <a:ln w="57150">
                <a:solidFill>
                  <a:srgbClr val="8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608" name="Text Box 68"/>
              <p:cNvSpPr txBox="1">
                <a:spLocks noChangeArrowheads="1"/>
              </p:cNvSpPr>
              <p:nvPr/>
            </p:nvSpPr>
            <p:spPr bwMode="auto">
              <a:xfrm>
                <a:off x="3455" y="1122"/>
                <a:ext cx="52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rgbClr val="800000"/>
                    </a:solidFill>
                    <a:latin typeface="Arial" charset="0"/>
                  </a:rPr>
                  <a:t>贮水器</a:t>
                </a:r>
              </a:p>
            </p:txBody>
          </p:sp>
          <p:sp>
            <p:nvSpPr>
              <p:cNvPr id="67609" name="Text Box 69"/>
              <p:cNvSpPr txBox="1">
                <a:spLocks noChangeArrowheads="1"/>
              </p:cNvSpPr>
              <p:nvPr/>
            </p:nvSpPr>
            <p:spPr bwMode="auto">
              <a:xfrm>
                <a:off x="4562" y="476"/>
                <a:ext cx="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solidFill>
                      <a:srgbClr val="800000"/>
                    </a:solidFill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67610" name="Text Box 70"/>
              <p:cNvSpPr txBox="1">
                <a:spLocks noChangeArrowheads="1"/>
              </p:cNvSpPr>
              <p:nvPr/>
            </p:nvSpPr>
            <p:spPr bwMode="auto">
              <a:xfrm>
                <a:off x="4738" y="476"/>
                <a:ext cx="90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solidFill>
                      <a:srgbClr val="800000"/>
                    </a:solidFill>
                    <a:cs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7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92150" y="2223021"/>
            <a:ext cx="763653" cy="525631"/>
            <a:chOff x="1787146" y="2209635"/>
            <a:chExt cx="763653" cy="525631"/>
          </a:xfrm>
        </p:grpSpPr>
        <p:sp>
          <p:nvSpPr>
            <p:cNvPr id="10" name="矩形 9"/>
            <p:cNvSpPr/>
            <p:nvPr/>
          </p:nvSpPr>
          <p:spPr bwMode="auto">
            <a:xfrm>
              <a:off x="1787146" y="2209635"/>
              <a:ext cx="763653" cy="525631"/>
            </a:xfrm>
            <a:prstGeom prst="rect">
              <a:avLst/>
            </a:prstGeom>
            <a:solidFill>
              <a:srgbClr val="CCEC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 bwMode="auto">
            <a:xfrm>
              <a:off x="1816899" y="2398069"/>
              <a:ext cx="656543" cy="253889"/>
            </a:xfrm>
            <a:custGeom>
              <a:avLst/>
              <a:gdLst>
                <a:gd name="connsiteX0" fmla="*/ 0 w 656543"/>
                <a:gd name="connsiteY0" fmla="*/ 0 h 253889"/>
                <a:gd name="connsiteX1" fmla="*/ 0 w 656543"/>
                <a:gd name="connsiteY1" fmla="*/ 253889 h 253889"/>
                <a:gd name="connsiteX2" fmla="*/ 656543 w 656543"/>
                <a:gd name="connsiteY2" fmla="*/ 253889 h 253889"/>
                <a:gd name="connsiteX3" fmla="*/ 656543 w 656543"/>
                <a:gd name="connsiteY3" fmla="*/ 0 h 253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543" h="253889">
                  <a:moveTo>
                    <a:pt x="0" y="0"/>
                  </a:moveTo>
                  <a:lnTo>
                    <a:pt x="0" y="253889"/>
                  </a:lnTo>
                  <a:lnTo>
                    <a:pt x="656543" y="253889"/>
                  </a:lnTo>
                  <a:lnTo>
                    <a:pt x="656543" y="0"/>
                  </a:ln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17861" y="2255212"/>
            <a:ext cx="671513" cy="1709140"/>
            <a:chOff x="6918421" y="1525203"/>
            <a:chExt cx="671513" cy="1709140"/>
          </a:xfrm>
        </p:grpSpPr>
        <p:sp>
          <p:nvSpPr>
            <p:cNvPr id="67648" name="Freeform 8"/>
            <p:cNvSpPr>
              <a:spLocks/>
            </p:cNvSpPr>
            <p:nvPr/>
          </p:nvSpPr>
          <p:spPr bwMode="auto">
            <a:xfrm>
              <a:off x="6918421" y="1689959"/>
              <a:ext cx="671513" cy="1544384"/>
            </a:xfrm>
            <a:custGeom>
              <a:avLst/>
              <a:gdLst>
                <a:gd name="T0" fmla="*/ 263 w 423"/>
                <a:gd name="T1" fmla="*/ 691 h 701"/>
                <a:gd name="T2" fmla="*/ 263 w 423"/>
                <a:gd name="T3" fmla="*/ 182 h 701"/>
                <a:gd name="T4" fmla="*/ 423 w 423"/>
                <a:gd name="T5" fmla="*/ 185 h 701"/>
                <a:gd name="T6" fmla="*/ 419 w 423"/>
                <a:gd name="T7" fmla="*/ 0 h 701"/>
                <a:gd name="T8" fmla="*/ 0 w 423"/>
                <a:gd name="T9" fmla="*/ 0 h 701"/>
                <a:gd name="T10" fmla="*/ 0 w 423"/>
                <a:gd name="T11" fmla="*/ 182 h 701"/>
                <a:gd name="T12" fmla="*/ 186 w 423"/>
                <a:gd name="T13" fmla="*/ 182 h 701"/>
                <a:gd name="T14" fmla="*/ 192 w 423"/>
                <a:gd name="T15" fmla="*/ 701 h 701"/>
                <a:gd name="T16" fmla="*/ 263 w 423"/>
                <a:gd name="T17" fmla="*/ 691 h 7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23"/>
                <a:gd name="T28" fmla="*/ 0 h 701"/>
                <a:gd name="T29" fmla="*/ 423 w 423"/>
                <a:gd name="T30" fmla="*/ 701 h 701"/>
                <a:gd name="connsiteX0" fmla="*/ 6217 w 10000"/>
                <a:gd name="connsiteY0" fmla="*/ 9857 h 10000"/>
                <a:gd name="connsiteX1" fmla="*/ 6217 w 10000"/>
                <a:gd name="connsiteY1" fmla="*/ 2596 h 10000"/>
                <a:gd name="connsiteX2" fmla="*/ 10000 w 10000"/>
                <a:gd name="connsiteY2" fmla="*/ 2639 h 10000"/>
                <a:gd name="connsiteX3" fmla="*/ 9905 w 10000"/>
                <a:gd name="connsiteY3" fmla="*/ 0 h 10000"/>
                <a:gd name="connsiteX4" fmla="*/ 148 w 10000"/>
                <a:gd name="connsiteY4" fmla="*/ 321 h 10000"/>
                <a:gd name="connsiteX5" fmla="*/ 0 w 10000"/>
                <a:gd name="connsiteY5" fmla="*/ 2596 h 10000"/>
                <a:gd name="connsiteX6" fmla="*/ 4397 w 10000"/>
                <a:gd name="connsiteY6" fmla="*/ 2596 h 10000"/>
                <a:gd name="connsiteX7" fmla="*/ 4539 w 10000"/>
                <a:gd name="connsiteY7" fmla="*/ 10000 h 10000"/>
                <a:gd name="connsiteX8" fmla="*/ 6217 w 10000"/>
                <a:gd name="connsiteY8" fmla="*/ 9857 h 10000"/>
                <a:gd name="connsiteX0" fmla="*/ 6217 w 10000"/>
                <a:gd name="connsiteY0" fmla="*/ 9536 h 9679"/>
                <a:gd name="connsiteX1" fmla="*/ 6217 w 10000"/>
                <a:gd name="connsiteY1" fmla="*/ 2275 h 9679"/>
                <a:gd name="connsiteX2" fmla="*/ 10000 w 10000"/>
                <a:gd name="connsiteY2" fmla="*/ 2318 h 9679"/>
                <a:gd name="connsiteX3" fmla="*/ 9935 w 10000"/>
                <a:gd name="connsiteY3" fmla="*/ 71 h 9679"/>
                <a:gd name="connsiteX4" fmla="*/ 148 w 10000"/>
                <a:gd name="connsiteY4" fmla="*/ 0 h 9679"/>
                <a:gd name="connsiteX5" fmla="*/ 0 w 10000"/>
                <a:gd name="connsiteY5" fmla="*/ 2275 h 9679"/>
                <a:gd name="connsiteX6" fmla="*/ 4397 w 10000"/>
                <a:gd name="connsiteY6" fmla="*/ 2275 h 9679"/>
                <a:gd name="connsiteX7" fmla="*/ 4539 w 10000"/>
                <a:gd name="connsiteY7" fmla="*/ 9679 h 9679"/>
                <a:gd name="connsiteX8" fmla="*/ 6217 w 10000"/>
                <a:gd name="connsiteY8" fmla="*/ 9536 h 9679"/>
                <a:gd name="connsiteX0" fmla="*/ 6217 w 10000"/>
                <a:gd name="connsiteY0" fmla="*/ 9852 h 10000"/>
                <a:gd name="connsiteX1" fmla="*/ 6217 w 10000"/>
                <a:gd name="connsiteY1" fmla="*/ 2350 h 10000"/>
                <a:gd name="connsiteX2" fmla="*/ 10000 w 10000"/>
                <a:gd name="connsiteY2" fmla="*/ 2395 h 10000"/>
                <a:gd name="connsiteX3" fmla="*/ 9905 w 10000"/>
                <a:gd name="connsiteY3" fmla="*/ 18 h 10000"/>
                <a:gd name="connsiteX4" fmla="*/ 148 w 10000"/>
                <a:gd name="connsiteY4" fmla="*/ 0 h 10000"/>
                <a:gd name="connsiteX5" fmla="*/ 0 w 10000"/>
                <a:gd name="connsiteY5" fmla="*/ 2350 h 10000"/>
                <a:gd name="connsiteX6" fmla="*/ 4397 w 10000"/>
                <a:gd name="connsiteY6" fmla="*/ 2350 h 10000"/>
                <a:gd name="connsiteX7" fmla="*/ 4539 w 10000"/>
                <a:gd name="connsiteY7" fmla="*/ 10000 h 10000"/>
                <a:gd name="connsiteX8" fmla="*/ 6217 w 10000"/>
                <a:gd name="connsiteY8" fmla="*/ 9852 h 10000"/>
                <a:gd name="connsiteX0" fmla="*/ 6217 w 10000"/>
                <a:gd name="connsiteY0" fmla="*/ 9852 h 10000"/>
                <a:gd name="connsiteX1" fmla="*/ 6217 w 10000"/>
                <a:gd name="connsiteY1" fmla="*/ 2350 h 10000"/>
                <a:gd name="connsiteX2" fmla="*/ 10000 w 10000"/>
                <a:gd name="connsiteY2" fmla="*/ 2395 h 10000"/>
                <a:gd name="connsiteX3" fmla="*/ 9905 w 10000"/>
                <a:gd name="connsiteY3" fmla="*/ 18 h 10000"/>
                <a:gd name="connsiteX4" fmla="*/ 178 w 10000"/>
                <a:gd name="connsiteY4" fmla="*/ 45 h 10000"/>
                <a:gd name="connsiteX5" fmla="*/ 148 w 10000"/>
                <a:gd name="connsiteY5" fmla="*/ 0 h 10000"/>
                <a:gd name="connsiteX6" fmla="*/ 0 w 10000"/>
                <a:gd name="connsiteY6" fmla="*/ 2350 h 10000"/>
                <a:gd name="connsiteX7" fmla="*/ 4397 w 10000"/>
                <a:gd name="connsiteY7" fmla="*/ 2350 h 10000"/>
                <a:gd name="connsiteX8" fmla="*/ 4539 w 10000"/>
                <a:gd name="connsiteY8" fmla="*/ 10000 h 10000"/>
                <a:gd name="connsiteX9" fmla="*/ 6217 w 10000"/>
                <a:gd name="connsiteY9" fmla="*/ 9852 h 10000"/>
                <a:gd name="connsiteX0" fmla="*/ 6217 w 10000"/>
                <a:gd name="connsiteY0" fmla="*/ 9834 h 9982"/>
                <a:gd name="connsiteX1" fmla="*/ 6217 w 10000"/>
                <a:gd name="connsiteY1" fmla="*/ 2332 h 9982"/>
                <a:gd name="connsiteX2" fmla="*/ 10000 w 10000"/>
                <a:gd name="connsiteY2" fmla="*/ 2377 h 9982"/>
                <a:gd name="connsiteX3" fmla="*/ 9905 w 10000"/>
                <a:gd name="connsiteY3" fmla="*/ 0 h 9982"/>
                <a:gd name="connsiteX4" fmla="*/ 178 w 10000"/>
                <a:gd name="connsiteY4" fmla="*/ 27 h 9982"/>
                <a:gd name="connsiteX5" fmla="*/ 0 w 10000"/>
                <a:gd name="connsiteY5" fmla="*/ 2332 h 9982"/>
                <a:gd name="connsiteX6" fmla="*/ 4397 w 10000"/>
                <a:gd name="connsiteY6" fmla="*/ 2332 h 9982"/>
                <a:gd name="connsiteX7" fmla="*/ 4539 w 10000"/>
                <a:gd name="connsiteY7" fmla="*/ 9982 h 9982"/>
                <a:gd name="connsiteX8" fmla="*/ 6217 w 10000"/>
                <a:gd name="connsiteY8" fmla="*/ 9834 h 9982"/>
                <a:gd name="connsiteX0" fmla="*/ 6217 w 10000"/>
                <a:gd name="connsiteY0" fmla="*/ 9899 h 10047"/>
                <a:gd name="connsiteX1" fmla="*/ 6217 w 10000"/>
                <a:gd name="connsiteY1" fmla="*/ 2383 h 10047"/>
                <a:gd name="connsiteX2" fmla="*/ 10000 w 10000"/>
                <a:gd name="connsiteY2" fmla="*/ 2428 h 10047"/>
                <a:gd name="connsiteX3" fmla="*/ 9905 w 10000"/>
                <a:gd name="connsiteY3" fmla="*/ 47 h 10047"/>
                <a:gd name="connsiteX4" fmla="*/ 237 w 10000"/>
                <a:gd name="connsiteY4" fmla="*/ 0 h 10047"/>
                <a:gd name="connsiteX5" fmla="*/ 0 w 10000"/>
                <a:gd name="connsiteY5" fmla="*/ 2383 h 10047"/>
                <a:gd name="connsiteX6" fmla="*/ 4397 w 10000"/>
                <a:gd name="connsiteY6" fmla="*/ 2383 h 10047"/>
                <a:gd name="connsiteX7" fmla="*/ 4539 w 10000"/>
                <a:gd name="connsiteY7" fmla="*/ 10047 h 10047"/>
                <a:gd name="connsiteX8" fmla="*/ 6217 w 10000"/>
                <a:gd name="connsiteY8" fmla="*/ 9899 h 10047"/>
                <a:gd name="connsiteX0" fmla="*/ 6217 w 10000"/>
                <a:gd name="connsiteY0" fmla="*/ 9899 h 14364"/>
                <a:gd name="connsiteX1" fmla="*/ 6217 w 10000"/>
                <a:gd name="connsiteY1" fmla="*/ 2383 h 14364"/>
                <a:gd name="connsiteX2" fmla="*/ 10000 w 10000"/>
                <a:gd name="connsiteY2" fmla="*/ 2428 h 14364"/>
                <a:gd name="connsiteX3" fmla="*/ 9905 w 10000"/>
                <a:gd name="connsiteY3" fmla="*/ 47 h 14364"/>
                <a:gd name="connsiteX4" fmla="*/ 237 w 10000"/>
                <a:gd name="connsiteY4" fmla="*/ 0 h 14364"/>
                <a:gd name="connsiteX5" fmla="*/ 0 w 10000"/>
                <a:gd name="connsiteY5" fmla="*/ 2383 h 14364"/>
                <a:gd name="connsiteX6" fmla="*/ 4397 w 10000"/>
                <a:gd name="connsiteY6" fmla="*/ 2383 h 14364"/>
                <a:gd name="connsiteX7" fmla="*/ 4569 w 10000"/>
                <a:gd name="connsiteY7" fmla="*/ 14364 h 14364"/>
                <a:gd name="connsiteX8" fmla="*/ 6217 w 10000"/>
                <a:gd name="connsiteY8" fmla="*/ 9899 h 14364"/>
                <a:gd name="connsiteX0" fmla="*/ 6276 w 10000"/>
                <a:gd name="connsiteY0" fmla="*/ 14345 h 14364"/>
                <a:gd name="connsiteX1" fmla="*/ 6217 w 10000"/>
                <a:gd name="connsiteY1" fmla="*/ 2383 h 14364"/>
                <a:gd name="connsiteX2" fmla="*/ 10000 w 10000"/>
                <a:gd name="connsiteY2" fmla="*/ 2428 h 14364"/>
                <a:gd name="connsiteX3" fmla="*/ 9905 w 10000"/>
                <a:gd name="connsiteY3" fmla="*/ 47 h 14364"/>
                <a:gd name="connsiteX4" fmla="*/ 237 w 10000"/>
                <a:gd name="connsiteY4" fmla="*/ 0 h 14364"/>
                <a:gd name="connsiteX5" fmla="*/ 0 w 10000"/>
                <a:gd name="connsiteY5" fmla="*/ 2383 h 14364"/>
                <a:gd name="connsiteX6" fmla="*/ 4397 w 10000"/>
                <a:gd name="connsiteY6" fmla="*/ 2383 h 14364"/>
                <a:gd name="connsiteX7" fmla="*/ 4569 w 10000"/>
                <a:gd name="connsiteY7" fmla="*/ 14364 h 14364"/>
                <a:gd name="connsiteX8" fmla="*/ 6276 w 10000"/>
                <a:gd name="connsiteY8" fmla="*/ 14345 h 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4364">
                  <a:moveTo>
                    <a:pt x="6276" y="14345"/>
                  </a:moveTo>
                  <a:cubicBezTo>
                    <a:pt x="6256" y="10358"/>
                    <a:pt x="6237" y="6370"/>
                    <a:pt x="6217" y="2383"/>
                  </a:cubicBezTo>
                  <a:lnTo>
                    <a:pt x="10000" y="2428"/>
                  </a:lnTo>
                  <a:cubicBezTo>
                    <a:pt x="9968" y="1518"/>
                    <a:pt x="9937" y="959"/>
                    <a:pt x="9905" y="47"/>
                  </a:cubicBezTo>
                  <a:lnTo>
                    <a:pt x="237" y="0"/>
                  </a:lnTo>
                  <a:cubicBezTo>
                    <a:pt x="178" y="769"/>
                    <a:pt x="59" y="1614"/>
                    <a:pt x="0" y="2383"/>
                  </a:cubicBezTo>
                  <a:lnTo>
                    <a:pt x="4397" y="2383"/>
                  </a:lnTo>
                  <a:cubicBezTo>
                    <a:pt x="4444" y="4938"/>
                    <a:pt x="4522" y="11809"/>
                    <a:pt x="4569" y="14364"/>
                  </a:cubicBezTo>
                  <a:lnTo>
                    <a:pt x="6276" y="14345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7649" name="Group 9"/>
            <p:cNvGrpSpPr>
              <a:grpSpLocks/>
            </p:cNvGrpSpPr>
            <p:nvPr/>
          </p:nvGrpSpPr>
          <p:grpSpPr bwMode="auto">
            <a:xfrm>
              <a:off x="6929136" y="1525203"/>
              <a:ext cx="649288" cy="271465"/>
              <a:chOff x="2740" y="1064"/>
              <a:chExt cx="409" cy="171"/>
            </a:xfrm>
          </p:grpSpPr>
          <p:grpSp>
            <p:nvGrpSpPr>
              <p:cNvPr id="67651" name="Group 10"/>
              <p:cNvGrpSpPr>
                <a:grpSpLocks/>
              </p:cNvGrpSpPr>
              <p:nvPr/>
            </p:nvGrpSpPr>
            <p:grpSpPr bwMode="auto">
              <a:xfrm>
                <a:off x="2853" y="1064"/>
                <a:ext cx="182" cy="171"/>
                <a:chOff x="3067" y="1096"/>
                <a:chExt cx="182" cy="171"/>
              </a:xfrm>
            </p:grpSpPr>
            <p:sp>
              <p:nvSpPr>
                <p:cNvPr id="67653" name="Line 11"/>
                <p:cNvSpPr>
                  <a:spLocks noChangeShapeType="1"/>
                </p:cNvSpPr>
                <p:nvPr/>
              </p:nvSpPr>
              <p:spPr bwMode="auto">
                <a:xfrm>
                  <a:off x="3104" y="1246"/>
                  <a:ext cx="90" cy="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54" name="Line 12"/>
                <p:cNvSpPr>
                  <a:spLocks noChangeShapeType="1"/>
                </p:cNvSpPr>
                <p:nvPr/>
              </p:nvSpPr>
              <p:spPr bwMode="auto">
                <a:xfrm>
                  <a:off x="3128" y="1267"/>
                  <a:ext cx="45" cy="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55" name="AutoShape 13"/>
                <p:cNvSpPr>
                  <a:spLocks noChangeArrowheads="1"/>
                </p:cNvSpPr>
                <p:nvPr/>
              </p:nvSpPr>
              <p:spPr bwMode="auto">
                <a:xfrm flipV="1">
                  <a:off x="3076" y="1096"/>
                  <a:ext cx="136" cy="91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28575" algn="ctr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lIns="0"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656" name="Line 14"/>
                <p:cNvSpPr>
                  <a:spLocks noChangeShapeType="1"/>
                </p:cNvSpPr>
                <p:nvPr/>
              </p:nvSpPr>
              <p:spPr bwMode="auto">
                <a:xfrm>
                  <a:off x="3067" y="1223"/>
                  <a:ext cx="182" cy="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67652" name="Line 15"/>
              <p:cNvSpPr>
                <a:spLocks noChangeShapeType="1"/>
              </p:cNvSpPr>
              <p:nvPr/>
            </p:nvSpPr>
            <p:spPr bwMode="auto">
              <a:xfrm>
                <a:off x="2740" y="1172"/>
                <a:ext cx="409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" name="任意多边形 4"/>
            <p:cNvSpPr/>
            <p:nvPr/>
          </p:nvSpPr>
          <p:spPr bwMode="auto">
            <a:xfrm>
              <a:off x="6926052" y="1695576"/>
              <a:ext cx="296725" cy="1535102"/>
            </a:xfrm>
            <a:custGeom>
              <a:avLst/>
              <a:gdLst>
                <a:gd name="connsiteX0" fmla="*/ 0 w 296725"/>
                <a:gd name="connsiteY0" fmla="*/ 0 h 1535102"/>
                <a:gd name="connsiteX1" fmla="*/ 0 w 296725"/>
                <a:gd name="connsiteY1" fmla="*/ 251309 h 1535102"/>
                <a:gd name="connsiteX2" fmla="*/ 296725 w 296725"/>
                <a:gd name="connsiteY2" fmla="*/ 254337 h 1535102"/>
                <a:gd name="connsiteX3" fmla="*/ 293698 w 296725"/>
                <a:gd name="connsiteY3" fmla="*/ 1535102 h 153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725" h="1535102">
                  <a:moveTo>
                    <a:pt x="0" y="0"/>
                  </a:moveTo>
                  <a:lnTo>
                    <a:pt x="0" y="251309"/>
                  </a:lnTo>
                  <a:lnTo>
                    <a:pt x="296725" y="254337"/>
                  </a:lnTo>
                  <a:lnTo>
                    <a:pt x="293698" y="1535102"/>
                  </a:ln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" name="任意多边形 6"/>
            <p:cNvSpPr/>
            <p:nvPr/>
          </p:nvSpPr>
          <p:spPr bwMode="auto">
            <a:xfrm>
              <a:off x="7342450" y="1680994"/>
              <a:ext cx="243813" cy="1552711"/>
            </a:xfrm>
            <a:custGeom>
              <a:avLst/>
              <a:gdLst>
                <a:gd name="connsiteX0" fmla="*/ 242225 w 242225"/>
                <a:gd name="connsiteY0" fmla="*/ 0 h 1532074"/>
                <a:gd name="connsiteX1" fmla="*/ 242225 w 242225"/>
                <a:gd name="connsiteY1" fmla="*/ 239197 h 1532074"/>
                <a:gd name="connsiteX2" fmla="*/ 0 w 242225"/>
                <a:gd name="connsiteY2" fmla="*/ 248281 h 1532074"/>
                <a:gd name="connsiteX3" fmla="*/ 0 w 242225"/>
                <a:gd name="connsiteY3" fmla="*/ 1532074 h 1532074"/>
                <a:gd name="connsiteX0" fmla="*/ 243813 w 243813"/>
                <a:gd name="connsiteY0" fmla="*/ 0 h 1552711"/>
                <a:gd name="connsiteX1" fmla="*/ 242225 w 243813"/>
                <a:gd name="connsiteY1" fmla="*/ 259834 h 1552711"/>
                <a:gd name="connsiteX2" fmla="*/ 0 w 243813"/>
                <a:gd name="connsiteY2" fmla="*/ 268918 h 1552711"/>
                <a:gd name="connsiteX3" fmla="*/ 0 w 243813"/>
                <a:gd name="connsiteY3" fmla="*/ 1552711 h 1552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13" h="1552711">
                  <a:moveTo>
                    <a:pt x="243813" y="0"/>
                  </a:moveTo>
                  <a:cubicBezTo>
                    <a:pt x="243284" y="86611"/>
                    <a:pt x="242754" y="173223"/>
                    <a:pt x="242225" y="259834"/>
                  </a:cubicBezTo>
                  <a:lnTo>
                    <a:pt x="0" y="268918"/>
                  </a:lnTo>
                  <a:lnTo>
                    <a:pt x="0" y="1552711"/>
                  </a:ln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75" name="Text Box 75"/>
          <p:cNvSpPr txBox="1">
            <a:spLocks noChangeArrowheads="1"/>
          </p:cNvSpPr>
          <p:nvPr/>
        </p:nvSpPr>
        <p:spPr bwMode="auto">
          <a:xfrm>
            <a:off x="5404919" y="1899405"/>
            <a:ext cx="3476532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SzPct val="14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存在水头差，土样中将产生自下而上的渗流</a:t>
            </a:r>
            <a:endParaRPr lang="en-US" altLang="zh-CN" sz="24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marL="361950" indent="-361950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SzPct val="140000"/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水流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受到来自土骨架的阻力，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同时孔隙水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对土骨架产生一个摩擦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生</a:t>
            </a:r>
            <a:endParaRPr lang="en-US" altLang="zh-CN" sz="24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76" name="Text Box 71"/>
          <p:cNvSpPr txBox="1">
            <a:spLocks noChangeArrowheads="1"/>
          </p:cNvSpPr>
          <p:nvPr/>
        </p:nvSpPr>
        <p:spPr bwMode="auto">
          <a:xfrm>
            <a:off x="2443735" y="4716777"/>
            <a:ext cx="6102349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1438275" indent="-1438275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  <a:tabLst>
                <a:tab pos="1438275" algn="l"/>
              </a:tabLst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</a:rPr>
              <a:t>渗透</a:t>
            </a: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</a:rPr>
              <a:t>力 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</a:rPr>
              <a:t>j</a:t>
            </a: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</a:rPr>
              <a:t>：</a:t>
            </a:r>
            <a:r>
              <a:rPr kumimoji="1" lang="en-US" altLang="zh-CN" sz="2400" b="1" dirty="0" smtClean="0">
                <a:solidFill>
                  <a:srgbClr val="A50021"/>
                </a:solidFill>
                <a:ea typeface="幼圆" pitchFamily="49" charset="-122"/>
              </a:rPr>
              <a:t>	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渗透作用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中，孔隙水对土骨架的作用力，方向与渗流方向一致</a:t>
            </a:r>
            <a:endParaRPr lang="zh-CN" altLang="en-US" sz="24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77" name="AutoShape 72"/>
          <p:cNvSpPr>
            <a:spLocks noChangeArrowheads="1"/>
          </p:cNvSpPr>
          <p:nvPr/>
        </p:nvSpPr>
        <p:spPr bwMode="auto">
          <a:xfrm>
            <a:off x="1753173" y="4762814"/>
            <a:ext cx="633412" cy="511175"/>
          </a:xfrm>
          <a:prstGeom prst="homePlate">
            <a:avLst>
              <a:gd name="adj" fmla="val 30978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55254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149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3.33333E-6 -0.16412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99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99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991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9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9141" grpId="0"/>
      <p:bldP spid="1499142" grpId="0" animBg="1"/>
      <p:bldP spid="75" grpId="0"/>
      <p:bldP spid="76" grpId="0"/>
      <p:bldP spid="77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186" name="Rectangle 2"/>
          <p:cNvSpPr>
            <a:spLocks noChangeArrowheads="1"/>
          </p:cNvSpPr>
          <p:nvPr/>
        </p:nvSpPr>
        <p:spPr bwMode="auto">
          <a:xfrm>
            <a:off x="0" y="688975"/>
            <a:ext cx="9144000" cy="3754438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59931" y="1895327"/>
            <a:ext cx="2074863" cy="1531938"/>
            <a:chOff x="324" y="1232"/>
            <a:chExt cx="1307" cy="965"/>
          </a:xfrm>
        </p:grpSpPr>
        <p:sp>
          <p:nvSpPr>
            <p:cNvPr id="69730" name="Rectangle 4"/>
            <p:cNvSpPr>
              <a:spLocks noChangeArrowheads="1"/>
            </p:cNvSpPr>
            <p:nvPr/>
          </p:nvSpPr>
          <p:spPr bwMode="auto">
            <a:xfrm>
              <a:off x="996" y="1232"/>
              <a:ext cx="635" cy="953"/>
            </a:xfrm>
            <a:prstGeom prst="rect">
              <a:avLst/>
            </a:prstGeom>
            <a:solidFill>
              <a:srgbClr val="3333FF"/>
            </a:solidFill>
            <a:ln w="12700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9731" name="Group 5"/>
            <p:cNvGrpSpPr>
              <a:grpSpLocks/>
            </p:cNvGrpSpPr>
            <p:nvPr/>
          </p:nvGrpSpPr>
          <p:grpSpPr bwMode="auto">
            <a:xfrm>
              <a:off x="983" y="1232"/>
              <a:ext cx="643" cy="965"/>
              <a:chOff x="1970" y="1207"/>
              <a:chExt cx="643" cy="965"/>
            </a:xfrm>
          </p:grpSpPr>
          <p:sp>
            <p:nvSpPr>
              <p:cNvPr id="69733" name="Freeform 6" descr="软木塞"/>
              <p:cNvSpPr>
                <a:spLocks/>
              </p:cNvSpPr>
              <p:nvPr/>
            </p:nvSpPr>
            <p:spPr bwMode="auto">
              <a:xfrm>
                <a:off x="1973" y="1207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34" name="Freeform 7" descr="软木塞"/>
              <p:cNvSpPr>
                <a:spLocks/>
              </p:cNvSpPr>
              <p:nvPr/>
            </p:nvSpPr>
            <p:spPr bwMode="auto">
              <a:xfrm>
                <a:off x="2162" y="1207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35" name="Freeform 8" descr="软木塞"/>
              <p:cNvSpPr>
                <a:spLocks/>
              </p:cNvSpPr>
              <p:nvPr/>
            </p:nvSpPr>
            <p:spPr bwMode="auto">
              <a:xfrm rot="2127360">
                <a:off x="2266" y="1229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36" name="Freeform 9" descr="软木塞"/>
              <p:cNvSpPr>
                <a:spLocks/>
              </p:cNvSpPr>
              <p:nvPr/>
            </p:nvSpPr>
            <p:spPr bwMode="auto">
              <a:xfrm>
                <a:off x="2472" y="1207"/>
                <a:ext cx="136" cy="18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37" name="Freeform 10" descr="软木塞"/>
              <p:cNvSpPr>
                <a:spLocks/>
              </p:cNvSpPr>
              <p:nvPr/>
            </p:nvSpPr>
            <p:spPr bwMode="auto">
              <a:xfrm>
                <a:off x="2418" y="1381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38" name="Freeform 11" descr="软木塞"/>
              <p:cNvSpPr>
                <a:spLocks/>
              </p:cNvSpPr>
              <p:nvPr/>
            </p:nvSpPr>
            <p:spPr bwMode="auto">
              <a:xfrm>
                <a:off x="1973" y="1434"/>
                <a:ext cx="227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39" name="Freeform 12" descr="软木塞"/>
              <p:cNvSpPr>
                <a:spLocks/>
              </p:cNvSpPr>
              <p:nvPr/>
            </p:nvSpPr>
            <p:spPr bwMode="auto">
              <a:xfrm>
                <a:off x="2394" y="2069"/>
                <a:ext cx="214" cy="91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40" name="Freeform 13" descr="软木塞"/>
              <p:cNvSpPr>
                <a:spLocks/>
              </p:cNvSpPr>
              <p:nvPr/>
            </p:nvSpPr>
            <p:spPr bwMode="auto">
              <a:xfrm>
                <a:off x="2186" y="1464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41" name="Freeform 14" descr="软木塞"/>
              <p:cNvSpPr>
                <a:spLocks/>
              </p:cNvSpPr>
              <p:nvPr/>
            </p:nvSpPr>
            <p:spPr bwMode="auto">
              <a:xfrm>
                <a:off x="1970" y="1679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42" name="Freeform 15" descr="软木塞"/>
              <p:cNvSpPr>
                <a:spLocks/>
              </p:cNvSpPr>
              <p:nvPr/>
            </p:nvSpPr>
            <p:spPr bwMode="auto">
              <a:xfrm>
                <a:off x="2159" y="1679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43" name="Freeform 16" descr="软木塞"/>
              <p:cNvSpPr>
                <a:spLocks/>
              </p:cNvSpPr>
              <p:nvPr/>
            </p:nvSpPr>
            <p:spPr bwMode="auto">
              <a:xfrm rot="2127360">
                <a:off x="2263" y="1701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44" name="Freeform 17" descr="软木塞"/>
              <p:cNvSpPr>
                <a:spLocks/>
              </p:cNvSpPr>
              <p:nvPr/>
            </p:nvSpPr>
            <p:spPr bwMode="auto">
              <a:xfrm>
                <a:off x="2469" y="1616"/>
                <a:ext cx="139" cy="245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45" name="Freeform 18" descr="软木塞"/>
              <p:cNvSpPr>
                <a:spLocks/>
              </p:cNvSpPr>
              <p:nvPr/>
            </p:nvSpPr>
            <p:spPr bwMode="auto">
              <a:xfrm>
                <a:off x="2415" y="1853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46" name="Freeform 19" descr="软木塞"/>
              <p:cNvSpPr>
                <a:spLocks/>
              </p:cNvSpPr>
              <p:nvPr/>
            </p:nvSpPr>
            <p:spPr bwMode="auto">
              <a:xfrm>
                <a:off x="1973" y="1888"/>
                <a:ext cx="179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747" name="Freeform 20" descr="软木塞"/>
              <p:cNvSpPr>
                <a:spLocks/>
              </p:cNvSpPr>
              <p:nvPr/>
            </p:nvSpPr>
            <p:spPr bwMode="auto">
              <a:xfrm>
                <a:off x="2145" y="1940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9732" name="Text Box 21" descr="软木塞"/>
            <p:cNvSpPr txBox="1">
              <a:spLocks noChangeArrowheads="1"/>
            </p:cNvSpPr>
            <p:nvPr/>
          </p:nvSpPr>
          <p:spPr bwMode="auto">
            <a:xfrm>
              <a:off x="324" y="1506"/>
              <a:ext cx="48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cs typeface="Times New Roman" panose="02020603050405020304" pitchFamily="18" charset="0"/>
                </a:rPr>
                <a:t>截面积</a:t>
              </a:r>
              <a:br>
                <a:rPr lang="zh-CN" altLang="en-US" sz="2000" b="1" dirty="0">
                  <a:cs typeface="Times New Roman" panose="02020603050405020304" pitchFamily="18" charset="0"/>
                </a:rPr>
              </a:br>
              <a:r>
                <a:rPr lang="en-US" altLang="zh-CN" sz="2000" b="1" i="1" dirty="0">
                  <a:cs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=1</a:t>
              </a:r>
            </a:p>
          </p:txBody>
        </p:sp>
      </p:grpSp>
      <p:sp>
        <p:nvSpPr>
          <p:cNvPr id="69638" name="Rectangle 70"/>
          <p:cNvSpPr>
            <a:spLocks noChangeArrowheads="1"/>
          </p:cNvSpPr>
          <p:nvPr/>
        </p:nvSpPr>
        <p:spPr bwMode="auto">
          <a:xfrm>
            <a:off x="2974975" y="5791200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3" name="Group 71"/>
          <p:cNvGrpSpPr>
            <a:grpSpLocks noChangeAspect="1"/>
          </p:cNvGrpSpPr>
          <p:nvPr/>
        </p:nvGrpSpPr>
        <p:grpSpPr bwMode="auto">
          <a:xfrm rot="10800000">
            <a:off x="1426731" y="3406627"/>
            <a:ext cx="1008063" cy="449263"/>
            <a:chOff x="1973" y="935"/>
            <a:chExt cx="611" cy="272"/>
          </a:xfrm>
        </p:grpSpPr>
        <p:sp>
          <p:nvSpPr>
            <p:cNvPr id="69674" name="Line 72"/>
            <p:cNvSpPr>
              <a:spLocks noChangeAspect="1" noChangeShapeType="1"/>
            </p:cNvSpPr>
            <p:nvPr/>
          </p:nvSpPr>
          <p:spPr bwMode="auto">
            <a:xfrm>
              <a:off x="197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75" name="Line 73"/>
            <p:cNvSpPr>
              <a:spLocks noChangeAspect="1" noChangeShapeType="1"/>
            </p:cNvSpPr>
            <p:nvPr/>
          </p:nvSpPr>
          <p:spPr bwMode="auto">
            <a:xfrm>
              <a:off x="2040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76" name="Line 74"/>
            <p:cNvSpPr>
              <a:spLocks noChangeAspect="1" noChangeShapeType="1"/>
            </p:cNvSpPr>
            <p:nvPr/>
          </p:nvSpPr>
          <p:spPr bwMode="auto">
            <a:xfrm>
              <a:off x="2109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77" name="Line 75"/>
            <p:cNvSpPr>
              <a:spLocks noChangeAspect="1" noChangeShapeType="1"/>
            </p:cNvSpPr>
            <p:nvPr/>
          </p:nvSpPr>
          <p:spPr bwMode="auto">
            <a:xfrm>
              <a:off x="2176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78" name="Line 76"/>
            <p:cNvSpPr>
              <a:spLocks noChangeAspect="1" noChangeShapeType="1"/>
            </p:cNvSpPr>
            <p:nvPr/>
          </p:nvSpPr>
          <p:spPr bwMode="auto">
            <a:xfrm>
              <a:off x="224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79" name="Line 77"/>
            <p:cNvSpPr>
              <a:spLocks noChangeAspect="1" noChangeShapeType="1"/>
            </p:cNvSpPr>
            <p:nvPr/>
          </p:nvSpPr>
          <p:spPr bwMode="auto">
            <a:xfrm>
              <a:off x="2312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80" name="Line 78"/>
            <p:cNvSpPr>
              <a:spLocks noChangeAspect="1" noChangeShapeType="1"/>
            </p:cNvSpPr>
            <p:nvPr/>
          </p:nvSpPr>
          <p:spPr bwMode="auto">
            <a:xfrm>
              <a:off x="2381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81" name="Line 79"/>
            <p:cNvSpPr>
              <a:spLocks noChangeAspect="1" noChangeShapeType="1"/>
            </p:cNvSpPr>
            <p:nvPr/>
          </p:nvSpPr>
          <p:spPr bwMode="auto">
            <a:xfrm>
              <a:off x="2448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82" name="Line 80"/>
            <p:cNvSpPr>
              <a:spLocks noChangeAspect="1" noChangeShapeType="1"/>
            </p:cNvSpPr>
            <p:nvPr/>
          </p:nvSpPr>
          <p:spPr bwMode="auto">
            <a:xfrm>
              <a:off x="2517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83" name="Line 81"/>
            <p:cNvSpPr>
              <a:spLocks noChangeAspect="1" noChangeShapeType="1"/>
            </p:cNvSpPr>
            <p:nvPr/>
          </p:nvSpPr>
          <p:spPr bwMode="auto">
            <a:xfrm>
              <a:off x="2584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Group 82"/>
          <p:cNvGrpSpPr>
            <a:grpSpLocks noChangeAspect="1"/>
          </p:cNvGrpSpPr>
          <p:nvPr/>
        </p:nvGrpSpPr>
        <p:grpSpPr bwMode="auto">
          <a:xfrm>
            <a:off x="1423556" y="1604815"/>
            <a:ext cx="1008063" cy="288925"/>
            <a:chOff x="1973" y="935"/>
            <a:chExt cx="611" cy="272"/>
          </a:xfrm>
        </p:grpSpPr>
        <p:sp>
          <p:nvSpPr>
            <p:cNvPr id="69664" name="Line 83"/>
            <p:cNvSpPr>
              <a:spLocks noChangeAspect="1" noChangeShapeType="1"/>
            </p:cNvSpPr>
            <p:nvPr/>
          </p:nvSpPr>
          <p:spPr bwMode="auto">
            <a:xfrm>
              <a:off x="197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65" name="Line 84"/>
            <p:cNvSpPr>
              <a:spLocks noChangeAspect="1" noChangeShapeType="1"/>
            </p:cNvSpPr>
            <p:nvPr/>
          </p:nvSpPr>
          <p:spPr bwMode="auto">
            <a:xfrm>
              <a:off x="2040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66" name="Line 85"/>
            <p:cNvSpPr>
              <a:spLocks noChangeAspect="1" noChangeShapeType="1"/>
            </p:cNvSpPr>
            <p:nvPr/>
          </p:nvSpPr>
          <p:spPr bwMode="auto">
            <a:xfrm>
              <a:off x="2109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67" name="Line 86"/>
            <p:cNvSpPr>
              <a:spLocks noChangeAspect="1" noChangeShapeType="1"/>
            </p:cNvSpPr>
            <p:nvPr/>
          </p:nvSpPr>
          <p:spPr bwMode="auto">
            <a:xfrm>
              <a:off x="2176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68" name="Line 87"/>
            <p:cNvSpPr>
              <a:spLocks noChangeAspect="1" noChangeShapeType="1"/>
            </p:cNvSpPr>
            <p:nvPr/>
          </p:nvSpPr>
          <p:spPr bwMode="auto">
            <a:xfrm>
              <a:off x="224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69" name="Line 88"/>
            <p:cNvSpPr>
              <a:spLocks noChangeAspect="1" noChangeShapeType="1"/>
            </p:cNvSpPr>
            <p:nvPr/>
          </p:nvSpPr>
          <p:spPr bwMode="auto">
            <a:xfrm>
              <a:off x="2312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70" name="Line 89"/>
            <p:cNvSpPr>
              <a:spLocks noChangeAspect="1" noChangeShapeType="1"/>
            </p:cNvSpPr>
            <p:nvPr/>
          </p:nvSpPr>
          <p:spPr bwMode="auto">
            <a:xfrm>
              <a:off x="2381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71" name="Line 90"/>
            <p:cNvSpPr>
              <a:spLocks noChangeAspect="1" noChangeShapeType="1"/>
            </p:cNvSpPr>
            <p:nvPr/>
          </p:nvSpPr>
          <p:spPr bwMode="auto">
            <a:xfrm>
              <a:off x="2448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72" name="Line 91"/>
            <p:cNvSpPr>
              <a:spLocks noChangeAspect="1" noChangeShapeType="1"/>
            </p:cNvSpPr>
            <p:nvPr/>
          </p:nvSpPr>
          <p:spPr bwMode="auto">
            <a:xfrm>
              <a:off x="2517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73" name="Line 92"/>
            <p:cNvSpPr>
              <a:spLocks noChangeAspect="1" noChangeShapeType="1"/>
            </p:cNvSpPr>
            <p:nvPr/>
          </p:nvSpPr>
          <p:spPr bwMode="auto">
            <a:xfrm>
              <a:off x="2584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" name="Group 93"/>
          <p:cNvGrpSpPr>
            <a:grpSpLocks noChangeAspect="1"/>
          </p:cNvGrpSpPr>
          <p:nvPr/>
        </p:nvGrpSpPr>
        <p:grpSpPr bwMode="auto">
          <a:xfrm rot="10800000">
            <a:off x="1426731" y="3879702"/>
            <a:ext cx="1008063" cy="215900"/>
            <a:chOff x="1973" y="935"/>
            <a:chExt cx="611" cy="272"/>
          </a:xfrm>
        </p:grpSpPr>
        <p:sp>
          <p:nvSpPr>
            <p:cNvPr id="69654" name="Line 94"/>
            <p:cNvSpPr>
              <a:spLocks noChangeAspect="1" noChangeShapeType="1"/>
            </p:cNvSpPr>
            <p:nvPr/>
          </p:nvSpPr>
          <p:spPr bwMode="auto">
            <a:xfrm>
              <a:off x="197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55" name="Line 95"/>
            <p:cNvSpPr>
              <a:spLocks noChangeAspect="1" noChangeShapeType="1"/>
            </p:cNvSpPr>
            <p:nvPr/>
          </p:nvSpPr>
          <p:spPr bwMode="auto">
            <a:xfrm>
              <a:off x="2040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56" name="Line 96"/>
            <p:cNvSpPr>
              <a:spLocks noChangeAspect="1" noChangeShapeType="1"/>
            </p:cNvSpPr>
            <p:nvPr/>
          </p:nvSpPr>
          <p:spPr bwMode="auto">
            <a:xfrm>
              <a:off x="2109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57" name="Line 97"/>
            <p:cNvSpPr>
              <a:spLocks noChangeAspect="1" noChangeShapeType="1"/>
            </p:cNvSpPr>
            <p:nvPr/>
          </p:nvSpPr>
          <p:spPr bwMode="auto">
            <a:xfrm>
              <a:off x="2176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58" name="Line 98"/>
            <p:cNvSpPr>
              <a:spLocks noChangeAspect="1" noChangeShapeType="1"/>
            </p:cNvSpPr>
            <p:nvPr/>
          </p:nvSpPr>
          <p:spPr bwMode="auto">
            <a:xfrm>
              <a:off x="224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59" name="Line 99"/>
            <p:cNvSpPr>
              <a:spLocks noChangeAspect="1" noChangeShapeType="1"/>
            </p:cNvSpPr>
            <p:nvPr/>
          </p:nvSpPr>
          <p:spPr bwMode="auto">
            <a:xfrm>
              <a:off x="2312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60" name="Line 100"/>
            <p:cNvSpPr>
              <a:spLocks noChangeAspect="1" noChangeShapeType="1"/>
            </p:cNvSpPr>
            <p:nvPr/>
          </p:nvSpPr>
          <p:spPr bwMode="auto">
            <a:xfrm>
              <a:off x="2381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61" name="Line 101"/>
            <p:cNvSpPr>
              <a:spLocks noChangeAspect="1" noChangeShapeType="1"/>
            </p:cNvSpPr>
            <p:nvPr/>
          </p:nvSpPr>
          <p:spPr bwMode="auto">
            <a:xfrm>
              <a:off x="2448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62" name="Line 102"/>
            <p:cNvSpPr>
              <a:spLocks noChangeAspect="1" noChangeShapeType="1"/>
            </p:cNvSpPr>
            <p:nvPr/>
          </p:nvSpPr>
          <p:spPr bwMode="auto">
            <a:xfrm>
              <a:off x="2517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63" name="Line 103"/>
            <p:cNvSpPr>
              <a:spLocks noChangeAspect="1" noChangeShapeType="1"/>
            </p:cNvSpPr>
            <p:nvPr/>
          </p:nvSpPr>
          <p:spPr bwMode="auto">
            <a:xfrm>
              <a:off x="2584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Group 104"/>
          <p:cNvGrpSpPr>
            <a:grpSpLocks/>
          </p:cNvGrpSpPr>
          <p:nvPr/>
        </p:nvGrpSpPr>
        <p:grpSpPr bwMode="auto">
          <a:xfrm>
            <a:off x="1885522" y="2400152"/>
            <a:ext cx="381000" cy="792163"/>
            <a:chOff x="1285" y="1550"/>
            <a:chExt cx="240" cy="499"/>
          </a:xfrm>
        </p:grpSpPr>
        <p:sp>
          <p:nvSpPr>
            <p:cNvPr id="69652" name="Line 105"/>
            <p:cNvSpPr>
              <a:spLocks noChangeShapeType="1"/>
            </p:cNvSpPr>
            <p:nvPr/>
          </p:nvSpPr>
          <p:spPr bwMode="auto">
            <a:xfrm>
              <a:off x="1285" y="1550"/>
              <a:ext cx="0" cy="499"/>
            </a:xfrm>
            <a:prstGeom prst="line">
              <a:avLst/>
            </a:prstGeom>
            <a:noFill/>
            <a:ln w="76200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653" name="Text Box 106"/>
            <p:cNvSpPr txBox="1">
              <a:spLocks noChangeArrowheads="1"/>
            </p:cNvSpPr>
            <p:nvPr/>
          </p:nvSpPr>
          <p:spPr bwMode="auto">
            <a:xfrm>
              <a:off x="1352" y="1702"/>
              <a:ext cx="17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</a:rPr>
                <a:t>W</a:t>
              </a:r>
            </a:p>
          </p:txBody>
        </p:sp>
      </p:grpSp>
      <p:sp>
        <p:nvSpPr>
          <p:cNvPr id="1501291" name="Text Box 107"/>
          <p:cNvSpPr txBox="1">
            <a:spLocks noChangeArrowheads="1"/>
          </p:cNvSpPr>
          <p:nvPr/>
        </p:nvSpPr>
        <p:spPr bwMode="auto">
          <a:xfrm>
            <a:off x="2672919" y="2254102"/>
            <a:ext cx="1748877" cy="822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72000" rIns="0" bIns="720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>
                <a:cs typeface="Times New Roman" panose="02020603050405020304" pitchFamily="18" charset="0"/>
              </a:rPr>
              <a:t>W</a:t>
            </a:r>
            <a:r>
              <a:rPr lang="en-US" altLang="zh-CN" sz="2200" b="1" dirty="0"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ea typeface="幼圆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200" b="1" i="1" dirty="0">
                <a:cs typeface="Times New Roman" panose="02020603050405020304" pitchFamily="18" charset="0"/>
              </a:rPr>
              <a:t>L </a:t>
            </a:r>
            <a:r>
              <a:rPr lang="el-GR" altLang="zh-CN" sz="2200" b="1" i="1" dirty="0"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200" b="1" baseline="-25000" dirty="0">
                <a:ea typeface="幼圆" pitchFamily="49" charset="-122"/>
                <a:cs typeface="Times New Roman" panose="02020603050405020304" pitchFamily="18" charset="0"/>
              </a:rPr>
              <a:t>sat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baseline="-25000" dirty="0">
                <a:ea typeface="幼圆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 sz="2200" b="1" dirty="0">
                <a:ea typeface="幼圆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200" b="1" i="1" dirty="0">
                <a:ea typeface="幼圆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200" b="1" dirty="0"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l-GR" altLang="zh-CN" sz="2200" b="1" i="1" dirty="0"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l-GR" altLang="zh-CN" sz="2200" i="1" dirty="0"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l-GR" altLang="zh-CN" sz="22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200" b="1" dirty="0">
                <a:cs typeface="Times New Roman" panose="02020603050405020304" pitchFamily="18" charset="0"/>
              </a:rPr>
              <a:t> +</a:t>
            </a:r>
            <a:r>
              <a:rPr lang="en-US" altLang="zh-CN" sz="2200" b="1" dirty="0"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l-GR" altLang="zh-CN" sz="22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200" b="1" baseline="-25000" dirty="0">
                <a:cs typeface="Times New Roman" panose="02020603050405020304" pitchFamily="18" charset="0"/>
              </a:rPr>
              <a:t>w</a:t>
            </a:r>
            <a:r>
              <a:rPr lang="en-US" altLang="zh-CN" sz="2200" b="1" dirty="0">
                <a:cs typeface="Times New Roman" panose="02020603050405020304" pitchFamily="18" charset="0"/>
              </a:rPr>
              <a:t>)</a:t>
            </a:r>
            <a:endParaRPr lang="el-GR" altLang="zh-CN" sz="2200" b="1" dirty="0">
              <a:cs typeface="Times New Roman" panose="02020603050405020304" pitchFamily="18" charset="0"/>
            </a:endParaRPr>
          </a:p>
        </p:txBody>
      </p:sp>
      <p:sp>
        <p:nvSpPr>
          <p:cNvPr id="1501292" name="Text Box 108"/>
          <p:cNvSpPr txBox="1">
            <a:spLocks noChangeArrowheads="1"/>
          </p:cNvSpPr>
          <p:nvPr/>
        </p:nvSpPr>
        <p:spPr bwMode="auto">
          <a:xfrm>
            <a:off x="2676262" y="1492102"/>
            <a:ext cx="1114088" cy="48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72000" rIns="0" bIns="720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/>
              <a:t>P</a:t>
            </a:r>
            <a:r>
              <a:rPr lang="en-US" altLang="zh-CN" sz="2200" b="1" baseline="-25000" dirty="0"/>
              <a:t>1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ea typeface="幼圆" pitchFamily="49" charset="-122"/>
              </a:rPr>
              <a:t>= </a:t>
            </a:r>
            <a:r>
              <a:rPr lang="el-GR" altLang="zh-CN" sz="2200" b="1" i="1" dirty="0">
                <a:sym typeface="Symbol" pitchFamily="18" charset="2"/>
              </a:rPr>
              <a:t></a:t>
            </a:r>
            <a:r>
              <a:rPr lang="en-US" altLang="zh-CN" sz="2200" b="1" baseline="-25000" dirty="0" err="1"/>
              <a:t>w</a:t>
            </a:r>
            <a:r>
              <a:rPr lang="en-US" altLang="zh-CN" sz="2200" b="1" i="1" dirty="0" err="1"/>
              <a:t>h</a:t>
            </a:r>
            <a:r>
              <a:rPr lang="en-US" altLang="zh-CN" sz="2200" b="1" baseline="-25000" dirty="0" err="1"/>
              <a:t>w</a:t>
            </a:r>
            <a:endParaRPr lang="el-GR" altLang="zh-CN" sz="2200" b="1" baseline="-25000" dirty="0"/>
          </a:p>
        </p:txBody>
      </p:sp>
      <p:sp>
        <p:nvSpPr>
          <p:cNvPr id="1501293" name="Text Box 109"/>
          <p:cNvSpPr txBox="1">
            <a:spLocks noChangeArrowheads="1"/>
          </p:cNvSpPr>
          <p:nvPr/>
        </p:nvSpPr>
        <p:spPr bwMode="auto">
          <a:xfrm>
            <a:off x="2664559" y="3301852"/>
            <a:ext cx="1072408" cy="48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72000" rIns="0" bIns="720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/>
              <a:t>P</a:t>
            </a:r>
            <a:r>
              <a:rPr lang="en-US" altLang="zh-CN" sz="2200" b="1" baseline="-25000" dirty="0"/>
              <a:t>2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ea typeface="幼圆" pitchFamily="49" charset="-122"/>
              </a:rPr>
              <a:t>= </a:t>
            </a:r>
            <a:r>
              <a:rPr lang="el-GR" altLang="zh-CN" sz="2200" b="1" i="1" dirty="0">
                <a:sym typeface="Symbol" pitchFamily="18" charset="2"/>
              </a:rPr>
              <a:t></a:t>
            </a:r>
            <a:r>
              <a:rPr lang="en-US" altLang="zh-CN" sz="2200" b="1" baseline="-25000" dirty="0"/>
              <a:t>w</a:t>
            </a:r>
            <a:r>
              <a:rPr lang="en-US" altLang="zh-CN" sz="2200" b="1" i="1" dirty="0"/>
              <a:t>h</a:t>
            </a:r>
            <a:r>
              <a:rPr lang="en-US" altLang="zh-CN" sz="2200" b="1" baseline="-25000" dirty="0"/>
              <a:t>2</a:t>
            </a:r>
            <a:endParaRPr lang="el-GR" altLang="zh-CN" sz="2200" b="1" baseline="-25000" dirty="0"/>
          </a:p>
        </p:txBody>
      </p:sp>
      <p:sp>
        <p:nvSpPr>
          <p:cNvPr id="1501294" name="Text Box 110"/>
          <p:cNvSpPr txBox="1">
            <a:spLocks noChangeArrowheads="1"/>
          </p:cNvSpPr>
          <p:nvPr/>
        </p:nvSpPr>
        <p:spPr bwMode="auto">
          <a:xfrm>
            <a:off x="2725434" y="3835252"/>
            <a:ext cx="62998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>
                <a:solidFill>
                  <a:srgbClr val="A50021"/>
                </a:solidFill>
              </a:rPr>
              <a:t>R</a:t>
            </a:r>
            <a:r>
              <a:rPr lang="en-US" altLang="zh-CN" sz="2200" b="1" dirty="0">
                <a:solidFill>
                  <a:srgbClr val="A50021"/>
                </a:solidFill>
              </a:rPr>
              <a:t> = ?</a:t>
            </a:r>
          </a:p>
        </p:txBody>
      </p:sp>
      <p:sp>
        <p:nvSpPr>
          <p:cNvPr id="1501295" name="Text Box 111"/>
          <p:cNvSpPr txBox="1">
            <a:spLocks noChangeArrowheads="1"/>
          </p:cNvSpPr>
          <p:nvPr/>
        </p:nvSpPr>
        <p:spPr bwMode="auto">
          <a:xfrm>
            <a:off x="1463169" y="4537075"/>
            <a:ext cx="20679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+ </a:t>
            </a:r>
            <a:r>
              <a:rPr lang="en-US" altLang="zh-CN" sz="2400" b="1" i="1" dirty="0">
                <a:solidFill>
                  <a:srgbClr val="000066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2</a:t>
            </a:r>
            <a:r>
              <a:rPr lang="en-US" altLang="zh-CN" sz="2400" b="1" dirty="0">
                <a:solidFill>
                  <a:srgbClr val="000066"/>
                </a:solidFill>
              </a:rPr>
              <a:t> = </a:t>
            </a:r>
            <a:r>
              <a:rPr lang="en-US" altLang="zh-CN" sz="2400" b="1" i="1" dirty="0">
                <a:solidFill>
                  <a:srgbClr val="000066"/>
                </a:solidFill>
              </a:rPr>
              <a:t>W</a:t>
            </a:r>
            <a:r>
              <a:rPr lang="en-US" altLang="zh-CN" sz="2400" b="1" dirty="0">
                <a:solidFill>
                  <a:srgbClr val="000066"/>
                </a:solidFill>
              </a:rPr>
              <a:t> + </a:t>
            </a:r>
            <a:r>
              <a:rPr lang="en-US" altLang="zh-CN" sz="2400" b="1" i="1" dirty="0">
                <a:solidFill>
                  <a:srgbClr val="000066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1</a:t>
            </a:r>
          </a:p>
        </p:txBody>
      </p:sp>
      <p:sp>
        <p:nvSpPr>
          <p:cNvPr id="1501296" name="Text Box 112"/>
          <p:cNvSpPr txBox="1">
            <a:spLocks noChangeArrowheads="1"/>
          </p:cNvSpPr>
          <p:nvPr/>
        </p:nvSpPr>
        <p:spPr bwMode="auto">
          <a:xfrm>
            <a:off x="1444133" y="4960938"/>
            <a:ext cx="35490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+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w</a:t>
            </a:r>
            <a:r>
              <a:rPr lang="en-US" altLang="zh-CN" sz="2400" b="1" i="1" dirty="0">
                <a:solidFill>
                  <a:srgbClr val="000066"/>
                </a:solidFill>
              </a:rPr>
              <a:t>h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2</a:t>
            </a:r>
            <a:r>
              <a:rPr lang="en-US" altLang="zh-CN" sz="2400" b="1" i="1" dirty="0">
                <a:solidFill>
                  <a:srgbClr val="000066"/>
                </a:solidFill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</a:rPr>
              <a:t>= </a:t>
            </a:r>
            <a:r>
              <a:rPr lang="en-US" altLang="zh-CN" sz="2400" b="1" i="1" dirty="0">
                <a:solidFill>
                  <a:srgbClr val="000066"/>
                </a:solidFill>
              </a:rPr>
              <a:t>L</a:t>
            </a:r>
            <a:r>
              <a:rPr lang="en-US" altLang="zh-CN" sz="2400" b="1" dirty="0">
                <a:solidFill>
                  <a:srgbClr val="000066"/>
                </a:solidFill>
              </a:rPr>
              <a:t>(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</a:t>
            </a:r>
            <a:r>
              <a:rPr lang="en-US" altLang="zh-CN" sz="2400" b="1" dirty="0">
                <a:solidFill>
                  <a:srgbClr val="000066"/>
                </a:solidFill>
              </a:rPr>
              <a:t>+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w</a:t>
            </a:r>
            <a:r>
              <a:rPr lang="en-US" altLang="zh-CN" sz="2400" b="1" dirty="0">
                <a:solidFill>
                  <a:srgbClr val="000066"/>
                </a:solidFill>
              </a:rPr>
              <a:t>) +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w</a:t>
            </a:r>
            <a:r>
              <a:rPr lang="en-US" altLang="zh-CN" sz="2400" b="1" i="1" dirty="0" err="1">
                <a:solidFill>
                  <a:srgbClr val="000066"/>
                </a:solidFill>
              </a:rPr>
              <a:t>h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w</a:t>
            </a:r>
            <a:r>
              <a:rPr lang="en-US" altLang="zh-CN" sz="2400" b="1" i="1" dirty="0">
                <a:solidFill>
                  <a:srgbClr val="000066"/>
                </a:solidFill>
              </a:rPr>
              <a:t> </a:t>
            </a:r>
            <a:endParaRPr lang="zh-CN" altLang="en-US" sz="2400" b="1" i="1" dirty="0">
              <a:solidFill>
                <a:srgbClr val="000066"/>
              </a:solidFill>
            </a:endParaRPr>
          </a:p>
        </p:txBody>
      </p:sp>
      <p:sp>
        <p:nvSpPr>
          <p:cNvPr id="1501297" name="Text Box 113"/>
          <p:cNvSpPr txBox="1">
            <a:spLocks noChangeArrowheads="1"/>
          </p:cNvSpPr>
          <p:nvPr/>
        </p:nvSpPr>
        <p:spPr bwMode="auto">
          <a:xfrm>
            <a:off x="7265988" y="4852988"/>
            <a:ext cx="11969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solidFill>
                  <a:srgbClr val="000066"/>
                </a:solidFill>
              </a:rPr>
              <a:t>R</a:t>
            </a:r>
            <a:r>
              <a:rPr lang="en-US" altLang="zh-CN" sz="2800" b="1" dirty="0">
                <a:solidFill>
                  <a:srgbClr val="000066"/>
                </a:solidFill>
              </a:rPr>
              <a:t> = </a:t>
            </a:r>
            <a:r>
              <a:rPr lang="el-GR" altLang="zh-CN" sz="28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800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800" b="1" i="1" dirty="0">
                <a:solidFill>
                  <a:srgbClr val="000066"/>
                </a:solidFill>
              </a:rPr>
              <a:t>L</a:t>
            </a:r>
            <a:r>
              <a:rPr lang="en-US" altLang="zh-CN" sz="2800" b="1" dirty="0">
                <a:solidFill>
                  <a:srgbClr val="000066"/>
                </a:solidFill>
              </a:rPr>
              <a:t> </a:t>
            </a:r>
          </a:p>
        </p:txBody>
      </p:sp>
      <p:sp>
        <p:nvSpPr>
          <p:cNvPr id="1501298" name="Text Box 114"/>
          <p:cNvSpPr txBox="1">
            <a:spLocks noChangeArrowheads="1"/>
          </p:cNvSpPr>
          <p:nvPr/>
        </p:nvSpPr>
        <p:spPr bwMode="auto">
          <a:xfrm>
            <a:off x="257175" y="788988"/>
            <a:ext cx="47513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土水整体受力分析</a:t>
            </a:r>
            <a:r>
              <a:rPr lang="en-US" altLang="zh-CN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静水</a:t>
            </a:r>
            <a:endParaRPr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501299" name="AutoShape 115"/>
          <p:cNvSpPr>
            <a:spLocks noChangeArrowheads="1"/>
          </p:cNvSpPr>
          <p:nvPr/>
        </p:nvSpPr>
        <p:spPr bwMode="auto">
          <a:xfrm>
            <a:off x="5970588" y="4860925"/>
            <a:ext cx="627062" cy="471488"/>
          </a:xfrm>
          <a:prstGeom prst="homePlate">
            <a:avLst>
              <a:gd name="adj" fmla="val 33249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7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35523" y="775494"/>
            <a:ext cx="4103688" cy="3597275"/>
            <a:chOff x="4835523" y="775494"/>
            <a:chExt cx="4103688" cy="3597275"/>
          </a:xfrm>
        </p:grpSpPr>
        <p:grpSp>
          <p:nvGrpSpPr>
            <p:cNvPr id="118" name="Group 23"/>
            <p:cNvGrpSpPr>
              <a:grpSpLocks/>
            </p:cNvGrpSpPr>
            <p:nvPr/>
          </p:nvGrpSpPr>
          <p:grpSpPr bwMode="auto">
            <a:xfrm>
              <a:off x="4838698" y="2270919"/>
              <a:ext cx="2809875" cy="2101850"/>
              <a:chOff x="3032" y="1418"/>
              <a:chExt cx="1770" cy="1324"/>
            </a:xfrm>
          </p:grpSpPr>
          <p:sp>
            <p:nvSpPr>
              <p:cNvPr id="119" name="Rectangle 24"/>
              <p:cNvSpPr>
                <a:spLocks noChangeArrowheads="1"/>
              </p:cNvSpPr>
              <p:nvPr/>
            </p:nvSpPr>
            <p:spPr bwMode="auto">
              <a:xfrm>
                <a:off x="4099" y="1508"/>
                <a:ext cx="415" cy="21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Freeform 25"/>
              <p:cNvSpPr>
                <a:spLocks/>
              </p:cNvSpPr>
              <p:nvPr/>
            </p:nvSpPr>
            <p:spPr bwMode="auto">
              <a:xfrm>
                <a:off x="3033" y="1512"/>
                <a:ext cx="1487" cy="1230"/>
              </a:xfrm>
              <a:custGeom>
                <a:avLst/>
                <a:gdLst>
                  <a:gd name="T0" fmla="*/ 1483 w 1483"/>
                  <a:gd name="T1" fmla="*/ 758 h 1224"/>
                  <a:gd name="T2" fmla="*/ 1478 w 1483"/>
                  <a:gd name="T3" fmla="*/ 950 h 1224"/>
                  <a:gd name="T4" fmla="*/ 1305 w 1483"/>
                  <a:gd name="T5" fmla="*/ 950 h 1224"/>
                  <a:gd name="T6" fmla="*/ 1300 w 1483"/>
                  <a:gd name="T7" fmla="*/ 1224 h 1224"/>
                  <a:gd name="T8" fmla="*/ 182 w 1483"/>
                  <a:gd name="T9" fmla="*/ 1219 h 1224"/>
                  <a:gd name="T10" fmla="*/ 187 w 1483"/>
                  <a:gd name="T11" fmla="*/ 158 h 1224"/>
                  <a:gd name="T12" fmla="*/ 0 w 1483"/>
                  <a:gd name="T13" fmla="*/ 149 h 1224"/>
                  <a:gd name="T14" fmla="*/ 0 w 1483"/>
                  <a:gd name="T15" fmla="*/ 5 h 1224"/>
                  <a:gd name="T16" fmla="*/ 403 w 1483"/>
                  <a:gd name="T17" fmla="*/ 0 h 1224"/>
                  <a:gd name="T18" fmla="*/ 398 w 1483"/>
                  <a:gd name="T19" fmla="*/ 154 h 1224"/>
                  <a:gd name="T20" fmla="*/ 249 w 1483"/>
                  <a:gd name="T21" fmla="*/ 158 h 1224"/>
                  <a:gd name="T22" fmla="*/ 259 w 1483"/>
                  <a:gd name="T23" fmla="*/ 1166 h 1224"/>
                  <a:gd name="T24" fmla="*/ 1233 w 1483"/>
                  <a:gd name="T25" fmla="*/ 1157 h 1224"/>
                  <a:gd name="T26" fmla="*/ 1221 w 1483"/>
                  <a:gd name="T27" fmla="*/ 943 h 1224"/>
                  <a:gd name="T28" fmla="*/ 1060 w 1483"/>
                  <a:gd name="T29" fmla="*/ 943 h 1224"/>
                  <a:gd name="T30" fmla="*/ 1070 w 1483"/>
                  <a:gd name="T31" fmla="*/ 754 h 1224"/>
                  <a:gd name="T32" fmla="*/ 1483 w 1483"/>
                  <a:gd name="T33" fmla="*/ 758 h 122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83"/>
                  <a:gd name="T52" fmla="*/ 0 h 1224"/>
                  <a:gd name="T53" fmla="*/ 1483 w 1483"/>
                  <a:gd name="T54" fmla="*/ 1224 h 1224"/>
                  <a:gd name="connsiteX0" fmla="*/ 10009 w 10009"/>
                  <a:gd name="connsiteY0" fmla="*/ 6193 h 10000"/>
                  <a:gd name="connsiteX1" fmla="*/ 9975 w 10009"/>
                  <a:gd name="connsiteY1" fmla="*/ 7761 h 10000"/>
                  <a:gd name="connsiteX2" fmla="*/ 8809 w 10009"/>
                  <a:gd name="connsiteY2" fmla="*/ 7761 h 10000"/>
                  <a:gd name="connsiteX3" fmla="*/ 8775 w 10009"/>
                  <a:gd name="connsiteY3" fmla="*/ 10000 h 10000"/>
                  <a:gd name="connsiteX4" fmla="*/ 1236 w 10009"/>
                  <a:gd name="connsiteY4" fmla="*/ 9959 h 10000"/>
                  <a:gd name="connsiteX5" fmla="*/ 1270 w 10009"/>
                  <a:gd name="connsiteY5" fmla="*/ 1291 h 10000"/>
                  <a:gd name="connsiteX6" fmla="*/ 0 w 10009"/>
                  <a:gd name="connsiteY6" fmla="*/ 1285 h 10000"/>
                  <a:gd name="connsiteX7" fmla="*/ 9 w 10009"/>
                  <a:gd name="connsiteY7" fmla="*/ 41 h 10000"/>
                  <a:gd name="connsiteX8" fmla="*/ 2726 w 10009"/>
                  <a:gd name="connsiteY8" fmla="*/ 0 h 10000"/>
                  <a:gd name="connsiteX9" fmla="*/ 2693 w 10009"/>
                  <a:gd name="connsiteY9" fmla="*/ 1258 h 10000"/>
                  <a:gd name="connsiteX10" fmla="*/ 1688 w 10009"/>
                  <a:gd name="connsiteY10" fmla="*/ 1291 h 10000"/>
                  <a:gd name="connsiteX11" fmla="*/ 1755 w 10009"/>
                  <a:gd name="connsiteY11" fmla="*/ 9526 h 10000"/>
                  <a:gd name="connsiteX12" fmla="*/ 8323 w 10009"/>
                  <a:gd name="connsiteY12" fmla="*/ 9453 h 10000"/>
                  <a:gd name="connsiteX13" fmla="*/ 8242 w 10009"/>
                  <a:gd name="connsiteY13" fmla="*/ 7704 h 10000"/>
                  <a:gd name="connsiteX14" fmla="*/ 7157 w 10009"/>
                  <a:gd name="connsiteY14" fmla="*/ 7704 h 10000"/>
                  <a:gd name="connsiteX15" fmla="*/ 7224 w 10009"/>
                  <a:gd name="connsiteY15" fmla="*/ 6160 h 10000"/>
                  <a:gd name="connsiteX16" fmla="*/ 10009 w 10009"/>
                  <a:gd name="connsiteY16" fmla="*/ 6193 h 10000"/>
                  <a:gd name="connsiteX0" fmla="*/ 10009 w 10009"/>
                  <a:gd name="connsiteY0" fmla="*/ 6193 h 10000"/>
                  <a:gd name="connsiteX1" fmla="*/ 9975 w 10009"/>
                  <a:gd name="connsiteY1" fmla="*/ 7761 h 10000"/>
                  <a:gd name="connsiteX2" fmla="*/ 8809 w 10009"/>
                  <a:gd name="connsiteY2" fmla="*/ 7761 h 10000"/>
                  <a:gd name="connsiteX3" fmla="*/ 8775 w 10009"/>
                  <a:gd name="connsiteY3" fmla="*/ 10000 h 10000"/>
                  <a:gd name="connsiteX4" fmla="*/ 1236 w 10009"/>
                  <a:gd name="connsiteY4" fmla="*/ 9959 h 10000"/>
                  <a:gd name="connsiteX5" fmla="*/ 1270 w 10009"/>
                  <a:gd name="connsiteY5" fmla="*/ 1291 h 10000"/>
                  <a:gd name="connsiteX6" fmla="*/ 0 w 10009"/>
                  <a:gd name="connsiteY6" fmla="*/ 1285 h 10000"/>
                  <a:gd name="connsiteX7" fmla="*/ 9 w 10009"/>
                  <a:gd name="connsiteY7" fmla="*/ 41 h 10000"/>
                  <a:gd name="connsiteX8" fmla="*/ 2726 w 10009"/>
                  <a:gd name="connsiteY8" fmla="*/ 0 h 10000"/>
                  <a:gd name="connsiteX9" fmla="*/ 2749 w 10009"/>
                  <a:gd name="connsiteY9" fmla="*/ 1269 h 10000"/>
                  <a:gd name="connsiteX10" fmla="*/ 1688 w 10009"/>
                  <a:gd name="connsiteY10" fmla="*/ 1291 h 10000"/>
                  <a:gd name="connsiteX11" fmla="*/ 1755 w 10009"/>
                  <a:gd name="connsiteY11" fmla="*/ 9526 h 10000"/>
                  <a:gd name="connsiteX12" fmla="*/ 8323 w 10009"/>
                  <a:gd name="connsiteY12" fmla="*/ 9453 h 10000"/>
                  <a:gd name="connsiteX13" fmla="*/ 8242 w 10009"/>
                  <a:gd name="connsiteY13" fmla="*/ 7704 h 10000"/>
                  <a:gd name="connsiteX14" fmla="*/ 7157 w 10009"/>
                  <a:gd name="connsiteY14" fmla="*/ 7704 h 10000"/>
                  <a:gd name="connsiteX15" fmla="*/ 7224 w 10009"/>
                  <a:gd name="connsiteY15" fmla="*/ 6160 h 10000"/>
                  <a:gd name="connsiteX16" fmla="*/ 10009 w 10009"/>
                  <a:gd name="connsiteY16" fmla="*/ 6193 h 10000"/>
                  <a:gd name="connsiteX0" fmla="*/ 10037 w 10037"/>
                  <a:gd name="connsiteY0" fmla="*/ 6182 h 10000"/>
                  <a:gd name="connsiteX1" fmla="*/ 9975 w 10037"/>
                  <a:gd name="connsiteY1" fmla="*/ 7761 h 10000"/>
                  <a:gd name="connsiteX2" fmla="*/ 8809 w 10037"/>
                  <a:gd name="connsiteY2" fmla="*/ 7761 h 10000"/>
                  <a:gd name="connsiteX3" fmla="*/ 8775 w 10037"/>
                  <a:gd name="connsiteY3" fmla="*/ 10000 h 10000"/>
                  <a:gd name="connsiteX4" fmla="*/ 1236 w 10037"/>
                  <a:gd name="connsiteY4" fmla="*/ 9959 h 10000"/>
                  <a:gd name="connsiteX5" fmla="*/ 1270 w 10037"/>
                  <a:gd name="connsiteY5" fmla="*/ 1291 h 10000"/>
                  <a:gd name="connsiteX6" fmla="*/ 0 w 10037"/>
                  <a:gd name="connsiteY6" fmla="*/ 1285 h 10000"/>
                  <a:gd name="connsiteX7" fmla="*/ 9 w 10037"/>
                  <a:gd name="connsiteY7" fmla="*/ 41 h 10000"/>
                  <a:gd name="connsiteX8" fmla="*/ 2726 w 10037"/>
                  <a:gd name="connsiteY8" fmla="*/ 0 h 10000"/>
                  <a:gd name="connsiteX9" fmla="*/ 2749 w 10037"/>
                  <a:gd name="connsiteY9" fmla="*/ 1269 h 10000"/>
                  <a:gd name="connsiteX10" fmla="*/ 1688 w 10037"/>
                  <a:gd name="connsiteY10" fmla="*/ 1291 h 10000"/>
                  <a:gd name="connsiteX11" fmla="*/ 1755 w 10037"/>
                  <a:gd name="connsiteY11" fmla="*/ 9526 h 10000"/>
                  <a:gd name="connsiteX12" fmla="*/ 8323 w 10037"/>
                  <a:gd name="connsiteY12" fmla="*/ 9453 h 10000"/>
                  <a:gd name="connsiteX13" fmla="*/ 8242 w 10037"/>
                  <a:gd name="connsiteY13" fmla="*/ 7704 h 10000"/>
                  <a:gd name="connsiteX14" fmla="*/ 7157 w 10037"/>
                  <a:gd name="connsiteY14" fmla="*/ 7704 h 10000"/>
                  <a:gd name="connsiteX15" fmla="*/ 7224 w 10037"/>
                  <a:gd name="connsiteY15" fmla="*/ 6160 h 10000"/>
                  <a:gd name="connsiteX16" fmla="*/ 10037 w 10037"/>
                  <a:gd name="connsiteY16" fmla="*/ 6182 h 10000"/>
                  <a:gd name="connsiteX0" fmla="*/ 10037 w 10037"/>
                  <a:gd name="connsiteY0" fmla="*/ 6182 h 10000"/>
                  <a:gd name="connsiteX1" fmla="*/ 9975 w 10037"/>
                  <a:gd name="connsiteY1" fmla="*/ 7761 h 10000"/>
                  <a:gd name="connsiteX2" fmla="*/ 8809 w 10037"/>
                  <a:gd name="connsiteY2" fmla="*/ 7761 h 10000"/>
                  <a:gd name="connsiteX3" fmla="*/ 8775 w 10037"/>
                  <a:gd name="connsiteY3" fmla="*/ 10000 h 10000"/>
                  <a:gd name="connsiteX4" fmla="*/ 1236 w 10037"/>
                  <a:gd name="connsiteY4" fmla="*/ 9959 h 10000"/>
                  <a:gd name="connsiteX5" fmla="*/ 1270 w 10037"/>
                  <a:gd name="connsiteY5" fmla="*/ 1291 h 10000"/>
                  <a:gd name="connsiteX6" fmla="*/ 0 w 10037"/>
                  <a:gd name="connsiteY6" fmla="*/ 1285 h 10000"/>
                  <a:gd name="connsiteX7" fmla="*/ 9 w 10037"/>
                  <a:gd name="connsiteY7" fmla="*/ 41 h 10000"/>
                  <a:gd name="connsiteX8" fmla="*/ 2726 w 10037"/>
                  <a:gd name="connsiteY8" fmla="*/ 0 h 10000"/>
                  <a:gd name="connsiteX9" fmla="*/ 2749 w 10037"/>
                  <a:gd name="connsiteY9" fmla="*/ 1269 h 10000"/>
                  <a:gd name="connsiteX10" fmla="*/ 1688 w 10037"/>
                  <a:gd name="connsiteY10" fmla="*/ 1291 h 10000"/>
                  <a:gd name="connsiteX11" fmla="*/ 1755 w 10037"/>
                  <a:gd name="connsiteY11" fmla="*/ 9526 h 10000"/>
                  <a:gd name="connsiteX12" fmla="*/ 8323 w 10037"/>
                  <a:gd name="connsiteY12" fmla="*/ 9453 h 10000"/>
                  <a:gd name="connsiteX13" fmla="*/ 8242 w 10037"/>
                  <a:gd name="connsiteY13" fmla="*/ 7704 h 10000"/>
                  <a:gd name="connsiteX14" fmla="*/ 7157 w 10037"/>
                  <a:gd name="connsiteY14" fmla="*/ 7704 h 10000"/>
                  <a:gd name="connsiteX15" fmla="*/ 7187 w 10037"/>
                  <a:gd name="connsiteY15" fmla="*/ 6171 h 10000"/>
                  <a:gd name="connsiteX16" fmla="*/ 10037 w 10037"/>
                  <a:gd name="connsiteY16" fmla="*/ 6182 h 10000"/>
                  <a:gd name="connsiteX0" fmla="*/ 10037 w 10037"/>
                  <a:gd name="connsiteY0" fmla="*/ 6182 h 10000"/>
                  <a:gd name="connsiteX1" fmla="*/ 9975 w 10037"/>
                  <a:gd name="connsiteY1" fmla="*/ 7761 h 10000"/>
                  <a:gd name="connsiteX2" fmla="*/ 8827 w 10037"/>
                  <a:gd name="connsiteY2" fmla="*/ 7794 h 10000"/>
                  <a:gd name="connsiteX3" fmla="*/ 8775 w 10037"/>
                  <a:gd name="connsiteY3" fmla="*/ 10000 h 10000"/>
                  <a:gd name="connsiteX4" fmla="*/ 1236 w 10037"/>
                  <a:gd name="connsiteY4" fmla="*/ 9959 h 10000"/>
                  <a:gd name="connsiteX5" fmla="*/ 1270 w 10037"/>
                  <a:gd name="connsiteY5" fmla="*/ 1291 h 10000"/>
                  <a:gd name="connsiteX6" fmla="*/ 0 w 10037"/>
                  <a:gd name="connsiteY6" fmla="*/ 1285 h 10000"/>
                  <a:gd name="connsiteX7" fmla="*/ 9 w 10037"/>
                  <a:gd name="connsiteY7" fmla="*/ 41 h 10000"/>
                  <a:gd name="connsiteX8" fmla="*/ 2726 w 10037"/>
                  <a:gd name="connsiteY8" fmla="*/ 0 h 10000"/>
                  <a:gd name="connsiteX9" fmla="*/ 2749 w 10037"/>
                  <a:gd name="connsiteY9" fmla="*/ 1269 h 10000"/>
                  <a:gd name="connsiteX10" fmla="*/ 1688 w 10037"/>
                  <a:gd name="connsiteY10" fmla="*/ 1291 h 10000"/>
                  <a:gd name="connsiteX11" fmla="*/ 1755 w 10037"/>
                  <a:gd name="connsiteY11" fmla="*/ 9526 h 10000"/>
                  <a:gd name="connsiteX12" fmla="*/ 8323 w 10037"/>
                  <a:gd name="connsiteY12" fmla="*/ 9453 h 10000"/>
                  <a:gd name="connsiteX13" fmla="*/ 8242 w 10037"/>
                  <a:gd name="connsiteY13" fmla="*/ 7704 h 10000"/>
                  <a:gd name="connsiteX14" fmla="*/ 7157 w 10037"/>
                  <a:gd name="connsiteY14" fmla="*/ 7704 h 10000"/>
                  <a:gd name="connsiteX15" fmla="*/ 7187 w 10037"/>
                  <a:gd name="connsiteY15" fmla="*/ 6171 h 10000"/>
                  <a:gd name="connsiteX16" fmla="*/ 10037 w 10037"/>
                  <a:gd name="connsiteY16" fmla="*/ 6182 h 10000"/>
                  <a:gd name="connsiteX0" fmla="*/ 10037 w 10037"/>
                  <a:gd name="connsiteY0" fmla="*/ 6182 h 10000"/>
                  <a:gd name="connsiteX1" fmla="*/ 9975 w 10037"/>
                  <a:gd name="connsiteY1" fmla="*/ 7815 h 10000"/>
                  <a:gd name="connsiteX2" fmla="*/ 8827 w 10037"/>
                  <a:gd name="connsiteY2" fmla="*/ 7794 h 10000"/>
                  <a:gd name="connsiteX3" fmla="*/ 8775 w 10037"/>
                  <a:gd name="connsiteY3" fmla="*/ 10000 h 10000"/>
                  <a:gd name="connsiteX4" fmla="*/ 1236 w 10037"/>
                  <a:gd name="connsiteY4" fmla="*/ 9959 h 10000"/>
                  <a:gd name="connsiteX5" fmla="*/ 1270 w 10037"/>
                  <a:gd name="connsiteY5" fmla="*/ 1291 h 10000"/>
                  <a:gd name="connsiteX6" fmla="*/ 0 w 10037"/>
                  <a:gd name="connsiteY6" fmla="*/ 1285 h 10000"/>
                  <a:gd name="connsiteX7" fmla="*/ 9 w 10037"/>
                  <a:gd name="connsiteY7" fmla="*/ 41 h 10000"/>
                  <a:gd name="connsiteX8" fmla="*/ 2726 w 10037"/>
                  <a:gd name="connsiteY8" fmla="*/ 0 h 10000"/>
                  <a:gd name="connsiteX9" fmla="*/ 2749 w 10037"/>
                  <a:gd name="connsiteY9" fmla="*/ 1269 h 10000"/>
                  <a:gd name="connsiteX10" fmla="*/ 1688 w 10037"/>
                  <a:gd name="connsiteY10" fmla="*/ 1291 h 10000"/>
                  <a:gd name="connsiteX11" fmla="*/ 1755 w 10037"/>
                  <a:gd name="connsiteY11" fmla="*/ 9526 h 10000"/>
                  <a:gd name="connsiteX12" fmla="*/ 8323 w 10037"/>
                  <a:gd name="connsiteY12" fmla="*/ 9453 h 10000"/>
                  <a:gd name="connsiteX13" fmla="*/ 8242 w 10037"/>
                  <a:gd name="connsiteY13" fmla="*/ 7704 h 10000"/>
                  <a:gd name="connsiteX14" fmla="*/ 7157 w 10037"/>
                  <a:gd name="connsiteY14" fmla="*/ 7704 h 10000"/>
                  <a:gd name="connsiteX15" fmla="*/ 7187 w 10037"/>
                  <a:gd name="connsiteY15" fmla="*/ 6171 h 10000"/>
                  <a:gd name="connsiteX16" fmla="*/ 10037 w 10037"/>
                  <a:gd name="connsiteY16" fmla="*/ 6182 h 10000"/>
                  <a:gd name="connsiteX0" fmla="*/ 10037 w 10037"/>
                  <a:gd name="connsiteY0" fmla="*/ 6182 h 10000"/>
                  <a:gd name="connsiteX1" fmla="*/ 9975 w 10037"/>
                  <a:gd name="connsiteY1" fmla="*/ 7815 h 10000"/>
                  <a:gd name="connsiteX2" fmla="*/ 8827 w 10037"/>
                  <a:gd name="connsiteY2" fmla="*/ 7794 h 10000"/>
                  <a:gd name="connsiteX3" fmla="*/ 8775 w 10037"/>
                  <a:gd name="connsiteY3" fmla="*/ 10000 h 10000"/>
                  <a:gd name="connsiteX4" fmla="*/ 1236 w 10037"/>
                  <a:gd name="connsiteY4" fmla="*/ 9959 h 10000"/>
                  <a:gd name="connsiteX5" fmla="*/ 1270 w 10037"/>
                  <a:gd name="connsiteY5" fmla="*/ 1291 h 10000"/>
                  <a:gd name="connsiteX6" fmla="*/ 0 w 10037"/>
                  <a:gd name="connsiteY6" fmla="*/ 1285 h 10000"/>
                  <a:gd name="connsiteX7" fmla="*/ 9 w 10037"/>
                  <a:gd name="connsiteY7" fmla="*/ 41 h 10000"/>
                  <a:gd name="connsiteX8" fmla="*/ 2726 w 10037"/>
                  <a:gd name="connsiteY8" fmla="*/ 0 h 10000"/>
                  <a:gd name="connsiteX9" fmla="*/ 2749 w 10037"/>
                  <a:gd name="connsiteY9" fmla="*/ 1269 h 10000"/>
                  <a:gd name="connsiteX10" fmla="*/ 1688 w 10037"/>
                  <a:gd name="connsiteY10" fmla="*/ 1291 h 10000"/>
                  <a:gd name="connsiteX11" fmla="*/ 1755 w 10037"/>
                  <a:gd name="connsiteY11" fmla="*/ 9526 h 10000"/>
                  <a:gd name="connsiteX12" fmla="*/ 8323 w 10037"/>
                  <a:gd name="connsiteY12" fmla="*/ 9453 h 10000"/>
                  <a:gd name="connsiteX13" fmla="*/ 8215 w 10037"/>
                  <a:gd name="connsiteY13" fmla="*/ 7748 h 10000"/>
                  <a:gd name="connsiteX14" fmla="*/ 7157 w 10037"/>
                  <a:gd name="connsiteY14" fmla="*/ 7704 h 10000"/>
                  <a:gd name="connsiteX15" fmla="*/ 7187 w 10037"/>
                  <a:gd name="connsiteY15" fmla="*/ 6171 h 10000"/>
                  <a:gd name="connsiteX16" fmla="*/ 10037 w 10037"/>
                  <a:gd name="connsiteY16" fmla="*/ 6182 h 10000"/>
                  <a:gd name="connsiteX0" fmla="*/ 10037 w 10037"/>
                  <a:gd name="connsiteY0" fmla="*/ 6182 h 10046"/>
                  <a:gd name="connsiteX1" fmla="*/ 9975 w 10037"/>
                  <a:gd name="connsiteY1" fmla="*/ 7815 h 10046"/>
                  <a:gd name="connsiteX2" fmla="*/ 8827 w 10037"/>
                  <a:gd name="connsiteY2" fmla="*/ 7794 h 10046"/>
                  <a:gd name="connsiteX3" fmla="*/ 8775 w 10037"/>
                  <a:gd name="connsiteY3" fmla="*/ 10000 h 10046"/>
                  <a:gd name="connsiteX4" fmla="*/ 1236 w 10037"/>
                  <a:gd name="connsiteY4" fmla="*/ 10046 h 10046"/>
                  <a:gd name="connsiteX5" fmla="*/ 1270 w 10037"/>
                  <a:gd name="connsiteY5" fmla="*/ 1291 h 10046"/>
                  <a:gd name="connsiteX6" fmla="*/ 0 w 10037"/>
                  <a:gd name="connsiteY6" fmla="*/ 1285 h 10046"/>
                  <a:gd name="connsiteX7" fmla="*/ 9 w 10037"/>
                  <a:gd name="connsiteY7" fmla="*/ 41 h 10046"/>
                  <a:gd name="connsiteX8" fmla="*/ 2726 w 10037"/>
                  <a:gd name="connsiteY8" fmla="*/ 0 h 10046"/>
                  <a:gd name="connsiteX9" fmla="*/ 2749 w 10037"/>
                  <a:gd name="connsiteY9" fmla="*/ 1269 h 10046"/>
                  <a:gd name="connsiteX10" fmla="*/ 1688 w 10037"/>
                  <a:gd name="connsiteY10" fmla="*/ 1291 h 10046"/>
                  <a:gd name="connsiteX11" fmla="*/ 1755 w 10037"/>
                  <a:gd name="connsiteY11" fmla="*/ 9526 h 10046"/>
                  <a:gd name="connsiteX12" fmla="*/ 8323 w 10037"/>
                  <a:gd name="connsiteY12" fmla="*/ 9453 h 10046"/>
                  <a:gd name="connsiteX13" fmla="*/ 8215 w 10037"/>
                  <a:gd name="connsiteY13" fmla="*/ 7748 h 10046"/>
                  <a:gd name="connsiteX14" fmla="*/ 7157 w 10037"/>
                  <a:gd name="connsiteY14" fmla="*/ 7704 h 10046"/>
                  <a:gd name="connsiteX15" fmla="*/ 7187 w 10037"/>
                  <a:gd name="connsiteY15" fmla="*/ 6171 h 10046"/>
                  <a:gd name="connsiteX16" fmla="*/ 10037 w 10037"/>
                  <a:gd name="connsiteY16" fmla="*/ 6182 h 10046"/>
                  <a:gd name="connsiteX0" fmla="*/ 10037 w 10037"/>
                  <a:gd name="connsiteY0" fmla="*/ 6182 h 10046"/>
                  <a:gd name="connsiteX1" fmla="*/ 9975 w 10037"/>
                  <a:gd name="connsiteY1" fmla="*/ 7815 h 10046"/>
                  <a:gd name="connsiteX2" fmla="*/ 8827 w 10037"/>
                  <a:gd name="connsiteY2" fmla="*/ 7794 h 10046"/>
                  <a:gd name="connsiteX3" fmla="*/ 8775 w 10037"/>
                  <a:gd name="connsiteY3" fmla="*/ 10000 h 10046"/>
                  <a:gd name="connsiteX4" fmla="*/ 1236 w 10037"/>
                  <a:gd name="connsiteY4" fmla="*/ 10046 h 10046"/>
                  <a:gd name="connsiteX5" fmla="*/ 1270 w 10037"/>
                  <a:gd name="connsiteY5" fmla="*/ 1291 h 10046"/>
                  <a:gd name="connsiteX6" fmla="*/ 0 w 10037"/>
                  <a:gd name="connsiteY6" fmla="*/ 1285 h 10046"/>
                  <a:gd name="connsiteX7" fmla="*/ 9 w 10037"/>
                  <a:gd name="connsiteY7" fmla="*/ 41 h 10046"/>
                  <a:gd name="connsiteX8" fmla="*/ 2726 w 10037"/>
                  <a:gd name="connsiteY8" fmla="*/ 0 h 10046"/>
                  <a:gd name="connsiteX9" fmla="*/ 2749 w 10037"/>
                  <a:gd name="connsiteY9" fmla="*/ 1269 h 10046"/>
                  <a:gd name="connsiteX10" fmla="*/ 1724 w 10037"/>
                  <a:gd name="connsiteY10" fmla="*/ 1280 h 10046"/>
                  <a:gd name="connsiteX11" fmla="*/ 1755 w 10037"/>
                  <a:gd name="connsiteY11" fmla="*/ 9526 h 10046"/>
                  <a:gd name="connsiteX12" fmla="*/ 8323 w 10037"/>
                  <a:gd name="connsiteY12" fmla="*/ 9453 h 10046"/>
                  <a:gd name="connsiteX13" fmla="*/ 8215 w 10037"/>
                  <a:gd name="connsiteY13" fmla="*/ 7748 h 10046"/>
                  <a:gd name="connsiteX14" fmla="*/ 7157 w 10037"/>
                  <a:gd name="connsiteY14" fmla="*/ 7704 h 10046"/>
                  <a:gd name="connsiteX15" fmla="*/ 7187 w 10037"/>
                  <a:gd name="connsiteY15" fmla="*/ 6171 h 10046"/>
                  <a:gd name="connsiteX16" fmla="*/ 10037 w 10037"/>
                  <a:gd name="connsiteY16" fmla="*/ 6182 h 10046"/>
                  <a:gd name="connsiteX0" fmla="*/ 10030 w 10030"/>
                  <a:gd name="connsiteY0" fmla="*/ 6125 h 10046"/>
                  <a:gd name="connsiteX1" fmla="*/ 9975 w 10030"/>
                  <a:gd name="connsiteY1" fmla="*/ 7815 h 10046"/>
                  <a:gd name="connsiteX2" fmla="*/ 8827 w 10030"/>
                  <a:gd name="connsiteY2" fmla="*/ 7794 h 10046"/>
                  <a:gd name="connsiteX3" fmla="*/ 8775 w 10030"/>
                  <a:gd name="connsiteY3" fmla="*/ 10000 h 10046"/>
                  <a:gd name="connsiteX4" fmla="*/ 1236 w 10030"/>
                  <a:gd name="connsiteY4" fmla="*/ 10046 h 10046"/>
                  <a:gd name="connsiteX5" fmla="*/ 1270 w 10030"/>
                  <a:gd name="connsiteY5" fmla="*/ 1291 h 10046"/>
                  <a:gd name="connsiteX6" fmla="*/ 0 w 10030"/>
                  <a:gd name="connsiteY6" fmla="*/ 1285 h 10046"/>
                  <a:gd name="connsiteX7" fmla="*/ 9 w 10030"/>
                  <a:gd name="connsiteY7" fmla="*/ 41 h 10046"/>
                  <a:gd name="connsiteX8" fmla="*/ 2726 w 10030"/>
                  <a:gd name="connsiteY8" fmla="*/ 0 h 10046"/>
                  <a:gd name="connsiteX9" fmla="*/ 2749 w 10030"/>
                  <a:gd name="connsiteY9" fmla="*/ 1269 h 10046"/>
                  <a:gd name="connsiteX10" fmla="*/ 1724 w 10030"/>
                  <a:gd name="connsiteY10" fmla="*/ 1280 h 10046"/>
                  <a:gd name="connsiteX11" fmla="*/ 1755 w 10030"/>
                  <a:gd name="connsiteY11" fmla="*/ 9526 h 10046"/>
                  <a:gd name="connsiteX12" fmla="*/ 8323 w 10030"/>
                  <a:gd name="connsiteY12" fmla="*/ 9453 h 10046"/>
                  <a:gd name="connsiteX13" fmla="*/ 8215 w 10030"/>
                  <a:gd name="connsiteY13" fmla="*/ 7748 h 10046"/>
                  <a:gd name="connsiteX14" fmla="*/ 7157 w 10030"/>
                  <a:gd name="connsiteY14" fmla="*/ 7704 h 10046"/>
                  <a:gd name="connsiteX15" fmla="*/ 7187 w 10030"/>
                  <a:gd name="connsiteY15" fmla="*/ 6171 h 10046"/>
                  <a:gd name="connsiteX16" fmla="*/ 10030 w 10030"/>
                  <a:gd name="connsiteY16" fmla="*/ 6125 h 10046"/>
                  <a:gd name="connsiteX0" fmla="*/ 10030 w 10030"/>
                  <a:gd name="connsiteY0" fmla="*/ 6125 h 10046"/>
                  <a:gd name="connsiteX1" fmla="*/ 9975 w 10030"/>
                  <a:gd name="connsiteY1" fmla="*/ 7815 h 10046"/>
                  <a:gd name="connsiteX2" fmla="*/ 8827 w 10030"/>
                  <a:gd name="connsiteY2" fmla="*/ 7794 h 10046"/>
                  <a:gd name="connsiteX3" fmla="*/ 8775 w 10030"/>
                  <a:gd name="connsiteY3" fmla="*/ 10000 h 10046"/>
                  <a:gd name="connsiteX4" fmla="*/ 1236 w 10030"/>
                  <a:gd name="connsiteY4" fmla="*/ 10046 h 10046"/>
                  <a:gd name="connsiteX5" fmla="*/ 1270 w 10030"/>
                  <a:gd name="connsiteY5" fmla="*/ 1291 h 10046"/>
                  <a:gd name="connsiteX6" fmla="*/ 0 w 10030"/>
                  <a:gd name="connsiteY6" fmla="*/ 1285 h 10046"/>
                  <a:gd name="connsiteX7" fmla="*/ 9 w 10030"/>
                  <a:gd name="connsiteY7" fmla="*/ 41 h 10046"/>
                  <a:gd name="connsiteX8" fmla="*/ 2726 w 10030"/>
                  <a:gd name="connsiteY8" fmla="*/ 0 h 10046"/>
                  <a:gd name="connsiteX9" fmla="*/ 2749 w 10030"/>
                  <a:gd name="connsiteY9" fmla="*/ 1269 h 10046"/>
                  <a:gd name="connsiteX10" fmla="*/ 1724 w 10030"/>
                  <a:gd name="connsiteY10" fmla="*/ 1280 h 10046"/>
                  <a:gd name="connsiteX11" fmla="*/ 1755 w 10030"/>
                  <a:gd name="connsiteY11" fmla="*/ 9526 h 10046"/>
                  <a:gd name="connsiteX12" fmla="*/ 8323 w 10030"/>
                  <a:gd name="connsiteY12" fmla="*/ 9453 h 10046"/>
                  <a:gd name="connsiteX13" fmla="*/ 8215 w 10030"/>
                  <a:gd name="connsiteY13" fmla="*/ 7748 h 10046"/>
                  <a:gd name="connsiteX14" fmla="*/ 7157 w 10030"/>
                  <a:gd name="connsiteY14" fmla="*/ 7704 h 10046"/>
                  <a:gd name="connsiteX15" fmla="*/ 7160 w 10030"/>
                  <a:gd name="connsiteY15" fmla="*/ 6130 h 10046"/>
                  <a:gd name="connsiteX16" fmla="*/ 10030 w 10030"/>
                  <a:gd name="connsiteY16" fmla="*/ 6125 h 1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30" h="10046">
                    <a:moveTo>
                      <a:pt x="10030" y="6125"/>
                    </a:moveTo>
                    <a:cubicBezTo>
                      <a:pt x="10019" y="6648"/>
                      <a:pt x="9986" y="7292"/>
                      <a:pt x="9975" y="7815"/>
                    </a:cubicBezTo>
                    <a:lnTo>
                      <a:pt x="8827" y="7794"/>
                    </a:lnTo>
                    <a:cubicBezTo>
                      <a:pt x="8816" y="8540"/>
                      <a:pt x="8786" y="9254"/>
                      <a:pt x="8775" y="10000"/>
                    </a:cubicBezTo>
                    <a:lnTo>
                      <a:pt x="1236" y="10046"/>
                    </a:lnTo>
                    <a:cubicBezTo>
                      <a:pt x="1247" y="7157"/>
                      <a:pt x="1259" y="4180"/>
                      <a:pt x="1270" y="1291"/>
                    </a:cubicBezTo>
                    <a:lnTo>
                      <a:pt x="0" y="1285"/>
                    </a:lnTo>
                    <a:cubicBezTo>
                      <a:pt x="3" y="870"/>
                      <a:pt x="6" y="456"/>
                      <a:pt x="9" y="41"/>
                    </a:cubicBezTo>
                    <a:lnTo>
                      <a:pt x="2726" y="0"/>
                    </a:lnTo>
                    <a:cubicBezTo>
                      <a:pt x="2715" y="419"/>
                      <a:pt x="2760" y="850"/>
                      <a:pt x="2749" y="1269"/>
                    </a:cubicBezTo>
                    <a:lnTo>
                      <a:pt x="1724" y="1280"/>
                    </a:lnTo>
                    <a:cubicBezTo>
                      <a:pt x="1746" y="4025"/>
                      <a:pt x="1733" y="6781"/>
                      <a:pt x="1755" y="9526"/>
                    </a:cubicBezTo>
                    <a:lnTo>
                      <a:pt x="8323" y="9453"/>
                    </a:lnTo>
                    <a:lnTo>
                      <a:pt x="8215" y="7748"/>
                    </a:lnTo>
                    <a:lnTo>
                      <a:pt x="7157" y="7704"/>
                    </a:lnTo>
                    <a:cubicBezTo>
                      <a:pt x="7179" y="7189"/>
                      <a:pt x="7138" y="6645"/>
                      <a:pt x="7160" y="6130"/>
                    </a:cubicBezTo>
                    <a:lnTo>
                      <a:pt x="10030" y="6125"/>
                    </a:lnTo>
                    <a:close/>
                  </a:path>
                </a:pathLst>
              </a:cu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1" name="Group 26"/>
              <p:cNvGrpSpPr>
                <a:grpSpLocks/>
              </p:cNvGrpSpPr>
              <p:nvPr/>
            </p:nvGrpSpPr>
            <p:grpSpPr bwMode="auto">
              <a:xfrm>
                <a:off x="4098" y="1424"/>
                <a:ext cx="409" cy="170"/>
                <a:chOff x="3808" y="1777"/>
                <a:chExt cx="409" cy="170"/>
              </a:xfrm>
            </p:grpSpPr>
            <p:grpSp>
              <p:nvGrpSpPr>
                <p:cNvPr id="131" name="Group 27"/>
                <p:cNvGrpSpPr>
                  <a:grpSpLocks/>
                </p:cNvGrpSpPr>
                <p:nvPr/>
              </p:nvGrpSpPr>
              <p:grpSpPr bwMode="auto">
                <a:xfrm>
                  <a:off x="3921" y="1777"/>
                  <a:ext cx="182" cy="170"/>
                  <a:chOff x="3067" y="1097"/>
                  <a:chExt cx="182" cy="170"/>
                </a:xfrm>
              </p:grpSpPr>
              <p:sp>
                <p:nvSpPr>
                  <p:cNvPr id="133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3104" y="1246"/>
                    <a:ext cx="9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128" y="1267"/>
                    <a:ext cx="4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" name="AutoShape 30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6" y="1097"/>
                    <a:ext cx="136" cy="9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8575" algn="ctr">
                    <a:solidFill>
                      <a:srgbClr val="0000FF"/>
                    </a:solidFill>
                    <a:miter lim="800000"/>
                    <a:headEnd/>
                    <a:tailEnd/>
                  </a:ln>
                </p:spPr>
                <p:txBody>
                  <a:bodyPr wrap="none" lIns="0" rIns="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3067" y="1222"/>
                    <a:ext cx="18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2" name="Line 32"/>
                <p:cNvSpPr>
                  <a:spLocks noChangeShapeType="1"/>
                </p:cNvSpPr>
                <p:nvPr/>
              </p:nvSpPr>
              <p:spPr bwMode="auto">
                <a:xfrm>
                  <a:off x="3808" y="1877"/>
                  <a:ext cx="409" cy="0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22" name="Freeform 33"/>
              <p:cNvSpPr>
                <a:spLocks/>
              </p:cNvSpPr>
              <p:nvPr/>
            </p:nvSpPr>
            <p:spPr bwMode="auto">
              <a:xfrm>
                <a:off x="4500" y="1519"/>
                <a:ext cx="127" cy="196"/>
              </a:xfrm>
              <a:custGeom>
                <a:avLst/>
                <a:gdLst>
                  <a:gd name="T0" fmla="*/ 0 w 109"/>
                  <a:gd name="T1" fmla="*/ 196 h 196"/>
                  <a:gd name="T2" fmla="*/ 109 w 109"/>
                  <a:gd name="T3" fmla="*/ 196 h 196"/>
                  <a:gd name="T4" fmla="*/ 109 w 109"/>
                  <a:gd name="T5" fmla="*/ 0 h 196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196"/>
                  <a:gd name="T11" fmla="*/ 109 w 109"/>
                  <a:gd name="T12" fmla="*/ 196 h 1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196">
                    <a:moveTo>
                      <a:pt x="0" y="196"/>
                    </a:moveTo>
                    <a:lnTo>
                      <a:pt x="109" y="196"/>
                    </a:lnTo>
                    <a:lnTo>
                      <a:pt x="109" y="0"/>
                    </a:lnTo>
                  </a:path>
                </a:pathLst>
              </a:custGeom>
              <a:noFill/>
              <a:ln w="73025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34"/>
              <p:cNvSpPr>
                <a:spLocks/>
              </p:cNvSpPr>
              <p:nvPr/>
            </p:nvSpPr>
            <p:spPr bwMode="auto">
              <a:xfrm>
                <a:off x="4513" y="1522"/>
                <a:ext cx="289" cy="751"/>
              </a:xfrm>
              <a:custGeom>
                <a:avLst/>
                <a:gdLst>
                  <a:gd name="T0" fmla="*/ 0 w 284"/>
                  <a:gd name="T1" fmla="*/ 751 h 751"/>
                  <a:gd name="T2" fmla="*/ 281 w 284"/>
                  <a:gd name="T3" fmla="*/ 751 h 751"/>
                  <a:gd name="T4" fmla="*/ 284 w 284"/>
                  <a:gd name="T5" fmla="*/ 0 h 751"/>
                  <a:gd name="T6" fmla="*/ 0 60000 65536"/>
                  <a:gd name="T7" fmla="*/ 0 60000 65536"/>
                  <a:gd name="T8" fmla="*/ 0 60000 65536"/>
                  <a:gd name="T9" fmla="*/ 0 w 284"/>
                  <a:gd name="T10" fmla="*/ 0 h 751"/>
                  <a:gd name="T11" fmla="*/ 284 w 284"/>
                  <a:gd name="T12" fmla="*/ 751 h 7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4" h="751">
                    <a:moveTo>
                      <a:pt x="0" y="751"/>
                    </a:moveTo>
                    <a:lnTo>
                      <a:pt x="281" y="751"/>
                    </a:lnTo>
                    <a:lnTo>
                      <a:pt x="284" y="0"/>
                    </a:lnTo>
                  </a:path>
                </a:pathLst>
              </a:custGeom>
              <a:noFill/>
              <a:ln w="57150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24" name="Group 35"/>
              <p:cNvGrpSpPr>
                <a:grpSpLocks/>
              </p:cNvGrpSpPr>
              <p:nvPr/>
            </p:nvGrpSpPr>
            <p:grpSpPr bwMode="auto">
              <a:xfrm>
                <a:off x="3032" y="1418"/>
                <a:ext cx="409" cy="166"/>
                <a:chOff x="2742" y="1771"/>
                <a:chExt cx="409" cy="166"/>
              </a:xfrm>
            </p:grpSpPr>
            <p:grpSp>
              <p:nvGrpSpPr>
                <p:cNvPr id="125" name="Group 36"/>
                <p:cNvGrpSpPr>
                  <a:grpSpLocks/>
                </p:cNvGrpSpPr>
                <p:nvPr/>
              </p:nvGrpSpPr>
              <p:grpSpPr bwMode="auto">
                <a:xfrm>
                  <a:off x="2855" y="1771"/>
                  <a:ext cx="182" cy="166"/>
                  <a:chOff x="3067" y="1101"/>
                  <a:chExt cx="182" cy="166"/>
                </a:xfrm>
              </p:grpSpPr>
              <p:sp>
                <p:nvSpPr>
                  <p:cNvPr id="127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3104" y="1246"/>
                    <a:ext cx="9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3128" y="1267"/>
                    <a:ext cx="4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" name="AutoShape 3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6" y="1101"/>
                    <a:ext cx="136" cy="9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8575" algn="ctr">
                    <a:solidFill>
                      <a:srgbClr val="0000FF"/>
                    </a:solidFill>
                    <a:miter lim="800000"/>
                    <a:headEnd/>
                    <a:tailEnd/>
                  </a:ln>
                </p:spPr>
                <p:txBody>
                  <a:bodyPr wrap="none" lIns="0" rIns="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3067" y="1222"/>
                    <a:ext cx="18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6" name="Line 41"/>
                <p:cNvSpPr>
                  <a:spLocks noChangeShapeType="1"/>
                </p:cNvSpPr>
                <p:nvPr/>
              </p:nvSpPr>
              <p:spPr bwMode="auto">
                <a:xfrm>
                  <a:off x="2742" y="1872"/>
                  <a:ext cx="409" cy="0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7" name="Group 42"/>
            <p:cNvGrpSpPr>
              <a:grpSpLocks/>
            </p:cNvGrpSpPr>
            <p:nvPr/>
          </p:nvGrpSpPr>
          <p:grpSpPr bwMode="auto">
            <a:xfrm>
              <a:off x="5472111" y="2351882"/>
              <a:ext cx="3467100" cy="1403350"/>
              <a:chOff x="3431" y="1469"/>
              <a:chExt cx="2184" cy="884"/>
            </a:xfrm>
          </p:grpSpPr>
          <p:sp>
            <p:nvSpPr>
              <p:cNvPr id="138" name="Line 43"/>
              <p:cNvSpPr>
                <a:spLocks noChangeShapeType="1"/>
              </p:cNvSpPr>
              <p:nvPr/>
            </p:nvSpPr>
            <p:spPr bwMode="auto">
              <a:xfrm>
                <a:off x="4907" y="1525"/>
                <a:ext cx="227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 44"/>
              <p:cNvSpPr>
                <a:spLocks/>
              </p:cNvSpPr>
              <p:nvPr/>
            </p:nvSpPr>
            <p:spPr bwMode="auto">
              <a:xfrm>
                <a:off x="4999" y="1525"/>
                <a:ext cx="18" cy="731"/>
              </a:xfrm>
              <a:custGeom>
                <a:avLst/>
                <a:gdLst>
                  <a:gd name="T0" fmla="*/ 18 w 18"/>
                  <a:gd name="T1" fmla="*/ 0 h 731"/>
                  <a:gd name="T2" fmla="*/ 0 w 18"/>
                  <a:gd name="T3" fmla="*/ 731 h 731"/>
                  <a:gd name="T4" fmla="*/ 0 60000 65536"/>
                  <a:gd name="T5" fmla="*/ 0 60000 65536"/>
                  <a:gd name="T6" fmla="*/ 0 w 18"/>
                  <a:gd name="T7" fmla="*/ 0 h 731"/>
                  <a:gd name="T8" fmla="*/ 18 w 18"/>
                  <a:gd name="T9" fmla="*/ 731 h 73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" h="731">
                    <a:moveTo>
                      <a:pt x="18" y="0"/>
                    </a:moveTo>
                    <a:lnTo>
                      <a:pt x="0" y="731"/>
                    </a:lnTo>
                  </a:path>
                </a:pathLst>
              </a:custGeom>
              <a:noFill/>
              <a:ln w="12700">
                <a:solidFill>
                  <a:srgbClr val="333333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" name="Text Box 45"/>
              <p:cNvSpPr txBox="1">
                <a:spLocks noChangeArrowheads="1"/>
              </p:cNvSpPr>
              <p:nvPr/>
            </p:nvSpPr>
            <p:spPr bwMode="auto">
              <a:xfrm>
                <a:off x="5071" y="1716"/>
                <a:ext cx="47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 smtClean="0"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="1" baseline="-25000" dirty="0" smtClean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b="1" i="1" dirty="0" smtClean="0">
                    <a:cs typeface="Times New Roman" panose="02020603050405020304" pitchFamily="18" charset="0"/>
                  </a:rPr>
                  <a:t>=h</a:t>
                </a:r>
                <a:r>
                  <a:rPr lang="en-US" altLang="zh-CN" sz="2400" b="1" baseline="-25000" dirty="0" smtClean="0">
                    <a:cs typeface="Times New Roman" panose="02020603050405020304" pitchFamily="18" charset="0"/>
                  </a:rPr>
                  <a:t>2</a:t>
                </a:r>
                <a:endParaRPr lang="en-US" altLang="zh-CN" sz="2400" b="1" baseline="-25000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Text Box 46"/>
              <p:cNvSpPr txBox="1">
                <a:spLocks noChangeArrowheads="1"/>
              </p:cNvSpPr>
              <p:nvPr/>
            </p:nvSpPr>
            <p:spPr bwMode="auto">
              <a:xfrm>
                <a:off x="5534" y="2159"/>
                <a:ext cx="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2" name="Text Box 47"/>
              <p:cNvSpPr txBox="1">
                <a:spLocks noChangeArrowheads="1"/>
              </p:cNvSpPr>
              <p:nvPr/>
            </p:nvSpPr>
            <p:spPr bwMode="auto">
              <a:xfrm>
                <a:off x="3431" y="2159"/>
                <a:ext cx="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3" name="Line 48"/>
              <p:cNvSpPr>
                <a:spLocks noChangeShapeType="1"/>
              </p:cNvSpPr>
              <p:nvPr/>
            </p:nvSpPr>
            <p:spPr bwMode="auto">
              <a:xfrm>
                <a:off x="3834" y="1523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49"/>
              <p:cNvSpPr>
                <a:spLocks/>
              </p:cNvSpPr>
              <p:nvPr/>
            </p:nvSpPr>
            <p:spPr bwMode="auto">
              <a:xfrm>
                <a:off x="3926" y="1517"/>
                <a:ext cx="1" cy="203"/>
              </a:xfrm>
              <a:custGeom>
                <a:avLst/>
                <a:gdLst>
                  <a:gd name="T0" fmla="*/ 0 w 1"/>
                  <a:gd name="T1" fmla="*/ 0 h 203"/>
                  <a:gd name="T2" fmla="*/ 0 w 1"/>
                  <a:gd name="T3" fmla="*/ 203 h 203"/>
                  <a:gd name="T4" fmla="*/ 0 60000 65536"/>
                  <a:gd name="T5" fmla="*/ 0 60000 65536"/>
                  <a:gd name="T6" fmla="*/ 0 w 1"/>
                  <a:gd name="T7" fmla="*/ 0 h 203"/>
                  <a:gd name="T8" fmla="*/ 1 w 1"/>
                  <a:gd name="T9" fmla="*/ 203 h 20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03">
                    <a:moveTo>
                      <a:pt x="0" y="0"/>
                    </a:moveTo>
                    <a:lnTo>
                      <a:pt x="0" y="203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" name="Text Box 50"/>
              <p:cNvSpPr txBox="1">
                <a:spLocks noChangeArrowheads="1"/>
              </p:cNvSpPr>
              <p:nvPr/>
            </p:nvSpPr>
            <p:spPr bwMode="auto">
              <a:xfrm>
                <a:off x="3659" y="1469"/>
                <a:ext cx="168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 err="1">
                    <a:cs typeface="Times New Roman" panose="02020603050405020304" pitchFamily="18" charset="0"/>
                  </a:rPr>
                  <a:t>h</a:t>
                </a:r>
                <a:r>
                  <a:rPr lang="en-US" altLang="zh-CN" sz="2000" b="1" baseline="-25000" dirty="0" err="1">
                    <a:cs typeface="Times New Roman" panose="02020603050405020304" pitchFamily="18" charset="0"/>
                  </a:rPr>
                  <a:t>w</a:t>
                </a:r>
                <a:endParaRPr lang="en-US" altLang="zh-CN" sz="2000" b="1" baseline="-25000" dirty="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6" name="Group 51"/>
            <p:cNvGrpSpPr>
              <a:grpSpLocks/>
            </p:cNvGrpSpPr>
            <p:nvPr/>
          </p:nvGrpSpPr>
          <p:grpSpPr bwMode="auto">
            <a:xfrm>
              <a:off x="4835523" y="775494"/>
              <a:ext cx="3940175" cy="3595688"/>
              <a:chOff x="3030" y="476"/>
              <a:chExt cx="2482" cy="2265"/>
            </a:xfrm>
          </p:grpSpPr>
          <p:sp>
            <p:nvSpPr>
              <p:cNvPr id="147" name="Line 52"/>
              <p:cNvSpPr>
                <a:spLocks noChangeShapeType="1"/>
              </p:cNvSpPr>
              <p:nvPr/>
            </p:nvSpPr>
            <p:spPr bwMode="auto">
              <a:xfrm>
                <a:off x="3562" y="2261"/>
                <a:ext cx="1950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8" name="Text Box 53"/>
              <p:cNvSpPr txBox="1">
                <a:spLocks noChangeArrowheads="1"/>
              </p:cNvSpPr>
              <p:nvPr/>
            </p:nvSpPr>
            <p:spPr bwMode="auto">
              <a:xfrm>
                <a:off x="3785" y="1832"/>
                <a:ext cx="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>
                    <a:cs typeface="Times New Roman" panose="02020603050405020304" pitchFamily="18" charset="0"/>
                  </a:rPr>
                  <a:t>L</a:t>
                </a:r>
              </a:p>
            </p:txBody>
          </p:sp>
          <p:grpSp>
            <p:nvGrpSpPr>
              <p:cNvPr id="149" name="Group 54"/>
              <p:cNvGrpSpPr>
                <a:grpSpLocks/>
              </p:cNvGrpSpPr>
              <p:nvPr/>
            </p:nvGrpSpPr>
            <p:grpSpPr bwMode="auto">
              <a:xfrm>
                <a:off x="3030" y="476"/>
                <a:ext cx="2029" cy="2265"/>
                <a:chOff x="3030" y="476"/>
                <a:chExt cx="2029" cy="2265"/>
              </a:xfrm>
            </p:grpSpPr>
            <p:grpSp>
              <p:nvGrpSpPr>
                <p:cNvPr id="150" name="Group 55"/>
                <p:cNvGrpSpPr>
                  <a:grpSpLocks/>
                </p:cNvGrpSpPr>
                <p:nvPr/>
              </p:nvGrpSpPr>
              <p:grpSpPr bwMode="auto">
                <a:xfrm>
                  <a:off x="3030" y="701"/>
                  <a:ext cx="1797" cy="2040"/>
                  <a:chOff x="1713" y="918"/>
                  <a:chExt cx="1797" cy="2040"/>
                </a:xfrm>
              </p:grpSpPr>
              <p:sp>
                <p:nvSpPr>
                  <p:cNvPr id="162" name="Freeform 56"/>
                  <p:cNvSpPr>
                    <a:spLocks/>
                  </p:cNvSpPr>
                  <p:nvPr/>
                </p:nvSpPr>
                <p:spPr bwMode="auto">
                  <a:xfrm>
                    <a:off x="1973" y="1730"/>
                    <a:ext cx="973" cy="1162"/>
                  </a:xfrm>
                  <a:custGeom>
                    <a:avLst/>
                    <a:gdLst>
                      <a:gd name="T0" fmla="*/ 807 w 973"/>
                      <a:gd name="T1" fmla="*/ 0 h 1162"/>
                      <a:gd name="T2" fmla="*/ 805 w 973"/>
                      <a:gd name="T3" fmla="*/ 946 h 1162"/>
                      <a:gd name="T4" fmla="*/ 967 w 973"/>
                      <a:gd name="T5" fmla="*/ 946 h 1162"/>
                      <a:gd name="T6" fmla="*/ 973 w 973"/>
                      <a:gd name="T7" fmla="*/ 1159 h 1162"/>
                      <a:gd name="T8" fmla="*/ 4 w 973"/>
                      <a:gd name="T9" fmla="*/ 1162 h 1162"/>
                      <a:gd name="T10" fmla="*/ 0 w 973"/>
                      <a:gd name="T11" fmla="*/ 158 h 1162"/>
                      <a:gd name="T12" fmla="*/ 151 w 973"/>
                      <a:gd name="T13" fmla="*/ 154 h 1162"/>
                      <a:gd name="T14" fmla="*/ 151 w 973"/>
                      <a:gd name="T15" fmla="*/ 1 h 116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973"/>
                      <a:gd name="T25" fmla="*/ 0 h 1162"/>
                      <a:gd name="T26" fmla="*/ 973 w 973"/>
                      <a:gd name="T27" fmla="*/ 1162 h 116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973" h="1162">
                        <a:moveTo>
                          <a:pt x="807" y="0"/>
                        </a:moveTo>
                        <a:lnTo>
                          <a:pt x="805" y="946"/>
                        </a:lnTo>
                        <a:lnTo>
                          <a:pt x="967" y="946"/>
                        </a:lnTo>
                        <a:lnTo>
                          <a:pt x="973" y="1159"/>
                        </a:lnTo>
                        <a:lnTo>
                          <a:pt x="4" y="1162"/>
                        </a:lnTo>
                        <a:lnTo>
                          <a:pt x="0" y="158"/>
                        </a:lnTo>
                        <a:lnTo>
                          <a:pt x="151" y="154"/>
                        </a:lnTo>
                        <a:lnTo>
                          <a:pt x="151" y="1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Freeform 57"/>
                  <p:cNvSpPr>
                    <a:spLocks/>
                  </p:cNvSpPr>
                  <p:nvPr/>
                </p:nvSpPr>
                <p:spPr bwMode="auto">
                  <a:xfrm>
                    <a:off x="1713" y="921"/>
                    <a:ext cx="1797" cy="2037"/>
                  </a:xfrm>
                  <a:custGeom>
                    <a:avLst/>
                    <a:gdLst>
                      <a:gd name="T0" fmla="*/ 0 w 1797"/>
                      <a:gd name="T1" fmla="*/ 804 h 2037"/>
                      <a:gd name="T2" fmla="*/ 0 w 1797"/>
                      <a:gd name="T3" fmla="*/ 966 h 2037"/>
                      <a:gd name="T4" fmla="*/ 186 w 1797"/>
                      <a:gd name="T5" fmla="*/ 969 h 2037"/>
                      <a:gd name="T6" fmla="*/ 183 w 1797"/>
                      <a:gd name="T7" fmla="*/ 2035 h 2037"/>
                      <a:gd name="T8" fmla="*/ 1311 w 1797"/>
                      <a:gd name="T9" fmla="*/ 2037 h 2037"/>
                      <a:gd name="T10" fmla="*/ 1311 w 1797"/>
                      <a:gd name="T11" fmla="*/ 1764 h 2037"/>
                      <a:gd name="T12" fmla="*/ 1485 w 1797"/>
                      <a:gd name="T13" fmla="*/ 1764 h 2037"/>
                      <a:gd name="T14" fmla="*/ 1488 w 1797"/>
                      <a:gd name="T15" fmla="*/ 1590 h 2037"/>
                      <a:gd name="T16" fmla="*/ 1790 w 1797"/>
                      <a:gd name="T17" fmla="*/ 1589 h 2037"/>
                      <a:gd name="T18" fmla="*/ 1797 w 1797"/>
                      <a:gd name="T19" fmla="*/ 0 h 203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797"/>
                      <a:gd name="T31" fmla="*/ 0 h 2037"/>
                      <a:gd name="T32" fmla="*/ 1797 w 1797"/>
                      <a:gd name="T33" fmla="*/ 2037 h 203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797" h="2037">
                        <a:moveTo>
                          <a:pt x="0" y="804"/>
                        </a:moveTo>
                        <a:lnTo>
                          <a:pt x="0" y="966"/>
                        </a:lnTo>
                        <a:lnTo>
                          <a:pt x="186" y="969"/>
                        </a:lnTo>
                        <a:lnTo>
                          <a:pt x="183" y="2035"/>
                        </a:lnTo>
                        <a:lnTo>
                          <a:pt x="1311" y="2037"/>
                        </a:lnTo>
                        <a:lnTo>
                          <a:pt x="1311" y="1764"/>
                        </a:lnTo>
                        <a:lnTo>
                          <a:pt x="1485" y="1764"/>
                        </a:lnTo>
                        <a:lnTo>
                          <a:pt x="1488" y="1590"/>
                        </a:lnTo>
                        <a:lnTo>
                          <a:pt x="1790" y="1589"/>
                        </a:lnTo>
                        <a:lnTo>
                          <a:pt x="1797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" name="Freeform 58"/>
                  <p:cNvSpPr>
                    <a:spLocks/>
                  </p:cNvSpPr>
                  <p:nvPr/>
                </p:nvSpPr>
                <p:spPr bwMode="auto">
                  <a:xfrm>
                    <a:off x="3195" y="925"/>
                    <a:ext cx="89" cy="984"/>
                  </a:xfrm>
                  <a:custGeom>
                    <a:avLst/>
                    <a:gdLst>
                      <a:gd name="T0" fmla="*/ 0 w 89"/>
                      <a:gd name="T1" fmla="*/ 811 h 991"/>
                      <a:gd name="T2" fmla="*/ 0 w 89"/>
                      <a:gd name="T3" fmla="*/ 991 h 991"/>
                      <a:gd name="T4" fmla="*/ 89 w 89"/>
                      <a:gd name="T5" fmla="*/ 990 h 991"/>
                      <a:gd name="T6" fmla="*/ 89 w 89"/>
                      <a:gd name="T7" fmla="*/ 0 h 99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9"/>
                      <a:gd name="T13" fmla="*/ 0 h 991"/>
                      <a:gd name="T14" fmla="*/ 89 w 89"/>
                      <a:gd name="T15" fmla="*/ 991 h 99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9" h="991">
                        <a:moveTo>
                          <a:pt x="0" y="811"/>
                        </a:moveTo>
                        <a:lnTo>
                          <a:pt x="0" y="991"/>
                        </a:lnTo>
                        <a:lnTo>
                          <a:pt x="89" y="990"/>
                        </a:lnTo>
                        <a:lnTo>
                          <a:pt x="89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" name="Freeform 59"/>
                  <p:cNvSpPr>
                    <a:spLocks/>
                  </p:cNvSpPr>
                  <p:nvPr/>
                </p:nvSpPr>
                <p:spPr bwMode="auto">
                  <a:xfrm>
                    <a:off x="3194" y="918"/>
                    <a:ext cx="268" cy="1551"/>
                  </a:xfrm>
                  <a:custGeom>
                    <a:avLst/>
                    <a:gdLst>
                      <a:gd name="T0" fmla="*/ 135 w 264"/>
                      <a:gd name="T1" fmla="*/ 6 h 1551"/>
                      <a:gd name="T2" fmla="*/ 135 w 264"/>
                      <a:gd name="T3" fmla="*/ 1035 h 1551"/>
                      <a:gd name="T4" fmla="*/ 0 w 264"/>
                      <a:gd name="T5" fmla="*/ 1032 h 1551"/>
                      <a:gd name="T6" fmla="*/ 0 w 264"/>
                      <a:gd name="T7" fmla="*/ 1551 h 1551"/>
                      <a:gd name="T8" fmla="*/ 264 w 264"/>
                      <a:gd name="T9" fmla="*/ 1551 h 1551"/>
                      <a:gd name="T10" fmla="*/ 264 w 264"/>
                      <a:gd name="T11" fmla="*/ 0 h 155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64"/>
                      <a:gd name="T19" fmla="*/ 0 h 1551"/>
                      <a:gd name="T20" fmla="*/ 264 w 264"/>
                      <a:gd name="T21" fmla="*/ 1551 h 1551"/>
                      <a:gd name="connsiteX0" fmla="*/ 5266 w 10152"/>
                      <a:gd name="connsiteY0" fmla="*/ 39 h 10000"/>
                      <a:gd name="connsiteX1" fmla="*/ 5266 w 10152"/>
                      <a:gd name="connsiteY1" fmla="*/ 6673 h 10000"/>
                      <a:gd name="connsiteX2" fmla="*/ 0 w 10152"/>
                      <a:gd name="connsiteY2" fmla="*/ 6680 h 10000"/>
                      <a:gd name="connsiteX3" fmla="*/ 152 w 10152"/>
                      <a:gd name="connsiteY3" fmla="*/ 10000 h 10000"/>
                      <a:gd name="connsiteX4" fmla="*/ 10152 w 10152"/>
                      <a:gd name="connsiteY4" fmla="*/ 10000 h 10000"/>
                      <a:gd name="connsiteX5" fmla="*/ 10152 w 10152"/>
                      <a:gd name="connsiteY5" fmla="*/ 0 h 1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152" h="10000">
                        <a:moveTo>
                          <a:pt x="5266" y="39"/>
                        </a:moveTo>
                        <a:lnTo>
                          <a:pt x="5266" y="6673"/>
                        </a:lnTo>
                        <a:lnTo>
                          <a:pt x="0" y="6680"/>
                        </a:lnTo>
                        <a:cubicBezTo>
                          <a:pt x="51" y="7787"/>
                          <a:pt x="101" y="8893"/>
                          <a:pt x="152" y="10000"/>
                        </a:cubicBezTo>
                        <a:lnTo>
                          <a:pt x="10152" y="10000"/>
                        </a:lnTo>
                        <a:lnTo>
                          <a:pt x="10152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1" name="Freeform 60"/>
                <p:cNvSpPr>
                  <a:spLocks/>
                </p:cNvSpPr>
                <p:nvPr/>
              </p:nvSpPr>
              <p:spPr bwMode="auto">
                <a:xfrm>
                  <a:off x="3924" y="1716"/>
                  <a:ext cx="1" cy="550"/>
                </a:xfrm>
                <a:custGeom>
                  <a:avLst/>
                  <a:gdLst>
                    <a:gd name="T0" fmla="*/ 1 w 1"/>
                    <a:gd name="T1" fmla="*/ 0 h 550"/>
                    <a:gd name="T2" fmla="*/ 0 w 1"/>
                    <a:gd name="T3" fmla="*/ 550 h 550"/>
                    <a:gd name="T4" fmla="*/ 0 60000 65536"/>
                    <a:gd name="T5" fmla="*/ 0 60000 65536"/>
                    <a:gd name="T6" fmla="*/ 0 w 1"/>
                    <a:gd name="T7" fmla="*/ 0 h 550"/>
                    <a:gd name="T8" fmla="*/ 1 w 1"/>
                    <a:gd name="T9" fmla="*/ 550 h 55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550">
                      <a:moveTo>
                        <a:pt x="1" y="0"/>
                      </a:moveTo>
                      <a:lnTo>
                        <a:pt x="0" y="55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" name="Line 61"/>
                <p:cNvSpPr>
                  <a:spLocks noChangeShapeType="1"/>
                </p:cNvSpPr>
                <p:nvPr/>
              </p:nvSpPr>
              <p:spPr bwMode="auto">
                <a:xfrm>
                  <a:off x="3834" y="1716"/>
                  <a:ext cx="22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53" name="Group 62"/>
                <p:cNvGrpSpPr>
                  <a:grpSpLocks/>
                </p:cNvGrpSpPr>
                <p:nvPr/>
              </p:nvGrpSpPr>
              <p:grpSpPr bwMode="auto">
                <a:xfrm>
                  <a:off x="4099" y="1720"/>
                  <a:ext cx="412" cy="554"/>
                  <a:chOff x="3809" y="2073"/>
                  <a:chExt cx="412" cy="554"/>
                </a:xfrm>
              </p:grpSpPr>
              <p:sp>
                <p:nvSpPr>
                  <p:cNvPr id="160" name="Freeform 63"/>
                  <p:cNvSpPr>
                    <a:spLocks/>
                  </p:cNvSpPr>
                  <p:nvPr/>
                </p:nvSpPr>
                <p:spPr bwMode="auto">
                  <a:xfrm>
                    <a:off x="3809" y="2073"/>
                    <a:ext cx="412" cy="554"/>
                  </a:xfrm>
                  <a:custGeom>
                    <a:avLst/>
                    <a:gdLst>
                      <a:gd name="T0" fmla="*/ 408 w 412"/>
                      <a:gd name="T1" fmla="*/ 0 h 554"/>
                      <a:gd name="T2" fmla="*/ 412 w 412"/>
                      <a:gd name="T3" fmla="*/ 550 h 554"/>
                      <a:gd name="T4" fmla="*/ 0 w 412"/>
                      <a:gd name="T5" fmla="*/ 554 h 554"/>
                      <a:gd name="T6" fmla="*/ 4 w 412"/>
                      <a:gd name="T7" fmla="*/ 0 h 554"/>
                      <a:gd name="T8" fmla="*/ 408 w 412"/>
                      <a:gd name="T9" fmla="*/ 0 h 55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2"/>
                      <a:gd name="T16" fmla="*/ 0 h 554"/>
                      <a:gd name="T17" fmla="*/ 412 w 412"/>
                      <a:gd name="T18" fmla="*/ 554 h 554"/>
                      <a:gd name="connsiteX0" fmla="*/ 10003 w 10003"/>
                      <a:gd name="connsiteY0" fmla="*/ 0 h 10000"/>
                      <a:gd name="connsiteX1" fmla="*/ 10000 w 10003"/>
                      <a:gd name="connsiteY1" fmla="*/ 9928 h 10000"/>
                      <a:gd name="connsiteX2" fmla="*/ 0 w 10003"/>
                      <a:gd name="connsiteY2" fmla="*/ 10000 h 10000"/>
                      <a:gd name="connsiteX3" fmla="*/ 97 w 10003"/>
                      <a:gd name="connsiteY3" fmla="*/ 0 h 10000"/>
                      <a:gd name="connsiteX4" fmla="*/ 10003 w 10003"/>
                      <a:gd name="connsiteY4" fmla="*/ 0 h 1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003" h="10000">
                        <a:moveTo>
                          <a:pt x="10003" y="0"/>
                        </a:moveTo>
                        <a:cubicBezTo>
                          <a:pt x="10002" y="3309"/>
                          <a:pt x="10001" y="6619"/>
                          <a:pt x="10000" y="9928"/>
                        </a:cubicBezTo>
                        <a:lnTo>
                          <a:pt x="0" y="10000"/>
                        </a:lnTo>
                        <a:cubicBezTo>
                          <a:pt x="32" y="6667"/>
                          <a:pt x="65" y="3333"/>
                          <a:pt x="97" y="0"/>
                        </a:cubicBezTo>
                        <a:lnTo>
                          <a:pt x="10003" y="0"/>
                        </a:lnTo>
                        <a:close/>
                      </a:path>
                    </a:pathLst>
                  </a:custGeom>
                  <a:solidFill>
                    <a:srgbClr val="FF990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61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16" y="2222"/>
                    <a:ext cx="36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zh-CN" altLang="en-US" sz="2000" b="1">
                        <a:solidFill>
                          <a:srgbClr val="800000"/>
                        </a:solidFill>
                        <a:latin typeface="Arial" charset="0"/>
                      </a:rPr>
                      <a:t>土样</a:t>
                    </a:r>
                  </a:p>
                </p:txBody>
              </p:sp>
            </p:grpSp>
            <p:sp>
              <p:nvSpPr>
                <p:cNvPr id="154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651" y="2442"/>
                  <a:ext cx="40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>
                      <a:latin typeface="Arial" charset="0"/>
                      <a:ea typeface="幼圆" pitchFamily="49" charset="-122"/>
                    </a:rPr>
                    <a:t>滤网</a:t>
                  </a:r>
                </a:p>
              </p:txBody>
            </p:sp>
            <p:sp>
              <p:nvSpPr>
                <p:cNvPr id="155" name="Line 66"/>
                <p:cNvSpPr>
                  <a:spLocks noChangeShapeType="1"/>
                </p:cNvSpPr>
                <p:nvPr/>
              </p:nvSpPr>
              <p:spPr bwMode="auto">
                <a:xfrm flipH="1" flipV="1">
                  <a:off x="4424" y="2261"/>
                  <a:ext cx="227" cy="2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" name="Line 67"/>
                <p:cNvSpPr>
                  <a:spLocks noChangeShapeType="1"/>
                </p:cNvSpPr>
                <p:nvPr/>
              </p:nvSpPr>
              <p:spPr bwMode="auto">
                <a:xfrm>
                  <a:off x="4104" y="2265"/>
                  <a:ext cx="409" cy="0"/>
                </a:xfrm>
                <a:prstGeom prst="line">
                  <a:avLst/>
                </a:prstGeom>
                <a:noFill/>
                <a:ln w="57150">
                  <a:solidFill>
                    <a:srgbClr val="8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3397" y="1207"/>
                  <a:ext cx="529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>
                      <a:solidFill>
                        <a:srgbClr val="800000"/>
                      </a:solidFill>
                      <a:latin typeface="Arial" charset="0"/>
                    </a:rPr>
                    <a:t>贮水器</a:t>
                  </a:r>
                </a:p>
              </p:txBody>
            </p:sp>
            <p:sp>
              <p:nvSpPr>
                <p:cNvPr id="158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562" y="476"/>
                  <a:ext cx="81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000" b="1" dirty="0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59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738" y="476"/>
                  <a:ext cx="90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000" b="1" dirty="0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5519703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50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501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01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0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50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50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50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0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0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0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50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50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1186" grpId="0" animBg="1"/>
      <p:bldP spid="1501291" grpId="0"/>
      <p:bldP spid="1501292" grpId="0"/>
      <p:bldP spid="1501293" grpId="0"/>
      <p:bldP spid="1501294" grpId="0"/>
      <p:bldP spid="1501295" grpId="0"/>
      <p:bldP spid="1501296" grpId="0"/>
      <p:bldP spid="1501297" grpId="0"/>
      <p:bldP spid="1501298" grpId="0"/>
      <p:bldP spid="150129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3159125" y="5870575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02212" name="Rectangle 4"/>
          <p:cNvSpPr>
            <a:spLocks noChangeArrowheads="1"/>
          </p:cNvSpPr>
          <p:nvPr/>
        </p:nvSpPr>
        <p:spPr bwMode="auto">
          <a:xfrm>
            <a:off x="0" y="717550"/>
            <a:ext cx="9144000" cy="3754438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41320" y="1955799"/>
            <a:ext cx="2074863" cy="1524000"/>
            <a:chOff x="324" y="1232"/>
            <a:chExt cx="1307" cy="960"/>
          </a:xfrm>
        </p:grpSpPr>
        <p:sp>
          <p:nvSpPr>
            <p:cNvPr id="70773" name="Rectangle 6"/>
            <p:cNvSpPr>
              <a:spLocks noChangeArrowheads="1"/>
            </p:cNvSpPr>
            <p:nvPr/>
          </p:nvSpPr>
          <p:spPr bwMode="auto">
            <a:xfrm>
              <a:off x="996" y="1232"/>
              <a:ext cx="635" cy="953"/>
            </a:xfrm>
            <a:prstGeom prst="rect">
              <a:avLst/>
            </a:prstGeom>
            <a:solidFill>
              <a:srgbClr val="3333FF"/>
            </a:solidFill>
            <a:ln w="12700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0774" name="Group 7"/>
            <p:cNvGrpSpPr>
              <a:grpSpLocks/>
            </p:cNvGrpSpPr>
            <p:nvPr/>
          </p:nvGrpSpPr>
          <p:grpSpPr bwMode="auto">
            <a:xfrm>
              <a:off x="983" y="1232"/>
              <a:ext cx="643" cy="960"/>
              <a:chOff x="1970" y="1207"/>
              <a:chExt cx="643" cy="960"/>
            </a:xfrm>
          </p:grpSpPr>
          <p:sp>
            <p:nvSpPr>
              <p:cNvPr id="70776" name="Freeform 8" descr="软木塞"/>
              <p:cNvSpPr>
                <a:spLocks/>
              </p:cNvSpPr>
              <p:nvPr/>
            </p:nvSpPr>
            <p:spPr bwMode="auto">
              <a:xfrm>
                <a:off x="1973" y="1207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77" name="Freeform 9" descr="软木塞"/>
              <p:cNvSpPr>
                <a:spLocks/>
              </p:cNvSpPr>
              <p:nvPr/>
            </p:nvSpPr>
            <p:spPr bwMode="auto">
              <a:xfrm>
                <a:off x="2162" y="1207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78" name="Freeform 10" descr="软木塞"/>
              <p:cNvSpPr>
                <a:spLocks/>
              </p:cNvSpPr>
              <p:nvPr/>
            </p:nvSpPr>
            <p:spPr bwMode="auto">
              <a:xfrm rot="2127360">
                <a:off x="2266" y="1229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79" name="Freeform 11" descr="软木塞"/>
              <p:cNvSpPr>
                <a:spLocks/>
              </p:cNvSpPr>
              <p:nvPr/>
            </p:nvSpPr>
            <p:spPr bwMode="auto">
              <a:xfrm>
                <a:off x="2472" y="1207"/>
                <a:ext cx="136" cy="18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0" name="Freeform 12" descr="软木塞"/>
              <p:cNvSpPr>
                <a:spLocks/>
              </p:cNvSpPr>
              <p:nvPr/>
            </p:nvSpPr>
            <p:spPr bwMode="auto">
              <a:xfrm>
                <a:off x="2418" y="1381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1" name="Freeform 13" descr="软木塞"/>
              <p:cNvSpPr>
                <a:spLocks/>
              </p:cNvSpPr>
              <p:nvPr/>
            </p:nvSpPr>
            <p:spPr bwMode="auto">
              <a:xfrm>
                <a:off x="1973" y="1434"/>
                <a:ext cx="227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2" name="Freeform 14" descr="软木塞"/>
              <p:cNvSpPr>
                <a:spLocks/>
              </p:cNvSpPr>
              <p:nvPr/>
            </p:nvSpPr>
            <p:spPr bwMode="auto">
              <a:xfrm>
                <a:off x="2394" y="2069"/>
                <a:ext cx="214" cy="91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3" name="Freeform 15" descr="软木塞"/>
              <p:cNvSpPr>
                <a:spLocks/>
              </p:cNvSpPr>
              <p:nvPr/>
            </p:nvSpPr>
            <p:spPr bwMode="auto">
              <a:xfrm>
                <a:off x="2186" y="1464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4" name="Freeform 16" descr="软木塞"/>
              <p:cNvSpPr>
                <a:spLocks/>
              </p:cNvSpPr>
              <p:nvPr/>
            </p:nvSpPr>
            <p:spPr bwMode="auto">
              <a:xfrm>
                <a:off x="1970" y="1679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5" name="Freeform 17" descr="软木塞"/>
              <p:cNvSpPr>
                <a:spLocks/>
              </p:cNvSpPr>
              <p:nvPr/>
            </p:nvSpPr>
            <p:spPr bwMode="auto">
              <a:xfrm>
                <a:off x="2159" y="1679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6" name="Freeform 18" descr="软木塞"/>
              <p:cNvSpPr>
                <a:spLocks/>
              </p:cNvSpPr>
              <p:nvPr/>
            </p:nvSpPr>
            <p:spPr bwMode="auto">
              <a:xfrm rot="2127360">
                <a:off x="2263" y="1701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7" name="Freeform 19" descr="软木塞"/>
              <p:cNvSpPr>
                <a:spLocks/>
              </p:cNvSpPr>
              <p:nvPr/>
            </p:nvSpPr>
            <p:spPr bwMode="auto">
              <a:xfrm>
                <a:off x="2469" y="1616"/>
                <a:ext cx="139" cy="245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8" name="Freeform 20" descr="软木塞"/>
              <p:cNvSpPr>
                <a:spLocks/>
              </p:cNvSpPr>
              <p:nvPr/>
            </p:nvSpPr>
            <p:spPr bwMode="auto">
              <a:xfrm>
                <a:off x="2415" y="1853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89" name="Freeform 21" descr="软木塞"/>
              <p:cNvSpPr>
                <a:spLocks/>
              </p:cNvSpPr>
              <p:nvPr/>
            </p:nvSpPr>
            <p:spPr bwMode="auto">
              <a:xfrm>
                <a:off x="1973" y="1888"/>
                <a:ext cx="179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790" name="Freeform 22" descr="软木塞"/>
              <p:cNvSpPr>
                <a:spLocks/>
              </p:cNvSpPr>
              <p:nvPr/>
            </p:nvSpPr>
            <p:spPr bwMode="auto">
              <a:xfrm>
                <a:off x="2145" y="1935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3300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0775" name="Text Box 23" descr="软木塞"/>
            <p:cNvSpPr txBox="1">
              <a:spLocks noChangeArrowheads="1"/>
            </p:cNvSpPr>
            <p:nvPr/>
          </p:nvSpPr>
          <p:spPr bwMode="auto">
            <a:xfrm>
              <a:off x="324" y="1506"/>
              <a:ext cx="48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latin typeface="Arial" charset="0"/>
                </a:rPr>
                <a:t>截面积</a:t>
              </a:r>
              <a:br>
                <a:rPr lang="zh-CN" altLang="en-US" sz="2000" b="1" dirty="0">
                  <a:latin typeface="Arial" charset="0"/>
                </a:rPr>
              </a:br>
              <a:r>
                <a:rPr lang="en-US" altLang="zh-CN" sz="2000" b="1" i="1" dirty="0">
                  <a:cs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cs typeface="Times New Roman" panose="02020603050405020304" pitchFamily="18" charset="0"/>
                </a:rPr>
                <a:t>=1</a:t>
              </a:r>
            </a:p>
          </p:txBody>
        </p:sp>
      </p:grpSp>
      <p:grpSp>
        <p:nvGrpSpPr>
          <p:cNvPr id="4" name="Group 25"/>
          <p:cNvGrpSpPr>
            <a:grpSpLocks noChangeAspect="1"/>
          </p:cNvGrpSpPr>
          <p:nvPr/>
        </p:nvGrpSpPr>
        <p:grpSpPr bwMode="auto">
          <a:xfrm rot="10800000">
            <a:off x="1208120" y="3467100"/>
            <a:ext cx="1008063" cy="449263"/>
            <a:chOff x="1973" y="935"/>
            <a:chExt cx="611" cy="272"/>
          </a:xfrm>
        </p:grpSpPr>
        <p:sp>
          <p:nvSpPr>
            <p:cNvPr id="70763" name="Line 26"/>
            <p:cNvSpPr>
              <a:spLocks noChangeAspect="1" noChangeShapeType="1"/>
            </p:cNvSpPr>
            <p:nvPr/>
          </p:nvSpPr>
          <p:spPr bwMode="auto">
            <a:xfrm>
              <a:off x="197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4" name="Line 27"/>
            <p:cNvSpPr>
              <a:spLocks noChangeAspect="1" noChangeShapeType="1"/>
            </p:cNvSpPr>
            <p:nvPr/>
          </p:nvSpPr>
          <p:spPr bwMode="auto">
            <a:xfrm>
              <a:off x="2040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5" name="Line 28"/>
            <p:cNvSpPr>
              <a:spLocks noChangeAspect="1" noChangeShapeType="1"/>
            </p:cNvSpPr>
            <p:nvPr/>
          </p:nvSpPr>
          <p:spPr bwMode="auto">
            <a:xfrm>
              <a:off x="2109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6" name="Line 29"/>
            <p:cNvSpPr>
              <a:spLocks noChangeAspect="1" noChangeShapeType="1"/>
            </p:cNvSpPr>
            <p:nvPr/>
          </p:nvSpPr>
          <p:spPr bwMode="auto">
            <a:xfrm>
              <a:off x="2176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7" name="Line 30"/>
            <p:cNvSpPr>
              <a:spLocks noChangeAspect="1" noChangeShapeType="1"/>
            </p:cNvSpPr>
            <p:nvPr/>
          </p:nvSpPr>
          <p:spPr bwMode="auto">
            <a:xfrm>
              <a:off x="224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8" name="Line 31"/>
            <p:cNvSpPr>
              <a:spLocks noChangeAspect="1" noChangeShapeType="1"/>
            </p:cNvSpPr>
            <p:nvPr/>
          </p:nvSpPr>
          <p:spPr bwMode="auto">
            <a:xfrm>
              <a:off x="2312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9" name="Line 32"/>
            <p:cNvSpPr>
              <a:spLocks noChangeAspect="1" noChangeShapeType="1"/>
            </p:cNvSpPr>
            <p:nvPr/>
          </p:nvSpPr>
          <p:spPr bwMode="auto">
            <a:xfrm>
              <a:off x="2381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70" name="Line 33"/>
            <p:cNvSpPr>
              <a:spLocks noChangeAspect="1" noChangeShapeType="1"/>
            </p:cNvSpPr>
            <p:nvPr/>
          </p:nvSpPr>
          <p:spPr bwMode="auto">
            <a:xfrm>
              <a:off x="2448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71" name="Line 34"/>
            <p:cNvSpPr>
              <a:spLocks noChangeAspect="1" noChangeShapeType="1"/>
            </p:cNvSpPr>
            <p:nvPr/>
          </p:nvSpPr>
          <p:spPr bwMode="auto">
            <a:xfrm>
              <a:off x="2517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72" name="Line 35"/>
            <p:cNvSpPr>
              <a:spLocks noChangeAspect="1" noChangeShapeType="1"/>
            </p:cNvSpPr>
            <p:nvPr/>
          </p:nvSpPr>
          <p:spPr bwMode="auto">
            <a:xfrm>
              <a:off x="2584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36"/>
          <p:cNvGrpSpPr>
            <a:grpSpLocks noChangeAspect="1"/>
          </p:cNvGrpSpPr>
          <p:nvPr/>
        </p:nvGrpSpPr>
        <p:grpSpPr bwMode="auto">
          <a:xfrm>
            <a:off x="1204945" y="1665288"/>
            <a:ext cx="1008063" cy="288925"/>
            <a:chOff x="1973" y="935"/>
            <a:chExt cx="611" cy="272"/>
          </a:xfrm>
        </p:grpSpPr>
        <p:sp>
          <p:nvSpPr>
            <p:cNvPr id="70753" name="Line 37"/>
            <p:cNvSpPr>
              <a:spLocks noChangeAspect="1" noChangeShapeType="1"/>
            </p:cNvSpPr>
            <p:nvPr/>
          </p:nvSpPr>
          <p:spPr bwMode="auto">
            <a:xfrm>
              <a:off x="197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54" name="Line 38"/>
            <p:cNvSpPr>
              <a:spLocks noChangeAspect="1" noChangeShapeType="1"/>
            </p:cNvSpPr>
            <p:nvPr/>
          </p:nvSpPr>
          <p:spPr bwMode="auto">
            <a:xfrm>
              <a:off x="2040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55" name="Line 39"/>
            <p:cNvSpPr>
              <a:spLocks noChangeAspect="1" noChangeShapeType="1"/>
            </p:cNvSpPr>
            <p:nvPr/>
          </p:nvSpPr>
          <p:spPr bwMode="auto">
            <a:xfrm>
              <a:off x="2109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56" name="Line 40"/>
            <p:cNvSpPr>
              <a:spLocks noChangeAspect="1" noChangeShapeType="1"/>
            </p:cNvSpPr>
            <p:nvPr/>
          </p:nvSpPr>
          <p:spPr bwMode="auto">
            <a:xfrm>
              <a:off x="2176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57" name="Line 41"/>
            <p:cNvSpPr>
              <a:spLocks noChangeAspect="1" noChangeShapeType="1"/>
            </p:cNvSpPr>
            <p:nvPr/>
          </p:nvSpPr>
          <p:spPr bwMode="auto">
            <a:xfrm>
              <a:off x="224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58" name="Line 42"/>
            <p:cNvSpPr>
              <a:spLocks noChangeAspect="1" noChangeShapeType="1"/>
            </p:cNvSpPr>
            <p:nvPr/>
          </p:nvSpPr>
          <p:spPr bwMode="auto">
            <a:xfrm>
              <a:off x="2312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59" name="Line 43"/>
            <p:cNvSpPr>
              <a:spLocks noChangeAspect="1" noChangeShapeType="1"/>
            </p:cNvSpPr>
            <p:nvPr/>
          </p:nvSpPr>
          <p:spPr bwMode="auto">
            <a:xfrm>
              <a:off x="2381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0" name="Line 44"/>
            <p:cNvSpPr>
              <a:spLocks noChangeAspect="1" noChangeShapeType="1"/>
            </p:cNvSpPr>
            <p:nvPr/>
          </p:nvSpPr>
          <p:spPr bwMode="auto">
            <a:xfrm>
              <a:off x="2448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1" name="Line 45"/>
            <p:cNvSpPr>
              <a:spLocks noChangeAspect="1" noChangeShapeType="1"/>
            </p:cNvSpPr>
            <p:nvPr/>
          </p:nvSpPr>
          <p:spPr bwMode="auto">
            <a:xfrm>
              <a:off x="2517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2" name="Line 46"/>
            <p:cNvSpPr>
              <a:spLocks noChangeAspect="1" noChangeShapeType="1"/>
            </p:cNvSpPr>
            <p:nvPr/>
          </p:nvSpPr>
          <p:spPr bwMode="auto">
            <a:xfrm>
              <a:off x="2584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47"/>
          <p:cNvGrpSpPr>
            <a:grpSpLocks noChangeAspect="1"/>
          </p:cNvGrpSpPr>
          <p:nvPr/>
        </p:nvGrpSpPr>
        <p:grpSpPr bwMode="auto">
          <a:xfrm rot="10800000">
            <a:off x="1208120" y="3940175"/>
            <a:ext cx="1008063" cy="215900"/>
            <a:chOff x="1973" y="935"/>
            <a:chExt cx="611" cy="272"/>
          </a:xfrm>
        </p:grpSpPr>
        <p:sp>
          <p:nvSpPr>
            <p:cNvPr id="70743" name="Line 48"/>
            <p:cNvSpPr>
              <a:spLocks noChangeAspect="1" noChangeShapeType="1"/>
            </p:cNvSpPr>
            <p:nvPr/>
          </p:nvSpPr>
          <p:spPr bwMode="auto">
            <a:xfrm>
              <a:off x="197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44" name="Line 49"/>
            <p:cNvSpPr>
              <a:spLocks noChangeAspect="1" noChangeShapeType="1"/>
            </p:cNvSpPr>
            <p:nvPr/>
          </p:nvSpPr>
          <p:spPr bwMode="auto">
            <a:xfrm>
              <a:off x="2040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45" name="Line 50"/>
            <p:cNvSpPr>
              <a:spLocks noChangeAspect="1" noChangeShapeType="1"/>
            </p:cNvSpPr>
            <p:nvPr/>
          </p:nvSpPr>
          <p:spPr bwMode="auto">
            <a:xfrm>
              <a:off x="2109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46" name="Line 51"/>
            <p:cNvSpPr>
              <a:spLocks noChangeAspect="1" noChangeShapeType="1"/>
            </p:cNvSpPr>
            <p:nvPr/>
          </p:nvSpPr>
          <p:spPr bwMode="auto">
            <a:xfrm>
              <a:off x="2176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47" name="Line 52"/>
            <p:cNvSpPr>
              <a:spLocks noChangeAspect="1" noChangeShapeType="1"/>
            </p:cNvSpPr>
            <p:nvPr/>
          </p:nvSpPr>
          <p:spPr bwMode="auto">
            <a:xfrm>
              <a:off x="2243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48" name="Line 53"/>
            <p:cNvSpPr>
              <a:spLocks noChangeAspect="1" noChangeShapeType="1"/>
            </p:cNvSpPr>
            <p:nvPr/>
          </p:nvSpPr>
          <p:spPr bwMode="auto">
            <a:xfrm>
              <a:off x="2312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49" name="Line 54"/>
            <p:cNvSpPr>
              <a:spLocks noChangeAspect="1" noChangeShapeType="1"/>
            </p:cNvSpPr>
            <p:nvPr/>
          </p:nvSpPr>
          <p:spPr bwMode="auto">
            <a:xfrm>
              <a:off x="2381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50" name="Line 55"/>
            <p:cNvSpPr>
              <a:spLocks noChangeAspect="1" noChangeShapeType="1"/>
            </p:cNvSpPr>
            <p:nvPr/>
          </p:nvSpPr>
          <p:spPr bwMode="auto">
            <a:xfrm>
              <a:off x="2448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51" name="Line 56"/>
            <p:cNvSpPr>
              <a:spLocks noChangeAspect="1" noChangeShapeType="1"/>
            </p:cNvSpPr>
            <p:nvPr/>
          </p:nvSpPr>
          <p:spPr bwMode="auto">
            <a:xfrm>
              <a:off x="2517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52" name="Line 57"/>
            <p:cNvSpPr>
              <a:spLocks noChangeAspect="1" noChangeShapeType="1"/>
            </p:cNvSpPr>
            <p:nvPr/>
          </p:nvSpPr>
          <p:spPr bwMode="auto">
            <a:xfrm>
              <a:off x="2584" y="935"/>
              <a:ext cx="0" cy="27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58"/>
          <p:cNvGrpSpPr>
            <a:grpSpLocks/>
          </p:cNvGrpSpPr>
          <p:nvPr/>
        </p:nvGrpSpPr>
        <p:grpSpPr bwMode="auto">
          <a:xfrm>
            <a:off x="1651033" y="2286000"/>
            <a:ext cx="395287" cy="792163"/>
            <a:chOff x="1285" y="1550"/>
            <a:chExt cx="249" cy="499"/>
          </a:xfrm>
        </p:grpSpPr>
        <p:sp>
          <p:nvSpPr>
            <p:cNvPr id="70741" name="Line 59"/>
            <p:cNvSpPr>
              <a:spLocks noChangeShapeType="1"/>
            </p:cNvSpPr>
            <p:nvPr/>
          </p:nvSpPr>
          <p:spPr bwMode="auto">
            <a:xfrm>
              <a:off x="1285" y="1550"/>
              <a:ext cx="0" cy="499"/>
            </a:xfrm>
            <a:prstGeom prst="line">
              <a:avLst/>
            </a:prstGeom>
            <a:noFill/>
            <a:ln w="76200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42" name="Text Box 60"/>
            <p:cNvSpPr txBox="1">
              <a:spLocks noChangeArrowheads="1"/>
            </p:cNvSpPr>
            <p:nvPr/>
          </p:nvSpPr>
          <p:spPr bwMode="auto">
            <a:xfrm>
              <a:off x="1342" y="170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A50021"/>
                  </a:solidFill>
                  <a:ea typeface="幼圆" pitchFamily="49" charset="-122"/>
                </a:rPr>
                <a:t>W</a:t>
              </a:r>
            </a:p>
          </p:txBody>
        </p:sp>
      </p:grpSp>
      <p:sp>
        <p:nvSpPr>
          <p:cNvPr id="1502269" name="Text Box 61"/>
          <p:cNvSpPr txBox="1">
            <a:spLocks noChangeArrowheads="1"/>
          </p:cNvSpPr>
          <p:nvPr/>
        </p:nvSpPr>
        <p:spPr bwMode="auto">
          <a:xfrm>
            <a:off x="2454308" y="2314575"/>
            <a:ext cx="1748877" cy="822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72000" rIns="0" bIns="720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/>
              <a:t>W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ea typeface="幼圆" pitchFamily="49" charset="-122"/>
              </a:rPr>
              <a:t>= </a:t>
            </a:r>
            <a:r>
              <a:rPr lang="en-US" altLang="zh-CN" sz="2200" b="1" i="1" dirty="0"/>
              <a:t>L </a:t>
            </a:r>
            <a:r>
              <a:rPr lang="el-GR" altLang="zh-CN" sz="2200" b="1" i="1" dirty="0">
                <a:sym typeface="Symbol" pitchFamily="18" charset="2"/>
              </a:rPr>
              <a:t></a:t>
            </a:r>
            <a:r>
              <a:rPr lang="en-US" altLang="zh-CN" sz="2200" b="1" baseline="-25000" dirty="0">
                <a:ea typeface="幼圆" pitchFamily="49" charset="-122"/>
                <a:cs typeface="Arial" charset="0"/>
              </a:rPr>
              <a:t>sat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baseline="-25000" dirty="0">
                <a:ea typeface="幼圆" pitchFamily="49" charset="-122"/>
                <a:cs typeface="Arial" charset="0"/>
              </a:rPr>
              <a:t>      </a:t>
            </a:r>
            <a:r>
              <a:rPr lang="zh-CN" altLang="en-US" sz="2200" b="1" dirty="0">
                <a:ea typeface="幼圆" pitchFamily="49" charset="-122"/>
                <a:cs typeface="Arial" charset="0"/>
              </a:rPr>
              <a:t>＝</a:t>
            </a:r>
            <a:r>
              <a:rPr lang="en-US" altLang="zh-CN" sz="2200" b="1" i="1" dirty="0">
                <a:ea typeface="幼圆" pitchFamily="49" charset="-122"/>
                <a:cs typeface="Arial" charset="0"/>
              </a:rPr>
              <a:t>L</a:t>
            </a:r>
            <a:r>
              <a:rPr lang="en-US" altLang="zh-CN" sz="2200" b="1" dirty="0">
                <a:ea typeface="幼圆" pitchFamily="49" charset="-122"/>
                <a:cs typeface="Arial" charset="0"/>
              </a:rPr>
              <a:t>(</a:t>
            </a:r>
            <a:r>
              <a:rPr lang="el-GR" altLang="zh-CN" sz="2200" b="1" i="1" dirty="0">
                <a:sym typeface="Symbol" pitchFamily="18" charset="2"/>
              </a:rPr>
              <a:t></a:t>
            </a:r>
            <a:r>
              <a:rPr lang="el-GR" altLang="zh-CN" sz="2200" i="1" dirty="0">
                <a:ea typeface="幼圆" pitchFamily="49" charset="-122"/>
              </a:rPr>
              <a:t> </a:t>
            </a:r>
            <a:r>
              <a:rPr lang="el-GR" altLang="zh-CN" sz="2200" b="1" i="1" dirty="0"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200" b="1" dirty="0"/>
              <a:t> +</a:t>
            </a:r>
            <a:r>
              <a:rPr lang="en-US" altLang="zh-CN" sz="2200" b="1" dirty="0">
                <a:ea typeface="幼圆" pitchFamily="49" charset="-122"/>
              </a:rPr>
              <a:t> </a:t>
            </a:r>
            <a:r>
              <a:rPr lang="el-GR" altLang="zh-CN" sz="2200" b="1" i="1" dirty="0">
                <a:ea typeface="幼圆" pitchFamily="49" charset="-122"/>
                <a:sym typeface="Symbol" pitchFamily="18" charset="2"/>
              </a:rPr>
              <a:t></a:t>
            </a:r>
            <a:r>
              <a:rPr lang="en-US" altLang="zh-CN" sz="2200" b="1" baseline="-25000" dirty="0"/>
              <a:t>w</a:t>
            </a:r>
            <a:r>
              <a:rPr lang="en-US" altLang="zh-CN" sz="2200" b="1" dirty="0"/>
              <a:t>)</a:t>
            </a:r>
            <a:endParaRPr lang="el-GR" altLang="zh-CN" sz="2200" b="1" dirty="0"/>
          </a:p>
        </p:txBody>
      </p:sp>
      <p:sp>
        <p:nvSpPr>
          <p:cNvPr id="1502270" name="Text Box 62"/>
          <p:cNvSpPr txBox="1">
            <a:spLocks noChangeArrowheads="1"/>
          </p:cNvSpPr>
          <p:nvPr/>
        </p:nvSpPr>
        <p:spPr bwMode="auto">
          <a:xfrm>
            <a:off x="2457651" y="1552575"/>
            <a:ext cx="1114088" cy="48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72000" rIns="0" bIns="720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 smtClean="0"/>
              <a:t>P</a:t>
            </a:r>
            <a:r>
              <a:rPr lang="en-US" altLang="zh-CN" sz="2200" b="1" baseline="-25000" dirty="0" smtClean="0"/>
              <a:t>1</a:t>
            </a:r>
            <a:r>
              <a:rPr lang="en-US" altLang="zh-CN" sz="2200" b="1" dirty="0" smtClean="0"/>
              <a:t> </a:t>
            </a:r>
            <a:r>
              <a:rPr lang="en-US" altLang="zh-CN" sz="2200" b="1" dirty="0">
                <a:ea typeface="幼圆" pitchFamily="49" charset="-122"/>
              </a:rPr>
              <a:t>=</a:t>
            </a:r>
            <a:r>
              <a:rPr lang="en-US" altLang="zh-CN" sz="2200" b="1" i="1" dirty="0">
                <a:ea typeface="幼圆" pitchFamily="49" charset="-122"/>
              </a:rPr>
              <a:t> </a:t>
            </a:r>
            <a:r>
              <a:rPr lang="el-GR" altLang="zh-CN" sz="2200" b="1" i="1" dirty="0">
                <a:sym typeface="Symbol" pitchFamily="18" charset="2"/>
              </a:rPr>
              <a:t></a:t>
            </a:r>
            <a:r>
              <a:rPr lang="en-US" altLang="zh-CN" sz="2200" b="1" baseline="-25000" dirty="0" err="1"/>
              <a:t>w</a:t>
            </a:r>
            <a:r>
              <a:rPr lang="en-US" altLang="zh-CN" sz="2200" b="1" i="1" dirty="0" err="1"/>
              <a:t>h</a:t>
            </a:r>
            <a:r>
              <a:rPr lang="en-US" altLang="zh-CN" sz="2200" b="1" baseline="-25000" dirty="0" err="1"/>
              <a:t>w</a:t>
            </a:r>
            <a:endParaRPr lang="el-GR" altLang="zh-CN" sz="2200" b="1" baseline="-25000" dirty="0"/>
          </a:p>
        </p:txBody>
      </p:sp>
      <p:sp>
        <p:nvSpPr>
          <p:cNvPr id="1502271" name="Text Box 63"/>
          <p:cNvSpPr txBox="1">
            <a:spLocks noChangeArrowheads="1"/>
          </p:cNvSpPr>
          <p:nvPr/>
        </p:nvSpPr>
        <p:spPr bwMode="auto">
          <a:xfrm>
            <a:off x="2445948" y="3362325"/>
            <a:ext cx="1072408" cy="48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72000" rIns="0" bIns="720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/>
              <a:t>P</a:t>
            </a:r>
            <a:r>
              <a:rPr lang="en-US" altLang="zh-CN" sz="2200" b="1" baseline="-25000" dirty="0"/>
              <a:t>2</a:t>
            </a:r>
            <a:r>
              <a:rPr lang="en-US" altLang="zh-CN" sz="2200" b="1" i="1" dirty="0"/>
              <a:t> </a:t>
            </a:r>
            <a:r>
              <a:rPr lang="en-US" altLang="zh-CN" sz="2200" b="1" dirty="0">
                <a:ea typeface="幼圆" pitchFamily="49" charset="-122"/>
              </a:rPr>
              <a:t>= </a:t>
            </a:r>
            <a:r>
              <a:rPr lang="el-GR" altLang="zh-CN" sz="2200" b="1" i="1" dirty="0">
                <a:sym typeface="Symbol" pitchFamily="18" charset="2"/>
              </a:rPr>
              <a:t></a:t>
            </a:r>
            <a:r>
              <a:rPr lang="en-US" altLang="zh-CN" sz="2200" b="1" baseline="-25000" dirty="0"/>
              <a:t>w</a:t>
            </a:r>
            <a:r>
              <a:rPr lang="en-US" altLang="zh-CN" sz="2200" b="1" i="1" dirty="0"/>
              <a:t>h</a:t>
            </a:r>
            <a:r>
              <a:rPr lang="en-US" altLang="zh-CN" sz="2200" b="1" baseline="-25000" dirty="0"/>
              <a:t>1</a:t>
            </a:r>
            <a:endParaRPr lang="el-GR" altLang="zh-CN" sz="2200" b="1" baseline="-25000" dirty="0"/>
          </a:p>
        </p:txBody>
      </p:sp>
      <p:sp>
        <p:nvSpPr>
          <p:cNvPr id="1502272" name="Text Box 64"/>
          <p:cNvSpPr txBox="1">
            <a:spLocks noChangeArrowheads="1"/>
          </p:cNvSpPr>
          <p:nvPr/>
        </p:nvSpPr>
        <p:spPr bwMode="auto">
          <a:xfrm>
            <a:off x="2506823" y="3895725"/>
            <a:ext cx="62998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>
                <a:solidFill>
                  <a:srgbClr val="A50021"/>
                </a:solidFill>
              </a:rPr>
              <a:t>R</a:t>
            </a:r>
            <a:r>
              <a:rPr lang="en-US" altLang="zh-CN" sz="2200" b="1" dirty="0">
                <a:solidFill>
                  <a:srgbClr val="A50021"/>
                </a:solidFill>
              </a:rPr>
              <a:t> = ?</a:t>
            </a:r>
          </a:p>
        </p:txBody>
      </p:sp>
      <p:sp>
        <p:nvSpPr>
          <p:cNvPr id="1502273" name="Text Box 65"/>
          <p:cNvSpPr txBox="1">
            <a:spLocks noChangeArrowheads="1"/>
          </p:cNvSpPr>
          <p:nvPr/>
        </p:nvSpPr>
        <p:spPr bwMode="auto">
          <a:xfrm>
            <a:off x="1463169" y="4565650"/>
            <a:ext cx="20679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+ </a:t>
            </a:r>
            <a:r>
              <a:rPr lang="en-US" altLang="zh-CN" sz="2400" b="1" i="1" dirty="0">
                <a:solidFill>
                  <a:srgbClr val="000066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2</a:t>
            </a:r>
            <a:r>
              <a:rPr lang="en-US" altLang="zh-CN" sz="2400" b="1" dirty="0">
                <a:solidFill>
                  <a:srgbClr val="000066"/>
                </a:solidFill>
              </a:rPr>
              <a:t> = </a:t>
            </a:r>
            <a:r>
              <a:rPr lang="en-US" altLang="zh-CN" sz="2400" b="1" i="1" dirty="0">
                <a:solidFill>
                  <a:srgbClr val="000066"/>
                </a:solidFill>
              </a:rPr>
              <a:t>W</a:t>
            </a:r>
            <a:r>
              <a:rPr lang="en-US" altLang="zh-CN" sz="2400" b="1" dirty="0">
                <a:solidFill>
                  <a:srgbClr val="000066"/>
                </a:solidFill>
              </a:rPr>
              <a:t> + </a:t>
            </a:r>
            <a:r>
              <a:rPr lang="en-US" altLang="zh-CN" sz="2400" b="1" i="1" dirty="0">
                <a:solidFill>
                  <a:srgbClr val="000066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1</a:t>
            </a:r>
          </a:p>
        </p:txBody>
      </p:sp>
      <p:sp>
        <p:nvSpPr>
          <p:cNvPr id="1502274" name="Text Box 66"/>
          <p:cNvSpPr txBox="1">
            <a:spLocks noChangeArrowheads="1"/>
          </p:cNvSpPr>
          <p:nvPr/>
        </p:nvSpPr>
        <p:spPr bwMode="auto">
          <a:xfrm>
            <a:off x="1444133" y="4989513"/>
            <a:ext cx="35490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+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w</a:t>
            </a:r>
            <a:r>
              <a:rPr lang="en-US" altLang="zh-CN" sz="2400" b="1" i="1" dirty="0">
                <a:solidFill>
                  <a:srgbClr val="000066"/>
                </a:solidFill>
              </a:rPr>
              <a:t>h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1</a:t>
            </a:r>
            <a:r>
              <a:rPr lang="en-US" altLang="zh-CN" sz="2400" b="1" i="1" dirty="0">
                <a:solidFill>
                  <a:srgbClr val="000066"/>
                </a:solidFill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</a:rPr>
              <a:t>= </a:t>
            </a:r>
            <a:r>
              <a:rPr lang="en-US" altLang="zh-CN" sz="2400" b="1" i="1" dirty="0">
                <a:solidFill>
                  <a:srgbClr val="000066"/>
                </a:solidFill>
              </a:rPr>
              <a:t>L</a:t>
            </a:r>
            <a:r>
              <a:rPr lang="en-US" altLang="zh-CN" sz="2400" b="1" dirty="0">
                <a:solidFill>
                  <a:srgbClr val="000066"/>
                </a:solidFill>
              </a:rPr>
              <a:t>(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</a:t>
            </a:r>
            <a:r>
              <a:rPr lang="en-US" altLang="zh-CN" sz="2400" b="1" dirty="0">
                <a:solidFill>
                  <a:srgbClr val="000066"/>
                </a:solidFill>
              </a:rPr>
              <a:t>+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w</a:t>
            </a:r>
            <a:r>
              <a:rPr lang="en-US" altLang="zh-CN" sz="2400" b="1" dirty="0">
                <a:solidFill>
                  <a:srgbClr val="000066"/>
                </a:solidFill>
              </a:rPr>
              <a:t>) +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w</a:t>
            </a:r>
            <a:r>
              <a:rPr lang="en-US" altLang="zh-CN" sz="2400" b="1" i="1" dirty="0" err="1">
                <a:solidFill>
                  <a:srgbClr val="000066"/>
                </a:solidFill>
              </a:rPr>
              <a:t>h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w</a:t>
            </a:r>
            <a:r>
              <a:rPr lang="en-US" altLang="zh-CN" sz="2400" b="1" i="1" dirty="0">
                <a:solidFill>
                  <a:srgbClr val="000066"/>
                </a:solidFill>
              </a:rPr>
              <a:t> </a:t>
            </a:r>
            <a:endParaRPr lang="zh-CN" altLang="en-US" sz="2400" b="1" i="1" dirty="0">
              <a:solidFill>
                <a:srgbClr val="000066"/>
              </a:solidFill>
            </a:endParaRPr>
          </a:p>
        </p:txBody>
      </p:sp>
      <p:sp>
        <p:nvSpPr>
          <p:cNvPr id="1502275" name="Text Box 67"/>
          <p:cNvSpPr txBox="1">
            <a:spLocks noChangeArrowheads="1"/>
          </p:cNvSpPr>
          <p:nvPr/>
        </p:nvSpPr>
        <p:spPr bwMode="auto">
          <a:xfrm>
            <a:off x="6835775" y="4881563"/>
            <a:ext cx="20335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solidFill>
                  <a:srgbClr val="000066"/>
                </a:solidFill>
              </a:rPr>
              <a:t>R</a:t>
            </a:r>
            <a:r>
              <a:rPr lang="en-US" altLang="zh-CN" sz="2800" b="1" dirty="0">
                <a:solidFill>
                  <a:srgbClr val="000066"/>
                </a:solidFill>
              </a:rPr>
              <a:t> = </a:t>
            </a:r>
            <a:r>
              <a:rPr lang="el-GR" altLang="zh-CN" sz="28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800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800" b="1" i="1" dirty="0">
                <a:solidFill>
                  <a:srgbClr val="000066"/>
                </a:solidFill>
              </a:rPr>
              <a:t>L</a:t>
            </a:r>
            <a:r>
              <a:rPr lang="en-US" altLang="zh-CN" sz="2800" b="1" dirty="0">
                <a:solidFill>
                  <a:srgbClr val="000066"/>
                </a:solidFill>
              </a:rPr>
              <a:t> -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w</a:t>
            </a:r>
            <a:r>
              <a:rPr lang="en-US" altLang="zh-CN" sz="2400" b="1" dirty="0" err="1">
                <a:solidFill>
                  <a:srgbClr val="000066"/>
                </a:solidFill>
                <a:sym typeface="Symbol" pitchFamily="18" charset="2"/>
              </a:rPr>
              <a:t></a:t>
            </a:r>
            <a:r>
              <a:rPr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h</a:t>
            </a:r>
            <a:endParaRPr lang="en-US" altLang="zh-CN" sz="2400" b="1" i="1" dirty="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1502276" name="Text Box 68"/>
          <p:cNvSpPr txBox="1">
            <a:spLocks noChangeArrowheads="1"/>
          </p:cNvSpPr>
          <p:nvPr/>
        </p:nvSpPr>
        <p:spPr bwMode="auto">
          <a:xfrm>
            <a:off x="180975" y="817563"/>
            <a:ext cx="45783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土水整体受力分析</a:t>
            </a:r>
            <a:r>
              <a:rPr lang="en-US" altLang="zh-CN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渗流</a:t>
            </a:r>
            <a:endParaRPr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502277" name="AutoShape 69"/>
          <p:cNvSpPr>
            <a:spLocks noChangeArrowheads="1"/>
          </p:cNvSpPr>
          <p:nvPr/>
        </p:nvSpPr>
        <p:spPr bwMode="auto">
          <a:xfrm>
            <a:off x="6015038" y="4829175"/>
            <a:ext cx="582612" cy="471488"/>
          </a:xfrm>
          <a:prstGeom prst="homePlate">
            <a:avLst>
              <a:gd name="adj" fmla="val 30892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6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702360" y="758783"/>
            <a:ext cx="4138795" cy="3598748"/>
            <a:chOff x="4702360" y="758783"/>
            <a:chExt cx="4138795" cy="3598748"/>
          </a:xfrm>
        </p:grpSpPr>
        <p:sp>
          <p:nvSpPr>
            <p:cNvPr id="267" name="Line 6"/>
            <p:cNvSpPr>
              <a:spLocks noChangeShapeType="1"/>
            </p:cNvSpPr>
            <p:nvPr/>
          </p:nvSpPr>
          <p:spPr bwMode="auto">
            <a:xfrm flipV="1">
              <a:off x="7554292" y="1282658"/>
              <a:ext cx="0" cy="1152525"/>
            </a:xfrm>
            <a:prstGeom prst="line">
              <a:avLst/>
            </a:prstGeom>
            <a:noFill/>
            <a:ln w="6032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8" name="Rectangle 24"/>
            <p:cNvSpPr>
              <a:spLocks noChangeArrowheads="1"/>
            </p:cNvSpPr>
            <p:nvPr/>
          </p:nvSpPr>
          <p:spPr bwMode="auto">
            <a:xfrm>
              <a:off x="6434504" y="2422484"/>
              <a:ext cx="658813" cy="312738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" name="Freeform 25"/>
            <p:cNvSpPr>
              <a:spLocks/>
            </p:cNvSpPr>
            <p:nvPr/>
          </p:nvSpPr>
          <p:spPr bwMode="auto">
            <a:xfrm>
              <a:off x="4743817" y="2403435"/>
              <a:ext cx="2359369" cy="1954096"/>
            </a:xfrm>
            <a:custGeom>
              <a:avLst/>
              <a:gdLst>
                <a:gd name="T0" fmla="*/ 1483 w 1483"/>
                <a:gd name="T1" fmla="*/ 758 h 1224"/>
                <a:gd name="T2" fmla="*/ 1478 w 1483"/>
                <a:gd name="T3" fmla="*/ 950 h 1224"/>
                <a:gd name="T4" fmla="*/ 1305 w 1483"/>
                <a:gd name="T5" fmla="*/ 950 h 1224"/>
                <a:gd name="T6" fmla="*/ 1300 w 1483"/>
                <a:gd name="T7" fmla="*/ 1224 h 1224"/>
                <a:gd name="T8" fmla="*/ 182 w 1483"/>
                <a:gd name="T9" fmla="*/ 1219 h 1224"/>
                <a:gd name="T10" fmla="*/ 187 w 1483"/>
                <a:gd name="T11" fmla="*/ 158 h 1224"/>
                <a:gd name="T12" fmla="*/ 0 w 1483"/>
                <a:gd name="T13" fmla="*/ 149 h 1224"/>
                <a:gd name="T14" fmla="*/ 0 w 1483"/>
                <a:gd name="T15" fmla="*/ 5 h 1224"/>
                <a:gd name="T16" fmla="*/ 403 w 1483"/>
                <a:gd name="T17" fmla="*/ 0 h 1224"/>
                <a:gd name="T18" fmla="*/ 398 w 1483"/>
                <a:gd name="T19" fmla="*/ 154 h 1224"/>
                <a:gd name="T20" fmla="*/ 249 w 1483"/>
                <a:gd name="T21" fmla="*/ 158 h 1224"/>
                <a:gd name="T22" fmla="*/ 259 w 1483"/>
                <a:gd name="T23" fmla="*/ 1166 h 1224"/>
                <a:gd name="T24" fmla="*/ 1233 w 1483"/>
                <a:gd name="T25" fmla="*/ 1157 h 1224"/>
                <a:gd name="T26" fmla="*/ 1221 w 1483"/>
                <a:gd name="T27" fmla="*/ 943 h 1224"/>
                <a:gd name="T28" fmla="*/ 1060 w 1483"/>
                <a:gd name="T29" fmla="*/ 943 h 1224"/>
                <a:gd name="T30" fmla="*/ 1070 w 1483"/>
                <a:gd name="T31" fmla="*/ 754 h 1224"/>
                <a:gd name="T32" fmla="*/ 1483 w 1483"/>
                <a:gd name="T33" fmla="*/ 758 h 12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83"/>
                <a:gd name="T52" fmla="*/ 0 h 1224"/>
                <a:gd name="T53" fmla="*/ 1483 w 1483"/>
                <a:gd name="T54" fmla="*/ 1224 h 1224"/>
                <a:gd name="connsiteX0" fmla="*/ 10000 w 10000"/>
                <a:gd name="connsiteY0" fmla="*/ 6193 h 10000"/>
                <a:gd name="connsiteX1" fmla="*/ 9966 w 10000"/>
                <a:gd name="connsiteY1" fmla="*/ 7761 h 10000"/>
                <a:gd name="connsiteX2" fmla="*/ 8800 w 10000"/>
                <a:gd name="connsiteY2" fmla="*/ 7761 h 10000"/>
                <a:gd name="connsiteX3" fmla="*/ 8766 w 10000"/>
                <a:gd name="connsiteY3" fmla="*/ 10000 h 10000"/>
                <a:gd name="connsiteX4" fmla="*/ 1227 w 10000"/>
                <a:gd name="connsiteY4" fmla="*/ 9959 h 10000"/>
                <a:gd name="connsiteX5" fmla="*/ 1261 w 10000"/>
                <a:gd name="connsiteY5" fmla="*/ 1291 h 10000"/>
                <a:gd name="connsiteX6" fmla="*/ 0 w 10000"/>
                <a:gd name="connsiteY6" fmla="*/ 1291 h 10000"/>
                <a:gd name="connsiteX7" fmla="*/ 0 w 10000"/>
                <a:gd name="connsiteY7" fmla="*/ 41 h 10000"/>
                <a:gd name="connsiteX8" fmla="*/ 2717 w 10000"/>
                <a:gd name="connsiteY8" fmla="*/ 0 h 10000"/>
                <a:gd name="connsiteX9" fmla="*/ 2684 w 10000"/>
                <a:gd name="connsiteY9" fmla="*/ 1258 h 10000"/>
                <a:gd name="connsiteX10" fmla="*/ 1679 w 10000"/>
                <a:gd name="connsiteY10" fmla="*/ 1291 h 10000"/>
                <a:gd name="connsiteX11" fmla="*/ 1746 w 10000"/>
                <a:gd name="connsiteY11" fmla="*/ 9526 h 10000"/>
                <a:gd name="connsiteX12" fmla="*/ 8314 w 10000"/>
                <a:gd name="connsiteY12" fmla="*/ 9453 h 10000"/>
                <a:gd name="connsiteX13" fmla="*/ 8233 w 10000"/>
                <a:gd name="connsiteY13" fmla="*/ 7704 h 10000"/>
                <a:gd name="connsiteX14" fmla="*/ 7148 w 10000"/>
                <a:gd name="connsiteY14" fmla="*/ 7704 h 10000"/>
                <a:gd name="connsiteX15" fmla="*/ 7215 w 10000"/>
                <a:gd name="connsiteY15" fmla="*/ 6160 h 10000"/>
                <a:gd name="connsiteX16" fmla="*/ 10000 w 10000"/>
                <a:gd name="connsiteY16" fmla="*/ 6193 h 10000"/>
                <a:gd name="connsiteX0" fmla="*/ 10000 w 10000"/>
                <a:gd name="connsiteY0" fmla="*/ 6193 h 10000"/>
                <a:gd name="connsiteX1" fmla="*/ 9966 w 10000"/>
                <a:gd name="connsiteY1" fmla="*/ 7761 h 10000"/>
                <a:gd name="connsiteX2" fmla="*/ 8800 w 10000"/>
                <a:gd name="connsiteY2" fmla="*/ 7761 h 10000"/>
                <a:gd name="connsiteX3" fmla="*/ 8766 w 10000"/>
                <a:gd name="connsiteY3" fmla="*/ 10000 h 10000"/>
                <a:gd name="connsiteX4" fmla="*/ 1227 w 10000"/>
                <a:gd name="connsiteY4" fmla="*/ 9959 h 10000"/>
                <a:gd name="connsiteX5" fmla="*/ 1261 w 10000"/>
                <a:gd name="connsiteY5" fmla="*/ 1291 h 10000"/>
                <a:gd name="connsiteX6" fmla="*/ 0 w 10000"/>
                <a:gd name="connsiteY6" fmla="*/ 1291 h 10000"/>
                <a:gd name="connsiteX7" fmla="*/ 0 w 10000"/>
                <a:gd name="connsiteY7" fmla="*/ 41 h 10000"/>
                <a:gd name="connsiteX8" fmla="*/ 2717 w 10000"/>
                <a:gd name="connsiteY8" fmla="*/ 0 h 10000"/>
                <a:gd name="connsiteX9" fmla="*/ 2745 w 10000"/>
                <a:gd name="connsiteY9" fmla="*/ 1258 h 10000"/>
                <a:gd name="connsiteX10" fmla="*/ 1679 w 10000"/>
                <a:gd name="connsiteY10" fmla="*/ 1291 h 10000"/>
                <a:gd name="connsiteX11" fmla="*/ 1746 w 10000"/>
                <a:gd name="connsiteY11" fmla="*/ 9526 h 10000"/>
                <a:gd name="connsiteX12" fmla="*/ 8314 w 10000"/>
                <a:gd name="connsiteY12" fmla="*/ 9453 h 10000"/>
                <a:gd name="connsiteX13" fmla="*/ 8233 w 10000"/>
                <a:gd name="connsiteY13" fmla="*/ 7704 h 10000"/>
                <a:gd name="connsiteX14" fmla="*/ 7148 w 10000"/>
                <a:gd name="connsiteY14" fmla="*/ 7704 h 10000"/>
                <a:gd name="connsiteX15" fmla="*/ 7215 w 10000"/>
                <a:gd name="connsiteY15" fmla="*/ 6160 h 10000"/>
                <a:gd name="connsiteX16" fmla="*/ 10000 w 10000"/>
                <a:gd name="connsiteY16" fmla="*/ 6193 h 10000"/>
                <a:gd name="connsiteX0" fmla="*/ 10000 w 10000"/>
                <a:gd name="connsiteY0" fmla="*/ 6193 h 10000"/>
                <a:gd name="connsiteX1" fmla="*/ 9966 w 10000"/>
                <a:gd name="connsiteY1" fmla="*/ 7761 h 10000"/>
                <a:gd name="connsiteX2" fmla="*/ 8800 w 10000"/>
                <a:gd name="connsiteY2" fmla="*/ 7761 h 10000"/>
                <a:gd name="connsiteX3" fmla="*/ 8766 w 10000"/>
                <a:gd name="connsiteY3" fmla="*/ 10000 h 10000"/>
                <a:gd name="connsiteX4" fmla="*/ 1227 w 10000"/>
                <a:gd name="connsiteY4" fmla="*/ 9959 h 10000"/>
                <a:gd name="connsiteX5" fmla="*/ 1261 w 10000"/>
                <a:gd name="connsiteY5" fmla="*/ 1291 h 10000"/>
                <a:gd name="connsiteX6" fmla="*/ 0 w 10000"/>
                <a:gd name="connsiteY6" fmla="*/ 1291 h 10000"/>
                <a:gd name="connsiteX7" fmla="*/ 0 w 10000"/>
                <a:gd name="connsiteY7" fmla="*/ 41 h 10000"/>
                <a:gd name="connsiteX8" fmla="*/ 2717 w 10000"/>
                <a:gd name="connsiteY8" fmla="*/ 0 h 10000"/>
                <a:gd name="connsiteX9" fmla="*/ 2745 w 10000"/>
                <a:gd name="connsiteY9" fmla="*/ 1258 h 10000"/>
                <a:gd name="connsiteX10" fmla="*/ 1742 w 10000"/>
                <a:gd name="connsiteY10" fmla="*/ 1291 h 10000"/>
                <a:gd name="connsiteX11" fmla="*/ 1746 w 10000"/>
                <a:gd name="connsiteY11" fmla="*/ 9526 h 10000"/>
                <a:gd name="connsiteX12" fmla="*/ 8314 w 10000"/>
                <a:gd name="connsiteY12" fmla="*/ 9453 h 10000"/>
                <a:gd name="connsiteX13" fmla="*/ 8233 w 10000"/>
                <a:gd name="connsiteY13" fmla="*/ 7704 h 10000"/>
                <a:gd name="connsiteX14" fmla="*/ 7148 w 10000"/>
                <a:gd name="connsiteY14" fmla="*/ 7704 h 10000"/>
                <a:gd name="connsiteX15" fmla="*/ 7215 w 10000"/>
                <a:gd name="connsiteY15" fmla="*/ 6160 h 10000"/>
                <a:gd name="connsiteX16" fmla="*/ 10000 w 10000"/>
                <a:gd name="connsiteY16" fmla="*/ 6193 h 10000"/>
                <a:gd name="connsiteX0" fmla="*/ 10000 w 10000"/>
                <a:gd name="connsiteY0" fmla="*/ 6193 h 10024"/>
                <a:gd name="connsiteX1" fmla="*/ 9966 w 10000"/>
                <a:gd name="connsiteY1" fmla="*/ 7761 h 10024"/>
                <a:gd name="connsiteX2" fmla="*/ 8800 w 10000"/>
                <a:gd name="connsiteY2" fmla="*/ 7761 h 10024"/>
                <a:gd name="connsiteX3" fmla="*/ 8766 w 10000"/>
                <a:gd name="connsiteY3" fmla="*/ 10000 h 10024"/>
                <a:gd name="connsiteX4" fmla="*/ 1227 w 10000"/>
                <a:gd name="connsiteY4" fmla="*/ 10024 h 10024"/>
                <a:gd name="connsiteX5" fmla="*/ 1261 w 10000"/>
                <a:gd name="connsiteY5" fmla="*/ 1291 h 10024"/>
                <a:gd name="connsiteX6" fmla="*/ 0 w 10000"/>
                <a:gd name="connsiteY6" fmla="*/ 1291 h 10024"/>
                <a:gd name="connsiteX7" fmla="*/ 0 w 10000"/>
                <a:gd name="connsiteY7" fmla="*/ 41 h 10024"/>
                <a:gd name="connsiteX8" fmla="*/ 2717 w 10000"/>
                <a:gd name="connsiteY8" fmla="*/ 0 h 10024"/>
                <a:gd name="connsiteX9" fmla="*/ 2745 w 10000"/>
                <a:gd name="connsiteY9" fmla="*/ 1258 h 10024"/>
                <a:gd name="connsiteX10" fmla="*/ 1742 w 10000"/>
                <a:gd name="connsiteY10" fmla="*/ 1291 h 10024"/>
                <a:gd name="connsiteX11" fmla="*/ 1746 w 10000"/>
                <a:gd name="connsiteY11" fmla="*/ 9526 h 10024"/>
                <a:gd name="connsiteX12" fmla="*/ 8314 w 10000"/>
                <a:gd name="connsiteY12" fmla="*/ 9453 h 10024"/>
                <a:gd name="connsiteX13" fmla="*/ 8233 w 10000"/>
                <a:gd name="connsiteY13" fmla="*/ 7704 h 10024"/>
                <a:gd name="connsiteX14" fmla="*/ 7148 w 10000"/>
                <a:gd name="connsiteY14" fmla="*/ 7704 h 10024"/>
                <a:gd name="connsiteX15" fmla="*/ 7215 w 10000"/>
                <a:gd name="connsiteY15" fmla="*/ 6160 h 10024"/>
                <a:gd name="connsiteX16" fmla="*/ 10000 w 10000"/>
                <a:gd name="connsiteY16" fmla="*/ 6193 h 10024"/>
                <a:gd name="connsiteX0" fmla="*/ 9982 w 9982"/>
                <a:gd name="connsiteY0" fmla="*/ 6182 h 10024"/>
                <a:gd name="connsiteX1" fmla="*/ 9966 w 9982"/>
                <a:gd name="connsiteY1" fmla="*/ 7761 h 10024"/>
                <a:gd name="connsiteX2" fmla="*/ 8800 w 9982"/>
                <a:gd name="connsiteY2" fmla="*/ 7761 h 10024"/>
                <a:gd name="connsiteX3" fmla="*/ 8766 w 9982"/>
                <a:gd name="connsiteY3" fmla="*/ 10000 h 10024"/>
                <a:gd name="connsiteX4" fmla="*/ 1227 w 9982"/>
                <a:gd name="connsiteY4" fmla="*/ 10024 h 10024"/>
                <a:gd name="connsiteX5" fmla="*/ 1261 w 9982"/>
                <a:gd name="connsiteY5" fmla="*/ 1291 h 10024"/>
                <a:gd name="connsiteX6" fmla="*/ 0 w 9982"/>
                <a:gd name="connsiteY6" fmla="*/ 1291 h 10024"/>
                <a:gd name="connsiteX7" fmla="*/ 0 w 9982"/>
                <a:gd name="connsiteY7" fmla="*/ 41 h 10024"/>
                <a:gd name="connsiteX8" fmla="*/ 2717 w 9982"/>
                <a:gd name="connsiteY8" fmla="*/ 0 h 10024"/>
                <a:gd name="connsiteX9" fmla="*/ 2745 w 9982"/>
                <a:gd name="connsiteY9" fmla="*/ 1258 h 10024"/>
                <a:gd name="connsiteX10" fmla="*/ 1742 w 9982"/>
                <a:gd name="connsiteY10" fmla="*/ 1291 h 10024"/>
                <a:gd name="connsiteX11" fmla="*/ 1746 w 9982"/>
                <a:gd name="connsiteY11" fmla="*/ 9526 h 10024"/>
                <a:gd name="connsiteX12" fmla="*/ 8314 w 9982"/>
                <a:gd name="connsiteY12" fmla="*/ 9453 h 10024"/>
                <a:gd name="connsiteX13" fmla="*/ 8233 w 9982"/>
                <a:gd name="connsiteY13" fmla="*/ 7704 h 10024"/>
                <a:gd name="connsiteX14" fmla="*/ 7148 w 9982"/>
                <a:gd name="connsiteY14" fmla="*/ 7704 h 10024"/>
                <a:gd name="connsiteX15" fmla="*/ 7215 w 9982"/>
                <a:gd name="connsiteY15" fmla="*/ 6160 h 10024"/>
                <a:gd name="connsiteX16" fmla="*/ 9982 w 9982"/>
                <a:gd name="connsiteY16" fmla="*/ 6182 h 10024"/>
                <a:gd name="connsiteX0" fmla="*/ 10007 w 10007"/>
                <a:gd name="connsiteY0" fmla="*/ 6118 h 10000"/>
                <a:gd name="connsiteX1" fmla="*/ 9984 w 10007"/>
                <a:gd name="connsiteY1" fmla="*/ 7742 h 10000"/>
                <a:gd name="connsiteX2" fmla="*/ 8816 w 10007"/>
                <a:gd name="connsiteY2" fmla="*/ 7742 h 10000"/>
                <a:gd name="connsiteX3" fmla="*/ 8782 w 10007"/>
                <a:gd name="connsiteY3" fmla="*/ 9976 h 10000"/>
                <a:gd name="connsiteX4" fmla="*/ 1229 w 10007"/>
                <a:gd name="connsiteY4" fmla="*/ 10000 h 10000"/>
                <a:gd name="connsiteX5" fmla="*/ 1263 w 10007"/>
                <a:gd name="connsiteY5" fmla="*/ 1288 h 10000"/>
                <a:gd name="connsiteX6" fmla="*/ 0 w 10007"/>
                <a:gd name="connsiteY6" fmla="*/ 1288 h 10000"/>
                <a:gd name="connsiteX7" fmla="*/ 0 w 10007"/>
                <a:gd name="connsiteY7" fmla="*/ 41 h 10000"/>
                <a:gd name="connsiteX8" fmla="*/ 2722 w 10007"/>
                <a:gd name="connsiteY8" fmla="*/ 0 h 10000"/>
                <a:gd name="connsiteX9" fmla="*/ 2750 w 10007"/>
                <a:gd name="connsiteY9" fmla="*/ 1255 h 10000"/>
                <a:gd name="connsiteX10" fmla="*/ 1745 w 10007"/>
                <a:gd name="connsiteY10" fmla="*/ 1288 h 10000"/>
                <a:gd name="connsiteX11" fmla="*/ 1749 w 10007"/>
                <a:gd name="connsiteY11" fmla="*/ 9503 h 10000"/>
                <a:gd name="connsiteX12" fmla="*/ 8329 w 10007"/>
                <a:gd name="connsiteY12" fmla="*/ 9430 h 10000"/>
                <a:gd name="connsiteX13" fmla="*/ 8248 w 10007"/>
                <a:gd name="connsiteY13" fmla="*/ 7686 h 10000"/>
                <a:gd name="connsiteX14" fmla="*/ 7161 w 10007"/>
                <a:gd name="connsiteY14" fmla="*/ 7686 h 10000"/>
                <a:gd name="connsiteX15" fmla="*/ 7228 w 10007"/>
                <a:gd name="connsiteY15" fmla="*/ 6145 h 10000"/>
                <a:gd name="connsiteX16" fmla="*/ 10007 w 10007"/>
                <a:gd name="connsiteY16" fmla="*/ 6118 h 10000"/>
                <a:gd name="connsiteX0" fmla="*/ 10007 w 10007"/>
                <a:gd name="connsiteY0" fmla="*/ 6118 h 10000"/>
                <a:gd name="connsiteX1" fmla="*/ 9984 w 10007"/>
                <a:gd name="connsiteY1" fmla="*/ 7742 h 10000"/>
                <a:gd name="connsiteX2" fmla="*/ 8816 w 10007"/>
                <a:gd name="connsiteY2" fmla="*/ 7742 h 10000"/>
                <a:gd name="connsiteX3" fmla="*/ 8782 w 10007"/>
                <a:gd name="connsiteY3" fmla="*/ 9976 h 10000"/>
                <a:gd name="connsiteX4" fmla="*/ 1229 w 10007"/>
                <a:gd name="connsiteY4" fmla="*/ 10000 h 10000"/>
                <a:gd name="connsiteX5" fmla="*/ 1263 w 10007"/>
                <a:gd name="connsiteY5" fmla="*/ 1288 h 10000"/>
                <a:gd name="connsiteX6" fmla="*/ 0 w 10007"/>
                <a:gd name="connsiteY6" fmla="*/ 1288 h 10000"/>
                <a:gd name="connsiteX7" fmla="*/ 0 w 10007"/>
                <a:gd name="connsiteY7" fmla="*/ 41 h 10000"/>
                <a:gd name="connsiteX8" fmla="*/ 2722 w 10007"/>
                <a:gd name="connsiteY8" fmla="*/ 0 h 10000"/>
                <a:gd name="connsiteX9" fmla="*/ 2750 w 10007"/>
                <a:gd name="connsiteY9" fmla="*/ 1255 h 10000"/>
                <a:gd name="connsiteX10" fmla="*/ 1745 w 10007"/>
                <a:gd name="connsiteY10" fmla="*/ 1288 h 10000"/>
                <a:gd name="connsiteX11" fmla="*/ 1749 w 10007"/>
                <a:gd name="connsiteY11" fmla="*/ 9503 h 10000"/>
                <a:gd name="connsiteX12" fmla="*/ 8329 w 10007"/>
                <a:gd name="connsiteY12" fmla="*/ 9430 h 10000"/>
                <a:gd name="connsiteX13" fmla="*/ 8248 w 10007"/>
                <a:gd name="connsiteY13" fmla="*/ 7686 h 10000"/>
                <a:gd name="connsiteX14" fmla="*/ 7161 w 10007"/>
                <a:gd name="connsiteY14" fmla="*/ 7686 h 10000"/>
                <a:gd name="connsiteX15" fmla="*/ 7187 w 10007"/>
                <a:gd name="connsiteY15" fmla="*/ 6153 h 10000"/>
                <a:gd name="connsiteX16" fmla="*/ 10007 w 10007"/>
                <a:gd name="connsiteY16" fmla="*/ 6118 h 10000"/>
                <a:gd name="connsiteX0" fmla="*/ 10007 w 10007"/>
                <a:gd name="connsiteY0" fmla="*/ 6118 h 10000"/>
                <a:gd name="connsiteX1" fmla="*/ 9984 w 10007"/>
                <a:gd name="connsiteY1" fmla="*/ 7742 h 10000"/>
                <a:gd name="connsiteX2" fmla="*/ 8816 w 10007"/>
                <a:gd name="connsiteY2" fmla="*/ 7742 h 10000"/>
                <a:gd name="connsiteX3" fmla="*/ 8782 w 10007"/>
                <a:gd name="connsiteY3" fmla="*/ 9976 h 10000"/>
                <a:gd name="connsiteX4" fmla="*/ 1229 w 10007"/>
                <a:gd name="connsiteY4" fmla="*/ 10000 h 10000"/>
                <a:gd name="connsiteX5" fmla="*/ 1263 w 10007"/>
                <a:gd name="connsiteY5" fmla="*/ 1288 h 10000"/>
                <a:gd name="connsiteX6" fmla="*/ 0 w 10007"/>
                <a:gd name="connsiteY6" fmla="*/ 1288 h 10000"/>
                <a:gd name="connsiteX7" fmla="*/ 0 w 10007"/>
                <a:gd name="connsiteY7" fmla="*/ 41 h 10000"/>
                <a:gd name="connsiteX8" fmla="*/ 2722 w 10007"/>
                <a:gd name="connsiteY8" fmla="*/ 0 h 10000"/>
                <a:gd name="connsiteX9" fmla="*/ 2750 w 10007"/>
                <a:gd name="connsiteY9" fmla="*/ 1255 h 10000"/>
                <a:gd name="connsiteX10" fmla="*/ 1745 w 10007"/>
                <a:gd name="connsiteY10" fmla="*/ 1288 h 10000"/>
                <a:gd name="connsiteX11" fmla="*/ 1749 w 10007"/>
                <a:gd name="connsiteY11" fmla="*/ 9503 h 10000"/>
                <a:gd name="connsiteX12" fmla="*/ 8329 w 10007"/>
                <a:gd name="connsiteY12" fmla="*/ 9430 h 10000"/>
                <a:gd name="connsiteX13" fmla="*/ 8248 w 10007"/>
                <a:gd name="connsiteY13" fmla="*/ 7686 h 10000"/>
                <a:gd name="connsiteX14" fmla="*/ 7161 w 10007"/>
                <a:gd name="connsiteY14" fmla="*/ 7686 h 10000"/>
                <a:gd name="connsiteX15" fmla="*/ 7180 w 10007"/>
                <a:gd name="connsiteY15" fmla="*/ 6104 h 10000"/>
                <a:gd name="connsiteX16" fmla="*/ 10007 w 10007"/>
                <a:gd name="connsiteY16" fmla="*/ 6118 h 10000"/>
                <a:gd name="connsiteX0" fmla="*/ 10007 w 10007"/>
                <a:gd name="connsiteY0" fmla="*/ 6118 h 10032"/>
                <a:gd name="connsiteX1" fmla="*/ 9984 w 10007"/>
                <a:gd name="connsiteY1" fmla="*/ 7742 h 10032"/>
                <a:gd name="connsiteX2" fmla="*/ 8816 w 10007"/>
                <a:gd name="connsiteY2" fmla="*/ 7742 h 10032"/>
                <a:gd name="connsiteX3" fmla="*/ 8856 w 10007"/>
                <a:gd name="connsiteY3" fmla="*/ 10032 h 10032"/>
                <a:gd name="connsiteX4" fmla="*/ 1229 w 10007"/>
                <a:gd name="connsiteY4" fmla="*/ 10000 h 10032"/>
                <a:gd name="connsiteX5" fmla="*/ 1263 w 10007"/>
                <a:gd name="connsiteY5" fmla="*/ 1288 h 10032"/>
                <a:gd name="connsiteX6" fmla="*/ 0 w 10007"/>
                <a:gd name="connsiteY6" fmla="*/ 1288 h 10032"/>
                <a:gd name="connsiteX7" fmla="*/ 0 w 10007"/>
                <a:gd name="connsiteY7" fmla="*/ 41 h 10032"/>
                <a:gd name="connsiteX8" fmla="*/ 2722 w 10007"/>
                <a:gd name="connsiteY8" fmla="*/ 0 h 10032"/>
                <a:gd name="connsiteX9" fmla="*/ 2750 w 10007"/>
                <a:gd name="connsiteY9" fmla="*/ 1255 h 10032"/>
                <a:gd name="connsiteX10" fmla="*/ 1745 w 10007"/>
                <a:gd name="connsiteY10" fmla="*/ 1288 h 10032"/>
                <a:gd name="connsiteX11" fmla="*/ 1749 w 10007"/>
                <a:gd name="connsiteY11" fmla="*/ 9503 h 10032"/>
                <a:gd name="connsiteX12" fmla="*/ 8329 w 10007"/>
                <a:gd name="connsiteY12" fmla="*/ 9430 h 10032"/>
                <a:gd name="connsiteX13" fmla="*/ 8248 w 10007"/>
                <a:gd name="connsiteY13" fmla="*/ 7686 h 10032"/>
                <a:gd name="connsiteX14" fmla="*/ 7161 w 10007"/>
                <a:gd name="connsiteY14" fmla="*/ 7686 h 10032"/>
                <a:gd name="connsiteX15" fmla="*/ 7180 w 10007"/>
                <a:gd name="connsiteY15" fmla="*/ 6104 h 10032"/>
                <a:gd name="connsiteX16" fmla="*/ 10007 w 10007"/>
                <a:gd name="connsiteY16" fmla="*/ 6118 h 10032"/>
                <a:gd name="connsiteX0" fmla="*/ 10035 w 10035"/>
                <a:gd name="connsiteY0" fmla="*/ 6118 h 10032"/>
                <a:gd name="connsiteX1" fmla="*/ 9984 w 10035"/>
                <a:gd name="connsiteY1" fmla="*/ 7742 h 10032"/>
                <a:gd name="connsiteX2" fmla="*/ 8816 w 10035"/>
                <a:gd name="connsiteY2" fmla="*/ 7742 h 10032"/>
                <a:gd name="connsiteX3" fmla="*/ 8856 w 10035"/>
                <a:gd name="connsiteY3" fmla="*/ 10032 h 10032"/>
                <a:gd name="connsiteX4" fmla="*/ 1229 w 10035"/>
                <a:gd name="connsiteY4" fmla="*/ 10000 h 10032"/>
                <a:gd name="connsiteX5" fmla="*/ 1263 w 10035"/>
                <a:gd name="connsiteY5" fmla="*/ 1288 h 10032"/>
                <a:gd name="connsiteX6" fmla="*/ 0 w 10035"/>
                <a:gd name="connsiteY6" fmla="*/ 1288 h 10032"/>
                <a:gd name="connsiteX7" fmla="*/ 0 w 10035"/>
                <a:gd name="connsiteY7" fmla="*/ 41 h 10032"/>
                <a:gd name="connsiteX8" fmla="*/ 2722 w 10035"/>
                <a:gd name="connsiteY8" fmla="*/ 0 h 10032"/>
                <a:gd name="connsiteX9" fmla="*/ 2750 w 10035"/>
                <a:gd name="connsiteY9" fmla="*/ 1255 h 10032"/>
                <a:gd name="connsiteX10" fmla="*/ 1745 w 10035"/>
                <a:gd name="connsiteY10" fmla="*/ 1288 h 10032"/>
                <a:gd name="connsiteX11" fmla="*/ 1749 w 10035"/>
                <a:gd name="connsiteY11" fmla="*/ 9503 h 10032"/>
                <a:gd name="connsiteX12" fmla="*/ 8329 w 10035"/>
                <a:gd name="connsiteY12" fmla="*/ 9430 h 10032"/>
                <a:gd name="connsiteX13" fmla="*/ 8248 w 10035"/>
                <a:gd name="connsiteY13" fmla="*/ 7686 h 10032"/>
                <a:gd name="connsiteX14" fmla="*/ 7161 w 10035"/>
                <a:gd name="connsiteY14" fmla="*/ 7686 h 10032"/>
                <a:gd name="connsiteX15" fmla="*/ 7180 w 10035"/>
                <a:gd name="connsiteY15" fmla="*/ 6104 h 10032"/>
                <a:gd name="connsiteX16" fmla="*/ 10035 w 10035"/>
                <a:gd name="connsiteY16" fmla="*/ 6118 h 10032"/>
                <a:gd name="connsiteX0" fmla="*/ 10035 w 10042"/>
                <a:gd name="connsiteY0" fmla="*/ 6118 h 10032"/>
                <a:gd name="connsiteX1" fmla="*/ 10040 w 10042"/>
                <a:gd name="connsiteY1" fmla="*/ 7787 h 10032"/>
                <a:gd name="connsiteX2" fmla="*/ 8816 w 10042"/>
                <a:gd name="connsiteY2" fmla="*/ 7742 h 10032"/>
                <a:gd name="connsiteX3" fmla="*/ 8856 w 10042"/>
                <a:gd name="connsiteY3" fmla="*/ 10032 h 10032"/>
                <a:gd name="connsiteX4" fmla="*/ 1229 w 10042"/>
                <a:gd name="connsiteY4" fmla="*/ 10000 h 10032"/>
                <a:gd name="connsiteX5" fmla="*/ 1263 w 10042"/>
                <a:gd name="connsiteY5" fmla="*/ 1288 h 10032"/>
                <a:gd name="connsiteX6" fmla="*/ 0 w 10042"/>
                <a:gd name="connsiteY6" fmla="*/ 1288 h 10032"/>
                <a:gd name="connsiteX7" fmla="*/ 0 w 10042"/>
                <a:gd name="connsiteY7" fmla="*/ 41 h 10032"/>
                <a:gd name="connsiteX8" fmla="*/ 2722 w 10042"/>
                <a:gd name="connsiteY8" fmla="*/ 0 h 10032"/>
                <a:gd name="connsiteX9" fmla="*/ 2750 w 10042"/>
                <a:gd name="connsiteY9" fmla="*/ 1255 h 10032"/>
                <a:gd name="connsiteX10" fmla="*/ 1745 w 10042"/>
                <a:gd name="connsiteY10" fmla="*/ 1288 h 10032"/>
                <a:gd name="connsiteX11" fmla="*/ 1749 w 10042"/>
                <a:gd name="connsiteY11" fmla="*/ 9503 h 10032"/>
                <a:gd name="connsiteX12" fmla="*/ 8329 w 10042"/>
                <a:gd name="connsiteY12" fmla="*/ 9430 h 10032"/>
                <a:gd name="connsiteX13" fmla="*/ 8248 w 10042"/>
                <a:gd name="connsiteY13" fmla="*/ 7686 h 10032"/>
                <a:gd name="connsiteX14" fmla="*/ 7161 w 10042"/>
                <a:gd name="connsiteY14" fmla="*/ 7686 h 10032"/>
                <a:gd name="connsiteX15" fmla="*/ 7180 w 10042"/>
                <a:gd name="connsiteY15" fmla="*/ 6104 h 10032"/>
                <a:gd name="connsiteX16" fmla="*/ 10035 w 10042"/>
                <a:gd name="connsiteY16" fmla="*/ 6118 h 10032"/>
                <a:gd name="connsiteX0" fmla="*/ 10035 w 10042"/>
                <a:gd name="connsiteY0" fmla="*/ 6118 h 10032"/>
                <a:gd name="connsiteX1" fmla="*/ 10040 w 10042"/>
                <a:gd name="connsiteY1" fmla="*/ 7787 h 10032"/>
                <a:gd name="connsiteX2" fmla="*/ 8816 w 10042"/>
                <a:gd name="connsiteY2" fmla="*/ 7787 h 10032"/>
                <a:gd name="connsiteX3" fmla="*/ 8856 w 10042"/>
                <a:gd name="connsiteY3" fmla="*/ 10032 h 10032"/>
                <a:gd name="connsiteX4" fmla="*/ 1229 w 10042"/>
                <a:gd name="connsiteY4" fmla="*/ 10000 h 10032"/>
                <a:gd name="connsiteX5" fmla="*/ 1263 w 10042"/>
                <a:gd name="connsiteY5" fmla="*/ 1288 h 10032"/>
                <a:gd name="connsiteX6" fmla="*/ 0 w 10042"/>
                <a:gd name="connsiteY6" fmla="*/ 1288 h 10032"/>
                <a:gd name="connsiteX7" fmla="*/ 0 w 10042"/>
                <a:gd name="connsiteY7" fmla="*/ 41 h 10032"/>
                <a:gd name="connsiteX8" fmla="*/ 2722 w 10042"/>
                <a:gd name="connsiteY8" fmla="*/ 0 h 10032"/>
                <a:gd name="connsiteX9" fmla="*/ 2750 w 10042"/>
                <a:gd name="connsiteY9" fmla="*/ 1255 h 10032"/>
                <a:gd name="connsiteX10" fmla="*/ 1745 w 10042"/>
                <a:gd name="connsiteY10" fmla="*/ 1288 h 10032"/>
                <a:gd name="connsiteX11" fmla="*/ 1749 w 10042"/>
                <a:gd name="connsiteY11" fmla="*/ 9503 h 10032"/>
                <a:gd name="connsiteX12" fmla="*/ 8329 w 10042"/>
                <a:gd name="connsiteY12" fmla="*/ 9430 h 10032"/>
                <a:gd name="connsiteX13" fmla="*/ 8248 w 10042"/>
                <a:gd name="connsiteY13" fmla="*/ 7686 h 10032"/>
                <a:gd name="connsiteX14" fmla="*/ 7161 w 10042"/>
                <a:gd name="connsiteY14" fmla="*/ 7686 h 10032"/>
                <a:gd name="connsiteX15" fmla="*/ 7180 w 10042"/>
                <a:gd name="connsiteY15" fmla="*/ 6104 h 10032"/>
                <a:gd name="connsiteX16" fmla="*/ 10035 w 10042"/>
                <a:gd name="connsiteY16" fmla="*/ 6118 h 10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42" h="10032">
                  <a:moveTo>
                    <a:pt x="10035" y="6118"/>
                  </a:moveTo>
                  <a:cubicBezTo>
                    <a:pt x="10024" y="6640"/>
                    <a:pt x="10051" y="7266"/>
                    <a:pt x="10040" y="7787"/>
                  </a:cubicBezTo>
                  <a:lnTo>
                    <a:pt x="8816" y="7787"/>
                  </a:lnTo>
                  <a:cubicBezTo>
                    <a:pt x="8805" y="8532"/>
                    <a:pt x="8867" y="9288"/>
                    <a:pt x="8856" y="10032"/>
                  </a:cubicBezTo>
                  <a:lnTo>
                    <a:pt x="1229" y="10000"/>
                  </a:lnTo>
                  <a:cubicBezTo>
                    <a:pt x="1240" y="7118"/>
                    <a:pt x="1252" y="4170"/>
                    <a:pt x="1263" y="1288"/>
                  </a:cubicBezTo>
                  <a:lnTo>
                    <a:pt x="0" y="1288"/>
                  </a:lnTo>
                  <a:lnTo>
                    <a:pt x="0" y="41"/>
                  </a:lnTo>
                  <a:lnTo>
                    <a:pt x="2722" y="0"/>
                  </a:lnTo>
                  <a:cubicBezTo>
                    <a:pt x="2711" y="418"/>
                    <a:pt x="2761" y="837"/>
                    <a:pt x="2750" y="1255"/>
                  </a:cubicBezTo>
                  <a:lnTo>
                    <a:pt x="1745" y="1288"/>
                  </a:lnTo>
                  <a:cubicBezTo>
                    <a:pt x="1767" y="4026"/>
                    <a:pt x="1727" y="6765"/>
                    <a:pt x="1749" y="9503"/>
                  </a:cubicBezTo>
                  <a:lnTo>
                    <a:pt x="8329" y="9430"/>
                  </a:lnTo>
                  <a:cubicBezTo>
                    <a:pt x="8302" y="8849"/>
                    <a:pt x="8275" y="8267"/>
                    <a:pt x="8248" y="7686"/>
                  </a:cubicBezTo>
                  <a:lnTo>
                    <a:pt x="7161" y="7686"/>
                  </a:lnTo>
                  <a:cubicBezTo>
                    <a:pt x="7183" y="7172"/>
                    <a:pt x="7158" y="6618"/>
                    <a:pt x="7180" y="6104"/>
                  </a:cubicBezTo>
                  <a:lnTo>
                    <a:pt x="10035" y="6118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0" name="Group 26"/>
            <p:cNvGrpSpPr>
              <a:grpSpLocks/>
            </p:cNvGrpSpPr>
            <p:nvPr/>
          </p:nvGrpSpPr>
          <p:grpSpPr bwMode="auto">
            <a:xfrm>
              <a:off x="6432916" y="2263756"/>
              <a:ext cx="649288" cy="269877"/>
              <a:chOff x="3808" y="1777"/>
              <a:chExt cx="409" cy="170"/>
            </a:xfrm>
          </p:grpSpPr>
          <p:grpSp>
            <p:nvGrpSpPr>
              <p:cNvPr id="271" name="Group 27"/>
              <p:cNvGrpSpPr>
                <a:grpSpLocks/>
              </p:cNvGrpSpPr>
              <p:nvPr/>
            </p:nvGrpSpPr>
            <p:grpSpPr bwMode="auto">
              <a:xfrm>
                <a:off x="3921" y="1777"/>
                <a:ext cx="182" cy="170"/>
                <a:chOff x="3067" y="1097"/>
                <a:chExt cx="182" cy="170"/>
              </a:xfrm>
            </p:grpSpPr>
            <p:sp>
              <p:nvSpPr>
                <p:cNvPr id="273" name="Line 28"/>
                <p:cNvSpPr>
                  <a:spLocks noChangeShapeType="1"/>
                </p:cNvSpPr>
                <p:nvPr/>
              </p:nvSpPr>
              <p:spPr bwMode="auto">
                <a:xfrm>
                  <a:off x="3104" y="1246"/>
                  <a:ext cx="9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" name="Line 29"/>
                <p:cNvSpPr>
                  <a:spLocks noChangeShapeType="1"/>
                </p:cNvSpPr>
                <p:nvPr/>
              </p:nvSpPr>
              <p:spPr bwMode="auto">
                <a:xfrm>
                  <a:off x="3128" y="1267"/>
                  <a:ext cx="45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" name="AutoShape 30"/>
                <p:cNvSpPr>
                  <a:spLocks noChangeArrowheads="1"/>
                </p:cNvSpPr>
                <p:nvPr/>
              </p:nvSpPr>
              <p:spPr bwMode="auto">
                <a:xfrm flipV="1">
                  <a:off x="3076" y="1097"/>
                  <a:ext cx="136" cy="91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28575" algn="ctr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lIns="0"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" name="Line 31"/>
                <p:cNvSpPr>
                  <a:spLocks noChangeShapeType="1"/>
                </p:cNvSpPr>
                <p:nvPr/>
              </p:nvSpPr>
              <p:spPr bwMode="auto">
                <a:xfrm>
                  <a:off x="3067" y="1222"/>
                  <a:ext cx="18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72" name="Line 32"/>
              <p:cNvSpPr>
                <a:spLocks noChangeShapeType="1"/>
              </p:cNvSpPr>
              <p:nvPr/>
            </p:nvSpPr>
            <p:spPr bwMode="auto">
              <a:xfrm>
                <a:off x="3808" y="1876"/>
                <a:ext cx="409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77" name="Freeform 33"/>
            <p:cNvSpPr>
              <a:spLocks/>
            </p:cNvSpPr>
            <p:nvPr/>
          </p:nvSpPr>
          <p:spPr bwMode="auto">
            <a:xfrm>
              <a:off x="7090141" y="2409784"/>
              <a:ext cx="184150" cy="320675"/>
            </a:xfrm>
            <a:custGeom>
              <a:avLst/>
              <a:gdLst>
                <a:gd name="T0" fmla="*/ 0 w 109"/>
                <a:gd name="T1" fmla="*/ 196 h 196"/>
                <a:gd name="T2" fmla="*/ 109 w 109"/>
                <a:gd name="T3" fmla="*/ 196 h 196"/>
                <a:gd name="T4" fmla="*/ 109 w 109"/>
                <a:gd name="T5" fmla="*/ 0 h 196"/>
                <a:gd name="T6" fmla="*/ 0 60000 65536"/>
                <a:gd name="T7" fmla="*/ 0 60000 65536"/>
                <a:gd name="T8" fmla="*/ 0 60000 65536"/>
                <a:gd name="T9" fmla="*/ 0 w 109"/>
                <a:gd name="T10" fmla="*/ 0 h 196"/>
                <a:gd name="T11" fmla="*/ 109 w 109"/>
                <a:gd name="T12" fmla="*/ 196 h 196"/>
                <a:gd name="connsiteX0" fmla="*/ 0 w 10642"/>
                <a:gd name="connsiteY0" fmla="*/ 10051 h 10051"/>
                <a:gd name="connsiteX1" fmla="*/ 10642 w 10642"/>
                <a:gd name="connsiteY1" fmla="*/ 10000 h 10051"/>
                <a:gd name="connsiteX2" fmla="*/ 10642 w 10642"/>
                <a:gd name="connsiteY2" fmla="*/ 0 h 10051"/>
                <a:gd name="connsiteX0" fmla="*/ 0 w 10642"/>
                <a:gd name="connsiteY0" fmla="*/ 10357 h 10357"/>
                <a:gd name="connsiteX1" fmla="*/ 10642 w 10642"/>
                <a:gd name="connsiteY1" fmla="*/ 10306 h 10357"/>
                <a:gd name="connsiteX2" fmla="*/ 10275 w 10642"/>
                <a:gd name="connsiteY2" fmla="*/ 0 h 10357"/>
                <a:gd name="connsiteX0" fmla="*/ 0 w 10677"/>
                <a:gd name="connsiteY0" fmla="*/ 10357 h 10357"/>
                <a:gd name="connsiteX1" fmla="*/ 10642 w 10677"/>
                <a:gd name="connsiteY1" fmla="*/ 10306 h 10357"/>
                <a:gd name="connsiteX2" fmla="*/ 10642 w 10677"/>
                <a:gd name="connsiteY2" fmla="*/ 0 h 10357"/>
                <a:gd name="connsiteX0" fmla="*/ 0 w 10677"/>
                <a:gd name="connsiteY0" fmla="*/ 10204 h 10306"/>
                <a:gd name="connsiteX1" fmla="*/ 10642 w 10677"/>
                <a:gd name="connsiteY1" fmla="*/ 10306 h 10306"/>
                <a:gd name="connsiteX2" fmla="*/ 10642 w 10677"/>
                <a:gd name="connsiteY2" fmla="*/ 0 h 10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77" h="10306">
                  <a:moveTo>
                    <a:pt x="0" y="10204"/>
                  </a:moveTo>
                  <a:lnTo>
                    <a:pt x="10642" y="10306"/>
                  </a:lnTo>
                  <a:cubicBezTo>
                    <a:pt x="10520" y="6871"/>
                    <a:pt x="10764" y="3435"/>
                    <a:pt x="10642" y="0"/>
                  </a:cubicBezTo>
                </a:path>
              </a:pathLst>
            </a:custGeom>
            <a:noFill/>
            <a:ln w="762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8" name="Freeform 34"/>
            <p:cNvSpPr>
              <a:spLocks/>
            </p:cNvSpPr>
            <p:nvPr/>
          </p:nvSpPr>
          <p:spPr bwMode="auto">
            <a:xfrm>
              <a:off x="7085379" y="2419309"/>
              <a:ext cx="465138" cy="1192213"/>
            </a:xfrm>
            <a:custGeom>
              <a:avLst/>
              <a:gdLst>
                <a:gd name="T0" fmla="*/ 0 w 284"/>
                <a:gd name="T1" fmla="*/ 751 h 751"/>
                <a:gd name="T2" fmla="*/ 281 w 284"/>
                <a:gd name="T3" fmla="*/ 751 h 751"/>
                <a:gd name="T4" fmla="*/ 284 w 284"/>
                <a:gd name="T5" fmla="*/ 0 h 751"/>
                <a:gd name="T6" fmla="*/ 0 60000 65536"/>
                <a:gd name="T7" fmla="*/ 0 60000 65536"/>
                <a:gd name="T8" fmla="*/ 0 60000 65536"/>
                <a:gd name="T9" fmla="*/ 0 w 284"/>
                <a:gd name="T10" fmla="*/ 0 h 751"/>
                <a:gd name="T11" fmla="*/ 284 w 284"/>
                <a:gd name="T12" fmla="*/ 751 h 7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4" h="751">
                  <a:moveTo>
                    <a:pt x="0" y="751"/>
                  </a:moveTo>
                  <a:lnTo>
                    <a:pt x="281" y="751"/>
                  </a:lnTo>
                  <a:lnTo>
                    <a:pt x="284" y="0"/>
                  </a:lnTo>
                </a:path>
              </a:pathLst>
            </a:custGeom>
            <a:noFill/>
            <a:ln w="635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79" name="Group 35"/>
            <p:cNvGrpSpPr>
              <a:grpSpLocks/>
            </p:cNvGrpSpPr>
            <p:nvPr/>
          </p:nvGrpSpPr>
          <p:grpSpPr bwMode="auto">
            <a:xfrm>
              <a:off x="4740641" y="2254209"/>
              <a:ext cx="649288" cy="263525"/>
              <a:chOff x="2742" y="1771"/>
              <a:chExt cx="409" cy="166"/>
            </a:xfrm>
          </p:grpSpPr>
          <p:grpSp>
            <p:nvGrpSpPr>
              <p:cNvPr id="280" name="Group 36"/>
              <p:cNvGrpSpPr>
                <a:grpSpLocks/>
              </p:cNvGrpSpPr>
              <p:nvPr/>
            </p:nvGrpSpPr>
            <p:grpSpPr bwMode="auto">
              <a:xfrm>
                <a:off x="2855" y="1771"/>
                <a:ext cx="182" cy="166"/>
                <a:chOff x="3067" y="1101"/>
                <a:chExt cx="182" cy="166"/>
              </a:xfrm>
            </p:grpSpPr>
            <p:sp>
              <p:nvSpPr>
                <p:cNvPr id="282" name="Line 37"/>
                <p:cNvSpPr>
                  <a:spLocks noChangeShapeType="1"/>
                </p:cNvSpPr>
                <p:nvPr/>
              </p:nvSpPr>
              <p:spPr bwMode="auto">
                <a:xfrm>
                  <a:off x="3104" y="1246"/>
                  <a:ext cx="90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" name="Line 38"/>
                <p:cNvSpPr>
                  <a:spLocks noChangeShapeType="1"/>
                </p:cNvSpPr>
                <p:nvPr/>
              </p:nvSpPr>
              <p:spPr bwMode="auto">
                <a:xfrm>
                  <a:off x="3128" y="1267"/>
                  <a:ext cx="45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" name="AutoShape 39"/>
                <p:cNvSpPr>
                  <a:spLocks noChangeArrowheads="1"/>
                </p:cNvSpPr>
                <p:nvPr/>
              </p:nvSpPr>
              <p:spPr bwMode="auto">
                <a:xfrm flipV="1">
                  <a:off x="3076" y="1101"/>
                  <a:ext cx="136" cy="91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28575" algn="ctr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lIns="0"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" name="Line 40"/>
                <p:cNvSpPr>
                  <a:spLocks noChangeShapeType="1"/>
                </p:cNvSpPr>
                <p:nvPr/>
              </p:nvSpPr>
              <p:spPr bwMode="auto">
                <a:xfrm>
                  <a:off x="3067" y="1222"/>
                  <a:ext cx="182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81" name="Line 41"/>
              <p:cNvSpPr>
                <a:spLocks noChangeShapeType="1"/>
              </p:cNvSpPr>
              <p:nvPr/>
            </p:nvSpPr>
            <p:spPr bwMode="auto">
              <a:xfrm>
                <a:off x="2742" y="1866"/>
                <a:ext cx="409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86" name="组合 285"/>
            <p:cNvGrpSpPr/>
            <p:nvPr/>
          </p:nvGrpSpPr>
          <p:grpSpPr>
            <a:xfrm>
              <a:off x="7669583" y="1287421"/>
              <a:ext cx="1084263" cy="2303462"/>
              <a:chOff x="4754369" y="1284288"/>
              <a:chExt cx="1084263" cy="2303462"/>
            </a:xfrm>
          </p:grpSpPr>
          <p:sp>
            <p:nvSpPr>
              <p:cNvPr id="287" name="Freeform 18"/>
              <p:cNvSpPr>
                <a:spLocks/>
              </p:cNvSpPr>
              <p:nvPr/>
            </p:nvSpPr>
            <p:spPr bwMode="auto">
              <a:xfrm>
                <a:off x="4754369" y="1284288"/>
                <a:ext cx="814388" cy="1587"/>
              </a:xfrm>
              <a:custGeom>
                <a:avLst/>
                <a:gdLst>
                  <a:gd name="T0" fmla="*/ 0 w 513"/>
                  <a:gd name="T1" fmla="*/ 0 h 1"/>
                  <a:gd name="T2" fmla="*/ 513 w 513"/>
                  <a:gd name="T3" fmla="*/ 0 h 1"/>
                  <a:gd name="T4" fmla="*/ 0 60000 65536"/>
                  <a:gd name="T5" fmla="*/ 0 60000 65536"/>
                  <a:gd name="T6" fmla="*/ 0 w 513"/>
                  <a:gd name="T7" fmla="*/ 0 h 1"/>
                  <a:gd name="T8" fmla="*/ 513 w 51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13" h="1">
                    <a:moveTo>
                      <a:pt x="0" y="0"/>
                    </a:moveTo>
                    <a:lnTo>
                      <a:pt x="513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8" name="Freeform 19"/>
              <p:cNvSpPr>
                <a:spLocks/>
              </p:cNvSpPr>
              <p:nvPr/>
            </p:nvSpPr>
            <p:spPr bwMode="auto">
              <a:xfrm>
                <a:off x="4973297" y="1286581"/>
                <a:ext cx="1588" cy="1130400"/>
              </a:xfrm>
              <a:custGeom>
                <a:avLst/>
                <a:gdLst>
                  <a:gd name="T0" fmla="*/ 0 w 1"/>
                  <a:gd name="T1" fmla="*/ 0 h 735"/>
                  <a:gd name="T2" fmla="*/ 1 w 1"/>
                  <a:gd name="T3" fmla="*/ 735 h 735"/>
                  <a:gd name="T4" fmla="*/ 0 60000 65536"/>
                  <a:gd name="T5" fmla="*/ 0 60000 65536"/>
                  <a:gd name="T6" fmla="*/ 0 w 1"/>
                  <a:gd name="T7" fmla="*/ 0 h 735"/>
                  <a:gd name="T8" fmla="*/ 1 w 1"/>
                  <a:gd name="T9" fmla="*/ 735 h 7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735">
                    <a:moveTo>
                      <a:pt x="0" y="0"/>
                    </a:moveTo>
                    <a:lnTo>
                      <a:pt x="1" y="735"/>
                    </a:lnTo>
                  </a:path>
                </a:pathLst>
              </a:custGeom>
              <a:noFill/>
              <a:ln w="12700">
                <a:solidFill>
                  <a:srgbClr val="333333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9" name="Line 20"/>
              <p:cNvSpPr>
                <a:spLocks noChangeShapeType="1"/>
              </p:cNvSpPr>
              <p:nvPr/>
            </p:nvSpPr>
            <p:spPr bwMode="auto">
              <a:xfrm>
                <a:off x="5475094" y="1284288"/>
                <a:ext cx="0" cy="2303462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0" name="Text Box 21"/>
              <p:cNvSpPr txBox="1">
                <a:spLocks noChangeArrowheads="1"/>
              </p:cNvSpPr>
              <p:nvPr/>
            </p:nvSpPr>
            <p:spPr bwMode="auto">
              <a:xfrm>
                <a:off x="5563994" y="2220913"/>
                <a:ext cx="274638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="1" baseline="-25000" dirty="0"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91" name="Text Box 22"/>
              <p:cNvSpPr txBox="1">
                <a:spLocks noChangeArrowheads="1"/>
              </p:cNvSpPr>
              <p:nvPr/>
            </p:nvSpPr>
            <p:spPr bwMode="auto">
              <a:xfrm>
                <a:off x="4873432" y="1644650"/>
                <a:ext cx="58896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l-GR" altLang="zh-CN" sz="2400" b="1" dirty="0">
                    <a:cs typeface="Times New Roman" panose="02020603050405020304" pitchFamily="18" charset="0"/>
                  </a:rPr>
                  <a:t>Δ</a:t>
                </a:r>
                <a:r>
                  <a:rPr lang="en-US" altLang="zh-CN" sz="2400" b="1" i="1" dirty="0">
                    <a:cs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292" name="Line 43"/>
              <p:cNvSpPr>
                <a:spLocks noChangeShapeType="1"/>
              </p:cNvSpPr>
              <p:nvPr/>
            </p:nvSpPr>
            <p:spPr bwMode="auto">
              <a:xfrm>
                <a:off x="4801990" y="2420938"/>
                <a:ext cx="360363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3" name="Freeform 44"/>
              <p:cNvSpPr>
                <a:spLocks/>
              </p:cNvSpPr>
              <p:nvPr/>
            </p:nvSpPr>
            <p:spPr bwMode="auto">
              <a:xfrm>
                <a:off x="4948040" y="2420791"/>
                <a:ext cx="28575" cy="1160463"/>
              </a:xfrm>
              <a:custGeom>
                <a:avLst/>
                <a:gdLst>
                  <a:gd name="T0" fmla="*/ 18 w 18"/>
                  <a:gd name="T1" fmla="*/ 0 h 731"/>
                  <a:gd name="T2" fmla="*/ 0 w 18"/>
                  <a:gd name="T3" fmla="*/ 731 h 731"/>
                  <a:gd name="T4" fmla="*/ 0 60000 65536"/>
                  <a:gd name="T5" fmla="*/ 0 60000 65536"/>
                  <a:gd name="T6" fmla="*/ 0 w 18"/>
                  <a:gd name="T7" fmla="*/ 0 h 731"/>
                  <a:gd name="T8" fmla="*/ 18 w 18"/>
                  <a:gd name="T9" fmla="*/ 731 h 73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" h="731">
                    <a:moveTo>
                      <a:pt x="18" y="0"/>
                    </a:moveTo>
                    <a:lnTo>
                      <a:pt x="0" y="731"/>
                    </a:lnTo>
                  </a:path>
                </a:pathLst>
              </a:custGeom>
              <a:noFill/>
              <a:ln w="12700">
                <a:solidFill>
                  <a:srgbClr val="333333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" name="Text Box 45"/>
              <p:cNvSpPr txBox="1">
                <a:spLocks noChangeArrowheads="1"/>
              </p:cNvSpPr>
              <p:nvPr/>
            </p:nvSpPr>
            <p:spPr bwMode="auto">
              <a:xfrm>
                <a:off x="4982965" y="2724151"/>
                <a:ext cx="274638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="1" baseline="-25000" dirty="0"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295" name="Text Box 46"/>
            <p:cNvSpPr txBox="1">
              <a:spLocks noChangeArrowheads="1"/>
            </p:cNvSpPr>
            <p:nvPr/>
          </p:nvSpPr>
          <p:spPr bwMode="auto">
            <a:xfrm>
              <a:off x="8712567" y="3430546"/>
              <a:ext cx="12858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96" name="Text Box 47"/>
            <p:cNvSpPr txBox="1">
              <a:spLocks noChangeArrowheads="1"/>
            </p:cNvSpPr>
            <p:nvPr/>
          </p:nvSpPr>
          <p:spPr bwMode="auto">
            <a:xfrm>
              <a:off x="5374054" y="3430546"/>
              <a:ext cx="12858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97" name="Line 48"/>
            <p:cNvSpPr>
              <a:spLocks noChangeShapeType="1"/>
            </p:cNvSpPr>
            <p:nvPr/>
          </p:nvSpPr>
          <p:spPr bwMode="auto">
            <a:xfrm>
              <a:off x="6013817" y="2420896"/>
              <a:ext cx="360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98" name="Freeform 49"/>
            <p:cNvSpPr>
              <a:spLocks/>
            </p:cNvSpPr>
            <p:nvPr/>
          </p:nvSpPr>
          <p:spPr bwMode="auto">
            <a:xfrm>
              <a:off x="6153811" y="2417427"/>
              <a:ext cx="1588" cy="306000"/>
            </a:xfrm>
            <a:custGeom>
              <a:avLst/>
              <a:gdLst>
                <a:gd name="T0" fmla="*/ 0 w 1"/>
                <a:gd name="T1" fmla="*/ 0 h 203"/>
                <a:gd name="T2" fmla="*/ 0 w 1"/>
                <a:gd name="T3" fmla="*/ 203 h 203"/>
                <a:gd name="T4" fmla="*/ 0 60000 65536"/>
                <a:gd name="T5" fmla="*/ 0 60000 65536"/>
                <a:gd name="T6" fmla="*/ 0 w 1"/>
                <a:gd name="T7" fmla="*/ 0 h 203"/>
                <a:gd name="T8" fmla="*/ 1 w 1"/>
                <a:gd name="T9" fmla="*/ 203 h 20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03">
                  <a:moveTo>
                    <a:pt x="0" y="0"/>
                  </a:moveTo>
                  <a:lnTo>
                    <a:pt x="0" y="20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99" name="Text Box 50"/>
            <p:cNvSpPr txBox="1">
              <a:spLocks noChangeArrowheads="1"/>
            </p:cNvSpPr>
            <p:nvPr/>
          </p:nvSpPr>
          <p:spPr bwMode="auto">
            <a:xfrm>
              <a:off x="5736306" y="2335171"/>
              <a:ext cx="26609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err="1">
                  <a:cs typeface="Times New Roman" panose="02020603050405020304" pitchFamily="18" charset="0"/>
                </a:rPr>
                <a:t>h</a:t>
              </a:r>
              <a:r>
                <a:rPr lang="en-US" altLang="zh-CN" sz="2000" b="1" baseline="-25000" dirty="0" err="1">
                  <a:cs typeface="Times New Roman" panose="02020603050405020304" pitchFamily="18" charset="0"/>
                </a:rPr>
                <a:t>w</a:t>
              </a:r>
              <a:endParaRPr lang="en-US" altLang="zh-CN" sz="2000" b="1" baseline="-25000" dirty="0">
                <a:cs typeface="Times New Roman" panose="02020603050405020304" pitchFamily="18" charset="0"/>
              </a:endParaRPr>
            </a:p>
          </p:txBody>
        </p:sp>
        <p:grpSp>
          <p:nvGrpSpPr>
            <p:cNvPr id="300" name="Group 51"/>
            <p:cNvGrpSpPr>
              <a:grpSpLocks/>
            </p:cNvGrpSpPr>
            <p:nvPr/>
          </p:nvGrpSpPr>
          <p:grpSpPr bwMode="auto">
            <a:xfrm>
              <a:off x="4737466" y="758783"/>
              <a:ext cx="3940175" cy="3595688"/>
              <a:chOff x="3030" y="476"/>
              <a:chExt cx="2482" cy="2265"/>
            </a:xfrm>
          </p:grpSpPr>
          <p:sp>
            <p:nvSpPr>
              <p:cNvPr id="301" name="Line 52"/>
              <p:cNvSpPr>
                <a:spLocks noChangeShapeType="1"/>
              </p:cNvSpPr>
              <p:nvPr/>
            </p:nvSpPr>
            <p:spPr bwMode="auto">
              <a:xfrm>
                <a:off x="3562" y="2261"/>
                <a:ext cx="1950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2" name="Text Box 53"/>
              <p:cNvSpPr txBox="1">
                <a:spLocks noChangeArrowheads="1"/>
              </p:cNvSpPr>
              <p:nvPr/>
            </p:nvSpPr>
            <p:spPr bwMode="auto">
              <a:xfrm>
                <a:off x="3785" y="1832"/>
                <a:ext cx="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>
                    <a:cs typeface="Times New Roman" panose="02020603050405020304" pitchFamily="18" charset="0"/>
                  </a:rPr>
                  <a:t>L</a:t>
                </a:r>
              </a:p>
            </p:txBody>
          </p:sp>
          <p:grpSp>
            <p:nvGrpSpPr>
              <p:cNvPr id="303" name="Group 54"/>
              <p:cNvGrpSpPr>
                <a:grpSpLocks/>
              </p:cNvGrpSpPr>
              <p:nvPr/>
            </p:nvGrpSpPr>
            <p:grpSpPr bwMode="auto">
              <a:xfrm>
                <a:off x="3030" y="476"/>
                <a:ext cx="2029" cy="2265"/>
                <a:chOff x="3030" y="476"/>
                <a:chExt cx="2029" cy="2265"/>
              </a:xfrm>
            </p:grpSpPr>
            <p:grpSp>
              <p:nvGrpSpPr>
                <p:cNvPr id="304" name="Group 55"/>
                <p:cNvGrpSpPr>
                  <a:grpSpLocks/>
                </p:cNvGrpSpPr>
                <p:nvPr/>
              </p:nvGrpSpPr>
              <p:grpSpPr bwMode="auto">
                <a:xfrm>
                  <a:off x="3030" y="701"/>
                  <a:ext cx="1797" cy="2040"/>
                  <a:chOff x="1713" y="918"/>
                  <a:chExt cx="1797" cy="2040"/>
                </a:xfrm>
              </p:grpSpPr>
              <p:sp>
                <p:nvSpPr>
                  <p:cNvPr id="316" name="Freeform 56"/>
                  <p:cNvSpPr>
                    <a:spLocks/>
                  </p:cNvSpPr>
                  <p:nvPr/>
                </p:nvSpPr>
                <p:spPr bwMode="auto">
                  <a:xfrm>
                    <a:off x="1973" y="1730"/>
                    <a:ext cx="973" cy="1162"/>
                  </a:xfrm>
                  <a:custGeom>
                    <a:avLst/>
                    <a:gdLst>
                      <a:gd name="T0" fmla="*/ 807 w 973"/>
                      <a:gd name="T1" fmla="*/ 0 h 1162"/>
                      <a:gd name="T2" fmla="*/ 805 w 973"/>
                      <a:gd name="T3" fmla="*/ 946 h 1162"/>
                      <a:gd name="T4" fmla="*/ 967 w 973"/>
                      <a:gd name="T5" fmla="*/ 946 h 1162"/>
                      <a:gd name="T6" fmla="*/ 973 w 973"/>
                      <a:gd name="T7" fmla="*/ 1159 h 1162"/>
                      <a:gd name="T8" fmla="*/ 4 w 973"/>
                      <a:gd name="T9" fmla="*/ 1162 h 1162"/>
                      <a:gd name="T10" fmla="*/ 0 w 973"/>
                      <a:gd name="T11" fmla="*/ 158 h 1162"/>
                      <a:gd name="T12" fmla="*/ 151 w 973"/>
                      <a:gd name="T13" fmla="*/ 154 h 1162"/>
                      <a:gd name="T14" fmla="*/ 151 w 973"/>
                      <a:gd name="T15" fmla="*/ 1 h 116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973"/>
                      <a:gd name="T25" fmla="*/ 0 h 1162"/>
                      <a:gd name="T26" fmla="*/ 973 w 973"/>
                      <a:gd name="T27" fmla="*/ 1162 h 116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973" h="1162">
                        <a:moveTo>
                          <a:pt x="807" y="0"/>
                        </a:moveTo>
                        <a:lnTo>
                          <a:pt x="805" y="946"/>
                        </a:lnTo>
                        <a:lnTo>
                          <a:pt x="967" y="946"/>
                        </a:lnTo>
                        <a:lnTo>
                          <a:pt x="973" y="1159"/>
                        </a:lnTo>
                        <a:lnTo>
                          <a:pt x="4" y="1162"/>
                        </a:lnTo>
                        <a:lnTo>
                          <a:pt x="0" y="158"/>
                        </a:lnTo>
                        <a:lnTo>
                          <a:pt x="151" y="154"/>
                        </a:lnTo>
                        <a:lnTo>
                          <a:pt x="151" y="1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Freeform 57"/>
                  <p:cNvSpPr>
                    <a:spLocks/>
                  </p:cNvSpPr>
                  <p:nvPr/>
                </p:nvSpPr>
                <p:spPr bwMode="auto">
                  <a:xfrm>
                    <a:off x="1713" y="921"/>
                    <a:ext cx="1797" cy="2037"/>
                  </a:xfrm>
                  <a:custGeom>
                    <a:avLst/>
                    <a:gdLst>
                      <a:gd name="T0" fmla="*/ 0 w 1797"/>
                      <a:gd name="T1" fmla="*/ 804 h 2037"/>
                      <a:gd name="T2" fmla="*/ 0 w 1797"/>
                      <a:gd name="T3" fmla="*/ 966 h 2037"/>
                      <a:gd name="T4" fmla="*/ 186 w 1797"/>
                      <a:gd name="T5" fmla="*/ 969 h 2037"/>
                      <a:gd name="T6" fmla="*/ 183 w 1797"/>
                      <a:gd name="T7" fmla="*/ 2035 h 2037"/>
                      <a:gd name="T8" fmla="*/ 1311 w 1797"/>
                      <a:gd name="T9" fmla="*/ 2037 h 2037"/>
                      <a:gd name="T10" fmla="*/ 1311 w 1797"/>
                      <a:gd name="T11" fmla="*/ 1764 h 2037"/>
                      <a:gd name="T12" fmla="*/ 1485 w 1797"/>
                      <a:gd name="T13" fmla="*/ 1764 h 2037"/>
                      <a:gd name="T14" fmla="*/ 1488 w 1797"/>
                      <a:gd name="T15" fmla="*/ 1590 h 2037"/>
                      <a:gd name="T16" fmla="*/ 1790 w 1797"/>
                      <a:gd name="T17" fmla="*/ 1589 h 2037"/>
                      <a:gd name="T18" fmla="*/ 1797 w 1797"/>
                      <a:gd name="T19" fmla="*/ 0 h 203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797"/>
                      <a:gd name="T31" fmla="*/ 0 h 2037"/>
                      <a:gd name="T32" fmla="*/ 1797 w 1797"/>
                      <a:gd name="T33" fmla="*/ 2037 h 203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797" h="2037">
                        <a:moveTo>
                          <a:pt x="0" y="804"/>
                        </a:moveTo>
                        <a:lnTo>
                          <a:pt x="0" y="966"/>
                        </a:lnTo>
                        <a:lnTo>
                          <a:pt x="186" y="969"/>
                        </a:lnTo>
                        <a:lnTo>
                          <a:pt x="183" y="2035"/>
                        </a:lnTo>
                        <a:lnTo>
                          <a:pt x="1311" y="2037"/>
                        </a:lnTo>
                        <a:lnTo>
                          <a:pt x="1311" y="1764"/>
                        </a:lnTo>
                        <a:lnTo>
                          <a:pt x="1485" y="1764"/>
                        </a:lnTo>
                        <a:lnTo>
                          <a:pt x="1488" y="1590"/>
                        </a:lnTo>
                        <a:lnTo>
                          <a:pt x="1790" y="1589"/>
                        </a:lnTo>
                        <a:lnTo>
                          <a:pt x="1797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Freeform 58"/>
                  <p:cNvSpPr>
                    <a:spLocks/>
                  </p:cNvSpPr>
                  <p:nvPr/>
                </p:nvSpPr>
                <p:spPr bwMode="auto">
                  <a:xfrm>
                    <a:off x="3195" y="926"/>
                    <a:ext cx="89" cy="991"/>
                  </a:xfrm>
                  <a:custGeom>
                    <a:avLst/>
                    <a:gdLst>
                      <a:gd name="T0" fmla="*/ 0 w 89"/>
                      <a:gd name="T1" fmla="*/ 811 h 991"/>
                      <a:gd name="T2" fmla="*/ 0 w 89"/>
                      <a:gd name="T3" fmla="*/ 991 h 991"/>
                      <a:gd name="T4" fmla="*/ 89 w 89"/>
                      <a:gd name="T5" fmla="*/ 990 h 991"/>
                      <a:gd name="T6" fmla="*/ 89 w 89"/>
                      <a:gd name="T7" fmla="*/ 0 h 99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9"/>
                      <a:gd name="T13" fmla="*/ 0 h 991"/>
                      <a:gd name="T14" fmla="*/ 89 w 89"/>
                      <a:gd name="T15" fmla="*/ 991 h 991"/>
                      <a:gd name="connsiteX0" fmla="*/ 0 w 10000"/>
                      <a:gd name="connsiteY0" fmla="*/ 8103 h 10000"/>
                      <a:gd name="connsiteX1" fmla="*/ 0 w 10000"/>
                      <a:gd name="connsiteY1" fmla="*/ 10000 h 10000"/>
                      <a:gd name="connsiteX2" fmla="*/ 10000 w 10000"/>
                      <a:gd name="connsiteY2" fmla="*/ 9990 h 10000"/>
                      <a:gd name="connsiteX3" fmla="*/ 10000 w 10000"/>
                      <a:gd name="connsiteY3" fmla="*/ 0 h 1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000" h="10000">
                        <a:moveTo>
                          <a:pt x="0" y="8103"/>
                        </a:moveTo>
                        <a:lnTo>
                          <a:pt x="0" y="10000"/>
                        </a:lnTo>
                        <a:lnTo>
                          <a:pt x="10000" y="9990"/>
                        </a:lnTo>
                        <a:lnTo>
                          <a:pt x="100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9" name="Freeform 59"/>
                  <p:cNvSpPr>
                    <a:spLocks/>
                  </p:cNvSpPr>
                  <p:nvPr/>
                </p:nvSpPr>
                <p:spPr bwMode="auto">
                  <a:xfrm>
                    <a:off x="3198" y="918"/>
                    <a:ext cx="264" cy="1551"/>
                  </a:xfrm>
                  <a:custGeom>
                    <a:avLst/>
                    <a:gdLst>
                      <a:gd name="T0" fmla="*/ 135 w 264"/>
                      <a:gd name="T1" fmla="*/ 6 h 1551"/>
                      <a:gd name="T2" fmla="*/ 135 w 264"/>
                      <a:gd name="T3" fmla="*/ 1035 h 1551"/>
                      <a:gd name="T4" fmla="*/ 0 w 264"/>
                      <a:gd name="T5" fmla="*/ 1032 h 1551"/>
                      <a:gd name="T6" fmla="*/ 0 w 264"/>
                      <a:gd name="T7" fmla="*/ 1551 h 1551"/>
                      <a:gd name="T8" fmla="*/ 264 w 264"/>
                      <a:gd name="T9" fmla="*/ 1551 h 1551"/>
                      <a:gd name="T10" fmla="*/ 264 w 264"/>
                      <a:gd name="T11" fmla="*/ 0 h 155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64"/>
                      <a:gd name="T19" fmla="*/ 0 h 1551"/>
                      <a:gd name="T20" fmla="*/ 264 w 264"/>
                      <a:gd name="T21" fmla="*/ 1551 h 1551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64" h="1551">
                        <a:moveTo>
                          <a:pt x="135" y="6"/>
                        </a:moveTo>
                        <a:lnTo>
                          <a:pt x="135" y="1035"/>
                        </a:lnTo>
                        <a:lnTo>
                          <a:pt x="0" y="1032"/>
                        </a:lnTo>
                        <a:lnTo>
                          <a:pt x="0" y="1551"/>
                        </a:lnTo>
                        <a:lnTo>
                          <a:pt x="264" y="1551"/>
                        </a:lnTo>
                        <a:lnTo>
                          <a:pt x="264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5" name="Freeform 60"/>
                <p:cNvSpPr>
                  <a:spLocks/>
                </p:cNvSpPr>
                <p:nvPr/>
              </p:nvSpPr>
              <p:spPr bwMode="auto">
                <a:xfrm>
                  <a:off x="3922" y="1714"/>
                  <a:ext cx="1" cy="550"/>
                </a:xfrm>
                <a:custGeom>
                  <a:avLst/>
                  <a:gdLst>
                    <a:gd name="T0" fmla="*/ 1 w 1"/>
                    <a:gd name="T1" fmla="*/ 0 h 550"/>
                    <a:gd name="T2" fmla="*/ 0 w 1"/>
                    <a:gd name="T3" fmla="*/ 550 h 550"/>
                    <a:gd name="T4" fmla="*/ 0 60000 65536"/>
                    <a:gd name="T5" fmla="*/ 0 60000 65536"/>
                    <a:gd name="T6" fmla="*/ 0 w 1"/>
                    <a:gd name="T7" fmla="*/ 0 h 550"/>
                    <a:gd name="T8" fmla="*/ 1 w 1"/>
                    <a:gd name="T9" fmla="*/ 550 h 55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550">
                      <a:moveTo>
                        <a:pt x="1" y="0"/>
                      </a:moveTo>
                      <a:lnTo>
                        <a:pt x="0" y="55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6" name="Line 61"/>
                <p:cNvSpPr>
                  <a:spLocks noChangeShapeType="1"/>
                </p:cNvSpPr>
                <p:nvPr/>
              </p:nvSpPr>
              <p:spPr bwMode="auto">
                <a:xfrm>
                  <a:off x="3834" y="1716"/>
                  <a:ext cx="22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307" name="Group 62"/>
                <p:cNvGrpSpPr>
                  <a:grpSpLocks/>
                </p:cNvGrpSpPr>
                <p:nvPr/>
              </p:nvGrpSpPr>
              <p:grpSpPr bwMode="auto">
                <a:xfrm>
                  <a:off x="4095" y="1716"/>
                  <a:ext cx="420" cy="549"/>
                  <a:chOff x="3805" y="2069"/>
                  <a:chExt cx="420" cy="549"/>
                </a:xfrm>
              </p:grpSpPr>
              <p:sp>
                <p:nvSpPr>
                  <p:cNvPr id="314" name="Freeform 63"/>
                  <p:cNvSpPr>
                    <a:spLocks/>
                  </p:cNvSpPr>
                  <p:nvPr/>
                </p:nvSpPr>
                <p:spPr bwMode="auto">
                  <a:xfrm>
                    <a:off x="3805" y="2069"/>
                    <a:ext cx="420" cy="549"/>
                  </a:xfrm>
                  <a:custGeom>
                    <a:avLst/>
                    <a:gdLst>
                      <a:gd name="T0" fmla="*/ 408 w 412"/>
                      <a:gd name="T1" fmla="*/ 0 h 554"/>
                      <a:gd name="T2" fmla="*/ 412 w 412"/>
                      <a:gd name="T3" fmla="*/ 550 h 554"/>
                      <a:gd name="T4" fmla="*/ 0 w 412"/>
                      <a:gd name="T5" fmla="*/ 554 h 554"/>
                      <a:gd name="T6" fmla="*/ 4 w 412"/>
                      <a:gd name="T7" fmla="*/ 0 h 554"/>
                      <a:gd name="T8" fmla="*/ 408 w 412"/>
                      <a:gd name="T9" fmla="*/ 0 h 55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2"/>
                      <a:gd name="T16" fmla="*/ 0 h 554"/>
                      <a:gd name="T17" fmla="*/ 412 w 412"/>
                      <a:gd name="T18" fmla="*/ 554 h 55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2" h="554">
                        <a:moveTo>
                          <a:pt x="408" y="0"/>
                        </a:moveTo>
                        <a:lnTo>
                          <a:pt x="412" y="550"/>
                        </a:lnTo>
                        <a:lnTo>
                          <a:pt x="0" y="554"/>
                        </a:lnTo>
                        <a:lnTo>
                          <a:pt x="4" y="0"/>
                        </a:lnTo>
                        <a:lnTo>
                          <a:pt x="408" y="0"/>
                        </a:lnTo>
                        <a:close/>
                      </a:path>
                    </a:pathLst>
                  </a:custGeom>
                  <a:solidFill>
                    <a:srgbClr val="FF9900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5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16" y="2222"/>
                    <a:ext cx="36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zh-CN" altLang="en-US" sz="2000" b="1">
                        <a:solidFill>
                          <a:srgbClr val="800000"/>
                        </a:solidFill>
                        <a:latin typeface="Arial" charset="0"/>
                      </a:rPr>
                      <a:t>土样</a:t>
                    </a:r>
                  </a:p>
                </p:txBody>
              </p:sp>
            </p:grpSp>
            <p:sp>
              <p:nvSpPr>
                <p:cNvPr id="308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651" y="2442"/>
                  <a:ext cx="40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>
                      <a:latin typeface="Arial" charset="0"/>
                      <a:ea typeface="幼圆" pitchFamily="49" charset="-122"/>
                    </a:rPr>
                    <a:t>滤网</a:t>
                  </a:r>
                </a:p>
              </p:txBody>
            </p:sp>
            <p:sp>
              <p:nvSpPr>
                <p:cNvPr id="309" name="Line 66"/>
                <p:cNvSpPr>
                  <a:spLocks noChangeShapeType="1"/>
                </p:cNvSpPr>
                <p:nvPr/>
              </p:nvSpPr>
              <p:spPr bwMode="auto">
                <a:xfrm flipH="1" flipV="1">
                  <a:off x="4424" y="2261"/>
                  <a:ext cx="227" cy="2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0" name="Line 67"/>
                <p:cNvSpPr>
                  <a:spLocks noChangeShapeType="1"/>
                </p:cNvSpPr>
                <p:nvPr/>
              </p:nvSpPr>
              <p:spPr bwMode="auto">
                <a:xfrm>
                  <a:off x="4104" y="2265"/>
                  <a:ext cx="409" cy="0"/>
                </a:xfrm>
                <a:prstGeom prst="line">
                  <a:avLst/>
                </a:prstGeom>
                <a:noFill/>
                <a:ln w="57150">
                  <a:solidFill>
                    <a:srgbClr val="8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1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3455" y="1122"/>
                  <a:ext cx="529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 dirty="0">
                      <a:solidFill>
                        <a:srgbClr val="800000"/>
                      </a:solidFill>
                      <a:latin typeface="Arial" charset="0"/>
                    </a:rPr>
                    <a:t>贮水器</a:t>
                  </a:r>
                </a:p>
              </p:txBody>
            </p:sp>
            <p:sp>
              <p:nvSpPr>
                <p:cNvPr id="312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562" y="476"/>
                  <a:ext cx="81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000" b="1" dirty="0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313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738" y="476"/>
                  <a:ext cx="90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000" b="1" dirty="0">
                      <a:solidFill>
                        <a:srgbClr val="800000"/>
                      </a:solidFill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</p:grpSp>
        </p:grpSp>
        <p:grpSp>
          <p:nvGrpSpPr>
            <p:cNvPr id="320" name="组合 319"/>
            <p:cNvGrpSpPr/>
            <p:nvPr/>
          </p:nvGrpSpPr>
          <p:grpSpPr>
            <a:xfrm>
              <a:off x="4702360" y="2212768"/>
              <a:ext cx="763653" cy="525631"/>
              <a:chOff x="1787146" y="2209635"/>
              <a:chExt cx="763653" cy="525631"/>
            </a:xfrm>
          </p:grpSpPr>
          <p:sp>
            <p:nvSpPr>
              <p:cNvPr id="321" name="矩形 320"/>
              <p:cNvSpPr/>
              <p:nvPr/>
            </p:nvSpPr>
            <p:spPr bwMode="auto">
              <a:xfrm>
                <a:off x="1787146" y="2209635"/>
                <a:ext cx="763653" cy="525631"/>
              </a:xfrm>
              <a:prstGeom prst="rect">
                <a:avLst/>
              </a:prstGeom>
              <a:solidFill>
                <a:srgbClr val="CCEC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22" name="任意多边形 321"/>
              <p:cNvSpPr/>
              <p:nvPr/>
            </p:nvSpPr>
            <p:spPr bwMode="auto">
              <a:xfrm>
                <a:off x="1816899" y="2398069"/>
                <a:ext cx="656543" cy="253889"/>
              </a:xfrm>
              <a:custGeom>
                <a:avLst/>
                <a:gdLst>
                  <a:gd name="connsiteX0" fmla="*/ 0 w 656543"/>
                  <a:gd name="connsiteY0" fmla="*/ 0 h 253889"/>
                  <a:gd name="connsiteX1" fmla="*/ 0 w 656543"/>
                  <a:gd name="connsiteY1" fmla="*/ 253889 h 253889"/>
                  <a:gd name="connsiteX2" fmla="*/ 656543 w 656543"/>
                  <a:gd name="connsiteY2" fmla="*/ 253889 h 253889"/>
                  <a:gd name="connsiteX3" fmla="*/ 656543 w 656543"/>
                  <a:gd name="connsiteY3" fmla="*/ 0 h 253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543" h="253889">
                    <a:moveTo>
                      <a:pt x="0" y="0"/>
                    </a:moveTo>
                    <a:lnTo>
                      <a:pt x="0" y="253889"/>
                    </a:lnTo>
                    <a:lnTo>
                      <a:pt x="656543" y="253889"/>
                    </a:lnTo>
                    <a:lnTo>
                      <a:pt x="656543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23" name="组合 322"/>
            <p:cNvGrpSpPr/>
            <p:nvPr/>
          </p:nvGrpSpPr>
          <p:grpSpPr>
            <a:xfrm>
              <a:off x="4728071" y="1131440"/>
              <a:ext cx="671513" cy="1709140"/>
              <a:chOff x="6918421" y="1525203"/>
              <a:chExt cx="671513" cy="1709140"/>
            </a:xfrm>
          </p:grpSpPr>
          <p:sp>
            <p:nvSpPr>
              <p:cNvPr id="324" name="Freeform 8"/>
              <p:cNvSpPr>
                <a:spLocks/>
              </p:cNvSpPr>
              <p:nvPr/>
            </p:nvSpPr>
            <p:spPr bwMode="auto">
              <a:xfrm>
                <a:off x="6918421" y="1689959"/>
                <a:ext cx="671513" cy="1544384"/>
              </a:xfrm>
              <a:custGeom>
                <a:avLst/>
                <a:gdLst>
                  <a:gd name="T0" fmla="*/ 263 w 423"/>
                  <a:gd name="T1" fmla="*/ 691 h 701"/>
                  <a:gd name="T2" fmla="*/ 263 w 423"/>
                  <a:gd name="T3" fmla="*/ 182 h 701"/>
                  <a:gd name="T4" fmla="*/ 423 w 423"/>
                  <a:gd name="T5" fmla="*/ 185 h 701"/>
                  <a:gd name="T6" fmla="*/ 419 w 423"/>
                  <a:gd name="T7" fmla="*/ 0 h 701"/>
                  <a:gd name="T8" fmla="*/ 0 w 423"/>
                  <a:gd name="T9" fmla="*/ 0 h 701"/>
                  <a:gd name="T10" fmla="*/ 0 w 423"/>
                  <a:gd name="T11" fmla="*/ 182 h 701"/>
                  <a:gd name="T12" fmla="*/ 186 w 423"/>
                  <a:gd name="T13" fmla="*/ 182 h 701"/>
                  <a:gd name="T14" fmla="*/ 192 w 423"/>
                  <a:gd name="T15" fmla="*/ 701 h 701"/>
                  <a:gd name="T16" fmla="*/ 263 w 423"/>
                  <a:gd name="T17" fmla="*/ 691 h 7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23"/>
                  <a:gd name="T28" fmla="*/ 0 h 701"/>
                  <a:gd name="T29" fmla="*/ 423 w 423"/>
                  <a:gd name="T30" fmla="*/ 701 h 701"/>
                  <a:gd name="connsiteX0" fmla="*/ 6217 w 10000"/>
                  <a:gd name="connsiteY0" fmla="*/ 9857 h 10000"/>
                  <a:gd name="connsiteX1" fmla="*/ 6217 w 10000"/>
                  <a:gd name="connsiteY1" fmla="*/ 2596 h 10000"/>
                  <a:gd name="connsiteX2" fmla="*/ 10000 w 10000"/>
                  <a:gd name="connsiteY2" fmla="*/ 2639 h 10000"/>
                  <a:gd name="connsiteX3" fmla="*/ 9905 w 10000"/>
                  <a:gd name="connsiteY3" fmla="*/ 0 h 10000"/>
                  <a:gd name="connsiteX4" fmla="*/ 148 w 10000"/>
                  <a:gd name="connsiteY4" fmla="*/ 321 h 10000"/>
                  <a:gd name="connsiteX5" fmla="*/ 0 w 10000"/>
                  <a:gd name="connsiteY5" fmla="*/ 2596 h 10000"/>
                  <a:gd name="connsiteX6" fmla="*/ 4397 w 10000"/>
                  <a:gd name="connsiteY6" fmla="*/ 2596 h 10000"/>
                  <a:gd name="connsiteX7" fmla="*/ 4539 w 10000"/>
                  <a:gd name="connsiteY7" fmla="*/ 10000 h 10000"/>
                  <a:gd name="connsiteX8" fmla="*/ 6217 w 10000"/>
                  <a:gd name="connsiteY8" fmla="*/ 9857 h 10000"/>
                  <a:gd name="connsiteX0" fmla="*/ 6217 w 10000"/>
                  <a:gd name="connsiteY0" fmla="*/ 9536 h 9679"/>
                  <a:gd name="connsiteX1" fmla="*/ 6217 w 10000"/>
                  <a:gd name="connsiteY1" fmla="*/ 2275 h 9679"/>
                  <a:gd name="connsiteX2" fmla="*/ 10000 w 10000"/>
                  <a:gd name="connsiteY2" fmla="*/ 2318 h 9679"/>
                  <a:gd name="connsiteX3" fmla="*/ 9935 w 10000"/>
                  <a:gd name="connsiteY3" fmla="*/ 71 h 9679"/>
                  <a:gd name="connsiteX4" fmla="*/ 148 w 10000"/>
                  <a:gd name="connsiteY4" fmla="*/ 0 h 9679"/>
                  <a:gd name="connsiteX5" fmla="*/ 0 w 10000"/>
                  <a:gd name="connsiteY5" fmla="*/ 2275 h 9679"/>
                  <a:gd name="connsiteX6" fmla="*/ 4397 w 10000"/>
                  <a:gd name="connsiteY6" fmla="*/ 2275 h 9679"/>
                  <a:gd name="connsiteX7" fmla="*/ 4539 w 10000"/>
                  <a:gd name="connsiteY7" fmla="*/ 9679 h 9679"/>
                  <a:gd name="connsiteX8" fmla="*/ 6217 w 10000"/>
                  <a:gd name="connsiteY8" fmla="*/ 9536 h 9679"/>
                  <a:gd name="connsiteX0" fmla="*/ 6217 w 10000"/>
                  <a:gd name="connsiteY0" fmla="*/ 9852 h 10000"/>
                  <a:gd name="connsiteX1" fmla="*/ 6217 w 10000"/>
                  <a:gd name="connsiteY1" fmla="*/ 2350 h 10000"/>
                  <a:gd name="connsiteX2" fmla="*/ 10000 w 10000"/>
                  <a:gd name="connsiteY2" fmla="*/ 2395 h 10000"/>
                  <a:gd name="connsiteX3" fmla="*/ 9905 w 10000"/>
                  <a:gd name="connsiteY3" fmla="*/ 18 h 10000"/>
                  <a:gd name="connsiteX4" fmla="*/ 148 w 10000"/>
                  <a:gd name="connsiteY4" fmla="*/ 0 h 10000"/>
                  <a:gd name="connsiteX5" fmla="*/ 0 w 10000"/>
                  <a:gd name="connsiteY5" fmla="*/ 2350 h 10000"/>
                  <a:gd name="connsiteX6" fmla="*/ 4397 w 10000"/>
                  <a:gd name="connsiteY6" fmla="*/ 2350 h 10000"/>
                  <a:gd name="connsiteX7" fmla="*/ 4539 w 10000"/>
                  <a:gd name="connsiteY7" fmla="*/ 10000 h 10000"/>
                  <a:gd name="connsiteX8" fmla="*/ 6217 w 10000"/>
                  <a:gd name="connsiteY8" fmla="*/ 9852 h 10000"/>
                  <a:gd name="connsiteX0" fmla="*/ 6217 w 10000"/>
                  <a:gd name="connsiteY0" fmla="*/ 9852 h 10000"/>
                  <a:gd name="connsiteX1" fmla="*/ 6217 w 10000"/>
                  <a:gd name="connsiteY1" fmla="*/ 2350 h 10000"/>
                  <a:gd name="connsiteX2" fmla="*/ 10000 w 10000"/>
                  <a:gd name="connsiteY2" fmla="*/ 2395 h 10000"/>
                  <a:gd name="connsiteX3" fmla="*/ 9905 w 10000"/>
                  <a:gd name="connsiteY3" fmla="*/ 18 h 10000"/>
                  <a:gd name="connsiteX4" fmla="*/ 178 w 10000"/>
                  <a:gd name="connsiteY4" fmla="*/ 45 h 10000"/>
                  <a:gd name="connsiteX5" fmla="*/ 148 w 10000"/>
                  <a:gd name="connsiteY5" fmla="*/ 0 h 10000"/>
                  <a:gd name="connsiteX6" fmla="*/ 0 w 10000"/>
                  <a:gd name="connsiteY6" fmla="*/ 2350 h 10000"/>
                  <a:gd name="connsiteX7" fmla="*/ 4397 w 10000"/>
                  <a:gd name="connsiteY7" fmla="*/ 2350 h 10000"/>
                  <a:gd name="connsiteX8" fmla="*/ 4539 w 10000"/>
                  <a:gd name="connsiteY8" fmla="*/ 10000 h 10000"/>
                  <a:gd name="connsiteX9" fmla="*/ 6217 w 10000"/>
                  <a:gd name="connsiteY9" fmla="*/ 9852 h 10000"/>
                  <a:gd name="connsiteX0" fmla="*/ 6217 w 10000"/>
                  <a:gd name="connsiteY0" fmla="*/ 9834 h 9982"/>
                  <a:gd name="connsiteX1" fmla="*/ 6217 w 10000"/>
                  <a:gd name="connsiteY1" fmla="*/ 2332 h 9982"/>
                  <a:gd name="connsiteX2" fmla="*/ 10000 w 10000"/>
                  <a:gd name="connsiteY2" fmla="*/ 2377 h 9982"/>
                  <a:gd name="connsiteX3" fmla="*/ 9905 w 10000"/>
                  <a:gd name="connsiteY3" fmla="*/ 0 h 9982"/>
                  <a:gd name="connsiteX4" fmla="*/ 178 w 10000"/>
                  <a:gd name="connsiteY4" fmla="*/ 27 h 9982"/>
                  <a:gd name="connsiteX5" fmla="*/ 0 w 10000"/>
                  <a:gd name="connsiteY5" fmla="*/ 2332 h 9982"/>
                  <a:gd name="connsiteX6" fmla="*/ 4397 w 10000"/>
                  <a:gd name="connsiteY6" fmla="*/ 2332 h 9982"/>
                  <a:gd name="connsiteX7" fmla="*/ 4539 w 10000"/>
                  <a:gd name="connsiteY7" fmla="*/ 9982 h 9982"/>
                  <a:gd name="connsiteX8" fmla="*/ 6217 w 10000"/>
                  <a:gd name="connsiteY8" fmla="*/ 9834 h 9982"/>
                  <a:gd name="connsiteX0" fmla="*/ 6217 w 10000"/>
                  <a:gd name="connsiteY0" fmla="*/ 9899 h 10047"/>
                  <a:gd name="connsiteX1" fmla="*/ 6217 w 10000"/>
                  <a:gd name="connsiteY1" fmla="*/ 2383 h 10047"/>
                  <a:gd name="connsiteX2" fmla="*/ 10000 w 10000"/>
                  <a:gd name="connsiteY2" fmla="*/ 2428 h 10047"/>
                  <a:gd name="connsiteX3" fmla="*/ 9905 w 10000"/>
                  <a:gd name="connsiteY3" fmla="*/ 47 h 10047"/>
                  <a:gd name="connsiteX4" fmla="*/ 237 w 10000"/>
                  <a:gd name="connsiteY4" fmla="*/ 0 h 10047"/>
                  <a:gd name="connsiteX5" fmla="*/ 0 w 10000"/>
                  <a:gd name="connsiteY5" fmla="*/ 2383 h 10047"/>
                  <a:gd name="connsiteX6" fmla="*/ 4397 w 10000"/>
                  <a:gd name="connsiteY6" fmla="*/ 2383 h 10047"/>
                  <a:gd name="connsiteX7" fmla="*/ 4539 w 10000"/>
                  <a:gd name="connsiteY7" fmla="*/ 10047 h 10047"/>
                  <a:gd name="connsiteX8" fmla="*/ 6217 w 10000"/>
                  <a:gd name="connsiteY8" fmla="*/ 9899 h 10047"/>
                  <a:gd name="connsiteX0" fmla="*/ 6217 w 10000"/>
                  <a:gd name="connsiteY0" fmla="*/ 9899 h 14364"/>
                  <a:gd name="connsiteX1" fmla="*/ 6217 w 10000"/>
                  <a:gd name="connsiteY1" fmla="*/ 2383 h 14364"/>
                  <a:gd name="connsiteX2" fmla="*/ 10000 w 10000"/>
                  <a:gd name="connsiteY2" fmla="*/ 2428 h 14364"/>
                  <a:gd name="connsiteX3" fmla="*/ 9905 w 10000"/>
                  <a:gd name="connsiteY3" fmla="*/ 47 h 14364"/>
                  <a:gd name="connsiteX4" fmla="*/ 237 w 10000"/>
                  <a:gd name="connsiteY4" fmla="*/ 0 h 14364"/>
                  <a:gd name="connsiteX5" fmla="*/ 0 w 10000"/>
                  <a:gd name="connsiteY5" fmla="*/ 2383 h 14364"/>
                  <a:gd name="connsiteX6" fmla="*/ 4397 w 10000"/>
                  <a:gd name="connsiteY6" fmla="*/ 2383 h 14364"/>
                  <a:gd name="connsiteX7" fmla="*/ 4569 w 10000"/>
                  <a:gd name="connsiteY7" fmla="*/ 14364 h 14364"/>
                  <a:gd name="connsiteX8" fmla="*/ 6217 w 10000"/>
                  <a:gd name="connsiteY8" fmla="*/ 9899 h 14364"/>
                  <a:gd name="connsiteX0" fmla="*/ 6276 w 10000"/>
                  <a:gd name="connsiteY0" fmla="*/ 14345 h 14364"/>
                  <a:gd name="connsiteX1" fmla="*/ 6217 w 10000"/>
                  <a:gd name="connsiteY1" fmla="*/ 2383 h 14364"/>
                  <a:gd name="connsiteX2" fmla="*/ 10000 w 10000"/>
                  <a:gd name="connsiteY2" fmla="*/ 2428 h 14364"/>
                  <a:gd name="connsiteX3" fmla="*/ 9905 w 10000"/>
                  <a:gd name="connsiteY3" fmla="*/ 47 h 14364"/>
                  <a:gd name="connsiteX4" fmla="*/ 237 w 10000"/>
                  <a:gd name="connsiteY4" fmla="*/ 0 h 14364"/>
                  <a:gd name="connsiteX5" fmla="*/ 0 w 10000"/>
                  <a:gd name="connsiteY5" fmla="*/ 2383 h 14364"/>
                  <a:gd name="connsiteX6" fmla="*/ 4397 w 10000"/>
                  <a:gd name="connsiteY6" fmla="*/ 2383 h 14364"/>
                  <a:gd name="connsiteX7" fmla="*/ 4569 w 10000"/>
                  <a:gd name="connsiteY7" fmla="*/ 14364 h 14364"/>
                  <a:gd name="connsiteX8" fmla="*/ 6276 w 10000"/>
                  <a:gd name="connsiteY8" fmla="*/ 14345 h 14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0" h="14364">
                    <a:moveTo>
                      <a:pt x="6276" y="14345"/>
                    </a:moveTo>
                    <a:cubicBezTo>
                      <a:pt x="6256" y="10358"/>
                      <a:pt x="6237" y="6370"/>
                      <a:pt x="6217" y="2383"/>
                    </a:cubicBezTo>
                    <a:lnTo>
                      <a:pt x="10000" y="2428"/>
                    </a:lnTo>
                    <a:cubicBezTo>
                      <a:pt x="9968" y="1518"/>
                      <a:pt x="9937" y="959"/>
                      <a:pt x="9905" y="47"/>
                    </a:cubicBezTo>
                    <a:lnTo>
                      <a:pt x="237" y="0"/>
                    </a:lnTo>
                    <a:cubicBezTo>
                      <a:pt x="178" y="769"/>
                      <a:pt x="59" y="1614"/>
                      <a:pt x="0" y="2383"/>
                    </a:cubicBezTo>
                    <a:lnTo>
                      <a:pt x="4397" y="2383"/>
                    </a:lnTo>
                    <a:cubicBezTo>
                      <a:pt x="4444" y="4938"/>
                      <a:pt x="4522" y="11809"/>
                      <a:pt x="4569" y="14364"/>
                    </a:cubicBezTo>
                    <a:lnTo>
                      <a:pt x="6276" y="14345"/>
                    </a:lnTo>
                    <a:close/>
                  </a:path>
                </a:pathLst>
              </a:cu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25" name="Group 9"/>
              <p:cNvGrpSpPr>
                <a:grpSpLocks/>
              </p:cNvGrpSpPr>
              <p:nvPr/>
            </p:nvGrpSpPr>
            <p:grpSpPr bwMode="auto">
              <a:xfrm>
                <a:off x="6929136" y="1525203"/>
                <a:ext cx="649288" cy="271465"/>
                <a:chOff x="2740" y="1064"/>
                <a:chExt cx="409" cy="171"/>
              </a:xfrm>
            </p:grpSpPr>
            <p:grpSp>
              <p:nvGrpSpPr>
                <p:cNvPr id="328" name="Group 10"/>
                <p:cNvGrpSpPr>
                  <a:grpSpLocks/>
                </p:cNvGrpSpPr>
                <p:nvPr/>
              </p:nvGrpSpPr>
              <p:grpSpPr bwMode="auto">
                <a:xfrm>
                  <a:off x="2853" y="1064"/>
                  <a:ext cx="182" cy="171"/>
                  <a:chOff x="3067" y="1096"/>
                  <a:chExt cx="182" cy="171"/>
                </a:xfrm>
              </p:grpSpPr>
              <p:sp>
                <p:nvSpPr>
                  <p:cNvPr id="330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3104" y="1246"/>
                    <a:ext cx="9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3128" y="1267"/>
                    <a:ext cx="45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2" name="AutoShape 13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6" y="1096"/>
                    <a:ext cx="136" cy="9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8575" algn="ctr">
                    <a:solidFill>
                      <a:srgbClr val="0000FF"/>
                    </a:solidFill>
                    <a:miter lim="800000"/>
                    <a:headEnd/>
                    <a:tailEnd/>
                  </a:ln>
                </p:spPr>
                <p:txBody>
                  <a:bodyPr wrap="none" lIns="0" rIns="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067" y="1223"/>
                    <a:ext cx="18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9" name="Line 15"/>
                <p:cNvSpPr>
                  <a:spLocks noChangeShapeType="1"/>
                </p:cNvSpPr>
                <p:nvPr/>
              </p:nvSpPr>
              <p:spPr bwMode="auto">
                <a:xfrm>
                  <a:off x="2740" y="1172"/>
                  <a:ext cx="409" cy="0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26" name="任意多边形 325"/>
              <p:cNvSpPr/>
              <p:nvPr/>
            </p:nvSpPr>
            <p:spPr bwMode="auto">
              <a:xfrm>
                <a:off x="6926052" y="1695576"/>
                <a:ext cx="296725" cy="1535102"/>
              </a:xfrm>
              <a:custGeom>
                <a:avLst/>
                <a:gdLst>
                  <a:gd name="connsiteX0" fmla="*/ 0 w 296725"/>
                  <a:gd name="connsiteY0" fmla="*/ 0 h 1535102"/>
                  <a:gd name="connsiteX1" fmla="*/ 0 w 296725"/>
                  <a:gd name="connsiteY1" fmla="*/ 251309 h 1535102"/>
                  <a:gd name="connsiteX2" fmla="*/ 296725 w 296725"/>
                  <a:gd name="connsiteY2" fmla="*/ 254337 h 1535102"/>
                  <a:gd name="connsiteX3" fmla="*/ 293698 w 296725"/>
                  <a:gd name="connsiteY3" fmla="*/ 1535102 h 1535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725" h="1535102">
                    <a:moveTo>
                      <a:pt x="0" y="0"/>
                    </a:moveTo>
                    <a:lnTo>
                      <a:pt x="0" y="251309"/>
                    </a:lnTo>
                    <a:lnTo>
                      <a:pt x="296725" y="254337"/>
                    </a:lnTo>
                    <a:lnTo>
                      <a:pt x="293698" y="1535102"/>
                    </a:lnTo>
                  </a:path>
                </a:pathLst>
              </a:cu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27" name="任意多边形 326"/>
              <p:cNvSpPr/>
              <p:nvPr/>
            </p:nvSpPr>
            <p:spPr bwMode="auto">
              <a:xfrm>
                <a:off x="7342450" y="1680994"/>
                <a:ext cx="243813" cy="1552711"/>
              </a:xfrm>
              <a:custGeom>
                <a:avLst/>
                <a:gdLst>
                  <a:gd name="connsiteX0" fmla="*/ 242225 w 242225"/>
                  <a:gd name="connsiteY0" fmla="*/ 0 h 1532074"/>
                  <a:gd name="connsiteX1" fmla="*/ 242225 w 242225"/>
                  <a:gd name="connsiteY1" fmla="*/ 239197 h 1532074"/>
                  <a:gd name="connsiteX2" fmla="*/ 0 w 242225"/>
                  <a:gd name="connsiteY2" fmla="*/ 248281 h 1532074"/>
                  <a:gd name="connsiteX3" fmla="*/ 0 w 242225"/>
                  <a:gd name="connsiteY3" fmla="*/ 1532074 h 1532074"/>
                  <a:gd name="connsiteX0" fmla="*/ 243813 w 243813"/>
                  <a:gd name="connsiteY0" fmla="*/ 0 h 1552711"/>
                  <a:gd name="connsiteX1" fmla="*/ 242225 w 243813"/>
                  <a:gd name="connsiteY1" fmla="*/ 259834 h 1552711"/>
                  <a:gd name="connsiteX2" fmla="*/ 0 w 243813"/>
                  <a:gd name="connsiteY2" fmla="*/ 268918 h 1552711"/>
                  <a:gd name="connsiteX3" fmla="*/ 0 w 243813"/>
                  <a:gd name="connsiteY3" fmla="*/ 1552711 h 1552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813" h="1552711">
                    <a:moveTo>
                      <a:pt x="243813" y="0"/>
                    </a:moveTo>
                    <a:cubicBezTo>
                      <a:pt x="243284" y="86611"/>
                      <a:pt x="242754" y="173223"/>
                      <a:pt x="242225" y="259834"/>
                    </a:cubicBezTo>
                    <a:lnTo>
                      <a:pt x="0" y="268918"/>
                    </a:lnTo>
                    <a:lnTo>
                      <a:pt x="0" y="1552711"/>
                    </a:lnTo>
                  </a:path>
                </a:pathLst>
              </a:cu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659990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50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02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02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0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50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50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50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0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0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0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502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502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2212" grpId="0" animBg="1"/>
      <p:bldP spid="1502269" grpId="0"/>
      <p:bldP spid="1502270" grpId="0"/>
      <p:bldP spid="1502271" grpId="0"/>
      <p:bldP spid="1502272" grpId="0"/>
      <p:bldP spid="1502273" grpId="0"/>
      <p:bldP spid="1502274" grpId="0"/>
      <p:bldP spid="1502275" grpId="0"/>
      <p:bldP spid="1502276" grpId="0"/>
      <p:bldP spid="150227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3049588" y="5881688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03238" name="Text Box 6"/>
          <p:cNvSpPr txBox="1">
            <a:spLocks noChangeArrowheads="1"/>
          </p:cNvSpPr>
          <p:nvPr/>
        </p:nvSpPr>
        <p:spPr bwMode="auto">
          <a:xfrm>
            <a:off x="4381196" y="1967523"/>
            <a:ext cx="18152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=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400" b="1" i="1" dirty="0">
                <a:solidFill>
                  <a:srgbClr val="000066"/>
                </a:solidFill>
              </a:rPr>
              <a:t>L</a:t>
            </a:r>
            <a:r>
              <a:rPr lang="en-US" altLang="zh-CN" sz="2400" b="1" dirty="0">
                <a:solidFill>
                  <a:srgbClr val="000066"/>
                </a:solidFill>
              </a:rPr>
              <a:t> -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w</a:t>
            </a:r>
            <a:r>
              <a:rPr lang="en-US" altLang="zh-CN" sz="2400" b="1" dirty="0" err="1">
                <a:solidFill>
                  <a:srgbClr val="000066"/>
                </a:solidFill>
                <a:sym typeface="Symbol" pitchFamily="18" charset="2"/>
              </a:rPr>
              <a:t></a:t>
            </a:r>
            <a:r>
              <a:rPr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h</a:t>
            </a:r>
            <a:endParaRPr lang="en-US" altLang="zh-CN" sz="2400" b="1" i="1" dirty="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1503239" name="Text Box 7"/>
          <p:cNvSpPr txBox="1">
            <a:spLocks noChangeArrowheads="1"/>
          </p:cNvSpPr>
          <p:nvPr/>
        </p:nvSpPr>
        <p:spPr bwMode="auto">
          <a:xfrm>
            <a:off x="244475" y="598353"/>
            <a:ext cx="42767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土水整体受力分析</a:t>
            </a:r>
            <a:r>
              <a:rPr lang="en-US" altLang="zh-CN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对比</a:t>
            </a:r>
            <a:endParaRPr lang="zh-CN" altLang="en-US" sz="28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503240" name="AutoShape 8"/>
          <p:cNvSpPr>
            <a:spLocks noChangeArrowheads="1"/>
          </p:cNvSpPr>
          <p:nvPr/>
        </p:nvSpPr>
        <p:spPr bwMode="auto">
          <a:xfrm>
            <a:off x="1257915" y="2664502"/>
            <a:ext cx="557213" cy="406400"/>
          </a:xfrm>
          <a:prstGeom prst="homePlate">
            <a:avLst>
              <a:gd name="adj" fmla="val 34277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3307" name="Text Box 75"/>
          <p:cNvSpPr txBox="1">
            <a:spLocks noChangeArrowheads="1"/>
          </p:cNvSpPr>
          <p:nvPr/>
        </p:nvSpPr>
        <p:spPr bwMode="auto">
          <a:xfrm>
            <a:off x="747913" y="1333365"/>
            <a:ext cx="2845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静水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中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滤网支承力</a:t>
            </a:r>
          </a:p>
        </p:txBody>
      </p:sp>
      <p:sp>
        <p:nvSpPr>
          <p:cNvPr id="1503308" name="Text Box 76"/>
          <p:cNvSpPr txBox="1">
            <a:spLocks noChangeArrowheads="1"/>
          </p:cNvSpPr>
          <p:nvPr/>
        </p:nvSpPr>
        <p:spPr bwMode="auto">
          <a:xfrm>
            <a:off x="752676" y="1990856"/>
            <a:ext cx="41701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渗流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中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滤网支承力</a:t>
            </a:r>
          </a:p>
        </p:txBody>
      </p:sp>
      <p:sp>
        <p:nvSpPr>
          <p:cNvPr id="1503309" name="Text Box 77"/>
          <p:cNvSpPr txBox="1">
            <a:spLocks noChangeArrowheads="1"/>
          </p:cNvSpPr>
          <p:nvPr/>
        </p:nvSpPr>
        <p:spPr bwMode="auto">
          <a:xfrm>
            <a:off x="2063226" y="2670042"/>
            <a:ext cx="6123844" cy="2154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向上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渗流时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，滤网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支承力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减少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</a:rPr>
              <a:t>J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=</a:t>
            </a:r>
            <a:r>
              <a:rPr lang="el-GR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endParaRPr lang="en-US" altLang="zh-CN" sz="2400" b="1" dirty="0" smtClean="0">
              <a:solidFill>
                <a:srgbClr val="000066"/>
              </a:solidFill>
            </a:endParaRPr>
          </a:p>
          <a:p>
            <a:pPr marL="446088" indent="-446088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减少的</a:t>
            </a:r>
            <a:r>
              <a:rPr lang="zh-CN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部分是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由渗流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对土样的作用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造成，实际上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土样受到的渗透力的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总和</a:t>
            </a:r>
            <a:endParaRPr lang="en-US" altLang="zh-CN" sz="2400" b="1" i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46088" indent="-446088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单位体积土体的渗透力：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03310" name="Text Box 78"/>
          <p:cNvSpPr txBox="1">
            <a:spLocks noChangeArrowheads="1"/>
          </p:cNvSpPr>
          <p:nvPr/>
        </p:nvSpPr>
        <p:spPr bwMode="auto">
          <a:xfrm>
            <a:off x="4410534" y="1360677"/>
            <a:ext cx="10009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=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400" b="1" i="1" dirty="0">
                <a:solidFill>
                  <a:srgbClr val="000066"/>
                </a:solidFill>
              </a:rPr>
              <a:t>L</a:t>
            </a:r>
            <a:r>
              <a:rPr lang="en-US" altLang="zh-CN" sz="2400" b="1" dirty="0">
                <a:solidFill>
                  <a:srgbClr val="000066"/>
                </a:solidFill>
              </a:rPr>
              <a:t> </a:t>
            </a:r>
          </a:p>
        </p:txBody>
      </p:sp>
      <p:sp>
        <p:nvSpPr>
          <p:cNvPr id="8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3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333303"/>
              </p:ext>
            </p:extLst>
          </p:nvPr>
        </p:nvGraphicFramePr>
        <p:xfrm>
          <a:off x="2621584" y="4935063"/>
          <a:ext cx="2650131" cy="823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4" name="公式" r:id="rId4" imgW="1307880" imgH="406080" progId="Equation.3">
                  <p:embed/>
                </p:oleObj>
              </mc:Choice>
              <mc:Fallback>
                <p:oleObj name="公式" r:id="rId4" imgW="1307880" imgH="4060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21584" y="4935063"/>
                        <a:ext cx="2650131" cy="8233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22624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03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03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0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503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503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0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03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03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0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0"/>
                                        <p:tgtEl>
                                          <p:spTgt spid="150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3238" grpId="0"/>
      <p:bldP spid="1503239" grpId="0"/>
      <p:bldP spid="1503240" grpId="0" animBg="1"/>
      <p:bldP spid="1503307" grpId="0"/>
      <p:bldP spid="1503308" grpId="0"/>
      <p:bldP spid="1503309" grpId="0"/>
      <p:bldP spid="1503310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3222625" y="5692775"/>
            <a:ext cx="30575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渗透力的性质</a:t>
            </a:r>
          </a:p>
        </p:txBody>
      </p:sp>
      <p:sp>
        <p:nvSpPr>
          <p:cNvPr id="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7" name="Text Box 3"/>
          <p:cNvSpPr txBox="1">
            <a:spLocks noChangeArrowheads="1"/>
          </p:cNvSpPr>
          <p:nvPr/>
        </p:nvSpPr>
        <p:spPr bwMode="auto">
          <a:xfrm>
            <a:off x="1702833" y="2186179"/>
            <a:ext cx="5527270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6700" indent="-266700" eaLnBrk="1" hangingPunct="1">
              <a:lnSpc>
                <a:spcPct val="125000"/>
              </a:lnSpc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一维情况计算公式：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= 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i</a:t>
            </a:r>
            <a:endParaRPr lang="en-US" altLang="zh-CN" sz="2400" b="1" i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6700" indent="-266700" eaLnBrk="1" hangingPunct="1">
              <a:lnSpc>
                <a:spcPct val="125000"/>
              </a:lnSpc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三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维</a:t>
            </a: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情况计算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公式</a:t>
            </a:r>
            <a:r>
              <a:rPr lang="en-US" altLang="zh-CN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:</a:t>
            </a:r>
            <a:endParaRPr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959498"/>
              </p:ext>
            </p:extLst>
          </p:nvPr>
        </p:nvGraphicFramePr>
        <p:xfrm>
          <a:off x="4786313" y="2779713"/>
          <a:ext cx="2009775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08" name="公式" r:id="rId4" imgW="888840" imgH="698400" progId="Equation.3">
                  <p:embed/>
                </p:oleObj>
              </mc:Choice>
              <mc:Fallback>
                <p:oleObj name="公式" r:id="rId4" imgW="888840" imgH="698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86313" y="2779713"/>
                        <a:ext cx="2009775" cy="157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659162" y="827485"/>
            <a:ext cx="7527925" cy="1022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渗透力</a:t>
            </a:r>
            <a:r>
              <a:rPr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j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单位体积土体内土骨架所受到</a:t>
            </a:r>
            <a:b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 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的渗透水流的推动和拖曳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力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Text Box 3"/>
          <p:cNvSpPr txBox="1">
            <a:spLocks noChangeArrowheads="1"/>
          </p:cNvSpPr>
          <p:nvPr/>
        </p:nvSpPr>
        <p:spPr bwMode="auto">
          <a:xfrm>
            <a:off x="1392868" y="4447019"/>
            <a:ext cx="752895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C00000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渗透力是一种体积力，其大小和水力坡降成正比，作用方向也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同水力坡降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方向相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一致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933568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3222625" y="5692775"/>
            <a:ext cx="30575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渗透力的性质</a:t>
            </a:r>
          </a:p>
        </p:txBody>
      </p:sp>
      <p:sp>
        <p:nvSpPr>
          <p:cNvPr id="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1688008" y="1295800"/>
            <a:ext cx="6233247" cy="3008607"/>
          </a:xfrm>
          <a:prstGeom prst="rect">
            <a:avLst/>
          </a:prstGeom>
          <a:solidFill>
            <a:srgbClr val="99CC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546224" y="1231554"/>
            <a:ext cx="6087008" cy="2968850"/>
            <a:chOff x="566738" y="2135188"/>
            <a:chExt cx="3748517" cy="2131457"/>
          </a:xfrm>
        </p:grpSpPr>
        <p:sp>
          <p:nvSpPr>
            <p:cNvPr id="8" name="Text Box 91"/>
            <p:cNvSpPr txBox="1">
              <a:spLocks noChangeArrowheads="1"/>
            </p:cNvSpPr>
            <p:nvPr/>
          </p:nvSpPr>
          <p:spPr bwMode="auto">
            <a:xfrm>
              <a:off x="2301356" y="3897313"/>
              <a:ext cx="9281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土颗粒</a:t>
              </a:r>
              <a:endPara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endParaRPr>
            </a:p>
          </p:txBody>
        </p:sp>
        <p:sp>
          <p:nvSpPr>
            <p:cNvPr id="9" name="Text Box 92"/>
            <p:cNvSpPr txBox="1">
              <a:spLocks noChangeArrowheads="1"/>
            </p:cNvSpPr>
            <p:nvPr/>
          </p:nvSpPr>
          <p:spPr bwMode="auto">
            <a:xfrm>
              <a:off x="566738" y="2706688"/>
              <a:ext cx="763587" cy="862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水</a:t>
              </a:r>
              <a:endParaRPr lang="en-US" altLang="zh-CN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流</a:t>
              </a:r>
            </a:p>
          </p:txBody>
        </p:sp>
        <p:sp>
          <p:nvSpPr>
            <p:cNvPr id="10" name="Freeform 3169"/>
            <p:cNvSpPr>
              <a:spLocks/>
            </p:cNvSpPr>
            <p:nvPr/>
          </p:nvSpPr>
          <p:spPr bwMode="auto">
            <a:xfrm>
              <a:off x="2151063" y="2755900"/>
              <a:ext cx="1266825" cy="1092200"/>
            </a:xfrm>
            <a:custGeom>
              <a:avLst/>
              <a:gdLst>
                <a:gd name="T0" fmla="*/ 718 w 718"/>
                <a:gd name="T1" fmla="*/ 375 h 573"/>
                <a:gd name="T2" fmla="*/ 542 w 718"/>
                <a:gd name="T3" fmla="*/ 551 h 573"/>
                <a:gd name="T4" fmla="*/ 143 w 718"/>
                <a:gd name="T5" fmla="*/ 505 h 573"/>
                <a:gd name="T6" fmla="*/ 34 w 718"/>
                <a:gd name="T7" fmla="*/ 185 h 573"/>
                <a:gd name="T8" fmla="*/ 350 w 718"/>
                <a:gd name="T9" fmla="*/ 15 h 573"/>
                <a:gd name="T10" fmla="*/ 548 w 718"/>
                <a:gd name="T11" fmla="*/ 95 h 573"/>
                <a:gd name="T12" fmla="*/ 637 w 718"/>
                <a:gd name="T13" fmla="*/ 147 h 573"/>
                <a:gd name="T14" fmla="*/ 705 w 718"/>
                <a:gd name="T15" fmla="*/ 197 h 573"/>
                <a:gd name="T16" fmla="*/ 718 w 718"/>
                <a:gd name="T17" fmla="*/ 375 h 5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18"/>
                <a:gd name="T28" fmla="*/ 0 h 573"/>
                <a:gd name="T29" fmla="*/ 718 w 718"/>
                <a:gd name="T30" fmla="*/ 573 h 57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18" h="573">
                  <a:moveTo>
                    <a:pt x="718" y="375"/>
                  </a:moveTo>
                  <a:cubicBezTo>
                    <a:pt x="700" y="440"/>
                    <a:pt x="637" y="530"/>
                    <a:pt x="542" y="551"/>
                  </a:cubicBezTo>
                  <a:cubicBezTo>
                    <a:pt x="447" y="573"/>
                    <a:pt x="227" y="565"/>
                    <a:pt x="143" y="505"/>
                  </a:cubicBezTo>
                  <a:cubicBezTo>
                    <a:pt x="60" y="445"/>
                    <a:pt x="0" y="267"/>
                    <a:pt x="34" y="185"/>
                  </a:cubicBezTo>
                  <a:cubicBezTo>
                    <a:pt x="68" y="103"/>
                    <a:pt x="264" y="30"/>
                    <a:pt x="350" y="15"/>
                  </a:cubicBezTo>
                  <a:cubicBezTo>
                    <a:pt x="436" y="0"/>
                    <a:pt x="500" y="73"/>
                    <a:pt x="548" y="95"/>
                  </a:cubicBezTo>
                  <a:cubicBezTo>
                    <a:pt x="596" y="117"/>
                    <a:pt x="611" y="130"/>
                    <a:pt x="637" y="147"/>
                  </a:cubicBezTo>
                  <a:cubicBezTo>
                    <a:pt x="654" y="158"/>
                    <a:pt x="692" y="159"/>
                    <a:pt x="705" y="197"/>
                  </a:cubicBezTo>
                  <a:cubicBezTo>
                    <a:pt x="718" y="235"/>
                    <a:pt x="715" y="338"/>
                    <a:pt x="718" y="375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1" name="Group 3171"/>
            <p:cNvGrpSpPr>
              <a:grpSpLocks/>
            </p:cNvGrpSpPr>
            <p:nvPr/>
          </p:nvGrpSpPr>
          <p:grpSpPr bwMode="auto">
            <a:xfrm rot="5400000">
              <a:off x="811213" y="2957513"/>
              <a:ext cx="1306512" cy="500062"/>
              <a:chOff x="538" y="1296"/>
              <a:chExt cx="633" cy="283"/>
            </a:xfrm>
          </p:grpSpPr>
          <p:sp>
            <p:nvSpPr>
              <p:cNvPr id="26" name="Line 3172"/>
              <p:cNvSpPr>
                <a:spLocks noChangeAspect="1" noChangeShapeType="1"/>
              </p:cNvSpPr>
              <p:nvPr/>
            </p:nvSpPr>
            <p:spPr bwMode="auto">
              <a:xfrm rot="10800000">
                <a:off x="1171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Line 3173"/>
              <p:cNvSpPr>
                <a:spLocks noChangeAspect="1" noChangeShapeType="1"/>
              </p:cNvSpPr>
              <p:nvPr/>
            </p:nvSpPr>
            <p:spPr bwMode="auto">
              <a:xfrm rot="10800000">
                <a:off x="1103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Line 3174"/>
              <p:cNvSpPr>
                <a:spLocks noChangeAspect="1" noChangeShapeType="1"/>
              </p:cNvSpPr>
              <p:nvPr/>
            </p:nvSpPr>
            <p:spPr bwMode="auto">
              <a:xfrm rot="10800000">
                <a:off x="1032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Line 3175"/>
              <p:cNvSpPr>
                <a:spLocks noChangeAspect="1" noChangeShapeType="1"/>
              </p:cNvSpPr>
              <p:nvPr/>
            </p:nvSpPr>
            <p:spPr bwMode="auto">
              <a:xfrm rot="10800000">
                <a:off x="962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" name="Line 3176"/>
              <p:cNvSpPr>
                <a:spLocks noChangeAspect="1" noChangeShapeType="1"/>
              </p:cNvSpPr>
              <p:nvPr/>
            </p:nvSpPr>
            <p:spPr bwMode="auto">
              <a:xfrm rot="10800000">
                <a:off x="892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" name="Line 3177"/>
              <p:cNvSpPr>
                <a:spLocks noChangeAspect="1" noChangeShapeType="1"/>
              </p:cNvSpPr>
              <p:nvPr/>
            </p:nvSpPr>
            <p:spPr bwMode="auto">
              <a:xfrm rot="10800000">
                <a:off x="821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" name="Line 3178"/>
              <p:cNvSpPr>
                <a:spLocks noChangeAspect="1" noChangeShapeType="1"/>
              </p:cNvSpPr>
              <p:nvPr/>
            </p:nvSpPr>
            <p:spPr bwMode="auto">
              <a:xfrm rot="10800000">
                <a:off x="749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" name="Line 3179"/>
              <p:cNvSpPr>
                <a:spLocks noChangeAspect="1" noChangeShapeType="1"/>
              </p:cNvSpPr>
              <p:nvPr/>
            </p:nvSpPr>
            <p:spPr bwMode="auto">
              <a:xfrm rot="10800000">
                <a:off x="679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Line 3180"/>
              <p:cNvSpPr>
                <a:spLocks noChangeAspect="1" noChangeShapeType="1"/>
              </p:cNvSpPr>
              <p:nvPr/>
            </p:nvSpPr>
            <p:spPr bwMode="auto">
              <a:xfrm rot="10800000">
                <a:off x="608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Line 3181"/>
              <p:cNvSpPr>
                <a:spLocks noChangeAspect="1" noChangeShapeType="1"/>
              </p:cNvSpPr>
              <p:nvPr/>
            </p:nvSpPr>
            <p:spPr bwMode="auto">
              <a:xfrm rot="10800000">
                <a:off x="538" y="1296"/>
                <a:ext cx="0" cy="2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" name="Text Box 3182"/>
            <p:cNvSpPr txBox="1">
              <a:spLocks noChangeArrowheads="1"/>
            </p:cNvSpPr>
            <p:nvPr/>
          </p:nvSpPr>
          <p:spPr bwMode="auto">
            <a:xfrm>
              <a:off x="3791708" y="2266950"/>
              <a:ext cx="171522" cy="520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82289" rIns="0" bIns="82289">
              <a:spAutoFit/>
            </a:bodyPr>
            <a:lstStyle>
              <a:lvl1pPr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000" b="1" i="1"/>
                <a:t>F</a:t>
              </a:r>
              <a:endParaRPr lang="el-GR" altLang="zh-CN" sz="2000" b="1" baseline="-25000"/>
            </a:p>
          </p:txBody>
        </p:sp>
        <p:sp>
          <p:nvSpPr>
            <p:cNvPr id="13" name="Line 3183"/>
            <p:cNvSpPr>
              <a:spLocks noChangeShapeType="1"/>
            </p:cNvSpPr>
            <p:nvPr/>
          </p:nvSpPr>
          <p:spPr bwMode="auto">
            <a:xfrm>
              <a:off x="2781300" y="3314700"/>
              <a:ext cx="9731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3184"/>
            <p:cNvSpPr>
              <a:spLocks noChangeShapeType="1"/>
            </p:cNvSpPr>
            <p:nvPr/>
          </p:nvSpPr>
          <p:spPr bwMode="auto">
            <a:xfrm rot="-5400000">
              <a:off x="2421731" y="2961482"/>
              <a:ext cx="7254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3185"/>
            <p:cNvSpPr>
              <a:spLocks noChangeShapeType="1"/>
            </p:cNvSpPr>
            <p:nvPr/>
          </p:nvSpPr>
          <p:spPr bwMode="auto">
            <a:xfrm flipV="1">
              <a:off x="2390775" y="2868613"/>
              <a:ext cx="161925" cy="77787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3186"/>
            <p:cNvSpPr>
              <a:spLocks noChangeShapeType="1"/>
            </p:cNvSpPr>
            <p:nvPr/>
          </p:nvSpPr>
          <p:spPr bwMode="auto">
            <a:xfrm flipV="1">
              <a:off x="2211388" y="2843213"/>
              <a:ext cx="188912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187"/>
            <p:cNvSpPr>
              <a:spLocks noChangeShapeType="1"/>
            </p:cNvSpPr>
            <p:nvPr/>
          </p:nvSpPr>
          <p:spPr bwMode="auto">
            <a:xfrm>
              <a:off x="2290763" y="2573338"/>
              <a:ext cx="134937" cy="24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3188"/>
            <p:cNvSpPr>
              <a:spLocks noChangeShapeType="1"/>
            </p:cNvSpPr>
            <p:nvPr/>
          </p:nvSpPr>
          <p:spPr bwMode="auto">
            <a:xfrm flipV="1">
              <a:off x="2794000" y="2622550"/>
              <a:ext cx="952500" cy="684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3189"/>
            <p:cNvSpPr txBox="1">
              <a:spLocks noChangeArrowheads="1"/>
            </p:cNvSpPr>
            <p:nvPr/>
          </p:nvSpPr>
          <p:spPr bwMode="auto">
            <a:xfrm>
              <a:off x="2643374" y="2135188"/>
              <a:ext cx="782265" cy="520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82289" rIns="0" bIns="82289">
              <a:spAutoFit/>
            </a:bodyPr>
            <a:lstStyle>
              <a:lvl1pPr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2000" b="1" dirty="0"/>
                <a:t>升力</a:t>
              </a:r>
              <a:r>
                <a:rPr lang="en-US" altLang="zh-CN" sz="2000" b="1" i="1" dirty="0" err="1"/>
                <a:t>F</a:t>
              </a:r>
              <a:r>
                <a:rPr lang="en-US" altLang="zh-CN" sz="2000" b="1" baseline="-25000" dirty="0" err="1"/>
                <a:t>p</a:t>
              </a:r>
              <a:endParaRPr lang="el-GR" altLang="zh-CN" sz="2000" b="1" baseline="-25000" dirty="0"/>
            </a:p>
          </p:txBody>
        </p:sp>
        <p:sp>
          <p:nvSpPr>
            <p:cNvPr id="20" name="Line 3190"/>
            <p:cNvSpPr>
              <a:spLocks noChangeShapeType="1"/>
            </p:cNvSpPr>
            <p:nvPr/>
          </p:nvSpPr>
          <p:spPr bwMode="auto">
            <a:xfrm>
              <a:off x="2790825" y="2617788"/>
              <a:ext cx="968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3191"/>
            <p:cNvSpPr>
              <a:spLocks noChangeShapeType="1"/>
            </p:cNvSpPr>
            <p:nvPr/>
          </p:nvSpPr>
          <p:spPr bwMode="auto">
            <a:xfrm flipV="1">
              <a:off x="3752850" y="2625725"/>
              <a:ext cx="0" cy="6889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3193"/>
            <p:cNvSpPr txBox="1">
              <a:spLocks noChangeArrowheads="1"/>
            </p:cNvSpPr>
            <p:nvPr/>
          </p:nvSpPr>
          <p:spPr bwMode="auto">
            <a:xfrm>
              <a:off x="2172668" y="2193925"/>
              <a:ext cx="128240" cy="520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82289" rIns="0" bIns="82289">
              <a:spAutoFit/>
            </a:bodyPr>
            <a:lstStyle>
              <a:lvl1pPr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000" b="1" i="1"/>
                <a:t>p</a:t>
              </a:r>
              <a:endParaRPr lang="el-GR" altLang="zh-CN" sz="2000" b="1" baseline="-25000"/>
            </a:p>
          </p:txBody>
        </p:sp>
        <p:sp>
          <p:nvSpPr>
            <p:cNvPr id="23" name="Text Box 3194"/>
            <p:cNvSpPr txBox="1">
              <a:spLocks noChangeArrowheads="1"/>
            </p:cNvSpPr>
            <p:nvPr/>
          </p:nvSpPr>
          <p:spPr bwMode="auto">
            <a:xfrm>
              <a:off x="1953743" y="2679700"/>
              <a:ext cx="261290" cy="520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82289" rIns="0" bIns="82289">
              <a:spAutoFit/>
            </a:bodyPr>
            <a:lstStyle>
              <a:lvl1pPr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ym typeface="Symbol" pitchFamily="18" charset="2"/>
                </a:rPr>
                <a:t> </a:t>
              </a:r>
              <a:r>
                <a:rPr lang="en-US" altLang="zh-CN" sz="2000" b="1" baseline="-25000">
                  <a:sym typeface="Symbol" pitchFamily="18" charset="2"/>
                </a:rPr>
                <a:t>0</a:t>
              </a:r>
            </a:p>
          </p:txBody>
        </p:sp>
        <p:sp>
          <p:nvSpPr>
            <p:cNvPr id="24" name="Text Box 3195"/>
            <p:cNvSpPr txBox="1">
              <a:spLocks noChangeArrowheads="1"/>
            </p:cNvSpPr>
            <p:nvPr/>
          </p:nvSpPr>
          <p:spPr bwMode="auto">
            <a:xfrm>
              <a:off x="2401371" y="2846388"/>
              <a:ext cx="270908" cy="520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82289" rIns="0" bIns="82289">
              <a:spAutoFit/>
            </a:bodyPr>
            <a:lstStyle>
              <a:lvl1pPr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 err="1"/>
                <a:t>dS</a:t>
              </a:r>
              <a:endParaRPr lang="el-GR" altLang="zh-CN" sz="2000" b="1" baseline="-25000" dirty="0"/>
            </a:p>
          </p:txBody>
        </p:sp>
        <p:sp>
          <p:nvSpPr>
            <p:cNvPr id="25" name="Text Box 3192"/>
            <p:cNvSpPr txBox="1">
              <a:spLocks noChangeArrowheads="1"/>
            </p:cNvSpPr>
            <p:nvPr/>
          </p:nvSpPr>
          <p:spPr bwMode="auto">
            <a:xfrm>
              <a:off x="3569858" y="3321050"/>
              <a:ext cx="745397" cy="520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82289" rIns="0" bIns="82289">
              <a:spAutoFit/>
            </a:bodyPr>
            <a:lstStyle>
              <a:lvl1pPr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4457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4457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lang="zh-CN" altLang="en-US" sz="2000" b="1" dirty="0"/>
                <a:t>阻力</a:t>
              </a:r>
              <a:r>
                <a:rPr lang="en-US" altLang="zh-CN" sz="2000" b="1" i="1" dirty="0" err="1"/>
                <a:t>F</a:t>
              </a:r>
              <a:r>
                <a:rPr lang="en-US" altLang="zh-CN" sz="2000" b="1" baseline="-25000" dirty="0" err="1"/>
                <a:t>f</a:t>
              </a:r>
              <a:endParaRPr lang="el-GR" altLang="zh-CN" sz="2000" b="1" baseline="-25000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219121" y="4544985"/>
            <a:ext cx="3897221" cy="517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平面流场中土颗粒受力分析</a:t>
            </a:r>
            <a:endParaRPr lang="zh-CN" altLang="en-US" sz="24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8" name="Text Box 3170" descr="软木塞"/>
          <p:cNvSpPr txBox="1">
            <a:spLocks noChangeArrowheads="1"/>
          </p:cNvSpPr>
          <p:nvPr/>
        </p:nvSpPr>
        <p:spPr bwMode="auto">
          <a:xfrm>
            <a:off x="2702466" y="3625817"/>
            <a:ext cx="486767" cy="54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1044575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522288" defTabSz="1044575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044575" defTabSz="1044575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66863" defTabSz="1044575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90738" defTabSz="1044575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47938" defTabSz="10445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3005138" defTabSz="10445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62338" defTabSz="10445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919538" defTabSz="10445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400" b="1" dirty="0">
                <a:latin typeface="Times New Roman" pitchFamily="18" charset="0"/>
              </a:rPr>
              <a:t>v</a:t>
            </a:r>
            <a:r>
              <a:rPr lang="en-US" altLang="zh-CN" sz="2400" b="1" baseline="-25000" dirty="0">
                <a:latin typeface="Times New Roman" pitchFamily="18" charset="0"/>
                <a:sym typeface="Symbol" pitchFamily="18" charset="2"/>
              </a:rPr>
              <a:t></a:t>
            </a:r>
            <a:endParaRPr lang="en-US" altLang="zh-CN" sz="2400" b="1" dirty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853406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39" name="Text Box 128"/>
          <p:cNvSpPr txBox="1">
            <a:spLocks noChangeArrowheads="1"/>
          </p:cNvSpPr>
          <p:nvPr/>
        </p:nvSpPr>
        <p:spPr bwMode="auto">
          <a:xfrm>
            <a:off x="1637100" y="4455148"/>
            <a:ext cx="66988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饱和土样     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土骨架         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 sz="28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孔隙水</a:t>
            </a:r>
          </a:p>
        </p:txBody>
      </p:sp>
      <p:sp>
        <p:nvSpPr>
          <p:cNvPr id="1505419" name="Text Box 139"/>
          <p:cNvSpPr txBox="1">
            <a:spLocks noChangeArrowheads="1"/>
          </p:cNvSpPr>
          <p:nvPr/>
        </p:nvSpPr>
        <p:spPr bwMode="auto">
          <a:xfrm>
            <a:off x="502376" y="873919"/>
            <a:ext cx="32988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土水隔离受力分析</a:t>
            </a:r>
            <a:endParaRPr lang="en-US" altLang="zh-CN" sz="28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72710" name="Rectangle 141"/>
          <p:cNvSpPr>
            <a:spLocks noChangeArrowheads="1"/>
          </p:cNvSpPr>
          <p:nvPr/>
        </p:nvSpPr>
        <p:spPr bwMode="auto">
          <a:xfrm>
            <a:off x="3160713" y="6008688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711" name="Rectangle 142"/>
          <p:cNvSpPr>
            <a:spLocks noChangeArrowheads="1"/>
          </p:cNvSpPr>
          <p:nvPr/>
        </p:nvSpPr>
        <p:spPr bwMode="auto">
          <a:xfrm>
            <a:off x="3160713" y="6008688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4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01208" y="1945743"/>
            <a:ext cx="6317804" cy="2201569"/>
            <a:chOff x="1701208" y="1945743"/>
            <a:chExt cx="6317804" cy="2201569"/>
          </a:xfrm>
        </p:grpSpPr>
        <p:sp>
          <p:nvSpPr>
            <p:cNvPr id="72722" name="Text Box 4"/>
            <p:cNvSpPr txBox="1">
              <a:spLocks noChangeArrowheads="1"/>
            </p:cNvSpPr>
            <p:nvPr/>
          </p:nvSpPr>
          <p:spPr bwMode="auto">
            <a:xfrm>
              <a:off x="3481821" y="2668342"/>
              <a:ext cx="2909771" cy="584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 dirty="0">
                  <a:solidFill>
                    <a:srgbClr val="C00000"/>
                  </a:solidFill>
                  <a:ea typeface="幼圆" pitchFamily="49" charset="-122"/>
                </a:rPr>
                <a:t>=           </a:t>
              </a:r>
              <a:r>
                <a:rPr lang="zh-CN" altLang="en-US" sz="3200" b="1" dirty="0">
                  <a:solidFill>
                    <a:srgbClr val="C00000"/>
                  </a:solidFill>
                  <a:ea typeface="幼圆" pitchFamily="49" charset="-122"/>
                </a:rPr>
                <a:t>        </a:t>
              </a:r>
              <a:r>
                <a:rPr lang="zh-CN" altLang="en-US" sz="3200" b="1" dirty="0" smtClean="0">
                  <a:solidFill>
                    <a:srgbClr val="C00000"/>
                  </a:solidFill>
                  <a:ea typeface="幼圆" pitchFamily="49" charset="-122"/>
                </a:rPr>
                <a:t>  </a:t>
              </a:r>
              <a:r>
                <a:rPr lang="en-US" altLang="zh-CN" sz="3200" b="1" dirty="0" smtClean="0">
                  <a:solidFill>
                    <a:srgbClr val="C00000"/>
                  </a:solidFill>
                  <a:ea typeface="幼圆" pitchFamily="49" charset="-122"/>
                </a:rPr>
                <a:t>+ </a:t>
              </a:r>
              <a:endParaRPr lang="zh-CN" altLang="en-US" sz="32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  <p:grpSp>
          <p:nvGrpSpPr>
            <p:cNvPr id="72723" name="Group 5"/>
            <p:cNvGrpSpPr>
              <a:grpSpLocks/>
            </p:cNvGrpSpPr>
            <p:nvPr/>
          </p:nvGrpSpPr>
          <p:grpSpPr bwMode="auto">
            <a:xfrm>
              <a:off x="4240438" y="1961501"/>
              <a:ext cx="1447450" cy="2161047"/>
              <a:chOff x="1970" y="1207"/>
              <a:chExt cx="643" cy="960"/>
            </a:xfrm>
          </p:grpSpPr>
          <p:sp>
            <p:nvSpPr>
              <p:cNvPr id="72842" name="Freeform 6" descr="软木塞"/>
              <p:cNvSpPr>
                <a:spLocks/>
              </p:cNvSpPr>
              <p:nvPr/>
            </p:nvSpPr>
            <p:spPr bwMode="auto">
              <a:xfrm>
                <a:off x="1973" y="1207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43" name="Freeform 7" descr="软木塞"/>
              <p:cNvSpPr>
                <a:spLocks/>
              </p:cNvSpPr>
              <p:nvPr/>
            </p:nvSpPr>
            <p:spPr bwMode="auto">
              <a:xfrm>
                <a:off x="2162" y="1207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44" name="Freeform 8" descr="软木塞"/>
              <p:cNvSpPr>
                <a:spLocks/>
              </p:cNvSpPr>
              <p:nvPr/>
            </p:nvSpPr>
            <p:spPr bwMode="auto">
              <a:xfrm rot="2127360">
                <a:off x="2266" y="1229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45" name="Freeform 9" descr="软木塞"/>
              <p:cNvSpPr>
                <a:spLocks/>
              </p:cNvSpPr>
              <p:nvPr/>
            </p:nvSpPr>
            <p:spPr bwMode="auto">
              <a:xfrm>
                <a:off x="2472" y="1207"/>
                <a:ext cx="136" cy="18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46" name="Freeform 10" descr="软木塞"/>
              <p:cNvSpPr>
                <a:spLocks/>
              </p:cNvSpPr>
              <p:nvPr/>
            </p:nvSpPr>
            <p:spPr bwMode="auto">
              <a:xfrm>
                <a:off x="2418" y="1381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47" name="Freeform 11" descr="软木塞"/>
              <p:cNvSpPr>
                <a:spLocks/>
              </p:cNvSpPr>
              <p:nvPr/>
            </p:nvSpPr>
            <p:spPr bwMode="auto">
              <a:xfrm>
                <a:off x="1973" y="1434"/>
                <a:ext cx="227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48" name="Freeform 12" descr="软木塞"/>
              <p:cNvSpPr>
                <a:spLocks/>
              </p:cNvSpPr>
              <p:nvPr/>
            </p:nvSpPr>
            <p:spPr bwMode="auto">
              <a:xfrm>
                <a:off x="2394" y="2069"/>
                <a:ext cx="214" cy="91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49" name="Freeform 13" descr="软木塞"/>
              <p:cNvSpPr>
                <a:spLocks/>
              </p:cNvSpPr>
              <p:nvPr/>
            </p:nvSpPr>
            <p:spPr bwMode="auto">
              <a:xfrm>
                <a:off x="2186" y="1464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50" name="Freeform 14" descr="软木塞"/>
              <p:cNvSpPr>
                <a:spLocks/>
              </p:cNvSpPr>
              <p:nvPr/>
            </p:nvSpPr>
            <p:spPr bwMode="auto">
              <a:xfrm>
                <a:off x="1970" y="1679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51" name="Freeform 15" descr="软木塞"/>
              <p:cNvSpPr>
                <a:spLocks/>
              </p:cNvSpPr>
              <p:nvPr/>
            </p:nvSpPr>
            <p:spPr bwMode="auto">
              <a:xfrm>
                <a:off x="2159" y="1679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52" name="Freeform 16" descr="软木塞"/>
              <p:cNvSpPr>
                <a:spLocks/>
              </p:cNvSpPr>
              <p:nvPr/>
            </p:nvSpPr>
            <p:spPr bwMode="auto">
              <a:xfrm rot="2127360">
                <a:off x="2263" y="1701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53" name="Freeform 17" descr="软木塞"/>
              <p:cNvSpPr>
                <a:spLocks/>
              </p:cNvSpPr>
              <p:nvPr/>
            </p:nvSpPr>
            <p:spPr bwMode="auto">
              <a:xfrm>
                <a:off x="2469" y="1616"/>
                <a:ext cx="139" cy="245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54" name="Freeform 18" descr="软木塞"/>
              <p:cNvSpPr>
                <a:spLocks/>
              </p:cNvSpPr>
              <p:nvPr/>
            </p:nvSpPr>
            <p:spPr bwMode="auto">
              <a:xfrm>
                <a:off x="2415" y="1853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55" name="Freeform 19" descr="软木塞"/>
              <p:cNvSpPr>
                <a:spLocks/>
              </p:cNvSpPr>
              <p:nvPr/>
            </p:nvSpPr>
            <p:spPr bwMode="auto">
              <a:xfrm>
                <a:off x="1973" y="1888"/>
                <a:ext cx="179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56" name="Freeform 20" descr="软木塞"/>
              <p:cNvSpPr>
                <a:spLocks/>
              </p:cNvSpPr>
              <p:nvPr/>
            </p:nvSpPr>
            <p:spPr bwMode="auto">
              <a:xfrm>
                <a:off x="2145" y="1935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2724" name="Rectangle 21"/>
            <p:cNvSpPr>
              <a:spLocks noChangeArrowheads="1"/>
            </p:cNvSpPr>
            <p:nvPr/>
          </p:nvSpPr>
          <p:spPr bwMode="auto">
            <a:xfrm>
              <a:off x="1730473" y="1979509"/>
              <a:ext cx="1429442" cy="2145288"/>
            </a:xfrm>
            <a:prstGeom prst="rect">
              <a:avLst/>
            </a:prstGeom>
            <a:solidFill>
              <a:srgbClr val="3333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2725" name="Group 22"/>
            <p:cNvGrpSpPr>
              <a:grpSpLocks/>
            </p:cNvGrpSpPr>
            <p:nvPr/>
          </p:nvGrpSpPr>
          <p:grpSpPr bwMode="auto">
            <a:xfrm>
              <a:off x="1701208" y="1979511"/>
              <a:ext cx="1447450" cy="2167801"/>
              <a:chOff x="1970" y="1207"/>
              <a:chExt cx="643" cy="963"/>
            </a:xfrm>
          </p:grpSpPr>
          <p:sp>
            <p:nvSpPr>
              <p:cNvPr id="72827" name="Freeform 23" descr="软木塞"/>
              <p:cNvSpPr>
                <a:spLocks/>
              </p:cNvSpPr>
              <p:nvPr/>
            </p:nvSpPr>
            <p:spPr bwMode="auto">
              <a:xfrm>
                <a:off x="1973" y="1207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28" name="Freeform 24" descr="软木塞"/>
              <p:cNvSpPr>
                <a:spLocks/>
              </p:cNvSpPr>
              <p:nvPr/>
            </p:nvSpPr>
            <p:spPr bwMode="auto">
              <a:xfrm>
                <a:off x="2162" y="1207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29" name="Freeform 25" descr="软木塞"/>
              <p:cNvSpPr>
                <a:spLocks/>
              </p:cNvSpPr>
              <p:nvPr/>
            </p:nvSpPr>
            <p:spPr bwMode="auto">
              <a:xfrm rot="2127360">
                <a:off x="2266" y="1229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0" name="Freeform 26" descr="软木塞"/>
              <p:cNvSpPr>
                <a:spLocks/>
              </p:cNvSpPr>
              <p:nvPr/>
            </p:nvSpPr>
            <p:spPr bwMode="auto">
              <a:xfrm>
                <a:off x="2472" y="1207"/>
                <a:ext cx="136" cy="18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1" name="Freeform 27" descr="软木塞"/>
              <p:cNvSpPr>
                <a:spLocks/>
              </p:cNvSpPr>
              <p:nvPr/>
            </p:nvSpPr>
            <p:spPr bwMode="auto">
              <a:xfrm>
                <a:off x="2418" y="1381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2" name="Freeform 28" descr="软木塞"/>
              <p:cNvSpPr>
                <a:spLocks/>
              </p:cNvSpPr>
              <p:nvPr/>
            </p:nvSpPr>
            <p:spPr bwMode="auto">
              <a:xfrm>
                <a:off x="1973" y="1434"/>
                <a:ext cx="227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3" name="Freeform 29" descr="软木塞"/>
              <p:cNvSpPr>
                <a:spLocks/>
              </p:cNvSpPr>
              <p:nvPr/>
            </p:nvSpPr>
            <p:spPr bwMode="auto">
              <a:xfrm>
                <a:off x="2394" y="2069"/>
                <a:ext cx="214" cy="91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4" name="Freeform 30" descr="软木塞"/>
              <p:cNvSpPr>
                <a:spLocks/>
              </p:cNvSpPr>
              <p:nvPr/>
            </p:nvSpPr>
            <p:spPr bwMode="auto">
              <a:xfrm>
                <a:off x="2186" y="1464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5" name="Freeform 31" descr="软木塞"/>
              <p:cNvSpPr>
                <a:spLocks/>
              </p:cNvSpPr>
              <p:nvPr/>
            </p:nvSpPr>
            <p:spPr bwMode="auto">
              <a:xfrm>
                <a:off x="1970" y="1679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6" name="Freeform 32" descr="软木塞"/>
              <p:cNvSpPr>
                <a:spLocks/>
              </p:cNvSpPr>
              <p:nvPr/>
            </p:nvSpPr>
            <p:spPr bwMode="auto">
              <a:xfrm>
                <a:off x="2159" y="1679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7" name="Freeform 33" descr="软木塞"/>
              <p:cNvSpPr>
                <a:spLocks/>
              </p:cNvSpPr>
              <p:nvPr/>
            </p:nvSpPr>
            <p:spPr bwMode="auto">
              <a:xfrm rot="2127360">
                <a:off x="2263" y="1701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8" name="Freeform 34" descr="软木塞"/>
              <p:cNvSpPr>
                <a:spLocks/>
              </p:cNvSpPr>
              <p:nvPr/>
            </p:nvSpPr>
            <p:spPr bwMode="auto">
              <a:xfrm>
                <a:off x="2469" y="1616"/>
                <a:ext cx="139" cy="245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39" name="Freeform 35" descr="软木塞"/>
              <p:cNvSpPr>
                <a:spLocks/>
              </p:cNvSpPr>
              <p:nvPr/>
            </p:nvSpPr>
            <p:spPr bwMode="auto">
              <a:xfrm>
                <a:off x="2415" y="1853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40" name="Freeform 36" descr="软木塞"/>
              <p:cNvSpPr>
                <a:spLocks/>
              </p:cNvSpPr>
              <p:nvPr/>
            </p:nvSpPr>
            <p:spPr bwMode="auto">
              <a:xfrm>
                <a:off x="1973" y="1888"/>
                <a:ext cx="179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41" name="Freeform 37" descr="软木塞"/>
              <p:cNvSpPr>
                <a:spLocks/>
              </p:cNvSpPr>
              <p:nvPr/>
            </p:nvSpPr>
            <p:spPr bwMode="auto">
              <a:xfrm>
                <a:off x="2145" y="1938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2733" name="Rectangle 87"/>
            <p:cNvSpPr>
              <a:spLocks noChangeArrowheads="1"/>
            </p:cNvSpPr>
            <p:nvPr/>
          </p:nvSpPr>
          <p:spPr bwMode="auto">
            <a:xfrm>
              <a:off x="6589570" y="1945743"/>
              <a:ext cx="1429442" cy="2145288"/>
            </a:xfrm>
            <a:prstGeom prst="rect">
              <a:avLst/>
            </a:prstGeom>
            <a:solidFill>
              <a:srgbClr val="3333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2734" name="Group 88"/>
            <p:cNvGrpSpPr>
              <a:grpSpLocks/>
            </p:cNvGrpSpPr>
            <p:nvPr/>
          </p:nvGrpSpPr>
          <p:grpSpPr bwMode="auto">
            <a:xfrm>
              <a:off x="6560306" y="1945744"/>
              <a:ext cx="1447450" cy="2167800"/>
              <a:chOff x="1970" y="1207"/>
              <a:chExt cx="643" cy="963"/>
            </a:xfrm>
          </p:grpSpPr>
          <p:sp>
            <p:nvSpPr>
              <p:cNvPr id="72770" name="Freeform 89"/>
              <p:cNvSpPr>
                <a:spLocks/>
              </p:cNvSpPr>
              <p:nvPr/>
            </p:nvSpPr>
            <p:spPr bwMode="auto">
              <a:xfrm>
                <a:off x="1973" y="1207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71" name="Freeform 90"/>
              <p:cNvSpPr>
                <a:spLocks/>
              </p:cNvSpPr>
              <p:nvPr/>
            </p:nvSpPr>
            <p:spPr bwMode="auto">
              <a:xfrm>
                <a:off x="2162" y="1207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72" name="Freeform 91"/>
              <p:cNvSpPr>
                <a:spLocks/>
              </p:cNvSpPr>
              <p:nvPr/>
            </p:nvSpPr>
            <p:spPr bwMode="auto">
              <a:xfrm rot="2127360">
                <a:off x="2266" y="1229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73" name="Freeform 92"/>
              <p:cNvSpPr>
                <a:spLocks/>
              </p:cNvSpPr>
              <p:nvPr/>
            </p:nvSpPr>
            <p:spPr bwMode="auto">
              <a:xfrm>
                <a:off x="2472" y="1207"/>
                <a:ext cx="136" cy="18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74" name="Freeform 93"/>
              <p:cNvSpPr>
                <a:spLocks/>
              </p:cNvSpPr>
              <p:nvPr/>
            </p:nvSpPr>
            <p:spPr bwMode="auto">
              <a:xfrm>
                <a:off x="2418" y="1381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75" name="Freeform 94"/>
              <p:cNvSpPr>
                <a:spLocks/>
              </p:cNvSpPr>
              <p:nvPr/>
            </p:nvSpPr>
            <p:spPr bwMode="auto">
              <a:xfrm>
                <a:off x="1973" y="1434"/>
                <a:ext cx="227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76" name="Freeform 95"/>
              <p:cNvSpPr>
                <a:spLocks/>
              </p:cNvSpPr>
              <p:nvPr/>
            </p:nvSpPr>
            <p:spPr bwMode="auto">
              <a:xfrm>
                <a:off x="2394" y="2069"/>
                <a:ext cx="214" cy="91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77" name="Freeform 96"/>
              <p:cNvSpPr>
                <a:spLocks/>
              </p:cNvSpPr>
              <p:nvPr/>
            </p:nvSpPr>
            <p:spPr bwMode="auto">
              <a:xfrm>
                <a:off x="2186" y="1464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78" name="Freeform 97"/>
              <p:cNvSpPr>
                <a:spLocks/>
              </p:cNvSpPr>
              <p:nvPr/>
            </p:nvSpPr>
            <p:spPr bwMode="auto">
              <a:xfrm>
                <a:off x="1970" y="1679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79" name="Freeform 98"/>
              <p:cNvSpPr>
                <a:spLocks/>
              </p:cNvSpPr>
              <p:nvPr/>
            </p:nvSpPr>
            <p:spPr bwMode="auto">
              <a:xfrm>
                <a:off x="2159" y="1679"/>
                <a:ext cx="137" cy="273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0" name="Freeform 99"/>
              <p:cNvSpPr>
                <a:spLocks/>
              </p:cNvSpPr>
              <p:nvPr/>
            </p:nvSpPr>
            <p:spPr bwMode="auto">
              <a:xfrm rot="2127360">
                <a:off x="2263" y="1701"/>
                <a:ext cx="236" cy="179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1" name="Freeform 100"/>
              <p:cNvSpPr>
                <a:spLocks/>
              </p:cNvSpPr>
              <p:nvPr/>
            </p:nvSpPr>
            <p:spPr bwMode="auto">
              <a:xfrm>
                <a:off x="2469" y="1616"/>
                <a:ext cx="139" cy="245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2" name="Freeform 101"/>
              <p:cNvSpPr>
                <a:spLocks/>
              </p:cNvSpPr>
              <p:nvPr/>
            </p:nvSpPr>
            <p:spPr bwMode="auto">
              <a:xfrm>
                <a:off x="2415" y="1853"/>
                <a:ext cx="195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3" name="Freeform 102"/>
              <p:cNvSpPr>
                <a:spLocks/>
              </p:cNvSpPr>
              <p:nvPr/>
            </p:nvSpPr>
            <p:spPr bwMode="auto">
              <a:xfrm>
                <a:off x="1973" y="1898"/>
                <a:ext cx="179" cy="27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4" name="Freeform 103"/>
              <p:cNvSpPr>
                <a:spLocks/>
              </p:cNvSpPr>
              <p:nvPr/>
            </p:nvSpPr>
            <p:spPr bwMode="auto">
              <a:xfrm>
                <a:off x="2145" y="1935"/>
                <a:ext cx="273" cy="232"/>
              </a:xfrm>
              <a:custGeom>
                <a:avLst/>
                <a:gdLst>
                  <a:gd name="T0" fmla="*/ 191 w 195"/>
                  <a:gd name="T1" fmla="*/ 113 h 232"/>
                  <a:gd name="T2" fmla="*/ 145 w 195"/>
                  <a:gd name="T3" fmla="*/ 224 h 232"/>
                  <a:gd name="T4" fmla="*/ 38 w 195"/>
                  <a:gd name="T5" fmla="*/ 161 h 232"/>
                  <a:gd name="T6" fmla="*/ 9 w 195"/>
                  <a:gd name="T7" fmla="*/ 43 h 232"/>
                  <a:gd name="T8" fmla="*/ 90 w 195"/>
                  <a:gd name="T9" fmla="*/ 5 h 232"/>
                  <a:gd name="T10" fmla="*/ 146 w 195"/>
                  <a:gd name="T11" fmla="*/ 10 h 232"/>
                  <a:gd name="T12" fmla="*/ 170 w 195"/>
                  <a:gd name="T13" fmla="*/ 29 h 232"/>
                  <a:gd name="T14" fmla="*/ 191 w 195"/>
                  <a:gd name="T15" fmla="*/ 113 h 2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5"/>
                  <a:gd name="T25" fmla="*/ 0 h 232"/>
                  <a:gd name="T26" fmla="*/ 195 w 195"/>
                  <a:gd name="T27" fmla="*/ 232 h 2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5" h="232">
                    <a:moveTo>
                      <a:pt x="191" y="113"/>
                    </a:moveTo>
                    <a:cubicBezTo>
                      <a:pt x="187" y="145"/>
                      <a:pt x="170" y="216"/>
                      <a:pt x="145" y="224"/>
                    </a:cubicBezTo>
                    <a:cubicBezTo>
                      <a:pt x="120" y="232"/>
                      <a:pt x="61" y="191"/>
                      <a:pt x="38" y="161"/>
                    </a:cubicBezTo>
                    <a:cubicBezTo>
                      <a:pt x="15" y="131"/>
                      <a:pt x="0" y="69"/>
                      <a:pt x="9" y="43"/>
                    </a:cubicBezTo>
                    <a:cubicBezTo>
                      <a:pt x="18" y="17"/>
                      <a:pt x="67" y="10"/>
                      <a:pt x="90" y="5"/>
                    </a:cubicBezTo>
                    <a:cubicBezTo>
                      <a:pt x="113" y="0"/>
                      <a:pt x="133" y="6"/>
                      <a:pt x="146" y="10"/>
                    </a:cubicBezTo>
                    <a:cubicBezTo>
                      <a:pt x="159" y="14"/>
                      <a:pt x="163" y="12"/>
                      <a:pt x="170" y="29"/>
                    </a:cubicBezTo>
                    <a:cubicBezTo>
                      <a:pt x="177" y="34"/>
                      <a:pt x="195" y="81"/>
                      <a:pt x="19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5" name="Rectangle 21"/>
            <p:cNvSpPr>
              <a:spLocks noChangeArrowheads="1"/>
            </p:cNvSpPr>
            <p:nvPr/>
          </p:nvSpPr>
          <p:spPr bwMode="auto">
            <a:xfrm>
              <a:off x="4247531" y="1970762"/>
              <a:ext cx="1429442" cy="214528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prstDash val="lgDash"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291984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39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4549" y="1903203"/>
            <a:ext cx="2684630" cy="2167801"/>
            <a:chOff x="294549" y="2126496"/>
            <a:chExt cx="2684630" cy="2167801"/>
          </a:xfrm>
        </p:grpSpPr>
        <p:grpSp>
          <p:nvGrpSpPr>
            <p:cNvPr id="3" name="组合 2"/>
            <p:cNvGrpSpPr/>
            <p:nvPr/>
          </p:nvGrpSpPr>
          <p:grpSpPr>
            <a:xfrm>
              <a:off x="1520473" y="2126496"/>
              <a:ext cx="1458706" cy="2167801"/>
              <a:chOff x="1520473" y="2232826"/>
              <a:chExt cx="1458706" cy="2167801"/>
            </a:xfrm>
          </p:grpSpPr>
          <p:sp>
            <p:nvSpPr>
              <p:cNvPr id="84" name="Rectangle 87"/>
              <p:cNvSpPr>
                <a:spLocks noChangeArrowheads="1"/>
              </p:cNvSpPr>
              <p:nvPr/>
            </p:nvSpPr>
            <p:spPr bwMode="auto">
              <a:xfrm>
                <a:off x="1549737" y="2232826"/>
                <a:ext cx="1429442" cy="2145288"/>
              </a:xfrm>
              <a:prstGeom prst="rect">
                <a:avLst/>
              </a:prstGeom>
              <a:solidFill>
                <a:srgbClr val="3333FF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85" name="Group 88"/>
              <p:cNvGrpSpPr>
                <a:grpSpLocks/>
              </p:cNvGrpSpPr>
              <p:nvPr/>
            </p:nvGrpSpPr>
            <p:grpSpPr bwMode="auto">
              <a:xfrm>
                <a:off x="1520473" y="2232827"/>
                <a:ext cx="1447450" cy="2167800"/>
                <a:chOff x="1970" y="1207"/>
                <a:chExt cx="643" cy="963"/>
              </a:xfrm>
            </p:grpSpPr>
            <p:sp>
              <p:nvSpPr>
                <p:cNvPr id="86" name="Freeform 89"/>
                <p:cNvSpPr>
                  <a:spLocks/>
                </p:cNvSpPr>
                <p:nvPr/>
              </p:nvSpPr>
              <p:spPr bwMode="auto">
                <a:xfrm>
                  <a:off x="1973" y="1207"/>
                  <a:ext cx="195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Freeform 90"/>
                <p:cNvSpPr>
                  <a:spLocks/>
                </p:cNvSpPr>
                <p:nvPr/>
              </p:nvSpPr>
              <p:spPr bwMode="auto">
                <a:xfrm>
                  <a:off x="2162" y="1207"/>
                  <a:ext cx="137" cy="273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" name="Freeform 91"/>
                <p:cNvSpPr>
                  <a:spLocks/>
                </p:cNvSpPr>
                <p:nvPr/>
              </p:nvSpPr>
              <p:spPr bwMode="auto">
                <a:xfrm rot="2127360">
                  <a:off x="2266" y="1229"/>
                  <a:ext cx="236" cy="179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Freeform 92"/>
                <p:cNvSpPr>
                  <a:spLocks/>
                </p:cNvSpPr>
                <p:nvPr/>
              </p:nvSpPr>
              <p:spPr bwMode="auto">
                <a:xfrm>
                  <a:off x="2472" y="1207"/>
                  <a:ext cx="136" cy="18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Freeform 93"/>
                <p:cNvSpPr>
                  <a:spLocks/>
                </p:cNvSpPr>
                <p:nvPr/>
              </p:nvSpPr>
              <p:spPr bwMode="auto">
                <a:xfrm>
                  <a:off x="2418" y="1381"/>
                  <a:ext cx="195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Freeform 94"/>
                <p:cNvSpPr>
                  <a:spLocks/>
                </p:cNvSpPr>
                <p:nvPr/>
              </p:nvSpPr>
              <p:spPr bwMode="auto">
                <a:xfrm>
                  <a:off x="1973" y="1434"/>
                  <a:ext cx="227" cy="27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95"/>
                <p:cNvSpPr>
                  <a:spLocks/>
                </p:cNvSpPr>
                <p:nvPr/>
              </p:nvSpPr>
              <p:spPr bwMode="auto">
                <a:xfrm>
                  <a:off x="2394" y="2069"/>
                  <a:ext cx="214" cy="91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" name="Freeform 96"/>
                <p:cNvSpPr>
                  <a:spLocks/>
                </p:cNvSpPr>
                <p:nvPr/>
              </p:nvSpPr>
              <p:spPr bwMode="auto">
                <a:xfrm>
                  <a:off x="2186" y="1464"/>
                  <a:ext cx="273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97"/>
                <p:cNvSpPr>
                  <a:spLocks/>
                </p:cNvSpPr>
                <p:nvPr/>
              </p:nvSpPr>
              <p:spPr bwMode="auto">
                <a:xfrm>
                  <a:off x="1970" y="1679"/>
                  <a:ext cx="195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98"/>
                <p:cNvSpPr>
                  <a:spLocks/>
                </p:cNvSpPr>
                <p:nvPr/>
              </p:nvSpPr>
              <p:spPr bwMode="auto">
                <a:xfrm>
                  <a:off x="2159" y="1679"/>
                  <a:ext cx="137" cy="273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99"/>
                <p:cNvSpPr>
                  <a:spLocks/>
                </p:cNvSpPr>
                <p:nvPr/>
              </p:nvSpPr>
              <p:spPr bwMode="auto">
                <a:xfrm rot="2127360">
                  <a:off x="2263" y="1701"/>
                  <a:ext cx="236" cy="179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00"/>
                <p:cNvSpPr>
                  <a:spLocks/>
                </p:cNvSpPr>
                <p:nvPr/>
              </p:nvSpPr>
              <p:spPr bwMode="auto">
                <a:xfrm>
                  <a:off x="2469" y="1616"/>
                  <a:ext cx="139" cy="245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01"/>
                <p:cNvSpPr>
                  <a:spLocks/>
                </p:cNvSpPr>
                <p:nvPr/>
              </p:nvSpPr>
              <p:spPr bwMode="auto">
                <a:xfrm>
                  <a:off x="2415" y="1853"/>
                  <a:ext cx="195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2"/>
                <p:cNvSpPr>
                  <a:spLocks/>
                </p:cNvSpPr>
                <p:nvPr/>
              </p:nvSpPr>
              <p:spPr bwMode="auto">
                <a:xfrm>
                  <a:off x="1973" y="1898"/>
                  <a:ext cx="179" cy="27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Freeform 103"/>
                <p:cNvSpPr>
                  <a:spLocks/>
                </p:cNvSpPr>
                <p:nvPr/>
              </p:nvSpPr>
              <p:spPr bwMode="auto">
                <a:xfrm>
                  <a:off x="2145" y="1935"/>
                  <a:ext cx="273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1" name="Text Box 23" descr="软木塞"/>
            <p:cNvSpPr txBox="1">
              <a:spLocks noChangeArrowheads="1"/>
            </p:cNvSpPr>
            <p:nvPr/>
          </p:nvSpPr>
          <p:spPr bwMode="auto">
            <a:xfrm>
              <a:off x="294549" y="2826710"/>
              <a:ext cx="92813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截面积</a:t>
              </a:r>
              <a:br>
                <a:rPr lang="zh-CN" altLang="en-US" sz="24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</a:br>
              <a:r>
                <a:rPr lang="en-US" altLang="zh-CN" sz="2400" b="1" i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=1</a:t>
              </a:r>
            </a:p>
          </p:txBody>
        </p:sp>
      </p:grpSp>
      <p:sp>
        <p:nvSpPr>
          <p:cNvPr id="1505419" name="Text Box 139"/>
          <p:cNvSpPr txBox="1">
            <a:spLocks noChangeArrowheads="1"/>
          </p:cNvSpPr>
          <p:nvPr/>
        </p:nvSpPr>
        <p:spPr bwMode="auto">
          <a:xfrm>
            <a:off x="417312" y="650626"/>
            <a:ext cx="32988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 孔隙水</a:t>
            </a:r>
            <a:r>
              <a:rPr lang="zh-CN" altLang="en-US" sz="28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受力分析</a:t>
            </a:r>
            <a:endParaRPr lang="en-US" altLang="zh-CN" sz="28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5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4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9" name="Text Box 145"/>
          <p:cNvSpPr txBox="1">
            <a:spLocks noChangeArrowheads="1"/>
          </p:cNvSpPr>
          <p:nvPr/>
        </p:nvSpPr>
        <p:spPr bwMode="auto">
          <a:xfrm>
            <a:off x="3876804" y="763890"/>
            <a:ext cx="379623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(1) 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两端水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压力：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 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sz="2400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lang="en-US" altLang="zh-CN" sz="22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   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  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= 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endParaRPr lang="zh-CN" altLang="en-US" sz="22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80" name="Text Box 145"/>
          <p:cNvSpPr txBox="1">
            <a:spLocks noChangeArrowheads="1"/>
          </p:cNvSpPr>
          <p:nvPr/>
        </p:nvSpPr>
        <p:spPr bwMode="auto">
          <a:xfrm>
            <a:off x="3880344" y="1618045"/>
            <a:ext cx="43332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(2)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渗透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力的反力：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J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=J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Lj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81" name="Text Box 145"/>
          <p:cNvSpPr txBox="1">
            <a:spLocks noChangeArrowheads="1"/>
          </p:cNvSpPr>
          <p:nvPr/>
        </p:nvSpPr>
        <p:spPr bwMode="auto">
          <a:xfrm>
            <a:off x="3885286" y="2274532"/>
            <a:ext cx="4865308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(3)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孔隙水重力：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68280" y="2163191"/>
            <a:ext cx="577075" cy="648000"/>
            <a:chOff x="2268280" y="2386484"/>
            <a:chExt cx="577075" cy="648000"/>
          </a:xfrm>
        </p:grpSpPr>
        <p:sp>
          <p:nvSpPr>
            <p:cNvPr id="141" name="Text Box 127"/>
            <p:cNvSpPr txBox="1">
              <a:spLocks noChangeArrowheads="1"/>
            </p:cNvSpPr>
            <p:nvPr/>
          </p:nvSpPr>
          <p:spPr bwMode="auto">
            <a:xfrm>
              <a:off x="2394505" y="2625726"/>
              <a:ext cx="45085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 smtClean="0">
                  <a:ea typeface="幼圆" pitchFamily="49" charset="-122"/>
                </a:rPr>
                <a:t>W</a:t>
              </a:r>
              <a:r>
                <a:rPr lang="en-US" altLang="zh-CN" sz="2400" b="1" i="1" baseline="-25000" dirty="0" err="1" smtClean="0">
                  <a:ea typeface="幼圆" pitchFamily="49" charset="-122"/>
                </a:rPr>
                <a:t>v</a:t>
              </a:r>
              <a:endParaRPr lang="en-US" altLang="zh-CN" sz="2400" b="1" i="1" dirty="0">
                <a:ea typeface="幼圆" pitchFamily="49" charset="-122"/>
              </a:endParaRPr>
            </a:p>
          </p:txBody>
        </p:sp>
        <p:sp>
          <p:nvSpPr>
            <p:cNvPr id="73" name="Line 85"/>
            <p:cNvSpPr>
              <a:spLocks noChangeShapeType="1"/>
            </p:cNvSpPr>
            <p:nvPr/>
          </p:nvSpPr>
          <p:spPr bwMode="auto">
            <a:xfrm>
              <a:off x="2268280" y="2386484"/>
              <a:ext cx="0" cy="6480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255689" y="3377098"/>
            <a:ext cx="421243" cy="540000"/>
            <a:chOff x="2255689" y="3600391"/>
            <a:chExt cx="421243" cy="540000"/>
          </a:xfrm>
        </p:grpSpPr>
        <p:sp>
          <p:nvSpPr>
            <p:cNvPr id="143" name="Text Box 133"/>
            <p:cNvSpPr txBox="1">
              <a:spLocks noChangeArrowheads="1"/>
            </p:cNvSpPr>
            <p:nvPr/>
          </p:nvSpPr>
          <p:spPr bwMode="auto">
            <a:xfrm>
              <a:off x="2446745" y="3668047"/>
              <a:ext cx="230187" cy="3698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</a:rPr>
                <a:t>J</a:t>
              </a:r>
              <a:r>
                <a:rPr lang="en-US" altLang="zh-CN" sz="2400" b="1" dirty="0">
                  <a:ea typeface="幼圆" pitchFamily="49" charset="-122"/>
                  <a:sym typeface="Symbol" pitchFamily="18" charset="2"/>
                </a:rPr>
                <a:t></a:t>
              </a:r>
            </a:p>
          </p:txBody>
        </p:sp>
        <p:sp>
          <p:nvSpPr>
            <p:cNvPr id="75" name="Line 129"/>
            <p:cNvSpPr>
              <a:spLocks noChangeShapeType="1"/>
            </p:cNvSpPr>
            <p:nvPr/>
          </p:nvSpPr>
          <p:spPr bwMode="auto">
            <a:xfrm flipV="1">
              <a:off x="2255689" y="3600391"/>
              <a:ext cx="0" cy="54000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555933" y="1103337"/>
            <a:ext cx="1389286" cy="756171"/>
            <a:chOff x="1555933" y="1326630"/>
            <a:chExt cx="1389286" cy="756171"/>
          </a:xfrm>
        </p:grpSpPr>
        <p:grpSp>
          <p:nvGrpSpPr>
            <p:cNvPr id="129" name="Group 115"/>
            <p:cNvGrpSpPr>
              <a:grpSpLocks noChangeAspect="1"/>
            </p:cNvGrpSpPr>
            <p:nvPr/>
          </p:nvGrpSpPr>
          <p:grpSpPr bwMode="auto">
            <a:xfrm>
              <a:off x="1555933" y="1793876"/>
              <a:ext cx="1389286" cy="288925"/>
              <a:chOff x="1973" y="935"/>
              <a:chExt cx="611" cy="272"/>
            </a:xfrm>
          </p:grpSpPr>
          <p:sp>
            <p:nvSpPr>
              <p:cNvPr id="130" name="Line 116"/>
              <p:cNvSpPr>
                <a:spLocks noChangeAspect="1" noChangeShapeType="1"/>
              </p:cNvSpPr>
              <p:nvPr/>
            </p:nvSpPr>
            <p:spPr bwMode="auto">
              <a:xfrm>
                <a:off x="1973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1" name="Line 117"/>
              <p:cNvSpPr>
                <a:spLocks noChangeAspect="1" noChangeShapeType="1"/>
              </p:cNvSpPr>
              <p:nvPr/>
            </p:nvSpPr>
            <p:spPr bwMode="auto">
              <a:xfrm>
                <a:off x="2040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2" name="Line 118"/>
              <p:cNvSpPr>
                <a:spLocks noChangeAspect="1" noChangeShapeType="1"/>
              </p:cNvSpPr>
              <p:nvPr/>
            </p:nvSpPr>
            <p:spPr bwMode="auto">
              <a:xfrm>
                <a:off x="2109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" name="Line 119"/>
              <p:cNvSpPr>
                <a:spLocks noChangeAspect="1" noChangeShapeType="1"/>
              </p:cNvSpPr>
              <p:nvPr/>
            </p:nvSpPr>
            <p:spPr bwMode="auto">
              <a:xfrm>
                <a:off x="2176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4" name="Line 120"/>
              <p:cNvSpPr>
                <a:spLocks noChangeAspect="1" noChangeShapeType="1"/>
              </p:cNvSpPr>
              <p:nvPr/>
            </p:nvSpPr>
            <p:spPr bwMode="auto">
              <a:xfrm>
                <a:off x="2243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5" name="Line 121"/>
              <p:cNvSpPr>
                <a:spLocks noChangeAspect="1" noChangeShapeType="1"/>
              </p:cNvSpPr>
              <p:nvPr/>
            </p:nvSpPr>
            <p:spPr bwMode="auto">
              <a:xfrm>
                <a:off x="2312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" name="Line 122"/>
              <p:cNvSpPr>
                <a:spLocks noChangeAspect="1" noChangeShapeType="1"/>
              </p:cNvSpPr>
              <p:nvPr/>
            </p:nvSpPr>
            <p:spPr bwMode="auto">
              <a:xfrm>
                <a:off x="2381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" name="Line 123"/>
              <p:cNvSpPr>
                <a:spLocks noChangeAspect="1" noChangeShapeType="1"/>
              </p:cNvSpPr>
              <p:nvPr/>
            </p:nvSpPr>
            <p:spPr bwMode="auto">
              <a:xfrm>
                <a:off x="2448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8" name="Line 124"/>
              <p:cNvSpPr>
                <a:spLocks noChangeAspect="1" noChangeShapeType="1"/>
              </p:cNvSpPr>
              <p:nvPr/>
            </p:nvSpPr>
            <p:spPr bwMode="auto">
              <a:xfrm>
                <a:off x="2517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9" name="Line 125"/>
              <p:cNvSpPr>
                <a:spLocks noChangeAspect="1" noChangeShapeType="1"/>
              </p:cNvSpPr>
              <p:nvPr/>
            </p:nvSpPr>
            <p:spPr bwMode="auto">
              <a:xfrm>
                <a:off x="2584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4" name="Text Box 134"/>
            <p:cNvSpPr txBox="1">
              <a:spLocks noChangeArrowheads="1"/>
            </p:cNvSpPr>
            <p:nvPr/>
          </p:nvSpPr>
          <p:spPr bwMode="auto">
            <a:xfrm>
              <a:off x="2080630" y="1326630"/>
              <a:ext cx="474662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</a:rPr>
                <a:t>P</a:t>
              </a:r>
              <a:r>
                <a:rPr lang="en-US" altLang="zh-CN" sz="2400" b="1" i="1" baseline="-25000" dirty="0">
                  <a:ea typeface="幼圆" pitchFamily="49" charset="-122"/>
                </a:rPr>
                <a:t>1</a:t>
              </a:r>
              <a:endParaRPr lang="en-US" altLang="zh-CN" sz="2400" b="1" i="1" dirty="0">
                <a:ea typeface="幼圆" pitchFamily="49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612271" y="4084646"/>
            <a:ext cx="1343579" cy="897128"/>
            <a:chOff x="1612271" y="4403351"/>
            <a:chExt cx="1343579" cy="897128"/>
          </a:xfrm>
        </p:grpSpPr>
        <p:grpSp>
          <p:nvGrpSpPr>
            <p:cNvPr id="118" name="Group 104"/>
            <p:cNvGrpSpPr>
              <a:grpSpLocks noChangeAspect="1"/>
            </p:cNvGrpSpPr>
            <p:nvPr/>
          </p:nvGrpSpPr>
          <p:grpSpPr bwMode="auto">
            <a:xfrm rot="10800000">
              <a:off x="1612271" y="4403351"/>
              <a:ext cx="1343579" cy="449262"/>
              <a:chOff x="1973" y="935"/>
              <a:chExt cx="611" cy="272"/>
            </a:xfrm>
          </p:grpSpPr>
          <p:sp>
            <p:nvSpPr>
              <p:cNvPr id="119" name="Line 105"/>
              <p:cNvSpPr>
                <a:spLocks noChangeAspect="1" noChangeShapeType="1"/>
              </p:cNvSpPr>
              <p:nvPr/>
            </p:nvSpPr>
            <p:spPr bwMode="auto">
              <a:xfrm>
                <a:off x="1973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0" name="Line 106"/>
              <p:cNvSpPr>
                <a:spLocks noChangeAspect="1" noChangeShapeType="1"/>
              </p:cNvSpPr>
              <p:nvPr/>
            </p:nvSpPr>
            <p:spPr bwMode="auto">
              <a:xfrm>
                <a:off x="2040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1" name="Line 107"/>
              <p:cNvSpPr>
                <a:spLocks noChangeAspect="1" noChangeShapeType="1"/>
              </p:cNvSpPr>
              <p:nvPr/>
            </p:nvSpPr>
            <p:spPr bwMode="auto">
              <a:xfrm>
                <a:off x="2109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2" name="Line 108"/>
              <p:cNvSpPr>
                <a:spLocks noChangeAspect="1" noChangeShapeType="1"/>
              </p:cNvSpPr>
              <p:nvPr/>
            </p:nvSpPr>
            <p:spPr bwMode="auto">
              <a:xfrm>
                <a:off x="2176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3" name="Line 109"/>
              <p:cNvSpPr>
                <a:spLocks noChangeAspect="1" noChangeShapeType="1"/>
              </p:cNvSpPr>
              <p:nvPr/>
            </p:nvSpPr>
            <p:spPr bwMode="auto">
              <a:xfrm>
                <a:off x="2243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4" name="Line 110"/>
              <p:cNvSpPr>
                <a:spLocks noChangeAspect="1" noChangeShapeType="1"/>
              </p:cNvSpPr>
              <p:nvPr/>
            </p:nvSpPr>
            <p:spPr bwMode="auto">
              <a:xfrm>
                <a:off x="2312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5" name="Line 111"/>
              <p:cNvSpPr>
                <a:spLocks noChangeAspect="1" noChangeShapeType="1"/>
              </p:cNvSpPr>
              <p:nvPr/>
            </p:nvSpPr>
            <p:spPr bwMode="auto">
              <a:xfrm>
                <a:off x="2381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6" name="Line 112"/>
              <p:cNvSpPr>
                <a:spLocks noChangeAspect="1" noChangeShapeType="1"/>
              </p:cNvSpPr>
              <p:nvPr/>
            </p:nvSpPr>
            <p:spPr bwMode="auto">
              <a:xfrm>
                <a:off x="2448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7" name="Line 113"/>
              <p:cNvSpPr>
                <a:spLocks noChangeAspect="1" noChangeShapeType="1"/>
              </p:cNvSpPr>
              <p:nvPr/>
            </p:nvSpPr>
            <p:spPr bwMode="auto">
              <a:xfrm>
                <a:off x="2517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" name="Line 114"/>
              <p:cNvSpPr>
                <a:spLocks noChangeAspect="1" noChangeShapeType="1"/>
              </p:cNvSpPr>
              <p:nvPr/>
            </p:nvSpPr>
            <p:spPr bwMode="auto">
              <a:xfrm>
                <a:off x="2584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5" name="Text Box 135"/>
            <p:cNvSpPr txBox="1">
              <a:spLocks noChangeArrowheads="1"/>
            </p:cNvSpPr>
            <p:nvPr/>
          </p:nvSpPr>
          <p:spPr bwMode="auto">
            <a:xfrm>
              <a:off x="2053432" y="4838517"/>
              <a:ext cx="474662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</a:rPr>
                <a:t>P</a:t>
              </a:r>
              <a:r>
                <a:rPr lang="en-US" altLang="zh-CN" sz="2400" b="1" i="1" baseline="-25000" dirty="0">
                  <a:ea typeface="幼圆" pitchFamily="49" charset="-122"/>
                </a:rPr>
                <a:t>2</a:t>
              </a:r>
              <a:endParaRPr lang="en-US" altLang="zh-CN" sz="2400" b="1" i="1" dirty="0">
                <a:ea typeface="幼圆" pitchFamily="49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269497" y="2857158"/>
            <a:ext cx="579402" cy="439150"/>
            <a:chOff x="2269497" y="3080451"/>
            <a:chExt cx="579402" cy="439150"/>
          </a:xfrm>
        </p:grpSpPr>
        <p:sp>
          <p:nvSpPr>
            <p:cNvPr id="146" name="Line 132"/>
            <p:cNvSpPr>
              <a:spLocks noChangeShapeType="1"/>
            </p:cNvSpPr>
            <p:nvPr/>
          </p:nvSpPr>
          <p:spPr bwMode="auto">
            <a:xfrm>
              <a:off x="2269497" y="3080451"/>
              <a:ext cx="0" cy="436562"/>
            </a:xfrm>
            <a:prstGeom prst="line">
              <a:avLst/>
            </a:prstGeom>
            <a:noFill/>
            <a:ln w="76200">
              <a:solidFill>
                <a:srgbClr val="CC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7" name="Text Box 127"/>
            <p:cNvSpPr txBox="1">
              <a:spLocks noChangeArrowheads="1"/>
            </p:cNvSpPr>
            <p:nvPr/>
          </p:nvSpPr>
          <p:spPr bwMode="auto">
            <a:xfrm>
              <a:off x="2398049" y="3150269"/>
              <a:ext cx="45085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 smtClean="0">
                  <a:ea typeface="幼圆" pitchFamily="49" charset="-122"/>
                </a:rPr>
                <a:t>W</a:t>
              </a:r>
              <a:r>
                <a:rPr lang="en-US" altLang="zh-CN" sz="2400" b="1" i="1" baseline="-25000" dirty="0" err="1" smtClean="0">
                  <a:ea typeface="幼圆" pitchFamily="49" charset="-122"/>
                </a:rPr>
                <a:t>s</a:t>
              </a:r>
              <a:endParaRPr lang="en-US" altLang="zh-CN" sz="2400" b="1" i="1" dirty="0">
                <a:ea typeface="幼圆" pitchFamily="49" charset="-122"/>
              </a:endParaRPr>
            </a:p>
          </p:txBody>
        </p:sp>
      </p:grpSp>
      <p:sp>
        <p:nvSpPr>
          <p:cNvPr id="150" name="Rectangle 141"/>
          <p:cNvSpPr>
            <a:spLocks noChangeArrowheads="1"/>
          </p:cNvSpPr>
          <p:nvPr/>
        </p:nvSpPr>
        <p:spPr bwMode="auto">
          <a:xfrm>
            <a:off x="3160713" y="5870459"/>
            <a:ext cx="42926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水隔离受力分析</a:t>
            </a:r>
          </a:p>
        </p:txBody>
      </p:sp>
      <p:sp>
        <p:nvSpPr>
          <p:cNvPr id="152" name="AutoShape 144"/>
          <p:cNvSpPr>
            <a:spLocks noChangeArrowheads="1"/>
          </p:cNvSpPr>
          <p:nvPr/>
        </p:nvSpPr>
        <p:spPr bwMode="auto">
          <a:xfrm>
            <a:off x="5602038" y="5389364"/>
            <a:ext cx="511175" cy="360363"/>
          </a:xfrm>
          <a:prstGeom prst="homePlate">
            <a:avLst>
              <a:gd name="adj" fmla="val 35463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" name="Text Box 147"/>
          <p:cNvSpPr txBox="1">
            <a:spLocks noChangeArrowheads="1"/>
          </p:cNvSpPr>
          <p:nvPr/>
        </p:nvSpPr>
        <p:spPr bwMode="auto">
          <a:xfrm>
            <a:off x="3370499" y="4770190"/>
            <a:ext cx="28495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 竖向受力平衡：</a:t>
            </a:r>
            <a:endParaRPr lang="en-US" altLang="zh-CN" sz="2400" b="1" dirty="0">
              <a:solidFill>
                <a:srgbClr val="C00000"/>
              </a:solidFill>
              <a:ea typeface="幼圆" pitchFamily="49" charset="-122"/>
            </a:endParaRPr>
          </a:p>
        </p:txBody>
      </p:sp>
      <p:sp>
        <p:nvSpPr>
          <p:cNvPr id="157" name="Text Box 148"/>
          <p:cNvSpPr txBox="1">
            <a:spLocks noChangeArrowheads="1"/>
          </p:cNvSpPr>
          <p:nvPr/>
        </p:nvSpPr>
        <p:spPr bwMode="auto">
          <a:xfrm>
            <a:off x="6468565" y="5374246"/>
            <a:ext cx="12400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j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=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Arial" charset="0"/>
              </a:rPr>
              <a:t> 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</a:rPr>
              <a:t>w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i</a:t>
            </a:r>
            <a:endParaRPr lang="el-GR" altLang="en-US" sz="2400" b="1" i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8" name="Text Box 147"/>
          <p:cNvSpPr txBox="1">
            <a:spLocks noChangeArrowheads="1"/>
          </p:cNvSpPr>
          <p:nvPr/>
        </p:nvSpPr>
        <p:spPr bwMode="auto">
          <a:xfrm>
            <a:off x="6181041" y="4763099"/>
            <a:ext cx="23994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</a:pP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J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P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68" name="Text Box 145"/>
          <p:cNvSpPr txBox="1">
            <a:spLocks noChangeArrowheads="1"/>
          </p:cNvSpPr>
          <p:nvPr/>
        </p:nvSpPr>
        <p:spPr bwMode="auto">
          <a:xfrm>
            <a:off x="4365347" y="4021835"/>
            <a:ext cx="37898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</a:pP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=</a:t>
            </a:r>
            <a:r>
              <a:rPr lang="en-US" altLang="zh-CN" sz="2400" b="1" dirty="0" err="1" smtClean="0">
                <a:solidFill>
                  <a:srgbClr val="000066"/>
                </a:solidFill>
              </a:rPr>
              <a:t>V</a:t>
            </a:r>
            <a:r>
              <a:rPr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sym typeface="Symbol" pitchFamily="18" charset="2"/>
              </a:rPr>
              <a:t>w</a:t>
            </a:r>
            <a:r>
              <a:rPr lang="en-US" altLang="zh-CN" sz="2400" b="1" dirty="0" smtClean="0">
                <a:solidFill>
                  <a:srgbClr val="000066"/>
                </a:solidFill>
                <a:sym typeface="Symbol" pitchFamily="18" charset="2"/>
              </a:rPr>
              <a:t>=</a:t>
            </a:r>
            <a:r>
              <a:rPr lang="en-US" altLang="zh-CN" sz="2400" b="1" i="1" dirty="0" err="1" smtClean="0">
                <a:solidFill>
                  <a:srgbClr val="000066"/>
                </a:solidFill>
              </a:rPr>
              <a:t>L</a:t>
            </a:r>
            <a:r>
              <a:rPr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  <a:sym typeface="Symbol" pitchFamily="18" charset="2"/>
              </a:rPr>
              <a:t>w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9" name="Text Box 145"/>
          <p:cNvSpPr txBox="1">
            <a:spLocks noChangeArrowheads="1"/>
          </p:cNvSpPr>
          <p:nvPr/>
        </p:nvSpPr>
        <p:spPr bwMode="auto">
          <a:xfrm>
            <a:off x="3871109" y="2908939"/>
            <a:ext cx="4865308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(4)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土颗粒浮力的反力：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2" name="Text Box 145"/>
          <p:cNvSpPr txBox="1">
            <a:spLocks noChangeArrowheads="1"/>
          </p:cNvSpPr>
          <p:nvPr/>
        </p:nvSpPr>
        <p:spPr bwMode="auto">
          <a:xfrm>
            <a:off x="4423995" y="3504380"/>
            <a:ext cx="30435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</a:pP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∵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V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</a:rPr>
              <a:t>V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980460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152" grpId="0" animBg="1"/>
      <p:bldP spid="156" grpId="0"/>
      <p:bldP spid="157" grpId="0"/>
      <p:bldP spid="158" grpId="0"/>
      <p:bldP spid="68" grpId="0"/>
      <p:bldP spid="69" grpId="0"/>
      <p:bldP spid="7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94549" y="2120989"/>
            <a:ext cx="2713935" cy="2161047"/>
            <a:chOff x="294549" y="2120989"/>
            <a:chExt cx="2713935" cy="2161047"/>
          </a:xfrm>
        </p:grpSpPr>
        <p:grpSp>
          <p:nvGrpSpPr>
            <p:cNvPr id="2" name="组合 1"/>
            <p:cNvGrpSpPr/>
            <p:nvPr/>
          </p:nvGrpSpPr>
          <p:grpSpPr>
            <a:xfrm>
              <a:off x="1561034" y="2120989"/>
              <a:ext cx="1447450" cy="2161047"/>
              <a:chOff x="4240438" y="1961501"/>
              <a:chExt cx="1447450" cy="2161047"/>
            </a:xfrm>
          </p:grpSpPr>
          <p:grpSp>
            <p:nvGrpSpPr>
              <p:cNvPr id="72723" name="Group 5"/>
              <p:cNvGrpSpPr>
                <a:grpSpLocks/>
              </p:cNvGrpSpPr>
              <p:nvPr/>
            </p:nvGrpSpPr>
            <p:grpSpPr bwMode="auto">
              <a:xfrm>
                <a:off x="4240438" y="1961501"/>
                <a:ext cx="1447450" cy="2161047"/>
                <a:chOff x="1970" y="1207"/>
                <a:chExt cx="643" cy="960"/>
              </a:xfrm>
            </p:grpSpPr>
            <p:sp>
              <p:nvSpPr>
                <p:cNvPr id="72842" name="Freeform 6" descr="软木塞"/>
                <p:cNvSpPr>
                  <a:spLocks/>
                </p:cNvSpPr>
                <p:nvPr/>
              </p:nvSpPr>
              <p:spPr bwMode="auto">
                <a:xfrm>
                  <a:off x="1973" y="1207"/>
                  <a:ext cx="195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43" name="Freeform 7" descr="软木塞"/>
                <p:cNvSpPr>
                  <a:spLocks/>
                </p:cNvSpPr>
                <p:nvPr/>
              </p:nvSpPr>
              <p:spPr bwMode="auto">
                <a:xfrm>
                  <a:off x="2162" y="1207"/>
                  <a:ext cx="137" cy="273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44" name="Freeform 8" descr="软木塞"/>
                <p:cNvSpPr>
                  <a:spLocks/>
                </p:cNvSpPr>
                <p:nvPr/>
              </p:nvSpPr>
              <p:spPr bwMode="auto">
                <a:xfrm rot="2127360">
                  <a:off x="2266" y="1229"/>
                  <a:ext cx="236" cy="179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45" name="Freeform 9" descr="软木塞"/>
                <p:cNvSpPr>
                  <a:spLocks/>
                </p:cNvSpPr>
                <p:nvPr/>
              </p:nvSpPr>
              <p:spPr bwMode="auto">
                <a:xfrm>
                  <a:off x="2472" y="1207"/>
                  <a:ext cx="136" cy="18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46" name="Freeform 10" descr="软木塞"/>
                <p:cNvSpPr>
                  <a:spLocks/>
                </p:cNvSpPr>
                <p:nvPr/>
              </p:nvSpPr>
              <p:spPr bwMode="auto">
                <a:xfrm>
                  <a:off x="2418" y="1381"/>
                  <a:ext cx="195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47" name="Freeform 11" descr="软木塞"/>
                <p:cNvSpPr>
                  <a:spLocks/>
                </p:cNvSpPr>
                <p:nvPr/>
              </p:nvSpPr>
              <p:spPr bwMode="auto">
                <a:xfrm>
                  <a:off x="1973" y="1434"/>
                  <a:ext cx="227" cy="27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48" name="Freeform 12" descr="软木塞"/>
                <p:cNvSpPr>
                  <a:spLocks/>
                </p:cNvSpPr>
                <p:nvPr/>
              </p:nvSpPr>
              <p:spPr bwMode="auto">
                <a:xfrm>
                  <a:off x="2394" y="2069"/>
                  <a:ext cx="214" cy="91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49" name="Freeform 13" descr="软木塞"/>
                <p:cNvSpPr>
                  <a:spLocks/>
                </p:cNvSpPr>
                <p:nvPr/>
              </p:nvSpPr>
              <p:spPr bwMode="auto">
                <a:xfrm>
                  <a:off x="2186" y="1464"/>
                  <a:ext cx="273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50" name="Freeform 14" descr="软木塞"/>
                <p:cNvSpPr>
                  <a:spLocks/>
                </p:cNvSpPr>
                <p:nvPr/>
              </p:nvSpPr>
              <p:spPr bwMode="auto">
                <a:xfrm>
                  <a:off x="1970" y="1679"/>
                  <a:ext cx="195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51" name="Freeform 15" descr="软木塞"/>
                <p:cNvSpPr>
                  <a:spLocks/>
                </p:cNvSpPr>
                <p:nvPr/>
              </p:nvSpPr>
              <p:spPr bwMode="auto">
                <a:xfrm>
                  <a:off x="2159" y="1679"/>
                  <a:ext cx="137" cy="273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52" name="Freeform 16" descr="软木塞"/>
                <p:cNvSpPr>
                  <a:spLocks/>
                </p:cNvSpPr>
                <p:nvPr/>
              </p:nvSpPr>
              <p:spPr bwMode="auto">
                <a:xfrm rot="2127360">
                  <a:off x="2263" y="1701"/>
                  <a:ext cx="236" cy="179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53" name="Freeform 17" descr="软木塞"/>
                <p:cNvSpPr>
                  <a:spLocks/>
                </p:cNvSpPr>
                <p:nvPr/>
              </p:nvSpPr>
              <p:spPr bwMode="auto">
                <a:xfrm>
                  <a:off x="2469" y="1616"/>
                  <a:ext cx="139" cy="245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54" name="Freeform 18" descr="软木塞"/>
                <p:cNvSpPr>
                  <a:spLocks/>
                </p:cNvSpPr>
                <p:nvPr/>
              </p:nvSpPr>
              <p:spPr bwMode="auto">
                <a:xfrm>
                  <a:off x="2415" y="1853"/>
                  <a:ext cx="195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55" name="Freeform 19" descr="软木塞"/>
                <p:cNvSpPr>
                  <a:spLocks/>
                </p:cNvSpPr>
                <p:nvPr/>
              </p:nvSpPr>
              <p:spPr bwMode="auto">
                <a:xfrm>
                  <a:off x="1973" y="1888"/>
                  <a:ext cx="179" cy="27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56" name="Freeform 20" descr="软木塞"/>
                <p:cNvSpPr>
                  <a:spLocks/>
                </p:cNvSpPr>
                <p:nvPr/>
              </p:nvSpPr>
              <p:spPr bwMode="auto">
                <a:xfrm>
                  <a:off x="2145" y="1935"/>
                  <a:ext cx="273" cy="232"/>
                </a:xfrm>
                <a:custGeom>
                  <a:avLst/>
                  <a:gdLst>
                    <a:gd name="T0" fmla="*/ 191 w 195"/>
                    <a:gd name="T1" fmla="*/ 113 h 232"/>
                    <a:gd name="T2" fmla="*/ 145 w 195"/>
                    <a:gd name="T3" fmla="*/ 224 h 232"/>
                    <a:gd name="T4" fmla="*/ 38 w 195"/>
                    <a:gd name="T5" fmla="*/ 161 h 232"/>
                    <a:gd name="T6" fmla="*/ 9 w 195"/>
                    <a:gd name="T7" fmla="*/ 43 h 232"/>
                    <a:gd name="T8" fmla="*/ 90 w 195"/>
                    <a:gd name="T9" fmla="*/ 5 h 232"/>
                    <a:gd name="T10" fmla="*/ 146 w 195"/>
                    <a:gd name="T11" fmla="*/ 10 h 232"/>
                    <a:gd name="T12" fmla="*/ 170 w 195"/>
                    <a:gd name="T13" fmla="*/ 29 h 232"/>
                    <a:gd name="T14" fmla="*/ 191 w 195"/>
                    <a:gd name="T15" fmla="*/ 113 h 2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95"/>
                    <a:gd name="T25" fmla="*/ 0 h 232"/>
                    <a:gd name="T26" fmla="*/ 195 w 195"/>
                    <a:gd name="T27" fmla="*/ 232 h 2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95" h="232">
                      <a:moveTo>
                        <a:pt x="191" y="113"/>
                      </a:moveTo>
                      <a:cubicBezTo>
                        <a:pt x="187" y="145"/>
                        <a:pt x="170" y="216"/>
                        <a:pt x="145" y="224"/>
                      </a:cubicBezTo>
                      <a:cubicBezTo>
                        <a:pt x="120" y="232"/>
                        <a:pt x="61" y="191"/>
                        <a:pt x="38" y="161"/>
                      </a:cubicBezTo>
                      <a:cubicBezTo>
                        <a:pt x="15" y="131"/>
                        <a:pt x="0" y="69"/>
                        <a:pt x="9" y="43"/>
                      </a:cubicBezTo>
                      <a:cubicBezTo>
                        <a:pt x="18" y="17"/>
                        <a:pt x="67" y="10"/>
                        <a:pt x="90" y="5"/>
                      </a:cubicBezTo>
                      <a:cubicBezTo>
                        <a:pt x="113" y="0"/>
                        <a:pt x="133" y="6"/>
                        <a:pt x="146" y="10"/>
                      </a:cubicBezTo>
                      <a:cubicBezTo>
                        <a:pt x="159" y="14"/>
                        <a:pt x="163" y="12"/>
                        <a:pt x="170" y="29"/>
                      </a:cubicBezTo>
                      <a:cubicBezTo>
                        <a:pt x="177" y="34"/>
                        <a:pt x="195" y="81"/>
                        <a:pt x="191" y="113"/>
                      </a:cubicBezTo>
                      <a:close/>
                    </a:path>
                  </a:pathLst>
                </a:custGeom>
                <a:blipFill dpi="0" rotWithShape="1">
                  <a:blip r:embed="rId3"/>
                  <a:srcRect/>
                  <a:tile tx="0" ty="0" sx="100000" sy="100000" flip="none" algn="tl"/>
                </a:blip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55" name="Rectangle 21"/>
              <p:cNvSpPr>
                <a:spLocks noChangeArrowheads="1"/>
              </p:cNvSpPr>
              <p:nvPr/>
            </p:nvSpPr>
            <p:spPr bwMode="auto">
              <a:xfrm>
                <a:off x="4247531" y="1970762"/>
                <a:ext cx="1429442" cy="2145288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prstDash val="lgDash"/>
                <a:miter lim="800000"/>
                <a:headEnd/>
                <a:tailEnd/>
              </a:ln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5" name="Text Box 23" descr="软木塞"/>
            <p:cNvSpPr txBox="1">
              <a:spLocks noChangeArrowheads="1"/>
            </p:cNvSpPr>
            <p:nvPr/>
          </p:nvSpPr>
          <p:spPr bwMode="auto">
            <a:xfrm>
              <a:off x="294549" y="2826710"/>
              <a:ext cx="92813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截面积</a:t>
              </a:r>
              <a:br>
                <a:rPr lang="zh-CN" altLang="en-US" sz="24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</a:br>
              <a:r>
                <a:rPr lang="en-US" altLang="zh-CN" sz="2400" b="1" i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=1</a:t>
              </a:r>
            </a:p>
          </p:txBody>
        </p:sp>
      </p:grpSp>
      <p:sp>
        <p:nvSpPr>
          <p:cNvPr id="1505419" name="Text Box 139"/>
          <p:cNvSpPr txBox="1">
            <a:spLocks noChangeArrowheads="1"/>
          </p:cNvSpPr>
          <p:nvPr/>
        </p:nvSpPr>
        <p:spPr bwMode="auto">
          <a:xfrm>
            <a:off x="800100" y="873919"/>
            <a:ext cx="32988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 土骨架</a:t>
            </a:r>
            <a:r>
              <a:rPr lang="zh-CN" altLang="en-US" sz="28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受力分析</a:t>
            </a:r>
            <a:endParaRPr lang="en-US" altLang="zh-CN" sz="28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72710" name="Rectangle 141"/>
          <p:cNvSpPr>
            <a:spLocks noChangeArrowheads="1"/>
          </p:cNvSpPr>
          <p:nvPr/>
        </p:nvSpPr>
        <p:spPr bwMode="auto">
          <a:xfrm>
            <a:off x="3160713" y="5870459"/>
            <a:ext cx="42926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水隔离受力分析</a:t>
            </a:r>
          </a:p>
        </p:txBody>
      </p:sp>
      <p:sp>
        <p:nvSpPr>
          <p:cNvPr id="15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4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616154" y="4390882"/>
            <a:ext cx="1358309" cy="808482"/>
            <a:chOff x="1616154" y="4390882"/>
            <a:chExt cx="1358309" cy="808482"/>
          </a:xfrm>
        </p:grpSpPr>
        <p:grpSp>
          <p:nvGrpSpPr>
            <p:cNvPr id="61" name="Group 74"/>
            <p:cNvGrpSpPr>
              <a:grpSpLocks noChangeAspect="1"/>
            </p:cNvGrpSpPr>
            <p:nvPr/>
          </p:nvGrpSpPr>
          <p:grpSpPr bwMode="auto">
            <a:xfrm rot="10800000">
              <a:off x="1616154" y="4390882"/>
              <a:ext cx="1358309" cy="290914"/>
              <a:chOff x="1973" y="935"/>
              <a:chExt cx="611" cy="272"/>
            </a:xfrm>
          </p:grpSpPr>
          <p:sp>
            <p:nvSpPr>
              <p:cNvPr id="62" name="Line 75"/>
              <p:cNvSpPr>
                <a:spLocks noChangeAspect="1" noChangeShapeType="1"/>
              </p:cNvSpPr>
              <p:nvPr/>
            </p:nvSpPr>
            <p:spPr bwMode="auto">
              <a:xfrm>
                <a:off x="1973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3" name="Line 76"/>
              <p:cNvSpPr>
                <a:spLocks noChangeAspect="1" noChangeShapeType="1"/>
              </p:cNvSpPr>
              <p:nvPr/>
            </p:nvSpPr>
            <p:spPr bwMode="auto">
              <a:xfrm>
                <a:off x="2040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77"/>
              <p:cNvSpPr>
                <a:spLocks noChangeAspect="1" noChangeShapeType="1"/>
              </p:cNvSpPr>
              <p:nvPr/>
            </p:nvSpPr>
            <p:spPr bwMode="auto">
              <a:xfrm>
                <a:off x="2109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" name="Line 78"/>
              <p:cNvSpPr>
                <a:spLocks noChangeAspect="1" noChangeShapeType="1"/>
              </p:cNvSpPr>
              <p:nvPr/>
            </p:nvSpPr>
            <p:spPr bwMode="auto">
              <a:xfrm>
                <a:off x="2176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" name="Line 79"/>
              <p:cNvSpPr>
                <a:spLocks noChangeAspect="1" noChangeShapeType="1"/>
              </p:cNvSpPr>
              <p:nvPr/>
            </p:nvSpPr>
            <p:spPr bwMode="auto">
              <a:xfrm>
                <a:off x="2243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" name="Line 80"/>
              <p:cNvSpPr>
                <a:spLocks noChangeAspect="1" noChangeShapeType="1"/>
              </p:cNvSpPr>
              <p:nvPr/>
            </p:nvSpPr>
            <p:spPr bwMode="auto">
              <a:xfrm>
                <a:off x="2312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Line 81"/>
              <p:cNvSpPr>
                <a:spLocks noChangeAspect="1" noChangeShapeType="1"/>
              </p:cNvSpPr>
              <p:nvPr/>
            </p:nvSpPr>
            <p:spPr bwMode="auto">
              <a:xfrm>
                <a:off x="2381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Line 82"/>
              <p:cNvSpPr>
                <a:spLocks noChangeAspect="1" noChangeShapeType="1"/>
              </p:cNvSpPr>
              <p:nvPr/>
            </p:nvSpPr>
            <p:spPr bwMode="auto">
              <a:xfrm>
                <a:off x="2448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Line 83"/>
              <p:cNvSpPr>
                <a:spLocks noChangeAspect="1" noChangeShapeType="1"/>
              </p:cNvSpPr>
              <p:nvPr/>
            </p:nvSpPr>
            <p:spPr bwMode="auto">
              <a:xfrm>
                <a:off x="2517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" name="Line 84"/>
              <p:cNvSpPr>
                <a:spLocks noChangeAspect="1" noChangeShapeType="1"/>
              </p:cNvSpPr>
              <p:nvPr/>
            </p:nvSpPr>
            <p:spPr bwMode="auto">
              <a:xfrm>
                <a:off x="2584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2" name="Text Box 131"/>
            <p:cNvSpPr txBox="1">
              <a:spLocks noChangeArrowheads="1"/>
            </p:cNvSpPr>
            <p:nvPr/>
          </p:nvSpPr>
          <p:spPr bwMode="auto">
            <a:xfrm>
              <a:off x="2044701" y="4742164"/>
              <a:ext cx="4048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</a:rPr>
                <a:t>R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06047" y="2429021"/>
            <a:ext cx="564744" cy="648000"/>
            <a:chOff x="2306047" y="2429021"/>
            <a:chExt cx="564744" cy="648000"/>
          </a:xfrm>
        </p:grpSpPr>
        <p:sp>
          <p:nvSpPr>
            <p:cNvPr id="73" name="Line 85"/>
            <p:cNvSpPr>
              <a:spLocks noChangeShapeType="1"/>
            </p:cNvSpPr>
            <p:nvPr/>
          </p:nvSpPr>
          <p:spPr bwMode="auto">
            <a:xfrm>
              <a:off x="2306047" y="2429021"/>
              <a:ext cx="0" cy="6480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4" name="Text Box 86"/>
            <p:cNvSpPr txBox="1">
              <a:spLocks noChangeArrowheads="1"/>
            </p:cNvSpPr>
            <p:nvPr/>
          </p:nvSpPr>
          <p:spPr bwMode="auto">
            <a:xfrm>
              <a:off x="2489790" y="2668772"/>
              <a:ext cx="38100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</a:rPr>
                <a:t>W</a:t>
              </a:r>
              <a:r>
                <a:rPr lang="en-US" altLang="zh-CN" sz="2400" b="1" dirty="0">
                  <a:ea typeface="幼圆" pitchFamily="49" charset="-122"/>
                  <a:sym typeface="Symbol" pitchFamily="18" charset="2"/>
                </a:rPr>
                <a:t>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293456" y="3381153"/>
            <a:ext cx="492273" cy="578470"/>
            <a:chOff x="2293456" y="3381153"/>
            <a:chExt cx="492273" cy="578470"/>
          </a:xfrm>
        </p:grpSpPr>
        <p:sp>
          <p:nvSpPr>
            <p:cNvPr id="75" name="Line 129"/>
            <p:cNvSpPr>
              <a:spLocks noChangeShapeType="1"/>
            </p:cNvSpPr>
            <p:nvPr/>
          </p:nvSpPr>
          <p:spPr bwMode="auto">
            <a:xfrm flipV="1">
              <a:off x="2293456" y="3419623"/>
              <a:ext cx="0" cy="54000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Text Box 130"/>
            <p:cNvSpPr txBox="1">
              <a:spLocks noChangeArrowheads="1"/>
            </p:cNvSpPr>
            <p:nvPr/>
          </p:nvSpPr>
          <p:spPr bwMode="auto">
            <a:xfrm>
              <a:off x="2422044" y="3381153"/>
              <a:ext cx="363685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</a:rPr>
                <a:t>J</a:t>
              </a:r>
              <a:endParaRPr lang="en-US" altLang="zh-CN" sz="2400" b="1" i="1" dirty="0"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79" name="Text Box 145"/>
          <p:cNvSpPr txBox="1">
            <a:spLocks noChangeArrowheads="1"/>
          </p:cNvSpPr>
          <p:nvPr/>
        </p:nvSpPr>
        <p:spPr bwMode="auto">
          <a:xfrm>
            <a:off x="3919336" y="1774025"/>
            <a:ext cx="3238387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(1)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重量：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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80" name="Text Box 145"/>
          <p:cNvSpPr txBox="1">
            <a:spLocks noChangeArrowheads="1"/>
          </p:cNvSpPr>
          <p:nvPr/>
        </p:nvSpPr>
        <p:spPr bwMode="auto">
          <a:xfrm>
            <a:off x="3944142" y="2500584"/>
            <a:ext cx="2845651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(2)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渗透力：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J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Lj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81" name="Text Box 145"/>
          <p:cNvSpPr txBox="1">
            <a:spLocks noChangeArrowheads="1"/>
          </p:cNvSpPr>
          <p:nvPr/>
        </p:nvSpPr>
        <p:spPr bwMode="auto">
          <a:xfrm>
            <a:off x="3959718" y="3242135"/>
            <a:ext cx="2759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(3)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滤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网的反力：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1" name="AutoShape 144"/>
          <p:cNvSpPr>
            <a:spLocks noChangeArrowheads="1"/>
          </p:cNvSpPr>
          <p:nvPr/>
        </p:nvSpPr>
        <p:spPr bwMode="auto">
          <a:xfrm>
            <a:off x="5814698" y="4910879"/>
            <a:ext cx="511175" cy="360363"/>
          </a:xfrm>
          <a:prstGeom prst="homePlate">
            <a:avLst>
              <a:gd name="adj" fmla="val 35463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Text Box 147"/>
          <p:cNvSpPr txBox="1">
            <a:spLocks noChangeArrowheads="1"/>
          </p:cNvSpPr>
          <p:nvPr/>
        </p:nvSpPr>
        <p:spPr bwMode="auto">
          <a:xfrm>
            <a:off x="3710755" y="4196008"/>
            <a:ext cx="28495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 竖向受力平衡：</a:t>
            </a:r>
            <a:endParaRPr lang="en-US" altLang="zh-CN" sz="2400" b="1" dirty="0">
              <a:solidFill>
                <a:srgbClr val="C00000"/>
              </a:solidFill>
              <a:ea typeface="幼圆" pitchFamily="49" charset="-122"/>
            </a:endParaRPr>
          </a:p>
        </p:txBody>
      </p:sp>
      <p:sp>
        <p:nvSpPr>
          <p:cNvPr id="104" name="Text Box 147"/>
          <p:cNvSpPr txBox="1">
            <a:spLocks noChangeArrowheads="1"/>
          </p:cNvSpPr>
          <p:nvPr/>
        </p:nvSpPr>
        <p:spPr bwMode="auto">
          <a:xfrm>
            <a:off x="6521297" y="4188917"/>
            <a:ext cx="18677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</a:pP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J +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R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05" name="Text Box 143"/>
          <p:cNvSpPr txBox="1">
            <a:spLocks noChangeArrowheads="1"/>
          </p:cNvSpPr>
          <p:nvPr/>
        </p:nvSpPr>
        <p:spPr bwMode="auto">
          <a:xfrm>
            <a:off x="6626632" y="4900686"/>
            <a:ext cx="1784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=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400" b="1" i="1" dirty="0">
                <a:solidFill>
                  <a:srgbClr val="000066"/>
                </a:solidFill>
              </a:rPr>
              <a:t>L</a:t>
            </a:r>
            <a:r>
              <a:rPr lang="en-US" altLang="zh-CN" sz="2400" b="1" dirty="0">
                <a:solidFill>
                  <a:srgbClr val="000066"/>
                </a:solidFill>
              </a:rPr>
              <a:t>-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i="1" baseline="-25000" dirty="0" err="1">
                <a:solidFill>
                  <a:srgbClr val="000066"/>
                </a:solidFill>
              </a:rPr>
              <a:t>w</a:t>
            </a:r>
            <a:r>
              <a:rPr lang="en-US" altLang="zh-CN" sz="2400" b="1" dirty="0" err="1">
                <a:solidFill>
                  <a:srgbClr val="000066"/>
                </a:solidFill>
                <a:sym typeface="Symbol" pitchFamily="18" charset="2"/>
              </a:rPr>
              <a:t></a:t>
            </a:r>
            <a:r>
              <a:rPr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h</a:t>
            </a:r>
            <a:endParaRPr lang="en-US" altLang="zh-CN" sz="2400" b="1" i="1" dirty="0">
              <a:solidFill>
                <a:srgbClr val="000066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7783785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101" grpId="0" animBg="1"/>
      <p:bldP spid="102" grpId="0"/>
      <p:bldP spid="104" grpId="0"/>
      <p:bldP spid="10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419" name="Text Box 139"/>
          <p:cNvSpPr txBox="1">
            <a:spLocks noChangeArrowheads="1"/>
          </p:cNvSpPr>
          <p:nvPr/>
        </p:nvSpPr>
        <p:spPr bwMode="auto">
          <a:xfrm>
            <a:off x="800099" y="873919"/>
            <a:ext cx="654690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土水</a:t>
            </a:r>
            <a:r>
              <a:rPr lang="zh-CN" altLang="en-US" sz="2800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整体和土</a:t>
            </a:r>
            <a:r>
              <a:rPr lang="zh-CN" altLang="en-US" sz="28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水</a:t>
            </a:r>
            <a:r>
              <a:rPr lang="zh-CN" altLang="en-US" sz="2800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隔离分析对比</a:t>
            </a:r>
            <a:endParaRPr lang="en-US" altLang="zh-CN" sz="28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72710" name="Rectangle 141"/>
          <p:cNvSpPr>
            <a:spLocks noChangeArrowheads="1"/>
          </p:cNvSpPr>
          <p:nvPr/>
        </p:nvSpPr>
        <p:spPr bwMode="auto">
          <a:xfrm>
            <a:off x="3160713" y="6008688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711" name="Rectangle 142"/>
          <p:cNvSpPr>
            <a:spLocks noChangeArrowheads="1"/>
          </p:cNvSpPr>
          <p:nvPr/>
        </p:nvSpPr>
        <p:spPr bwMode="auto">
          <a:xfrm>
            <a:off x="3160713" y="6008688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4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渗透力的概念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1" name="Text Box 77"/>
          <p:cNvSpPr txBox="1">
            <a:spLocks noChangeArrowheads="1"/>
          </p:cNvSpPr>
          <p:nvPr/>
        </p:nvSpPr>
        <p:spPr bwMode="auto">
          <a:xfrm>
            <a:off x="1276047" y="1795403"/>
            <a:ext cx="6587793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水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整体分析：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土水整体作为隔离体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，应用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土体饱和重度，与作用于土体周边边界上的水压力相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组合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446088" indent="-446088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土水隔离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分析：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土骨架作为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隔离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体，用土体的浮重度与渗透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力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相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组合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7465715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258" name="Text Box 2"/>
          <p:cNvSpPr txBox="1">
            <a:spLocks noChangeArrowheads="1"/>
          </p:cNvSpPr>
          <p:nvPr/>
        </p:nvSpPr>
        <p:spPr bwMode="auto">
          <a:xfrm>
            <a:off x="1063251" y="4654620"/>
            <a:ext cx="7687343" cy="88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当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滤网支持力为零时的水力坡降称为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临界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水力坡降</a:t>
            </a:r>
            <a:r>
              <a:rPr lang="en-US" altLang="zh-CN" sz="2400" b="1" i="1" dirty="0" err="1" smtClean="0">
                <a:solidFill>
                  <a:srgbClr val="C00000"/>
                </a:solidFill>
                <a:ea typeface="幼圆" pitchFamily="49" charset="-122"/>
              </a:rPr>
              <a:t>i</a:t>
            </a:r>
            <a:r>
              <a:rPr lang="en-US" altLang="zh-CN" sz="2400" b="1" baseline="-25000" dirty="0" err="1" smtClean="0">
                <a:solidFill>
                  <a:srgbClr val="C00000"/>
                </a:solidFill>
                <a:ea typeface="幼圆" pitchFamily="49" charset="-122"/>
              </a:rPr>
              <a:t>cr</a:t>
            </a:r>
            <a:r>
              <a:rPr lang="zh-CN" altLang="en-US" sz="2400" b="1" i="1" dirty="0" smtClean="0">
                <a:ea typeface="幼圆" pitchFamily="49" charset="-122"/>
              </a:rPr>
              <a:t>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它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是土体开始发生流土破坏时的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水力坡降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7654" name="Rectangle 4"/>
          <p:cNvSpPr>
            <a:spLocks noChangeArrowheads="1"/>
          </p:cNvSpPr>
          <p:nvPr/>
        </p:nvSpPr>
        <p:spPr bwMode="auto">
          <a:xfrm>
            <a:off x="3068638" y="5932488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7656" name="Rectangle 6"/>
          <p:cNvSpPr>
            <a:spLocks noChangeArrowheads="1"/>
          </p:cNvSpPr>
          <p:nvPr/>
        </p:nvSpPr>
        <p:spPr bwMode="auto">
          <a:xfrm>
            <a:off x="3089275" y="5795963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4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临界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水力坡降</a:t>
            </a:r>
          </a:p>
        </p:txBody>
      </p:sp>
      <p:sp>
        <p:nvSpPr>
          <p:cNvPr id="216" name="Text Box 6"/>
          <p:cNvSpPr txBox="1">
            <a:spLocks noChangeArrowheads="1"/>
          </p:cNvSpPr>
          <p:nvPr/>
        </p:nvSpPr>
        <p:spPr bwMode="auto">
          <a:xfrm>
            <a:off x="2212083" y="2174622"/>
            <a:ext cx="18152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=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400" b="1" i="1" dirty="0">
                <a:solidFill>
                  <a:srgbClr val="000066"/>
                </a:solidFill>
              </a:rPr>
              <a:t>L</a:t>
            </a:r>
            <a:r>
              <a:rPr lang="en-US" altLang="zh-CN" sz="2400" b="1" dirty="0">
                <a:solidFill>
                  <a:srgbClr val="000066"/>
                </a:solidFill>
              </a:rPr>
              <a:t> -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w</a:t>
            </a:r>
            <a:r>
              <a:rPr lang="en-US" altLang="zh-CN" sz="2400" b="1" dirty="0" err="1">
                <a:solidFill>
                  <a:srgbClr val="000066"/>
                </a:solidFill>
                <a:sym typeface="Symbol" pitchFamily="18" charset="2"/>
              </a:rPr>
              <a:t></a:t>
            </a:r>
            <a:r>
              <a:rPr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h</a:t>
            </a:r>
            <a:endParaRPr lang="en-US" altLang="zh-CN" sz="2400" b="1" i="1" dirty="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217" name="Text Box 75"/>
          <p:cNvSpPr txBox="1">
            <a:spLocks noChangeArrowheads="1"/>
          </p:cNvSpPr>
          <p:nvPr/>
        </p:nvSpPr>
        <p:spPr bwMode="auto">
          <a:xfrm>
            <a:off x="684134" y="1582996"/>
            <a:ext cx="12984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静水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中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18" name="Text Box 76"/>
          <p:cNvSpPr txBox="1">
            <a:spLocks noChangeArrowheads="1"/>
          </p:cNvSpPr>
          <p:nvPr/>
        </p:nvSpPr>
        <p:spPr bwMode="auto">
          <a:xfrm>
            <a:off x="688897" y="2155423"/>
            <a:ext cx="17991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渗流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中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19" name="Text Box 78"/>
          <p:cNvSpPr txBox="1">
            <a:spLocks noChangeArrowheads="1"/>
          </p:cNvSpPr>
          <p:nvPr/>
        </p:nvSpPr>
        <p:spPr bwMode="auto">
          <a:xfrm>
            <a:off x="2241421" y="1600757"/>
            <a:ext cx="10009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=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400" b="1" i="1" dirty="0">
                <a:solidFill>
                  <a:srgbClr val="000066"/>
                </a:solidFill>
              </a:rPr>
              <a:t>L</a:t>
            </a:r>
            <a:r>
              <a:rPr lang="en-US" altLang="zh-CN" sz="2400" b="1" dirty="0">
                <a:solidFill>
                  <a:srgbClr val="000066"/>
                </a:solidFill>
              </a:rPr>
              <a:t> </a:t>
            </a:r>
          </a:p>
        </p:txBody>
      </p:sp>
      <p:sp>
        <p:nvSpPr>
          <p:cNvPr id="220" name="Text Box 6"/>
          <p:cNvSpPr txBox="1">
            <a:spLocks noChangeArrowheads="1"/>
          </p:cNvSpPr>
          <p:nvPr/>
        </p:nvSpPr>
        <p:spPr bwMode="auto">
          <a:xfrm>
            <a:off x="2624342" y="5325407"/>
            <a:ext cx="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b="1" i="1" dirty="0">
              <a:solidFill>
                <a:srgbClr val="C00000"/>
              </a:solidFill>
              <a:sym typeface="Symbol" pitchFamily="18" charset="2"/>
            </a:endParaRPr>
          </a:p>
        </p:txBody>
      </p:sp>
      <p:sp>
        <p:nvSpPr>
          <p:cNvPr id="221" name="Text Box 2"/>
          <p:cNvSpPr txBox="1">
            <a:spLocks noChangeArrowheads="1"/>
          </p:cNvSpPr>
          <p:nvPr/>
        </p:nvSpPr>
        <p:spPr bwMode="auto">
          <a:xfrm>
            <a:off x="729488" y="2723037"/>
            <a:ext cx="3633418" cy="88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随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lang="zh-CN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逐渐增大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滤网支持力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逐渐减少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4475" y="647551"/>
            <a:ext cx="8809038" cy="3850020"/>
            <a:chOff x="244475" y="647551"/>
            <a:chExt cx="8809038" cy="3850020"/>
          </a:xfrm>
        </p:grpSpPr>
        <p:sp>
          <p:nvSpPr>
            <p:cNvPr id="1504264" name="Text Box 8"/>
            <p:cNvSpPr txBox="1">
              <a:spLocks noChangeArrowheads="1"/>
            </p:cNvSpPr>
            <p:nvPr/>
          </p:nvSpPr>
          <p:spPr bwMode="auto">
            <a:xfrm>
              <a:off x="244475" y="693738"/>
              <a:ext cx="3190875" cy="427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n"/>
              </a:pPr>
              <a:r>
                <a:rPr lang="zh-CN" altLang="en-US" sz="2800" b="1" dirty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 临界水力坡降</a:t>
              </a:r>
              <a:endParaRPr lang="en-US" altLang="zh-CN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85" name="Rectangle 4"/>
            <p:cNvSpPr>
              <a:spLocks noChangeArrowheads="1"/>
            </p:cNvSpPr>
            <p:nvPr/>
          </p:nvSpPr>
          <p:spPr bwMode="auto">
            <a:xfrm>
              <a:off x="4486940" y="647551"/>
              <a:ext cx="4566573" cy="385002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4702360" y="758783"/>
              <a:ext cx="4138795" cy="3598748"/>
              <a:chOff x="4702360" y="758783"/>
              <a:chExt cx="4138795" cy="3598748"/>
            </a:xfrm>
          </p:grpSpPr>
          <p:sp>
            <p:nvSpPr>
              <p:cNvPr id="80" name="Line 6"/>
              <p:cNvSpPr>
                <a:spLocks noChangeShapeType="1"/>
              </p:cNvSpPr>
              <p:nvPr/>
            </p:nvSpPr>
            <p:spPr bwMode="auto">
              <a:xfrm flipV="1">
                <a:off x="7554292" y="1282658"/>
                <a:ext cx="0" cy="1152525"/>
              </a:xfrm>
              <a:prstGeom prst="line">
                <a:avLst/>
              </a:prstGeom>
              <a:noFill/>
              <a:ln w="60325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1" name="Rectangle 24"/>
              <p:cNvSpPr>
                <a:spLocks noChangeArrowheads="1"/>
              </p:cNvSpPr>
              <p:nvPr/>
            </p:nvSpPr>
            <p:spPr bwMode="auto">
              <a:xfrm>
                <a:off x="6434504" y="2422484"/>
                <a:ext cx="658813" cy="312738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Freeform 25"/>
              <p:cNvSpPr>
                <a:spLocks/>
              </p:cNvSpPr>
              <p:nvPr/>
            </p:nvSpPr>
            <p:spPr bwMode="auto">
              <a:xfrm>
                <a:off x="4743817" y="2403435"/>
                <a:ext cx="2359369" cy="1954096"/>
              </a:xfrm>
              <a:custGeom>
                <a:avLst/>
                <a:gdLst>
                  <a:gd name="T0" fmla="*/ 1483 w 1483"/>
                  <a:gd name="T1" fmla="*/ 758 h 1224"/>
                  <a:gd name="T2" fmla="*/ 1478 w 1483"/>
                  <a:gd name="T3" fmla="*/ 950 h 1224"/>
                  <a:gd name="T4" fmla="*/ 1305 w 1483"/>
                  <a:gd name="T5" fmla="*/ 950 h 1224"/>
                  <a:gd name="T6" fmla="*/ 1300 w 1483"/>
                  <a:gd name="T7" fmla="*/ 1224 h 1224"/>
                  <a:gd name="T8" fmla="*/ 182 w 1483"/>
                  <a:gd name="T9" fmla="*/ 1219 h 1224"/>
                  <a:gd name="T10" fmla="*/ 187 w 1483"/>
                  <a:gd name="T11" fmla="*/ 158 h 1224"/>
                  <a:gd name="T12" fmla="*/ 0 w 1483"/>
                  <a:gd name="T13" fmla="*/ 149 h 1224"/>
                  <a:gd name="T14" fmla="*/ 0 w 1483"/>
                  <a:gd name="T15" fmla="*/ 5 h 1224"/>
                  <a:gd name="T16" fmla="*/ 403 w 1483"/>
                  <a:gd name="T17" fmla="*/ 0 h 1224"/>
                  <a:gd name="T18" fmla="*/ 398 w 1483"/>
                  <a:gd name="T19" fmla="*/ 154 h 1224"/>
                  <a:gd name="T20" fmla="*/ 249 w 1483"/>
                  <a:gd name="T21" fmla="*/ 158 h 1224"/>
                  <a:gd name="T22" fmla="*/ 259 w 1483"/>
                  <a:gd name="T23" fmla="*/ 1166 h 1224"/>
                  <a:gd name="T24" fmla="*/ 1233 w 1483"/>
                  <a:gd name="T25" fmla="*/ 1157 h 1224"/>
                  <a:gd name="T26" fmla="*/ 1221 w 1483"/>
                  <a:gd name="T27" fmla="*/ 943 h 1224"/>
                  <a:gd name="T28" fmla="*/ 1060 w 1483"/>
                  <a:gd name="T29" fmla="*/ 943 h 1224"/>
                  <a:gd name="T30" fmla="*/ 1070 w 1483"/>
                  <a:gd name="T31" fmla="*/ 754 h 1224"/>
                  <a:gd name="T32" fmla="*/ 1483 w 1483"/>
                  <a:gd name="T33" fmla="*/ 758 h 122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83"/>
                  <a:gd name="T52" fmla="*/ 0 h 1224"/>
                  <a:gd name="T53" fmla="*/ 1483 w 1483"/>
                  <a:gd name="T54" fmla="*/ 1224 h 1224"/>
                  <a:gd name="connsiteX0" fmla="*/ 10000 w 10000"/>
                  <a:gd name="connsiteY0" fmla="*/ 6193 h 10000"/>
                  <a:gd name="connsiteX1" fmla="*/ 9966 w 10000"/>
                  <a:gd name="connsiteY1" fmla="*/ 7761 h 10000"/>
                  <a:gd name="connsiteX2" fmla="*/ 8800 w 10000"/>
                  <a:gd name="connsiteY2" fmla="*/ 7761 h 10000"/>
                  <a:gd name="connsiteX3" fmla="*/ 8766 w 10000"/>
                  <a:gd name="connsiteY3" fmla="*/ 10000 h 10000"/>
                  <a:gd name="connsiteX4" fmla="*/ 1227 w 10000"/>
                  <a:gd name="connsiteY4" fmla="*/ 9959 h 10000"/>
                  <a:gd name="connsiteX5" fmla="*/ 1261 w 10000"/>
                  <a:gd name="connsiteY5" fmla="*/ 1291 h 10000"/>
                  <a:gd name="connsiteX6" fmla="*/ 0 w 10000"/>
                  <a:gd name="connsiteY6" fmla="*/ 1291 h 10000"/>
                  <a:gd name="connsiteX7" fmla="*/ 0 w 10000"/>
                  <a:gd name="connsiteY7" fmla="*/ 41 h 10000"/>
                  <a:gd name="connsiteX8" fmla="*/ 2717 w 10000"/>
                  <a:gd name="connsiteY8" fmla="*/ 0 h 10000"/>
                  <a:gd name="connsiteX9" fmla="*/ 2684 w 10000"/>
                  <a:gd name="connsiteY9" fmla="*/ 1258 h 10000"/>
                  <a:gd name="connsiteX10" fmla="*/ 1679 w 10000"/>
                  <a:gd name="connsiteY10" fmla="*/ 1291 h 10000"/>
                  <a:gd name="connsiteX11" fmla="*/ 1746 w 10000"/>
                  <a:gd name="connsiteY11" fmla="*/ 9526 h 10000"/>
                  <a:gd name="connsiteX12" fmla="*/ 8314 w 10000"/>
                  <a:gd name="connsiteY12" fmla="*/ 9453 h 10000"/>
                  <a:gd name="connsiteX13" fmla="*/ 8233 w 10000"/>
                  <a:gd name="connsiteY13" fmla="*/ 7704 h 10000"/>
                  <a:gd name="connsiteX14" fmla="*/ 7148 w 10000"/>
                  <a:gd name="connsiteY14" fmla="*/ 7704 h 10000"/>
                  <a:gd name="connsiteX15" fmla="*/ 7215 w 10000"/>
                  <a:gd name="connsiteY15" fmla="*/ 6160 h 10000"/>
                  <a:gd name="connsiteX16" fmla="*/ 10000 w 10000"/>
                  <a:gd name="connsiteY16" fmla="*/ 6193 h 10000"/>
                  <a:gd name="connsiteX0" fmla="*/ 10000 w 10000"/>
                  <a:gd name="connsiteY0" fmla="*/ 6193 h 10000"/>
                  <a:gd name="connsiteX1" fmla="*/ 9966 w 10000"/>
                  <a:gd name="connsiteY1" fmla="*/ 7761 h 10000"/>
                  <a:gd name="connsiteX2" fmla="*/ 8800 w 10000"/>
                  <a:gd name="connsiteY2" fmla="*/ 7761 h 10000"/>
                  <a:gd name="connsiteX3" fmla="*/ 8766 w 10000"/>
                  <a:gd name="connsiteY3" fmla="*/ 10000 h 10000"/>
                  <a:gd name="connsiteX4" fmla="*/ 1227 w 10000"/>
                  <a:gd name="connsiteY4" fmla="*/ 9959 h 10000"/>
                  <a:gd name="connsiteX5" fmla="*/ 1261 w 10000"/>
                  <a:gd name="connsiteY5" fmla="*/ 1291 h 10000"/>
                  <a:gd name="connsiteX6" fmla="*/ 0 w 10000"/>
                  <a:gd name="connsiteY6" fmla="*/ 1291 h 10000"/>
                  <a:gd name="connsiteX7" fmla="*/ 0 w 10000"/>
                  <a:gd name="connsiteY7" fmla="*/ 41 h 10000"/>
                  <a:gd name="connsiteX8" fmla="*/ 2717 w 10000"/>
                  <a:gd name="connsiteY8" fmla="*/ 0 h 10000"/>
                  <a:gd name="connsiteX9" fmla="*/ 2745 w 10000"/>
                  <a:gd name="connsiteY9" fmla="*/ 1258 h 10000"/>
                  <a:gd name="connsiteX10" fmla="*/ 1679 w 10000"/>
                  <a:gd name="connsiteY10" fmla="*/ 1291 h 10000"/>
                  <a:gd name="connsiteX11" fmla="*/ 1746 w 10000"/>
                  <a:gd name="connsiteY11" fmla="*/ 9526 h 10000"/>
                  <a:gd name="connsiteX12" fmla="*/ 8314 w 10000"/>
                  <a:gd name="connsiteY12" fmla="*/ 9453 h 10000"/>
                  <a:gd name="connsiteX13" fmla="*/ 8233 w 10000"/>
                  <a:gd name="connsiteY13" fmla="*/ 7704 h 10000"/>
                  <a:gd name="connsiteX14" fmla="*/ 7148 w 10000"/>
                  <a:gd name="connsiteY14" fmla="*/ 7704 h 10000"/>
                  <a:gd name="connsiteX15" fmla="*/ 7215 w 10000"/>
                  <a:gd name="connsiteY15" fmla="*/ 6160 h 10000"/>
                  <a:gd name="connsiteX16" fmla="*/ 10000 w 10000"/>
                  <a:gd name="connsiteY16" fmla="*/ 6193 h 10000"/>
                  <a:gd name="connsiteX0" fmla="*/ 10000 w 10000"/>
                  <a:gd name="connsiteY0" fmla="*/ 6193 h 10000"/>
                  <a:gd name="connsiteX1" fmla="*/ 9966 w 10000"/>
                  <a:gd name="connsiteY1" fmla="*/ 7761 h 10000"/>
                  <a:gd name="connsiteX2" fmla="*/ 8800 w 10000"/>
                  <a:gd name="connsiteY2" fmla="*/ 7761 h 10000"/>
                  <a:gd name="connsiteX3" fmla="*/ 8766 w 10000"/>
                  <a:gd name="connsiteY3" fmla="*/ 10000 h 10000"/>
                  <a:gd name="connsiteX4" fmla="*/ 1227 w 10000"/>
                  <a:gd name="connsiteY4" fmla="*/ 9959 h 10000"/>
                  <a:gd name="connsiteX5" fmla="*/ 1261 w 10000"/>
                  <a:gd name="connsiteY5" fmla="*/ 1291 h 10000"/>
                  <a:gd name="connsiteX6" fmla="*/ 0 w 10000"/>
                  <a:gd name="connsiteY6" fmla="*/ 1291 h 10000"/>
                  <a:gd name="connsiteX7" fmla="*/ 0 w 10000"/>
                  <a:gd name="connsiteY7" fmla="*/ 41 h 10000"/>
                  <a:gd name="connsiteX8" fmla="*/ 2717 w 10000"/>
                  <a:gd name="connsiteY8" fmla="*/ 0 h 10000"/>
                  <a:gd name="connsiteX9" fmla="*/ 2745 w 10000"/>
                  <a:gd name="connsiteY9" fmla="*/ 1258 h 10000"/>
                  <a:gd name="connsiteX10" fmla="*/ 1742 w 10000"/>
                  <a:gd name="connsiteY10" fmla="*/ 1291 h 10000"/>
                  <a:gd name="connsiteX11" fmla="*/ 1746 w 10000"/>
                  <a:gd name="connsiteY11" fmla="*/ 9526 h 10000"/>
                  <a:gd name="connsiteX12" fmla="*/ 8314 w 10000"/>
                  <a:gd name="connsiteY12" fmla="*/ 9453 h 10000"/>
                  <a:gd name="connsiteX13" fmla="*/ 8233 w 10000"/>
                  <a:gd name="connsiteY13" fmla="*/ 7704 h 10000"/>
                  <a:gd name="connsiteX14" fmla="*/ 7148 w 10000"/>
                  <a:gd name="connsiteY14" fmla="*/ 7704 h 10000"/>
                  <a:gd name="connsiteX15" fmla="*/ 7215 w 10000"/>
                  <a:gd name="connsiteY15" fmla="*/ 6160 h 10000"/>
                  <a:gd name="connsiteX16" fmla="*/ 10000 w 10000"/>
                  <a:gd name="connsiteY16" fmla="*/ 6193 h 10000"/>
                  <a:gd name="connsiteX0" fmla="*/ 10000 w 10000"/>
                  <a:gd name="connsiteY0" fmla="*/ 6193 h 10024"/>
                  <a:gd name="connsiteX1" fmla="*/ 9966 w 10000"/>
                  <a:gd name="connsiteY1" fmla="*/ 7761 h 10024"/>
                  <a:gd name="connsiteX2" fmla="*/ 8800 w 10000"/>
                  <a:gd name="connsiteY2" fmla="*/ 7761 h 10024"/>
                  <a:gd name="connsiteX3" fmla="*/ 8766 w 10000"/>
                  <a:gd name="connsiteY3" fmla="*/ 10000 h 10024"/>
                  <a:gd name="connsiteX4" fmla="*/ 1227 w 10000"/>
                  <a:gd name="connsiteY4" fmla="*/ 10024 h 10024"/>
                  <a:gd name="connsiteX5" fmla="*/ 1261 w 10000"/>
                  <a:gd name="connsiteY5" fmla="*/ 1291 h 10024"/>
                  <a:gd name="connsiteX6" fmla="*/ 0 w 10000"/>
                  <a:gd name="connsiteY6" fmla="*/ 1291 h 10024"/>
                  <a:gd name="connsiteX7" fmla="*/ 0 w 10000"/>
                  <a:gd name="connsiteY7" fmla="*/ 41 h 10024"/>
                  <a:gd name="connsiteX8" fmla="*/ 2717 w 10000"/>
                  <a:gd name="connsiteY8" fmla="*/ 0 h 10024"/>
                  <a:gd name="connsiteX9" fmla="*/ 2745 w 10000"/>
                  <a:gd name="connsiteY9" fmla="*/ 1258 h 10024"/>
                  <a:gd name="connsiteX10" fmla="*/ 1742 w 10000"/>
                  <a:gd name="connsiteY10" fmla="*/ 1291 h 10024"/>
                  <a:gd name="connsiteX11" fmla="*/ 1746 w 10000"/>
                  <a:gd name="connsiteY11" fmla="*/ 9526 h 10024"/>
                  <a:gd name="connsiteX12" fmla="*/ 8314 w 10000"/>
                  <a:gd name="connsiteY12" fmla="*/ 9453 h 10024"/>
                  <a:gd name="connsiteX13" fmla="*/ 8233 w 10000"/>
                  <a:gd name="connsiteY13" fmla="*/ 7704 h 10024"/>
                  <a:gd name="connsiteX14" fmla="*/ 7148 w 10000"/>
                  <a:gd name="connsiteY14" fmla="*/ 7704 h 10024"/>
                  <a:gd name="connsiteX15" fmla="*/ 7215 w 10000"/>
                  <a:gd name="connsiteY15" fmla="*/ 6160 h 10024"/>
                  <a:gd name="connsiteX16" fmla="*/ 10000 w 10000"/>
                  <a:gd name="connsiteY16" fmla="*/ 6193 h 10024"/>
                  <a:gd name="connsiteX0" fmla="*/ 9982 w 9982"/>
                  <a:gd name="connsiteY0" fmla="*/ 6182 h 10024"/>
                  <a:gd name="connsiteX1" fmla="*/ 9966 w 9982"/>
                  <a:gd name="connsiteY1" fmla="*/ 7761 h 10024"/>
                  <a:gd name="connsiteX2" fmla="*/ 8800 w 9982"/>
                  <a:gd name="connsiteY2" fmla="*/ 7761 h 10024"/>
                  <a:gd name="connsiteX3" fmla="*/ 8766 w 9982"/>
                  <a:gd name="connsiteY3" fmla="*/ 10000 h 10024"/>
                  <a:gd name="connsiteX4" fmla="*/ 1227 w 9982"/>
                  <a:gd name="connsiteY4" fmla="*/ 10024 h 10024"/>
                  <a:gd name="connsiteX5" fmla="*/ 1261 w 9982"/>
                  <a:gd name="connsiteY5" fmla="*/ 1291 h 10024"/>
                  <a:gd name="connsiteX6" fmla="*/ 0 w 9982"/>
                  <a:gd name="connsiteY6" fmla="*/ 1291 h 10024"/>
                  <a:gd name="connsiteX7" fmla="*/ 0 w 9982"/>
                  <a:gd name="connsiteY7" fmla="*/ 41 h 10024"/>
                  <a:gd name="connsiteX8" fmla="*/ 2717 w 9982"/>
                  <a:gd name="connsiteY8" fmla="*/ 0 h 10024"/>
                  <a:gd name="connsiteX9" fmla="*/ 2745 w 9982"/>
                  <a:gd name="connsiteY9" fmla="*/ 1258 h 10024"/>
                  <a:gd name="connsiteX10" fmla="*/ 1742 w 9982"/>
                  <a:gd name="connsiteY10" fmla="*/ 1291 h 10024"/>
                  <a:gd name="connsiteX11" fmla="*/ 1746 w 9982"/>
                  <a:gd name="connsiteY11" fmla="*/ 9526 h 10024"/>
                  <a:gd name="connsiteX12" fmla="*/ 8314 w 9982"/>
                  <a:gd name="connsiteY12" fmla="*/ 9453 h 10024"/>
                  <a:gd name="connsiteX13" fmla="*/ 8233 w 9982"/>
                  <a:gd name="connsiteY13" fmla="*/ 7704 h 10024"/>
                  <a:gd name="connsiteX14" fmla="*/ 7148 w 9982"/>
                  <a:gd name="connsiteY14" fmla="*/ 7704 h 10024"/>
                  <a:gd name="connsiteX15" fmla="*/ 7215 w 9982"/>
                  <a:gd name="connsiteY15" fmla="*/ 6160 h 10024"/>
                  <a:gd name="connsiteX16" fmla="*/ 9982 w 9982"/>
                  <a:gd name="connsiteY16" fmla="*/ 6182 h 10024"/>
                  <a:gd name="connsiteX0" fmla="*/ 10007 w 10007"/>
                  <a:gd name="connsiteY0" fmla="*/ 6118 h 10000"/>
                  <a:gd name="connsiteX1" fmla="*/ 9984 w 10007"/>
                  <a:gd name="connsiteY1" fmla="*/ 7742 h 10000"/>
                  <a:gd name="connsiteX2" fmla="*/ 8816 w 10007"/>
                  <a:gd name="connsiteY2" fmla="*/ 7742 h 10000"/>
                  <a:gd name="connsiteX3" fmla="*/ 8782 w 10007"/>
                  <a:gd name="connsiteY3" fmla="*/ 9976 h 10000"/>
                  <a:gd name="connsiteX4" fmla="*/ 1229 w 10007"/>
                  <a:gd name="connsiteY4" fmla="*/ 10000 h 10000"/>
                  <a:gd name="connsiteX5" fmla="*/ 1263 w 10007"/>
                  <a:gd name="connsiteY5" fmla="*/ 1288 h 10000"/>
                  <a:gd name="connsiteX6" fmla="*/ 0 w 10007"/>
                  <a:gd name="connsiteY6" fmla="*/ 1288 h 10000"/>
                  <a:gd name="connsiteX7" fmla="*/ 0 w 10007"/>
                  <a:gd name="connsiteY7" fmla="*/ 41 h 10000"/>
                  <a:gd name="connsiteX8" fmla="*/ 2722 w 10007"/>
                  <a:gd name="connsiteY8" fmla="*/ 0 h 10000"/>
                  <a:gd name="connsiteX9" fmla="*/ 2750 w 10007"/>
                  <a:gd name="connsiteY9" fmla="*/ 1255 h 10000"/>
                  <a:gd name="connsiteX10" fmla="*/ 1745 w 10007"/>
                  <a:gd name="connsiteY10" fmla="*/ 1288 h 10000"/>
                  <a:gd name="connsiteX11" fmla="*/ 1749 w 10007"/>
                  <a:gd name="connsiteY11" fmla="*/ 9503 h 10000"/>
                  <a:gd name="connsiteX12" fmla="*/ 8329 w 10007"/>
                  <a:gd name="connsiteY12" fmla="*/ 9430 h 10000"/>
                  <a:gd name="connsiteX13" fmla="*/ 8248 w 10007"/>
                  <a:gd name="connsiteY13" fmla="*/ 7686 h 10000"/>
                  <a:gd name="connsiteX14" fmla="*/ 7161 w 10007"/>
                  <a:gd name="connsiteY14" fmla="*/ 7686 h 10000"/>
                  <a:gd name="connsiteX15" fmla="*/ 7228 w 10007"/>
                  <a:gd name="connsiteY15" fmla="*/ 6145 h 10000"/>
                  <a:gd name="connsiteX16" fmla="*/ 10007 w 10007"/>
                  <a:gd name="connsiteY16" fmla="*/ 6118 h 10000"/>
                  <a:gd name="connsiteX0" fmla="*/ 10007 w 10007"/>
                  <a:gd name="connsiteY0" fmla="*/ 6118 h 10000"/>
                  <a:gd name="connsiteX1" fmla="*/ 9984 w 10007"/>
                  <a:gd name="connsiteY1" fmla="*/ 7742 h 10000"/>
                  <a:gd name="connsiteX2" fmla="*/ 8816 w 10007"/>
                  <a:gd name="connsiteY2" fmla="*/ 7742 h 10000"/>
                  <a:gd name="connsiteX3" fmla="*/ 8782 w 10007"/>
                  <a:gd name="connsiteY3" fmla="*/ 9976 h 10000"/>
                  <a:gd name="connsiteX4" fmla="*/ 1229 w 10007"/>
                  <a:gd name="connsiteY4" fmla="*/ 10000 h 10000"/>
                  <a:gd name="connsiteX5" fmla="*/ 1263 w 10007"/>
                  <a:gd name="connsiteY5" fmla="*/ 1288 h 10000"/>
                  <a:gd name="connsiteX6" fmla="*/ 0 w 10007"/>
                  <a:gd name="connsiteY6" fmla="*/ 1288 h 10000"/>
                  <a:gd name="connsiteX7" fmla="*/ 0 w 10007"/>
                  <a:gd name="connsiteY7" fmla="*/ 41 h 10000"/>
                  <a:gd name="connsiteX8" fmla="*/ 2722 w 10007"/>
                  <a:gd name="connsiteY8" fmla="*/ 0 h 10000"/>
                  <a:gd name="connsiteX9" fmla="*/ 2750 w 10007"/>
                  <a:gd name="connsiteY9" fmla="*/ 1255 h 10000"/>
                  <a:gd name="connsiteX10" fmla="*/ 1745 w 10007"/>
                  <a:gd name="connsiteY10" fmla="*/ 1288 h 10000"/>
                  <a:gd name="connsiteX11" fmla="*/ 1749 w 10007"/>
                  <a:gd name="connsiteY11" fmla="*/ 9503 h 10000"/>
                  <a:gd name="connsiteX12" fmla="*/ 8329 w 10007"/>
                  <a:gd name="connsiteY12" fmla="*/ 9430 h 10000"/>
                  <a:gd name="connsiteX13" fmla="*/ 8248 w 10007"/>
                  <a:gd name="connsiteY13" fmla="*/ 7686 h 10000"/>
                  <a:gd name="connsiteX14" fmla="*/ 7161 w 10007"/>
                  <a:gd name="connsiteY14" fmla="*/ 7686 h 10000"/>
                  <a:gd name="connsiteX15" fmla="*/ 7187 w 10007"/>
                  <a:gd name="connsiteY15" fmla="*/ 6153 h 10000"/>
                  <a:gd name="connsiteX16" fmla="*/ 10007 w 10007"/>
                  <a:gd name="connsiteY16" fmla="*/ 6118 h 10000"/>
                  <a:gd name="connsiteX0" fmla="*/ 10007 w 10007"/>
                  <a:gd name="connsiteY0" fmla="*/ 6118 h 10000"/>
                  <a:gd name="connsiteX1" fmla="*/ 9984 w 10007"/>
                  <a:gd name="connsiteY1" fmla="*/ 7742 h 10000"/>
                  <a:gd name="connsiteX2" fmla="*/ 8816 w 10007"/>
                  <a:gd name="connsiteY2" fmla="*/ 7742 h 10000"/>
                  <a:gd name="connsiteX3" fmla="*/ 8782 w 10007"/>
                  <a:gd name="connsiteY3" fmla="*/ 9976 h 10000"/>
                  <a:gd name="connsiteX4" fmla="*/ 1229 w 10007"/>
                  <a:gd name="connsiteY4" fmla="*/ 10000 h 10000"/>
                  <a:gd name="connsiteX5" fmla="*/ 1263 w 10007"/>
                  <a:gd name="connsiteY5" fmla="*/ 1288 h 10000"/>
                  <a:gd name="connsiteX6" fmla="*/ 0 w 10007"/>
                  <a:gd name="connsiteY6" fmla="*/ 1288 h 10000"/>
                  <a:gd name="connsiteX7" fmla="*/ 0 w 10007"/>
                  <a:gd name="connsiteY7" fmla="*/ 41 h 10000"/>
                  <a:gd name="connsiteX8" fmla="*/ 2722 w 10007"/>
                  <a:gd name="connsiteY8" fmla="*/ 0 h 10000"/>
                  <a:gd name="connsiteX9" fmla="*/ 2750 w 10007"/>
                  <a:gd name="connsiteY9" fmla="*/ 1255 h 10000"/>
                  <a:gd name="connsiteX10" fmla="*/ 1745 w 10007"/>
                  <a:gd name="connsiteY10" fmla="*/ 1288 h 10000"/>
                  <a:gd name="connsiteX11" fmla="*/ 1749 w 10007"/>
                  <a:gd name="connsiteY11" fmla="*/ 9503 h 10000"/>
                  <a:gd name="connsiteX12" fmla="*/ 8329 w 10007"/>
                  <a:gd name="connsiteY12" fmla="*/ 9430 h 10000"/>
                  <a:gd name="connsiteX13" fmla="*/ 8248 w 10007"/>
                  <a:gd name="connsiteY13" fmla="*/ 7686 h 10000"/>
                  <a:gd name="connsiteX14" fmla="*/ 7161 w 10007"/>
                  <a:gd name="connsiteY14" fmla="*/ 7686 h 10000"/>
                  <a:gd name="connsiteX15" fmla="*/ 7180 w 10007"/>
                  <a:gd name="connsiteY15" fmla="*/ 6104 h 10000"/>
                  <a:gd name="connsiteX16" fmla="*/ 10007 w 10007"/>
                  <a:gd name="connsiteY16" fmla="*/ 6118 h 10000"/>
                  <a:gd name="connsiteX0" fmla="*/ 10007 w 10007"/>
                  <a:gd name="connsiteY0" fmla="*/ 6118 h 10032"/>
                  <a:gd name="connsiteX1" fmla="*/ 9984 w 10007"/>
                  <a:gd name="connsiteY1" fmla="*/ 7742 h 10032"/>
                  <a:gd name="connsiteX2" fmla="*/ 8816 w 10007"/>
                  <a:gd name="connsiteY2" fmla="*/ 7742 h 10032"/>
                  <a:gd name="connsiteX3" fmla="*/ 8856 w 10007"/>
                  <a:gd name="connsiteY3" fmla="*/ 10032 h 10032"/>
                  <a:gd name="connsiteX4" fmla="*/ 1229 w 10007"/>
                  <a:gd name="connsiteY4" fmla="*/ 10000 h 10032"/>
                  <a:gd name="connsiteX5" fmla="*/ 1263 w 10007"/>
                  <a:gd name="connsiteY5" fmla="*/ 1288 h 10032"/>
                  <a:gd name="connsiteX6" fmla="*/ 0 w 10007"/>
                  <a:gd name="connsiteY6" fmla="*/ 1288 h 10032"/>
                  <a:gd name="connsiteX7" fmla="*/ 0 w 10007"/>
                  <a:gd name="connsiteY7" fmla="*/ 41 h 10032"/>
                  <a:gd name="connsiteX8" fmla="*/ 2722 w 10007"/>
                  <a:gd name="connsiteY8" fmla="*/ 0 h 10032"/>
                  <a:gd name="connsiteX9" fmla="*/ 2750 w 10007"/>
                  <a:gd name="connsiteY9" fmla="*/ 1255 h 10032"/>
                  <a:gd name="connsiteX10" fmla="*/ 1745 w 10007"/>
                  <a:gd name="connsiteY10" fmla="*/ 1288 h 10032"/>
                  <a:gd name="connsiteX11" fmla="*/ 1749 w 10007"/>
                  <a:gd name="connsiteY11" fmla="*/ 9503 h 10032"/>
                  <a:gd name="connsiteX12" fmla="*/ 8329 w 10007"/>
                  <a:gd name="connsiteY12" fmla="*/ 9430 h 10032"/>
                  <a:gd name="connsiteX13" fmla="*/ 8248 w 10007"/>
                  <a:gd name="connsiteY13" fmla="*/ 7686 h 10032"/>
                  <a:gd name="connsiteX14" fmla="*/ 7161 w 10007"/>
                  <a:gd name="connsiteY14" fmla="*/ 7686 h 10032"/>
                  <a:gd name="connsiteX15" fmla="*/ 7180 w 10007"/>
                  <a:gd name="connsiteY15" fmla="*/ 6104 h 10032"/>
                  <a:gd name="connsiteX16" fmla="*/ 10007 w 10007"/>
                  <a:gd name="connsiteY16" fmla="*/ 6118 h 10032"/>
                  <a:gd name="connsiteX0" fmla="*/ 10035 w 10035"/>
                  <a:gd name="connsiteY0" fmla="*/ 6118 h 10032"/>
                  <a:gd name="connsiteX1" fmla="*/ 9984 w 10035"/>
                  <a:gd name="connsiteY1" fmla="*/ 7742 h 10032"/>
                  <a:gd name="connsiteX2" fmla="*/ 8816 w 10035"/>
                  <a:gd name="connsiteY2" fmla="*/ 7742 h 10032"/>
                  <a:gd name="connsiteX3" fmla="*/ 8856 w 10035"/>
                  <a:gd name="connsiteY3" fmla="*/ 10032 h 10032"/>
                  <a:gd name="connsiteX4" fmla="*/ 1229 w 10035"/>
                  <a:gd name="connsiteY4" fmla="*/ 10000 h 10032"/>
                  <a:gd name="connsiteX5" fmla="*/ 1263 w 10035"/>
                  <a:gd name="connsiteY5" fmla="*/ 1288 h 10032"/>
                  <a:gd name="connsiteX6" fmla="*/ 0 w 10035"/>
                  <a:gd name="connsiteY6" fmla="*/ 1288 h 10032"/>
                  <a:gd name="connsiteX7" fmla="*/ 0 w 10035"/>
                  <a:gd name="connsiteY7" fmla="*/ 41 h 10032"/>
                  <a:gd name="connsiteX8" fmla="*/ 2722 w 10035"/>
                  <a:gd name="connsiteY8" fmla="*/ 0 h 10032"/>
                  <a:gd name="connsiteX9" fmla="*/ 2750 w 10035"/>
                  <a:gd name="connsiteY9" fmla="*/ 1255 h 10032"/>
                  <a:gd name="connsiteX10" fmla="*/ 1745 w 10035"/>
                  <a:gd name="connsiteY10" fmla="*/ 1288 h 10032"/>
                  <a:gd name="connsiteX11" fmla="*/ 1749 w 10035"/>
                  <a:gd name="connsiteY11" fmla="*/ 9503 h 10032"/>
                  <a:gd name="connsiteX12" fmla="*/ 8329 w 10035"/>
                  <a:gd name="connsiteY12" fmla="*/ 9430 h 10032"/>
                  <a:gd name="connsiteX13" fmla="*/ 8248 w 10035"/>
                  <a:gd name="connsiteY13" fmla="*/ 7686 h 10032"/>
                  <a:gd name="connsiteX14" fmla="*/ 7161 w 10035"/>
                  <a:gd name="connsiteY14" fmla="*/ 7686 h 10032"/>
                  <a:gd name="connsiteX15" fmla="*/ 7180 w 10035"/>
                  <a:gd name="connsiteY15" fmla="*/ 6104 h 10032"/>
                  <a:gd name="connsiteX16" fmla="*/ 10035 w 10035"/>
                  <a:gd name="connsiteY16" fmla="*/ 6118 h 10032"/>
                  <a:gd name="connsiteX0" fmla="*/ 10035 w 10042"/>
                  <a:gd name="connsiteY0" fmla="*/ 6118 h 10032"/>
                  <a:gd name="connsiteX1" fmla="*/ 10040 w 10042"/>
                  <a:gd name="connsiteY1" fmla="*/ 7787 h 10032"/>
                  <a:gd name="connsiteX2" fmla="*/ 8816 w 10042"/>
                  <a:gd name="connsiteY2" fmla="*/ 7742 h 10032"/>
                  <a:gd name="connsiteX3" fmla="*/ 8856 w 10042"/>
                  <a:gd name="connsiteY3" fmla="*/ 10032 h 10032"/>
                  <a:gd name="connsiteX4" fmla="*/ 1229 w 10042"/>
                  <a:gd name="connsiteY4" fmla="*/ 10000 h 10032"/>
                  <a:gd name="connsiteX5" fmla="*/ 1263 w 10042"/>
                  <a:gd name="connsiteY5" fmla="*/ 1288 h 10032"/>
                  <a:gd name="connsiteX6" fmla="*/ 0 w 10042"/>
                  <a:gd name="connsiteY6" fmla="*/ 1288 h 10032"/>
                  <a:gd name="connsiteX7" fmla="*/ 0 w 10042"/>
                  <a:gd name="connsiteY7" fmla="*/ 41 h 10032"/>
                  <a:gd name="connsiteX8" fmla="*/ 2722 w 10042"/>
                  <a:gd name="connsiteY8" fmla="*/ 0 h 10032"/>
                  <a:gd name="connsiteX9" fmla="*/ 2750 w 10042"/>
                  <a:gd name="connsiteY9" fmla="*/ 1255 h 10032"/>
                  <a:gd name="connsiteX10" fmla="*/ 1745 w 10042"/>
                  <a:gd name="connsiteY10" fmla="*/ 1288 h 10032"/>
                  <a:gd name="connsiteX11" fmla="*/ 1749 w 10042"/>
                  <a:gd name="connsiteY11" fmla="*/ 9503 h 10032"/>
                  <a:gd name="connsiteX12" fmla="*/ 8329 w 10042"/>
                  <a:gd name="connsiteY12" fmla="*/ 9430 h 10032"/>
                  <a:gd name="connsiteX13" fmla="*/ 8248 w 10042"/>
                  <a:gd name="connsiteY13" fmla="*/ 7686 h 10032"/>
                  <a:gd name="connsiteX14" fmla="*/ 7161 w 10042"/>
                  <a:gd name="connsiteY14" fmla="*/ 7686 h 10032"/>
                  <a:gd name="connsiteX15" fmla="*/ 7180 w 10042"/>
                  <a:gd name="connsiteY15" fmla="*/ 6104 h 10032"/>
                  <a:gd name="connsiteX16" fmla="*/ 10035 w 10042"/>
                  <a:gd name="connsiteY16" fmla="*/ 6118 h 10032"/>
                  <a:gd name="connsiteX0" fmla="*/ 10035 w 10042"/>
                  <a:gd name="connsiteY0" fmla="*/ 6118 h 10032"/>
                  <a:gd name="connsiteX1" fmla="*/ 10040 w 10042"/>
                  <a:gd name="connsiteY1" fmla="*/ 7787 h 10032"/>
                  <a:gd name="connsiteX2" fmla="*/ 8816 w 10042"/>
                  <a:gd name="connsiteY2" fmla="*/ 7787 h 10032"/>
                  <a:gd name="connsiteX3" fmla="*/ 8856 w 10042"/>
                  <a:gd name="connsiteY3" fmla="*/ 10032 h 10032"/>
                  <a:gd name="connsiteX4" fmla="*/ 1229 w 10042"/>
                  <a:gd name="connsiteY4" fmla="*/ 10000 h 10032"/>
                  <a:gd name="connsiteX5" fmla="*/ 1263 w 10042"/>
                  <a:gd name="connsiteY5" fmla="*/ 1288 h 10032"/>
                  <a:gd name="connsiteX6" fmla="*/ 0 w 10042"/>
                  <a:gd name="connsiteY6" fmla="*/ 1288 h 10032"/>
                  <a:gd name="connsiteX7" fmla="*/ 0 w 10042"/>
                  <a:gd name="connsiteY7" fmla="*/ 41 h 10032"/>
                  <a:gd name="connsiteX8" fmla="*/ 2722 w 10042"/>
                  <a:gd name="connsiteY8" fmla="*/ 0 h 10032"/>
                  <a:gd name="connsiteX9" fmla="*/ 2750 w 10042"/>
                  <a:gd name="connsiteY9" fmla="*/ 1255 h 10032"/>
                  <a:gd name="connsiteX10" fmla="*/ 1745 w 10042"/>
                  <a:gd name="connsiteY10" fmla="*/ 1288 h 10032"/>
                  <a:gd name="connsiteX11" fmla="*/ 1749 w 10042"/>
                  <a:gd name="connsiteY11" fmla="*/ 9503 h 10032"/>
                  <a:gd name="connsiteX12" fmla="*/ 8329 w 10042"/>
                  <a:gd name="connsiteY12" fmla="*/ 9430 h 10032"/>
                  <a:gd name="connsiteX13" fmla="*/ 8248 w 10042"/>
                  <a:gd name="connsiteY13" fmla="*/ 7686 h 10032"/>
                  <a:gd name="connsiteX14" fmla="*/ 7161 w 10042"/>
                  <a:gd name="connsiteY14" fmla="*/ 7686 h 10032"/>
                  <a:gd name="connsiteX15" fmla="*/ 7180 w 10042"/>
                  <a:gd name="connsiteY15" fmla="*/ 6104 h 10032"/>
                  <a:gd name="connsiteX16" fmla="*/ 10035 w 10042"/>
                  <a:gd name="connsiteY16" fmla="*/ 6118 h 10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42" h="10032">
                    <a:moveTo>
                      <a:pt x="10035" y="6118"/>
                    </a:moveTo>
                    <a:cubicBezTo>
                      <a:pt x="10024" y="6640"/>
                      <a:pt x="10051" y="7266"/>
                      <a:pt x="10040" y="7787"/>
                    </a:cubicBezTo>
                    <a:lnTo>
                      <a:pt x="8816" y="7787"/>
                    </a:lnTo>
                    <a:cubicBezTo>
                      <a:pt x="8805" y="8532"/>
                      <a:pt x="8867" y="9288"/>
                      <a:pt x="8856" y="10032"/>
                    </a:cubicBezTo>
                    <a:lnTo>
                      <a:pt x="1229" y="10000"/>
                    </a:lnTo>
                    <a:cubicBezTo>
                      <a:pt x="1240" y="7118"/>
                      <a:pt x="1252" y="4170"/>
                      <a:pt x="1263" y="1288"/>
                    </a:cubicBezTo>
                    <a:lnTo>
                      <a:pt x="0" y="1288"/>
                    </a:lnTo>
                    <a:lnTo>
                      <a:pt x="0" y="41"/>
                    </a:lnTo>
                    <a:lnTo>
                      <a:pt x="2722" y="0"/>
                    </a:lnTo>
                    <a:cubicBezTo>
                      <a:pt x="2711" y="418"/>
                      <a:pt x="2761" y="837"/>
                      <a:pt x="2750" y="1255"/>
                    </a:cubicBezTo>
                    <a:lnTo>
                      <a:pt x="1745" y="1288"/>
                    </a:lnTo>
                    <a:cubicBezTo>
                      <a:pt x="1767" y="4026"/>
                      <a:pt x="1727" y="6765"/>
                      <a:pt x="1749" y="9503"/>
                    </a:cubicBezTo>
                    <a:lnTo>
                      <a:pt x="8329" y="9430"/>
                    </a:lnTo>
                    <a:cubicBezTo>
                      <a:pt x="8302" y="8849"/>
                      <a:pt x="8275" y="8267"/>
                      <a:pt x="8248" y="7686"/>
                    </a:cubicBezTo>
                    <a:lnTo>
                      <a:pt x="7161" y="7686"/>
                    </a:lnTo>
                    <a:cubicBezTo>
                      <a:pt x="7183" y="7172"/>
                      <a:pt x="7158" y="6618"/>
                      <a:pt x="7180" y="6104"/>
                    </a:cubicBezTo>
                    <a:lnTo>
                      <a:pt x="10035" y="6118"/>
                    </a:lnTo>
                    <a:close/>
                  </a:path>
                </a:pathLst>
              </a:cu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6" name="Group 26"/>
              <p:cNvGrpSpPr>
                <a:grpSpLocks/>
              </p:cNvGrpSpPr>
              <p:nvPr/>
            </p:nvGrpSpPr>
            <p:grpSpPr bwMode="auto">
              <a:xfrm>
                <a:off x="6432916" y="2263756"/>
                <a:ext cx="649288" cy="269877"/>
                <a:chOff x="3808" y="1777"/>
                <a:chExt cx="409" cy="170"/>
              </a:xfrm>
            </p:grpSpPr>
            <p:grpSp>
              <p:nvGrpSpPr>
                <p:cNvPr id="144" name="Group 27"/>
                <p:cNvGrpSpPr>
                  <a:grpSpLocks/>
                </p:cNvGrpSpPr>
                <p:nvPr/>
              </p:nvGrpSpPr>
              <p:grpSpPr bwMode="auto">
                <a:xfrm>
                  <a:off x="3921" y="1777"/>
                  <a:ext cx="182" cy="170"/>
                  <a:chOff x="3067" y="1097"/>
                  <a:chExt cx="182" cy="170"/>
                </a:xfrm>
              </p:grpSpPr>
              <p:sp>
                <p:nvSpPr>
                  <p:cNvPr id="146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3104" y="1246"/>
                    <a:ext cx="9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128" y="1267"/>
                    <a:ext cx="4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" name="AutoShape 30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6" y="1097"/>
                    <a:ext cx="136" cy="9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8575" algn="ctr">
                    <a:solidFill>
                      <a:srgbClr val="0000FF"/>
                    </a:solidFill>
                    <a:miter lim="800000"/>
                    <a:headEnd/>
                    <a:tailEnd/>
                  </a:ln>
                </p:spPr>
                <p:txBody>
                  <a:bodyPr wrap="none" lIns="0" rIns="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9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3067" y="1222"/>
                    <a:ext cx="18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5" name="Line 32"/>
                <p:cNvSpPr>
                  <a:spLocks noChangeShapeType="1"/>
                </p:cNvSpPr>
                <p:nvPr/>
              </p:nvSpPr>
              <p:spPr bwMode="auto">
                <a:xfrm>
                  <a:off x="3808" y="1876"/>
                  <a:ext cx="409" cy="0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7" name="Freeform 33"/>
              <p:cNvSpPr>
                <a:spLocks/>
              </p:cNvSpPr>
              <p:nvPr/>
            </p:nvSpPr>
            <p:spPr bwMode="auto">
              <a:xfrm>
                <a:off x="7090141" y="2409784"/>
                <a:ext cx="184150" cy="320675"/>
              </a:xfrm>
              <a:custGeom>
                <a:avLst/>
                <a:gdLst>
                  <a:gd name="T0" fmla="*/ 0 w 109"/>
                  <a:gd name="T1" fmla="*/ 196 h 196"/>
                  <a:gd name="T2" fmla="*/ 109 w 109"/>
                  <a:gd name="T3" fmla="*/ 196 h 196"/>
                  <a:gd name="T4" fmla="*/ 109 w 109"/>
                  <a:gd name="T5" fmla="*/ 0 h 196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196"/>
                  <a:gd name="T11" fmla="*/ 109 w 109"/>
                  <a:gd name="T12" fmla="*/ 196 h 196"/>
                  <a:gd name="connsiteX0" fmla="*/ 0 w 10642"/>
                  <a:gd name="connsiteY0" fmla="*/ 10051 h 10051"/>
                  <a:gd name="connsiteX1" fmla="*/ 10642 w 10642"/>
                  <a:gd name="connsiteY1" fmla="*/ 10000 h 10051"/>
                  <a:gd name="connsiteX2" fmla="*/ 10642 w 10642"/>
                  <a:gd name="connsiteY2" fmla="*/ 0 h 10051"/>
                  <a:gd name="connsiteX0" fmla="*/ 0 w 10642"/>
                  <a:gd name="connsiteY0" fmla="*/ 10357 h 10357"/>
                  <a:gd name="connsiteX1" fmla="*/ 10642 w 10642"/>
                  <a:gd name="connsiteY1" fmla="*/ 10306 h 10357"/>
                  <a:gd name="connsiteX2" fmla="*/ 10275 w 10642"/>
                  <a:gd name="connsiteY2" fmla="*/ 0 h 10357"/>
                  <a:gd name="connsiteX0" fmla="*/ 0 w 10677"/>
                  <a:gd name="connsiteY0" fmla="*/ 10357 h 10357"/>
                  <a:gd name="connsiteX1" fmla="*/ 10642 w 10677"/>
                  <a:gd name="connsiteY1" fmla="*/ 10306 h 10357"/>
                  <a:gd name="connsiteX2" fmla="*/ 10642 w 10677"/>
                  <a:gd name="connsiteY2" fmla="*/ 0 h 10357"/>
                  <a:gd name="connsiteX0" fmla="*/ 0 w 10677"/>
                  <a:gd name="connsiteY0" fmla="*/ 10204 h 10306"/>
                  <a:gd name="connsiteX1" fmla="*/ 10642 w 10677"/>
                  <a:gd name="connsiteY1" fmla="*/ 10306 h 10306"/>
                  <a:gd name="connsiteX2" fmla="*/ 10642 w 10677"/>
                  <a:gd name="connsiteY2" fmla="*/ 0 h 10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77" h="10306">
                    <a:moveTo>
                      <a:pt x="0" y="10204"/>
                    </a:moveTo>
                    <a:lnTo>
                      <a:pt x="10642" y="10306"/>
                    </a:lnTo>
                    <a:cubicBezTo>
                      <a:pt x="10520" y="6871"/>
                      <a:pt x="10764" y="3435"/>
                      <a:pt x="10642" y="0"/>
                    </a:cubicBezTo>
                  </a:path>
                </a:pathLst>
              </a:custGeom>
              <a:noFill/>
              <a:ln w="76200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34"/>
              <p:cNvSpPr>
                <a:spLocks/>
              </p:cNvSpPr>
              <p:nvPr/>
            </p:nvSpPr>
            <p:spPr bwMode="auto">
              <a:xfrm>
                <a:off x="7085379" y="2419309"/>
                <a:ext cx="465138" cy="1192213"/>
              </a:xfrm>
              <a:custGeom>
                <a:avLst/>
                <a:gdLst>
                  <a:gd name="T0" fmla="*/ 0 w 284"/>
                  <a:gd name="T1" fmla="*/ 751 h 751"/>
                  <a:gd name="T2" fmla="*/ 281 w 284"/>
                  <a:gd name="T3" fmla="*/ 751 h 751"/>
                  <a:gd name="T4" fmla="*/ 284 w 284"/>
                  <a:gd name="T5" fmla="*/ 0 h 751"/>
                  <a:gd name="T6" fmla="*/ 0 60000 65536"/>
                  <a:gd name="T7" fmla="*/ 0 60000 65536"/>
                  <a:gd name="T8" fmla="*/ 0 60000 65536"/>
                  <a:gd name="T9" fmla="*/ 0 w 284"/>
                  <a:gd name="T10" fmla="*/ 0 h 751"/>
                  <a:gd name="T11" fmla="*/ 284 w 284"/>
                  <a:gd name="T12" fmla="*/ 751 h 7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4" h="751">
                    <a:moveTo>
                      <a:pt x="0" y="751"/>
                    </a:moveTo>
                    <a:lnTo>
                      <a:pt x="281" y="751"/>
                    </a:lnTo>
                    <a:lnTo>
                      <a:pt x="284" y="0"/>
                    </a:lnTo>
                  </a:path>
                </a:pathLst>
              </a:custGeom>
              <a:noFill/>
              <a:ln w="63500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89" name="Group 35"/>
              <p:cNvGrpSpPr>
                <a:grpSpLocks/>
              </p:cNvGrpSpPr>
              <p:nvPr/>
            </p:nvGrpSpPr>
            <p:grpSpPr bwMode="auto">
              <a:xfrm>
                <a:off x="4740641" y="2254209"/>
                <a:ext cx="649288" cy="263525"/>
                <a:chOff x="2742" y="1771"/>
                <a:chExt cx="409" cy="166"/>
              </a:xfrm>
            </p:grpSpPr>
            <p:grpSp>
              <p:nvGrpSpPr>
                <p:cNvPr id="138" name="Group 36"/>
                <p:cNvGrpSpPr>
                  <a:grpSpLocks/>
                </p:cNvGrpSpPr>
                <p:nvPr/>
              </p:nvGrpSpPr>
              <p:grpSpPr bwMode="auto">
                <a:xfrm>
                  <a:off x="2855" y="1771"/>
                  <a:ext cx="182" cy="166"/>
                  <a:chOff x="3067" y="1101"/>
                  <a:chExt cx="182" cy="166"/>
                </a:xfrm>
              </p:grpSpPr>
              <p:sp>
                <p:nvSpPr>
                  <p:cNvPr id="140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3104" y="1246"/>
                    <a:ext cx="9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1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3128" y="1267"/>
                    <a:ext cx="4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AutoShape 3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6" y="1101"/>
                    <a:ext cx="136" cy="9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8575" algn="ctr">
                    <a:solidFill>
                      <a:srgbClr val="0000FF"/>
                    </a:solidFill>
                    <a:miter lim="800000"/>
                    <a:headEnd/>
                    <a:tailEnd/>
                  </a:ln>
                </p:spPr>
                <p:txBody>
                  <a:bodyPr wrap="none" lIns="0" rIns="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3067" y="1222"/>
                    <a:ext cx="18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9" name="Line 41"/>
                <p:cNvSpPr>
                  <a:spLocks noChangeShapeType="1"/>
                </p:cNvSpPr>
                <p:nvPr/>
              </p:nvSpPr>
              <p:spPr bwMode="auto">
                <a:xfrm>
                  <a:off x="2742" y="1866"/>
                  <a:ext cx="409" cy="0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669583" y="1287421"/>
                <a:ext cx="1084263" cy="2303462"/>
                <a:chOff x="4754369" y="1284288"/>
                <a:chExt cx="1084263" cy="2303462"/>
              </a:xfrm>
            </p:grpSpPr>
            <p:sp>
              <p:nvSpPr>
                <p:cNvPr id="130" name="Freeform 18"/>
                <p:cNvSpPr>
                  <a:spLocks/>
                </p:cNvSpPr>
                <p:nvPr/>
              </p:nvSpPr>
              <p:spPr bwMode="auto">
                <a:xfrm>
                  <a:off x="4754369" y="1284288"/>
                  <a:ext cx="814388" cy="1587"/>
                </a:xfrm>
                <a:custGeom>
                  <a:avLst/>
                  <a:gdLst>
                    <a:gd name="T0" fmla="*/ 0 w 513"/>
                    <a:gd name="T1" fmla="*/ 0 h 1"/>
                    <a:gd name="T2" fmla="*/ 513 w 513"/>
                    <a:gd name="T3" fmla="*/ 0 h 1"/>
                    <a:gd name="T4" fmla="*/ 0 60000 65536"/>
                    <a:gd name="T5" fmla="*/ 0 60000 65536"/>
                    <a:gd name="T6" fmla="*/ 0 w 513"/>
                    <a:gd name="T7" fmla="*/ 0 h 1"/>
                    <a:gd name="T8" fmla="*/ 513 w 513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13" h="1">
                      <a:moveTo>
                        <a:pt x="0" y="0"/>
                      </a:moveTo>
                      <a:lnTo>
                        <a:pt x="513" y="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9"/>
                <p:cNvSpPr>
                  <a:spLocks/>
                </p:cNvSpPr>
                <p:nvPr/>
              </p:nvSpPr>
              <p:spPr bwMode="auto">
                <a:xfrm>
                  <a:off x="4973297" y="1286581"/>
                  <a:ext cx="1588" cy="1130400"/>
                </a:xfrm>
                <a:custGeom>
                  <a:avLst/>
                  <a:gdLst>
                    <a:gd name="T0" fmla="*/ 0 w 1"/>
                    <a:gd name="T1" fmla="*/ 0 h 735"/>
                    <a:gd name="T2" fmla="*/ 1 w 1"/>
                    <a:gd name="T3" fmla="*/ 735 h 735"/>
                    <a:gd name="T4" fmla="*/ 0 60000 65536"/>
                    <a:gd name="T5" fmla="*/ 0 60000 65536"/>
                    <a:gd name="T6" fmla="*/ 0 w 1"/>
                    <a:gd name="T7" fmla="*/ 0 h 735"/>
                    <a:gd name="T8" fmla="*/ 1 w 1"/>
                    <a:gd name="T9" fmla="*/ 735 h 735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735">
                      <a:moveTo>
                        <a:pt x="0" y="0"/>
                      </a:moveTo>
                      <a:lnTo>
                        <a:pt x="1" y="735"/>
                      </a:lnTo>
                    </a:path>
                  </a:pathLst>
                </a:custGeom>
                <a:noFill/>
                <a:ln w="12700">
                  <a:solidFill>
                    <a:srgbClr val="333333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2" name="Line 20"/>
                <p:cNvSpPr>
                  <a:spLocks noChangeShapeType="1"/>
                </p:cNvSpPr>
                <p:nvPr/>
              </p:nvSpPr>
              <p:spPr bwMode="auto">
                <a:xfrm>
                  <a:off x="5475094" y="1284288"/>
                  <a:ext cx="0" cy="2303462"/>
                </a:xfrm>
                <a:prstGeom prst="line">
                  <a:avLst/>
                </a:prstGeom>
                <a:noFill/>
                <a:ln w="12700">
                  <a:solidFill>
                    <a:srgbClr val="333333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563994" y="2220913"/>
                  <a:ext cx="274638" cy="4619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r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400" b="1" i="1" dirty="0">
                      <a:cs typeface="Times New Roman" panose="02020603050405020304" pitchFamily="18" charset="0"/>
                    </a:rPr>
                    <a:t>h</a:t>
                  </a:r>
                  <a:r>
                    <a:rPr lang="en-US" altLang="zh-CN" sz="2400" b="1" baseline="-25000" dirty="0"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3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873432" y="1644650"/>
                  <a:ext cx="588963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l-GR" altLang="zh-CN" sz="2400" b="1" dirty="0">
                      <a:cs typeface="Times New Roman" panose="02020603050405020304" pitchFamily="18" charset="0"/>
                    </a:rPr>
                    <a:t>Δ</a:t>
                  </a:r>
                  <a:r>
                    <a:rPr lang="en-US" altLang="zh-CN" sz="2400" b="1" i="1" dirty="0">
                      <a:cs typeface="Times New Roman" panose="02020603050405020304" pitchFamily="18" charset="0"/>
                    </a:rPr>
                    <a:t>h</a:t>
                  </a:r>
                </a:p>
              </p:txBody>
            </p:sp>
            <p:sp>
              <p:nvSpPr>
                <p:cNvPr id="135" name="Line 43"/>
                <p:cNvSpPr>
                  <a:spLocks noChangeShapeType="1"/>
                </p:cNvSpPr>
                <p:nvPr/>
              </p:nvSpPr>
              <p:spPr bwMode="auto">
                <a:xfrm>
                  <a:off x="4801990" y="2420938"/>
                  <a:ext cx="360363" cy="0"/>
                </a:xfrm>
                <a:prstGeom prst="line">
                  <a:avLst/>
                </a:prstGeom>
                <a:noFill/>
                <a:ln w="12700">
                  <a:solidFill>
                    <a:srgbClr val="3333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6" name="Freeform 44"/>
                <p:cNvSpPr>
                  <a:spLocks/>
                </p:cNvSpPr>
                <p:nvPr/>
              </p:nvSpPr>
              <p:spPr bwMode="auto">
                <a:xfrm>
                  <a:off x="4948040" y="2420791"/>
                  <a:ext cx="28575" cy="1160463"/>
                </a:xfrm>
                <a:custGeom>
                  <a:avLst/>
                  <a:gdLst>
                    <a:gd name="T0" fmla="*/ 18 w 18"/>
                    <a:gd name="T1" fmla="*/ 0 h 731"/>
                    <a:gd name="T2" fmla="*/ 0 w 18"/>
                    <a:gd name="T3" fmla="*/ 731 h 731"/>
                    <a:gd name="T4" fmla="*/ 0 60000 65536"/>
                    <a:gd name="T5" fmla="*/ 0 60000 65536"/>
                    <a:gd name="T6" fmla="*/ 0 w 18"/>
                    <a:gd name="T7" fmla="*/ 0 h 731"/>
                    <a:gd name="T8" fmla="*/ 18 w 18"/>
                    <a:gd name="T9" fmla="*/ 731 h 73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8" h="731">
                      <a:moveTo>
                        <a:pt x="18" y="0"/>
                      </a:moveTo>
                      <a:lnTo>
                        <a:pt x="0" y="731"/>
                      </a:lnTo>
                    </a:path>
                  </a:pathLst>
                </a:custGeom>
                <a:noFill/>
                <a:ln w="12700">
                  <a:solidFill>
                    <a:srgbClr val="333333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982965" y="2724151"/>
                  <a:ext cx="274638" cy="461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r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400" b="1" i="1" dirty="0">
                      <a:cs typeface="Times New Roman" panose="02020603050405020304" pitchFamily="18" charset="0"/>
                    </a:rPr>
                    <a:t>h</a:t>
                  </a:r>
                  <a:r>
                    <a:rPr lang="en-US" altLang="zh-CN" sz="2400" b="1" baseline="-25000" dirty="0"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sp>
            <p:nvSpPr>
              <p:cNvPr id="91" name="Text Box 46"/>
              <p:cNvSpPr txBox="1">
                <a:spLocks noChangeArrowheads="1"/>
              </p:cNvSpPr>
              <p:nvPr/>
            </p:nvSpPr>
            <p:spPr bwMode="auto">
              <a:xfrm>
                <a:off x="8712567" y="3430546"/>
                <a:ext cx="128588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92" name="Text Box 47"/>
              <p:cNvSpPr txBox="1">
                <a:spLocks noChangeArrowheads="1"/>
              </p:cNvSpPr>
              <p:nvPr/>
            </p:nvSpPr>
            <p:spPr bwMode="auto">
              <a:xfrm>
                <a:off x="5374054" y="3430546"/>
                <a:ext cx="128588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93" name="Line 48"/>
              <p:cNvSpPr>
                <a:spLocks noChangeShapeType="1"/>
              </p:cNvSpPr>
              <p:nvPr/>
            </p:nvSpPr>
            <p:spPr bwMode="auto">
              <a:xfrm>
                <a:off x="6013817" y="2420896"/>
                <a:ext cx="3603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49"/>
              <p:cNvSpPr>
                <a:spLocks/>
              </p:cNvSpPr>
              <p:nvPr/>
            </p:nvSpPr>
            <p:spPr bwMode="auto">
              <a:xfrm>
                <a:off x="6153811" y="2417427"/>
                <a:ext cx="1588" cy="306000"/>
              </a:xfrm>
              <a:custGeom>
                <a:avLst/>
                <a:gdLst>
                  <a:gd name="T0" fmla="*/ 0 w 1"/>
                  <a:gd name="T1" fmla="*/ 0 h 203"/>
                  <a:gd name="T2" fmla="*/ 0 w 1"/>
                  <a:gd name="T3" fmla="*/ 203 h 203"/>
                  <a:gd name="T4" fmla="*/ 0 60000 65536"/>
                  <a:gd name="T5" fmla="*/ 0 60000 65536"/>
                  <a:gd name="T6" fmla="*/ 0 w 1"/>
                  <a:gd name="T7" fmla="*/ 0 h 203"/>
                  <a:gd name="T8" fmla="*/ 1 w 1"/>
                  <a:gd name="T9" fmla="*/ 203 h 20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03">
                    <a:moveTo>
                      <a:pt x="0" y="0"/>
                    </a:moveTo>
                    <a:lnTo>
                      <a:pt x="0" y="203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5" name="Text Box 50"/>
              <p:cNvSpPr txBox="1">
                <a:spLocks noChangeArrowheads="1"/>
              </p:cNvSpPr>
              <p:nvPr/>
            </p:nvSpPr>
            <p:spPr bwMode="auto">
              <a:xfrm>
                <a:off x="5736306" y="2335171"/>
                <a:ext cx="26609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 err="1">
                    <a:cs typeface="Times New Roman" panose="02020603050405020304" pitchFamily="18" charset="0"/>
                  </a:rPr>
                  <a:t>h</a:t>
                </a:r>
                <a:r>
                  <a:rPr lang="en-US" altLang="zh-CN" sz="2000" b="1" baseline="-25000" dirty="0" err="1">
                    <a:cs typeface="Times New Roman" panose="02020603050405020304" pitchFamily="18" charset="0"/>
                  </a:rPr>
                  <a:t>w</a:t>
                </a:r>
                <a:endParaRPr lang="en-US" altLang="zh-CN" sz="2000" b="1" baseline="-25000" dirty="0"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6" name="Group 51"/>
              <p:cNvGrpSpPr>
                <a:grpSpLocks/>
              </p:cNvGrpSpPr>
              <p:nvPr/>
            </p:nvGrpSpPr>
            <p:grpSpPr bwMode="auto">
              <a:xfrm>
                <a:off x="4737466" y="758783"/>
                <a:ext cx="3940175" cy="3595688"/>
                <a:chOff x="3030" y="476"/>
                <a:chExt cx="2482" cy="2265"/>
              </a:xfrm>
            </p:grpSpPr>
            <p:sp>
              <p:nvSpPr>
                <p:cNvPr id="111" name="Line 52"/>
                <p:cNvSpPr>
                  <a:spLocks noChangeShapeType="1"/>
                </p:cNvSpPr>
                <p:nvPr/>
              </p:nvSpPr>
              <p:spPr bwMode="auto">
                <a:xfrm>
                  <a:off x="3562" y="2261"/>
                  <a:ext cx="1950" cy="0"/>
                </a:xfrm>
                <a:prstGeom prst="line">
                  <a:avLst/>
                </a:prstGeom>
                <a:noFill/>
                <a:ln w="12700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3785" y="1832"/>
                  <a:ext cx="9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000" b="1" i="1" dirty="0">
                      <a:cs typeface="Times New Roman" panose="02020603050405020304" pitchFamily="18" charset="0"/>
                    </a:rPr>
                    <a:t>L</a:t>
                  </a:r>
                </a:p>
              </p:txBody>
            </p:sp>
            <p:grpSp>
              <p:nvGrpSpPr>
                <p:cNvPr id="113" name="Group 54"/>
                <p:cNvGrpSpPr>
                  <a:grpSpLocks/>
                </p:cNvGrpSpPr>
                <p:nvPr/>
              </p:nvGrpSpPr>
              <p:grpSpPr bwMode="auto">
                <a:xfrm>
                  <a:off x="3030" y="476"/>
                  <a:ext cx="2029" cy="2265"/>
                  <a:chOff x="3030" y="476"/>
                  <a:chExt cx="2029" cy="2265"/>
                </a:xfrm>
              </p:grpSpPr>
              <p:grpSp>
                <p:nvGrpSpPr>
                  <p:cNvPr id="114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3030" y="701"/>
                    <a:ext cx="1797" cy="2040"/>
                    <a:chOff x="1713" y="918"/>
                    <a:chExt cx="1797" cy="2040"/>
                  </a:xfrm>
                </p:grpSpPr>
                <p:sp>
                  <p:nvSpPr>
                    <p:cNvPr id="126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1973" y="1730"/>
                      <a:ext cx="973" cy="1162"/>
                    </a:xfrm>
                    <a:custGeom>
                      <a:avLst/>
                      <a:gdLst>
                        <a:gd name="T0" fmla="*/ 807 w 973"/>
                        <a:gd name="T1" fmla="*/ 0 h 1162"/>
                        <a:gd name="T2" fmla="*/ 805 w 973"/>
                        <a:gd name="T3" fmla="*/ 946 h 1162"/>
                        <a:gd name="T4" fmla="*/ 967 w 973"/>
                        <a:gd name="T5" fmla="*/ 946 h 1162"/>
                        <a:gd name="T6" fmla="*/ 973 w 973"/>
                        <a:gd name="T7" fmla="*/ 1159 h 1162"/>
                        <a:gd name="T8" fmla="*/ 4 w 973"/>
                        <a:gd name="T9" fmla="*/ 1162 h 1162"/>
                        <a:gd name="T10" fmla="*/ 0 w 973"/>
                        <a:gd name="T11" fmla="*/ 158 h 1162"/>
                        <a:gd name="T12" fmla="*/ 151 w 973"/>
                        <a:gd name="T13" fmla="*/ 154 h 1162"/>
                        <a:gd name="T14" fmla="*/ 151 w 973"/>
                        <a:gd name="T15" fmla="*/ 1 h 116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973"/>
                        <a:gd name="T25" fmla="*/ 0 h 1162"/>
                        <a:gd name="T26" fmla="*/ 973 w 973"/>
                        <a:gd name="T27" fmla="*/ 1162 h 1162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973" h="1162">
                          <a:moveTo>
                            <a:pt x="807" y="0"/>
                          </a:moveTo>
                          <a:lnTo>
                            <a:pt x="805" y="946"/>
                          </a:lnTo>
                          <a:lnTo>
                            <a:pt x="967" y="946"/>
                          </a:lnTo>
                          <a:lnTo>
                            <a:pt x="973" y="1159"/>
                          </a:lnTo>
                          <a:lnTo>
                            <a:pt x="4" y="1162"/>
                          </a:lnTo>
                          <a:lnTo>
                            <a:pt x="0" y="158"/>
                          </a:lnTo>
                          <a:lnTo>
                            <a:pt x="151" y="154"/>
                          </a:lnTo>
                          <a:lnTo>
                            <a:pt x="151" y="1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7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1713" y="921"/>
                      <a:ext cx="1797" cy="2037"/>
                    </a:xfrm>
                    <a:custGeom>
                      <a:avLst/>
                      <a:gdLst>
                        <a:gd name="T0" fmla="*/ 0 w 1797"/>
                        <a:gd name="T1" fmla="*/ 804 h 2037"/>
                        <a:gd name="T2" fmla="*/ 0 w 1797"/>
                        <a:gd name="T3" fmla="*/ 966 h 2037"/>
                        <a:gd name="T4" fmla="*/ 186 w 1797"/>
                        <a:gd name="T5" fmla="*/ 969 h 2037"/>
                        <a:gd name="T6" fmla="*/ 183 w 1797"/>
                        <a:gd name="T7" fmla="*/ 2035 h 2037"/>
                        <a:gd name="T8" fmla="*/ 1311 w 1797"/>
                        <a:gd name="T9" fmla="*/ 2037 h 2037"/>
                        <a:gd name="T10" fmla="*/ 1311 w 1797"/>
                        <a:gd name="T11" fmla="*/ 1764 h 2037"/>
                        <a:gd name="T12" fmla="*/ 1485 w 1797"/>
                        <a:gd name="T13" fmla="*/ 1764 h 2037"/>
                        <a:gd name="T14" fmla="*/ 1488 w 1797"/>
                        <a:gd name="T15" fmla="*/ 1590 h 2037"/>
                        <a:gd name="T16" fmla="*/ 1790 w 1797"/>
                        <a:gd name="T17" fmla="*/ 1589 h 2037"/>
                        <a:gd name="T18" fmla="*/ 1797 w 1797"/>
                        <a:gd name="T19" fmla="*/ 0 h 2037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1797"/>
                        <a:gd name="T31" fmla="*/ 0 h 2037"/>
                        <a:gd name="T32" fmla="*/ 1797 w 1797"/>
                        <a:gd name="T33" fmla="*/ 2037 h 2037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1797" h="2037">
                          <a:moveTo>
                            <a:pt x="0" y="804"/>
                          </a:moveTo>
                          <a:lnTo>
                            <a:pt x="0" y="966"/>
                          </a:lnTo>
                          <a:lnTo>
                            <a:pt x="186" y="969"/>
                          </a:lnTo>
                          <a:lnTo>
                            <a:pt x="183" y="2035"/>
                          </a:lnTo>
                          <a:lnTo>
                            <a:pt x="1311" y="2037"/>
                          </a:lnTo>
                          <a:lnTo>
                            <a:pt x="1311" y="1764"/>
                          </a:lnTo>
                          <a:lnTo>
                            <a:pt x="1485" y="1764"/>
                          </a:lnTo>
                          <a:lnTo>
                            <a:pt x="1488" y="1590"/>
                          </a:lnTo>
                          <a:lnTo>
                            <a:pt x="1790" y="1589"/>
                          </a:lnTo>
                          <a:lnTo>
                            <a:pt x="1797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8" name="Freeform 58"/>
                    <p:cNvSpPr>
                      <a:spLocks/>
                    </p:cNvSpPr>
                    <p:nvPr/>
                  </p:nvSpPr>
                  <p:spPr bwMode="auto">
                    <a:xfrm>
                      <a:off x="3195" y="926"/>
                      <a:ext cx="89" cy="991"/>
                    </a:xfrm>
                    <a:custGeom>
                      <a:avLst/>
                      <a:gdLst>
                        <a:gd name="T0" fmla="*/ 0 w 89"/>
                        <a:gd name="T1" fmla="*/ 811 h 991"/>
                        <a:gd name="T2" fmla="*/ 0 w 89"/>
                        <a:gd name="T3" fmla="*/ 991 h 991"/>
                        <a:gd name="T4" fmla="*/ 89 w 89"/>
                        <a:gd name="T5" fmla="*/ 990 h 991"/>
                        <a:gd name="T6" fmla="*/ 89 w 89"/>
                        <a:gd name="T7" fmla="*/ 0 h 991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89"/>
                        <a:gd name="T13" fmla="*/ 0 h 991"/>
                        <a:gd name="T14" fmla="*/ 89 w 89"/>
                        <a:gd name="T15" fmla="*/ 991 h 991"/>
                        <a:gd name="connsiteX0" fmla="*/ 0 w 10000"/>
                        <a:gd name="connsiteY0" fmla="*/ 8103 h 10000"/>
                        <a:gd name="connsiteX1" fmla="*/ 0 w 10000"/>
                        <a:gd name="connsiteY1" fmla="*/ 10000 h 10000"/>
                        <a:gd name="connsiteX2" fmla="*/ 10000 w 10000"/>
                        <a:gd name="connsiteY2" fmla="*/ 9990 h 10000"/>
                        <a:gd name="connsiteX3" fmla="*/ 10000 w 10000"/>
                        <a:gd name="connsiteY3" fmla="*/ 0 h 1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000" h="10000">
                          <a:moveTo>
                            <a:pt x="0" y="8103"/>
                          </a:moveTo>
                          <a:lnTo>
                            <a:pt x="0" y="10000"/>
                          </a:lnTo>
                          <a:lnTo>
                            <a:pt x="10000" y="9990"/>
                          </a:lnTo>
                          <a:lnTo>
                            <a:pt x="10000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9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3198" y="918"/>
                      <a:ext cx="264" cy="1551"/>
                    </a:xfrm>
                    <a:custGeom>
                      <a:avLst/>
                      <a:gdLst>
                        <a:gd name="T0" fmla="*/ 135 w 264"/>
                        <a:gd name="T1" fmla="*/ 6 h 1551"/>
                        <a:gd name="T2" fmla="*/ 135 w 264"/>
                        <a:gd name="T3" fmla="*/ 1035 h 1551"/>
                        <a:gd name="T4" fmla="*/ 0 w 264"/>
                        <a:gd name="T5" fmla="*/ 1032 h 1551"/>
                        <a:gd name="T6" fmla="*/ 0 w 264"/>
                        <a:gd name="T7" fmla="*/ 1551 h 1551"/>
                        <a:gd name="T8" fmla="*/ 264 w 264"/>
                        <a:gd name="T9" fmla="*/ 1551 h 1551"/>
                        <a:gd name="T10" fmla="*/ 264 w 264"/>
                        <a:gd name="T11" fmla="*/ 0 h 1551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64"/>
                        <a:gd name="T19" fmla="*/ 0 h 1551"/>
                        <a:gd name="T20" fmla="*/ 264 w 264"/>
                        <a:gd name="T21" fmla="*/ 1551 h 1551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64" h="1551">
                          <a:moveTo>
                            <a:pt x="135" y="6"/>
                          </a:moveTo>
                          <a:lnTo>
                            <a:pt x="135" y="1035"/>
                          </a:lnTo>
                          <a:lnTo>
                            <a:pt x="0" y="1032"/>
                          </a:lnTo>
                          <a:lnTo>
                            <a:pt x="0" y="1551"/>
                          </a:lnTo>
                          <a:lnTo>
                            <a:pt x="264" y="1551"/>
                          </a:lnTo>
                          <a:lnTo>
                            <a:pt x="264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15" name="Freeform 60"/>
                  <p:cNvSpPr>
                    <a:spLocks/>
                  </p:cNvSpPr>
                  <p:nvPr/>
                </p:nvSpPr>
                <p:spPr bwMode="auto">
                  <a:xfrm>
                    <a:off x="3922" y="1714"/>
                    <a:ext cx="1" cy="550"/>
                  </a:xfrm>
                  <a:custGeom>
                    <a:avLst/>
                    <a:gdLst>
                      <a:gd name="T0" fmla="*/ 1 w 1"/>
                      <a:gd name="T1" fmla="*/ 0 h 550"/>
                      <a:gd name="T2" fmla="*/ 0 w 1"/>
                      <a:gd name="T3" fmla="*/ 550 h 550"/>
                      <a:gd name="T4" fmla="*/ 0 60000 65536"/>
                      <a:gd name="T5" fmla="*/ 0 60000 65536"/>
                      <a:gd name="T6" fmla="*/ 0 w 1"/>
                      <a:gd name="T7" fmla="*/ 0 h 550"/>
                      <a:gd name="T8" fmla="*/ 1 w 1"/>
                      <a:gd name="T9" fmla="*/ 550 h 55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" h="550">
                        <a:moveTo>
                          <a:pt x="1" y="0"/>
                        </a:moveTo>
                        <a:lnTo>
                          <a:pt x="0" y="55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834" y="1716"/>
                    <a:ext cx="227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17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4095" y="1716"/>
                    <a:ext cx="420" cy="549"/>
                    <a:chOff x="3805" y="2069"/>
                    <a:chExt cx="420" cy="549"/>
                  </a:xfrm>
                </p:grpSpPr>
                <p:sp>
                  <p:nvSpPr>
                    <p:cNvPr id="124" name="Freeform 63"/>
                    <p:cNvSpPr>
                      <a:spLocks/>
                    </p:cNvSpPr>
                    <p:nvPr/>
                  </p:nvSpPr>
                  <p:spPr bwMode="auto">
                    <a:xfrm>
                      <a:off x="3805" y="2069"/>
                      <a:ext cx="420" cy="549"/>
                    </a:xfrm>
                    <a:custGeom>
                      <a:avLst/>
                      <a:gdLst>
                        <a:gd name="T0" fmla="*/ 408 w 412"/>
                        <a:gd name="T1" fmla="*/ 0 h 554"/>
                        <a:gd name="T2" fmla="*/ 412 w 412"/>
                        <a:gd name="T3" fmla="*/ 550 h 554"/>
                        <a:gd name="T4" fmla="*/ 0 w 412"/>
                        <a:gd name="T5" fmla="*/ 554 h 554"/>
                        <a:gd name="T6" fmla="*/ 4 w 412"/>
                        <a:gd name="T7" fmla="*/ 0 h 554"/>
                        <a:gd name="T8" fmla="*/ 408 w 412"/>
                        <a:gd name="T9" fmla="*/ 0 h 55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412"/>
                        <a:gd name="T16" fmla="*/ 0 h 554"/>
                        <a:gd name="T17" fmla="*/ 412 w 412"/>
                        <a:gd name="T18" fmla="*/ 554 h 55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412" h="554">
                          <a:moveTo>
                            <a:pt x="408" y="0"/>
                          </a:moveTo>
                          <a:lnTo>
                            <a:pt x="412" y="550"/>
                          </a:lnTo>
                          <a:lnTo>
                            <a:pt x="0" y="554"/>
                          </a:lnTo>
                          <a:lnTo>
                            <a:pt x="4" y="0"/>
                          </a:lnTo>
                          <a:lnTo>
                            <a:pt x="408" y="0"/>
                          </a:lnTo>
                          <a:close/>
                        </a:path>
                      </a:pathLst>
                    </a:custGeom>
                    <a:solidFill>
                      <a:srgbClr val="FF9900">
                        <a:alpha val="50195"/>
                      </a:srgb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5" name="Text Box 6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16" y="2222"/>
                      <a:ext cx="368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algn="ctr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lnSpc>
                          <a:spcPct val="115000"/>
                        </a:lnSpc>
                        <a:spcBef>
                          <a:spcPct val="15000"/>
                        </a:spcBef>
                        <a:spcAft>
                          <a:spcPct val="1500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lnSpc>
                          <a:spcPct val="115000"/>
                        </a:lnSpc>
                        <a:spcBef>
                          <a:spcPct val="15000"/>
                        </a:spcBef>
                        <a:spcAft>
                          <a:spcPct val="1500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lnSpc>
                          <a:spcPct val="115000"/>
                        </a:lnSpc>
                        <a:spcBef>
                          <a:spcPct val="15000"/>
                        </a:spcBef>
                        <a:spcAft>
                          <a:spcPct val="1500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lnSpc>
                          <a:spcPct val="115000"/>
                        </a:lnSpc>
                        <a:spcBef>
                          <a:spcPct val="15000"/>
                        </a:spcBef>
                        <a:spcAft>
                          <a:spcPct val="1500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>
                          <a:solidFill>
                            <a:srgbClr val="800000"/>
                          </a:solidFill>
                          <a:latin typeface="Arial" charset="0"/>
                        </a:rPr>
                        <a:t>土样</a:t>
                      </a:r>
                    </a:p>
                  </p:txBody>
                </p:sp>
              </p:grpSp>
              <p:sp>
                <p:nvSpPr>
                  <p:cNvPr id="11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51" y="2442"/>
                    <a:ext cx="40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zh-CN" altLang="en-US" sz="2000" b="1">
                        <a:latin typeface="Arial" charset="0"/>
                        <a:ea typeface="幼圆" pitchFamily="49" charset="-122"/>
                      </a:rPr>
                      <a:t>滤网</a:t>
                    </a:r>
                  </a:p>
                </p:txBody>
              </p:sp>
              <p:sp>
                <p:nvSpPr>
                  <p:cNvPr id="119" name="Line 6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24" y="2261"/>
                    <a:ext cx="227" cy="2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4104" y="2265"/>
                    <a:ext cx="409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8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5" y="1122"/>
                    <a:ext cx="529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zh-CN" altLang="en-US" sz="2000" b="1" dirty="0">
                        <a:solidFill>
                          <a:srgbClr val="800000"/>
                        </a:solidFill>
                        <a:latin typeface="Arial" charset="0"/>
                      </a:rPr>
                      <a:t>贮水器</a:t>
                    </a:r>
                  </a:p>
                </p:txBody>
              </p:sp>
              <p:sp>
                <p:nvSpPr>
                  <p:cNvPr id="122" name="Text Box 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62" y="476"/>
                    <a:ext cx="81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2000" b="1" dirty="0">
                        <a:solidFill>
                          <a:srgbClr val="800000"/>
                        </a:solidFill>
                        <a:cs typeface="Times New Roman" panose="02020603050405020304" pitchFamily="18" charset="0"/>
                      </a:rPr>
                      <a:t>a</a:t>
                    </a:r>
                  </a:p>
                </p:txBody>
              </p:sp>
              <p:sp>
                <p:nvSpPr>
                  <p:cNvPr id="123" name="Text Box 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38" y="476"/>
                    <a:ext cx="90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2000" b="1" dirty="0">
                        <a:solidFill>
                          <a:srgbClr val="800000"/>
                        </a:solidFill>
                        <a:cs typeface="Times New Roman" panose="02020603050405020304" pitchFamily="18" charset="0"/>
                      </a:rPr>
                      <a:t>b</a:t>
                    </a:r>
                  </a:p>
                </p:txBody>
              </p:sp>
            </p:grpSp>
          </p:grpSp>
          <p:grpSp>
            <p:nvGrpSpPr>
              <p:cNvPr id="97" name="组合 96"/>
              <p:cNvGrpSpPr/>
              <p:nvPr/>
            </p:nvGrpSpPr>
            <p:grpSpPr>
              <a:xfrm>
                <a:off x="4702360" y="2212768"/>
                <a:ext cx="763653" cy="525631"/>
                <a:chOff x="1787146" y="2209635"/>
                <a:chExt cx="763653" cy="525631"/>
              </a:xfrm>
            </p:grpSpPr>
            <p:sp>
              <p:nvSpPr>
                <p:cNvPr id="109" name="矩形 108"/>
                <p:cNvSpPr/>
                <p:nvPr/>
              </p:nvSpPr>
              <p:spPr bwMode="auto">
                <a:xfrm>
                  <a:off x="1787146" y="2209635"/>
                  <a:ext cx="763653" cy="525631"/>
                </a:xfrm>
                <a:prstGeom prst="rect">
                  <a:avLst/>
                </a:prstGeom>
                <a:solidFill>
                  <a:srgbClr val="CCECFF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10" name="任意多边形 109"/>
                <p:cNvSpPr/>
                <p:nvPr/>
              </p:nvSpPr>
              <p:spPr bwMode="auto">
                <a:xfrm>
                  <a:off x="1816899" y="2398069"/>
                  <a:ext cx="656543" cy="253889"/>
                </a:xfrm>
                <a:custGeom>
                  <a:avLst/>
                  <a:gdLst>
                    <a:gd name="connsiteX0" fmla="*/ 0 w 656543"/>
                    <a:gd name="connsiteY0" fmla="*/ 0 h 253889"/>
                    <a:gd name="connsiteX1" fmla="*/ 0 w 656543"/>
                    <a:gd name="connsiteY1" fmla="*/ 253889 h 253889"/>
                    <a:gd name="connsiteX2" fmla="*/ 656543 w 656543"/>
                    <a:gd name="connsiteY2" fmla="*/ 253889 h 253889"/>
                    <a:gd name="connsiteX3" fmla="*/ 656543 w 656543"/>
                    <a:gd name="connsiteY3" fmla="*/ 0 h 25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6543" h="253889">
                      <a:moveTo>
                        <a:pt x="0" y="0"/>
                      </a:moveTo>
                      <a:lnTo>
                        <a:pt x="0" y="253889"/>
                      </a:lnTo>
                      <a:lnTo>
                        <a:pt x="656543" y="253889"/>
                      </a:lnTo>
                      <a:lnTo>
                        <a:pt x="656543" y="0"/>
                      </a:lnTo>
                    </a:path>
                  </a:pathLst>
                </a:custGeom>
                <a:noFill/>
                <a:ln w="19050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98" name="组合 97"/>
              <p:cNvGrpSpPr/>
              <p:nvPr/>
            </p:nvGrpSpPr>
            <p:grpSpPr>
              <a:xfrm>
                <a:off x="4728071" y="1131440"/>
                <a:ext cx="671513" cy="1709140"/>
                <a:chOff x="6918421" y="1525203"/>
                <a:chExt cx="671513" cy="1709140"/>
              </a:xfrm>
            </p:grpSpPr>
            <p:sp>
              <p:nvSpPr>
                <p:cNvPr id="99" name="Freeform 8"/>
                <p:cNvSpPr>
                  <a:spLocks/>
                </p:cNvSpPr>
                <p:nvPr/>
              </p:nvSpPr>
              <p:spPr bwMode="auto">
                <a:xfrm>
                  <a:off x="6918421" y="1689959"/>
                  <a:ext cx="671513" cy="1544384"/>
                </a:xfrm>
                <a:custGeom>
                  <a:avLst/>
                  <a:gdLst>
                    <a:gd name="T0" fmla="*/ 263 w 423"/>
                    <a:gd name="T1" fmla="*/ 691 h 701"/>
                    <a:gd name="T2" fmla="*/ 263 w 423"/>
                    <a:gd name="T3" fmla="*/ 182 h 701"/>
                    <a:gd name="T4" fmla="*/ 423 w 423"/>
                    <a:gd name="T5" fmla="*/ 185 h 701"/>
                    <a:gd name="T6" fmla="*/ 419 w 423"/>
                    <a:gd name="T7" fmla="*/ 0 h 701"/>
                    <a:gd name="T8" fmla="*/ 0 w 423"/>
                    <a:gd name="T9" fmla="*/ 0 h 701"/>
                    <a:gd name="T10" fmla="*/ 0 w 423"/>
                    <a:gd name="T11" fmla="*/ 182 h 701"/>
                    <a:gd name="T12" fmla="*/ 186 w 423"/>
                    <a:gd name="T13" fmla="*/ 182 h 701"/>
                    <a:gd name="T14" fmla="*/ 192 w 423"/>
                    <a:gd name="T15" fmla="*/ 701 h 701"/>
                    <a:gd name="T16" fmla="*/ 263 w 423"/>
                    <a:gd name="T17" fmla="*/ 691 h 70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423"/>
                    <a:gd name="T28" fmla="*/ 0 h 701"/>
                    <a:gd name="T29" fmla="*/ 423 w 423"/>
                    <a:gd name="T30" fmla="*/ 701 h 701"/>
                    <a:gd name="connsiteX0" fmla="*/ 6217 w 10000"/>
                    <a:gd name="connsiteY0" fmla="*/ 9857 h 10000"/>
                    <a:gd name="connsiteX1" fmla="*/ 6217 w 10000"/>
                    <a:gd name="connsiteY1" fmla="*/ 2596 h 10000"/>
                    <a:gd name="connsiteX2" fmla="*/ 10000 w 10000"/>
                    <a:gd name="connsiteY2" fmla="*/ 2639 h 10000"/>
                    <a:gd name="connsiteX3" fmla="*/ 9905 w 10000"/>
                    <a:gd name="connsiteY3" fmla="*/ 0 h 10000"/>
                    <a:gd name="connsiteX4" fmla="*/ 148 w 10000"/>
                    <a:gd name="connsiteY4" fmla="*/ 321 h 10000"/>
                    <a:gd name="connsiteX5" fmla="*/ 0 w 10000"/>
                    <a:gd name="connsiteY5" fmla="*/ 2596 h 10000"/>
                    <a:gd name="connsiteX6" fmla="*/ 4397 w 10000"/>
                    <a:gd name="connsiteY6" fmla="*/ 2596 h 10000"/>
                    <a:gd name="connsiteX7" fmla="*/ 4539 w 10000"/>
                    <a:gd name="connsiteY7" fmla="*/ 10000 h 10000"/>
                    <a:gd name="connsiteX8" fmla="*/ 6217 w 10000"/>
                    <a:gd name="connsiteY8" fmla="*/ 9857 h 10000"/>
                    <a:gd name="connsiteX0" fmla="*/ 6217 w 10000"/>
                    <a:gd name="connsiteY0" fmla="*/ 9536 h 9679"/>
                    <a:gd name="connsiteX1" fmla="*/ 6217 w 10000"/>
                    <a:gd name="connsiteY1" fmla="*/ 2275 h 9679"/>
                    <a:gd name="connsiteX2" fmla="*/ 10000 w 10000"/>
                    <a:gd name="connsiteY2" fmla="*/ 2318 h 9679"/>
                    <a:gd name="connsiteX3" fmla="*/ 9935 w 10000"/>
                    <a:gd name="connsiteY3" fmla="*/ 71 h 9679"/>
                    <a:gd name="connsiteX4" fmla="*/ 148 w 10000"/>
                    <a:gd name="connsiteY4" fmla="*/ 0 h 9679"/>
                    <a:gd name="connsiteX5" fmla="*/ 0 w 10000"/>
                    <a:gd name="connsiteY5" fmla="*/ 2275 h 9679"/>
                    <a:gd name="connsiteX6" fmla="*/ 4397 w 10000"/>
                    <a:gd name="connsiteY6" fmla="*/ 2275 h 9679"/>
                    <a:gd name="connsiteX7" fmla="*/ 4539 w 10000"/>
                    <a:gd name="connsiteY7" fmla="*/ 9679 h 9679"/>
                    <a:gd name="connsiteX8" fmla="*/ 6217 w 10000"/>
                    <a:gd name="connsiteY8" fmla="*/ 9536 h 9679"/>
                    <a:gd name="connsiteX0" fmla="*/ 6217 w 10000"/>
                    <a:gd name="connsiteY0" fmla="*/ 9852 h 10000"/>
                    <a:gd name="connsiteX1" fmla="*/ 6217 w 10000"/>
                    <a:gd name="connsiteY1" fmla="*/ 2350 h 10000"/>
                    <a:gd name="connsiteX2" fmla="*/ 10000 w 10000"/>
                    <a:gd name="connsiteY2" fmla="*/ 2395 h 10000"/>
                    <a:gd name="connsiteX3" fmla="*/ 9905 w 10000"/>
                    <a:gd name="connsiteY3" fmla="*/ 18 h 10000"/>
                    <a:gd name="connsiteX4" fmla="*/ 148 w 10000"/>
                    <a:gd name="connsiteY4" fmla="*/ 0 h 10000"/>
                    <a:gd name="connsiteX5" fmla="*/ 0 w 10000"/>
                    <a:gd name="connsiteY5" fmla="*/ 2350 h 10000"/>
                    <a:gd name="connsiteX6" fmla="*/ 4397 w 10000"/>
                    <a:gd name="connsiteY6" fmla="*/ 2350 h 10000"/>
                    <a:gd name="connsiteX7" fmla="*/ 4539 w 10000"/>
                    <a:gd name="connsiteY7" fmla="*/ 10000 h 10000"/>
                    <a:gd name="connsiteX8" fmla="*/ 6217 w 10000"/>
                    <a:gd name="connsiteY8" fmla="*/ 9852 h 10000"/>
                    <a:gd name="connsiteX0" fmla="*/ 6217 w 10000"/>
                    <a:gd name="connsiteY0" fmla="*/ 9852 h 10000"/>
                    <a:gd name="connsiteX1" fmla="*/ 6217 w 10000"/>
                    <a:gd name="connsiteY1" fmla="*/ 2350 h 10000"/>
                    <a:gd name="connsiteX2" fmla="*/ 10000 w 10000"/>
                    <a:gd name="connsiteY2" fmla="*/ 2395 h 10000"/>
                    <a:gd name="connsiteX3" fmla="*/ 9905 w 10000"/>
                    <a:gd name="connsiteY3" fmla="*/ 18 h 10000"/>
                    <a:gd name="connsiteX4" fmla="*/ 178 w 10000"/>
                    <a:gd name="connsiteY4" fmla="*/ 45 h 10000"/>
                    <a:gd name="connsiteX5" fmla="*/ 148 w 10000"/>
                    <a:gd name="connsiteY5" fmla="*/ 0 h 10000"/>
                    <a:gd name="connsiteX6" fmla="*/ 0 w 10000"/>
                    <a:gd name="connsiteY6" fmla="*/ 2350 h 10000"/>
                    <a:gd name="connsiteX7" fmla="*/ 4397 w 10000"/>
                    <a:gd name="connsiteY7" fmla="*/ 2350 h 10000"/>
                    <a:gd name="connsiteX8" fmla="*/ 4539 w 10000"/>
                    <a:gd name="connsiteY8" fmla="*/ 10000 h 10000"/>
                    <a:gd name="connsiteX9" fmla="*/ 6217 w 10000"/>
                    <a:gd name="connsiteY9" fmla="*/ 9852 h 10000"/>
                    <a:gd name="connsiteX0" fmla="*/ 6217 w 10000"/>
                    <a:gd name="connsiteY0" fmla="*/ 9834 h 9982"/>
                    <a:gd name="connsiteX1" fmla="*/ 6217 w 10000"/>
                    <a:gd name="connsiteY1" fmla="*/ 2332 h 9982"/>
                    <a:gd name="connsiteX2" fmla="*/ 10000 w 10000"/>
                    <a:gd name="connsiteY2" fmla="*/ 2377 h 9982"/>
                    <a:gd name="connsiteX3" fmla="*/ 9905 w 10000"/>
                    <a:gd name="connsiteY3" fmla="*/ 0 h 9982"/>
                    <a:gd name="connsiteX4" fmla="*/ 178 w 10000"/>
                    <a:gd name="connsiteY4" fmla="*/ 27 h 9982"/>
                    <a:gd name="connsiteX5" fmla="*/ 0 w 10000"/>
                    <a:gd name="connsiteY5" fmla="*/ 2332 h 9982"/>
                    <a:gd name="connsiteX6" fmla="*/ 4397 w 10000"/>
                    <a:gd name="connsiteY6" fmla="*/ 2332 h 9982"/>
                    <a:gd name="connsiteX7" fmla="*/ 4539 w 10000"/>
                    <a:gd name="connsiteY7" fmla="*/ 9982 h 9982"/>
                    <a:gd name="connsiteX8" fmla="*/ 6217 w 10000"/>
                    <a:gd name="connsiteY8" fmla="*/ 9834 h 9982"/>
                    <a:gd name="connsiteX0" fmla="*/ 6217 w 10000"/>
                    <a:gd name="connsiteY0" fmla="*/ 9899 h 10047"/>
                    <a:gd name="connsiteX1" fmla="*/ 6217 w 10000"/>
                    <a:gd name="connsiteY1" fmla="*/ 2383 h 10047"/>
                    <a:gd name="connsiteX2" fmla="*/ 10000 w 10000"/>
                    <a:gd name="connsiteY2" fmla="*/ 2428 h 10047"/>
                    <a:gd name="connsiteX3" fmla="*/ 9905 w 10000"/>
                    <a:gd name="connsiteY3" fmla="*/ 47 h 10047"/>
                    <a:gd name="connsiteX4" fmla="*/ 237 w 10000"/>
                    <a:gd name="connsiteY4" fmla="*/ 0 h 10047"/>
                    <a:gd name="connsiteX5" fmla="*/ 0 w 10000"/>
                    <a:gd name="connsiteY5" fmla="*/ 2383 h 10047"/>
                    <a:gd name="connsiteX6" fmla="*/ 4397 w 10000"/>
                    <a:gd name="connsiteY6" fmla="*/ 2383 h 10047"/>
                    <a:gd name="connsiteX7" fmla="*/ 4539 w 10000"/>
                    <a:gd name="connsiteY7" fmla="*/ 10047 h 10047"/>
                    <a:gd name="connsiteX8" fmla="*/ 6217 w 10000"/>
                    <a:gd name="connsiteY8" fmla="*/ 9899 h 10047"/>
                    <a:gd name="connsiteX0" fmla="*/ 6217 w 10000"/>
                    <a:gd name="connsiteY0" fmla="*/ 9899 h 14364"/>
                    <a:gd name="connsiteX1" fmla="*/ 6217 w 10000"/>
                    <a:gd name="connsiteY1" fmla="*/ 2383 h 14364"/>
                    <a:gd name="connsiteX2" fmla="*/ 10000 w 10000"/>
                    <a:gd name="connsiteY2" fmla="*/ 2428 h 14364"/>
                    <a:gd name="connsiteX3" fmla="*/ 9905 w 10000"/>
                    <a:gd name="connsiteY3" fmla="*/ 47 h 14364"/>
                    <a:gd name="connsiteX4" fmla="*/ 237 w 10000"/>
                    <a:gd name="connsiteY4" fmla="*/ 0 h 14364"/>
                    <a:gd name="connsiteX5" fmla="*/ 0 w 10000"/>
                    <a:gd name="connsiteY5" fmla="*/ 2383 h 14364"/>
                    <a:gd name="connsiteX6" fmla="*/ 4397 w 10000"/>
                    <a:gd name="connsiteY6" fmla="*/ 2383 h 14364"/>
                    <a:gd name="connsiteX7" fmla="*/ 4569 w 10000"/>
                    <a:gd name="connsiteY7" fmla="*/ 14364 h 14364"/>
                    <a:gd name="connsiteX8" fmla="*/ 6217 w 10000"/>
                    <a:gd name="connsiteY8" fmla="*/ 9899 h 14364"/>
                    <a:gd name="connsiteX0" fmla="*/ 6276 w 10000"/>
                    <a:gd name="connsiteY0" fmla="*/ 14345 h 14364"/>
                    <a:gd name="connsiteX1" fmla="*/ 6217 w 10000"/>
                    <a:gd name="connsiteY1" fmla="*/ 2383 h 14364"/>
                    <a:gd name="connsiteX2" fmla="*/ 10000 w 10000"/>
                    <a:gd name="connsiteY2" fmla="*/ 2428 h 14364"/>
                    <a:gd name="connsiteX3" fmla="*/ 9905 w 10000"/>
                    <a:gd name="connsiteY3" fmla="*/ 47 h 14364"/>
                    <a:gd name="connsiteX4" fmla="*/ 237 w 10000"/>
                    <a:gd name="connsiteY4" fmla="*/ 0 h 14364"/>
                    <a:gd name="connsiteX5" fmla="*/ 0 w 10000"/>
                    <a:gd name="connsiteY5" fmla="*/ 2383 h 14364"/>
                    <a:gd name="connsiteX6" fmla="*/ 4397 w 10000"/>
                    <a:gd name="connsiteY6" fmla="*/ 2383 h 14364"/>
                    <a:gd name="connsiteX7" fmla="*/ 4569 w 10000"/>
                    <a:gd name="connsiteY7" fmla="*/ 14364 h 14364"/>
                    <a:gd name="connsiteX8" fmla="*/ 6276 w 10000"/>
                    <a:gd name="connsiteY8" fmla="*/ 14345 h 14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000" h="14364">
                      <a:moveTo>
                        <a:pt x="6276" y="14345"/>
                      </a:moveTo>
                      <a:cubicBezTo>
                        <a:pt x="6256" y="10358"/>
                        <a:pt x="6237" y="6370"/>
                        <a:pt x="6217" y="2383"/>
                      </a:cubicBezTo>
                      <a:lnTo>
                        <a:pt x="10000" y="2428"/>
                      </a:lnTo>
                      <a:cubicBezTo>
                        <a:pt x="9968" y="1518"/>
                        <a:pt x="9937" y="959"/>
                        <a:pt x="9905" y="47"/>
                      </a:cubicBezTo>
                      <a:lnTo>
                        <a:pt x="237" y="0"/>
                      </a:lnTo>
                      <a:cubicBezTo>
                        <a:pt x="178" y="769"/>
                        <a:pt x="59" y="1614"/>
                        <a:pt x="0" y="2383"/>
                      </a:cubicBezTo>
                      <a:lnTo>
                        <a:pt x="4397" y="2383"/>
                      </a:lnTo>
                      <a:cubicBezTo>
                        <a:pt x="4444" y="4938"/>
                        <a:pt x="4522" y="11809"/>
                        <a:pt x="4569" y="14364"/>
                      </a:cubicBezTo>
                      <a:lnTo>
                        <a:pt x="6276" y="14345"/>
                      </a:lnTo>
                      <a:close/>
                    </a:path>
                  </a:pathLst>
                </a:custGeom>
                <a:solidFill>
                  <a:srgbClr val="0066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00" name="Group 9"/>
                <p:cNvGrpSpPr>
                  <a:grpSpLocks/>
                </p:cNvGrpSpPr>
                <p:nvPr/>
              </p:nvGrpSpPr>
              <p:grpSpPr bwMode="auto">
                <a:xfrm>
                  <a:off x="6929136" y="1525203"/>
                  <a:ext cx="649288" cy="271465"/>
                  <a:chOff x="2740" y="1064"/>
                  <a:chExt cx="409" cy="171"/>
                </a:xfrm>
              </p:grpSpPr>
              <p:grpSp>
                <p:nvGrpSpPr>
                  <p:cNvPr id="103" name="Group 10"/>
                  <p:cNvGrpSpPr>
                    <a:grpSpLocks/>
                  </p:cNvGrpSpPr>
                  <p:nvPr/>
                </p:nvGrpSpPr>
                <p:grpSpPr bwMode="auto">
                  <a:xfrm>
                    <a:off x="2853" y="1064"/>
                    <a:ext cx="182" cy="171"/>
                    <a:chOff x="3067" y="1096"/>
                    <a:chExt cx="182" cy="171"/>
                  </a:xfrm>
                </p:grpSpPr>
                <p:sp>
                  <p:nvSpPr>
                    <p:cNvPr id="105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04" y="1246"/>
                      <a:ext cx="90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6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28" y="1267"/>
                      <a:ext cx="45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7" name="AutoShape 13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076" y="1096"/>
                      <a:ext cx="136" cy="91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FFFFF"/>
                    </a:solidFill>
                    <a:ln w="28575" algn="ctr">
                      <a:solidFill>
                        <a:srgbClr val="0000F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0" rIns="0" anchor="ctr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8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67" y="1223"/>
                      <a:ext cx="182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4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740" y="1172"/>
                    <a:ext cx="40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3333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1" name="任意多边形 100"/>
                <p:cNvSpPr/>
                <p:nvPr/>
              </p:nvSpPr>
              <p:spPr bwMode="auto">
                <a:xfrm>
                  <a:off x="6926052" y="1695576"/>
                  <a:ext cx="296725" cy="1535102"/>
                </a:xfrm>
                <a:custGeom>
                  <a:avLst/>
                  <a:gdLst>
                    <a:gd name="connsiteX0" fmla="*/ 0 w 296725"/>
                    <a:gd name="connsiteY0" fmla="*/ 0 h 1535102"/>
                    <a:gd name="connsiteX1" fmla="*/ 0 w 296725"/>
                    <a:gd name="connsiteY1" fmla="*/ 251309 h 1535102"/>
                    <a:gd name="connsiteX2" fmla="*/ 296725 w 296725"/>
                    <a:gd name="connsiteY2" fmla="*/ 254337 h 1535102"/>
                    <a:gd name="connsiteX3" fmla="*/ 293698 w 296725"/>
                    <a:gd name="connsiteY3" fmla="*/ 1535102 h 1535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725" h="1535102">
                      <a:moveTo>
                        <a:pt x="0" y="0"/>
                      </a:moveTo>
                      <a:lnTo>
                        <a:pt x="0" y="251309"/>
                      </a:lnTo>
                      <a:lnTo>
                        <a:pt x="296725" y="254337"/>
                      </a:lnTo>
                      <a:lnTo>
                        <a:pt x="293698" y="1535102"/>
                      </a:lnTo>
                    </a:path>
                  </a:pathLst>
                </a:custGeom>
                <a:no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02" name="任意多边形 101"/>
                <p:cNvSpPr/>
                <p:nvPr/>
              </p:nvSpPr>
              <p:spPr bwMode="auto">
                <a:xfrm>
                  <a:off x="7342450" y="1680994"/>
                  <a:ext cx="243813" cy="1552711"/>
                </a:xfrm>
                <a:custGeom>
                  <a:avLst/>
                  <a:gdLst>
                    <a:gd name="connsiteX0" fmla="*/ 242225 w 242225"/>
                    <a:gd name="connsiteY0" fmla="*/ 0 h 1532074"/>
                    <a:gd name="connsiteX1" fmla="*/ 242225 w 242225"/>
                    <a:gd name="connsiteY1" fmla="*/ 239197 h 1532074"/>
                    <a:gd name="connsiteX2" fmla="*/ 0 w 242225"/>
                    <a:gd name="connsiteY2" fmla="*/ 248281 h 1532074"/>
                    <a:gd name="connsiteX3" fmla="*/ 0 w 242225"/>
                    <a:gd name="connsiteY3" fmla="*/ 1532074 h 1532074"/>
                    <a:gd name="connsiteX0" fmla="*/ 243813 w 243813"/>
                    <a:gd name="connsiteY0" fmla="*/ 0 h 1552711"/>
                    <a:gd name="connsiteX1" fmla="*/ 242225 w 243813"/>
                    <a:gd name="connsiteY1" fmla="*/ 259834 h 1552711"/>
                    <a:gd name="connsiteX2" fmla="*/ 0 w 243813"/>
                    <a:gd name="connsiteY2" fmla="*/ 268918 h 1552711"/>
                    <a:gd name="connsiteX3" fmla="*/ 0 w 243813"/>
                    <a:gd name="connsiteY3" fmla="*/ 1552711 h 1552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813" h="1552711">
                      <a:moveTo>
                        <a:pt x="243813" y="0"/>
                      </a:moveTo>
                      <a:cubicBezTo>
                        <a:pt x="243284" y="86611"/>
                        <a:pt x="242754" y="173223"/>
                        <a:pt x="242225" y="259834"/>
                      </a:cubicBezTo>
                      <a:lnTo>
                        <a:pt x="0" y="268918"/>
                      </a:lnTo>
                      <a:lnTo>
                        <a:pt x="0" y="1552711"/>
                      </a:lnTo>
                    </a:path>
                  </a:pathLst>
                </a:custGeom>
                <a:no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8388426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0"/>
                                        <p:tgtEl>
                                          <p:spTgt spid="150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4258" grpId="0"/>
      <p:bldP spid="216" grpId="0"/>
      <p:bldP spid="217" grpId="0"/>
      <p:bldP spid="218" grpId="0"/>
      <p:bldP spid="219" grpId="0"/>
      <p:bldP spid="220" grpId="0"/>
      <p:bldP spid="2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Rectangle 4"/>
          <p:cNvSpPr>
            <a:spLocks noChangeArrowheads="1"/>
          </p:cNvSpPr>
          <p:nvPr/>
        </p:nvSpPr>
        <p:spPr bwMode="auto">
          <a:xfrm>
            <a:off x="3068638" y="5932488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7656" name="Rectangle 6"/>
          <p:cNvSpPr>
            <a:spLocks noChangeArrowheads="1"/>
          </p:cNvSpPr>
          <p:nvPr/>
        </p:nvSpPr>
        <p:spPr bwMode="auto">
          <a:xfrm>
            <a:off x="3089275" y="5795963"/>
            <a:ext cx="429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渗透力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受力分析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04263" name="Text Box 7"/>
          <p:cNvSpPr txBox="1">
            <a:spLocks noChangeArrowheads="1"/>
          </p:cNvSpPr>
          <p:nvPr/>
        </p:nvSpPr>
        <p:spPr bwMode="auto">
          <a:xfrm>
            <a:off x="727406" y="1481212"/>
            <a:ext cx="21438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66"/>
                </a:solidFill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</a:rPr>
              <a:t> </a:t>
            </a:r>
            <a:r>
              <a:rPr lang="en-US" altLang="zh-CN" sz="2400" b="1" i="1" dirty="0">
                <a:solidFill>
                  <a:srgbClr val="000066"/>
                </a:solidFill>
              </a:rPr>
              <a:t>=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lang="en-US" altLang="zh-CN" sz="2400" b="1" i="1" dirty="0">
                <a:solidFill>
                  <a:srgbClr val="000066"/>
                </a:solidFill>
              </a:rPr>
              <a:t>L</a:t>
            </a:r>
            <a:r>
              <a:rPr lang="en-US" altLang="zh-CN" sz="2400" b="1" dirty="0">
                <a:solidFill>
                  <a:srgbClr val="000066"/>
                </a:solidFill>
              </a:rPr>
              <a:t> - </a:t>
            </a:r>
            <a:r>
              <a:rPr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lang="en-US" altLang="zh-CN" sz="2400" b="1" baseline="-25000" dirty="0" err="1">
                <a:solidFill>
                  <a:srgbClr val="000066"/>
                </a:solidFill>
              </a:rPr>
              <a:t>w</a:t>
            </a:r>
            <a:r>
              <a:rPr lang="en-US" altLang="zh-CN" sz="2400" b="1" dirty="0" err="1">
                <a:solidFill>
                  <a:srgbClr val="000066"/>
                </a:solidFill>
                <a:sym typeface="Symbol" pitchFamily="18" charset="2"/>
              </a:rPr>
              <a:t></a:t>
            </a:r>
            <a:r>
              <a:rPr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lang="en-US" altLang="zh-CN" sz="2400" b="1" dirty="0">
                <a:solidFill>
                  <a:srgbClr val="000066"/>
                </a:solidFill>
                <a:sym typeface="Symbol" pitchFamily="18" charset="2"/>
              </a:rPr>
              <a:t>=0</a:t>
            </a:r>
          </a:p>
        </p:txBody>
      </p:sp>
      <p:sp>
        <p:nvSpPr>
          <p:cNvPr id="1504264" name="Text Box 8"/>
          <p:cNvSpPr txBox="1">
            <a:spLocks noChangeArrowheads="1"/>
          </p:cNvSpPr>
          <p:nvPr/>
        </p:nvSpPr>
        <p:spPr bwMode="auto">
          <a:xfrm>
            <a:off x="244475" y="693738"/>
            <a:ext cx="31908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临界水力坡降</a:t>
            </a:r>
            <a:endParaRPr lang="en-US" altLang="zh-CN" sz="28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504265" name="AutoShape 9"/>
          <p:cNvSpPr>
            <a:spLocks noChangeArrowheads="1"/>
          </p:cNvSpPr>
          <p:nvPr/>
        </p:nvSpPr>
        <p:spPr bwMode="auto">
          <a:xfrm>
            <a:off x="769938" y="2441354"/>
            <a:ext cx="511175" cy="406400"/>
          </a:xfrm>
          <a:prstGeom prst="homePlate">
            <a:avLst>
              <a:gd name="adj" fmla="val 3144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50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47734"/>
              </p:ext>
            </p:extLst>
          </p:nvPr>
        </p:nvGraphicFramePr>
        <p:xfrm>
          <a:off x="1574800" y="3376613"/>
          <a:ext cx="1930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7" name="公式" r:id="rId4" imgW="965160" imgH="406080" progId="Equation.3">
                  <p:embed/>
                </p:oleObj>
              </mc:Choice>
              <mc:Fallback>
                <p:oleObj name="公式" r:id="rId4" imgW="9651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3376613"/>
                        <a:ext cx="1930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383261"/>
              </p:ext>
            </p:extLst>
          </p:nvPr>
        </p:nvGraphicFramePr>
        <p:xfrm>
          <a:off x="1589088" y="4433888"/>
          <a:ext cx="1447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8" name="公式" r:id="rId6" imgW="723600" imgH="406080" progId="Equation.3">
                  <p:embed/>
                </p:oleObj>
              </mc:Choice>
              <mc:Fallback>
                <p:oleObj name="公式" r:id="rId6" imgW="7236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4433888"/>
                        <a:ext cx="1447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3" name="Text Box 80"/>
          <p:cNvSpPr txBox="1">
            <a:spLocks noChangeArrowheads="1"/>
          </p:cNvSpPr>
          <p:nvPr/>
        </p:nvSpPr>
        <p:spPr bwMode="auto">
          <a:xfrm>
            <a:off x="684874" y="3566602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由于</a:t>
            </a:r>
          </a:p>
        </p:txBody>
      </p:sp>
      <p:sp>
        <p:nvSpPr>
          <p:cNvPr id="27665" name="Text Box 82"/>
          <p:cNvSpPr txBox="1">
            <a:spLocks noChangeArrowheads="1"/>
          </p:cNvSpPr>
          <p:nvPr/>
        </p:nvSpPr>
        <p:spPr bwMode="auto">
          <a:xfrm>
            <a:off x="3682481" y="4679474"/>
            <a:ext cx="3207414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 err="1">
                <a:solidFill>
                  <a:srgbClr val="000066"/>
                </a:solidFill>
                <a:ea typeface="幼圆" pitchFamily="49" charset="-122"/>
              </a:rPr>
              <a:t>i</a:t>
            </a:r>
            <a:r>
              <a:rPr lang="en-US" altLang="zh-CN" sz="2200" b="1" baseline="-25000" dirty="0" err="1">
                <a:solidFill>
                  <a:srgbClr val="000066"/>
                </a:solidFill>
                <a:ea typeface="幼圆" pitchFamily="49" charset="-122"/>
              </a:rPr>
              <a:t>cr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取决于土的物理性质</a:t>
            </a:r>
          </a:p>
        </p:txBody>
      </p:sp>
      <p:sp>
        <p:nvSpPr>
          <p:cNvPr id="8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923974"/>
              </p:ext>
            </p:extLst>
          </p:nvPr>
        </p:nvGraphicFramePr>
        <p:xfrm>
          <a:off x="1501775" y="2143125"/>
          <a:ext cx="122555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9" name="公式" r:id="rId8" imgW="533160" imgH="444240" progId="Equation.3">
                  <p:embed/>
                </p:oleObj>
              </mc:Choice>
              <mc:Fallback>
                <p:oleObj name="公式" r:id="rId8" imgW="53316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01775" y="2143125"/>
                        <a:ext cx="1225550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" name="AutoShape 9"/>
          <p:cNvSpPr>
            <a:spLocks noChangeArrowheads="1"/>
          </p:cNvSpPr>
          <p:nvPr/>
        </p:nvSpPr>
        <p:spPr bwMode="auto">
          <a:xfrm>
            <a:off x="879807" y="4582054"/>
            <a:ext cx="511175" cy="406400"/>
          </a:xfrm>
          <a:prstGeom prst="homePlate">
            <a:avLst>
              <a:gd name="adj" fmla="val 3144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486940" y="647551"/>
            <a:ext cx="4566573" cy="3850020"/>
            <a:chOff x="4486940" y="647551"/>
            <a:chExt cx="4566573" cy="3850020"/>
          </a:xfrm>
        </p:grpSpPr>
        <p:sp>
          <p:nvSpPr>
            <p:cNvPr id="80" name="Rectangle 4"/>
            <p:cNvSpPr>
              <a:spLocks noChangeArrowheads="1"/>
            </p:cNvSpPr>
            <p:nvPr/>
          </p:nvSpPr>
          <p:spPr bwMode="auto">
            <a:xfrm>
              <a:off x="4486940" y="647551"/>
              <a:ext cx="4566573" cy="385002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4702360" y="758783"/>
              <a:ext cx="4138795" cy="3598748"/>
              <a:chOff x="4702360" y="758783"/>
              <a:chExt cx="4138795" cy="3598748"/>
            </a:xfrm>
          </p:grpSpPr>
          <p:sp>
            <p:nvSpPr>
              <p:cNvPr id="85" name="Line 6"/>
              <p:cNvSpPr>
                <a:spLocks noChangeShapeType="1"/>
              </p:cNvSpPr>
              <p:nvPr/>
            </p:nvSpPr>
            <p:spPr bwMode="auto">
              <a:xfrm flipV="1">
                <a:off x="7554292" y="1282658"/>
                <a:ext cx="0" cy="1152525"/>
              </a:xfrm>
              <a:prstGeom prst="line">
                <a:avLst/>
              </a:prstGeom>
              <a:noFill/>
              <a:ln w="60325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" name="Rectangle 24"/>
              <p:cNvSpPr>
                <a:spLocks noChangeArrowheads="1"/>
              </p:cNvSpPr>
              <p:nvPr/>
            </p:nvSpPr>
            <p:spPr bwMode="auto">
              <a:xfrm>
                <a:off x="6434504" y="2422484"/>
                <a:ext cx="658813" cy="312738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" name="Freeform 25"/>
              <p:cNvSpPr>
                <a:spLocks/>
              </p:cNvSpPr>
              <p:nvPr/>
            </p:nvSpPr>
            <p:spPr bwMode="auto">
              <a:xfrm>
                <a:off x="4743817" y="2403435"/>
                <a:ext cx="2359369" cy="1954096"/>
              </a:xfrm>
              <a:custGeom>
                <a:avLst/>
                <a:gdLst>
                  <a:gd name="T0" fmla="*/ 1483 w 1483"/>
                  <a:gd name="T1" fmla="*/ 758 h 1224"/>
                  <a:gd name="T2" fmla="*/ 1478 w 1483"/>
                  <a:gd name="T3" fmla="*/ 950 h 1224"/>
                  <a:gd name="T4" fmla="*/ 1305 w 1483"/>
                  <a:gd name="T5" fmla="*/ 950 h 1224"/>
                  <a:gd name="T6" fmla="*/ 1300 w 1483"/>
                  <a:gd name="T7" fmla="*/ 1224 h 1224"/>
                  <a:gd name="T8" fmla="*/ 182 w 1483"/>
                  <a:gd name="T9" fmla="*/ 1219 h 1224"/>
                  <a:gd name="T10" fmla="*/ 187 w 1483"/>
                  <a:gd name="T11" fmla="*/ 158 h 1224"/>
                  <a:gd name="T12" fmla="*/ 0 w 1483"/>
                  <a:gd name="T13" fmla="*/ 149 h 1224"/>
                  <a:gd name="T14" fmla="*/ 0 w 1483"/>
                  <a:gd name="T15" fmla="*/ 5 h 1224"/>
                  <a:gd name="T16" fmla="*/ 403 w 1483"/>
                  <a:gd name="T17" fmla="*/ 0 h 1224"/>
                  <a:gd name="T18" fmla="*/ 398 w 1483"/>
                  <a:gd name="T19" fmla="*/ 154 h 1224"/>
                  <a:gd name="T20" fmla="*/ 249 w 1483"/>
                  <a:gd name="T21" fmla="*/ 158 h 1224"/>
                  <a:gd name="T22" fmla="*/ 259 w 1483"/>
                  <a:gd name="T23" fmla="*/ 1166 h 1224"/>
                  <a:gd name="T24" fmla="*/ 1233 w 1483"/>
                  <a:gd name="T25" fmla="*/ 1157 h 1224"/>
                  <a:gd name="T26" fmla="*/ 1221 w 1483"/>
                  <a:gd name="T27" fmla="*/ 943 h 1224"/>
                  <a:gd name="T28" fmla="*/ 1060 w 1483"/>
                  <a:gd name="T29" fmla="*/ 943 h 1224"/>
                  <a:gd name="T30" fmla="*/ 1070 w 1483"/>
                  <a:gd name="T31" fmla="*/ 754 h 1224"/>
                  <a:gd name="T32" fmla="*/ 1483 w 1483"/>
                  <a:gd name="T33" fmla="*/ 758 h 122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83"/>
                  <a:gd name="T52" fmla="*/ 0 h 1224"/>
                  <a:gd name="T53" fmla="*/ 1483 w 1483"/>
                  <a:gd name="T54" fmla="*/ 1224 h 1224"/>
                  <a:gd name="connsiteX0" fmla="*/ 10000 w 10000"/>
                  <a:gd name="connsiteY0" fmla="*/ 6193 h 10000"/>
                  <a:gd name="connsiteX1" fmla="*/ 9966 w 10000"/>
                  <a:gd name="connsiteY1" fmla="*/ 7761 h 10000"/>
                  <a:gd name="connsiteX2" fmla="*/ 8800 w 10000"/>
                  <a:gd name="connsiteY2" fmla="*/ 7761 h 10000"/>
                  <a:gd name="connsiteX3" fmla="*/ 8766 w 10000"/>
                  <a:gd name="connsiteY3" fmla="*/ 10000 h 10000"/>
                  <a:gd name="connsiteX4" fmla="*/ 1227 w 10000"/>
                  <a:gd name="connsiteY4" fmla="*/ 9959 h 10000"/>
                  <a:gd name="connsiteX5" fmla="*/ 1261 w 10000"/>
                  <a:gd name="connsiteY5" fmla="*/ 1291 h 10000"/>
                  <a:gd name="connsiteX6" fmla="*/ 0 w 10000"/>
                  <a:gd name="connsiteY6" fmla="*/ 1291 h 10000"/>
                  <a:gd name="connsiteX7" fmla="*/ 0 w 10000"/>
                  <a:gd name="connsiteY7" fmla="*/ 41 h 10000"/>
                  <a:gd name="connsiteX8" fmla="*/ 2717 w 10000"/>
                  <a:gd name="connsiteY8" fmla="*/ 0 h 10000"/>
                  <a:gd name="connsiteX9" fmla="*/ 2684 w 10000"/>
                  <a:gd name="connsiteY9" fmla="*/ 1258 h 10000"/>
                  <a:gd name="connsiteX10" fmla="*/ 1679 w 10000"/>
                  <a:gd name="connsiteY10" fmla="*/ 1291 h 10000"/>
                  <a:gd name="connsiteX11" fmla="*/ 1746 w 10000"/>
                  <a:gd name="connsiteY11" fmla="*/ 9526 h 10000"/>
                  <a:gd name="connsiteX12" fmla="*/ 8314 w 10000"/>
                  <a:gd name="connsiteY12" fmla="*/ 9453 h 10000"/>
                  <a:gd name="connsiteX13" fmla="*/ 8233 w 10000"/>
                  <a:gd name="connsiteY13" fmla="*/ 7704 h 10000"/>
                  <a:gd name="connsiteX14" fmla="*/ 7148 w 10000"/>
                  <a:gd name="connsiteY14" fmla="*/ 7704 h 10000"/>
                  <a:gd name="connsiteX15" fmla="*/ 7215 w 10000"/>
                  <a:gd name="connsiteY15" fmla="*/ 6160 h 10000"/>
                  <a:gd name="connsiteX16" fmla="*/ 10000 w 10000"/>
                  <a:gd name="connsiteY16" fmla="*/ 6193 h 10000"/>
                  <a:gd name="connsiteX0" fmla="*/ 10000 w 10000"/>
                  <a:gd name="connsiteY0" fmla="*/ 6193 h 10000"/>
                  <a:gd name="connsiteX1" fmla="*/ 9966 w 10000"/>
                  <a:gd name="connsiteY1" fmla="*/ 7761 h 10000"/>
                  <a:gd name="connsiteX2" fmla="*/ 8800 w 10000"/>
                  <a:gd name="connsiteY2" fmla="*/ 7761 h 10000"/>
                  <a:gd name="connsiteX3" fmla="*/ 8766 w 10000"/>
                  <a:gd name="connsiteY3" fmla="*/ 10000 h 10000"/>
                  <a:gd name="connsiteX4" fmla="*/ 1227 w 10000"/>
                  <a:gd name="connsiteY4" fmla="*/ 9959 h 10000"/>
                  <a:gd name="connsiteX5" fmla="*/ 1261 w 10000"/>
                  <a:gd name="connsiteY5" fmla="*/ 1291 h 10000"/>
                  <a:gd name="connsiteX6" fmla="*/ 0 w 10000"/>
                  <a:gd name="connsiteY6" fmla="*/ 1291 h 10000"/>
                  <a:gd name="connsiteX7" fmla="*/ 0 w 10000"/>
                  <a:gd name="connsiteY7" fmla="*/ 41 h 10000"/>
                  <a:gd name="connsiteX8" fmla="*/ 2717 w 10000"/>
                  <a:gd name="connsiteY8" fmla="*/ 0 h 10000"/>
                  <a:gd name="connsiteX9" fmla="*/ 2745 w 10000"/>
                  <a:gd name="connsiteY9" fmla="*/ 1258 h 10000"/>
                  <a:gd name="connsiteX10" fmla="*/ 1679 w 10000"/>
                  <a:gd name="connsiteY10" fmla="*/ 1291 h 10000"/>
                  <a:gd name="connsiteX11" fmla="*/ 1746 w 10000"/>
                  <a:gd name="connsiteY11" fmla="*/ 9526 h 10000"/>
                  <a:gd name="connsiteX12" fmla="*/ 8314 w 10000"/>
                  <a:gd name="connsiteY12" fmla="*/ 9453 h 10000"/>
                  <a:gd name="connsiteX13" fmla="*/ 8233 w 10000"/>
                  <a:gd name="connsiteY13" fmla="*/ 7704 h 10000"/>
                  <a:gd name="connsiteX14" fmla="*/ 7148 w 10000"/>
                  <a:gd name="connsiteY14" fmla="*/ 7704 h 10000"/>
                  <a:gd name="connsiteX15" fmla="*/ 7215 w 10000"/>
                  <a:gd name="connsiteY15" fmla="*/ 6160 h 10000"/>
                  <a:gd name="connsiteX16" fmla="*/ 10000 w 10000"/>
                  <a:gd name="connsiteY16" fmla="*/ 6193 h 10000"/>
                  <a:gd name="connsiteX0" fmla="*/ 10000 w 10000"/>
                  <a:gd name="connsiteY0" fmla="*/ 6193 h 10000"/>
                  <a:gd name="connsiteX1" fmla="*/ 9966 w 10000"/>
                  <a:gd name="connsiteY1" fmla="*/ 7761 h 10000"/>
                  <a:gd name="connsiteX2" fmla="*/ 8800 w 10000"/>
                  <a:gd name="connsiteY2" fmla="*/ 7761 h 10000"/>
                  <a:gd name="connsiteX3" fmla="*/ 8766 w 10000"/>
                  <a:gd name="connsiteY3" fmla="*/ 10000 h 10000"/>
                  <a:gd name="connsiteX4" fmla="*/ 1227 w 10000"/>
                  <a:gd name="connsiteY4" fmla="*/ 9959 h 10000"/>
                  <a:gd name="connsiteX5" fmla="*/ 1261 w 10000"/>
                  <a:gd name="connsiteY5" fmla="*/ 1291 h 10000"/>
                  <a:gd name="connsiteX6" fmla="*/ 0 w 10000"/>
                  <a:gd name="connsiteY6" fmla="*/ 1291 h 10000"/>
                  <a:gd name="connsiteX7" fmla="*/ 0 w 10000"/>
                  <a:gd name="connsiteY7" fmla="*/ 41 h 10000"/>
                  <a:gd name="connsiteX8" fmla="*/ 2717 w 10000"/>
                  <a:gd name="connsiteY8" fmla="*/ 0 h 10000"/>
                  <a:gd name="connsiteX9" fmla="*/ 2745 w 10000"/>
                  <a:gd name="connsiteY9" fmla="*/ 1258 h 10000"/>
                  <a:gd name="connsiteX10" fmla="*/ 1742 w 10000"/>
                  <a:gd name="connsiteY10" fmla="*/ 1291 h 10000"/>
                  <a:gd name="connsiteX11" fmla="*/ 1746 w 10000"/>
                  <a:gd name="connsiteY11" fmla="*/ 9526 h 10000"/>
                  <a:gd name="connsiteX12" fmla="*/ 8314 w 10000"/>
                  <a:gd name="connsiteY12" fmla="*/ 9453 h 10000"/>
                  <a:gd name="connsiteX13" fmla="*/ 8233 w 10000"/>
                  <a:gd name="connsiteY13" fmla="*/ 7704 h 10000"/>
                  <a:gd name="connsiteX14" fmla="*/ 7148 w 10000"/>
                  <a:gd name="connsiteY14" fmla="*/ 7704 h 10000"/>
                  <a:gd name="connsiteX15" fmla="*/ 7215 w 10000"/>
                  <a:gd name="connsiteY15" fmla="*/ 6160 h 10000"/>
                  <a:gd name="connsiteX16" fmla="*/ 10000 w 10000"/>
                  <a:gd name="connsiteY16" fmla="*/ 6193 h 10000"/>
                  <a:gd name="connsiteX0" fmla="*/ 10000 w 10000"/>
                  <a:gd name="connsiteY0" fmla="*/ 6193 h 10024"/>
                  <a:gd name="connsiteX1" fmla="*/ 9966 w 10000"/>
                  <a:gd name="connsiteY1" fmla="*/ 7761 h 10024"/>
                  <a:gd name="connsiteX2" fmla="*/ 8800 w 10000"/>
                  <a:gd name="connsiteY2" fmla="*/ 7761 h 10024"/>
                  <a:gd name="connsiteX3" fmla="*/ 8766 w 10000"/>
                  <a:gd name="connsiteY3" fmla="*/ 10000 h 10024"/>
                  <a:gd name="connsiteX4" fmla="*/ 1227 w 10000"/>
                  <a:gd name="connsiteY4" fmla="*/ 10024 h 10024"/>
                  <a:gd name="connsiteX5" fmla="*/ 1261 w 10000"/>
                  <a:gd name="connsiteY5" fmla="*/ 1291 h 10024"/>
                  <a:gd name="connsiteX6" fmla="*/ 0 w 10000"/>
                  <a:gd name="connsiteY6" fmla="*/ 1291 h 10024"/>
                  <a:gd name="connsiteX7" fmla="*/ 0 w 10000"/>
                  <a:gd name="connsiteY7" fmla="*/ 41 h 10024"/>
                  <a:gd name="connsiteX8" fmla="*/ 2717 w 10000"/>
                  <a:gd name="connsiteY8" fmla="*/ 0 h 10024"/>
                  <a:gd name="connsiteX9" fmla="*/ 2745 w 10000"/>
                  <a:gd name="connsiteY9" fmla="*/ 1258 h 10024"/>
                  <a:gd name="connsiteX10" fmla="*/ 1742 w 10000"/>
                  <a:gd name="connsiteY10" fmla="*/ 1291 h 10024"/>
                  <a:gd name="connsiteX11" fmla="*/ 1746 w 10000"/>
                  <a:gd name="connsiteY11" fmla="*/ 9526 h 10024"/>
                  <a:gd name="connsiteX12" fmla="*/ 8314 w 10000"/>
                  <a:gd name="connsiteY12" fmla="*/ 9453 h 10024"/>
                  <a:gd name="connsiteX13" fmla="*/ 8233 w 10000"/>
                  <a:gd name="connsiteY13" fmla="*/ 7704 h 10024"/>
                  <a:gd name="connsiteX14" fmla="*/ 7148 w 10000"/>
                  <a:gd name="connsiteY14" fmla="*/ 7704 h 10024"/>
                  <a:gd name="connsiteX15" fmla="*/ 7215 w 10000"/>
                  <a:gd name="connsiteY15" fmla="*/ 6160 h 10024"/>
                  <a:gd name="connsiteX16" fmla="*/ 10000 w 10000"/>
                  <a:gd name="connsiteY16" fmla="*/ 6193 h 10024"/>
                  <a:gd name="connsiteX0" fmla="*/ 9982 w 9982"/>
                  <a:gd name="connsiteY0" fmla="*/ 6182 h 10024"/>
                  <a:gd name="connsiteX1" fmla="*/ 9966 w 9982"/>
                  <a:gd name="connsiteY1" fmla="*/ 7761 h 10024"/>
                  <a:gd name="connsiteX2" fmla="*/ 8800 w 9982"/>
                  <a:gd name="connsiteY2" fmla="*/ 7761 h 10024"/>
                  <a:gd name="connsiteX3" fmla="*/ 8766 w 9982"/>
                  <a:gd name="connsiteY3" fmla="*/ 10000 h 10024"/>
                  <a:gd name="connsiteX4" fmla="*/ 1227 w 9982"/>
                  <a:gd name="connsiteY4" fmla="*/ 10024 h 10024"/>
                  <a:gd name="connsiteX5" fmla="*/ 1261 w 9982"/>
                  <a:gd name="connsiteY5" fmla="*/ 1291 h 10024"/>
                  <a:gd name="connsiteX6" fmla="*/ 0 w 9982"/>
                  <a:gd name="connsiteY6" fmla="*/ 1291 h 10024"/>
                  <a:gd name="connsiteX7" fmla="*/ 0 w 9982"/>
                  <a:gd name="connsiteY7" fmla="*/ 41 h 10024"/>
                  <a:gd name="connsiteX8" fmla="*/ 2717 w 9982"/>
                  <a:gd name="connsiteY8" fmla="*/ 0 h 10024"/>
                  <a:gd name="connsiteX9" fmla="*/ 2745 w 9982"/>
                  <a:gd name="connsiteY9" fmla="*/ 1258 h 10024"/>
                  <a:gd name="connsiteX10" fmla="*/ 1742 w 9982"/>
                  <a:gd name="connsiteY10" fmla="*/ 1291 h 10024"/>
                  <a:gd name="connsiteX11" fmla="*/ 1746 w 9982"/>
                  <a:gd name="connsiteY11" fmla="*/ 9526 h 10024"/>
                  <a:gd name="connsiteX12" fmla="*/ 8314 w 9982"/>
                  <a:gd name="connsiteY12" fmla="*/ 9453 h 10024"/>
                  <a:gd name="connsiteX13" fmla="*/ 8233 w 9982"/>
                  <a:gd name="connsiteY13" fmla="*/ 7704 h 10024"/>
                  <a:gd name="connsiteX14" fmla="*/ 7148 w 9982"/>
                  <a:gd name="connsiteY14" fmla="*/ 7704 h 10024"/>
                  <a:gd name="connsiteX15" fmla="*/ 7215 w 9982"/>
                  <a:gd name="connsiteY15" fmla="*/ 6160 h 10024"/>
                  <a:gd name="connsiteX16" fmla="*/ 9982 w 9982"/>
                  <a:gd name="connsiteY16" fmla="*/ 6182 h 10024"/>
                  <a:gd name="connsiteX0" fmla="*/ 10007 w 10007"/>
                  <a:gd name="connsiteY0" fmla="*/ 6118 h 10000"/>
                  <a:gd name="connsiteX1" fmla="*/ 9984 w 10007"/>
                  <a:gd name="connsiteY1" fmla="*/ 7742 h 10000"/>
                  <a:gd name="connsiteX2" fmla="*/ 8816 w 10007"/>
                  <a:gd name="connsiteY2" fmla="*/ 7742 h 10000"/>
                  <a:gd name="connsiteX3" fmla="*/ 8782 w 10007"/>
                  <a:gd name="connsiteY3" fmla="*/ 9976 h 10000"/>
                  <a:gd name="connsiteX4" fmla="*/ 1229 w 10007"/>
                  <a:gd name="connsiteY4" fmla="*/ 10000 h 10000"/>
                  <a:gd name="connsiteX5" fmla="*/ 1263 w 10007"/>
                  <a:gd name="connsiteY5" fmla="*/ 1288 h 10000"/>
                  <a:gd name="connsiteX6" fmla="*/ 0 w 10007"/>
                  <a:gd name="connsiteY6" fmla="*/ 1288 h 10000"/>
                  <a:gd name="connsiteX7" fmla="*/ 0 w 10007"/>
                  <a:gd name="connsiteY7" fmla="*/ 41 h 10000"/>
                  <a:gd name="connsiteX8" fmla="*/ 2722 w 10007"/>
                  <a:gd name="connsiteY8" fmla="*/ 0 h 10000"/>
                  <a:gd name="connsiteX9" fmla="*/ 2750 w 10007"/>
                  <a:gd name="connsiteY9" fmla="*/ 1255 h 10000"/>
                  <a:gd name="connsiteX10" fmla="*/ 1745 w 10007"/>
                  <a:gd name="connsiteY10" fmla="*/ 1288 h 10000"/>
                  <a:gd name="connsiteX11" fmla="*/ 1749 w 10007"/>
                  <a:gd name="connsiteY11" fmla="*/ 9503 h 10000"/>
                  <a:gd name="connsiteX12" fmla="*/ 8329 w 10007"/>
                  <a:gd name="connsiteY12" fmla="*/ 9430 h 10000"/>
                  <a:gd name="connsiteX13" fmla="*/ 8248 w 10007"/>
                  <a:gd name="connsiteY13" fmla="*/ 7686 h 10000"/>
                  <a:gd name="connsiteX14" fmla="*/ 7161 w 10007"/>
                  <a:gd name="connsiteY14" fmla="*/ 7686 h 10000"/>
                  <a:gd name="connsiteX15" fmla="*/ 7228 w 10007"/>
                  <a:gd name="connsiteY15" fmla="*/ 6145 h 10000"/>
                  <a:gd name="connsiteX16" fmla="*/ 10007 w 10007"/>
                  <a:gd name="connsiteY16" fmla="*/ 6118 h 10000"/>
                  <a:gd name="connsiteX0" fmla="*/ 10007 w 10007"/>
                  <a:gd name="connsiteY0" fmla="*/ 6118 h 10000"/>
                  <a:gd name="connsiteX1" fmla="*/ 9984 w 10007"/>
                  <a:gd name="connsiteY1" fmla="*/ 7742 h 10000"/>
                  <a:gd name="connsiteX2" fmla="*/ 8816 w 10007"/>
                  <a:gd name="connsiteY2" fmla="*/ 7742 h 10000"/>
                  <a:gd name="connsiteX3" fmla="*/ 8782 w 10007"/>
                  <a:gd name="connsiteY3" fmla="*/ 9976 h 10000"/>
                  <a:gd name="connsiteX4" fmla="*/ 1229 w 10007"/>
                  <a:gd name="connsiteY4" fmla="*/ 10000 h 10000"/>
                  <a:gd name="connsiteX5" fmla="*/ 1263 w 10007"/>
                  <a:gd name="connsiteY5" fmla="*/ 1288 h 10000"/>
                  <a:gd name="connsiteX6" fmla="*/ 0 w 10007"/>
                  <a:gd name="connsiteY6" fmla="*/ 1288 h 10000"/>
                  <a:gd name="connsiteX7" fmla="*/ 0 w 10007"/>
                  <a:gd name="connsiteY7" fmla="*/ 41 h 10000"/>
                  <a:gd name="connsiteX8" fmla="*/ 2722 w 10007"/>
                  <a:gd name="connsiteY8" fmla="*/ 0 h 10000"/>
                  <a:gd name="connsiteX9" fmla="*/ 2750 w 10007"/>
                  <a:gd name="connsiteY9" fmla="*/ 1255 h 10000"/>
                  <a:gd name="connsiteX10" fmla="*/ 1745 w 10007"/>
                  <a:gd name="connsiteY10" fmla="*/ 1288 h 10000"/>
                  <a:gd name="connsiteX11" fmla="*/ 1749 w 10007"/>
                  <a:gd name="connsiteY11" fmla="*/ 9503 h 10000"/>
                  <a:gd name="connsiteX12" fmla="*/ 8329 w 10007"/>
                  <a:gd name="connsiteY12" fmla="*/ 9430 h 10000"/>
                  <a:gd name="connsiteX13" fmla="*/ 8248 w 10007"/>
                  <a:gd name="connsiteY13" fmla="*/ 7686 h 10000"/>
                  <a:gd name="connsiteX14" fmla="*/ 7161 w 10007"/>
                  <a:gd name="connsiteY14" fmla="*/ 7686 h 10000"/>
                  <a:gd name="connsiteX15" fmla="*/ 7187 w 10007"/>
                  <a:gd name="connsiteY15" fmla="*/ 6153 h 10000"/>
                  <a:gd name="connsiteX16" fmla="*/ 10007 w 10007"/>
                  <a:gd name="connsiteY16" fmla="*/ 6118 h 10000"/>
                  <a:gd name="connsiteX0" fmla="*/ 10007 w 10007"/>
                  <a:gd name="connsiteY0" fmla="*/ 6118 h 10000"/>
                  <a:gd name="connsiteX1" fmla="*/ 9984 w 10007"/>
                  <a:gd name="connsiteY1" fmla="*/ 7742 h 10000"/>
                  <a:gd name="connsiteX2" fmla="*/ 8816 w 10007"/>
                  <a:gd name="connsiteY2" fmla="*/ 7742 h 10000"/>
                  <a:gd name="connsiteX3" fmla="*/ 8782 w 10007"/>
                  <a:gd name="connsiteY3" fmla="*/ 9976 h 10000"/>
                  <a:gd name="connsiteX4" fmla="*/ 1229 w 10007"/>
                  <a:gd name="connsiteY4" fmla="*/ 10000 h 10000"/>
                  <a:gd name="connsiteX5" fmla="*/ 1263 w 10007"/>
                  <a:gd name="connsiteY5" fmla="*/ 1288 h 10000"/>
                  <a:gd name="connsiteX6" fmla="*/ 0 w 10007"/>
                  <a:gd name="connsiteY6" fmla="*/ 1288 h 10000"/>
                  <a:gd name="connsiteX7" fmla="*/ 0 w 10007"/>
                  <a:gd name="connsiteY7" fmla="*/ 41 h 10000"/>
                  <a:gd name="connsiteX8" fmla="*/ 2722 w 10007"/>
                  <a:gd name="connsiteY8" fmla="*/ 0 h 10000"/>
                  <a:gd name="connsiteX9" fmla="*/ 2750 w 10007"/>
                  <a:gd name="connsiteY9" fmla="*/ 1255 h 10000"/>
                  <a:gd name="connsiteX10" fmla="*/ 1745 w 10007"/>
                  <a:gd name="connsiteY10" fmla="*/ 1288 h 10000"/>
                  <a:gd name="connsiteX11" fmla="*/ 1749 w 10007"/>
                  <a:gd name="connsiteY11" fmla="*/ 9503 h 10000"/>
                  <a:gd name="connsiteX12" fmla="*/ 8329 w 10007"/>
                  <a:gd name="connsiteY12" fmla="*/ 9430 h 10000"/>
                  <a:gd name="connsiteX13" fmla="*/ 8248 w 10007"/>
                  <a:gd name="connsiteY13" fmla="*/ 7686 h 10000"/>
                  <a:gd name="connsiteX14" fmla="*/ 7161 w 10007"/>
                  <a:gd name="connsiteY14" fmla="*/ 7686 h 10000"/>
                  <a:gd name="connsiteX15" fmla="*/ 7180 w 10007"/>
                  <a:gd name="connsiteY15" fmla="*/ 6104 h 10000"/>
                  <a:gd name="connsiteX16" fmla="*/ 10007 w 10007"/>
                  <a:gd name="connsiteY16" fmla="*/ 6118 h 10000"/>
                  <a:gd name="connsiteX0" fmla="*/ 10007 w 10007"/>
                  <a:gd name="connsiteY0" fmla="*/ 6118 h 10032"/>
                  <a:gd name="connsiteX1" fmla="*/ 9984 w 10007"/>
                  <a:gd name="connsiteY1" fmla="*/ 7742 h 10032"/>
                  <a:gd name="connsiteX2" fmla="*/ 8816 w 10007"/>
                  <a:gd name="connsiteY2" fmla="*/ 7742 h 10032"/>
                  <a:gd name="connsiteX3" fmla="*/ 8856 w 10007"/>
                  <a:gd name="connsiteY3" fmla="*/ 10032 h 10032"/>
                  <a:gd name="connsiteX4" fmla="*/ 1229 w 10007"/>
                  <a:gd name="connsiteY4" fmla="*/ 10000 h 10032"/>
                  <a:gd name="connsiteX5" fmla="*/ 1263 w 10007"/>
                  <a:gd name="connsiteY5" fmla="*/ 1288 h 10032"/>
                  <a:gd name="connsiteX6" fmla="*/ 0 w 10007"/>
                  <a:gd name="connsiteY6" fmla="*/ 1288 h 10032"/>
                  <a:gd name="connsiteX7" fmla="*/ 0 w 10007"/>
                  <a:gd name="connsiteY7" fmla="*/ 41 h 10032"/>
                  <a:gd name="connsiteX8" fmla="*/ 2722 w 10007"/>
                  <a:gd name="connsiteY8" fmla="*/ 0 h 10032"/>
                  <a:gd name="connsiteX9" fmla="*/ 2750 w 10007"/>
                  <a:gd name="connsiteY9" fmla="*/ 1255 h 10032"/>
                  <a:gd name="connsiteX10" fmla="*/ 1745 w 10007"/>
                  <a:gd name="connsiteY10" fmla="*/ 1288 h 10032"/>
                  <a:gd name="connsiteX11" fmla="*/ 1749 w 10007"/>
                  <a:gd name="connsiteY11" fmla="*/ 9503 h 10032"/>
                  <a:gd name="connsiteX12" fmla="*/ 8329 w 10007"/>
                  <a:gd name="connsiteY12" fmla="*/ 9430 h 10032"/>
                  <a:gd name="connsiteX13" fmla="*/ 8248 w 10007"/>
                  <a:gd name="connsiteY13" fmla="*/ 7686 h 10032"/>
                  <a:gd name="connsiteX14" fmla="*/ 7161 w 10007"/>
                  <a:gd name="connsiteY14" fmla="*/ 7686 h 10032"/>
                  <a:gd name="connsiteX15" fmla="*/ 7180 w 10007"/>
                  <a:gd name="connsiteY15" fmla="*/ 6104 h 10032"/>
                  <a:gd name="connsiteX16" fmla="*/ 10007 w 10007"/>
                  <a:gd name="connsiteY16" fmla="*/ 6118 h 10032"/>
                  <a:gd name="connsiteX0" fmla="*/ 10035 w 10035"/>
                  <a:gd name="connsiteY0" fmla="*/ 6118 h 10032"/>
                  <a:gd name="connsiteX1" fmla="*/ 9984 w 10035"/>
                  <a:gd name="connsiteY1" fmla="*/ 7742 h 10032"/>
                  <a:gd name="connsiteX2" fmla="*/ 8816 w 10035"/>
                  <a:gd name="connsiteY2" fmla="*/ 7742 h 10032"/>
                  <a:gd name="connsiteX3" fmla="*/ 8856 w 10035"/>
                  <a:gd name="connsiteY3" fmla="*/ 10032 h 10032"/>
                  <a:gd name="connsiteX4" fmla="*/ 1229 w 10035"/>
                  <a:gd name="connsiteY4" fmla="*/ 10000 h 10032"/>
                  <a:gd name="connsiteX5" fmla="*/ 1263 w 10035"/>
                  <a:gd name="connsiteY5" fmla="*/ 1288 h 10032"/>
                  <a:gd name="connsiteX6" fmla="*/ 0 w 10035"/>
                  <a:gd name="connsiteY6" fmla="*/ 1288 h 10032"/>
                  <a:gd name="connsiteX7" fmla="*/ 0 w 10035"/>
                  <a:gd name="connsiteY7" fmla="*/ 41 h 10032"/>
                  <a:gd name="connsiteX8" fmla="*/ 2722 w 10035"/>
                  <a:gd name="connsiteY8" fmla="*/ 0 h 10032"/>
                  <a:gd name="connsiteX9" fmla="*/ 2750 w 10035"/>
                  <a:gd name="connsiteY9" fmla="*/ 1255 h 10032"/>
                  <a:gd name="connsiteX10" fmla="*/ 1745 w 10035"/>
                  <a:gd name="connsiteY10" fmla="*/ 1288 h 10032"/>
                  <a:gd name="connsiteX11" fmla="*/ 1749 w 10035"/>
                  <a:gd name="connsiteY11" fmla="*/ 9503 h 10032"/>
                  <a:gd name="connsiteX12" fmla="*/ 8329 w 10035"/>
                  <a:gd name="connsiteY12" fmla="*/ 9430 h 10032"/>
                  <a:gd name="connsiteX13" fmla="*/ 8248 w 10035"/>
                  <a:gd name="connsiteY13" fmla="*/ 7686 h 10032"/>
                  <a:gd name="connsiteX14" fmla="*/ 7161 w 10035"/>
                  <a:gd name="connsiteY14" fmla="*/ 7686 h 10032"/>
                  <a:gd name="connsiteX15" fmla="*/ 7180 w 10035"/>
                  <a:gd name="connsiteY15" fmla="*/ 6104 h 10032"/>
                  <a:gd name="connsiteX16" fmla="*/ 10035 w 10035"/>
                  <a:gd name="connsiteY16" fmla="*/ 6118 h 10032"/>
                  <a:gd name="connsiteX0" fmla="*/ 10035 w 10042"/>
                  <a:gd name="connsiteY0" fmla="*/ 6118 h 10032"/>
                  <a:gd name="connsiteX1" fmla="*/ 10040 w 10042"/>
                  <a:gd name="connsiteY1" fmla="*/ 7787 h 10032"/>
                  <a:gd name="connsiteX2" fmla="*/ 8816 w 10042"/>
                  <a:gd name="connsiteY2" fmla="*/ 7742 h 10032"/>
                  <a:gd name="connsiteX3" fmla="*/ 8856 w 10042"/>
                  <a:gd name="connsiteY3" fmla="*/ 10032 h 10032"/>
                  <a:gd name="connsiteX4" fmla="*/ 1229 w 10042"/>
                  <a:gd name="connsiteY4" fmla="*/ 10000 h 10032"/>
                  <a:gd name="connsiteX5" fmla="*/ 1263 w 10042"/>
                  <a:gd name="connsiteY5" fmla="*/ 1288 h 10032"/>
                  <a:gd name="connsiteX6" fmla="*/ 0 w 10042"/>
                  <a:gd name="connsiteY6" fmla="*/ 1288 h 10032"/>
                  <a:gd name="connsiteX7" fmla="*/ 0 w 10042"/>
                  <a:gd name="connsiteY7" fmla="*/ 41 h 10032"/>
                  <a:gd name="connsiteX8" fmla="*/ 2722 w 10042"/>
                  <a:gd name="connsiteY8" fmla="*/ 0 h 10032"/>
                  <a:gd name="connsiteX9" fmla="*/ 2750 w 10042"/>
                  <a:gd name="connsiteY9" fmla="*/ 1255 h 10032"/>
                  <a:gd name="connsiteX10" fmla="*/ 1745 w 10042"/>
                  <a:gd name="connsiteY10" fmla="*/ 1288 h 10032"/>
                  <a:gd name="connsiteX11" fmla="*/ 1749 w 10042"/>
                  <a:gd name="connsiteY11" fmla="*/ 9503 h 10032"/>
                  <a:gd name="connsiteX12" fmla="*/ 8329 w 10042"/>
                  <a:gd name="connsiteY12" fmla="*/ 9430 h 10032"/>
                  <a:gd name="connsiteX13" fmla="*/ 8248 w 10042"/>
                  <a:gd name="connsiteY13" fmla="*/ 7686 h 10032"/>
                  <a:gd name="connsiteX14" fmla="*/ 7161 w 10042"/>
                  <a:gd name="connsiteY14" fmla="*/ 7686 h 10032"/>
                  <a:gd name="connsiteX15" fmla="*/ 7180 w 10042"/>
                  <a:gd name="connsiteY15" fmla="*/ 6104 h 10032"/>
                  <a:gd name="connsiteX16" fmla="*/ 10035 w 10042"/>
                  <a:gd name="connsiteY16" fmla="*/ 6118 h 10032"/>
                  <a:gd name="connsiteX0" fmla="*/ 10035 w 10042"/>
                  <a:gd name="connsiteY0" fmla="*/ 6118 h 10032"/>
                  <a:gd name="connsiteX1" fmla="*/ 10040 w 10042"/>
                  <a:gd name="connsiteY1" fmla="*/ 7787 h 10032"/>
                  <a:gd name="connsiteX2" fmla="*/ 8816 w 10042"/>
                  <a:gd name="connsiteY2" fmla="*/ 7787 h 10032"/>
                  <a:gd name="connsiteX3" fmla="*/ 8856 w 10042"/>
                  <a:gd name="connsiteY3" fmla="*/ 10032 h 10032"/>
                  <a:gd name="connsiteX4" fmla="*/ 1229 w 10042"/>
                  <a:gd name="connsiteY4" fmla="*/ 10000 h 10032"/>
                  <a:gd name="connsiteX5" fmla="*/ 1263 w 10042"/>
                  <a:gd name="connsiteY5" fmla="*/ 1288 h 10032"/>
                  <a:gd name="connsiteX6" fmla="*/ 0 w 10042"/>
                  <a:gd name="connsiteY6" fmla="*/ 1288 h 10032"/>
                  <a:gd name="connsiteX7" fmla="*/ 0 w 10042"/>
                  <a:gd name="connsiteY7" fmla="*/ 41 h 10032"/>
                  <a:gd name="connsiteX8" fmla="*/ 2722 w 10042"/>
                  <a:gd name="connsiteY8" fmla="*/ 0 h 10032"/>
                  <a:gd name="connsiteX9" fmla="*/ 2750 w 10042"/>
                  <a:gd name="connsiteY9" fmla="*/ 1255 h 10032"/>
                  <a:gd name="connsiteX10" fmla="*/ 1745 w 10042"/>
                  <a:gd name="connsiteY10" fmla="*/ 1288 h 10032"/>
                  <a:gd name="connsiteX11" fmla="*/ 1749 w 10042"/>
                  <a:gd name="connsiteY11" fmla="*/ 9503 h 10032"/>
                  <a:gd name="connsiteX12" fmla="*/ 8329 w 10042"/>
                  <a:gd name="connsiteY12" fmla="*/ 9430 h 10032"/>
                  <a:gd name="connsiteX13" fmla="*/ 8248 w 10042"/>
                  <a:gd name="connsiteY13" fmla="*/ 7686 h 10032"/>
                  <a:gd name="connsiteX14" fmla="*/ 7161 w 10042"/>
                  <a:gd name="connsiteY14" fmla="*/ 7686 h 10032"/>
                  <a:gd name="connsiteX15" fmla="*/ 7180 w 10042"/>
                  <a:gd name="connsiteY15" fmla="*/ 6104 h 10032"/>
                  <a:gd name="connsiteX16" fmla="*/ 10035 w 10042"/>
                  <a:gd name="connsiteY16" fmla="*/ 6118 h 10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42" h="10032">
                    <a:moveTo>
                      <a:pt x="10035" y="6118"/>
                    </a:moveTo>
                    <a:cubicBezTo>
                      <a:pt x="10024" y="6640"/>
                      <a:pt x="10051" y="7266"/>
                      <a:pt x="10040" y="7787"/>
                    </a:cubicBezTo>
                    <a:lnTo>
                      <a:pt x="8816" y="7787"/>
                    </a:lnTo>
                    <a:cubicBezTo>
                      <a:pt x="8805" y="8532"/>
                      <a:pt x="8867" y="9288"/>
                      <a:pt x="8856" y="10032"/>
                    </a:cubicBezTo>
                    <a:lnTo>
                      <a:pt x="1229" y="10000"/>
                    </a:lnTo>
                    <a:cubicBezTo>
                      <a:pt x="1240" y="7118"/>
                      <a:pt x="1252" y="4170"/>
                      <a:pt x="1263" y="1288"/>
                    </a:cubicBezTo>
                    <a:lnTo>
                      <a:pt x="0" y="1288"/>
                    </a:lnTo>
                    <a:lnTo>
                      <a:pt x="0" y="41"/>
                    </a:lnTo>
                    <a:lnTo>
                      <a:pt x="2722" y="0"/>
                    </a:lnTo>
                    <a:cubicBezTo>
                      <a:pt x="2711" y="418"/>
                      <a:pt x="2761" y="837"/>
                      <a:pt x="2750" y="1255"/>
                    </a:cubicBezTo>
                    <a:lnTo>
                      <a:pt x="1745" y="1288"/>
                    </a:lnTo>
                    <a:cubicBezTo>
                      <a:pt x="1767" y="4026"/>
                      <a:pt x="1727" y="6765"/>
                      <a:pt x="1749" y="9503"/>
                    </a:cubicBezTo>
                    <a:lnTo>
                      <a:pt x="8329" y="9430"/>
                    </a:lnTo>
                    <a:cubicBezTo>
                      <a:pt x="8302" y="8849"/>
                      <a:pt x="8275" y="8267"/>
                      <a:pt x="8248" y="7686"/>
                    </a:cubicBezTo>
                    <a:lnTo>
                      <a:pt x="7161" y="7686"/>
                    </a:lnTo>
                    <a:cubicBezTo>
                      <a:pt x="7183" y="7172"/>
                      <a:pt x="7158" y="6618"/>
                      <a:pt x="7180" y="6104"/>
                    </a:cubicBezTo>
                    <a:lnTo>
                      <a:pt x="10035" y="6118"/>
                    </a:lnTo>
                    <a:close/>
                  </a:path>
                </a:pathLst>
              </a:cu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3" name="Group 26"/>
              <p:cNvGrpSpPr>
                <a:grpSpLocks/>
              </p:cNvGrpSpPr>
              <p:nvPr/>
            </p:nvGrpSpPr>
            <p:grpSpPr bwMode="auto">
              <a:xfrm>
                <a:off x="6432916" y="2263756"/>
                <a:ext cx="649288" cy="269877"/>
                <a:chOff x="3808" y="1777"/>
                <a:chExt cx="409" cy="170"/>
              </a:xfrm>
            </p:grpSpPr>
            <p:grpSp>
              <p:nvGrpSpPr>
                <p:cNvPr id="211" name="Group 27"/>
                <p:cNvGrpSpPr>
                  <a:grpSpLocks/>
                </p:cNvGrpSpPr>
                <p:nvPr/>
              </p:nvGrpSpPr>
              <p:grpSpPr bwMode="auto">
                <a:xfrm>
                  <a:off x="3921" y="1777"/>
                  <a:ext cx="182" cy="170"/>
                  <a:chOff x="3067" y="1097"/>
                  <a:chExt cx="182" cy="170"/>
                </a:xfrm>
              </p:grpSpPr>
              <p:sp>
                <p:nvSpPr>
                  <p:cNvPr id="213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3104" y="1246"/>
                    <a:ext cx="9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14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128" y="1267"/>
                    <a:ext cx="4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" name="AutoShape 30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6" y="1097"/>
                    <a:ext cx="136" cy="9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8575" algn="ctr">
                    <a:solidFill>
                      <a:srgbClr val="0000FF"/>
                    </a:solidFill>
                    <a:miter lim="800000"/>
                    <a:headEnd/>
                    <a:tailEnd/>
                  </a:ln>
                </p:spPr>
                <p:txBody>
                  <a:bodyPr wrap="none" lIns="0" rIns="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3067" y="1222"/>
                    <a:ext cx="18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12" name="Line 32"/>
                <p:cNvSpPr>
                  <a:spLocks noChangeShapeType="1"/>
                </p:cNvSpPr>
                <p:nvPr/>
              </p:nvSpPr>
              <p:spPr bwMode="auto">
                <a:xfrm>
                  <a:off x="3808" y="1876"/>
                  <a:ext cx="409" cy="0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54" name="Freeform 33"/>
              <p:cNvSpPr>
                <a:spLocks/>
              </p:cNvSpPr>
              <p:nvPr/>
            </p:nvSpPr>
            <p:spPr bwMode="auto">
              <a:xfrm>
                <a:off x="7090141" y="2409784"/>
                <a:ext cx="184150" cy="320675"/>
              </a:xfrm>
              <a:custGeom>
                <a:avLst/>
                <a:gdLst>
                  <a:gd name="T0" fmla="*/ 0 w 109"/>
                  <a:gd name="T1" fmla="*/ 196 h 196"/>
                  <a:gd name="T2" fmla="*/ 109 w 109"/>
                  <a:gd name="T3" fmla="*/ 196 h 196"/>
                  <a:gd name="T4" fmla="*/ 109 w 109"/>
                  <a:gd name="T5" fmla="*/ 0 h 196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196"/>
                  <a:gd name="T11" fmla="*/ 109 w 109"/>
                  <a:gd name="T12" fmla="*/ 196 h 196"/>
                  <a:gd name="connsiteX0" fmla="*/ 0 w 10642"/>
                  <a:gd name="connsiteY0" fmla="*/ 10051 h 10051"/>
                  <a:gd name="connsiteX1" fmla="*/ 10642 w 10642"/>
                  <a:gd name="connsiteY1" fmla="*/ 10000 h 10051"/>
                  <a:gd name="connsiteX2" fmla="*/ 10642 w 10642"/>
                  <a:gd name="connsiteY2" fmla="*/ 0 h 10051"/>
                  <a:gd name="connsiteX0" fmla="*/ 0 w 10642"/>
                  <a:gd name="connsiteY0" fmla="*/ 10357 h 10357"/>
                  <a:gd name="connsiteX1" fmla="*/ 10642 w 10642"/>
                  <a:gd name="connsiteY1" fmla="*/ 10306 h 10357"/>
                  <a:gd name="connsiteX2" fmla="*/ 10275 w 10642"/>
                  <a:gd name="connsiteY2" fmla="*/ 0 h 10357"/>
                  <a:gd name="connsiteX0" fmla="*/ 0 w 10677"/>
                  <a:gd name="connsiteY0" fmla="*/ 10357 h 10357"/>
                  <a:gd name="connsiteX1" fmla="*/ 10642 w 10677"/>
                  <a:gd name="connsiteY1" fmla="*/ 10306 h 10357"/>
                  <a:gd name="connsiteX2" fmla="*/ 10642 w 10677"/>
                  <a:gd name="connsiteY2" fmla="*/ 0 h 10357"/>
                  <a:gd name="connsiteX0" fmla="*/ 0 w 10677"/>
                  <a:gd name="connsiteY0" fmla="*/ 10204 h 10306"/>
                  <a:gd name="connsiteX1" fmla="*/ 10642 w 10677"/>
                  <a:gd name="connsiteY1" fmla="*/ 10306 h 10306"/>
                  <a:gd name="connsiteX2" fmla="*/ 10642 w 10677"/>
                  <a:gd name="connsiteY2" fmla="*/ 0 h 10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77" h="10306">
                    <a:moveTo>
                      <a:pt x="0" y="10204"/>
                    </a:moveTo>
                    <a:lnTo>
                      <a:pt x="10642" y="10306"/>
                    </a:lnTo>
                    <a:cubicBezTo>
                      <a:pt x="10520" y="6871"/>
                      <a:pt x="10764" y="3435"/>
                      <a:pt x="10642" y="0"/>
                    </a:cubicBezTo>
                  </a:path>
                </a:pathLst>
              </a:custGeom>
              <a:noFill/>
              <a:ln w="76200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 34"/>
              <p:cNvSpPr>
                <a:spLocks/>
              </p:cNvSpPr>
              <p:nvPr/>
            </p:nvSpPr>
            <p:spPr bwMode="auto">
              <a:xfrm>
                <a:off x="7085379" y="2419309"/>
                <a:ext cx="465138" cy="1192213"/>
              </a:xfrm>
              <a:custGeom>
                <a:avLst/>
                <a:gdLst>
                  <a:gd name="T0" fmla="*/ 0 w 284"/>
                  <a:gd name="T1" fmla="*/ 751 h 751"/>
                  <a:gd name="T2" fmla="*/ 281 w 284"/>
                  <a:gd name="T3" fmla="*/ 751 h 751"/>
                  <a:gd name="T4" fmla="*/ 284 w 284"/>
                  <a:gd name="T5" fmla="*/ 0 h 751"/>
                  <a:gd name="T6" fmla="*/ 0 60000 65536"/>
                  <a:gd name="T7" fmla="*/ 0 60000 65536"/>
                  <a:gd name="T8" fmla="*/ 0 60000 65536"/>
                  <a:gd name="T9" fmla="*/ 0 w 284"/>
                  <a:gd name="T10" fmla="*/ 0 h 751"/>
                  <a:gd name="T11" fmla="*/ 284 w 284"/>
                  <a:gd name="T12" fmla="*/ 751 h 7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4" h="751">
                    <a:moveTo>
                      <a:pt x="0" y="751"/>
                    </a:moveTo>
                    <a:lnTo>
                      <a:pt x="281" y="751"/>
                    </a:lnTo>
                    <a:lnTo>
                      <a:pt x="284" y="0"/>
                    </a:lnTo>
                  </a:path>
                </a:pathLst>
              </a:custGeom>
              <a:noFill/>
              <a:ln w="63500">
                <a:solidFill>
                  <a:srgbClr val="00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56" name="Group 35"/>
              <p:cNvGrpSpPr>
                <a:grpSpLocks/>
              </p:cNvGrpSpPr>
              <p:nvPr/>
            </p:nvGrpSpPr>
            <p:grpSpPr bwMode="auto">
              <a:xfrm>
                <a:off x="4740641" y="2254209"/>
                <a:ext cx="649288" cy="263525"/>
                <a:chOff x="2742" y="1771"/>
                <a:chExt cx="409" cy="166"/>
              </a:xfrm>
            </p:grpSpPr>
            <p:grpSp>
              <p:nvGrpSpPr>
                <p:cNvPr id="205" name="Group 36"/>
                <p:cNvGrpSpPr>
                  <a:grpSpLocks/>
                </p:cNvGrpSpPr>
                <p:nvPr/>
              </p:nvGrpSpPr>
              <p:grpSpPr bwMode="auto">
                <a:xfrm>
                  <a:off x="2855" y="1771"/>
                  <a:ext cx="182" cy="166"/>
                  <a:chOff x="3067" y="1101"/>
                  <a:chExt cx="182" cy="166"/>
                </a:xfrm>
              </p:grpSpPr>
              <p:sp>
                <p:nvSpPr>
                  <p:cNvPr id="207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3104" y="1246"/>
                    <a:ext cx="9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08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3128" y="1267"/>
                    <a:ext cx="45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09" name="AutoShape 3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6" y="1101"/>
                    <a:ext cx="136" cy="9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28575" algn="ctr">
                    <a:solidFill>
                      <a:srgbClr val="0000FF"/>
                    </a:solidFill>
                    <a:miter lim="800000"/>
                    <a:headEnd/>
                    <a:tailEnd/>
                  </a:ln>
                </p:spPr>
                <p:txBody>
                  <a:bodyPr wrap="none" lIns="0" rIns="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10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3067" y="1222"/>
                    <a:ext cx="18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06" name="Line 41"/>
                <p:cNvSpPr>
                  <a:spLocks noChangeShapeType="1"/>
                </p:cNvSpPr>
                <p:nvPr/>
              </p:nvSpPr>
              <p:spPr bwMode="auto">
                <a:xfrm>
                  <a:off x="2742" y="1866"/>
                  <a:ext cx="409" cy="0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7" name="组合 156"/>
              <p:cNvGrpSpPr/>
              <p:nvPr/>
            </p:nvGrpSpPr>
            <p:grpSpPr>
              <a:xfrm>
                <a:off x="7669583" y="1287421"/>
                <a:ext cx="1084263" cy="2303462"/>
                <a:chOff x="4754369" y="1284288"/>
                <a:chExt cx="1084263" cy="2303462"/>
              </a:xfrm>
            </p:grpSpPr>
            <p:sp>
              <p:nvSpPr>
                <p:cNvPr id="197" name="Freeform 18"/>
                <p:cNvSpPr>
                  <a:spLocks/>
                </p:cNvSpPr>
                <p:nvPr/>
              </p:nvSpPr>
              <p:spPr bwMode="auto">
                <a:xfrm>
                  <a:off x="4754369" y="1284288"/>
                  <a:ext cx="814388" cy="1587"/>
                </a:xfrm>
                <a:custGeom>
                  <a:avLst/>
                  <a:gdLst>
                    <a:gd name="T0" fmla="*/ 0 w 513"/>
                    <a:gd name="T1" fmla="*/ 0 h 1"/>
                    <a:gd name="T2" fmla="*/ 513 w 513"/>
                    <a:gd name="T3" fmla="*/ 0 h 1"/>
                    <a:gd name="T4" fmla="*/ 0 60000 65536"/>
                    <a:gd name="T5" fmla="*/ 0 60000 65536"/>
                    <a:gd name="T6" fmla="*/ 0 w 513"/>
                    <a:gd name="T7" fmla="*/ 0 h 1"/>
                    <a:gd name="T8" fmla="*/ 513 w 513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13" h="1">
                      <a:moveTo>
                        <a:pt x="0" y="0"/>
                      </a:moveTo>
                      <a:lnTo>
                        <a:pt x="513" y="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" name="Freeform 19"/>
                <p:cNvSpPr>
                  <a:spLocks/>
                </p:cNvSpPr>
                <p:nvPr/>
              </p:nvSpPr>
              <p:spPr bwMode="auto">
                <a:xfrm>
                  <a:off x="4973297" y="1286581"/>
                  <a:ext cx="1588" cy="1130400"/>
                </a:xfrm>
                <a:custGeom>
                  <a:avLst/>
                  <a:gdLst>
                    <a:gd name="T0" fmla="*/ 0 w 1"/>
                    <a:gd name="T1" fmla="*/ 0 h 735"/>
                    <a:gd name="T2" fmla="*/ 1 w 1"/>
                    <a:gd name="T3" fmla="*/ 735 h 735"/>
                    <a:gd name="T4" fmla="*/ 0 60000 65536"/>
                    <a:gd name="T5" fmla="*/ 0 60000 65536"/>
                    <a:gd name="T6" fmla="*/ 0 w 1"/>
                    <a:gd name="T7" fmla="*/ 0 h 735"/>
                    <a:gd name="T8" fmla="*/ 1 w 1"/>
                    <a:gd name="T9" fmla="*/ 735 h 735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735">
                      <a:moveTo>
                        <a:pt x="0" y="0"/>
                      </a:moveTo>
                      <a:lnTo>
                        <a:pt x="1" y="735"/>
                      </a:lnTo>
                    </a:path>
                  </a:pathLst>
                </a:custGeom>
                <a:noFill/>
                <a:ln w="12700">
                  <a:solidFill>
                    <a:srgbClr val="333333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" name="Line 20"/>
                <p:cNvSpPr>
                  <a:spLocks noChangeShapeType="1"/>
                </p:cNvSpPr>
                <p:nvPr/>
              </p:nvSpPr>
              <p:spPr bwMode="auto">
                <a:xfrm>
                  <a:off x="5475094" y="1284288"/>
                  <a:ext cx="0" cy="2303462"/>
                </a:xfrm>
                <a:prstGeom prst="line">
                  <a:avLst/>
                </a:prstGeom>
                <a:noFill/>
                <a:ln w="12700">
                  <a:solidFill>
                    <a:srgbClr val="333333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563994" y="2220913"/>
                  <a:ext cx="274638" cy="4619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r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400" b="1" i="1" dirty="0">
                      <a:cs typeface="Times New Roman" panose="02020603050405020304" pitchFamily="18" charset="0"/>
                    </a:rPr>
                    <a:t>h</a:t>
                  </a:r>
                  <a:r>
                    <a:rPr lang="en-US" altLang="zh-CN" sz="2400" b="1" baseline="-25000" dirty="0"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201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873432" y="1644650"/>
                  <a:ext cx="588963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l-GR" altLang="zh-CN" sz="2400" b="1" dirty="0">
                      <a:cs typeface="Times New Roman" panose="02020603050405020304" pitchFamily="18" charset="0"/>
                    </a:rPr>
                    <a:t>Δ</a:t>
                  </a:r>
                  <a:r>
                    <a:rPr lang="en-US" altLang="zh-CN" sz="2400" b="1" i="1" dirty="0">
                      <a:cs typeface="Times New Roman" panose="02020603050405020304" pitchFamily="18" charset="0"/>
                    </a:rPr>
                    <a:t>h</a:t>
                  </a:r>
                </a:p>
              </p:txBody>
            </p:sp>
            <p:sp>
              <p:nvSpPr>
                <p:cNvPr id="202" name="Line 43"/>
                <p:cNvSpPr>
                  <a:spLocks noChangeShapeType="1"/>
                </p:cNvSpPr>
                <p:nvPr/>
              </p:nvSpPr>
              <p:spPr bwMode="auto">
                <a:xfrm>
                  <a:off x="4801990" y="2420938"/>
                  <a:ext cx="360363" cy="0"/>
                </a:xfrm>
                <a:prstGeom prst="line">
                  <a:avLst/>
                </a:prstGeom>
                <a:noFill/>
                <a:ln w="12700">
                  <a:solidFill>
                    <a:srgbClr val="3333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" name="Freeform 44"/>
                <p:cNvSpPr>
                  <a:spLocks/>
                </p:cNvSpPr>
                <p:nvPr/>
              </p:nvSpPr>
              <p:spPr bwMode="auto">
                <a:xfrm>
                  <a:off x="4948040" y="2420791"/>
                  <a:ext cx="28575" cy="1160463"/>
                </a:xfrm>
                <a:custGeom>
                  <a:avLst/>
                  <a:gdLst>
                    <a:gd name="T0" fmla="*/ 18 w 18"/>
                    <a:gd name="T1" fmla="*/ 0 h 731"/>
                    <a:gd name="T2" fmla="*/ 0 w 18"/>
                    <a:gd name="T3" fmla="*/ 731 h 731"/>
                    <a:gd name="T4" fmla="*/ 0 60000 65536"/>
                    <a:gd name="T5" fmla="*/ 0 60000 65536"/>
                    <a:gd name="T6" fmla="*/ 0 w 18"/>
                    <a:gd name="T7" fmla="*/ 0 h 731"/>
                    <a:gd name="T8" fmla="*/ 18 w 18"/>
                    <a:gd name="T9" fmla="*/ 731 h 73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8" h="731">
                      <a:moveTo>
                        <a:pt x="18" y="0"/>
                      </a:moveTo>
                      <a:lnTo>
                        <a:pt x="0" y="731"/>
                      </a:lnTo>
                    </a:path>
                  </a:pathLst>
                </a:custGeom>
                <a:noFill/>
                <a:ln w="12700">
                  <a:solidFill>
                    <a:srgbClr val="333333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982965" y="2724151"/>
                  <a:ext cx="274638" cy="4619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r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400" b="1" i="1" dirty="0">
                      <a:cs typeface="Times New Roman" panose="02020603050405020304" pitchFamily="18" charset="0"/>
                    </a:rPr>
                    <a:t>h</a:t>
                  </a:r>
                  <a:r>
                    <a:rPr lang="en-US" altLang="zh-CN" sz="2400" b="1" baseline="-25000" dirty="0"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sp>
            <p:nvSpPr>
              <p:cNvPr id="158" name="Text Box 46"/>
              <p:cNvSpPr txBox="1">
                <a:spLocks noChangeArrowheads="1"/>
              </p:cNvSpPr>
              <p:nvPr/>
            </p:nvSpPr>
            <p:spPr bwMode="auto">
              <a:xfrm>
                <a:off x="8712567" y="3430546"/>
                <a:ext cx="128588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59" name="Text Box 47"/>
              <p:cNvSpPr txBox="1">
                <a:spLocks noChangeArrowheads="1"/>
              </p:cNvSpPr>
              <p:nvPr/>
            </p:nvSpPr>
            <p:spPr bwMode="auto">
              <a:xfrm>
                <a:off x="5374054" y="3430546"/>
                <a:ext cx="128588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60" name="Line 48"/>
              <p:cNvSpPr>
                <a:spLocks noChangeShapeType="1"/>
              </p:cNvSpPr>
              <p:nvPr/>
            </p:nvSpPr>
            <p:spPr bwMode="auto">
              <a:xfrm>
                <a:off x="6013817" y="2420896"/>
                <a:ext cx="3603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1" name="Freeform 49"/>
              <p:cNvSpPr>
                <a:spLocks/>
              </p:cNvSpPr>
              <p:nvPr/>
            </p:nvSpPr>
            <p:spPr bwMode="auto">
              <a:xfrm>
                <a:off x="6153811" y="2417427"/>
                <a:ext cx="1588" cy="306000"/>
              </a:xfrm>
              <a:custGeom>
                <a:avLst/>
                <a:gdLst>
                  <a:gd name="T0" fmla="*/ 0 w 1"/>
                  <a:gd name="T1" fmla="*/ 0 h 203"/>
                  <a:gd name="T2" fmla="*/ 0 w 1"/>
                  <a:gd name="T3" fmla="*/ 203 h 203"/>
                  <a:gd name="T4" fmla="*/ 0 60000 65536"/>
                  <a:gd name="T5" fmla="*/ 0 60000 65536"/>
                  <a:gd name="T6" fmla="*/ 0 w 1"/>
                  <a:gd name="T7" fmla="*/ 0 h 203"/>
                  <a:gd name="T8" fmla="*/ 1 w 1"/>
                  <a:gd name="T9" fmla="*/ 203 h 20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03">
                    <a:moveTo>
                      <a:pt x="0" y="0"/>
                    </a:moveTo>
                    <a:lnTo>
                      <a:pt x="0" y="203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2" name="Text Box 50"/>
              <p:cNvSpPr txBox="1">
                <a:spLocks noChangeArrowheads="1"/>
              </p:cNvSpPr>
              <p:nvPr/>
            </p:nvSpPr>
            <p:spPr bwMode="auto">
              <a:xfrm>
                <a:off x="5736306" y="2335171"/>
                <a:ext cx="26609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 err="1">
                    <a:cs typeface="Times New Roman" panose="02020603050405020304" pitchFamily="18" charset="0"/>
                  </a:rPr>
                  <a:t>h</a:t>
                </a:r>
                <a:r>
                  <a:rPr lang="en-US" altLang="zh-CN" sz="2000" b="1" baseline="-25000" dirty="0" err="1">
                    <a:cs typeface="Times New Roman" panose="02020603050405020304" pitchFamily="18" charset="0"/>
                  </a:rPr>
                  <a:t>w</a:t>
                </a:r>
                <a:endParaRPr lang="en-US" altLang="zh-CN" sz="2000" b="1" baseline="-25000" dirty="0"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3" name="Group 51"/>
              <p:cNvGrpSpPr>
                <a:grpSpLocks/>
              </p:cNvGrpSpPr>
              <p:nvPr/>
            </p:nvGrpSpPr>
            <p:grpSpPr bwMode="auto">
              <a:xfrm>
                <a:off x="4737466" y="758783"/>
                <a:ext cx="3940175" cy="3595688"/>
                <a:chOff x="3030" y="476"/>
                <a:chExt cx="2482" cy="2265"/>
              </a:xfrm>
            </p:grpSpPr>
            <p:sp>
              <p:nvSpPr>
                <p:cNvPr id="178" name="Line 52"/>
                <p:cNvSpPr>
                  <a:spLocks noChangeShapeType="1"/>
                </p:cNvSpPr>
                <p:nvPr/>
              </p:nvSpPr>
              <p:spPr bwMode="auto">
                <a:xfrm>
                  <a:off x="3562" y="2261"/>
                  <a:ext cx="1950" cy="0"/>
                </a:xfrm>
                <a:prstGeom prst="line">
                  <a:avLst/>
                </a:prstGeom>
                <a:noFill/>
                <a:ln w="12700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3785" y="1832"/>
                  <a:ext cx="9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000" b="1" i="1" dirty="0">
                      <a:cs typeface="Times New Roman" panose="02020603050405020304" pitchFamily="18" charset="0"/>
                    </a:rPr>
                    <a:t>L</a:t>
                  </a:r>
                </a:p>
              </p:txBody>
            </p:sp>
            <p:grpSp>
              <p:nvGrpSpPr>
                <p:cNvPr id="180" name="Group 54"/>
                <p:cNvGrpSpPr>
                  <a:grpSpLocks/>
                </p:cNvGrpSpPr>
                <p:nvPr/>
              </p:nvGrpSpPr>
              <p:grpSpPr bwMode="auto">
                <a:xfrm>
                  <a:off x="3030" y="476"/>
                  <a:ext cx="2029" cy="2265"/>
                  <a:chOff x="3030" y="476"/>
                  <a:chExt cx="2029" cy="2265"/>
                </a:xfrm>
              </p:grpSpPr>
              <p:grpSp>
                <p:nvGrpSpPr>
                  <p:cNvPr id="181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3030" y="701"/>
                    <a:ext cx="1797" cy="2040"/>
                    <a:chOff x="1713" y="918"/>
                    <a:chExt cx="1797" cy="2040"/>
                  </a:xfrm>
                </p:grpSpPr>
                <p:sp>
                  <p:nvSpPr>
                    <p:cNvPr id="193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1973" y="1730"/>
                      <a:ext cx="973" cy="1162"/>
                    </a:xfrm>
                    <a:custGeom>
                      <a:avLst/>
                      <a:gdLst>
                        <a:gd name="T0" fmla="*/ 807 w 973"/>
                        <a:gd name="T1" fmla="*/ 0 h 1162"/>
                        <a:gd name="T2" fmla="*/ 805 w 973"/>
                        <a:gd name="T3" fmla="*/ 946 h 1162"/>
                        <a:gd name="T4" fmla="*/ 967 w 973"/>
                        <a:gd name="T5" fmla="*/ 946 h 1162"/>
                        <a:gd name="T6" fmla="*/ 973 w 973"/>
                        <a:gd name="T7" fmla="*/ 1159 h 1162"/>
                        <a:gd name="T8" fmla="*/ 4 w 973"/>
                        <a:gd name="T9" fmla="*/ 1162 h 1162"/>
                        <a:gd name="T10" fmla="*/ 0 w 973"/>
                        <a:gd name="T11" fmla="*/ 158 h 1162"/>
                        <a:gd name="T12" fmla="*/ 151 w 973"/>
                        <a:gd name="T13" fmla="*/ 154 h 1162"/>
                        <a:gd name="T14" fmla="*/ 151 w 973"/>
                        <a:gd name="T15" fmla="*/ 1 h 116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973"/>
                        <a:gd name="T25" fmla="*/ 0 h 1162"/>
                        <a:gd name="T26" fmla="*/ 973 w 973"/>
                        <a:gd name="T27" fmla="*/ 1162 h 1162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973" h="1162">
                          <a:moveTo>
                            <a:pt x="807" y="0"/>
                          </a:moveTo>
                          <a:lnTo>
                            <a:pt x="805" y="946"/>
                          </a:lnTo>
                          <a:lnTo>
                            <a:pt x="967" y="946"/>
                          </a:lnTo>
                          <a:lnTo>
                            <a:pt x="973" y="1159"/>
                          </a:lnTo>
                          <a:lnTo>
                            <a:pt x="4" y="1162"/>
                          </a:lnTo>
                          <a:lnTo>
                            <a:pt x="0" y="158"/>
                          </a:lnTo>
                          <a:lnTo>
                            <a:pt x="151" y="154"/>
                          </a:lnTo>
                          <a:lnTo>
                            <a:pt x="151" y="1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94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1713" y="921"/>
                      <a:ext cx="1797" cy="2037"/>
                    </a:xfrm>
                    <a:custGeom>
                      <a:avLst/>
                      <a:gdLst>
                        <a:gd name="T0" fmla="*/ 0 w 1797"/>
                        <a:gd name="T1" fmla="*/ 804 h 2037"/>
                        <a:gd name="T2" fmla="*/ 0 w 1797"/>
                        <a:gd name="T3" fmla="*/ 966 h 2037"/>
                        <a:gd name="T4" fmla="*/ 186 w 1797"/>
                        <a:gd name="T5" fmla="*/ 969 h 2037"/>
                        <a:gd name="T6" fmla="*/ 183 w 1797"/>
                        <a:gd name="T7" fmla="*/ 2035 h 2037"/>
                        <a:gd name="T8" fmla="*/ 1311 w 1797"/>
                        <a:gd name="T9" fmla="*/ 2037 h 2037"/>
                        <a:gd name="T10" fmla="*/ 1311 w 1797"/>
                        <a:gd name="T11" fmla="*/ 1764 h 2037"/>
                        <a:gd name="T12" fmla="*/ 1485 w 1797"/>
                        <a:gd name="T13" fmla="*/ 1764 h 2037"/>
                        <a:gd name="T14" fmla="*/ 1488 w 1797"/>
                        <a:gd name="T15" fmla="*/ 1590 h 2037"/>
                        <a:gd name="T16" fmla="*/ 1790 w 1797"/>
                        <a:gd name="T17" fmla="*/ 1589 h 2037"/>
                        <a:gd name="T18" fmla="*/ 1797 w 1797"/>
                        <a:gd name="T19" fmla="*/ 0 h 2037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1797"/>
                        <a:gd name="T31" fmla="*/ 0 h 2037"/>
                        <a:gd name="T32" fmla="*/ 1797 w 1797"/>
                        <a:gd name="T33" fmla="*/ 2037 h 2037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1797" h="2037">
                          <a:moveTo>
                            <a:pt x="0" y="804"/>
                          </a:moveTo>
                          <a:lnTo>
                            <a:pt x="0" y="966"/>
                          </a:lnTo>
                          <a:lnTo>
                            <a:pt x="186" y="969"/>
                          </a:lnTo>
                          <a:lnTo>
                            <a:pt x="183" y="2035"/>
                          </a:lnTo>
                          <a:lnTo>
                            <a:pt x="1311" y="2037"/>
                          </a:lnTo>
                          <a:lnTo>
                            <a:pt x="1311" y="1764"/>
                          </a:lnTo>
                          <a:lnTo>
                            <a:pt x="1485" y="1764"/>
                          </a:lnTo>
                          <a:lnTo>
                            <a:pt x="1488" y="1590"/>
                          </a:lnTo>
                          <a:lnTo>
                            <a:pt x="1790" y="1589"/>
                          </a:lnTo>
                          <a:lnTo>
                            <a:pt x="1797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95" name="Freeform 58"/>
                    <p:cNvSpPr>
                      <a:spLocks/>
                    </p:cNvSpPr>
                    <p:nvPr/>
                  </p:nvSpPr>
                  <p:spPr bwMode="auto">
                    <a:xfrm>
                      <a:off x="3195" y="926"/>
                      <a:ext cx="89" cy="991"/>
                    </a:xfrm>
                    <a:custGeom>
                      <a:avLst/>
                      <a:gdLst>
                        <a:gd name="T0" fmla="*/ 0 w 89"/>
                        <a:gd name="T1" fmla="*/ 811 h 991"/>
                        <a:gd name="T2" fmla="*/ 0 w 89"/>
                        <a:gd name="T3" fmla="*/ 991 h 991"/>
                        <a:gd name="T4" fmla="*/ 89 w 89"/>
                        <a:gd name="T5" fmla="*/ 990 h 991"/>
                        <a:gd name="T6" fmla="*/ 89 w 89"/>
                        <a:gd name="T7" fmla="*/ 0 h 991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89"/>
                        <a:gd name="T13" fmla="*/ 0 h 991"/>
                        <a:gd name="T14" fmla="*/ 89 w 89"/>
                        <a:gd name="T15" fmla="*/ 991 h 991"/>
                        <a:gd name="connsiteX0" fmla="*/ 0 w 10000"/>
                        <a:gd name="connsiteY0" fmla="*/ 8103 h 10000"/>
                        <a:gd name="connsiteX1" fmla="*/ 0 w 10000"/>
                        <a:gd name="connsiteY1" fmla="*/ 10000 h 10000"/>
                        <a:gd name="connsiteX2" fmla="*/ 10000 w 10000"/>
                        <a:gd name="connsiteY2" fmla="*/ 9990 h 10000"/>
                        <a:gd name="connsiteX3" fmla="*/ 10000 w 10000"/>
                        <a:gd name="connsiteY3" fmla="*/ 0 h 1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000" h="10000">
                          <a:moveTo>
                            <a:pt x="0" y="8103"/>
                          </a:moveTo>
                          <a:lnTo>
                            <a:pt x="0" y="10000"/>
                          </a:lnTo>
                          <a:lnTo>
                            <a:pt x="10000" y="9990"/>
                          </a:lnTo>
                          <a:lnTo>
                            <a:pt x="10000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96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3198" y="918"/>
                      <a:ext cx="264" cy="1551"/>
                    </a:xfrm>
                    <a:custGeom>
                      <a:avLst/>
                      <a:gdLst>
                        <a:gd name="T0" fmla="*/ 135 w 264"/>
                        <a:gd name="T1" fmla="*/ 6 h 1551"/>
                        <a:gd name="T2" fmla="*/ 135 w 264"/>
                        <a:gd name="T3" fmla="*/ 1035 h 1551"/>
                        <a:gd name="T4" fmla="*/ 0 w 264"/>
                        <a:gd name="T5" fmla="*/ 1032 h 1551"/>
                        <a:gd name="T6" fmla="*/ 0 w 264"/>
                        <a:gd name="T7" fmla="*/ 1551 h 1551"/>
                        <a:gd name="T8" fmla="*/ 264 w 264"/>
                        <a:gd name="T9" fmla="*/ 1551 h 1551"/>
                        <a:gd name="T10" fmla="*/ 264 w 264"/>
                        <a:gd name="T11" fmla="*/ 0 h 1551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64"/>
                        <a:gd name="T19" fmla="*/ 0 h 1551"/>
                        <a:gd name="T20" fmla="*/ 264 w 264"/>
                        <a:gd name="T21" fmla="*/ 1551 h 1551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64" h="1551">
                          <a:moveTo>
                            <a:pt x="135" y="6"/>
                          </a:moveTo>
                          <a:lnTo>
                            <a:pt x="135" y="1035"/>
                          </a:lnTo>
                          <a:lnTo>
                            <a:pt x="0" y="1032"/>
                          </a:lnTo>
                          <a:lnTo>
                            <a:pt x="0" y="1551"/>
                          </a:lnTo>
                          <a:lnTo>
                            <a:pt x="264" y="1551"/>
                          </a:lnTo>
                          <a:lnTo>
                            <a:pt x="264" y="0"/>
                          </a:ln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82" name="Freeform 60"/>
                  <p:cNvSpPr>
                    <a:spLocks/>
                  </p:cNvSpPr>
                  <p:nvPr/>
                </p:nvSpPr>
                <p:spPr bwMode="auto">
                  <a:xfrm>
                    <a:off x="3922" y="1714"/>
                    <a:ext cx="1" cy="550"/>
                  </a:xfrm>
                  <a:custGeom>
                    <a:avLst/>
                    <a:gdLst>
                      <a:gd name="T0" fmla="*/ 1 w 1"/>
                      <a:gd name="T1" fmla="*/ 0 h 550"/>
                      <a:gd name="T2" fmla="*/ 0 w 1"/>
                      <a:gd name="T3" fmla="*/ 550 h 550"/>
                      <a:gd name="T4" fmla="*/ 0 60000 65536"/>
                      <a:gd name="T5" fmla="*/ 0 60000 65536"/>
                      <a:gd name="T6" fmla="*/ 0 w 1"/>
                      <a:gd name="T7" fmla="*/ 0 h 550"/>
                      <a:gd name="T8" fmla="*/ 1 w 1"/>
                      <a:gd name="T9" fmla="*/ 550 h 55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1" h="550">
                        <a:moveTo>
                          <a:pt x="1" y="0"/>
                        </a:moveTo>
                        <a:lnTo>
                          <a:pt x="0" y="55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83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834" y="1716"/>
                    <a:ext cx="227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84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4095" y="1716"/>
                    <a:ext cx="420" cy="549"/>
                    <a:chOff x="3805" y="2069"/>
                    <a:chExt cx="420" cy="549"/>
                  </a:xfrm>
                </p:grpSpPr>
                <p:sp>
                  <p:nvSpPr>
                    <p:cNvPr id="191" name="Freeform 63"/>
                    <p:cNvSpPr>
                      <a:spLocks/>
                    </p:cNvSpPr>
                    <p:nvPr/>
                  </p:nvSpPr>
                  <p:spPr bwMode="auto">
                    <a:xfrm>
                      <a:off x="3805" y="2069"/>
                      <a:ext cx="420" cy="549"/>
                    </a:xfrm>
                    <a:custGeom>
                      <a:avLst/>
                      <a:gdLst>
                        <a:gd name="T0" fmla="*/ 408 w 412"/>
                        <a:gd name="T1" fmla="*/ 0 h 554"/>
                        <a:gd name="T2" fmla="*/ 412 w 412"/>
                        <a:gd name="T3" fmla="*/ 550 h 554"/>
                        <a:gd name="T4" fmla="*/ 0 w 412"/>
                        <a:gd name="T5" fmla="*/ 554 h 554"/>
                        <a:gd name="T6" fmla="*/ 4 w 412"/>
                        <a:gd name="T7" fmla="*/ 0 h 554"/>
                        <a:gd name="T8" fmla="*/ 408 w 412"/>
                        <a:gd name="T9" fmla="*/ 0 h 55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412"/>
                        <a:gd name="T16" fmla="*/ 0 h 554"/>
                        <a:gd name="T17" fmla="*/ 412 w 412"/>
                        <a:gd name="T18" fmla="*/ 554 h 55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412" h="554">
                          <a:moveTo>
                            <a:pt x="408" y="0"/>
                          </a:moveTo>
                          <a:lnTo>
                            <a:pt x="412" y="550"/>
                          </a:lnTo>
                          <a:lnTo>
                            <a:pt x="0" y="554"/>
                          </a:lnTo>
                          <a:lnTo>
                            <a:pt x="4" y="0"/>
                          </a:lnTo>
                          <a:lnTo>
                            <a:pt x="408" y="0"/>
                          </a:lnTo>
                          <a:close/>
                        </a:path>
                      </a:pathLst>
                    </a:custGeom>
                    <a:solidFill>
                      <a:srgbClr val="FF9900">
                        <a:alpha val="50195"/>
                      </a:srgb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92" name="Text Box 6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16" y="2222"/>
                      <a:ext cx="368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algn="ctr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lnSpc>
                          <a:spcPct val="115000"/>
                        </a:lnSpc>
                        <a:spcBef>
                          <a:spcPct val="15000"/>
                        </a:spcBef>
                        <a:spcAft>
                          <a:spcPct val="1500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lnSpc>
                          <a:spcPct val="115000"/>
                        </a:lnSpc>
                        <a:spcBef>
                          <a:spcPct val="15000"/>
                        </a:spcBef>
                        <a:spcAft>
                          <a:spcPct val="1500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lnSpc>
                          <a:spcPct val="115000"/>
                        </a:lnSpc>
                        <a:spcBef>
                          <a:spcPct val="15000"/>
                        </a:spcBef>
                        <a:spcAft>
                          <a:spcPct val="1500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lnSpc>
                          <a:spcPct val="115000"/>
                        </a:lnSpc>
                        <a:spcBef>
                          <a:spcPct val="15000"/>
                        </a:spcBef>
                        <a:spcAft>
                          <a:spcPct val="15000"/>
                        </a:spcAft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>
                          <a:solidFill>
                            <a:srgbClr val="800000"/>
                          </a:solidFill>
                          <a:latin typeface="Arial" charset="0"/>
                        </a:rPr>
                        <a:t>土样</a:t>
                      </a:r>
                    </a:p>
                  </p:txBody>
                </p:sp>
              </p:grpSp>
              <p:sp>
                <p:nvSpPr>
                  <p:cNvPr id="185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51" y="2442"/>
                    <a:ext cx="40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zh-CN" altLang="en-US" sz="2000" b="1">
                        <a:latin typeface="Arial" charset="0"/>
                        <a:ea typeface="幼圆" pitchFamily="49" charset="-122"/>
                      </a:rPr>
                      <a:t>滤网</a:t>
                    </a:r>
                  </a:p>
                </p:txBody>
              </p:sp>
              <p:sp>
                <p:nvSpPr>
                  <p:cNvPr id="186" name="Line 6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24" y="2261"/>
                    <a:ext cx="227" cy="2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4104" y="2265"/>
                    <a:ext cx="409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8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5" y="1122"/>
                    <a:ext cx="529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zh-CN" altLang="en-US" sz="2000" b="1" dirty="0">
                        <a:solidFill>
                          <a:srgbClr val="800000"/>
                        </a:solidFill>
                        <a:latin typeface="Arial" charset="0"/>
                      </a:rPr>
                      <a:t>贮水器</a:t>
                    </a:r>
                  </a:p>
                </p:txBody>
              </p:sp>
              <p:sp>
                <p:nvSpPr>
                  <p:cNvPr id="189" name="Text Box 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62" y="476"/>
                    <a:ext cx="81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2000" b="1" dirty="0">
                        <a:solidFill>
                          <a:srgbClr val="800000"/>
                        </a:solidFill>
                        <a:cs typeface="Times New Roman" panose="02020603050405020304" pitchFamily="18" charset="0"/>
                      </a:rPr>
                      <a:t>a</a:t>
                    </a:r>
                  </a:p>
                </p:txBody>
              </p:sp>
              <p:sp>
                <p:nvSpPr>
                  <p:cNvPr id="190" name="Text Box 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38" y="476"/>
                    <a:ext cx="90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lnSpc>
                        <a:spcPct val="115000"/>
                      </a:lnSpc>
                      <a:spcBef>
                        <a:spcPct val="15000"/>
                      </a:spcBef>
                      <a:spcAft>
                        <a:spcPct val="15000"/>
                      </a:spcAft>
                      <a:defRPr sz="1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2000" b="1" dirty="0">
                        <a:solidFill>
                          <a:srgbClr val="800000"/>
                        </a:solidFill>
                        <a:cs typeface="Times New Roman" panose="02020603050405020304" pitchFamily="18" charset="0"/>
                      </a:rPr>
                      <a:t>b</a:t>
                    </a:r>
                  </a:p>
                </p:txBody>
              </p:sp>
            </p:grpSp>
          </p:grpSp>
          <p:grpSp>
            <p:nvGrpSpPr>
              <p:cNvPr id="164" name="组合 163"/>
              <p:cNvGrpSpPr/>
              <p:nvPr/>
            </p:nvGrpSpPr>
            <p:grpSpPr>
              <a:xfrm>
                <a:off x="4702360" y="2212768"/>
                <a:ext cx="763653" cy="525631"/>
                <a:chOff x="1787146" y="2209635"/>
                <a:chExt cx="763653" cy="525631"/>
              </a:xfrm>
            </p:grpSpPr>
            <p:sp>
              <p:nvSpPr>
                <p:cNvPr id="176" name="矩形 175"/>
                <p:cNvSpPr/>
                <p:nvPr/>
              </p:nvSpPr>
              <p:spPr bwMode="auto">
                <a:xfrm>
                  <a:off x="1787146" y="2209635"/>
                  <a:ext cx="763653" cy="525631"/>
                </a:xfrm>
                <a:prstGeom prst="rect">
                  <a:avLst/>
                </a:prstGeom>
                <a:solidFill>
                  <a:srgbClr val="CCECFF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77" name="任意多边形 176"/>
                <p:cNvSpPr/>
                <p:nvPr/>
              </p:nvSpPr>
              <p:spPr bwMode="auto">
                <a:xfrm>
                  <a:off x="1816899" y="2398069"/>
                  <a:ext cx="656543" cy="253889"/>
                </a:xfrm>
                <a:custGeom>
                  <a:avLst/>
                  <a:gdLst>
                    <a:gd name="connsiteX0" fmla="*/ 0 w 656543"/>
                    <a:gd name="connsiteY0" fmla="*/ 0 h 253889"/>
                    <a:gd name="connsiteX1" fmla="*/ 0 w 656543"/>
                    <a:gd name="connsiteY1" fmla="*/ 253889 h 253889"/>
                    <a:gd name="connsiteX2" fmla="*/ 656543 w 656543"/>
                    <a:gd name="connsiteY2" fmla="*/ 253889 h 253889"/>
                    <a:gd name="connsiteX3" fmla="*/ 656543 w 656543"/>
                    <a:gd name="connsiteY3" fmla="*/ 0 h 25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6543" h="253889">
                      <a:moveTo>
                        <a:pt x="0" y="0"/>
                      </a:moveTo>
                      <a:lnTo>
                        <a:pt x="0" y="253889"/>
                      </a:lnTo>
                      <a:lnTo>
                        <a:pt x="656543" y="253889"/>
                      </a:lnTo>
                      <a:lnTo>
                        <a:pt x="656543" y="0"/>
                      </a:lnTo>
                    </a:path>
                  </a:pathLst>
                </a:custGeom>
                <a:noFill/>
                <a:ln w="19050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65" name="组合 164"/>
              <p:cNvGrpSpPr/>
              <p:nvPr/>
            </p:nvGrpSpPr>
            <p:grpSpPr>
              <a:xfrm>
                <a:off x="4728071" y="1131440"/>
                <a:ext cx="671513" cy="1709140"/>
                <a:chOff x="6918421" y="1525203"/>
                <a:chExt cx="671513" cy="1709140"/>
              </a:xfrm>
            </p:grpSpPr>
            <p:sp>
              <p:nvSpPr>
                <p:cNvPr id="166" name="Freeform 8"/>
                <p:cNvSpPr>
                  <a:spLocks/>
                </p:cNvSpPr>
                <p:nvPr/>
              </p:nvSpPr>
              <p:spPr bwMode="auto">
                <a:xfrm>
                  <a:off x="6918421" y="1689959"/>
                  <a:ext cx="671513" cy="1544384"/>
                </a:xfrm>
                <a:custGeom>
                  <a:avLst/>
                  <a:gdLst>
                    <a:gd name="T0" fmla="*/ 263 w 423"/>
                    <a:gd name="T1" fmla="*/ 691 h 701"/>
                    <a:gd name="T2" fmla="*/ 263 w 423"/>
                    <a:gd name="T3" fmla="*/ 182 h 701"/>
                    <a:gd name="T4" fmla="*/ 423 w 423"/>
                    <a:gd name="T5" fmla="*/ 185 h 701"/>
                    <a:gd name="T6" fmla="*/ 419 w 423"/>
                    <a:gd name="T7" fmla="*/ 0 h 701"/>
                    <a:gd name="T8" fmla="*/ 0 w 423"/>
                    <a:gd name="T9" fmla="*/ 0 h 701"/>
                    <a:gd name="T10" fmla="*/ 0 w 423"/>
                    <a:gd name="T11" fmla="*/ 182 h 701"/>
                    <a:gd name="T12" fmla="*/ 186 w 423"/>
                    <a:gd name="T13" fmla="*/ 182 h 701"/>
                    <a:gd name="T14" fmla="*/ 192 w 423"/>
                    <a:gd name="T15" fmla="*/ 701 h 701"/>
                    <a:gd name="T16" fmla="*/ 263 w 423"/>
                    <a:gd name="T17" fmla="*/ 691 h 70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423"/>
                    <a:gd name="T28" fmla="*/ 0 h 701"/>
                    <a:gd name="T29" fmla="*/ 423 w 423"/>
                    <a:gd name="T30" fmla="*/ 701 h 701"/>
                    <a:gd name="connsiteX0" fmla="*/ 6217 w 10000"/>
                    <a:gd name="connsiteY0" fmla="*/ 9857 h 10000"/>
                    <a:gd name="connsiteX1" fmla="*/ 6217 w 10000"/>
                    <a:gd name="connsiteY1" fmla="*/ 2596 h 10000"/>
                    <a:gd name="connsiteX2" fmla="*/ 10000 w 10000"/>
                    <a:gd name="connsiteY2" fmla="*/ 2639 h 10000"/>
                    <a:gd name="connsiteX3" fmla="*/ 9905 w 10000"/>
                    <a:gd name="connsiteY3" fmla="*/ 0 h 10000"/>
                    <a:gd name="connsiteX4" fmla="*/ 148 w 10000"/>
                    <a:gd name="connsiteY4" fmla="*/ 321 h 10000"/>
                    <a:gd name="connsiteX5" fmla="*/ 0 w 10000"/>
                    <a:gd name="connsiteY5" fmla="*/ 2596 h 10000"/>
                    <a:gd name="connsiteX6" fmla="*/ 4397 w 10000"/>
                    <a:gd name="connsiteY6" fmla="*/ 2596 h 10000"/>
                    <a:gd name="connsiteX7" fmla="*/ 4539 w 10000"/>
                    <a:gd name="connsiteY7" fmla="*/ 10000 h 10000"/>
                    <a:gd name="connsiteX8" fmla="*/ 6217 w 10000"/>
                    <a:gd name="connsiteY8" fmla="*/ 9857 h 10000"/>
                    <a:gd name="connsiteX0" fmla="*/ 6217 w 10000"/>
                    <a:gd name="connsiteY0" fmla="*/ 9536 h 9679"/>
                    <a:gd name="connsiteX1" fmla="*/ 6217 w 10000"/>
                    <a:gd name="connsiteY1" fmla="*/ 2275 h 9679"/>
                    <a:gd name="connsiteX2" fmla="*/ 10000 w 10000"/>
                    <a:gd name="connsiteY2" fmla="*/ 2318 h 9679"/>
                    <a:gd name="connsiteX3" fmla="*/ 9935 w 10000"/>
                    <a:gd name="connsiteY3" fmla="*/ 71 h 9679"/>
                    <a:gd name="connsiteX4" fmla="*/ 148 w 10000"/>
                    <a:gd name="connsiteY4" fmla="*/ 0 h 9679"/>
                    <a:gd name="connsiteX5" fmla="*/ 0 w 10000"/>
                    <a:gd name="connsiteY5" fmla="*/ 2275 h 9679"/>
                    <a:gd name="connsiteX6" fmla="*/ 4397 w 10000"/>
                    <a:gd name="connsiteY6" fmla="*/ 2275 h 9679"/>
                    <a:gd name="connsiteX7" fmla="*/ 4539 w 10000"/>
                    <a:gd name="connsiteY7" fmla="*/ 9679 h 9679"/>
                    <a:gd name="connsiteX8" fmla="*/ 6217 w 10000"/>
                    <a:gd name="connsiteY8" fmla="*/ 9536 h 9679"/>
                    <a:gd name="connsiteX0" fmla="*/ 6217 w 10000"/>
                    <a:gd name="connsiteY0" fmla="*/ 9852 h 10000"/>
                    <a:gd name="connsiteX1" fmla="*/ 6217 w 10000"/>
                    <a:gd name="connsiteY1" fmla="*/ 2350 h 10000"/>
                    <a:gd name="connsiteX2" fmla="*/ 10000 w 10000"/>
                    <a:gd name="connsiteY2" fmla="*/ 2395 h 10000"/>
                    <a:gd name="connsiteX3" fmla="*/ 9905 w 10000"/>
                    <a:gd name="connsiteY3" fmla="*/ 18 h 10000"/>
                    <a:gd name="connsiteX4" fmla="*/ 148 w 10000"/>
                    <a:gd name="connsiteY4" fmla="*/ 0 h 10000"/>
                    <a:gd name="connsiteX5" fmla="*/ 0 w 10000"/>
                    <a:gd name="connsiteY5" fmla="*/ 2350 h 10000"/>
                    <a:gd name="connsiteX6" fmla="*/ 4397 w 10000"/>
                    <a:gd name="connsiteY6" fmla="*/ 2350 h 10000"/>
                    <a:gd name="connsiteX7" fmla="*/ 4539 w 10000"/>
                    <a:gd name="connsiteY7" fmla="*/ 10000 h 10000"/>
                    <a:gd name="connsiteX8" fmla="*/ 6217 w 10000"/>
                    <a:gd name="connsiteY8" fmla="*/ 9852 h 10000"/>
                    <a:gd name="connsiteX0" fmla="*/ 6217 w 10000"/>
                    <a:gd name="connsiteY0" fmla="*/ 9852 h 10000"/>
                    <a:gd name="connsiteX1" fmla="*/ 6217 w 10000"/>
                    <a:gd name="connsiteY1" fmla="*/ 2350 h 10000"/>
                    <a:gd name="connsiteX2" fmla="*/ 10000 w 10000"/>
                    <a:gd name="connsiteY2" fmla="*/ 2395 h 10000"/>
                    <a:gd name="connsiteX3" fmla="*/ 9905 w 10000"/>
                    <a:gd name="connsiteY3" fmla="*/ 18 h 10000"/>
                    <a:gd name="connsiteX4" fmla="*/ 178 w 10000"/>
                    <a:gd name="connsiteY4" fmla="*/ 45 h 10000"/>
                    <a:gd name="connsiteX5" fmla="*/ 148 w 10000"/>
                    <a:gd name="connsiteY5" fmla="*/ 0 h 10000"/>
                    <a:gd name="connsiteX6" fmla="*/ 0 w 10000"/>
                    <a:gd name="connsiteY6" fmla="*/ 2350 h 10000"/>
                    <a:gd name="connsiteX7" fmla="*/ 4397 w 10000"/>
                    <a:gd name="connsiteY7" fmla="*/ 2350 h 10000"/>
                    <a:gd name="connsiteX8" fmla="*/ 4539 w 10000"/>
                    <a:gd name="connsiteY8" fmla="*/ 10000 h 10000"/>
                    <a:gd name="connsiteX9" fmla="*/ 6217 w 10000"/>
                    <a:gd name="connsiteY9" fmla="*/ 9852 h 10000"/>
                    <a:gd name="connsiteX0" fmla="*/ 6217 w 10000"/>
                    <a:gd name="connsiteY0" fmla="*/ 9834 h 9982"/>
                    <a:gd name="connsiteX1" fmla="*/ 6217 w 10000"/>
                    <a:gd name="connsiteY1" fmla="*/ 2332 h 9982"/>
                    <a:gd name="connsiteX2" fmla="*/ 10000 w 10000"/>
                    <a:gd name="connsiteY2" fmla="*/ 2377 h 9982"/>
                    <a:gd name="connsiteX3" fmla="*/ 9905 w 10000"/>
                    <a:gd name="connsiteY3" fmla="*/ 0 h 9982"/>
                    <a:gd name="connsiteX4" fmla="*/ 178 w 10000"/>
                    <a:gd name="connsiteY4" fmla="*/ 27 h 9982"/>
                    <a:gd name="connsiteX5" fmla="*/ 0 w 10000"/>
                    <a:gd name="connsiteY5" fmla="*/ 2332 h 9982"/>
                    <a:gd name="connsiteX6" fmla="*/ 4397 w 10000"/>
                    <a:gd name="connsiteY6" fmla="*/ 2332 h 9982"/>
                    <a:gd name="connsiteX7" fmla="*/ 4539 w 10000"/>
                    <a:gd name="connsiteY7" fmla="*/ 9982 h 9982"/>
                    <a:gd name="connsiteX8" fmla="*/ 6217 w 10000"/>
                    <a:gd name="connsiteY8" fmla="*/ 9834 h 9982"/>
                    <a:gd name="connsiteX0" fmla="*/ 6217 w 10000"/>
                    <a:gd name="connsiteY0" fmla="*/ 9899 h 10047"/>
                    <a:gd name="connsiteX1" fmla="*/ 6217 w 10000"/>
                    <a:gd name="connsiteY1" fmla="*/ 2383 h 10047"/>
                    <a:gd name="connsiteX2" fmla="*/ 10000 w 10000"/>
                    <a:gd name="connsiteY2" fmla="*/ 2428 h 10047"/>
                    <a:gd name="connsiteX3" fmla="*/ 9905 w 10000"/>
                    <a:gd name="connsiteY3" fmla="*/ 47 h 10047"/>
                    <a:gd name="connsiteX4" fmla="*/ 237 w 10000"/>
                    <a:gd name="connsiteY4" fmla="*/ 0 h 10047"/>
                    <a:gd name="connsiteX5" fmla="*/ 0 w 10000"/>
                    <a:gd name="connsiteY5" fmla="*/ 2383 h 10047"/>
                    <a:gd name="connsiteX6" fmla="*/ 4397 w 10000"/>
                    <a:gd name="connsiteY6" fmla="*/ 2383 h 10047"/>
                    <a:gd name="connsiteX7" fmla="*/ 4539 w 10000"/>
                    <a:gd name="connsiteY7" fmla="*/ 10047 h 10047"/>
                    <a:gd name="connsiteX8" fmla="*/ 6217 w 10000"/>
                    <a:gd name="connsiteY8" fmla="*/ 9899 h 10047"/>
                    <a:gd name="connsiteX0" fmla="*/ 6217 w 10000"/>
                    <a:gd name="connsiteY0" fmla="*/ 9899 h 14364"/>
                    <a:gd name="connsiteX1" fmla="*/ 6217 w 10000"/>
                    <a:gd name="connsiteY1" fmla="*/ 2383 h 14364"/>
                    <a:gd name="connsiteX2" fmla="*/ 10000 w 10000"/>
                    <a:gd name="connsiteY2" fmla="*/ 2428 h 14364"/>
                    <a:gd name="connsiteX3" fmla="*/ 9905 w 10000"/>
                    <a:gd name="connsiteY3" fmla="*/ 47 h 14364"/>
                    <a:gd name="connsiteX4" fmla="*/ 237 w 10000"/>
                    <a:gd name="connsiteY4" fmla="*/ 0 h 14364"/>
                    <a:gd name="connsiteX5" fmla="*/ 0 w 10000"/>
                    <a:gd name="connsiteY5" fmla="*/ 2383 h 14364"/>
                    <a:gd name="connsiteX6" fmla="*/ 4397 w 10000"/>
                    <a:gd name="connsiteY6" fmla="*/ 2383 h 14364"/>
                    <a:gd name="connsiteX7" fmla="*/ 4569 w 10000"/>
                    <a:gd name="connsiteY7" fmla="*/ 14364 h 14364"/>
                    <a:gd name="connsiteX8" fmla="*/ 6217 w 10000"/>
                    <a:gd name="connsiteY8" fmla="*/ 9899 h 14364"/>
                    <a:gd name="connsiteX0" fmla="*/ 6276 w 10000"/>
                    <a:gd name="connsiteY0" fmla="*/ 14345 h 14364"/>
                    <a:gd name="connsiteX1" fmla="*/ 6217 w 10000"/>
                    <a:gd name="connsiteY1" fmla="*/ 2383 h 14364"/>
                    <a:gd name="connsiteX2" fmla="*/ 10000 w 10000"/>
                    <a:gd name="connsiteY2" fmla="*/ 2428 h 14364"/>
                    <a:gd name="connsiteX3" fmla="*/ 9905 w 10000"/>
                    <a:gd name="connsiteY3" fmla="*/ 47 h 14364"/>
                    <a:gd name="connsiteX4" fmla="*/ 237 w 10000"/>
                    <a:gd name="connsiteY4" fmla="*/ 0 h 14364"/>
                    <a:gd name="connsiteX5" fmla="*/ 0 w 10000"/>
                    <a:gd name="connsiteY5" fmla="*/ 2383 h 14364"/>
                    <a:gd name="connsiteX6" fmla="*/ 4397 w 10000"/>
                    <a:gd name="connsiteY6" fmla="*/ 2383 h 14364"/>
                    <a:gd name="connsiteX7" fmla="*/ 4569 w 10000"/>
                    <a:gd name="connsiteY7" fmla="*/ 14364 h 14364"/>
                    <a:gd name="connsiteX8" fmla="*/ 6276 w 10000"/>
                    <a:gd name="connsiteY8" fmla="*/ 14345 h 14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000" h="14364">
                      <a:moveTo>
                        <a:pt x="6276" y="14345"/>
                      </a:moveTo>
                      <a:cubicBezTo>
                        <a:pt x="6256" y="10358"/>
                        <a:pt x="6237" y="6370"/>
                        <a:pt x="6217" y="2383"/>
                      </a:cubicBezTo>
                      <a:lnTo>
                        <a:pt x="10000" y="2428"/>
                      </a:lnTo>
                      <a:cubicBezTo>
                        <a:pt x="9968" y="1518"/>
                        <a:pt x="9937" y="959"/>
                        <a:pt x="9905" y="47"/>
                      </a:cubicBezTo>
                      <a:lnTo>
                        <a:pt x="237" y="0"/>
                      </a:lnTo>
                      <a:cubicBezTo>
                        <a:pt x="178" y="769"/>
                        <a:pt x="59" y="1614"/>
                        <a:pt x="0" y="2383"/>
                      </a:cubicBezTo>
                      <a:lnTo>
                        <a:pt x="4397" y="2383"/>
                      </a:lnTo>
                      <a:cubicBezTo>
                        <a:pt x="4444" y="4938"/>
                        <a:pt x="4522" y="11809"/>
                        <a:pt x="4569" y="14364"/>
                      </a:cubicBezTo>
                      <a:lnTo>
                        <a:pt x="6276" y="14345"/>
                      </a:lnTo>
                      <a:close/>
                    </a:path>
                  </a:pathLst>
                </a:custGeom>
                <a:solidFill>
                  <a:srgbClr val="0066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67" name="Group 9"/>
                <p:cNvGrpSpPr>
                  <a:grpSpLocks/>
                </p:cNvGrpSpPr>
                <p:nvPr/>
              </p:nvGrpSpPr>
              <p:grpSpPr bwMode="auto">
                <a:xfrm>
                  <a:off x="6929136" y="1525203"/>
                  <a:ext cx="649288" cy="271465"/>
                  <a:chOff x="2740" y="1064"/>
                  <a:chExt cx="409" cy="171"/>
                </a:xfrm>
              </p:grpSpPr>
              <p:grpSp>
                <p:nvGrpSpPr>
                  <p:cNvPr id="170" name="Group 10"/>
                  <p:cNvGrpSpPr>
                    <a:grpSpLocks/>
                  </p:cNvGrpSpPr>
                  <p:nvPr/>
                </p:nvGrpSpPr>
                <p:grpSpPr bwMode="auto">
                  <a:xfrm>
                    <a:off x="2853" y="1064"/>
                    <a:ext cx="182" cy="171"/>
                    <a:chOff x="3067" y="1096"/>
                    <a:chExt cx="182" cy="171"/>
                  </a:xfrm>
                </p:grpSpPr>
                <p:sp>
                  <p:nvSpPr>
                    <p:cNvPr id="172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04" y="1246"/>
                      <a:ext cx="90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73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28" y="1267"/>
                      <a:ext cx="45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74" name="AutoShape 13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076" y="1096"/>
                      <a:ext cx="136" cy="91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FFFFF"/>
                    </a:solidFill>
                    <a:ln w="28575" algn="ctr">
                      <a:solidFill>
                        <a:srgbClr val="0000F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0" rIns="0" anchor="ctr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75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67" y="1223"/>
                      <a:ext cx="182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71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740" y="1172"/>
                    <a:ext cx="40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3333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68" name="任意多边形 167"/>
                <p:cNvSpPr/>
                <p:nvPr/>
              </p:nvSpPr>
              <p:spPr bwMode="auto">
                <a:xfrm>
                  <a:off x="6926052" y="1695576"/>
                  <a:ext cx="296725" cy="1535102"/>
                </a:xfrm>
                <a:custGeom>
                  <a:avLst/>
                  <a:gdLst>
                    <a:gd name="connsiteX0" fmla="*/ 0 w 296725"/>
                    <a:gd name="connsiteY0" fmla="*/ 0 h 1535102"/>
                    <a:gd name="connsiteX1" fmla="*/ 0 w 296725"/>
                    <a:gd name="connsiteY1" fmla="*/ 251309 h 1535102"/>
                    <a:gd name="connsiteX2" fmla="*/ 296725 w 296725"/>
                    <a:gd name="connsiteY2" fmla="*/ 254337 h 1535102"/>
                    <a:gd name="connsiteX3" fmla="*/ 293698 w 296725"/>
                    <a:gd name="connsiteY3" fmla="*/ 1535102 h 1535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725" h="1535102">
                      <a:moveTo>
                        <a:pt x="0" y="0"/>
                      </a:moveTo>
                      <a:lnTo>
                        <a:pt x="0" y="251309"/>
                      </a:lnTo>
                      <a:lnTo>
                        <a:pt x="296725" y="254337"/>
                      </a:lnTo>
                      <a:lnTo>
                        <a:pt x="293698" y="1535102"/>
                      </a:lnTo>
                    </a:path>
                  </a:pathLst>
                </a:custGeom>
                <a:no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69" name="任意多边形 168"/>
                <p:cNvSpPr/>
                <p:nvPr/>
              </p:nvSpPr>
              <p:spPr bwMode="auto">
                <a:xfrm>
                  <a:off x="7342450" y="1680994"/>
                  <a:ext cx="243813" cy="1552711"/>
                </a:xfrm>
                <a:custGeom>
                  <a:avLst/>
                  <a:gdLst>
                    <a:gd name="connsiteX0" fmla="*/ 242225 w 242225"/>
                    <a:gd name="connsiteY0" fmla="*/ 0 h 1532074"/>
                    <a:gd name="connsiteX1" fmla="*/ 242225 w 242225"/>
                    <a:gd name="connsiteY1" fmla="*/ 239197 h 1532074"/>
                    <a:gd name="connsiteX2" fmla="*/ 0 w 242225"/>
                    <a:gd name="connsiteY2" fmla="*/ 248281 h 1532074"/>
                    <a:gd name="connsiteX3" fmla="*/ 0 w 242225"/>
                    <a:gd name="connsiteY3" fmla="*/ 1532074 h 1532074"/>
                    <a:gd name="connsiteX0" fmla="*/ 243813 w 243813"/>
                    <a:gd name="connsiteY0" fmla="*/ 0 h 1552711"/>
                    <a:gd name="connsiteX1" fmla="*/ 242225 w 243813"/>
                    <a:gd name="connsiteY1" fmla="*/ 259834 h 1552711"/>
                    <a:gd name="connsiteX2" fmla="*/ 0 w 243813"/>
                    <a:gd name="connsiteY2" fmla="*/ 268918 h 1552711"/>
                    <a:gd name="connsiteX3" fmla="*/ 0 w 243813"/>
                    <a:gd name="connsiteY3" fmla="*/ 1552711 h 1552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813" h="1552711">
                      <a:moveTo>
                        <a:pt x="243813" y="0"/>
                      </a:moveTo>
                      <a:cubicBezTo>
                        <a:pt x="243284" y="86611"/>
                        <a:pt x="242754" y="173223"/>
                        <a:pt x="242225" y="259834"/>
                      </a:cubicBezTo>
                      <a:lnTo>
                        <a:pt x="0" y="268918"/>
                      </a:lnTo>
                      <a:lnTo>
                        <a:pt x="0" y="1552711"/>
                      </a:lnTo>
                    </a:path>
                  </a:pathLst>
                </a:custGeom>
                <a:no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</p:grpSp>
      </p:grpSp>
      <p:sp>
        <p:nvSpPr>
          <p:cNvPr id="86" name="Text Box 7"/>
          <p:cNvSpPr txBox="1">
            <a:spLocks noChangeArrowheads="1"/>
          </p:cNvSpPr>
          <p:nvPr/>
        </p:nvSpPr>
        <p:spPr bwMode="auto">
          <a:xfrm>
            <a:off x="-2" y="0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临界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水力坡降</a:t>
            </a:r>
          </a:p>
        </p:txBody>
      </p:sp>
    </p:spTree>
    <p:extLst>
      <p:ext uri="{BB962C8B-B14F-4D97-AF65-F5344CB8AC3E}">
        <p14:creationId xmlns:p14="http://schemas.microsoft.com/office/powerpoint/2010/main" val="150975258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0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50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4263" grpId="0"/>
      <p:bldP spid="1504265" grpId="0" animBg="1"/>
      <p:bldP spid="27663" grpId="0"/>
      <p:bldP spid="27665" grpId="0"/>
      <p:bldP spid="15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331" name="Text Box 3"/>
          <p:cNvSpPr txBox="1">
            <a:spLocks noChangeArrowheads="1"/>
          </p:cNvSpPr>
          <p:nvPr/>
        </p:nvSpPr>
        <p:spPr bwMode="auto">
          <a:xfrm>
            <a:off x="933450" y="1162050"/>
            <a:ext cx="7073900" cy="395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1590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6162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0734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530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9878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土工建筑物及地基由于渗流作用而出现的变形或破坏称为</a:t>
            </a:r>
            <a:r>
              <a:rPr lang="zh-CN" altLang="en-US" sz="24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渗透变形</a:t>
            </a: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或</a:t>
            </a:r>
            <a:r>
              <a:rPr lang="zh-CN" altLang="en-US" sz="24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渗透破坏</a:t>
            </a: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。渗透变形是土工建筑物发生破坏的常见类型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endParaRPr lang="zh-CN" altLang="en-US" sz="2400" b="1" dirty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基本类型：</a:t>
            </a:r>
          </a:p>
          <a:p>
            <a:pPr lvl="4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</a:rPr>
              <a:t> 管涌</a:t>
            </a:r>
          </a:p>
          <a:p>
            <a:pPr lvl="4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</a:rPr>
              <a:t> 流土</a:t>
            </a:r>
          </a:p>
          <a:p>
            <a:pPr lvl="4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 接触流土</a:t>
            </a:r>
          </a:p>
          <a:p>
            <a:pPr lvl="4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 接触冲刷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3730625" y="5856288"/>
            <a:ext cx="2222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渗透变形</a:t>
            </a:r>
            <a:endParaRPr lang="en-US" altLang="zh-CN" sz="4000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507333" name="Text Box 5"/>
          <p:cNvSpPr txBox="1">
            <a:spLocks noChangeArrowheads="1"/>
          </p:cNvSpPr>
          <p:nvPr/>
        </p:nvSpPr>
        <p:spPr bwMode="auto">
          <a:xfrm>
            <a:off x="5559425" y="3471202"/>
            <a:ext cx="283845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单一土层渗透变形的两种基本型式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07334" name="AutoShape 6"/>
          <p:cNvSpPr>
            <a:spLocks/>
          </p:cNvSpPr>
          <p:nvPr/>
        </p:nvSpPr>
        <p:spPr bwMode="auto">
          <a:xfrm>
            <a:off x="4394200" y="3416598"/>
            <a:ext cx="215900" cy="685800"/>
          </a:xfrm>
          <a:prstGeom prst="rightBrace">
            <a:avLst>
              <a:gd name="adj1" fmla="val 26471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7335" name="AutoShape 7"/>
          <p:cNvSpPr>
            <a:spLocks noChangeArrowheads="1"/>
          </p:cNvSpPr>
          <p:nvPr/>
        </p:nvSpPr>
        <p:spPr bwMode="auto">
          <a:xfrm>
            <a:off x="4865688" y="3563426"/>
            <a:ext cx="511175" cy="406400"/>
          </a:xfrm>
          <a:prstGeom prst="homePlate">
            <a:avLst>
              <a:gd name="adj" fmla="val 3144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451994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0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50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50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0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0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0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0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0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0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0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0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0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0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0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0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0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0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0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50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50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0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7331" grpId="0" build="p"/>
      <p:bldP spid="1507333" grpId="0"/>
      <p:bldP spid="1507334" grpId="0" animBg="1"/>
      <p:bldP spid="150733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Text Box 4"/>
          <p:cNvSpPr txBox="1">
            <a:spLocks noChangeArrowheads="1"/>
          </p:cNvSpPr>
          <p:nvPr/>
        </p:nvSpPr>
        <p:spPr bwMode="auto">
          <a:xfrm>
            <a:off x="2942000" y="5757863"/>
            <a:ext cx="36655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渗透变形 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- 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流土</a:t>
            </a:r>
          </a:p>
        </p:txBody>
      </p:sp>
      <p:sp>
        <p:nvSpPr>
          <p:cNvPr id="1508357" name="Rectangle 5"/>
          <p:cNvSpPr>
            <a:spLocks noChangeArrowheads="1"/>
          </p:cNvSpPr>
          <p:nvPr/>
        </p:nvSpPr>
        <p:spPr bwMode="auto">
          <a:xfrm>
            <a:off x="465138" y="791502"/>
            <a:ext cx="8351837" cy="82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444500" indent="-44450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latin typeface="华文新魏" pitchFamily="2" charset="-122"/>
                <a:ea typeface="幼圆" pitchFamily="49" charset="-122"/>
              </a:rPr>
              <a:t>流土：</a:t>
            </a:r>
            <a:r>
              <a:rPr kumimoji="1" lang="zh-CN" altLang="en-US" sz="2400" b="1" dirty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</a:rPr>
              <a:t>在</a:t>
            </a:r>
            <a:r>
              <a:rPr kumimoji="1" lang="zh-CN" altLang="en-US" sz="2400" b="1" dirty="0">
                <a:solidFill>
                  <a:srgbClr val="000066"/>
                </a:solidFill>
                <a:latin typeface="华文琥珀" pitchFamily="2" charset="-122"/>
                <a:ea typeface="幼圆" pitchFamily="49" charset="-122"/>
              </a:rPr>
              <a:t>向上</a:t>
            </a:r>
            <a:r>
              <a:rPr kumimoji="1" lang="zh-CN" altLang="en-US" sz="2400" b="1" dirty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</a:rPr>
              <a:t>的渗透作用下，表层局部范围内的土体或颗粒群同时发生悬浮、移动的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</a:rPr>
              <a:t>现象</a:t>
            </a:r>
            <a:endParaRPr kumimoji="1" lang="en-US" altLang="zh-CN" sz="2400" b="1" dirty="0" smtClean="0">
              <a:solidFill>
                <a:srgbClr val="000066"/>
              </a:solidFill>
              <a:latin typeface="华文新魏" pitchFamily="2" charset="-122"/>
              <a:ea typeface="幼圆" pitchFamily="49" charset="-122"/>
            </a:endParaRPr>
          </a:p>
        </p:txBody>
      </p:sp>
      <p:sp>
        <p:nvSpPr>
          <p:cNvPr id="28690" name="AutoShape 48">
            <a:hlinkClick r:id="rId4" action="ppaction://hlinkfile" highlightClick="1"/>
          </p:cNvPr>
          <p:cNvSpPr>
            <a:spLocks noChangeArrowheads="1"/>
          </p:cNvSpPr>
          <p:nvPr/>
        </p:nvSpPr>
        <p:spPr bwMode="auto">
          <a:xfrm>
            <a:off x="1914472" y="4663626"/>
            <a:ext cx="642144" cy="603692"/>
          </a:xfrm>
          <a:prstGeom prst="actionButtonMovie">
            <a:avLst/>
          </a:prstGeom>
          <a:solidFill>
            <a:srgbClr val="FF9933"/>
          </a:solidFill>
          <a:ln>
            <a:noFill/>
          </a:ln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64875" y="4712432"/>
            <a:ext cx="2802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录像砂沸</a:t>
            </a:r>
            <a:r>
              <a:rPr lang="en-US" altLang="zh-CN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砂中</a:t>
            </a: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泉眼</a:t>
            </a:r>
          </a:p>
        </p:txBody>
      </p:sp>
      <p:sp>
        <p:nvSpPr>
          <p:cNvPr id="50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2" name="Text Box 6"/>
          <p:cNvSpPr txBox="1">
            <a:spLocks noChangeArrowheads="1"/>
          </p:cNvSpPr>
          <p:nvPr/>
        </p:nvSpPr>
        <p:spPr bwMode="auto">
          <a:xfrm>
            <a:off x="721989" y="2705880"/>
            <a:ext cx="7943545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SzPct val="140000"/>
              <a:buFont typeface="Wingdings" panose="05000000000000000000" pitchFamily="2" charset="2"/>
              <a:buChar char="F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</a:rPr>
              <a:t>任何</a:t>
            </a:r>
            <a:r>
              <a:rPr kumimoji="1" lang="zh-CN" altLang="en-US" sz="2400" b="1" dirty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</a:rPr>
              <a:t>类型的土，只要水力坡降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</a:rPr>
              <a:t>达到临界水力坡降，</a:t>
            </a:r>
            <a:r>
              <a:rPr kumimoji="1" lang="zh-CN" altLang="en-US" sz="2400" b="1" dirty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</a:rPr>
              <a:t>都可发生流土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</a:rPr>
              <a:t>破坏</a:t>
            </a:r>
            <a:endParaRPr kumimoji="1" lang="en-US" altLang="zh-CN" sz="2400" b="1" dirty="0" smtClean="0">
              <a:solidFill>
                <a:srgbClr val="000066"/>
              </a:solidFill>
              <a:latin typeface="华文新魏" pitchFamily="2" charset="-122"/>
              <a:ea typeface="幼圆" pitchFamily="49" charset="-122"/>
            </a:endParaRPr>
          </a:p>
          <a:p>
            <a:pPr marL="446088" indent="-446088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SzPct val="140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对均匀砂层，在渗流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逸出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处达到临界水力坡降时，会发生砂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沸。砂沸也是流土的一种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形式</a:t>
            </a:r>
            <a:endParaRPr lang="zh-CN" altLang="en-US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651665"/>
              </p:ext>
            </p:extLst>
          </p:nvPr>
        </p:nvGraphicFramePr>
        <p:xfrm>
          <a:off x="2385708" y="1779588"/>
          <a:ext cx="1565805" cy="84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81" name="公式" r:id="rId5" imgW="736560" imgH="444240" progId="Equation.3">
                  <p:embed/>
                </p:oleObj>
              </mc:Choice>
              <mc:Fallback>
                <p:oleObj name="公式" r:id="rId5" imgW="736560" imgH="44424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5708" y="1779588"/>
                        <a:ext cx="1565805" cy="848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26"/>
          <p:cNvSpPr txBox="1">
            <a:spLocks noChangeArrowheads="1"/>
          </p:cNvSpPr>
          <p:nvPr/>
        </p:nvSpPr>
        <p:spPr bwMode="auto">
          <a:xfrm>
            <a:off x="827900" y="1937448"/>
            <a:ext cx="1403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原因：</a:t>
            </a:r>
          </a:p>
        </p:txBody>
      </p:sp>
    </p:spTree>
    <p:extLst>
      <p:ext uri="{BB962C8B-B14F-4D97-AF65-F5344CB8AC3E}">
        <p14:creationId xmlns:p14="http://schemas.microsoft.com/office/powerpoint/2010/main" val="64897706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90" grpId="0" animBg="1"/>
      <p:bldP spid="4" grpId="0"/>
      <p:bldP spid="52" grpId="0"/>
      <p:bldP spid="56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354" name="Rectangle 2"/>
          <p:cNvSpPr>
            <a:spLocks noChangeArrowheads="1"/>
          </p:cNvSpPr>
          <p:nvPr/>
        </p:nvSpPr>
        <p:spPr bwMode="auto">
          <a:xfrm>
            <a:off x="800100" y="1613510"/>
            <a:ext cx="7105650" cy="257968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8" name="Text Box 4"/>
          <p:cNvSpPr txBox="1">
            <a:spLocks noChangeArrowheads="1"/>
          </p:cNvSpPr>
          <p:nvPr/>
        </p:nvSpPr>
        <p:spPr bwMode="auto">
          <a:xfrm>
            <a:off x="2942000" y="5757863"/>
            <a:ext cx="36655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渗透变形 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- 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流土</a:t>
            </a:r>
          </a:p>
        </p:txBody>
      </p:sp>
      <p:sp>
        <p:nvSpPr>
          <p:cNvPr id="1508357" name="Rectangle 5"/>
          <p:cNvSpPr>
            <a:spLocks noChangeArrowheads="1"/>
          </p:cNvSpPr>
          <p:nvPr/>
        </p:nvSpPr>
        <p:spPr bwMode="auto">
          <a:xfrm>
            <a:off x="465138" y="706438"/>
            <a:ext cx="8351837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444500" indent="-44450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 smtClean="0">
                <a:solidFill>
                  <a:srgbClr val="A50021"/>
                </a:solidFill>
                <a:latin typeface="华文新魏" pitchFamily="2" charset="-122"/>
                <a:ea typeface="幼圆" pitchFamily="49" charset="-122"/>
              </a:rPr>
              <a:t>堤坝</a:t>
            </a:r>
            <a:r>
              <a:rPr kumimoji="1" lang="zh-CN" altLang="en-US" sz="2400" b="1" dirty="0">
                <a:solidFill>
                  <a:srgbClr val="A50021"/>
                </a:solidFill>
                <a:latin typeface="华文新魏" pitchFamily="2" charset="-122"/>
                <a:ea typeface="幼圆" pitchFamily="49" charset="-122"/>
              </a:rPr>
              <a:t>下游逸出处的流土破坏</a:t>
            </a:r>
            <a:endParaRPr kumimoji="1" lang="en-US" altLang="zh-CN" sz="2400" b="1" dirty="0">
              <a:solidFill>
                <a:srgbClr val="000066"/>
              </a:solidFill>
              <a:latin typeface="华文新魏" pitchFamily="2" charset="-122"/>
              <a:ea typeface="幼圆" pitchFamily="49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246188" y="1750499"/>
            <a:ext cx="6413269" cy="2344274"/>
            <a:chOff x="919" y="1293"/>
            <a:chExt cx="4729" cy="1729"/>
          </a:xfrm>
        </p:grpSpPr>
        <p:sp>
          <p:nvSpPr>
            <p:cNvPr id="28716" name="Rectangle 8" descr="浅色上对角线"/>
            <p:cNvSpPr>
              <a:spLocks noChangeAspect="1" noChangeArrowheads="1"/>
            </p:cNvSpPr>
            <p:nvPr/>
          </p:nvSpPr>
          <p:spPr bwMode="auto">
            <a:xfrm>
              <a:off x="920" y="1857"/>
              <a:ext cx="4728" cy="237"/>
            </a:xfrm>
            <a:prstGeom prst="rect">
              <a:avLst/>
            </a:prstGeom>
            <a:pattFill prst="ltUpDiag">
              <a:fgClr>
                <a:srgbClr val="990033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7" name="Rectangle 9" descr="25%"/>
            <p:cNvSpPr>
              <a:spLocks noChangeAspect="1" noChangeArrowheads="1"/>
            </p:cNvSpPr>
            <p:nvPr/>
          </p:nvSpPr>
          <p:spPr bwMode="auto">
            <a:xfrm>
              <a:off x="919" y="2098"/>
              <a:ext cx="4728" cy="924"/>
            </a:xfrm>
            <a:prstGeom prst="rect">
              <a:avLst/>
            </a:prstGeom>
            <a:pattFill prst="pct25">
              <a:fgClr>
                <a:schemeClr val="accent2"/>
              </a:fgClr>
              <a:bgClr>
                <a:srgbClr val="FFCC00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41143" rIns="82287" bIns="41143"/>
            <a:lstStyle/>
            <a:p>
              <a:pPr algn="ctr" defTabSz="822325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>
                <a:solidFill>
                  <a:srgbClr val="800000"/>
                </a:solidFill>
                <a:latin typeface="Arial" charset="0"/>
              </a:endParaRPr>
            </a:p>
          </p:txBody>
        </p:sp>
        <p:sp>
          <p:nvSpPr>
            <p:cNvPr id="28718" name="Text Box 10"/>
            <p:cNvSpPr txBox="1">
              <a:spLocks noChangeAspect="1" noChangeArrowheads="1"/>
            </p:cNvSpPr>
            <p:nvPr/>
          </p:nvSpPr>
          <p:spPr bwMode="auto">
            <a:xfrm>
              <a:off x="2770" y="1888"/>
              <a:ext cx="1173" cy="182"/>
            </a:xfrm>
            <a:prstGeom prst="rect">
              <a:avLst/>
            </a:prstGeom>
            <a:solidFill>
              <a:schemeClr val="bg1">
                <a:alpha val="7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0" rIns="82287" bIns="0"/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 smtClean="0">
                  <a:ea typeface="楷体_GB2312" pitchFamily="49" charset="-122"/>
                  <a:cs typeface="Times New Roman" pitchFamily="18" charset="0"/>
                </a:rPr>
                <a:t>黏性</a:t>
              </a:r>
              <a:r>
                <a:rPr kumimoji="1" lang="zh-CN" altLang="en-US" sz="1600" b="1" dirty="0">
                  <a:ea typeface="楷体_GB2312" pitchFamily="49" charset="-122"/>
                  <a:cs typeface="Times New Roman" pitchFamily="18" charset="0"/>
                </a:rPr>
                <a:t>土</a:t>
              </a:r>
              <a:r>
                <a:rPr kumimoji="1" lang="en-US" altLang="zh-CN" sz="1600" b="1" i="1" dirty="0">
                  <a:ea typeface="楷体_GB2312" pitchFamily="49" charset="-122"/>
                  <a:cs typeface="Times New Roman" pitchFamily="18" charset="0"/>
                </a:rPr>
                <a:t>k</a:t>
              </a:r>
              <a:r>
                <a:rPr kumimoji="1" lang="en-US" altLang="zh-CN" sz="1600" b="1" baseline="-25000" dirty="0"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kumimoji="1" lang="en-US" altLang="zh-CN" sz="1600" b="1" dirty="0">
                  <a:ea typeface="楷体_GB2312" pitchFamily="49" charset="-122"/>
                  <a:cs typeface="Times New Roman" pitchFamily="18" charset="0"/>
                </a:rPr>
                <a:t>&lt;&lt;</a:t>
              </a:r>
              <a:r>
                <a:rPr kumimoji="1" lang="en-US" altLang="zh-CN" sz="1600" b="1" i="1" dirty="0">
                  <a:ea typeface="楷体_GB2312" pitchFamily="49" charset="-122"/>
                  <a:cs typeface="Times New Roman" pitchFamily="18" charset="0"/>
                </a:rPr>
                <a:t>k</a:t>
              </a:r>
              <a:r>
                <a:rPr kumimoji="1" lang="en-US" altLang="zh-CN" sz="1600" b="1" baseline="-25000" dirty="0">
                  <a:ea typeface="楷体_GB2312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8719" name="Text Box 11"/>
            <p:cNvSpPr txBox="1">
              <a:spLocks noChangeAspect="1" noChangeArrowheads="1"/>
            </p:cNvSpPr>
            <p:nvPr/>
          </p:nvSpPr>
          <p:spPr bwMode="auto">
            <a:xfrm>
              <a:off x="2877" y="2371"/>
              <a:ext cx="852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41143" rIns="82287" bIns="41143"/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ea typeface="楷体_GB2312" pitchFamily="49" charset="-122"/>
                  <a:cs typeface="Times New Roman" pitchFamily="18" charset="0"/>
                </a:rPr>
                <a:t>砂性土</a:t>
              </a:r>
              <a:r>
                <a:rPr kumimoji="1" lang="en-US" altLang="zh-CN" sz="1600" b="1" i="1" dirty="0">
                  <a:ea typeface="楷体_GB2312" pitchFamily="49" charset="-122"/>
                  <a:cs typeface="Times New Roman" pitchFamily="18" charset="0"/>
                </a:rPr>
                <a:t>k</a:t>
              </a:r>
              <a:r>
                <a:rPr kumimoji="1" lang="en-US" altLang="zh-CN" sz="1600" b="1" baseline="-25000" dirty="0">
                  <a:ea typeface="楷体_GB2312" pitchFamily="49" charset="-122"/>
                  <a:cs typeface="Times New Roman" pitchFamily="18" charset="0"/>
                </a:rPr>
                <a:t>2</a:t>
              </a:r>
              <a:endParaRPr kumimoji="1" lang="en-US" altLang="zh-CN" sz="1600" baseline="-25000" dirty="0"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8715" name="AutoShape 7"/>
            <p:cNvSpPr>
              <a:spLocks noChangeAspect="1" noChangeArrowheads="1"/>
            </p:cNvSpPr>
            <p:nvPr/>
          </p:nvSpPr>
          <p:spPr bwMode="auto">
            <a:xfrm rot="10800000">
              <a:off x="2351" y="1293"/>
              <a:ext cx="1956" cy="565"/>
            </a:xfrm>
            <a:custGeom>
              <a:avLst/>
              <a:gdLst>
                <a:gd name="T0" fmla="*/ 1597 w 21600"/>
                <a:gd name="T1" fmla="*/ 283 h 21600"/>
                <a:gd name="T2" fmla="*/ 978 w 21600"/>
                <a:gd name="T3" fmla="*/ 565 h 21600"/>
                <a:gd name="T4" fmla="*/ 359 w 21600"/>
                <a:gd name="T5" fmla="*/ 283 h 21600"/>
                <a:gd name="T6" fmla="*/ 978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764 w 21600"/>
                <a:gd name="T13" fmla="*/ 5773 h 21600"/>
                <a:gd name="T14" fmla="*/ 15836 w 21600"/>
                <a:gd name="T15" fmla="*/ 1582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7923" y="21600"/>
                  </a:lnTo>
                  <a:lnTo>
                    <a:pt x="1367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0" name="Text Box 12"/>
            <p:cNvSpPr txBox="1">
              <a:spLocks noChangeAspect="1" noChangeArrowheads="1"/>
            </p:cNvSpPr>
            <p:nvPr/>
          </p:nvSpPr>
          <p:spPr bwMode="auto">
            <a:xfrm>
              <a:off x="3107" y="1459"/>
              <a:ext cx="48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41143" rIns="82287" bIns="41143"/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ea typeface="楷体_GB2312" pitchFamily="49" charset="-122"/>
                  <a:cs typeface="Times New Roman" pitchFamily="18" charset="0"/>
                </a:rPr>
                <a:t>坝体</a:t>
              </a:r>
              <a:endParaRPr kumimoji="1" lang="zh-CN" altLang="en-US" sz="1600" dirty="0"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2413000" y="2883510"/>
            <a:ext cx="679450" cy="806450"/>
            <a:chOff x="1976" y="1995"/>
            <a:chExt cx="475" cy="565"/>
          </a:xfrm>
        </p:grpSpPr>
        <p:grpSp>
          <p:nvGrpSpPr>
            <p:cNvPr id="28710" name="Group 14"/>
            <p:cNvGrpSpPr>
              <a:grpSpLocks noChangeAspect="1"/>
            </p:cNvGrpSpPr>
            <p:nvPr/>
          </p:nvGrpSpPr>
          <p:grpSpPr bwMode="auto">
            <a:xfrm>
              <a:off x="2002" y="1995"/>
              <a:ext cx="449" cy="470"/>
              <a:chOff x="9419" y="6679"/>
              <a:chExt cx="795" cy="648"/>
            </a:xfrm>
          </p:grpSpPr>
          <p:sp>
            <p:nvSpPr>
              <p:cNvPr id="28712" name="Freeform 15"/>
              <p:cNvSpPr>
                <a:spLocks noChangeAspect="1"/>
              </p:cNvSpPr>
              <p:nvPr/>
            </p:nvSpPr>
            <p:spPr bwMode="auto">
              <a:xfrm>
                <a:off x="9509" y="6835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3" name="Freeform 16"/>
              <p:cNvSpPr>
                <a:spLocks noChangeAspect="1"/>
              </p:cNvSpPr>
              <p:nvPr/>
            </p:nvSpPr>
            <p:spPr bwMode="auto">
              <a:xfrm>
                <a:off x="9584" y="6679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4" name="Freeform 17"/>
              <p:cNvSpPr>
                <a:spLocks noChangeAspect="1"/>
              </p:cNvSpPr>
              <p:nvPr/>
            </p:nvSpPr>
            <p:spPr bwMode="auto">
              <a:xfrm>
                <a:off x="9419" y="7015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11" name="Freeform 18"/>
            <p:cNvSpPr>
              <a:spLocks noChangeAspect="1"/>
            </p:cNvSpPr>
            <p:nvPr/>
          </p:nvSpPr>
          <p:spPr bwMode="auto">
            <a:xfrm>
              <a:off x="1976" y="2334"/>
              <a:ext cx="356" cy="226"/>
            </a:xfrm>
            <a:custGeom>
              <a:avLst/>
              <a:gdLst>
                <a:gd name="T0" fmla="*/ 0 w 630"/>
                <a:gd name="T1" fmla="*/ 0 h 312"/>
                <a:gd name="T2" fmla="*/ 210 w 630"/>
                <a:gd name="T3" fmla="*/ 156 h 312"/>
                <a:gd name="T4" fmla="*/ 630 w 630"/>
                <a:gd name="T5" fmla="*/ 312 h 312"/>
                <a:gd name="T6" fmla="*/ 0 60000 65536"/>
                <a:gd name="T7" fmla="*/ 0 60000 65536"/>
                <a:gd name="T8" fmla="*/ 0 60000 65536"/>
                <a:gd name="T9" fmla="*/ 0 w 630"/>
                <a:gd name="T10" fmla="*/ 0 h 312"/>
                <a:gd name="T11" fmla="*/ 630 w 630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0" h="312">
                  <a:moveTo>
                    <a:pt x="0" y="0"/>
                  </a:moveTo>
                  <a:cubicBezTo>
                    <a:pt x="52" y="52"/>
                    <a:pt x="105" y="104"/>
                    <a:pt x="210" y="156"/>
                  </a:cubicBezTo>
                  <a:cubicBezTo>
                    <a:pt x="315" y="208"/>
                    <a:pt x="560" y="286"/>
                    <a:pt x="630" y="312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8371" name="Text Box 19"/>
          <p:cNvSpPr txBox="1">
            <a:spLocks noChangeAspect="1" noChangeArrowheads="1"/>
          </p:cNvSpPr>
          <p:nvPr/>
        </p:nvSpPr>
        <p:spPr bwMode="auto">
          <a:xfrm>
            <a:off x="1720850" y="3045435"/>
            <a:ext cx="10890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87" tIns="41143" rIns="82287" bIns="41143"/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ea typeface="楷体_GB2312" pitchFamily="49" charset="-122"/>
                <a:cs typeface="Times New Roman" pitchFamily="18" charset="0"/>
              </a:rPr>
              <a:t>渗流</a:t>
            </a:r>
            <a:endParaRPr kumimoji="1" lang="zh-CN" altLang="en-US" sz="1600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508372" name="Freeform 20"/>
          <p:cNvSpPr>
            <a:spLocks noChangeAspect="1"/>
          </p:cNvSpPr>
          <p:nvPr/>
        </p:nvSpPr>
        <p:spPr bwMode="auto">
          <a:xfrm>
            <a:off x="5638800" y="3112110"/>
            <a:ext cx="676275" cy="349250"/>
          </a:xfrm>
          <a:custGeom>
            <a:avLst/>
            <a:gdLst>
              <a:gd name="T0" fmla="*/ 0 w 840"/>
              <a:gd name="T1" fmla="*/ 156 h 182"/>
              <a:gd name="T2" fmla="*/ 630 w 840"/>
              <a:gd name="T3" fmla="*/ 156 h 182"/>
              <a:gd name="T4" fmla="*/ 840 w 840"/>
              <a:gd name="T5" fmla="*/ 0 h 182"/>
              <a:gd name="T6" fmla="*/ 0 60000 65536"/>
              <a:gd name="T7" fmla="*/ 0 60000 65536"/>
              <a:gd name="T8" fmla="*/ 0 60000 65536"/>
              <a:gd name="T9" fmla="*/ 0 w 840"/>
              <a:gd name="T10" fmla="*/ 0 h 182"/>
              <a:gd name="T11" fmla="*/ 840 w 840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0" h="182">
                <a:moveTo>
                  <a:pt x="0" y="156"/>
                </a:moveTo>
                <a:cubicBezTo>
                  <a:pt x="245" y="169"/>
                  <a:pt x="490" y="182"/>
                  <a:pt x="630" y="156"/>
                </a:cubicBezTo>
                <a:cubicBezTo>
                  <a:pt x="770" y="130"/>
                  <a:pt x="805" y="65"/>
                  <a:pt x="840" y="0"/>
                </a:cubicBezTo>
              </a:path>
            </a:pathLst>
          </a:custGeom>
          <a:noFill/>
          <a:ln w="19050">
            <a:solidFill>
              <a:srgbClr val="3333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8373" name="Freeform 21"/>
          <p:cNvSpPr>
            <a:spLocks noChangeAspect="1"/>
          </p:cNvSpPr>
          <p:nvPr/>
        </p:nvSpPr>
        <p:spPr bwMode="auto">
          <a:xfrm>
            <a:off x="5299075" y="3274035"/>
            <a:ext cx="1123950" cy="558800"/>
          </a:xfrm>
          <a:custGeom>
            <a:avLst/>
            <a:gdLst>
              <a:gd name="T0" fmla="*/ 0 w 840"/>
              <a:gd name="T1" fmla="*/ 156 h 182"/>
              <a:gd name="T2" fmla="*/ 630 w 840"/>
              <a:gd name="T3" fmla="*/ 156 h 182"/>
              <a:gd name="T4" fmla="*/ 840 w 840"/>
              <a:gd name="T5" fmla="*/ 0 h 182"/>
              <a:gd name="T6" fmla="*/ 0 60000 65536"/>
              <a:gd name="T7" fmla="*/ 0 60000 65536"/>
              <a:gd name="T8" fmla="*/ 0 60000 65536"/>
              <a:gd name="T9" fmla="*/ 0 w 840"/>
              <a:gd name="T10" fmla="*/ 0 h 182"/>
              <a:gd name="T11" fmla="*/ 840 w 840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0" h="182">
                <a:moveTo>
                  <a:pt x="0" y="156"/>
                </a:moveTo>
                <a:cubicBezTo>
                  <a:pt x="245" y="169"/>
                  <a:pt x="490" y="182"/>
                  <a:pt x="630" y="156"/>
                </a:cubicBezTo>
                <a:cubicBezTo>
                  <a:pt x="770" y="130"/>
                  <a:pt x="805" y="65"/>
                  <a:pt x="840" y="0"/>
                </a:cubicBezTo>
              </a:path>
            </a:pathLst>
          </a:custGeom>
          <a:noFill/>
          <a:ln w="19050">
            <a:solidFill>
              <a:srgbClr val="3333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8374" name="Rectangle 22" descr="瓦形"/>
          <p:cNvSpPr>
            <a:spLocks noChangeAspect="1" noChangeArrowheads="1"/>
          </p:cNvSpPr>
          <p:nvPr/>
        </p:nvSpPr>
        <p:spPr bwMode="auto">
          <a:xfrm>
            <a:off x="5832475" y="2523147"/>
            <a:ext cx="1041400" cy="311150"/>
          </a:xfrm>
          <a:prstGeom prst="rect">
            <a:avLst/>
          </a:prstGeom>
          <a:pattFill prst="shingle">
            <a:fgClr>
              <a:srgbClr val="3333FF"/>
            </a:fgClr>
            <a:bgClr>
              <a:srgbClr val="FFFFFF"/>
            </a:bgClr>
          </a:pattFill>
          <a:ln w="12700" algn="ctr">
            <a:solidFill>
              <a:srgbClr val="3333FF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1241427" y="1788133"/>
            <a:ext cx="2743200" cy="730249"/>
            <a:chOff x="1046" y="1401"/>
            <a:chExt cx="1728" cy="460"/>
          </a:xfrm>
        </p:grpSpPr>
        <p:sp>
          <p:nvSpPr>
            <p:cNvPr id="28701" name="Freeform 29"/>
            <p:cNvSpPr>
              <a:spLocks/>
            </p:cNvSpPr>
            <p:nvPr/>
          </p:nvSpPr>
          <p:spPr bwMode="auto">
            <a:xfrm>
              <a:off x="1046" y="1467"/>
              <a:ext cx="1728" cy="394"/>
            </a:xfrm>
            <a:custGeom>
              <a:avLst/>
              <a:gdLst>
                <a:gd name="T0" fmla="*/ 0 w 1725"/>
                <a:gd name="T1" fmla="*/ 390 h 397"/>
                <a:gd name="T2" fmla="*/ 0 w 1725"/>
                <a:gd name="T3" fmla="*/ 0 h 397"/>
                <a:gd name="T4" fmla="*/ 1725 w 1725"/>
                <a:gd name="T5" fmla="*/ 0 h 397"/>
                <a:gd name="T6" fmla="*/ 1203 w 1725"/>
                <a:gd name="T7" fmla="*/ 397 h 397"/>
                <a:gd name="T8" fmla="*/ 0 w 1725"/>
                <a:gd name="T9" fmla="*/ 390 h 3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5"/>
                <a:gd name="T16" fmla="*/ 0 h 397"/>
                <a:gd name="T17" fmla="*/ 1725 w 1725"/>
                <a:gd name="T18" fmla="*/ 397 h 397"/>
                <a:gd name="connsiteX0" fmla="*/ 0 w 10000"/>
                <a:gd name="connsiteY0" fmla="*/ 9824 h 9837"/>
                <a:gd name="connsiteX1" fmla="*/ 0 w 10000"/>
                <a:gd name="connsiteY1" fmla="*/ 0 h 9837"/>
                <a:gd name="connsiteX2" fmla="*/ 10000 w 10000"/>
                <a:gd name="connsiteY2" fmla="*/ 0 h 9837"/>
                <a:gd name="connsiteX3" fmla="*/ 7123 w 10000"/>
                <a:gd name="connsiteY3" fmla="*/ 9837 h 9837"/>
                <a:gd name="connsiteX4" fmla="*/ 0 w 10000"/>
                <a:gd name="connsiteY4" fmla="*/ 9824 h 9837"/>
                <a:gd name="connsiteX0" fmla="*/ 0 w 9911"/>
                <a:gd name="connsiteY0" fmla="*/ 9987 h 10000"/>
                <a:gd name="connsiteX1" fmla="*/ 0 w 9911"/>
                <a:gd name="connsiteY1" fmla="*/ 0 h 10000"/>
                <a:gd name="connsiteX2" fmla="*/ 9911 w 9911"/>
                <a:gd name="connsiteY2" fmla="*/ 33 h 10000"/>
                <a:gd name="connsiteX3" fmla="*/ 7123 w 9911"/>
                <a:gd name="connsiteY3" fmla="*/ 10000 h 10000"/>
                <a:gd name="connsiteX4" fmla="*/ 0 w 9911"/>
                <a:gd name="connsiteY4" fmla="*/ 9987 h 10000"/>
                <a:gd name="connsiteX0" fmla="*/ 0 w 10000"/>
                <a:gd name="connsiteY0" fmla="*/ 9987 h 10099"/>
                <a:gd name="connsiteX1" fmla="*/ 0 w 10000"/>
                <a:gd name="connsiteY1" fmla="*/ 0 h 10099"/>
                <a:gd name="connsiteX2" fmla="*/ 10000 w 10000"/>
                <a:gd name="connsiteY2" fmla="*/ 33 h 10099"/>
                <a:gd name="connsiteX3" fmla="*/ 7104 w 10000"/>
                <a:gd name="connsiteY3" fmla="*/ 10099 h 10099"/>
                <a:gd name="connsiteX4" fmla="*/ 0 w 10000"/>
                <a:gd name="connsiteY4" fmla="*/ 9987 h 10099"/>
                <a:gd name="connsiteX0" fmla="*/ 0 w 10000"/>
                <a:gd name="connsiteY0" fmla="*/ 9987 h 9987"/>
                <a:gd name="connsiteX1" fmla="*/ 0 w 10000"/>
                <a:gd name="connsiteY1" fmla="*/ 0 h 9987"/>
                <a:gd name="connsiteX2" fmla="*/ 10000 w 10000"/>
                <a:gd name="connsiteY2" fmla="*/ 33 h 9987"/>
                <a:gd name="connsiteX3" fmla="*/ 7127 w 10000"/>
                <a:gd name="connsiteY3" fmla="*/ 9967 h 9987"/>
                <a:gd name="connsiteX4" fmla="*/ 0 w 10000"/>
                <a:gd name="connsiteY4" fmla="*/ 9987 h 9987"/>
                <a:gd name="connsiteX0" fmla="*/ 0 w 10008"/>
                <a:gd name="connsiteY0" fmla="*/ 10099 h 10099"/>
                <a:gd name="connsiteX1" fmla="*/ 0 w 10008"/>
                <a:gd name="connsiteY1" fmla="*/ 99 h 10099"/>
                <a:gd name="connsiteX2" fmla="*/ 10008 w 10008"/>
                <a:gd name="connsiteY2" fmla="*/ 0 h 10099"/>
                <a:gd name="connsiteX3" fmla="*/ 7127 w 10008"/>
                <a:gd name="connsiteY3" fmla="*/ 10079 h 10099"/>
                <a:gd name="connsiteX4" fmla="*/ 0 w 10008"/>
                <a:gd name="connsiteY4" fmla="*/ 10099 h 10099"/>
                <a:gd name="connsiteX0" fmla="*/ 0 w 10046"/>
                <a:gd name="connsiteY0" fmla="*/ 10066 h 10066"/>
                <a:gd name="connsiteX1" fmla="*/ 0 w 10046"/>
                <a:gd name="connsiteY1" fmla="*/ 66 h 10066"/>
                <a:gd name="connsiteX2" fmla="*/ 10046 w 10046"/>
                <a:gd name="connsiteY2" fmla="*/ 0 h 10066"/>
                <a:gd name="connsiteX3" fmla="*/ 7127 w 10046"/>
                <a:gd name="connsiteY3" fmla="*/ 10046 h 10066"/>
                <a:gd name="connsiteX4" fmla="*/ 0 w 10046"/>
                <a:gd name="connsiteY4" fmla="*/ 10066 h 1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46" h="10066">
                  <a:moveTo>
                    <a:pt x="0" y="10066"/>
                  </a:moveTo>
                  <a:lnTo>
                    <a:pt x="0" y="66"/>
                  </a:lnTo>
                  <a:lnTo>
                    <a:pt x="10046" y="0"/>
                  </a:lnTo>
                  <a:lnTo>
                    <a:pt x="7127" y="10046"/>
                  </a:lnTo>
                  <a:lnTo>
                    <a:pt x="0" y="10066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2" name="Line 30"/>
            <p:cNvSpPr>
              <a:spLocks noChangeShapeType="1"/>
            </p:cNvSpPr>
            <p:nvPr/>
          </p:nvSpPr>
          <p:spPr bwMode="auto">
            <a:xfrm>
              <a:off x="1047" y="1466"/>
              <a:ext cx="1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703" name="Group 31"/>
            <p:cNvGrpSpPr>
              <a:grpSpLocks/>
            </p:cNvGrpSpPr>
            <p:nvPr/>
          </p:nvGrpSpPr>
          <p:grpSpPr bwMode="auto">
            <a:xfrm>
              <a:off x="1277" y="1401"/>
              <a:ext cx="115" cy="119"/>
              <a:chOff x="1277" y="1401"/>
              <a:chExt cx="115" cy="119"/>
            </a:xfrm>
          </p:grpSpPr>
          <p:sp>
            <p:nvSpPr>
              <p:cNvPr id="28704" name="AutoShape 32"/>
              <p:cNvSpPr>
                <a:spLocks noChangeArrowheads="1"/>
              </p:cNvSpPr>
              <p:nvPr/>
            </p:nvSpPr>
            <p:spPr bwMode="auto">
              <a:xfrm flipV="1">
                <a:off x="1286" y="1401"/>
                <a:ext cx="77" cy="6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05" name="Line 33"/>
              <p:cNvSpPr>
                <a:spLocks noChangeShapeType="1"/>
              </p:cNvSpPr>
              <p:nvPr/>
            </p:nvSpPr>
            <p:spPr bwMode="auto">
              <a:xfrm>
                <a:off x="1277" y="1483"/>
                <a:ext cx="11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6" name="Line 34"/>
              <p:cNvSpPr>
                <a:spLocks noChangeShapeType="1"/>
              </p:cNvSpPr>
              <p:nvPr/>
            </p:nvSpPr>
            <p:spPr bwMode="auto">
              <a:xfrm>
                <a:off x="1302" y="1501"/>
                <a:ext cx="6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7" name="Line 35"/>
              <p:cNvSpPr>
                <a:spLocks noChangeShapeType="1"/>
              </p:cNvSpPr>
              <p:nvPr/>
            </p:nvSpPr>
            <p:spPr bwMode="auto">
              <a:xfrm>
                <a:off x="1317" y="1520"/>
                <a:ext cx="4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36"/>
          <p:cNvGrpSpPr>
            <a:grpSpLocks/>
          </p:cNvGrpSpPr>
          <p:nvPr/>
        </p:nvGrpSpPr>
        <p:grpSpPr bwMode="auto">
          <a:xfrm>
            <a:off x="7334250" y="2408847"/>
            <a:ext cx="182563" cy="188913"/>
            <a:chOff x="1277" y="1401"/>
            <a:chExt cx="115" cy="119"/>
          </a:xfrm>
        </p:grpSpPr>
        <p:sp>
          <p:nvSpPr>
            <p:cNvPr id="28697" name="AutoShape 37"/>
            <p:cNvSpPr>
              <a:spLocks noChangeArrowheads="1"/>
            </p:cNvSpPr>
            <p:nvPr/>
          </p:nvSpPr>
          <p:spPr bwMode="auto">
            <a:xfrm flipV="1">
              <a:off x="1286" y="1401"/>
              <a:ext cx="77" cy="6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8" name="Line 38"/>
            <p:cNvSpPr>
              <a:spLocks noChangeShapeType="1"/>
            </p:cNvSpPr>
            <p:nvPr/>
          </p:nvSpPr>
          <p:spPr bwMode="auto">
            <a:xfrm>
              <a:off x="1277" y="1483"/>
              <a:ext cx="1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9" name="Line 39"/>
            <p:cNvSpPr>
              <a:spLocks noChangeShapeType="1"/>
            </p:cNvSpPr>
            <p:nvPr/>
          </p:nvSpPr>
          <p:spPr bwMode="auto">
            <a:xfrm>
              <a:off x="1302" y="1501"/>
              <a:ext cx="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0" name="Line 40"/>
            <p:cNvSpPr>
              <a:spLocks noChangeShapeType="1"/>
            </p:cNvSpPr>
            <p:nvPr/>
          </p:nvSpPr>
          <p:spPr bwMode="auto">
            <a:xfrm>
              <a:off x="1317" y="1520"/>
              <a:ext cx="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5884863" y="2846997"/>
            <a:ext cx="941387" cy="201613"/>
            <a:chOff x="1451" y="3484"/>
            <a:chExt cx="640" cy="181"/>
          </a:xfrm>
        </p:grpSpPr>
        <p:sp>
          <p:nvSpPr>
            <p:cNvPr id="28691" name="Line 42"/>
            <p:cNvSpPr>
              <a:spLocks noChangeShapeType="1"/>
            </p:cNvSpPr>
            <p:nvPr/>
          </p:nvSpPr>
          <p:spPr bwMode="auto">
            <a:xfrm rot="10800000">
              <a:off x="1451" y="3485"/>
              <a:ext cx="0" cy="1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Line 43"/>
            <p:cNvSpPr>
              <a:spLocks noChangeShapeType="1"/>
            </p:cNvSpPr>
            <p:nvPr/>
          </p:nvSpPr>
          <p:spPr bwMode="auto">
            <a:xfrm rot="10800000">
              <a:off x="1579" y="3485"/>
              <a:ext cx="0" cy="1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44"/>
            <p:cNvSpPr>
              <a:spLocks noChangeShapeType="1"/>
            </p:cNvSpPr>
            <p:nvPr/>
          </p:nvSpPr>
          <p:spPr bwMode="auto">
            <a:xfrm rot="10800000">
              <a:off x="1707" y="3490"/>
              <a:ext cx="0" cy="1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Line 45"/>
            <p:cNvSpPr>
              <a:spLocks noChangeShapeType="1"/>
            </p:cNvSpPr>
            <p:nvPr/>
          </p:nvSpPr>
          <p:spPr bwMode="auto">
            <a:xfrm rot="10800000">
              <a:off x="1835" y="3486"/>
              <a:ext cx="0" cy="1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5" name="Line 46"/>
            <p:cNvSpPr>
              <a:spLocks noChangeShapeType="1"/>
            </p:cNvSpPr>
            <p:nvPr/>
          </p:nvSpPr>
          <p:spPr bwMode="auto">
            <a:xfrm rot="10800000">
              <a:off x="1963" y="3485"/>
              <a:ext cx="0" cy="1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6" name="Line 47"/>
            <p:cNvSpPr>
              <a:spLocks noChangeShapeType="1"/>
            </p:cNvSpPr>
            <p:nvPr/>
          </p:nvSpPr>
          <p:spPr bwMode="auto">
            <a:xfrm rot="10800000">
              <a:off x="2091" y="3484"/>
              <a:ext cx="0" cy="1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625213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508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508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150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47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08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08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0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0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100" fill="hold"/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1" dur="100" fill="hold"/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2" dur="100" fill="hold"/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100" fill="hold"/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083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8354" grpId="0" animBg="1"/>
      <p:bldP spid="1508357" grpId="0"/>
      <p:bldP spid="1508371" grpId="0"/>
      <p:bldP spid="1508372" grpId="0" animBg="1"/>
      <p:bldP spid="1508373" grpId="0" animBg="1"/>
      <p:bldP spid="1508374" grpId="0" animBg="1"/>
      <p:bldP spid="1508374" grpId="1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14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046706"/>
              </p:ext>
            </p:extLst>
          </p:nvPr>
        </p:nvGraphicFramePr>
        <p:xfrm>
          <a:off x="2406650" y="4002088"/>
          <a:ext cx="264953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04" name="公式" r:id="rId4" imgW="711000" imgH="444240" progId="Equation.3">
                  <p:embed/>
                </p:oleObj>
              </mc:Choice>
              <mc:Fallback>
                <p:oleObj name="公式" r:id="rId4" imgW="711000" imgH="44424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l="-20619" r="-20619"/>
                      <a:stretch>
                        <a:fillRect/>
                      </a:stretch>
                    </p:blipFill>
                    <p:spPr bwMode="auto">
                      <a:xfrm>
                        <a:off x="2406650" y="4002088"/>
                        <a:ext cx="264953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1428" name="Rectangle 4"/>
          <p:cNvSpPr>
            <a:spLocks noChangeArrowheads="1"/>
          </p:cNvSpPr>
          <p:nvPr/>
        </p:nvSpPr>
        <p:spPr bwMode="auto">
          <a:xfrm>
            <a:off x="5608638" y="5083175"/>
            <a:ext cx="2943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 err="1" smtClean="0">
                <a:ea typeface="幼圆" pitchFamily="49" charset="-122"/>
              </a:rPr>
              <a:t>F</a:t>
            </a:r>
            <a:r>
              <a:rPr kumimoji="1" lang="en-US" altLang="zh-CN" sz="2400" b="1" baseline="-25000" dirty="0" err="1" smtClean="0">
                <a:ea typeface="幼圆" pitchFamily="49" charset="-122"/>
              </a:rPr>
              <a:t>s</a:t>
            </a:r>
            <a:r>
              <a:rPr kumimoji="1" lang="en-US" altLang="zh-CN" sz="2400" b="1" i="1" baseline="-25000" dirty="0" smtClean="0">
                <a:ea typeface="幼圆" pitchFamily="49" charset="-122"/>
              </a:rPr>
              <a:t>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: 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安全系数1.5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~2.0</a:t>
            </a:r>
          </a:p>
        </p:txBody>
      </p:sp>
      <p:sp>
        <p:nvSpPr>
          <p:cNvPr id="1511429" name="Text Box 5"/>
          <p:cNvSpPr txBox="1">
            <a:spLocks noChangeArrowheads="1"/>
          </p:cNvSpPr>
          <p:nvPr/>
        </p:nvSpPr>
        <p:spPr bwMode="auto">
          <a:xfrm>
            <a:off x="5465763" y="4573588"/>
            <a:ext cx="2225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ea typeface="幼圆" pitchFamily="49" charset="-122"/>
              </a:rPr>
              <a:t>[ </a:t>
            </a:r>
            <a:r>
              <a:rPr lang="en-US" altLang="zh-CN" sz="2400" b="1" i="1" dirty="0" err="1">
                <a:ea typeface="幼圆" pitchFamily="49" charset="-122"/>
              </a:rPr>
              <a:t>i</a:t>
            </a:r>
            <a:r>
              <a:rPr lang="en-US" altLang="zh-CN" sz="2400" b="1" dirty="0">
                <a:ea typeface="幼圆" pitchFamily="49" charset="-122"/>
              </a:rPr>
              <a:t> ]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: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允许坡降</a:t>
            </a:r>
          </a:p>
        </p:txBody>
      </p:sp>
      <p:sp>
        <p:nvSpPr>
          <p:cNvPr id="1511430" name="Text Box 6"/>
          <p:cNvSpPr txBox="1">
            <a:spLocks noChangeArrowheads="1"/>
          </p:cNvSpPr>
          <p:nvPr/>
        </p:nvSpPr>
        <p:spPr bwMode="auto">
          <a:xfrm>
            <a:off x="1851025" y="2374900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 &lt; </a:t>
            </a:r>
            <a:r>
              <a:rPr lang="en-US" altLang="zh-CN" sz="24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 err="1">
                <a:solidFill>
                  <a:srgbClr val="000066"/>
                </a:solidFill>
                <a:cs typeface="Times New Roman" panose="02020603050405020304" pitchFamily="18" charset="0"/>
              </a:rPr>
              <a:t>cr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 :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土体处于稳定状态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1432" name="Text Box 8"/>
          <p:cNvSpPr txBox="1">
            <a:spLocks noChangeArrowheads="1"/>
          </p:cNvSpPr>
          <p:nvPr/>
        </p:nvSpPr>
        <p:spPr bwMode="auto">
          <a:xfrm>
            <a:off x="1867048" y="2936396"/>
            <a:ext cx="65539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/>
              </a:rPr>
              <a:t></a:t>
            </a:r>
            <a:r>
              <a:rPr lang="en-US" altLang="zh-CN" sz="2400" b="1" dirty="0" smtClean="0">
                <a:solidFill>
                  <a:srgbClr val="000066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rgbClr val="000066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 err="1">
                <a:solidFill>
                  <a:srgbClr val="000066"/>
                </a:solidFill>
                <a:cs typeface="Times New Roman" panose="02020603050405020304" pitchFamily="18" charset="0"/>
              </a:rPr>
              <a:t>cr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</a:rPr>
              <a:t> :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土体发生流土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破坏或处于临界状态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1433" name="Text Box 9"/>
          <p:cNvSpPr txBox="1">
            <a:spLocks noChangeArrowheads="1"/>
          </p:cNvSpPr>
          <p:nvPr/>
        </p:nvSpPr>
        <p:spPr bwMode="auto">
          <a:xfrm>
            <a:off x="735013" y="4248150"/>
            <a:ext cx="2060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工程设计：</a:t>
            </a:r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3087688" y="5791200"/>
            <a:ext cx="42814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流土可能性的判别</a:t>
            </a:r>
          </a:p>
        </p:txBody>
      </p:sp>
      <p:sp>
        <p:nvSpPr>
          <p:cNvPr id="1511435" name="Text Box 11"/>
          <p:cNvSpPr txBox="1">
            <a:spLocks noChangeArrowheads="1"/>
          </p:cNvSpPr>
          <p:nvPr/>
        </p:nvSpPr>
        <p:spPr bwMode="auto">
          <a:xfrm>
            <a:off x="708025" y="792163"/>
            <a:ext cx="734695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在自下而上的渗流逸出处，任何土，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包括黏性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无黏性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土，只要满足渗透坡降大于临界水力坡降这一水力条件，均要发生流土：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2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927127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1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1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51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51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11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11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11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51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11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11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11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11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11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11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1428" grpId="0"/>
      <p:bldP spid="1511429" grpId="0"/>
      <p:bldP spid="1511430" grpId="0"/>
      <p:bldP spid="1511432" grpId="0"/>
      <p:bldP spid="1511433" grpId="0"/>
      <p:bldP spid="151143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125"/>
          <p:cNvSpPr>
            <a:spLocks noChangeArrowheads="1"/>
          </p:cNvSpPr>
          <p:nvPr/>
        </p:nvSpPr>
        <p:spPr bwMode="auto">
          <a:xfrm>
            <a:off x="3132138" y="5913438"/>
            <a:ext cx="48974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流土的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防治措施 </a:t>
            </a:r>
          </a:p>
        </p:txBody>
      </p:sp>
      <p:sp>
        <p:nvSpPr>
          <p:cNvPr id="1515650" name="Text Box 130"/>
          <p:cNvSpPr txBox="1">
            <a:spLocks noChangeArrowheads="1"/>
          </p:cNvSpPr>
          <p:nvPr/>
        </p:nvSpPr>
        <p:spPr bwMode="auto">
          <a:xfrm>
            <a:off x="396875" y="622300"/>
            <a:ext cx="7407423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防治</a:t>
            </a: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流土：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控制逸出处的水力坡降，或提高逸出处的允许水力坡降</a:t>
            </a:r>
          </a:p>
        </p:txBody>
      </p:sp>
      <p:sp>
        <p:nvSpPr>
          <p:cNvPr id="131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2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004885" y="2290360"/>
            <a:ext cx="5740029" cy="2649537"/>
            <a:chOff x="2004885" y="2290360"/>
            <a:chExt cx="5740029" cy="2649537"/>
          </a:xfrm>
        </p:grpSpPr>
        <p:sp>
          <p:nvSpPr>
            <p:cNvPr id="8" name="矩形 7"/>
            <p:cNvSpPr/>
            <p:nvPr/>
          </p:nvSpPr>
          <p:spPr bwMode="auto">
            <a:xfrm>
              <a:off x="2436577" y="3235404"/>
              <a:ext cx="122222" cy="715223"/>
            </a:xfrm>
            <a:prstGeom prst="rect">
              <a:avLst/>
            </a:prstGeom>
            <a:pattFill prst="dkUpDiag">
              <a:fgClr>
                <a:srgbClr val="0033CC"/>
              </a:fgClr>
              <a:bgClr>
                <a:schemeClr val="bg1"/>
              </a:bgClr>
            </a:patt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36" name="Group 4"/>
            <p:cNvGrpSpPr>
              <a:grpSpLocks noChangeAspect="1"/>
            </p:cNvGrpSpPr>
            <p:nvPr/>
          </p:nvGrpSpPr>
          <p:grpSpPr bwMode="auto">
            <a:xfrm>
              <a:off x="2004885" y="4262035"/>
              <a:ext cx="5740029" cy="158750"/>
              <a:chOff x="884" y="2807"/>
              <a:chExt cx="2722" cy="83"/>
            </a:xfrm>
          </p:grpSpPr>
          <p:grpSp>
            <p:nvGrpSpPr>
              <p:cNvPr id="177" name="Group 5"/>
              <p:cNvGrpSpPr>
                <a:grpSpLocks noChangeAspect="1"/>
              </p:cNvGrpSpPr>
              <p:nvPr/>
            </p:nvGrpSpPr>
            <p:grpSpPr bwMode="auto">
              <a:xfrm>
                <a:off x="2227" y="2807"/>
                <a:ext cx="481" cy="83"/>
                <a:chOff x="2644" y="2807"/>
                <a:chExt cx="481" cy="83"/>
              </a:xfrm>
            </p:grpSpPr>
            <p:sp>
              <p:nvSpPr>
                <p:cNvPr id="244" name="Freeform 6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5" name="Freeform 7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6" name="Freeform 8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" name="Freeform 9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" name="Freeform 10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" name="Freeform 11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" name="Freeform 12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" name="Freeform 13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" name="Freeform 14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" name="Freeform 15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" name="Freeform 16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" name="Freeform 17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8" name="Group 18"/>
              <p:cNvGrpSpPr>
                <a:grpSpLocks noChangeAspect="1"/>
              </p:cNvGrpSpPr>
              <p:nvPr/>
            </p:nvGrpSpPr>
            <p:grpSpPr bwMode="auto">
              <a:xfrm>
                <a:off x="1779" y="2807"/>
                <a:ext cx="481" cy="83"/>
                <a:chOff x="2644" y="2807"/>
                <a:chExt cx="481" cy="83"/>
              </a:xfrm>
            </p:grpSpPr>
            <p:sp>
              <p:nvSpPr>
                <p:cNvPr id="232" name="Freeform 19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" name="Freeform 20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" name="Freeform 21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5" name="Freeform 22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6" name="Freeform 23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7" name="Freeform 24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8" name="Freeform 25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9" name="Freeform 26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0" name="Freeform 27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1" name="Freeform 28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2" name="Freeform 29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3" name="Freeform 30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9" name="Group 31"/>
              <p:cNvGrpSpPr>
                <a:grpSpLocks noChangeAspect="1"/>
              </p:cNvGrpSpPr>
              <p:nvPr/>
            </p:nvGrpSpPr>
            <p:grpSpPr bwMode="auto">
              <a:xfrm>
                <a:off x="1332" y="2807"/>
                <a:ext cx="481" cy="83"/>
                <a:chOff x="2644" y="2807"/>
                <a:chExt cx="481" cy="83"/>
              </a:xfrm>
            </p:grpSpPr>
            <p:sp>
              <p:nvSpPr>
                <p:cNvPr id="220" name="Freeform 32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" name="Freeform 33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" name="Freeform 34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" name="Freeform 35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" name="Freeform 36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" name="Freeform 37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" name="Freeform 38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" name="Freeform 39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" name="Freeform 40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" name="Freeform 41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" name="Freeform 42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" name="Freeform 43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Group 44"/>
              <p:cNvGrpSpPr>
                <a:grpSpLocks noChangeAspect="1"/>
              </p:cNvGrpSpPr>
              <p:nvPr/>
            </p:nvGrpSpPr>
            <p:grpSpPr bwMode="auto">
              <a:xfrm>
                <a:off x="884" y="2807"/>
                <a:ext cx="481" cy="83"/>
                <a:chOff x="2644" y="2807"/>
                <a:chExt cx="481" cy="83"/>
              </a:xfrm>
            </p:grpSpPr>
            <p:sp>
              <p:nvSpPr>
                <p:cNvPr id="208" name="Freeform 45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" name="Freeform 46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" name="Freeform 47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" name="Freeform 48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" name="Freeform 49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" name="Freeform 50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" name="Freeform 51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" name="Freeform 52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" name="Freeform 53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" name="Freeform 54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" name="Freeform 55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" name="Freeform 56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1" name="Group 57"/>
              <p:cNvGrpSpPr>
                <a:grpSpLocks noChangeAspect="1"/>
              </p:cNvGrpSpPr>
              <p:nvPr/>
            </p:nvGrpSpPr>
            <p:grpSpPr bwMode="auto">
              <a:xfrm>
                <a:off x="3123" y="2807"/>
                <a:ext cx="481" cy="83"/>
                <a:chOff x="2644" y="2807"/>
                <a:chExt cx="481" cy="83"/>
              </a:xfrm>
            </p:grpSpPr>
            <p:sp>
              <p:nvSpPr>
                <p:cNvPr id="196" name="Freeform 58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" name="Freeform 59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" name="Freeform 60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" name="Freeform 61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" name="Freeform 62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" name="Freeform 63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" name="Freeform 64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" name="Freeform 65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" name="Freeform 66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" name="Freeform 67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" name="Freeform 68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" name="Freeform 69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2" name="Group 70"/>
              <p:cNvGrpSpPr>
                <a:grpSpLocks noChangeAspect="1"/>
              </p:cNvGrpSpPr>
              <p:nvPr/>
            </p:nvGrpSpPr>
            <p:grpSpPr bwMode="auto">
              <a:xfrm>
                <a:off x="2675" y="2807"/>
                <a:ext cx="481" cy="83"/>
                <a:chOff x="2644" y="2807"/>
                <a:chExt cx="481" cy="83"/>
              </a:xfrm>
            </p:grpSpPr>
            <p:sp>
              <p:nvSpPr>
                <p:cNvPr id="184" name="Freeform 71"/>
                <p:cNvSpPr>
                  <a:spLocks noChangeAspect="1"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" name="Freeform 72"/>
                <p:cNvSpPr>
                  <a:spLocks noChangeAspect="1"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" name="Freeform 73"/>
                <p:cNvSpPr>
                  <a:spLocks noChangeAspect="1"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" name="Freeform 74"/>
                <p:cNvSpPr>
                  <a:spLocks noChangeAspect="1"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" name="Freeform 75"/>
                <p:cNvSpPr>
                  <a:spLocks noChangeAspect="1"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" name="Freeform 76"/>
                <p:cNvSpPr>
                  <a:spLocks noChangeAspect="1"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" name="Freeform 77"/>
                <p:cNvSpPr>
                  <a:spLocks noChangeAspect="1"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" name="Freeform 78"/>
                <p:cNvSpPr>
                  <a:spLocks noChangeAspect="1"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" name="Freeform 79"/>
                <p:cNvSpPr>
                  <a:spLocks noChangeAspect="1"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" name="Freeform 80"/>
                <p:cNvSpPr>
                  <a:spLocks noChangeAspect="1"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" name="Freeform 81"/>
                <p:cNvSpPr>
                  <a:spLocks noChangeAspect="1"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" name="Freeform 82"/>
                <p:cNvSpPr>
                  <a:spLocks noChangeAspect="1"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83" name="Line 83"/>
              <p:cNvSpPr>
                <a:spLocks noChangeAspect="1" noChangeShapeType="1"/>
              </p:cNvSpPr>
              <p:nvPr/>
            </p:nvSpPr>
            <p:spPr bwMode="auto">
              <a:xfrm>
                <a:off x="884" y="2807"/>
                <a:ext cx="272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9" name="Freeform 86" descr="实心菱形"/>
            <p:cNvSpPr>
              <a:spLocks noChangeAspect="1"/>
            </p:cNvSpPr>
            <p:nvPr/>
          </p:nvSpPr>
          <p:spPr bwMode="auto">
            <a:xfrm>
              <a:off x="5963241" y="2998385"/>
              <a:ext cx="490537" cy="258763"/>
            </a:xfrm>
            <a:custGeom>
              <a:avLst/>
              <a:gdLst>
                <a:gd name="T0" fmla="*/ 0 w 294"/>
                <a:gd name="T1" fmla="*/ 132 h 136"/>
                <a:gd name="T2" fmla="*/ 113 w 294"/>
                <a:gd name="T3" fmla="*/ 0 h 136"/>
                <a:gd name="T4" fmla="*/ 158 w 294"/>
                <a:gd name="T5" fmla="*/ 0 h 136"/>
                <a:gd name="T6" fmla="*/ 294 w 294"/>
                <a:gd name="T7" fmla="*/ 136 h 1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136"/>
                <a:gd name="T14" fmla="*/ 294 w 294"/>
                <a:gd name="T15" fmla="*/ 136 h 1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136">
                  <a:moveTo>
                    <a:pt x="0" y="132"/>
                  </a:moveTo>
                  <a:lnTo>
                    <a:pt x="113" y="0"/>
                  </a:lnTo>
                  <a:lnTo>
                    <a:pt x="158" y="0"/>
                  </a:lnTo>
                  <a:lnTo>
                    <a:pt x="294" y="136"/>
                  </a:lnTo>
                </a:path>
              </a:pathLst>
            </a:custGeom>
            <a:pattFill prst="solidDmnd">
              <a:fgClr>
                <a:srgbClr val="996633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0" name="Freeform 87"/>
            <p:cNvSpPr>
              <a:spLocks noChangeAspect="1"/>
            </p:cNvSpPr>
            <p:nvPr/>
          </p:nvSpPr>
          <p:spPr bwMode="auto">
            <a:xfrm>
              <a:off x="2118980" y="2353861"/>
              <a:ext cx="4033174" cy="898364"/>
            </a:xfrm>
            <a:custGeom>
              <a:avLst/>
              <a:gdLst>
                <a:gd name="T0" fmla="*/ 0 w 2584"/>
                <a:gd name="T1" fmla="*/ 486 h 486"/>
                <a:gd name="T2" fmla="*/ 1024 w 2584"/>
                <a:gd name="T3" fmla="*/ 485 h 486"/>
                <a:gd name="T4" fmla="*/ 1747 w 2584"/>
                <a:gd name="T5" fmla="*/ 0 h 486"/>
                <a:gd name="T6" fmla="*/ 1862 w 2584"/>
                <a:gd name="T7" fmla="*/ 4 h 486"/>
                <a:gd name="T8" fmla="*/ 2584 w 2584"/>
                <a:gd name="T9" fmla="*/ 406 h 4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4"/>
                <a:gd name="T16" fmla="*/ 0 h 486"/>
                <a:gd name="T17" fmla="*/ 2584 w 2584"/>
                <a:gd name="T18" fmla="*/ 486 h 486"/>
                <a:gd name="connsiteX0" fmla="*/ 0 w 10118"/>
                <a:gd name="connsiteY0" fmla="*/ 10085 h 10085"/>
                <a:gd name="connsiteX1" fmla="*/ 4081 w 10118"/>
                <a:gd name="connsiteY1" fmla="*/ 9979 h 10085"/>
                <a:gd name="connsiteX2" fmla="*/ 6879 w 10118"/>
                <a:gd name="connsiteY2" fmla="*/ 0 h 10085"/>
                <a:gd name="connsiteX3" fmla="*/ 7324 w 10118"/>
                <a:gd name="connsiteY3" fmla="*/ 82 h 10085"/>
                <a:gd name="connsiteX4" fmla="*/ 10118 w 10118"/>
                <a:gd name="connsiteY4" fmla="*/ 8354 h 10085"/>
                <a:gd name="connsiteX0" fmla="*/ 0 w 10118"/>
                <a:gd name="connsiteY0" fmla="*/ 10085 h 10085"/>
                <a:gd name="connsiteX1" fmla="*/ 577 w 10118"/>
                <a:gd name="connsiteY1" fmla="*/ 9964 h 10085"/>
                <a:gd name="connsiteX2" fmla="*/ 4081 w 10118"/>
                <a:gd name="connsiteY2" fmla="*/ 9979 h 10085"/>
                <a:gd name="connsiteX3" fmla="*/ 6879 w 10118"/>
                <a:gd name="connsiteY3" fmla="*/ 0 h 10085"/>
                <a:gd name="connsiteX4" fmla="*/ 7324 w 10118"/>
                <a:gd name="connsiteY4" fmla="*/ 82 h 10085"/>
                <a:gd name="connsiteX5" fmla="*/ 10118 w 10118"/>
                <a:gd name="connsiteY5" fmla="*/ 8354 h 10085"/>
                <a:gd name="connsiteX0" fmla="*/ 0 w 10394"/>
                <a:gd name="connsiteY0" fmla="*/ 11644 h 11644"/>
                <a:gd name="connsiteX1" fmla="*/ 853 w 10394"/>
                <a:gd name="connsiteY1" fmla="*/ 9964 h 11644"/>
                <a:gd name="connsiteX2" fmla="*/ 4357 w 10394"/>
                <a:gd name="connsiteY2" fmla="*/ 9979 h 11644"/>
                <a:gd name="connsiteX3" fmla="*/ 7155 w 10394"/>
                <a:gd name="connsiteY3" fmla="*/ 0 h 11644"/>
                <a:gd name="connsiteX4" fmla="*/ 7600 w 10394"/>
                <a:gd name="connsiteY4" fmla="*/ 82 h 11644"/>
                <a:gd name="connsiteX5" fmla="*/ 10394 w 10394"/>
                <a:gd name="connsiteY5" fmla="*/ 8354 h 11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644">
                  <a:moveTo>
                    <a:pt x="0" y="11644"/>
                  </a:moveTo>
                  <a:cubicBezTo>
                    <a:pt x="181" y="11632"/>
                    <a:pt x="672" y="9976"/>
                    <a:pt x="853" y="9964"/>
                  </a:cubicBezTo>
                  <a:lnTo>
                    <a:pt x="4357" y="9979"/>
                  </a:lnTo>
                  <a:lnTo>
                    <a:pt x="7155" y="0"/>
                  </a:lnTo>
                  <a:lnTo>
                    <a:pt x="7600" y="82"/>
                  </a:lnTo>
                  <a:lnTo>
                    <a:pt x="10394" y="8354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" name="Line 89"/>
            <p:cNvSpPr>
              <a:spLocks noChangeAspect="1" noChangeShapeType="1"/>
            </p:cNvSpPr>
            <p:nvPr/>
          </p:nvSpPr>
          <p:spPr bwMode="auto">
            <a:xfrm>
              <a:off x="2447164" y="2480860"/>
              <a:ext cx="2262187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61" name="Group 111"/>
            <p:cNvGrpSpPr>
              <a:grpSpLocks/>
            </p:cNvGrpSpPr>
            <p:nvPr/>
          </p:nvGrpSpPr>
          <p:grpSpPr bwMode="auto">
            <a:xfrm>
              <a:off x="3496266" y="2290360"/>
              <a:ext cx="301625" cy="315913"/>
              <a:chOff x="1371" y="1731"/>
              <a:chExt cx="218" cy="199"/>
            </a:xfrm>
          </p:grpSpPr>
          <p:sp>
            <p:nvSpPr>
              <p:cNvPr id="170" name="Line 112"/>
              <p:cNvSpPr>
                <a:spLocks noChangeAspect="1" noChangeShapeType="1"/>
              </p:cNvSpPr>
              <p:nvPr/>
            </p:nvSpPr>
            <p:spPr bwMode="auto">
              <a:xfrm>
                <a:off x="1415" y="1905"/>
                <a:ext cx="108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1" name="Line 113"/>
              <p:cNvSpPr>
                <a:spLocks noChangeAspect="1" noChangeShapeType="1"/>
              </p:cNvSpPr>
              <p:nvPr/>
            </p:nvSpPr>
            <p:spPr bwMode="auto">
              <a:xfrm>
                <a:off x="1444" y="1930"/>
                <a:ext cx="54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2" name="AutoShape 114"/>
              <p:cNvSpPr>
                <a:spLocks noChangeAspect="1" noChangeArrowheads="1"/>
              </p:cNvSpPr>
              <p:nvPr/>
            </p:nvSpPr>
            <p:spPr bwMode="auto">
              <a:xfrm flipV="1">
                <a:off x="1381" y="1731"/>
                <a:ext cx="163" cy="109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9050" algn="ctr">
                <a:solidFill>
                  <a:srgbClr val="3333FF"/>
                </a:solidFill>
                <a:miter lim="800000"/>
                <a:headEnd/>
                <a:tailEnd/>
              </a:ln>
            </p:spPr>
            <p:txBody>
              <a:bodyPr wrap="none"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3" name="Line 115"/>
              <p:cNvSpPr>
                <a:spLocks noChangeAspect="1" noChangeShapeType="1"/>
              </p:cNvSpPr>
              <p:nvPr/>
            </p:nvSpPr>
            <p:spPr bwMode="auto">
              <a:xfrm>
                <a:off x="1371" y="1876"/>
                <a:ext cx="218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62" name="Text Box 116"/>
            <p:cNvSpPr txBox="1">
              <a:spLocks noChangeArrowheads="1"/>
            </p:cNvSpPr>
            <p:nvPr/>
          </p:nvSpPr>
          <p:spPr bwMode="auto">
            <a:xfrm>
              <a:off x="5247279" y="3590522"/>
              <a:ext cx="10271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latin typeface="Arial" charset="0"/>
                </a:rPr>
                <a:t>覆盖层</a:t>
              </a:r>
              <a:endParaRPr lang="zh-CN" altLang="en-US" sz="2400" b="1" dirty="0">
                <a:latin typeface="Arial" charset="0"/>
              </a:endParaRPr>
            </a:p>
          </p:txBody>
        </p:sp>
        <p:sp>
          <p:nvSpPr>
            <p:cNvPr id="163" name="Text Box 117"/>
            <p:cNvSpPr txBox="1">
              <a:spLocks noChangeArrowheads="1"/>
            </p:cNvSpPr>
            <p:nvPr/>
          </p:nvSpPr>
          <p:spPr bwMode="auto">
            <a:xfrm>
              <a:off x="5650504" y="4482697"/>
              <a:ext cx="12684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latin typeface="Arial" charset="0"/>
                </a:rPr>
                <a:t>不透水层</a:t>
              </a:r>
            </a:p>
          </p:txBody>
        </p:sp>
        <p:sp>
          <p:nvSpPr>
            <p:cNvPr id="164" name="Text Box 118"/>
            <p:cNvSpPr txBox="1">
              <a:spLocks noChangeArrowheads="1"/>
            </p:cNvSpPr>
            <p:nvPr/>
          </p:nvSpPr>
          <p:spPr bwMode="auto">
            <a:xfrm>
              <a:off x="4709116" y="2711518"/>
              <a:ext cx="14454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333333"/>
                  </a:solidFill>
                  <a:ea typeface="幼圆" pitchFamily="49" charset="-122"/>
                </a:rPr>
                <a:t>心墙</a:t>
              </a:r>
              <a:endParaRPr lang="zh-CN" altLang="en-US" sz="2400" b="1" dirty="0">
                <a:solidFill>
                  <a:srgbClr val="333333"/>
                </a:solidFill>
                <a:ea typeface="幼圆" pitchFamily="49" charset="-122"/>
              </a:endParaRPr>
            </a:p>
          </p:txBody>
        </p:sp>
        <p:sp>
          <p:nvSpPr>
            <p:cNvPr id="166" name="Line 120"/>
            <p:cNvSpPr>
              <a:spLocks noChangeShapeType="1"/>
            </p:cNvSpPr>
            <p:nvPr/>
          </p:nvSpPr>
          <p:spPr bwMode="auto">
            <a:xfrm flipH="1" flipV="1">
              <a:off x="4473522" y="2781495"/>
              <a:ext cx="295328" cy="167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 bwMode="auto">
            <a:xfrm>
              <a:off x="6403349" y="3198529"/>
              <a:ext cx="804272" cy="70082"/>
            </a:xfrm>
            <a:custGeom>
              <a:avLst/>
              <a:gdLst>
                <a:gd name="connsiteX0" fmla="*/ 70082 w 804272"/>
                <a:gd name="connsiteY0" fmla="*/ 70082 h 70082"/>
                <a:gd name="connsiteX1" fmla="*/ 0 w 804272"/>
                <a:gd name="connsiteY1" fmla="*/ 0 h 70082"/>
                <a:gd name="connsiteX2" fmla="*/ 744202 w 804272"/>
                <a:gd name="connsiteY2" fmla="*/ 0 h 70082"/>
                <a:gd name="connsiteX3" fmla="*/ 804272 w 804272"/>
                <a:gd name="connsiteY3" fmla="*/ 60070 h 70082"/>
                <a:gd name="connsiteX4" fmla="*/ 70082 w 804272"/>
                <a:gd name="connsiteY4" fmla="*/ 70082 h 70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4272" h="70082">
                  <a:moveTo>
                    <a:pt x="70082" y="70082"/>
                  </a:moveTo>
                  <a:lnTo>
                    <a:pt x="0" y="0"/>
                  </a:lnTo>
                  <a:lnTo>
                    <a:pt x="744202" y="0"/>
                  </a:lnTo>
                  <a:lnTo>
                    <a:pt x="804272" y="60070"/>
                  </a:lnTo>
                  <a:lnTo>
                    <a:pt x="70082" y="70082"/>
                  </a:lnTo>
                  <a:close/>
                </a:path>
              </a:pathLst>
            </a:custGeom>
            <a:pattFill prst="lgConfetti">
              <a:fgClr>
                <a:srgbClr val="0033CC"/>
              </a:fgClr>
              <a:bgClr>
                <a:schemeClr val="bg1"/>
              </a:bgClr>
            </a:patt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任意多边形 5"/>
            <p:cNvSpPr/>
            <p:nvPr/>
          </p:nvSpPr>
          <p:spPr bwMode="auto">
            <a:xfrm>
              <a:off x="7274133" y="3247883"/>
              <a:ext cx="167699" cy="534871"/>
            </a:xfrm>
            <a:custGeom>
              <a:avLst/>
              <a:gdLst>
                <a:gd name="connsiteX0" fmla="*/ 0 w 167699"/>
                <a:gd name="connsiteY0" fmla="*/ 0 h 534871"/>
                <a:gd name="connsiteX1" fmla="*/ 0 w 167699"/>
                <a:gd name="connsiteY1" fmla="*/ 534871 h 534871"/>
                <a:gd name="connsiteX2" fmla="*/ 167699 w 167699"/>
                <a:gd name="connsiteY2" fmla="*/ 534871 h 534871"/>
                <a:gd name="connsiteX3" fmla="*/ 167699 w 167699"/>
                <a:gd name="connsiteY3" fmla="*/ 5296 h 53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99" h="534871">
                  <a:moveTo>
                    <a:pt x="0" y="0"/>
                  </a:moveTo>
                  <a:lnTo>
                    <a:pt x="0" y="534871"/>
                  </a:lnTo>
                  <a:lnTo>
                    <a:pt x="167699" y="534871"/>
                  </a:lnTo>
                  <a:lnTo>
                    <a:pt x="167699" y="5296"/>
                  </a:lnTo>
                </a:path>
              </a:pathLst>
            </a:custGeom>
            <a:solidFill>
              <a:srgbClr val="FFC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60" name="任意多边形 259"/>
            <p:cNvSpPr/>
            <p:nvPr/>
          </p:nvSpPr>
          <p:spPr bwMode="auto">
            <a:xfrm>
              <a:off x="7302965" y="3274362"/>
              <a:ext cx="115920" cy="484267"/>
            </a:xfrm>
            <a:custGeom>
              <a:avLst/>
              <a:gdLst>
                <a:gd name="connsiteX0" fmla="*/ 0 w 167699"/>
                <a:gd name="connsiteY0" fmla="*/ 0 h 534871"/>
                <a:gd name="connsiteX1" fmla="*/ 0 w 167699"/>
                <a:gd name="connsiteY1" fmla="*/ 534871 h 534871"/>
                <a:gd name="connsiteX2" fmla="*/ 167699 w 167699"/>
                <a:gd name="connsiteY2" fmla="*/ 534871 h 534871"/>
                <a:gd name="connsiteX3" fmla="*/ 167699 w 167699"/>
                <a:gd name="connsiteY3" fmla="*/ 5296 h 53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99" h="534871">
                  <a:moveTo>
                    <a:pt x="0" y="0"/>
                  </a:moveTo>
                  <a:lnTo>
                    <a:pt x="0" y="534871"/>
                  </a:lnTo>
                  <a:lnTo>
                    <a:pt x="167699" y="534871"/>
                  </a:lnTo>
                  <a:lnTo>
                    <a:pt x="167699" y="5296"/>
                  </a:ln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" name="任意多边形 6"/>
            <p:cNvSpPr/>
            <p:nvPr/>
          </p:nvSpPr>
          <p:spPr bwMode="auto">
            <a:xfrm>
              <a:off x="2232874" y="2416066"/>
              <a:ext cx="2797521" cy="832918"/>
            </a:xfrm>
            <a:custGeom>
              <a:avLst/>
              <a:gdLst>
                <a:gd name="connsiteX0" fmla="*/ 2797521 w 2797521"/>
                <a:gd name="connsiteY0" fmla="*/ 99588 h 832918"/>
                <a:gd name="connsiteX1" fmla="*/ 2797521 w 2797521"/>
                <a:gd name="connsiteY1" fmla="*/ 0 h 832918"/>
                <a:gd name="connsiteX2" fmla="*/ 2675299 w 2797521"/>
                <a:gd name="connsiteY2" fmla="*/ 0 h 832918"/>
                <a:gd name="connsiteX3" fmla="*/ 1606990 w 2797521"/>
                <a:gd name="connsiteY3" fmla="*/ 769544 h 832918"/>
                <a:gd name="connsiteX4" fmla="*/ 176542 w 2797521"/>
                <a:gd name="connsiteY4" fmla="*/ 769544 h 832918"/>
                <a:gd name="connsiteX5" fmla="*/ 0 w 2797521"/>
                <a:gd name="connsiteY5" fmla="*/ 832918 h 832918"/>
                <a:gd name="connsiteX6" fmla="*/ 1638677 w 2797521"/>
                <a:gd name="connsiteY6" fmla="*/ 832918 h 832918"/>
                <a:gd name="connsiteX7" fmla="*/ 2684352 w 2797521"/>
                <a:gd name="connsiteY7" fmla="*/ 86008 h 832918"/>
                <a:gd name="connsiteX8" fmla="*/ 2797521 w 2797521"/>
                <a:gd name="connsiteY8" fmla="*/ 99588 h 832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7521" h="832918">
                  <a:moveTo>
                    <a:pt x="2797521" y="99588"/>
                  </a:moveTo>
                  <a:lnTo>
                    <a:pt x="2797521" y="0"/>
                  </a:lnTo>
                  <a:lnTo>
                    <a:pt x="2675299" y="0"/>
                  </a:lnTo>
                  <a:lnTo>
                    <a:pt x="1606990" y="769544"/>
                  </a:lnTo>
                  <a:lnTo>
                    <a:pt x="176542" y="769544"/>
                  </a:lnTo>
                  <a:lnTo>
                    <a:pt x="0" y="832918"/>
                  </a:lnTo>
                  <a:lnTo>
                    <a:pt x="1638677" y="832918"/>
                  </a:lnTo>
                  <a:lnTo>
                    <a:pt x="2684352" y="86008"/>
                  </a:lnTo>
                  <a:lnTo>
                    <a:pt x="2797521" y="99588"/>
                  </a:lnTo>
                  <a:close/>
                </a:path>
              </a:pathLst>
            </a:custGeom>
            <a:solidFill>
              <a:srgbClr val="CC99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7" name="Line 84"/>
            <p:cNvSpPr>
              <a:spLocks noChangeAspect="1" noChangeShapeType="1"/>
            </p:cNvSpPr>
            <p:nvPr/>
          </p:nvSpPr>
          <p:spPr bwMode="auto">
            <a:xfrm>
              <a:off x="2044932" y="3263497"/>
              <a:ext cx="56165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r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025722" y="3232345"/>
            <a:ext cx="1922374" cy="588538"/>
            <a:chOff x="3025722" y="3232345"/>
            <a:chExt cx="1922374" cy="588538"/>
          </a:xfrm>
        </p:grpSpPr>
        <p:sp>
          <p:nvSpPr>
            <p:cNvPr id="263" name="Text Box 118"/>
            <p:cNvSpPr txBox="1">
              <a:spLocks noChangeArrowheads="1"/>
            </p:cNvSpPr>
            <p:nvPr/>
          </p:nvSpPr>
          <p:spPr bwMode="auto">
            <a:xfrm>
              <a:off x="3502616" y="3359218"/>
              <a:ext cx="14454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333333"/>
                  </a:solidFill>
                  <a:ea typeface="幼圆" pitchFamily="49" charset="-122"/>
                </a:rPr>
                <a:t>水平铺盖</a:t>
              </a:r>
              <a:endParaRPr lang="zh-CN" altLang="en-US" sz="2400" b="1" dirty="0">
                <a:solidFill>
                  <a:srgbClr val="333333"/>
                </a:solidFill>
                <a:ea typeface="幼圆" pitchFamily="49" charset="-122"/>
              </a:endParaRPr>
            </a:p>
          </p:txBody>
        </p:sp>
        <p:sp>
          <p:nvSpPr>
            <p:cNvPr id="264" name="Line 120"/>
            <p:cNvSpPr>
              <a:spLocks noChangeShapeType="1"/>
            </p:cNvSpPr>
            <p:nvPr/>
          </p:nvSpPr>
          <p:spPr bwMode="auto">
            <a:xfrm flipH="1" flipV="1">
              <a:off x="3025722" y="3232345"/>
              <a:ext cx="441378" cy="3643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97892" y="3281309"/>
            <a:ext cx="1480208" cy="461665"/>
            <a:chOff x="997892" y="3281309"/>
            <a:chExt cx="1480208" cy="461665"/>
          </a:xfrm>
        </p:grpSpPr>
        <p:sp>
          <p:nvSpPr>
            <p:cNvPr id="265" name="Text Box 118"/>
            <p:cNvSpPr txBox="1">
              <a:spLocks noChangeArrowheads="1"/>
            </p:cNvSpPr>
            <p:nvPr/>
          </p:nvSpPr>
          <p:spPr bwMode="auto">
            <a:xfrm>
              <a:off x="997892" y="3281309"/>
              <a:ext cx="114100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333333"/>
                  </a:solidFill>
                  <a:latin typeface="+mn-ea"/>
                  <a:ea typeface="+mn-ea"/>
                </a:rPr>
                <a:t>防渗墙</a:t>
              </a:r>
              <a:endParaRPr lang="zh-CN" altLang="en-US" sz="2400" b="1" dirty="0">
                <a:solidFill>
                  <a:srgbClr val="333333"/>
                </a:solidFill>
                <a:latin typeface="+mn-ea"/>
                <a:ea typeface="+mn-ea"/>
              </a:endParaRPr>
            </a:p>
          </p:txBody>
        </p:sp>
        <p:sp>
          <p:nvSpPr>
            <p:cNvPr id="266" name="Line 120"/>
            <p:cNvSpPr>
              <a:spLocks noChangeShapeType="1"/>
            </p:cNvSpPr>
            <p:nvPr/>
          </p:nvSpPr>
          <p:spPr bwMode="auto">
            <a:xfrm flipH="1" flipV="1">
              <a:off x="2059387" y="3567791"/>
              <a:ext cx="418713" cy="482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587128" y="2358622"/>
            <a:ext cx="1255122" cy="869803"/>
            <a:chOff x="6587128" y="2358622"/>
            <a:chExt cx="1255122" cy="869803"/>
          </a:xfrm>
        </p:grpSpPr>
        <p:sp>
          <p:nvSpPr>
            <p:cNvPr id="267" name="Text Box 116"/>
            <p:cNvSpPr txBox="1">
              <a:spLocks noChangeArrowheads="1"/>
            </p:cNvSpPr>
            <p:nvPr/>
          </p:nvSpPr>
          <p:spPr bwMode="auto">
            <a:xfrm>
              <a:off x="6587128" y="2358622"/>
              <a:ext cx="12551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latin typeface="Arial" charset="0"/>
                </a:rPr>
                <a:t>透水</a:t>
              </a:r>
              <a:r>
                <a:rPr lang="zh-CN" altLang="en-US" sz="2400" b="1" dirty="0">
                  <a:latin typeface="Arial" charset="0"/>
                </a:rPr>
                <a:t>盖重</a:t>
              </a:r>
            </a:p>
          </p:txBody>
        </p:sp>
        <p:sp>
          <p:nvSpPr>
            <p:cNvPr id="268" name="Line 120"/>
            <p:cNvSpPr>
              <a:spLocks noChangeShapeType="1"/>
            </p:cNvSpPr>
            <p:nvPr/>
          </p:nvSpPr>
          <p:spPr bwMode="auto">
            <a:xfrm flipV="1">
              <a:off x="6781800" y="2815675"/>
              <a:ext cx="184150" cy="412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378700" y="3444472"/>
            <a:ext cx="1447800" cy="461665"/>
            <a:chOff x="7378700" y="3444472"/>
            <a:chExt cx="1447800" cy="461665"/>
          </a:xfrm>
        </p:grpSpPr>
        <p:sp>
          <p:nvSpPr>
            <p:cNvPr id="269" name="Text Box 116"/>
            <p:cNvSpPr txBox="1">
              <a:spLocks noChangeArrowheads="1"/>
            </p:cNvSpPr>
            <p:nvPr/>
          </p:nvSpPr>
          <p:spPr bwMode="auto">
            <a:xfrm>
              <a:off x="7571378" y="3444472"/>
              <a:ext cx="12551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latin typeface="Arial" charset="0"/>
                </a:rPr>
                <a:t>减压井</a:t>
              </a:r>
              <a:endParaRPr lang="zh-CN" altLang="en-US" sz="2400" b="1" dirty="0">
                <a:latin typeface="Arial" charset="0"/>
              </a:endParaRPr>
            </a:p>
          </p:txBody>
        </p:sp>
        <p:sp>
          <p:nvSpPr>
            <p:cNvPr id="270" name="Line 120"/>
            <p:cNvSpPr>
              <a:spLocks noChangeShapeType="1"/>
            </p:cNvSpPr>
            <p:nvPr/>
          </p:nvSpPr>
          <p:spPr bwMode="auto">
            <a:xfrm>
              <a:off x="7378700" y="3552275"/>
              <a:ext cx="285750" cy="10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43805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15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15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50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378" name="Rectangle 2"/>
          <p:cNvSpPr>
            <a:spLocks noChangeArrowheads="1"/>
          </p:cNvSpPr>
          <p:nvPr/>
        </p:nvSpPr>
        <p:spPr bwMode="auto">
          <a:xfrm>
            <a:off x="356977" y="2733220"/>
            <a:ext cx="8678863" cy="25098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65409" y="2891972"/>
            <a:ext cx="2132013" cy="731838"/>
            <a:chOff x="414" y="1384"/>
            <a:chExt cx="1343" cy="461"/>
          </a:xfrm>
        </p:grpSpPr>
        <p:sp>
          <p:nvSpPr>
            <p:cNvPr id="75898" name="Freeform 24"/>
            <p:cNvSpPr>
              <a:spLocks/>
            </p:cNvSpPr>
            <p:nvPr/>
          </p:nvSpPr>
          <p:spPr bwMode="auto">
            <a:xfrm>
              <a:off x="418" y="1448"/>
              <a:ext cx="1338" cy="397"/>
            </a:xfrm>
            <a:custGeom>
              <a:avLst/>
              <a:gdLst>
                <a:gd name="T0" fmla="*/ 3 w 1336"/>
                <a:gd name="T1" fmla="*/ 396 h 400"/>
                <a:gd name="T2" fmla="*/ 0 w 1336"/>
                <a:gd name="T3" fmla="*/ 0 h 400"/>
                <a:gd name="T4" fmla="*/ 1336 w 1336"/>
                <a:gd name="T5" fmla="*/ 3 h 400"/>
                <a:gd name="T6" fmla="*/ 814 w 1336"/>
                <a:gd name="T7" fmla="*/ 400 h 400"/>
                <a:gd name="T8" fmla="*/ 3 w 1336"/>
                <a:gd name="T9" fmla="*/ 396 h 4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6"/>
                <a:gd name="T16" fmla="*/ 0 h 400"/>
                <a:gd name="T17" fmla="*/ 1336 w 1336"/>
                <a:gd name="T18" fmla="*/ 400 h 400"/>
                <a:gd name="connsiteX0" fmla="*/ 22 w 10000"/>
                <a:gd name="connsiteY0" fmla="*/ 9900 h 10000"/>
                <a:gd name="connsiteX1" fmla="*/ 0 w 10000"/>
                <a:gd name="connsiteY1" fmla="*/ 0 h 10000"/>
                <a:gd name="connsiteX2" fmla="*/ 10000 w 10000"/>
                <a:gd name="connsiteY2" fmla="*/ 75 h 10000"/>
                <a:gd name="connsiteX3" fmla="*/ 6093 w 10000"/>
                <a:gd name="connsiteY3" fmla="*/ 10000 h 10000"/>
                <a:gd name="connsiteX4" fmla="*/ 6278 w 10000"/>
                <a:gd name="connsiteY4" fmla="*/ 9907 h 10000"/>
                <a:gd name="connsiteX5" fmla="*/ 22 w 10000"/>
                <a:gd name="connsiteY5" fmla="*/ 9900 h 10000"/>
                <a:gd name="connsiteX0" fmla="*/ 22 w 10000"/>
                <a:gd name="connsiteY0" fmla="*/ 9900 h 9907"/>
                <a:gd name="connsiteX1" fmla="*/ 0 w 10000"/>
                <a:gd name="connsiteY1" fmla="*/ 0 h 9907"/>
                <a:gd name="connsiteX2" fmla="*/ 10000 w 10000"/>
                <a:gd name="connsiteY2" fmla="*/ 75 h 9907"/>
                <a:gd name="connsiteX3" fmla="*/ 6278 w 10000"/>
                <a:gd name="connsiteY3" fmla="*/ 9907 h 9907"/>
                <a:gd name="connsiteX4" fmla="*/ 22 w 10000"/>
                <a:gd name="connsiteY4" fmla="*/ 9900 h 9907"/>
                <a:gd name="connsiteX0" fmla="*/ 22 w 10000"/>
                <a:gd name="connsiteY0" fmla="*/ 9993 h 10036"/>
                <a:gd name="connsiteX1" fmla="*/ 0 w 10000"/>
                <a:gd name="connsiteY1" fmla="*/ 0 h 10036"/>
                <a:gd name="connsiteX2" fmla="*/ 10000 w 10000"/>
                <a:gd name="connsiteY2" fmla="*/ 76 h 10036"/>
                <a:gd name="connsiteX3" fmla="*/ 6246 w 10000"/>
                <a:gd name="connsiteY3" fmla="*/ 10036 h 10036"/>
                <a:gd name="connsiteX4" fmla="*/ 22 w 10000"/>
                <a:gd name="connsiteY4" fmla="*/ 9993 h 10036"/>
                <a:gd name="connsiteX0" fmla="*/ 0 w 10031"/>
                <a:gd name="connsiteY0" fmla="*/ 9993 h 10036"/>
                <a:gd name="connsiteX1" fmla="*/ 31 w 10031"/>
                <a:gd name="connsiteY1" fmla="*/ 0 h 10036"/>
                <a:gd name="connsiteX2" fmla="*/ 10031 w 10031"/>
                <a:gd name="connsiteY2" fmla="*/ 76 h 10036"/>
                <a:gd name="connsiteX3" fmla="*/ 6277 w 10031"/>
                <a:gd name="connsiteY3" fmla="*/ 10036 h 10036"/>
                <a:gd name="connsiteX4" fmla="*/ 0 w 10031"/>
                <a:gd name="connsiteY4" fmla="*/ 9993 h 10036"/>
                <a:gd name="connsiteX0" fmla="*/ 0 w 10052"/>
                <a:gd name="connsiteY0" fmla="*/ 10065 h 10065"/>
                <a:gd name="connsiteX1" fmla="*/ 52 w 10052"/>
                <a:gd name="connsiteY1" fmla="*/ 0 h 10065"/>
                <a:gd name="connsiteX2" fmla="*/ 10052 w 10052"/>
                <a:gd name="connsiteY2" fmla="*/ 76 h 10065"/>
                <a:gd name="connsiteX3" fmla="*/ 6298 w 10052"/>
                <a:gd name="connsiteY3" fmla="*/ 10036 h 10065"/>
                <a:gd name="connsiteX4" fmla="*/ 0 w 10052"/>
                <a:gd name="connsiteY4" fmla="*/ 10065 h 10065"/>
                <a:gd name="connsiteX0" fmla="*/ 1 w 10042"/>
                <a:gd name="connsiteY0" fmla="*/ 9957 h 10036"/>
                <a:gd name="connsiteX1" fmla="*/ 42 w 10042"/>
                <a:gd name="connsiteY1" fmla="*/ 0 h 10036"/>
                <a:gd name="connsiteX2" fmla="*/ 10042 w 10042"/>
                <a:gd name="connsiteY2" fmla="*/ 76 h 10036"/>
                <a:gd name="connsiteX3" fmla="*/ 6288 w 10042"/>
                <a:gd name="connsiteY3" fmla="*/ 10036 h 10036"/>
                <a:gd name="connsiteX4" fmla="*/ 1 w 10042"/>
                <a:gd name="connsiteY4" fmla="*/ 9957 h 10036"/>
                <a:gd name="connsiteX0" fmla="*/ 2 w 10011"/>
                <a:gd name="connsiteY0" fmla="*/ 9885 h 10036"/>
                <a:gd name="connsiteX1" fmla="*/ 11 w 10011"/>
                <a:gd name="connsiteY1" fmla="*/ 0 h 10036"/>
                <a:gd name="connsiteX2" fmla="*/ 10011 w 10011"/>
                <a:gd name="connsiteY2" fmla="*/ 76 h 10036"/>
                <a:gd name="connsiteX3" fmla="*/ 6257 w 10011"/>
                <a:gd name="connsiteY3" fmla="*/ 10036 h 10036"/>
                <a:gd name="connsiteX4" fmla="*/ 2 w 10011"/>
                <a:gd name="connsiteY4" fmla="*/ 9885 h 10036"/>
                <a:gd name="connsiteX0" fmla="*/ 0 w 10020"/>
                <a:gd name="connsiteY0" fmla="*/ 9993 h 10036"/>
                <a:gd name="connsiteX1" fmla="*/ 20 w 10020"/>
                <a:gd name="connsiteY1" fmla="*/ 0 h 10036"/>
                <a:gd name="connsiteX2" fmla="*/ 10020 w 10020"/>
                <a:gd name="connsiteY2" fmla="*/ 76 h 10036"/>
                <a:gd name="connsiteX3" fmla="*/ 6266 w 10020"/>
                <a:gd name="connsiteY3" fmla="*/ 10036 h 10036"/>
                <a:gd name="connsiteX4" fmla="*/ 0 w 10020"/>
                <a:gd name="connsiteY4" fmla="*/ 9993 h 10036"/>
                <a:gd name="connsiteX0" fmla="*/ 23 w 10000"/>
                <a:gd name="connsiteY0" fmla="*/ 9993 h 10036"/>
                <a:gd name="connsiteX1" fmla="*/ 0 w 10000"/>
                <a:gd name="connsiteY1" fmla="*/ 0 h 10036"/>
                <a:gd name="connsiteX2" fmla="*/ 10000 w 10000"/>
                <a:gd name="connsiteY2" fmla="*/ 76 h 10036"/>
                <a:gd name="connsiteX3" fmla="*/ 6246 w 10000"/>
                <a:gd name="connsiteY3" fmla="*/ 10036 h 10036"/>
                <a:gd name="connsiteX4" fmla="*/ 23 w 10000"/>
                <a:gd name="connsiteY4" fmla="*/ 9993 h 10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36">
                  <a:moveTo>
                    <a:pt x="23" y="9993"/>
                  </a:moveTo>
                  <a:cubicBezTo>
                    <a:pt x="16" y="6662"/>
                    <a:pt x="7" y="3331"/>
                    <a:pt x="0" y="0"/>
                  </a:cubicBezTo>
                  <a:lnTo>
                    <a:pt x="10000" y="76"/>
                  </a:lnTo>
                  <a:lnTo>
                    <a:pt x="6246" y="10036"/>
                  </a:lnTo>
                  <a:lnTo>
                    <a:pt x="23" y="9993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9" name="Line 25"/>
            <p:cNvSpPr>
              <a:spLocks noChangeShapeType="1"/>
            </p:cNvSpPr>
            <p:nvPr/>
          </p:nvSpPr>
          <p:spPr bwMode="auto">
            <a:xfrm>
              <a:off x="414" y="1448"/>
              <a:ext cx="13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900" name="Group 26"/>
            <p:cNvGrpSpPr>
              <a:grpSpLocks/>
            </p:cNvGrpSpPr>
            <p:nvPr/>
          </p:nvGrpSpPr>
          <p:grpSpPr bwMode="auto">
            <a:xfrm>
              <a:off x="746" y="1384"/>
              <a:ext cx="115" cy="119"/>
              <a:chOff x="1277" y="1401"/>
              <a:chExt cx="115" cy="119"/>
            </a:xfrm>
          </p:grpSpPr>
          <p:sp>
            <p:nvSpPr>
              <p:cNvPr id="75901" name="AutoShape 27"/>
              <p:cNvSpPr>
                <a:spLocks noChangeArrowheads="1"/>
              </p:cNvSpPr>
              <p:nvPr/>
            </p:nvSpPr>
            <p:spPr bwMode="auto">
              <a:xfrm flipV="1">
                <a:off x="1286" y="1401"/>
                <a:ext cx="77" cy="6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902" name="Line 28"/>
              <p:cNvSpPr>
                <a:spLocks noChangeShapeType="1"/>
              </p:cNvSpPr>
              <p:nvPr/>
            </p:nvSpPr>
            <p:spPr bwMode="auto">
              <a:xfrm>
                <a:off x="1277" y="1483"/>
                <a:ext cx="11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03" name="Line 29"/>
              <p:cNvSpPr>
                <a:spLocks noChangeShapeType="1"/>
              </p:cNvSpPr>
              <p:nvPr/>
            </p:nvSpPr>
            <p:spPr bwMode="auto">
              <a:xfrm>
                <a:off x="1302" y="1501"/>
                <a:ext cx="6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04" name="Line 30"/>
              <p:cNvSpPr>
                <a:spLocks noChangeShapeType="1"/>
              </p:cNvSpPr>
              <p:nvPr/>
            </p:nvSpPr>
            <p:spPr bwMode="auto">
              <a:xfrm>
                <a:off x="1317" y="1520"/>
                <a:ext cx="4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590" y="2855457"/>
            <a:ext cx="5186362" cy="2090738"/>
            <a:chOff x="421" y="1361"/>
            <a:chExt cx="3267" cy="1317"/>
          </a:xfrm>
        </p:grpSpPr>
        <p:sp>
          <p:nvSpPr>
            <p:cNvPr id="75912" name="Rectangle 4"/>
            <p:cNvSpPr>
              <a:spLocks noChangeArrowheads="1"/>
            </p:cNvSpPr>
            <p:nvPr/>
          </p:nvSpPr>
          <p:spPr bwMode="auto">
            <a:xfrm>
              <a:off x="421" y="1848"/>
              <a:ext cx="3267" cy="8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4" name="Text Box 6"/>
            <p:cNvSpPr txBox="1">
              <a:spLocks noChangeAspect="1" noChangeArrowheads="1"/>
            </p:cNvSpPr>
            <p:nvPr/>
          </p:nvSpPr>
          <p:spPr bwMode="auto">
            <a:xfrm>
              <a:off x="1891" y="1501"/>
              <a:ext cx="41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41143" rIns="82287" bIns="41143"/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>
                  <a:ea typeface="楷体_GB2312" pitchFamily="49" charset="-122"/>
                  <a:cs typeface="Times New Roman" pitchFamily="18" charset="0"/>
                </a:rPr>
                <a:t>坝体</a:t>
              </a:r>
              <a:endParaRPr kumimoji="1" lang="zh-CN" altLang="en-US" sz="1600"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75913" name="AutoShape 5"/>
            <p:cNvSpPr>
              <a:spLocks noChangeAspect="1" noChangeArrowheads="1"/>
            </p:cNvSpPr>
            <p:nvPr/>
          </p:nvSpPr>
          <p:spPr bwMode="auto">
            <a:xfrm rot="10800000">
              <a:off x="1245" y="1361"/>
              <a:ext cx="1671" cy="483"/>
            </a:xfrm>
            <a:custGeom>
              <a:avLst/>
              <a:gdLst>
                <a:gd name="T0" fmla="*/ 1364 w 21600"/>
                <a:gd name="T1" fmla="*/ 242 h 21600"/>
                <a:gd name="T2" fmla="*/ 836 w 21600"/>
                <a:gd name="T3" fmla="*/ 483 h 21600"/>
                <a:gd name="T4" fmla="*/ 307 w 21600"/>
                <a:gd name="T5" fmla="*/ 242 h 21600"/>
                <a:gd name="T6" fmla="*/ 83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765 w 21600"/>
                <a:gd name="T13" fmla="*/ 5769 h 21600"/>
                <a:gd name="T14" fmla="*/ 15835 w 21600"/>
                <a:gd name="T15" fmla="*/ 158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7923" y="21600"/>
                  </a:lnTo>
                  <a:lnTo>
                    <a:pt x="1367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5782" name="Text Box 9"/>
          <p:cNvSpPr txBox="1">
            <a:spLocks noChangeArrowheads="1"/>
          </p:cNvSpPr>
          <p:nvPr/>
        </p:nvSpPr>
        <p:spPr bwMode="auto">
          <a:xfrm>
            <a:off x="3221621" y="5740400"/>
            <a:ext cx="3749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渗透变形 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– 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管涌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311065" y="3933370"/>
            <a:ext cx="679450" cy="806450"/>
            <a:chOff x="1976" y="1995"/>
            <a:chExt cx="475" cy="565"/>
          </a:xfrm>
        </p:grpSpPr>
        <p:grpSp>
          <p:nvGrpSpPr>
            <p:cNvPr id="75907" name="Group 14"/>
            <p:cNvGrpSpPr>
              <a:grpSpLocks noChangeAspect="1"/>
            </p:cNvGrpSpPr>
            <p:nvPr/>
          </p:nvGrpSpPr>
          <p:grpSpPr bwMode="auto">
            <a:xfrm>
              <a:off x="2002" y="1995"/>
              <a:ext cx="449" cy="470"/>
              <a:chOff x="9419" y="6679"/>
              <a:chExt cx="795" cy="648"/>
            </a:xfrm>
          </p:grpSpPr>
          <p:sp>
            <p:nvSpPr>
              <p:cNvPr id="75909" name="Freeform 15"/>
              <p:cNvSpPr>
                <a:spLocks noChangeAspect="1"/>
              </p:cNvSpPr>
              <p:nvPr/>
            </p:nvSpPr>
            <p:spPr bwMode="auto">
              <a:xfrm>
                <a:off x="9509" y="6835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10" name="Freeform 16"/>
              <p:cNvSpPr>
                <a:spLocks noChangeAspect="1"/>
              </p:cNvSpPr>
              <p:nvPr/>
            </p:nvSpPr>
            <p:spPr bwMode="auto">
              <a:xfrm>
                <a:off x="9584" y="6679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11" name="Freeform 17"/>
              <p:cNvSpPr>
                <a:spLocks noChangeAspect="1"/>
              </p:cNvSpPr>
              <p:nvPr/>
            </p:nvSpPr>
            <p:spPr bwMode="auto">
              <a:xfrm>
                <a:off x="9419" y="7015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908" name="Freeform 18"/>
            <p:cNvSpPr>
              <a:spLocks noChangeAspect="1"/>
            </p:cNvSpPr>
            <p:nvPr/>
          </p:nvSpPr>
          <p:spPr bwMode="auto">
            <a:xfrm>
              <a:off x="1976" y="2334"/>
              <a:ext cx="356" cy="226"/>
            </a:xfrm>
            <a:custGeom>
              <a:avLst/>
              <a:gdLst>
                <a:gd name="T0" fmla="*/ 0 w 630"/>
                <a:gd name="T1" fmla="*/ 0 h 312"/>
                <a:gd name="T2" fmla="*/ 210 w 630"/>
                <a:gd name="T3" fmla="*/ 156 h 312"/>
                <a:gd name="T4" fmla="*/ 630 w 630"/>
                <a:gd name="T5" fmla="*/ 312 h 312"/>
                <a:gd name="T6" fmla="*/ 0 60000 65536"/>
                <a:gd name="T7" fmla="*/ 0 60000 65536"/>
                <a:gd name="T8" fmla="*/ 0 60000 65536"/>
                <a:gd name="T9" fmla="*/ 0 w 630"/>
                <a:gd name="T10" fmla="*/ 0 h 312"/>
                <a:gd name="T11" fmla="*/ 630 w 630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0" h="312">
                  <a:moveTo>
                    <a:pt x="0" y="0"/>
                  </a:moveTo>
                  <a:cubicBezTo>
                    <a:pt x="52" y="52"/>
                    <a:pt x="105" y="104"/>
                    <a:pt x="210" y="156"/>
                  </a:cubicBezTo>
                  <a:cubicBezTo>
                    <a:pt x="315" y="208"/>
                    <a:pt x="560" y="286"/>
                    <a:pt x="630" y="312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9395" name="Text Box 19"/>
          <p:cNvSpPr txBox="1">
            <a:spLocks noChangeAspect="1" noChangeArrowheads="1"/>
          </p:cNvSpPr>
          <p:nvPr/>
        </p:nvSpPr>
        <p:spPr bwMode="auto">
          <a:xfrm>
            <a:off x="2217527" y="4323895"/>
            <a:ext cx="10890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87" tIns="41143" rIns="82287" bIns="41143"/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ea typeface="楷体_GB2312" pitchFamily="49" charset="-122"/>
                <a:cs typeface="Times New Roman" pitchFamily="18" charset="0"/>
              </a:rPr>
              <a:t>渗流</a:t>
            </a:r>
            <a:endParaRPr kumimoji="1" lang="zh-CN" altLang="en-US" sz="1600"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3647865" y="4130220"/>
            <a:ext cx="1123950" cy="720725"/>
            <a:chOff x="2287" y="2164"/>
            <a:chExt cx="708" cy="454"/>
          </a:xfrm>
        </p:grpSpPr>
        <p:sp>
          <p:nvSpPr>
            <p:cNvPr id="75905" name="Freeform 21"/>
            <p:cNvSpPr>
              <a:spLocks noChangeAspect="1"/>
            </p:cNvSpPr>
            <p:nvPr/>
          </p:nvSpPr>
          <p:spPr bwMode="auto">
            <a:xfrm>
              <a:off x="2501" y="2164"/>
              <a:ext cx="426" cy="220"/>
            </a:xfrm>
            <a:custGeom>
              <a:avLst/>
              <a:gdLst>
                <a:gd name="T0" fmla="*/ 0 w 840"/>
                <a:gd name="T1" fmla="*/ 156 h 182"/>
                <a:gd name="T2" fmla="*/ 630 w 840"/>
                <a:gd name="T3" fmla="*/ 156 h 182"/>
                <a:gd name="T4" fmla="*/ 840 w 840"/>
                <a:gd name="T5" fmla="*/ 0 h 182"/>
                <a:gd name="T6" fmla="*/ 0 60000 65536"/>
                <a:gd name="T7" fmla="*/ 0 60000 65536"/>
                <a:gd name="T8" fmla="*/ 0 60000 65536"/>
                <a:gd name="T9" fmla="*/ 0 w 840"/>
                <a:gd name="T10" fmla="*/ 0 h 182"/>
                <a:gd name="T11" fmla="*/ 840 w 840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182">
                  <a:moveTo>
                    <a:pt x="0" y="156"/>
                  </a:moveTo>
                  <a:cubicBezTo>
                    <a:pt x="245" y="169"/>
                    <a:pt x="490" y="182"/>
                    <a:pt x="630" y="156"/>
                  </a:cubicBezTo>
                  <a:cubicBezTo>
                    <a:pt x="770" y="130"/>
                    <a:pt x="805" y="65"/>
                    <a:pt x="840" y="0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906" name="Freeform 22"/>
            <p:cNvSpPr>
              <a:spLocks noChangeAspect="1"/>
            </p:cNvSpPr>
            <p:nvPr/>
          </p:nvSpPr>
          <p:spPr bwMode="auto">
            <a:xfrm>
              <a:off x="2287" y="2266"/>
              <a:ext cx="708" cy="352"/>
            </a:xfrm>
            <a:custGeom>
              <a:avLst/>
              <a:gdLst>
                <a:gd name="T0" fmla="*/ 0 w 840"/>
                <a:gd name="T1" fmla="*/ 156 h 182"/>
                <a:gd name="T2" fmla="*/ 630 w 840"/>
                <a:gd name="T3" fmla="*/ 156 h 182"/>
                <a:gd name="T4" fmla="*/ 840 w 840"/>
                <a:gd name="T5" fmla="*/ 0 h 182"/>
                <a:gd name="T6" fmla="*/ 0 60000 65536"/>
                <a:gd name="T7" fmla="*/ 0 60000 65536"/>
                <a:gd name="T8" fmla="*/ 0 60000 65536"/>
                <a:gd name="T9" fmla="*/ 0 w 840"/>
                <a:gd name="T10" fmla="*/ 0 h 182"/>
                <a:gd name="T11" fmla="*/ 840 w 840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182">
                  <a:moveTo>
                    <a:pt x="0" y="156"/>
                  </a:moveTo>
                  <a:cubicBezTo>
                    <a:pt x="245" y="169"/>
                    <a:pt x="490" y="182"/>
                    <a:pt x="630" y="156"/>
                  </a:cubicBezTo>
                  <a:cubicBezTo>
                    <a:pt x="770" y="130"/>
                    <a:pt x="805" y="65"/>
                    <a:pt x="840" y="0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5619540" y="3504745"/>
            <a:ext cx="182562" cy="188912"/>
            <a:chOff x="1277" y="1401"/>
            <a:chExt cx="115" cy="119"/>
          </a:xfrm>
        </p:grpSpPr>
        <p:sp>
          <p:nvSpPr>
            <p:cNvPr id="75894" name="AutoShape 32"/>
            <p:cNvSpPr>
              <a:spLocks noChangeArrowheads="1"/>
            </p:cNvSpPr>
            <p:nvPr/>
          </p:nvSpPr>
          <p:spPr bwMode="auto">
            <a:xfrm flipV="1">
              <a:off x="1286" y="1401"/>
              <a:ext cx="77" cy="6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95" name="Line 33"/>
            <p:cNvSpPr>
              <a:spLocks noChangeShapeType="1"/>
            </p:cNvSpPr>
            <p:nvPr/>
          </p:nvSpPr>
          <p:spPr bwMode="auto">
            <a:xfrm>
              <a:off x="1277" y="1483"/>
              <a:ext cx="1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6" name="Line 34"/>
            <p:cNvSpPr>
              <a:spLocks noChangeShapeType="1"/>
            </p:cNvSpPr>
            <p:nvPr/>
          </p:nvSpPr>
          <p:spPr bwMode="auto">
            <a:xfrm>
              <a:off x="1302" y="1501"/>
              <a:ext cx="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7" name="Line 35"/>
            <p:cNvSpPr>
              <a:spLocks noChangeShapeType="1"/>
            </p:cNvSpPr>
            <p:nvPr/>
          </p:nvSpPr>
          <p:spPr bwMode="auto">
            <a:xfrm>
              <a:off x="1317" y="1520"/>
              <a:ext cx="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4570202" y="3780970"/>
            <a:ext cx="127000" cy="73025"/>
            <a:chOff x="3837" y="3242"/>
            <a:chExt cx="80" cy="46"/>
          </a:xfrm>
        </p:grpSpPr>
        <p:sp>
          <p:nvSpPr>
            <p:cNvPr id="75881" name="Freeform 37"/>
            <p:cNvSpPr>
              <a:spLocks/>
            </p:cNvSpPr>
            <p:nvPr/>
          </p:nvSpPr>
          <p:spPr bwMode="auto">
            <a:xfrm>
              <a:off x="3837" y="326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82" name="Freeform 38"/>
            <p:cNvSpPr>
              <a:spLocks/>
            </p:cNvSpPr>
            <p:nvPr/>
          </p:nvSpPr>
          <p:spPr bwMode="auto">
            <a:xfrm>
              <a:off x="3857" y="325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83" name="Freeform 39"/>
            <p:cNvSpPr>
              <a:spLocks/>
            </p:cNvSpPr>
            <p:nvPr/>
          </p:nvSpPr>
          <p:spPr bwMode="auto">
            <a:xfrm>
              <a:off x="3843" y="327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84" name="Freeform 40"/>
            <p:cNvSpPr>
              <a:spLocks/>
            </p:cNvSpPr>
            <p:nvPr/>
          </p:nvSpPr>
          <p:spPr bwMode="auto">
            <a:xfrm>
              <a:off x="3907" y="327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85" name="Freeform 41"/>
            <p:cNvSpPr>
              <a:spLocks/>
            </p:cNvSpPr>
            <p:nvPr/>
          </p:nvSpPr>
          <p:spPr bwMode="auto">
            <a:xfrm>
              <a:off x="3861" y="3273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86" name="Freeform 42"/>
            <p:cNvSpPr>
              <a:spLocks/>
            </p:cNvSpPr>
            <p:nvPr/>
          </p:nvSpPr>
          <p:spPr bwMode="auto">
            <a:xfrm>
              <a:off x="3880" y="327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87" name="Freeform 43"/>
            <p:cNvSpPr>
              <a:spLocks/>
            </p:cNvSpPr>
            <p:nvPr/>
          </p:nvSpPr>
          <p:spPr bwMode="auto">
            <a:xfrm rot="10800000">
              <a:off x="3910" y="3252"/>
              <a:ext cx="7" cy="7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88" name="Freeform 44"/>
            <p:cNvSpPr>
              <a:spLocks/>
            </p:cNvSpPr>
            <p:nvPr/>
          </p:nvSpPr>
          <p:spPr bwMode="auto">
            <a:xfrm rot="10800000">
              <a:off x="3846" y="3255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89" name="Freeform 45"/>
            <p:cNvSpPr>
              <a:spLocks/>
            </p:cNvSpPr>
            <p:nvPr/>
          </p:nvSpPr>
          <p:spPr bwMode="auto">
            <a:xfrm rot="10800000">
              <a:off x="3875" y="3242"/>
              <a:ext cx="7" cy="7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0" name="Freeform 46"/>
            <p:cNvSpPr>
              <a:spLocks/>
            </p:cNvSpPr>
            <p:nvPr/>
          </p:nvSpPr>
          <p:spPr bwMode="auto">
            <a:xfrm rot="10800000">
              <a:off x="3875" y="3258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1" name="Freeform 47"/>
            <p:cNvSpPr>
              <a:spLocks/>
            </p:cNvSpPr>
            <p:nvPr/>
          </p:nvSpPr>
          <p:spPr bwMode="auto">
            <a:xfrm rot="10800000">
              <a:off x="3887" y="325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2" name="Freeform 48"/>
            <p:cNvSpPr>
              <a:spLocks/>
            </p:cNvSpPr>
            <p:nvPr/>
          </p:nvSpPr>
          <p:spPr bwMode="auto">
            <a:xfrm rot="10800000">
              <a:off x="3876" y="3280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3" name="Freeform 49"/>
            <p:cNvSpPr>
              <a:spLocks/>
            </p:cNvSpPr>
            <p:nvPr/>
          </p:nvSpPr>
          <p:spPr bwMode="auto">
            <a:xfrm rot="10800000">
              <a:off x="3890" y="3263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3908215" y="3842882"/>
            <a:ext cx="127000" cy="73025"/>
            <a:chOff x="3837" y="3242"/>
            <a:chExt cx="80" cy="46"/>
          </a:xfrm>
        </p:grpSpPr>
        <p:sp>
          <p:nvSpPr>
            <p:cNvPr id="75855" name="Freeform 65"/>
            <p:cNvSpPr>
              <a:spLocks/>
            </p:cNvSpPr>
            <p:nvPr/>
          </p:nvSpPr>
          <p:spPr bwMode="auto">
            <a:xfrm>
              <a:off x="3837" y="326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6" name="Freeform 66"/>
            <p:cNvSpPr>
              <a:spLocks/>
            </p:cNvSpPr>
            <p:nvPr/>
          </p:nvSpPr>
          <p:spPr bwMode="auto">
            <a:xfrm>
              <a:off x="3857" y="325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7" name="Freeform 67"/>
            <p:cNvSpPr>
              <a:spLocks/>
            </p:cNvSpPr>
            <p:nvPr/>
          </p:nvSpPr>
          <p:spPr bwMode="auto">
            <a:xfrm>
              <a:off x="3843" y="327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8" name="Freeform 68"/>
            <p:cNvSpPr>
              <a:spLocks/>
            </p:cNvSpPr>
            <p:nvPr/>
          </p:nvSpPr>
          <p:spPr bwMode="auto">
            <a:xfrm>
              <a:off x="3907" y="327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9" name="Freeform 69"/>
            <p:cNvSpPr>
              <a:spLocks/>
            </p:cNvSpPr>
            <p:nvPr/>
          </p:nvSpPr>
          <p:spPr bwMode="auto">
            <a:xfrm>
              <a:off x="3861" y="3273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0" name="Freeform 70"/>
            <p:cNvSpPr>
              <a:spLocks/>
            </p:cNvSpPr>
            <p:nvPr/>
          </p:nvSpPr>
          <p:spPr bwMode="auto">
            <a:xfrm>
              <a:off x="3880" y="327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1" name="Freeform 71"/>
            <p:cNvSpPr>
              <a:spLocks/>
            </p:cNvSpPr>
            <p:nvPr/>
          </p:nvSpPr>
          <p:spPr bwMode="auto">
            <a:xfrm rot="10800000">
              <a:off x="3910" y="3252"/>
              <a:ext cx="7" cy="7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2" name="Freeform 72"/>
            <p:cNvSpPr>
              <a:spLocks/>
            </p:cNvSpPr>
            <p:nvPr/>
          </p:nvSpPr>
          <p:spPr bwMode="auto">
            <a:xfrm rot="10800000">
              <a:off x="3846" y="3255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3" name="Freeform 73"/>
            <p:cNvSpPr>
              <a:spLocks/>
            </p:cNvSpPr>
            <p:nvPr/>
          </p:nvSpPr>
          <p:spPr bwMode="auto">
            <a:xfrm rot="10800000">
              <a:off x="3875" y="3242"/>
              <a:ext cx="7" cy="7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4" name="Freeform 74"/>
            <p:cNvSpPr>
              <a:spLocks/>
            </p:cNvSpPr>
            <p:nvPr/>
          </p:nvSpPr>
          <p:spPr bwMode="auto">
            <a:xfrm rot="10800000">
              <a:off x="3875" y="3258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5" name="Freeform 75"/>
            <p:cNvSpPr>
              <a:spLocks/>
            </p:cNvSpPr>
            <p:nvPr/>
          </p:nvSpPr>
          <p:spPr bwMode="auto">
            <a:xfrm rot="10800000">
              <a:off x="3887" y="325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6" name="Freeform 76"/>
            <p:cNvSpPr>
              <a:spLocks/>
            </p:cNvSpPr>
            <p:nvPr/>
          </p:nvSpPr>
          <p:spPr bwMode="auto">
            <a:xfrm rot="10800000">
              <a:off x="3876" y="3280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7" name="Freeform 77"/>
            <p:cNvSpPr>
              <a:spLocks/>
            </p:cNvSpPr>
            <p:nvPr/>
          </p:nvSpPr>
          <p:spPr bwMode="auto">
            <a:xfrm rot="10800000">
              <a:off x="3890" y="3263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78"/>
          <p:cNvGrpSpPr>
            <a:grpSpLocks/>
          </p:cNvGrpSpPr>
          <p:nvPr/>
        </p:nvGrpSpPr>
        <p:grpSpPr bwMode="auto">
          <a:xfrm>
            <a:off x="2957302" y="3844470"/>
            <a:ext cx="127000" cy="73025"/>
            <a:chOff x="3837" y="3242"/>
            <a:chExt cx="80" cy="46"/>
          </a:xfrm>
        </p:grpSpPr>
        <p:sp>
          <p:nvSpPr>
            <p:cNvPr id="75842" name="Freeform 79"/>
            <p:cNvSpPr>
              <a:spLocks/>
            </p:cNvSpPr>
            <p:nvPr/>
          </p:nvSpPr>
          <p:spPr bwMode="auto">
            <a:xfrm>
              <a:off x="3837" y="326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43" name="Freeform 80"/>
            <p:cNvSpPr>
              <a:spLocks/>
            </p:cNvSpPr>
            <p:nvPr/>
          </p:nvSpPr>
          <p:spPr bwMode="auto">
            <a:xfrm>
              <a:off x="3857" y="325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44" name="Freeform 81"/>
            <p:cNvSpPr>
              <a:spLocks/>
            </p:cNvSpPr>
            <p:nvPr/>
          </p:nvSpPr>
          <p:spPr bwMode="auto">
            <a:xfrm>
              <a:off x="3843" y="327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45" name="Freeform 82"/>
            <p:cNvSpPr>
              <a:spLocks/>
            </p:cNvSpPr>
            <p:nvPr/>
          </p:nvSpPr>
          <p:spPr bwMode="auto">
            <a:xfrm>
              <a:off x="3907" y="327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46" name="Freeform 83"/>
            <p:cNvSpPr>
              <a:spLocks/>
            </p:cNvSpPr>
            <p:nvPr/>
          </p:nvSpPr>
          <p:spPr bwMode="auto">
            <a:xfrm>
              <a:off x="3861" y="3273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47" name="Freeform 84"/>
            <p:cNvSpPr>
              <a:spLocks/>
            </p:cNvSpPr>
            <p:nvPr/>
          </p:nvSpPr>
          <p:spPr bwMode="auto">
            <a:xfrm>
              <a:off x="3880" y="327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48" name="Freeform 85"/>
            <p:cNvSpPr>
              <a:spLocks/>
            </p:cNvSpPr>
            <p:nvPr/>
          </p:nvSpPr>
          <p:spPr bwMode="auto">
            <a:xfrm rot="10800000">
              <a:off x="3910" y="3252"/>
              <a:ext cx="7" cy="7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49" name="Freeform 86"/>
            <p:cNvSpPr>
              <a:spLocks/>
            </p:cNvSpPr>
            <p:nvPr/>
          </p:nvSpPr>
          <p:spPr bwMode="auto">
            <a:xfrm rot="10800000">
              <a:off x="3846" y="3255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0" name="Freeform 87"/>
            <p:cNvSpPr>
              <a:spLocks/>
            </p:cNvSpPr>
            <p:nvPr/>
          </p:nvSpPr>
          <p:spPr bwMode="auto">
            <a:xfrm rot="10800000">
              <a:off x="3875" y="3242"/>
              <a:ext cx="7" cy="7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1" name="Freeform 88"/>
            <p:cNvSpPr>
              <a:spLocks/>
            </p:cNvSpPr>
            <p:nvPr/>
          </p:nvSpPr>
          <p:spPr bwMode="auto">
            <a:xfrm rot="10800000">
              <a:off x="3875" y="3258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2" name="Freeform 89"/>
            <p:cNvSpPr>
              <a:spLocks/>
            </p:cNvSpPr>
            <p:nvPr/>
          </p:nvSpPr>
          <p:spPr bwMode="auto">
            <a:xfrm rot="10800000">
              <a:off x="3887" y="325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3" name="Freeform 90"/>
            <p:cNvSpPr>
              <a:spLocks/>
            </p:cNvSpPr>
            <p:nvPr/>
          </p:nvSpPr>
          <p:spPr bwMode="auto">
            <a:xfrm rot="10800000">
              <a:off x="3876" y="3280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4" name="Freeform 91"/>
            <p:cNvSpPr>
              <a:spLocks/>
            </p:cNvSpPr>
            <p:nvPr/>
          </p:nvSpPr>
          <p:spPr bwMode="auto">
            <a:xfrm rot="10800000">
              <a:off x="3890" y="3263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92"/>
          <p:cNvGrpSpPr>
            <a:grpSpLocks/>
          </p:cNvGrpSpPr>
          <p:nvPr/>
        </p:nvGrpSpPr>
        <p:grpSpPr bwMode="auto">
          <a:xfrm>
            <a:off x="2160377" y="3811132"/>
            <a:ext cx="127000" cy="73025"/>
            <a:chOff x="3837" y="3242"/>
            <a:chExt cx="80" cy="46"/>
          </a:xfrm>
        </p:grpSpPr>
        <p:sp>
          <p:nvSpPr>
            <p:cNvPr id="75829" name="Freeform 93"/>
            <p:cNvSpPr>
              <a:spLocks/>
            </p:cNvSpPr>
            <p:nvPr/>
          </p:nvSpPr>
          <p:spPr bwMode="auto">
            <a:xfrm>
              <a:off x="3837" y="326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0" name="Freeform 94"/>
            <p:cNvSpPr>
              <a:spLocks/>
            </p:cNvSpPr>
            <p:nvPr/>
          </p:nvSpPr>
          <p:spPr bwMode="auto">
            <a:xfrm>
              <a:off x="3857" y="325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1" name="Freeform 95"/>
            <p:cNvSpPr>
              <a:spLocks/>
            </p:cNvSpPr>
            <p:nvPr/>
          </p:nvSpPr>
          <p:spPr bwMode="auto">
            <a:xfrm>
              <a:off x="3843" y="327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2" name="Freeform 96"/>
            <p:cNvSpPr>
              <a:spLocks/>
            </p:cNvSpPr>
            <p:nvPr/>
          </p:nvSpPr>
          <p:spPr bwMode="auto">
            <a:xfrm>
              <a:off x="3907" y="3274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3" name="Freeform 97"/>
            <p:cNvSpPr>
              <a:spLocks/>
            </p:cNvSpPr>
            <p:nvPr/>
          </p:nvSpPr>
          <p:spPr bwMode="auto">
            <a:xfrm>
              <a:off x="3861" y="3273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4" name="Freeform 98"/>
            <p:cNvSpPr>
              <a:spLocks/>
            </p:cNvSpPr>
            <p:nvPr/>
          </p:nvSpPr>
          <p:spPr bwMode="auto">
            <a:xfrm>
              <a:off x="3880" y="327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5" name="Freeform 99"/>
            <p:cNvSpPr>
              <a:spLocks/>
            </p:cNvSpPr>
            <p:nvPr/>
          </p:nvSpPr>
          <p:spPr bwMode="auto">
            <a:xfrm rot="10800000">
              <a:off x="3910" y="3252"/>
              <a:ext cx="7" cy="7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6" name="Freeform 100"/>
            <p:cNvSpPr>
              <a:spLocks/>
            </p:cNvSpPr>
            <p:nvPr/>
          </p:nvSpPr>
          <p:spPr bwMode="auto">
            <a:xfrm rot="10800000">
              <a:off x="3846" y="3255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7" name="Freeform 101"/>
            <p:cNvSpPr>
              <a:spLocks/>
            </p:cNvSpPr>
            <p:nvPr/>
          </p:nvSpPr>
          <p:spPr bwMode="auto">
            <a:xfrm rot="10800000">
              <a:off x="3875" y="3242"/>
              <a:ext cx="7" cy="7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8" name="Freeform 102"/>
            <p:cNvSpPr>
              <a:spLocks/>
            </p:cNvSpPr>
            <p:nvPr/>
          </p:nvSpPr>
          <p:spPr bwMode="auto">
            <a:xfrm rot="10800000">
              <a:off x="3875" y="3258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9" name="Freeform 103"/>
            <p:cNvSpPr>
              <a:spLocks/>
            </p:cNvSpPr>
            <p:nvPr/>
          </p:nvSpPr>
          <p:spPr bwMode="auto">
            <a:xfrm rot="10800000">
              <a:off x="3887" y="3252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40" name="Freeform 104"/>
            <p:cNvSpPr>
              <a:spLocks/>
            </p:cNvSpPr>
            <p:nvPr/>
          </p:nvSpPr>
          <p:spPr bwMode="auto">
            <a:xfrm rot="10800000">
              <a:off x="3876" y="3280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41" name="Freeform 105"/>
            <p:cNvSpPr>
              <a:spLocks/>
            </p:cNvSpPr>
            <p:nvPr/>
          </p:nvSpPr>
          <p:spPr bwMode="auto">
            <a:xfrm rot="10800000">
              <a:off x="3890" y="3263"/>
              <a:ext cx="7" cy="8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9511" name="Text Box 135"/>
          <p:cNvSpPr txBox="1">
            <a:spLocks noChangeArrowheads="1"/>
          </p:cNvSpPr>
          <p:nvPr/>
        </p:nvSpPr>
        <p:spPr bwMode="auto">
          <a:xfrm>
            <a:off x="6880015" y="2823707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A50021"/>
                </a:solidFill>
                <a:ea typeface="幼圆" pitchFamily="49" charset="-122"/>
              </a:rPr>
              <a:t>过程演示</a:t>
            </a:r>
            <a:endParaRPr lang="en-US" altLang="zh-CN" sz="20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509512" name="Text Box 136"/>
          <p:cNvSpPr txBox="1">
            <a:spLocks noChangeArrowheads="1"/>
          </p:cNvSpPr>
          <p:nvPr/>
        </p:nvSpPr>
        <p:spPr bwMode="auto">
          <a:xfrm>
            <a:off x="6162465" y="3503157"/>
            <a:ext cx="27622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66"/>
                </a:solidFill>
                <a:ea typeface="幼圆" pitchFamily="49" charset="-122"/>
              </a:rPr>
              <a:t>1. </a:t>
            </a: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在渗透水流作用下，细颗粒在粗颗粒形成的孔隙中移动流失</a:t>
            </a:r>
          </a:p>
        </p:txBody>
      </p:sp>
      <p:sp>
        <p:nvSpPr>
          <p:cNvPr id="139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0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94" name="Rectangle 12"/>
          <p:cNvSpPr>
            <a:spLocks noChangeArrowheads="1"/>
          </p:cNvSpPr>
          <p:nvPr/>
        </p:nvSpPr>
        <p:spPr bwMode="auto">
          <a:xfrm>
            <a:off x="563747" y="855737"/>
            <a:ext cx="7991475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450850" indent="-450850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在渗流作用下，一定级配的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无黏性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土中的细小颗粒，通过较大颗粒所形成的孔隙发生移动，最终在土中形成与地表贯通的管道</a:t>
            </a:r>
          </a:p>
        </p:txBody>
      </p:sp>
    </p:spTree>
    <p:extLst>
      <p:ext uri="{BB962C8B-B14F-4D97-AF65-F5344CB8AC3E}">
        <p14:creationId xmlns:p14="http://schemas.microsoft.com/office/powerpoint/2010/main" val="268235670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150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3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0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0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0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0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0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095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09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09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79186E-6 C 0.00782 -0.00439 0.01563 -0.00879 0.02032 -0.01341 C 0.025 -0.01804 0.02639 -0.02336 0.02778 -0.02844 " pathEditMode="relative" ptsTypes="aaA">
                                      <p:cBhvr>
                                        <p:cTn id="6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6"/>
                                            </p:cond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7.40741E-7 C 0.00729 -0.00115 0.01458 -0.00208 0.02326 -0.00324 C 0.03194 -0.0044 0.04271 -0.00416 0.05174 -0.00648 C 0.06076 -0.00879 0.07031 -0.01227 0.07743 -0.01666 C 0.08455 -0.02106 0.09063 -0.02963 0.0941 -0.03333 C 0.09757 -0.03703 0.09792 -0.03796 0.09826 -0.03889 " pathEditMode="relative" ptsTypes="aaaaaA">
                                      <p:cBhvr>
                                        <p:cTn id="7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9"/>
                                            </p:cond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85185E-6 C 0.00868 -0.00069 0.01736 -0.00139 0.02743 -0.00116 C 0.0375 -0.00092 0.0493 0.00116 0.06076 0.00093 C 0.07222 0.0007 0.08454 -0.00139 0.0967 -0.00231 C 0.10885 -0.00324 0.12083 -0.00185 0.1342 -0.00463 C 0.14756 -0.00741 0.16822 -0.01481 0.17743 -0.01898 C 0.18663 -0.02315 0.18576 -0.02639 0.18906 -0.03009 C 0.19236 -0.03379 0.19479 -0.0375 0.19739 -0.0412 " pathEditMode="relative" rAng="0" ptsTypes="aaaaaaaA">
                                      <p:cBhvr>
                                        <p:cTn id="7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61" y="-201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2"/>
                                            </p:cond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C 0.00868 0.00162 0.01736 0.00324 0.03003 0.0044 C 0.04271 0.00556 0.05972 0.00741 0.07587 0.00764 C 0.09201 0.00787 0.10434 0.00718 0.12673 0.00648 C 0.14913 0.00579 0.18819 0.00579 0.21007 0.00324 C 0.23194 0.0007 0.24618 -0.00254 0.25833 -0.00903 C 0.27048 -0.01551 0.27691 -0.02569 0.28333 -0.03565 " pathEditMode="relative" rAng="0" ptsTypes="aaaaaaA">
                                      <p:cBhvr>
                                        <p:cTn id="7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67" y="-138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5"/>
                                            </p:cond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9378" grpId="0" animBg="1"/>
      <p:bldP spid="1509395" grpId="0"/>
      <p:bldP spid="1509511" grpId="0"/>
      <p:bldP spid="1509512" grpId="0"/>
      <p:bldP spid="94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378" name="Rectangle 2"/>
          <p:cNvSpPr>
            <a:spLocks noChangeArrowheads="1"/>
          </p:cNvSpPr>
          <p:nvPr/>
        </p:nvSpPr>
        <p:spPr bwMode="auto">
          <a:xfrm>
            <a:off x="356977" y="2754486"/>
            <a:ext cx="8678863" cy="25098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77653" y="2913236"/>
            <a:ext cx="2128838" cy="752582"/>
            <a:chOff x="416" y="1384"/>
            <a:chExt cx="1341" cy="464"/>
          </a:xfrm>
        </p:grpSpPr>
        <p:sp>
          <p:nvSpPr>
            <p:cNvPr id="75898" name="Freeform 24"/>
            <p:cNvSpPr>
              <a:spLocks/>
            </p:cNvSpPr>
            <p:nvPr/>
          </p:nvSpPr>
          <p:spPr bwMode="auto">
            <a:xfrm>
              <a:off x="421" y="1448"/>
              <a:ext cx="1336" cy="400"/>
            </a:xfrm>
            <a:custGeom>
              <a:avLst/>
              <a:gdLst>
                <a:gd name="T0" fmla="*/ 3 w 1336"/>
                <a:gd name="T1" fmla="*/ 396 h 400"/>
                <a:gd name="T2" fmla="*/ 0 w 1336"/>
                <a:gd name="T3" fmla="*/ 0 h 400"/>
                <a:gd name="T4" fmla="*/ 1336 w 1336"/>
                <a:gd name="T5" fmla="*/ 3 h 400"/>
                <a:gd name="T6" fmla="*/ 814 w 1336"/>
                <a:gd name="T7" fmla="*/ 400 h 400"/>
                <a:gd name="T8" fmla="*/ 3 w 1336"/>
                <a:gd name="T9" fmla="*/ 396 h 4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6"/>
                <a:gd name="T16" fmla="*/ 0 h 400"/>
                <a:gd name="T17" fmla="*/ 1336 w 1336"/>
                <a:gd name="T18" fmla="*/ 400 h 4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6" h="400">
                  <a:moveTo>
                    <a:pt x="3" y="396"/>
                  </a:moveTo>
                  <a:lnTo>
                    <a:pt x="0" y="0"/>
                  </a:lnTo>
                  <a:lnTo>
                    <a:pt x="1336" y="3"/>
                  </a:lnTo>
                  <a:lnTo>
                    <a:pt x="814" y="400"/>
                  </a:lnTo>
                  <a:lnTo>
                    <a:pt x="3" y="396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9" name="Line 25"/>
            <p:cNvSpPr>
              <a:spLocks noChangeShapeType="1"/>
            </p:cNvSpPr>
            <p:nvPr/>
          </p:nvSpPr>
          <p:spPr bwMode="auto">
            <a:xfrm>
              <a:off x="416" y="1448"/>
              <a:ext cx="13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900" name="Group 26"/>
            <p:cNvGrpSpPr>
              <a:grpSpLocks/>
            </p:cNvGrpSpPr>
            <p:nvPr/>
          </p:nvGrpSpPr>
          <p:grpSpPr bwMode="auto">
            <a:xfrm>
              <a:off x="746" y="1384"/>
              <a:ext cx="115" cy="119"/>
              <a:chOff x="1277" y="1401"/>
              <a:chExt cx="115" cy="119"/>
            </a:xfrm>
          </p:grpSpPr>
          <p:sp>
            <p:nvSpPr>
              <p:cNvPr id="75901" name="AutoShape 27"/>
              <p:cNvSpPr>
                <a:spLocks noChangeArrowheads="1"/>
              </p:cNvSpPr>
              <p:nvPr/>
            </p:nvSpPr>
            <p:spPr bwMode="auto">
              <a:xfrm flipV="1">
                <a:off x="1286" y="1401"/>
                <a:ext cx="77" cy="6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902" name="Line 28"/>
              <p:cNvSpPr>
                <a:spLocks noChangeShapeType="1"/>
              </p:cNvSpPr>
              <p:nvPr/>
            </p:nvSpPr>
            <p:spPr bwMode="auto">
              <a:xfrm>
                <a:off x="1277" y="1483"/>
                <a:ext cx="11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03" name="Line 29"/>
              <p:cNvSpPr>
                <a:spLocks noChangeShapeType="1"/>
              </p:cNvSpPr>
              <p:nvPr/>
            </p:nvSpPr>
            <p:spPr bwMode="auto">
              <a:xfrm>
                <a:off x="1302" y="1501"/>
                <a:ext cx="6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04" name="Line 30"/>
              <p:cNvSpPr>
                <a:spLocks noChangeShapeType="1"/>
              </p:cNvSpPr>
              <p:nvPr/>
            </p:nvSpPr>
            <p:spPr bwMode="auto">
              <a:xfrm>
                <a:off x="1317" y="1520"/>
                <a:ext cx="4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590" y="2876723"/>
            <a:ext cx="5186362" cy="2090738"/>
            <a:chOff x="421" y="1361"/>
            <a:chExt cx="3267" cy="1317"/>
          </a:xfrm>
        </p:grpSpPr>
        <p:sp>
          <p:nvSpPr>
            <p:cNvPr id="75912" name="Rectangle 4"/>
            <p:cNvSpPr>
              <a:spLocks noChangeArrowheads="1"/>
            </p:cNvSpPr>
            <p:nvPr/>
          </p:nvSpPr>
          <p:spPr bwMode="auto">
            <a:xfrm>
              <a:off x="421" y="1848"/>
              <a:ext cx="3267" cy="8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3" name="AutoShape 5"/>
            <p:cNvSpPr>
              <a:spLocks noChangeAspect="1" noChangeArrowheads="1"/>
            </p:cNvSpPr>
            <p:nvPr/>
          </p:nvSpPr>
          <p:spPr bwMode="auto">
            <a:xfrm rot="10800000">
              <a:off x="1245" y="1361"/>
              <a:ext cx="1671" cy="483"/>
            </a:xfrm>
            <a:custGeom>
              <a:avLst/>
              <a:gdLst>
                <a:gd name="T0" fmla="*/ 1364 w 21600"/>
                <a:gd name="T1" fmla="*/ 242 h 21600"/>
                <a:gd name="T2" fmla="*/ 836 w 21600"/>
                <a:gd name="T3" fmla="*/ 483 h 21600"/>
                <a:gd name="T4" fmla="*/ 307 w 21600"/>
                <a:gd name="T5" fmla="*/ 242 h 21600"/>
                <a:gd name="T6" fmla="*/ 83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765 w 21600"/>
                <a:gd name="T13" fmla="*/ 5769 h 21600"/>
                <a:gd name="T14" fmla="*/ 15835 w 21600"/>
                <a:gd name="T15" fmla="*/ 158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7923" y="21600"/>
                  </a:lnTo>
                  <a:lnTo>
                    <a:pt x="1367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914" name="Text Box 6"/>
            <p:cNvSpPr txBox="1">
              <a:spLocks noChangeAspect="1" noChangeArrowheads="1"/>
            </p:cNvSpPr>
            <p:nvPr/>
          </p:nvSpPr>
          <p:spPr bwMode="auto">
            <a:xfrm>
              <a:off x="1891" y="1501"/>
              <a:ext cx="41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41143" rIns="82287" bIns="41143"/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>
                  <a:ea typeface="楷体_GB2312" pitchFamily="49" charset="-122"/>
                  <a:cs typeface="Times New Roman" pitchFamily="18" charset="0"/>
                </a:rPr>
                <a:t>坝体</a:t>
              </a:r>
              <a:endParaRPr kumimoji="1" lang="zh-CN" altLang="en-US" sz="1600"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311065" y="3954636"/>
            <a:ext cx="679450" cy="806450"/>
            <a:chOff x="1976" y="1995"/>
            <a:chExt cx="475" cy="565"/>
          </a:xfrm>
        </p:grpSpPr>
        <p:grpSp>
          <p:nvGrpSpPr>
            <p:cNvPr id="75907" name="Group 14"/>
            <p:cNvGrpSpPr>
              <a:grpSpLocks noChangeAspect="1"/>
            </p:cNvGrpSpPr>
            <p:nvPr/>
          </p:nvGrpSpPr>
          <p:grpSpPr bwMode="auto">
            <a:xfrm>
              <a:off x="2002" y="1995"/>
              <a:ext cx="449" cy="470"/>
              <a:chOff x="9419" y="6679"/>
              <a:chExt cx="795" cy="648"/>
            </a:xfrm>
          </p:grpSpPr>
          <p:sp>
            <p:nvSpPr>
              <p:cNvPr id="75909" name="Freeform 15"/>
              <p:cNvSpPr>
                <a:spLocks noChangeAspect="1"/>
              </p:cNvSpPr>
              <p:nvPr/>
            </p:nvSpPr>
            <p:spPr bwMode="auto">
              <a:xfrm>
                <a:off x="9509" y="6835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10" name="Freeform 16"/>
              <p:cNvSpPr>
                <a:spLocks noChangeAspect="1"/>
              </p:cNvSpPr>
              <p:nvPr/>
            </p:nvSpPr>
            <p:spPr bwMode="auto">
              <a:xfrm>
                <a:off x="9584" y="6679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11" name="Freeform 17"/>
              <p:cNvSpPr>
                <a:spLocks noChangeAspect="1"/>
              </p:cNvSpPr>
              <p:nvPr/>
            </p:nvSpPr>
            <p:spPr bwMode="auto">
              <a:xfrm>
                <a:off x="9419" y="7015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908" name="Freeform 18"/>
            <p:cNvSpPr>
              <a:spLocks noChangeAspect="1"/>
            </p:cNvSpPr>
            <p:nvPr/>
          </p:nvSpPr>
          <p:spPr bwMode="auto">
            <a:xfrm>
              <a:off x="1976" y="2334"/>
              <a:ext cx="356" cy="226"/>
            </a:xfrm>
            <a:custGeom>
              <a:avLst/>
              <a:gdLst>
                <a:gd name="T0" fmla="*/ 0 w 630"/>
                <a:gd name="T1" fmla="*/ 0 h 312"/>
                <a:gd name="T2" fmla="*/ 210 w 630"/>
                <a:gd name="T3" fmla="*/ 156 h 312"/>
                <a:gd name="T4" fmla="*/ 630 w 630"/>
                <a:gd name="T5" fmla="*/ 312 h 312"/>
                <a:gd name="T6" fmla="*/ 0 60000 65536"/>
                <a:gd name="T7" fmla="*/ 0 60000 65536"/>
                <a:gd name="T8" fmla="*/ 0 60000 65536"/>
                <a:gd name="T9" fmla="*/ 0 w 630"/>
                <a:gd name="T10" fmla="*/ 0 h 312"/>
                <a:gd name="T11" fmla="*/ 630 w 630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0" h="312">
                  <a:moveTo>
                    <a:pt x="0" y="0"/>
                  </a:moveTo>
                  <a:cubicBezTo>
                    <a:pt x="52" y="52"/>
                    <a:pt x="105" y="104"/>
                    <a:pt x="210" y="156"/>
                  </a:cubicBezTo>
                  <a:cubicBezTo>
                    <a:pt x="315" y="208"/>
                    <a:pt x="560" y="286"/>
                    <a:pt x="630" y="312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9395" name="Text Box 19"/>
          <p:cNvSpPr txBox="1">
            <a:spLocks noChangeAspect="1" noChangeArrowheads="1"/>
          </p:cNvSpPr>
          <p:nvPr/>
        </p:nvSpPr>
        <p:spPr bwMode="auto">
          <a:xfrm>
            <a:off x="2217527" y="4345161"/>
            <a:ext cx="10890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87" tIns="41143" rIns="82287" bIns="41143"/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ea typeface="楷体_GB2312" pitchFamily="49" charset="-122"/>
                <a:cs typeface="Times New Roman" pitchFamily="18" charset="0"/>
              </a:rPr>
              <a:t>渗流</a:t>
            </a:r>
            <a:endParaRPr kumimoji="1" lang="zh-CN" altLang="en-US" sz="1600"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3647865" y="4151486"/>
            <a:ext cx="1123950" cy="720725"/>
            <a:chOff x="2287" y="2164"/>
            <a:chExt cx="708" cy="454"/>
          </a:xfrm>
        </p:grpSpPr>
        <p:sp>
          <p:nvSpPr>
            <p:cNvPr id="75905" name="Freeform 21"/>
            <p:cNvSpPr>
              <a:spLocks noChangeAspect="1"/>
            </p:cNvSpPr>
            <p:nvPr/>
          </p:nvSpPr>
          <p:spPr bwMode="auto">
            <a:xfrm>
              <a:off x="2501" y="2164"/>
              <a:ext cx="426" cy="220"/>
            </a:xfrm>
            <a:custGeom>
              <a:avLst/>
              <a:gdLst>
                <a:gd name="T0" fmla="*/ 0 w 840"/>
                <a:gd name="T1" fmla="*/ 156 h 182"/>
                <a:gd name="T2" fmla="*/ 630 w 840"/>
                <a:gd name="T3" fmla="*/ 156 h 182"/>
                <a:gd name="T4" fmla="*/ 840 w 840"/>
                <a:gd name="T5" fmla="*/ 0 h 182"/>
                <a:gd name="T6" fmla="*/ 0 60000 65536"/>
                <a:gd name="T7" fmla="*/ 0 60000 65536"/>
                <a:gd name="T8" fmla="*/ 0 60000 65536"/>
                <a:gd name="T9" fmla="*/ 0 w 840"/>
                <a:gd name="T10" fmla="*/ 0 h 182"/>
                <a:gd name="T11" fmla="*/ 840 w 840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182">
                  <a:moveTo>
                    <a:pt x="0" y="156"/>
                  </a:moveTo>
                  <a:cubicBezTo>
                    <a:pt x="245" y="169"/>
                    <a:pt x="490" y="182"/>
                    <a:pt x="630" y="156"/>
                  </a:cubicBezTo>
                  <a:cubicBezTo>
                    <a:pt x="770" y="130"/>
                    <a:pt x="805" y="65"/>
                    <a:pt x="840" y="0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906" name="Freeform 22"/>
            <p:cNvSpPr>
              <a:spLocks noChangeAspect="1"/>
            </p:cNvSpPr>
            <p:nvPr/>
          </p:nvSpPr>
          <p:spPr bwMode="auto">
            <a:xfrm>
              <a:off x="2287" y="2266"/>
              <a:ext cx="708" cy="352"/>
            </a:xfrm>
            <a:custGeom>
              <a:avLst/>
              <a:gdLst>
                <a:gd name="T0" fmla="*/ 0 w 840"/>
                <a:gd name="T1" fmla="*/ 156 h 182"/>
                <a:gd name="T2" fmla="*/ 630 w 840"/>
                <a:gd name="T3" fmla="*/ 156 h 182"/>
                <a:gd name="T4" fmla="*/ 840 w 840"/>
                <a:gd name="T5" fmla="*/ 0 h 182"/>
                <a:gd name="T6" fmla="*/ 0 60000 65536"/>
                <a:gd name="T7" fmla="*/ 0 60000 65536"/>
                <a:gd name="T8" fmla="*/ 0 60000 65536"/>
                <a:gd name="T9" fmla="*/ 0 w 840"/>
                <a:gd name="T10" fmla="*/ 0 h 182"/>
                <a:gd name="T11" fmla="*/ 840 w 840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182">
                  <a:moveTo>
                    <a:pt x="0" y="156"/>
                  </a:moveTo>
                  <a:cubicBezTo>
                    <a:pt x="245" y="169"/>
                    <a:pt x="490" y="182"/>
                    <a:pt x="630" y="156"/>
                  </a:cubicBezTo>
                  <a:cubicBezTo>
                    <a:pt x="770" y="130"/>
                    <a:pt x="805" y="65"/>
                    <a:pt x="840" y="0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5619540" y="3526011"/>
            <a:ext cx="182562" cy="188912"/>
            <a:chOff x="1277" y="1401"/>
            <a:chExt cx="115" cy="119"/>
          </a:xfrm>
        </p:grpSpPr>
        <p:sp>
          <p:nvSpPr>
            <p:cNvPr id="75894" name="AutoShape 32"/>
            <p:cNvSpPr>
              <a:spLocks noChangeArrowheads="1"/>
            </p:cNvSpPr>
            <p:nvPr/>
          </p:nvSpPr>
          <p:spPr bwMode="auto">
            <a:xfrm flipV="1">
              <a:off x="1286" y="1401"/>
              <a:ext cx="77" cy="6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95" name="Line 33"/>
            <p:cNvSpPr>
              <a:spLocks noChangeShapeType="1"/>
            </p:cNvSpPr>
            <p:nvPr/>
          </p:nvSpPr>
          <p:spPr bwMode="auto">
            <a:xfrm>
              <a:off x="1277" y="1483"/>
              <a:ext cx="1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6" name="Line 34"/>
            <p:cNvSpPr>
              <a:spLocks noChangeShapeType="1"/>
            </p:cNvSpPr>
            <p:nvPr/>
          </p:nvSpPr>
          <p:spPr bwMode="auto">
            <a:xfrm>
              <a:off x="1302" y="1501"/>
              <a:ext cx="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7" name="Line 35"/>
            <p:cNvSpPr>
              <a:spLocks noChangeShapeType="1"/>
            </p:cNvSpPr>
            <p:nvPr/>
          </p:nvSpPr>
          <p:spPr bwMode="auto">
            <a:xfrm>
              <a:off x="1317" y="1520"/>
              <a:ext cx="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4265402" y="3840336"/>
            <a:ext cx="190500" cy="77787"/>
            <a:chOff x="2996" y="1898"/>
            <a:chExt cx="93" cy="42"/>
          </a:xfrm>
        </p:grpSpPr>
        <p:sp>
          <p:nvSpPr>
            <p:cNvPr id="75868" name="Freeform 51"/>
            <p:cNvSpPr>
              <a:spLocks/>
            </p:cNvSpPr>
            <p:nvPr/>
          </p:nvSpPr>
          <p:spPr bwMode="auto">
            <a:xfrm>
              <a:off x="2996" y="1915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9" name="Freeform 52"/>
            <p:cNvSpPr>
              <a:spLocks/>
            </p:cNvSpPr>
            <p:nvPr/>
          </p:nvSpPr>
          <p:spPr bwMode="auto">
            <a:xfrm>
              <a:off x="3018" y="1914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0" name="Freeform 53"/>
            <p:cNvSpPr>
              <a:spLocks/>
            </p:cNvSpPr>
            <p:nvPr/>
          </p:nvSpPr>
          <p:spPr bwMode="auto">
            <a:xfrm>
              <a:off x="3005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1" name="Freeform 54"/>
            <p:cNvSpPr>
              <a:spLocks/>
            </p:cNvSpPr>
            <p:nvPr/>
          </p:nvSpPr>
          <p:spPr bwMode="auto">
            <a:xfrm>
              <a:off x="3024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2" name="Freeform 55"/>
            <p:cNvSpPr>
              <a:spLocks/>
            </p:cNvSpPr>
            <p:nvPr/>
          </p:nvSpPr>
          <p:spPr bwMode="auto">
            <a:xfrm>
              <a:off x="3043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3" name="Freeform 56"/>
            <p:cNvSpPr>
              <a:spLocks/>
            </p:cNvSpPr>
            <p:nvPr/>
          </p:nvSpPr>
          <p:spPr bwMode="auto">
            <a:xfrm>
              <a:off x="3062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4" name="Freeform 57"/>
            <p:cNvSpPr>
              <a:spLocks/>
            </p:cNvSpPr>
            <p:nvPr/>
          </p:nvSpPr>
          <p:spPr bwMode="auto">
            <a:xfrm rot="10800000">
              <a:off x="3034" y="1913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5" name="Freeform 58"/>
            <p:cNvSpPr>
              <a:spLocks/>
            </p:cNvSpPr>
            <p:nvPr/>
          </p:nvSpPr>
          <p:spPr bwMode="auto">
            <a:xfrm rot="10800000">
              <a:off x="3010" y="1901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6" name="Freeform 59"/>
            <p:cNvSpPr>
              <a:spLocks/>
            </p:cNvSpPr>
            <p:nvPr/>
          </p:nvSpPr>
          <p:spPr bwMode="auto">
            <a:xfrm rot="10800000">
              <a:off x="3050" y="1902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7" name="Freeform 60"/>
            <p:cNvSpPr>
              <a:spLocks/>
            </p:cNvSpPr>
            <p:nvPr/>
          </p:nvSpPr>
          <p:spPr bwMode="auto">
            <a:xfrm rot="10800000">
              <a:off x="3034" y="189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8" name="Freeform 61"/>
            <p:cNvSpPr>
              <a:spLocks/>
            </p:cNvSpPr>
            <p:nvPr/>
          </p:nvSpPr>
          <p:spPr bwMode="auto">
            <a:xfrm rot="10800000">
              <a:off x="3069" y="1900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9" name="Freeform 62"/>
            <p:cNvSpPr>
              <a:spLocks/>
            </p:cNvSpPr>
            <p:nvPr/>
          </p:nvSpPr>
          <p:spPr bwMode="auto">
            <a:xfrm rot="10800000">
              <a:off x="3057" y="1915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80" name="Freeform 63"/>
            <p:cNvSpPr>
              <a:spLocks/>
            </p:cNvSpPr>
            <p:nvPr/>
          </p:nvSpPr>
          <p:spPr bwMode="auto">
            <a:xfrm rot="10800000">
              <a:off x="3078" y="1914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06"/>
          <p:cNvGrpSpPr>
            <a:grpSpLocks/>
          </p:cNvGrpSpPr>
          <p:nvPr/>
        </p:nvGrpSpPr>
        <p:grpSpPr bwMode="auto">
          <a:xfrm>
            <a:off x="3430377" y="3868911"/>
            <a:ext cx="190500" cy="77787"/>
            <a:chOff x="2996" y="1898"/>
            <a:chExt cx="93" cy="42"/>
          </a:xfrm>
        </p:grpSpPr>
        <p:sp>
          <p:nvSpPr>
            <p:cNvPr id="75816" name="Freeform 107"/>
            <p:cNvSpPr>
              <a:spLocks/>
            </p:cNvSpPr>
            <p:nvPr/>
          </p:nvSpPr>
          <p:spPr bwMode="auto">
            <a:xfrm>
              <a:off x="2996" y="1915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7" name="Freeform 108"/>
            <p:cNvSpPr>
              <a:spLocks/>
            </p:cNvSpPr>
            <p:nvPr/>
          </p:nvSpPr>
          <p:spPr bwMode="auto">
            <a:xfrm>
              <a:off x="3018" y="1914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8" name="Freeform 109"/>
            <p:cNvSpPr>
              <a:spLocks/>
            </p:cNvSpPr>
            <p:nvPr/>
          </p:nvSpPr>
          <p:spPr bwMode="auto">
            <a:xfrm>
              <a:off x="3005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9" name="Freeform 110"/>
            <p:cNvSpPr>
              <a:spLocks/>
            </p:cNvSpPr>
            <p:nvPr/>
          </p:nvSpPr>
          <p:spPr bwMode="auto">
            <a:xfrm>
              <a:off x="3024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0" name="Freeform 111"/>
            <p:cNvSpPr>
              <a:spLocks/>
            </p:cNvSpPr>
            <p:nvPr/>
          </p:nvSpPr>
          <p:spPr bwMode="auto">
            <a:xfrm>
              <a:off x="3043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1" name="Freeform 112"/>
            <p:cNvSpPr>
              <a:spLocks/>
            </p:cNvSpPr>
            <p:nvPr/>
          </p:nvSpPr>
          <p:spPr bwMode="auto">
            <a:xfrm>
              <a:off x="3062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2" name="Freeform 113"/>
            <p:cNvSpPr>
              <a:spLocks/>
            </p:cNvSpPr>
            <p:nvPr/>
          </p:nvSpPr>
          <p:spPr bwMode="auto">
            <a:xfrm rot="10800000">
              <a:off x="3034" y="1913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3" name="Freeform 114"/>
            <p:cNvSpPr>
              <a:spLocks/>
            </p:cNvSpPr>
            <p:nvPr/>
          </p:nvSpPr>
          <p:spPr bwMode="auto">
            <a:xfrm rot="10800000">
              <a:off x="3010" y="1901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4" name="Freeform 115"/>
            <p:cNvSpPr>
              <a:spLocks/>
            </p:cNvSpPr>
            <p:nvPr/>
          </p:nvSpPr>
          <p:spPr bwMode="auto">
            <a:xfrm rot="10800000">
              <a:off x="3050" y="1902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5" name="Freeform 116"/>
            <p:cNvSpPr>
              <a:spLocks/>
            </p:cNvSpPr>
            <p:nvPr/>
          </p:nvSpPr>
          <p:spPr bwMode="auto">
            <a:xfrm rot="10800000">
              <a:off x="3034" y="189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6" name="Freeform 117"/>
            <p:cNvSpPr>
              <a:spLocks/>
            </p:cNvSpPr>
            <p:nvPr/>
          </p:nvSpPr>
          <p:spPr bwMode="auto">
            <a:xfrm rot="10800000">
              <a:off x="3069" y="1900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7" name="Freeform 118"/>
            <p:cNvSpPr>
              <a:spLocks/>
            </p:cNvSpPr>
            <p:nvPr/>
          </p:nvSpPr>
          <p:spPr bwMode="auto">
            <a:xfrm rot="10800000">
              <a:off x="3057" y="1915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8" name="Freeform 119"/>
            <p:cNvSpPr>
              <a:spLocks/>
            </p:cNvSpPr>
            <p:nvPr/>
          </p:nvSpPr>
          <p:spPr bwMode="auto">
            <a:xfrm rot="10800000">
              <a:off x="3078" y="1914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20"/>
          <p:cNvGrpSpPr>
            <a:grpSpLocks/>
          </p:cNvGrpSpPr>
          <p:nvPr/>
        </p:nvGrpSpPr>
        <p:grpSpPr bwMode="auto">
          <a:xfrm>
            <a:off x="2549315" y="3860973"/>
            <a:ext cx="190500" cy="77788"/>
            <a:chOff x="2996" y="1898"/>
            <a:chExt cx="93" cy="42"/>
          </a:xfrm>
        </p:grpSpPr>
        <p:sp>
          <p:nvSpPr>
            <p:cNvPr id="75803" name="Freeform 121"/>
            <p:cNvSpPr>
              <a:spLocks/>
            </p:cNvSpPr>
            <p:nvPr/>
          </p:nvSpPr>
          <p:spPr bwMode="auto">
            <a:xfrm>
              <a:off x="2996" y="1915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4" name="Freeform 122"/>
            <p:cNvSpPr>
              <a:spLocks/>
            </p:cNvSpPr>
            <p:nvPr/>
          </p:nvSpPr>
          <p:spPr bwMode="auto">
            <a:xfrm>
              <a:off x="3018" y="1914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5" name="Freeform 123"/>
            <p:cNvSpPr>
              <a:spLocks/>
            </p:cNvSpPr>
            <p:nvPr/>
          </p:nvSpPr>
          <p:spPr bwMode="auto">
            <a:xfrm>
              <a:off x="3005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6" name="Freeform 124"/>
            <p:cNvSpPr>
              <a:spLocks/>
            </p:cNvSpPr>
            <p:nvPr/>
          </p:nvSpPr>
          <p:spPr bwMode="auto">
            <a:xfrm>
              <a:off x="3024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7" name="Freeform 125"/>
            <p:cNvSpPr>
              <a:spLocks/>
            </p:cNvSpPr>
            <p:nvPr/>
          </p:nvSpPr>
          <p:spPr bwMode="auto">
            <a:xfrm>
              <a:off x="3043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8" name="Freeform 126"/>
            <p:cNvSpPr>
              <a:spLocks/>
            </p:cNvSpPr>
            <p:nvPr/>
          </p:nvSpPr>
          <p:spPr bwMode="auto">
            <a:xfrm>
              <a:off x="3062" y="192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9" name="Freeform 127"/>
            <p:cNvSpPr>
              <a:spLocks/>
            </p:cNvSpPr>
            <p:nvPr/>
          </p:nvSpPr>
          <p:spPr bwMode="auto">
            <a:xfrm rot="10800000">
              <a:off x="3034" y="1913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0" name="Freeform 128"/>
            <p:cNvSpPr>
              <a:spLocks/>
            </p:cNvSpPr>
            <p:nvPr/>
          </p:nvSpPr>
          <p:spPr bwMode="auto">
            <a:xfrm rot="10800000">
              <a:off x="3010" y="1901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1" name="Freeform 129"/>
            <p:cNvSpPr>
              <a:spLocks/>
            </p:cNvSpPr>
            <p:nvPr/>
          </p:nvSpPr>
          <p:spPr bwMode="auto">
            <a:xfrm rot="10800000">
              <a:off x="3050" y="1902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2" name="Freeform 130"/>
            <p:cNvSpPr>
              <a:spLocks/>
            </p:cNvSpPr>
            <p:nvPr/>
          </p:nvSpPr>
          <p:spPr bwMode="auto">
            <a:xfrm rot="10800000">
              <a:off x="3034" y="1898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3" name="Freeform 131"/>
            <p:cNvSpPr>
              <a:spLocks/>
            </p:cNvSpPr>
            <p:nvPr/>
          </p:nvSpPr>
          <p:spPr bwMode="auto">
            <a:xfrm rot="10800000">
              <a:off x="3069" y="1900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4" name="Freeform 132"/>
            <p:cNvSpPr>
              <a:spLocks/>
            </p:cNvSpPr>
            <p:nvPr/>
          </p:nvSpPr>
          <p:spPr bwMode="auto">
            <a:xfrm rot="10800000">
              <a:off x="3057" y="1915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5" name="Freeform 133"/>
            <p:cNvSpPr>
              <a:spLocks/>
            </p:cNvSpPr>
            <p:nvPr/>
          </p:nvSpPr>
          <p:spPr bwMode="auto">
            <a:xfrm rot="10800000">
              <a:off x="3078" y="1914"/>
              <a:ext cx="11" cy="12"/>
            </a:xfrm>
            <a:custGeom>
              <a:avLst/>
              <a:gdLst>
                <a:gd name="T0" fmla="*/ 11 w 11"/>
                <a:gd name="T1" fmla="*/ 7 h 12"/>
                <a:gd name="T2" fmla="*/ 9 w 11"/>
                <a:gd name="T3" fmla="*/ 0 h 12"/>
                <a:gd name="T4" fmla="*/ 11 w 11"/>
                <a:gd name="T5" fmla="*/ 7 h 12"/>
                <a:gd name="T6" fmla="*/ 0 60000 65536"/>
                <a:gd name="T7" fmla="*/ 0 60000 65536"/>
                <a:gd name="T8" fmla="*/ 0 60000 65536"/>
                <a:gd name="T9" fmla="*/ 0 w 11"/>
                <a:gd name="T10" fmla="*/ 0 h 12"/>
                <a:gd name="T11" fmla="*/ 11 w 11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" h="12">
                  <a:moveTo>
                    <a:pt x="11" y="7"/>
                  </a:moveTo>
                  <a:cubicBezTo>
                    <a:pt x="0" y="12"/>
                    <a:pt x="0" y="4"/>
                    <a:pt x="9" y="0"/>
                  </a:cubicBezTo>
                  <a:cubicBezTo>
                    <a:pt x="10" y="2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666633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9" name="Text Box 137"/>
          <p:cNvSpPr txBox="1">
            <a:spLocks noChangeArrowheads="1"/>
          </p:cNvSpPr>
          <p:nvPr/>
        </p:nvSpPr>
        <p:spPr bwMode="auto">
          <a:xfrm>
            <a:off x="6191040" y="3521248"/>
            <a:ext cx="27622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</a:rPr>
              <a:t>2. 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孔隙不断扩大，渗流速度不断增加，较粗颗粒也相继被水带走</a:t>
            </a:r>
          </a:p>
        </p:txBody>
      </p:sp>
      <p:sp>
        <p:nvSpPr>
          <p:cNvPr id="140" name="Text Box 135"/>
          <p:cNvSpPr txBox="1">
            <a:spLocks noChangeArrowheads="1"/>
          </p:cNvSpPr>
          <p:nvPr/>
        </p:nvSpPr>
        <p:spPr bwMode="auto">
          <a:xfrm>
            <a:off x="6880015" y="2844973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A50021"/>
                </a:solidFill>
                <a:ea typeface="幼圆" pitchFamily="49" charset="-122"/>
              </a:rPr>
              <a:t>过程演示</a:t>
            </a:r>
            <a:endParaRPr lang="en-US" altLang="zh-CN" sz="20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43" name="Rectangle 12"/>
          <p:cNvSpPr>
            <a:spLocks noChangeArrowheads="1"/>
          </p:cNvSpPr>
          <p:nvPr/>
        </p:nvSpPr>
        <p:spPr bwMode="auto">
          <a:xfrm>
            <a:off x="563747" y="855737"/>
            <a:ext cx="7991475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450850" indent="-450850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在渗流作用下，一定级配的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无黏性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土中的细小颗粒，通过较大颗粒所形成的孔隙发生移动，最终在土中形成与地表贯通的管道</a:t>
            </a:r>
          </a:p>
        </p:txBody>
      </p:sp>
      <p:sp>
        <p:nvSpPr>
          <p:cNvPr id="144" name="Text Box 9"/>
          <p:cNvSpPr txBox="1">
            <a:spLocks noChangeArrowheads="1"/>
          </p:cNvSpPr>
          <p:nvPr/>
        </p:nvSpPr>
        <p:spPr bwMode="auto">
          <a:xfrm>
            <a:off x="3221621" y="5740400"/>
            <a:ext cx="3749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渗透变形 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– 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管涌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45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6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768088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03704E-6 C 0.00834 -0.00254 0.01667 -0.00509 0.02379 -0.00902 C 0.03091 -0.01296 0.03768 -0.01921 0.04219 -0.02384 C 0.0467 -0.02847 0.04913 -0.03425 0.05052 -0.03634 " pathEditMode="relative" ptsTypes="aa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4.44444E-6 C 0.01059 -4.44444E-6 0.02118 0.00024 0.03055 -4.44444E-6 C 0.03993 -0.00023 0.04583 -0.00023 0.05659 -0.00138 C 0.06736 -0.00254 0.08316 -0.00347 0.09496 -0.00671 C 0.10677 -0.00995 0.11961 -0.01597 0.12777 -0.02083 C 0.13593 -0.02569 0.14045 -0.0324 0.14392 -0.03564 C 0.14739 -0.03888 0.14809 -0.03981 0.14878 -0.04074 " pathEditMode="relative" ptsTypes="aaaaaaA">
                                      <p:cBhvr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2.59259E-6 C 0.01284 0.00023 0.02569 0.0007 0.03784 0.0007 C 0.05 0.0007 0.0618 0.0007 0.07343 0.0007 C 0.08506 0.0007 0.096 0.00023 0.10781 -2.59259E-6 C 0.11961 -0.00023 0.13177 0.00023 0.14392 -0.00069 C 0.15607 -0.00162 0.16961 -0.00278 0.18107 -0.00602 C 0.19253 -0.00926 0.20538 -0.0162 0.21284 -0.02014 C 0.22031 -0.02407 0.22239 -0.02662 0.22552 -0.02963 C 0.22864 -0.03264 0.22986 -0.03565 0.23107 -0.03865 " pathEditMode="relative" rAng="0" ptsTypes="aaaaaaaaA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45" y="-1898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378" name="Rectangle 2"/>
          <p:cNvSpPr>
            <a:spLocks noChangeArrowheads="1"/>
          </p:cNvSpPr>
          <p:nvPr/>
        </p:nvSpPr>
        <p:spPr bwMode="auto">
          <a:xfrm>
            <a:off x="356977" y="2743853"/>
            <a:ext cx="8678863" cy="25098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85590" y="2902603"/>
            <a:ext cx="2148852" cy="736600"/>
            <a:chOff x="421" y="1384"/>
            <a:chExt cx="1336" cy="464"/>
          </a:xfrm>
        </p:grpSpPr>
        <p:sp>
          <p:nvSpPr>
            <p:cNvPr id="75898" name="Freeform 24"/>
            <p:cNvSpPr>
              <a:spLocks/>
            </p:cNvSpPr>
            <p:nvPr/>
          </p:nvSpPr>
          <p:spPr bwMode="auto">
            <a:xfrm>
              <a:off x="421" y="1448"/>
              <a:ext cx="1336" cy="400"/>
            </a:xfrm>
            <a:custGeom>
              <a:avLst/>
              <a:gdLst>
                <a:gd name="T0" fmla="*/ 3 w 1336"/>
                <a:gd name="T1" fmla="*/ 396 h 400"/>
                <a:gd name="T2" fmla="*/ 0 w 1336"/>
                <a:gd name="T3" fmla="*/ 0 h 400"/>
                <a:gd name="T4" fmla="*/ 1336 w 1336"/>
                <a:gd name="T5" fmla="*/ 3 h 400"/>
                <a:gd name="T6" fmla="*/ 814 w 1336"/>
                <a:gd name="T7" fmla="*/ 400 h 400"/>
                <a:gd name="T8" fmla="*/ 3 w 1336"/>
                <a:gd name="T9" fmla="*/ 396 h 4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6"/>
                <a:gd name="T16" fmla="*/ 0 h 400"/>
                <a:gd name="T17" fmla="*/ 1336 w 1336"/>
                <a:gd name="T18" fmla="*/ 400 h 4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6" h="400">
                  <a:moveTo>
                    <a:pt x="3" y="396"/>
                  </a:moveTo>
                  <a:lnTo>
                    <a:pt x="0" y="0"/>
                  </a:lnTo>
                  <a:lnTo>
                    <a:pt x="1336" y="3"/>
                  </a:lnTo>
                  <a:lnTo>
                    <a:pt x="814" y="400"/>
                  </a:lnTo>
                  <a:lnTo>
                    <a:pt x="3" y="396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9" name="Line 25"/>
            <p:cNvSpPr>
              <a:spLocks noChangeShapeType="1"/>
            </p:cNvSpPr>
            <p:nvPr/>
          </p:nvSpPr>
          <p:spPr bwMode="auto">
            <a:xfrm>
              <a:off x="422" y="1448"/>
              <a:ext cx="13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900" name="Group 26"/>
            <p:cNvGrpSpPr>
              <a:grpSpLocks/>
            </p:cNvGrpSpPr>
            <p:nvPr/>
          </p:nvGrpSpPr>
          <p:grpSpPr bwMode="auto">
            <a:xfrm>
              <a:off x="746" y="1384"/>
              <a:ext cx="115" cy="119"/>
              <a:chOff x="1277" y="1401"/>
              <a:chExt cx="115" cy="119"/>
            </a:xfrm>
          </p:grpSpPr>
          <p:sp>
            <p:nvSpPr>
              <p:cNvPr id="75901" name="AutoShape 27"/>
              <p:cNvSpPr>
                <a:spLocks noChangeArrowheads="1"/>
              </p:cNvSpPr>
              <p:nvPr/>
            </p:nvSpPr>
            <p:spPr bwMode="auto">
              <a:xfrm flipV="1">
                <a:off x="1286" y="1401"/>
                <a:ext cx="77" cy="6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902" name="Line 28"/>
              <p:cNvSpPr>
                <a:spLocks noChangeShapeType="1"/>
              </p:cNvSpPr>
              <p:nvPr/>
            </p:nvSpPr>
            <p:spPr bwMode="auto">
              <a:xfrm>
                <a:off x="1277" y="1483"/>
                <a:ext cx="11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03" name="Line 29"/>
              <p:cNvSpPr>
                <a:spLocks noChangeShapeType="1"/>
              </p:cNvSpPr>
              <p:nvPr/>
            </p:nvSpPr>
            <p:spPr bwMode="auto">
              <a:xfrm>
                <a:off x="1302" y="1501"/>
                <a:ext cx="6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04" name="Line 30"/>
              <p:cNvSpPr>
                <a:spLocks noChangeShapeType="1"/>
              </p:cNvSpPr>
              <p:nvPr/>
            </p:nvSpPr>
            <p:spPr bwMode="auto">
              <a:xfrm>
                <a:off x="1317" y="1520"/>
                <a:ext cx="4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590" y="2866090"/>
            <a:ext cx="5186362" cy="2090738"/>
            <a:chOff x="421" y="1361"/>
            <a:chExt cx="3267" cy="1317"/>
          </a:xfrm>
        </p:grpSpPr>
        <p:sp>
          <p:nvSpPr>
            <p:cNvPr id="75912" name="Rectangle 4"/>
            <p:cNvSpPr>
              <a:spLocks noChangeArrowheads="1"/>
            </p:cNvSpPr>
            <p:nvPr/>
          </p:nvSpPr>
          <p:spPr bwMode="auto">
            <a:xfrm>
              <a:off x="421" y="1848"/>
              <a:ext cx="3267" cy="8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913" name="AutoShape 5"/>
            <p:cNvSpPr>
              <a:spLocks noChangeAspect="1" noChangeArrowheads="1"/>
            </p:cNvSpPr>
            <p:nvPr/>
          </p:nvSpPr>
          <p:spPr bwMode="auto">
            <a:xfrm rot="10800000">
              <a:off x="1245" y="1361"/>
              <a:ext cx="1671" cy="483"/>
            </a:xfrm>
            <a:custGeom>
              <a:avLst/>
              <a:gdLst>
                <a:gd name="T0" fmla="*/ 1364 w 21600"/>
                <a:gd name="T1" fmla="*/ 242 h 21600"/>
                <a:gd name="T2" fmla="*/ 836 w 21600"/>
                <a:gd name="T3" fmla="*/ 483 h 21600"/>
                <a:gd name="T4" fmla="*/ 307 w 21600"/>
                <a:gd name="T5" fmla="*/ 242 h 21600"/>
                <a:gd name="T6" fmla="*/ 83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765 w 21600"/>
                <a:gd name="T13" fmla="*/ 5769 h 21600"/>
                <a:gd name="T14" fmla="*/ 15835 w 21600"/>
                <a:gd name="T15" fmla="*/ 158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7923" y="21600"/>
                  </a:lnTo>
                  <a:lnTo>
                    <a:pt x="1367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914" name="Text Box 6"/>
            <p:cNvSpPr txBox="1">
              <a:spLocks noChangeAspect="1" noChangeArrowheads="1"/>
            </p:cNvSpPr>
            <p:nvPr/>
          </p:nvSpPr>
          <p:spPr bwMode="auto">
            <a:xfrm>
              <a:off x="1891" y="1501"/>
              <a:ext cx="41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41143" rIns="82287" bIns="41143"/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>
                  <a:ea typeface="楷体_GB2312" pitchFamily="49" charset="-122"/>
                  <a:cs typeface="Times New Roman" pitchFamily="18" charset="0"/>
                </a:rPr>
                <a:t>坝体</a:t>
              </a:r>
              <a:endParaRPr kumimoji="1" lang="zh-CN" altLang="en-US" sz="1600"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1509383" name="Freeform 7"/>
          <p:cNvSpPr>
            <a:spLocks/>
          </p:cNvSpPr>
          <p:nvPr/>
        </p:nvSpPr>
        <p:spPr bwMode="auto">
          <a:xfrm>
            <a:off x="1495215" y="3626827"/>
            <a:ext cx="3532187" cy="361950"/>
          </a:xfrm>
          <a:custGeom>
            <a:avLst/>
            <a:gdLst>
              <a:gd name="T0" fmla="*/ 191 w 2225"/>
              <a:gd name="T1" fmla="*/ 2 h 228"/>
              <a:gd name="T2" fmla="*/ 226 w 2225"/>
              <a:gd name="T3" fmla="*/ 31 h 228"/>
              <a:gd name="T4" fmla="*/ 322 w 2225"/>
              <a:gd name="T5" fmla="*/ 79 h 228"/>
              <a:gd name="T6" fmla="*/ 548 w 2225"/>
              <a:gd name="T7" fmla="*/ 106 h 228"/>
              <a:gd name="T8" fmla="*/ 903 w 2225"/>
              <a:gd name="T9" fmla="*/ 120 h 228"/>
              <a:gd name="T10" fmla="*/ 1277 w 2225"/>
              <a:gd name="T11" fmla="*/ 130 h 228"/>
              <a:gd name="T12" fmla="*/ 1580 w 2225"/>
              <a:gd name="T13" fmla="*/ 125 h 228"/>
              <a:gd name="T14" fmla="*/ 1829 w 2225"/>
              <a:gd name="T15" fmla="*/ 111 h 228"/>
              <a:gd name="T16" fmla="*/ 1983 w 2225"/>
              <a:gd name="T17" fmla="*/ 72 h 228"/>
              <a:gd name="T18" fmla="*/ 2084 w 2225"/>
              <a:gd name="T19" fmla="*/ 5 h 228"/>
              <a:gd name="T20" fmla="*/ 2208 w 2225"/>
              <a:gd name="T21" fmla="*/ 0 h 228"/>
              <a:gd name="T22" fmla="*/ 2184 w 2225"/>
              <a:gd name="T23" fmla="*/ 68 h 228"/>
              <a:gd name="T24" fmla="*/ 2036 w 2225"/>
              <a:gd name="T25" fmla="*/ 173 h 228"/>
              <a:gd name="T26" fmla="*/ 1772 w 2225"/>
              <a:gd name="T27" fmla="*/ 212 h 228"/>
              <a:gd name="T28" fmla="*/ 1450 w 2225"/>
              <a:gd name="T29" fmla="*/ 221 h 228"/>
              <a:gd name="T30" fmla="*/ 1008 w 2225"/>
              <a:gd name="T31" fmla="*/ 226 h 228"/>
              <a:gd name="T32" fmla="*/ 629 w 2225"/>
              <a:gd name="T33" fmla="*/ 207 h 228"/>
              <a:gd name="T34" fmla="*/ 351 w 2225"/>
              <a:gd name="T35" fmla="*/ 183 h 228"/>
              <a:gd name="T36" fmla="*/ 101 w 2225"/>
              <a:gd name="T37" fmla="*/ 88 h 228"/>
              <a:gd name="T38" fmla="*/ 15 w 2225"/>
              <a:gd name="T39" fmla="*/ 5 h 228"/>
              <a:gd name="T40" fmla="*/ 191 w 2225"/>
              <a:gd name="T41" fmla="*/ 2 h 22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25"/>
              <a:gd name="T64" fmla="*/ 0 h 228"/>
              <a:gd name="T65" fmla="*/ 2225 w 2225"/>
              <a:gd name="T66" fmla="*/ 228 h 228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25" h="228">
                <a:moveTo>
                  <a:pt x="191" y="2"/>
                </a:moveTo>
                <a:lnTo>
                  <a:pt x="226" y="31"/>
                </a:lnTo>
                <a:cubicBezTo>
                  <a:pt x="248" y="44"/>
                  <a:pt x="268" y="66"/>
                  <a:pt x="322" y="79"/>
                </a:cubicBezTo>
                <a:cubicBezTo>
                  <a:pt x="376" y="92"/>
                  <a:pt x="451" y="99"/>
                  <a:pt x="548" y="106"/>
                </a:cubicBezTo>
                <a:cubicBezTo>
                  <a:pt x="645" y="113"/>
                  <a:pt x="782" y="116"/>
                  <a:pt x="903" y="120"/>
                </a:cubicBezTo>
                <a:cubicBezTo>
                  <a:pt x="1024" y="124"/>
                  <a:pt x="1164" y="129"/>
                  <a:pt x="1277" y="130"/>
                </a:cubicBezTo>
                <a:cubicBezTo>
                  <a:pt x="1390" y="131"/>
                  <a:pt x="1488" y="128"/>
                  <a:pt x="1580" y="125"/>
                </a:cubicBezTo>
                <a:cubicBezTo>
                  <a:pt x="1672" y="122"/>
                  <a:pt x="1762" y="120"/>
                  <a:pt x="1829" y="111"/>
                </a:cubicBezTo>
                <a:cubicBezTo>
                  <a:pt x="1896" y="102"/>
                  <a:pt x="1940" y="90"/>
                  <a:pt x="1983" y="72"/>
                </a:cubicBezTo>
                <a:cubicBezTo>
                  <a:pt x="2026" y="54"/>
                  <a:pt x="2047" y="17"/>
                  <a:pt x="2084" y="5"/>
                </a:cubicBezTo>
                <a:lnTo>
                  <a:pt x="2208" y="0"/>
                </a:lnTo>
                <a:cubicBezTo>
                  <a:pt x="2225" y="10"/>
                  <a:pt x="2213" y="39"/>
                  <a:pt x="2184" y="68"/>
                </a:cubicBezTo>
                <a:cubicBezTo>
                  <a:pt x="2155" y="97"/>
                  <a:pt x="2105" y="149"/>
                  <a:pt x="2036" y="173"/>
                </a:cubicBezTo>
                <a:cubicBezTo>
                  <a:pt x="1967" y="197"/>
                  <a:pt x="1870" y="204"/>
                  <a:pt x="1772" y="212"/>
                </a:cubicBezTo>
                <a:cubicBezTo>
                  <a:pt x="1674" y="220"/>
                  <a:pt x="1577" y="219"/>
                  <a:pt x="1450" y="221"/>
                </a:cubicBezTo>
                <a:cubicBezTo>
                  <a:pt x="1323" y="223"/>
                  <a:pt x="1145" y="228"/>
                  <a:pt x="1008" y="226"/>
                </a:cubicBezTo>
                <a:cubicBezTo>
                  <a:pt x="871" y="224"/>
                  <a:pt x="738" y="214"/>
                  <a:pt x="629" y="207"/>
                </a:cubicBezTo>
                <a:cubicBezTo>
                  <a:pt x="520" y="200"/>
                  <a:pt x="439" y="203"/>
                  <a:pt x="351" y="183"/>
                </a:cubicBezTo>
                <a:cubicBezTo>
                  <a:pt x="263" y="163"/>
                  <a:pt x="157" y="118"/>
                  <a:pt x="101" y="88"/>
                </a:cubicBezTo>
                <a:cubicBezTo>
                  <a:pt x="45" y="58"/>
                  <a:pt x="0" y="19"/>
                  <a:pt x="15" y="5"/>
                </a:cubicBezTo>
                <a:lnTo>
                  <a:pt x="191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311065" y="3944003"/>
            <a:ext cx="679450" cy="806450"/>
            <a:chOff x="1976" y="1995"/>
            <a:chExt cx="475" cy="565"/>
          </a:xfrm>
        </p:grpSpPr>
        <p:grpSp>
          <p:nvGrpSpPr>
            <p:cNvPr id="75907" name="Group 14"/>
            <p:cNvGrpSpPr>
              <a:grpSpLocks noChangeAspect="1"/>
            </p:cNvGrpSpPr>
            <p:nvPr/>
          </p:nvGrpSpPr>
          <p:grpSpPr bwMode="auto">
            <a:xfrm>
              <a:off x="2002" y="1995"/>
              <a:ext cx="449" cy="470"/>
              <a:chOff x="9419" y="6679"/>
              <a:chExt cx="795" cy="648"/>
            </a:xfrm>
          </p:grpSpPr>
          <p:sp>
            <p:nvSpPr>
              <p:cNvPr id="75909" name="Freeform 15"/>
              <p:cNvSpPr>
                <a:spLocks noChangeAspect="1"/>
              </p:cNvSpPr>
              <p:nvPr/>
            </p:nvSpPr>
            <p:spPr bwMode="auto">
              <a:xfrm>
                <a:off x="9509" y="6835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10" name="Freeform 16"/>
              <p:cNvSpPr>
                <a:spLocks noChangeAspect="1"/>
              </p:cNvSpPr>
              <p:nvPr/>
            </p:nvSpPr>
            <p:spPr bwMode="auto">
              <a:xfrm>
                <a:off x="9584" y="6679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11" name="Freeform 17"/>
              <p:cNvSpPr>
                <a:spLocks noChangeAspect="1"/>
              </p:cNvSpPr>
              <p:nvPr/>
            </p:nvSpPr>
            <p:spPr bwMode="auto">
              <a:xfrm>
                <a:off x="9419" y="7015"/>
                <a:ext cx="630" cy="312"/>
              </a:xfrm>
              <a:custGeom>
                <a:avLst/>
                <a:gdLst>
                  <a:gd name="T0" fmla="*/ 0 w 630"/>
                  <a:gd name="T1" fmla="*/ 0 h 312"/>
                  <a:gd name="T2" fmla="*/ 210 w 630"/>
                  <a:gd name="T3" fmla="*/ 156 h 312"/>
                  <a:gd name="T4" fmla="*/ 630 w 630"/>
                  <a:gd name="T5" fmla="*/ 312 h 312"/>
                  <a:gd name="T6" fmla="*/ 0 60000 65536"/>
                  <a:gd name="T7" fmla="*/ 0 60000 65536"/>
                  <a:gd name="T8" fmla="*/ 0 60000 65536"/>
                  <a:gd name="T9" fmla="*/ 0 w 630"/>
                  <a:gd name="T10" fmla="*/ 0 h 312"/>
                  <a:gd name="T11" fmla="*/ 630 w 630"/>
                  <a:gd name="T12" fmla="*/ 312 h 3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0" h="312">
                    <a:moveTo>
                      <a:pt x="0" y="0"/>
                    </a:moveTo>
                    <a:cubicBezTo>
                      <a:pt x="52" y="52"/>
                      <a:pt x="105" y="104"/>
                      <a:pt x="210" y="156"/>
                    </a:cubicBezTo>
                    <a:cubicBezTo>
                      <a:pt x="315" y="208"/>
                      <a:pt x="560" y="286"/>
                      <a:pt x="630" y="312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908" name="Freeform 18"/>
            <p:cNvSpPr>
              <a:spLocks noChangeAspect="1"/>
            </p:cNvSpPr>
            <p:nvPr/>
          </p:nvSpPr>
          <p:spPr bwMode="auto">
            <a:xfrm>
              <a:off x="1976" y="2334"/>
              <a:ext cx="356" cy="226"/>
            </a:xfrm>
            <a:custGeom>
              <a:avLst/>
              <a:gdLst>
                <a:gd name="T0" fmla="*/ 0 w 630"/>
                <a:gd name="T1" fmla="*/ 0 h 312"/>
                <a:gd name="T2" fmla="*/ 210 w 630"/>
                <a:gd name="T3" fmla="*/ 156 h 312"/>
                <a:gd name="T4" fmla="*/ 630 w 630"/>
                <a:gd name="T5" fmla="*/ 312 h 312"/>
                <a:gd name="T6" fmla="*/ 0 60000 65536"/>
                <a:gd name="T7" fmla="*/ 0 60000 65536"/>
                <a:gd name="T8" fmla="*/ 0 60000 65536"/>
                <a:gd name="T9" fmla="*/ 0 w 630"/>
                <a:gd name="T10" fmla="*/ 0 h 312"/>
                <a:gd name="T11" fmla="*/ 630 w 630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0" h="312">
                  <a:moveTo>
                    <a:pt x="0" y="0"/>
                  </a:moveTo>
                  <a:cubicBezTo>
                    <a:pt x="52" y="52"/>
                    <a:pt x="105" y="104"/>
                    <a:pt x="210" y="156"/>
                  </a:cubicBezTo>
                  <a:cubicBezTo>
                    <a:pt x="315" y="208"/>
                    <a:pt x="560" y="286"/>
                    <a:pt x="630" y="312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9395" name="Text Box 19"/>
          <p:cNvSpPr txBox="1">
            <a:spLocks noChangeAspect="1" noChangeArrowheads="1"/>
          </p:cNvSpPr>
          <p:nvPr/>
        </p:nvSpPr>
        <p:spPr bwMode="auto">
          <a:xfrm>
            <a:off x="2217527" y="4334528"/>
            <a:ext cx="10890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87" tIns="41143" rIns="82287" bIns="41143"/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ea typeface="楷体_GB2312" pitchFamily="49" charset="-122"/>
                <a:cs typeface="Times New Roman" pitchFamily="18" charset="0"/>
              </a:rPr>
              <a:t>渗流</a:t>
            </a:r>
            <a:endParaRPr kumimoji="1" lang="zh-CN" altLang="en-US" sz="1600"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3647865" y="4140853"/>
            <a:ext cx="1123950" cy="720725"/>
            <a:chOff x="2287" y="2164"/>
            <a:chExt cx="708" cy="454"/>
          </a:xfrm>
        </p:grpSpPr>
        <p:sp>
          <p:nvSpPr>
            <p:cNvPr id="75905" name="Freeform 21"/>
            <p:cNvSpPr>
              <a:spLocks noChangeAspect="1"/>
            </p:cNvSpPr>
            <p:nvPr/>
          </p:nvSpPr>
          <p:spPr bwMode="auto">
            <a:xfrm>
              <a:off x="2501" y="2164"/>
              <a:ext cx="426" cy="220"/>
            </a:xfrm>
            <a:custGeom>
              <a:avLst/>
              <a:gdLst>
                <a:gd name="T0" fmla="*/ 0 w 840"/>
                <a:gd name="T1" fmla="*/ 156 h 182"/>
                <a:gd name="T2" fmla="*/ 630 w 840"/>
                <a:gd name="T3" fmla="*/ 156 h 182"/>
                <a:gd name="T4" fmla="*/ 840 w 840"/>
                <a:gd name="T5" fmla="*/ 0 h 182"/>
                <a:gd name="T6" fmla="*/ 0 60000 65536"/>
                <a:gd name="T7" fmla="*/ 0 60000 65536"/>
                <a:gd name="T8" fmla="*/ 0 60000 65536"/>
                <a:gd name="T9" fmla="*/ 0 w 840"/>
                <a:gd name="T10" fmla="*/ 0 h 182"/>
                <a:gd name="T11" fmla="*/ 840 w 840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182">
                  <a:moveTo>
                    <a:pt x="0" y="156"/>
                  </a:moveTo>
                  <a:cubicBezTo>
                    <a:pt x="245" y="169"/>
                    <a:pt x="490" y="182"/>
                    <a:pt x="630" y="156"/>
                  </a:cubicBezTo>
                  <a:cubicBezTo>
                    <a:pt x="770" y="130"/>
                    <a:pt x="805" y="65"/>
                    <a:pt x="840" y="0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906" name="Freeform 22"/>
            <p:cNvSpPr>
              <a:spLocks noChangeAspect="1"/>
            </p:cNvSpPr>
            <p:nvPr/>
          </p:nvSpPr>
          <p:spPr bwMode="auto">
            <a:xfrm>
              <a:off x="2287" y="2266"/>
              <a:ext cx="708" cy="352"/>
            </a:xfrm>
            <a:custGeom>
              <a:avLst/>
              <a:gdLst>
                <a:gd name="T0" fmla="*/ 0 w 840"/>
                <a:gd name="T1" fmla="*/ 156 h 182"/>
                <a:gd name="T2" fmla="*/ 630 w 840"/>
                <a:gd name="T3" fmla="*/ 156 h 182"/>
                <a:gd name="T4" fmla="*/ 840 w 840"/>
                <a:gd name="T5" fmla="*/ 0 h 182"/>
                <a:gd name="T6" fmla="*/ 0 60000 65536"/>
                <a:gd name="T7" fmla="*/ 0 60000 65536"/>
                <a:gd name="T8" fmla="*/ 0 60000 65536"/>
                <a:gd name="T9" fmla="*/ 0 w 840"/>
                <a:gd name="T10" fmla="*/ 0 h 182"/>
                <a:gd name="T11" fmla="*/ 840 w 840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0" h="182">
                  <a:moveTo>
                    <a:pt x="0" y="156"/>
                  </a:moveTo>
                  <a:cubicBezTo>
                    <a:pt x="245" y="169"/>
                    <a:pt x="490" y="182"/>
                    <a:pt x="630" y="156"/>
                  </a:cubicBezTo>
                  <a:cubicBezTo>
                    <a:pt x="770" y="130"/>
                    <a:pt x="805" y="65"/>
                    <a:pt x="840" y="0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5619540" y="3515378"/>
            <a:ext cx="182562" cy="188912"/>
            <a:chOff x="1277" y="1401"/>
            <a:chExt cx="115" cy="119"/>
          </a:xfrm>
        </p:grpSpPr>
        <p:sp>
          <p:nvSpPr>
            <p:cNvPr id="75894" name="AutoShape 32"/>
            <p:cNvSpPr>
              <a:spLocks noChangeArrowheads="1"/>
            </p:cNvSpPr>
            <p:nvPr/>
          </p:nvSpPr>
          <p:spPr bwMode="auto">
            <a:xfrm flipV="1">
              <a:off x="1286" y="1401"/>
              <a:ext cx="77" cy="6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895" name="Line 33"/>
            <p:cNvSpPr>
              <a:spLocks noChangeShapeType="1"/>
            </p:cNvSpPr>
            <p:nvPr/>
          </p:nvSpPr>
          <p:spPr bwMode="auto">
            <a:xfrm>
              <a:off x="1277" y="1483"/>
              <a:ext cx="1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6" name="Line 34"/>
            <p:cNvSpPr>
              <a:spLocks noChangeShapeType="1"/>
            </p:cNvSpPr>
            <p:nvPr/>
          </p:nvSpPr>
          <p:spPr bwMode="auto">
            <a:xfrm>
              <a:off x="1302" y="1501"/>
              <a:ext cx="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97" name="Line 35"/>
            <p:cNvSpPr>
              <a:spLocks noChangeShapeType="1"/>
            </p:cNvSpPr>
            <p:nvPr/>
          </p:nvSpPr>
          <p:spPr bwMode="auto">
            <a:xfrm>
              <a:off x="1317" y="1520"/>
              <a:ext cx="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9" name="Text Box 138"/>
          <p:cNvSpPr txBox="1">
            <a:spLocks noChangeArrowheads="1"/>
          </p:cNvSpPr>
          <p:nvPr/>
        </p:nvSpPr>
        <p:spPr bwMode="auto">
          <a:xfrm>
            <a:off x="6194215" y="3588403"/>
            <a:ext cx="27622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</a:rPr>
              <a:t>3. 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形成贯穿的渗流通道，造成土体塌陷</a:t>
            </a:r>
          </a:p>
        </p:txBody>
      </p:sp>
      <p:sp>
        <p:nvSpPr>
          <p:cNvPr id="140" name="Text Box 135"/>
          <p:cNvSpPr txBox="1">
            <a:spLocks noChangeArrowheads="1"/>
          </p:cNvSpPr>
          <p:nvPr/>
        </p:nvSpPr>
        <p:spPr bwMode="auto">
          <a:xfrm>
            <a:off x="6880015" y="283434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A50021"/>
                </a:solidFill>
                <a:ea typeface="幼圆" pitchFamily="49" charset="-122"/>
              </a:rPr>
              <a:t>过程演示</a:t>
            </a:r>
            <a:endParaRPr lang="en-US" altLang="zh-CN" sz="20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44" name="Text Box 9"/>
          <p:cNvSpPr txBox="1">
            <a:spLocks noChangeArrowheads="1"/>
          </p:cNvSpPr>
          <p:nvPr/>
        </p:nvSpPr>
        <p:spPr bwMode="auto">
          <a:xfrm>
            <a:off x="3221621" y="5740400"/>
            <a:ext cx="3749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渗透变形 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– 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管涌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45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6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563747" y="855737"/>
            <a:ext cx="7991475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450850" indent="-450850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在渗流作用下，一定级配的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无黏性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土中的细小颗粒，通过较大颗粒所形成的孔隙发生移动，最终在土中形成与地表贯通的管道</a:t>
            </a:r>
          </a:p>
        </p:txBody>
      </p:sp>
    </p:spTree>
    <p:extLst>
      <p:ext uri="{BB962C8B-B14F-4D97-AF65-F5344CB8AC3E}">
        <p14:creationId xmlns:p14="http://schemas.microsoft.com/office/powerpoint/2010/main" val="119778140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000"/>
                                        <p:tgtEl>
                                          <p:spTgt spid="150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509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509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509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9383" grpId="0" animBg="1"/>
      <p:bldP spid="139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Box 9"/>
          <p:cNvSpPr txBox="1">
            <a:spLocks noChangeArrowheads="1"/>
          </p:cNvSpPr>
          <p:nvPr/>
        </p:nvSpPr>
        <p:spPr bwMode="auto">
          <a:xfrm>
            <a:off x="3221621" y="5740400"/>
            <a:ext cx="3749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渗透变形 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– 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管涌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45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6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563748" y="855737"/>
            <a:ext cx="3953824" cy="495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450850" indent="-450850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管涌出口处的照片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pic>
        <p:nvPicPr>
          <p:cNvPr id="32770" name="Picture 2" descr="D:\教学\教学2017\土力学MOOC\第2章 土的渗透性和渗流问题\第4节 渗透力与渗透变形\管涌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6" r="4990"/>
          <a:stretch/>
        </p:blipFill>
        <p:spPr bwMode="auto">
          <a:xfrm>
            <a:off x="350873" y="2228471"/>
            <a:ext cx="2615609" cy="250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2" name="Picture 4" descr="D:\教学\教学2017\土力学MOOC\第2章 土的渗透性和渗流问题\第4节 渗透力与渗透变形\管涌3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r="8678"/>
          <a:stretch/>
        </p:blipFill>
        <p:spPr bwMode="auto">
          <a:xfrm>
            <a:off x="3106233" y="2236788"/>
            <a:ext cx="2709760" cy="249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3" name="Picture 5" descr="D:\教学\教学2017\土力学MOOC\第2章 土的渗透性和渗流问题\第4节 渗透力与渗透变形\687_201301181843161BIkq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313" y="2236788"/>
            <a:ext cx="3021539" cy="250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49632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451" name="Text Box 3"/>
          <p:cNvSpPr txBox="1">
            <a:spLocks noChangeArrowheads="1"/>
          </p:cNvSpPr>
          <p:nvPr/>
        </p:nvSpPr>
        <p:spPr bwMode="auto">
          <a:xfrm>
            <a:off x="1490663" y="1425575"/>
            <a:ext cx="6784975" cy="31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57300" indent="-542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土是否会发生管涌，取决于土的性质：</a:t>
            </a:r>
          </a:p>
          <a:p>
            <a:pPr lvl="2" eaLnBrk="1" hangingPunct="1">
              <a:lnSpc>
                <a:spcPct val="130000"/>
              </a:lnSpc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黏性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土（分散性土例外）属于非管涌土</a:t>
            </a:r>
          </a:p>
          <a:p>
            <a:pPr lvl="2" eaLnBrk="1" hangingPunct="1">
              <a:lnSpc>
                <a:spcPct val="130000"/>
              </a:lnSpc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无黏性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土中发生管涌必须具备相应的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</a:rPr>
              <a:t>几何条件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和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</a:rPr>
              <a:t>水力条件</a:t>
            </a:r>
            <a:endParaRPr lang="en-US" altLang="zh-CN" sz="28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3019425" y="5695950"/>
            <a:ext cx="42814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管涌可能性的判别</a:t>
            </a:r>
          </a:p>
        </p:txBody>
      </p:sp>
      <p:sp>
        <p:nvSpPr>
          <p:cNvPr id="5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84280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2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2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245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99" name="Rectangle 51"/>
          <p:cNvSpPr>
            <a:spLocks noChangeArrowheads="1"/>
          </p:cNvSpPr>
          <p:nvPr/>
        </p:nvSpPr>
        <p:spPr bwMode="auto">
          <a:xfrm>
            <a:off x="3017838" y="3084513"/>
            <a:ext cx="5951537" cy="358140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1" name="Line 3"/>
          <p:cNvSpPr>
            <a:spLocks noChangeShapeType="1"/>
          </p:cNvSpPr>
          <p:nvPr/>
        </p:nvSpPr>
        <p:spPr bwMode="auto">
          <a:xfrm>
            <a:off x="3027363" y="4225925"/>
            <a:ext cx="5948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852" name="Line 4"/>
          <p:cNvSpPr>
            <a:spLocks noChangeShapeType="1"/>
          </p:cNvSpPr>
          <p:nvPr/>
        </p:nvSpPr>
        <p:spPr bwMode="auto">
          <a:xfrm>
            <a:off x="5387975" y="3084513"/>
            <a:ext cx="0" cy="3573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3" name="Line 5"/>
          <p:cNvSpPr>
            <a:spLocks noChangeShapeType="1"/>
          </p:cNvSpPr>
          <p:nvPr/>
        </p:nvSpPr>
        <p:spPr bwMode="auto">
          <a:xfrm>
            <a:off x="7532688" y="3087688"/>
            <a:ext cx="0" cy="3573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4" name="Line 6"/>
          <p:cNvSpPr>
            <a:spLocks noChangeShapeType="1"/>
          </p:cNvSpPr>
          <p:nvPr/>
        </p:nvSpPr>
        <p:spPr bwMode="auto">
          <a:xfrm>
            <a:off x="4135438" y="5476875"/>
            <a:ext cx="4824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>
            <a:off x="4144963" y="4219575"/>
            <a:ext cx="0" cy="2454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>
            <a:off x="5380038" y="58801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646113" y="2057400"/>
            <a:ext cx="1612900" cy="4318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3300413" y="3586163"/>
            <a:ext cx="12969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较均匀土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10）</a:t>
            </a:r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684213" y="2055813"/>
            <a:ext cx="14716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几何条件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水力条件</a:t>
            </a:r>
          </a:p>
        </p:txBody>
      </p:sp>
      <p:sp>
        <p:nvSpPr>
          <p:cNvPr id="78861" name="Text Box 13"/>
          <p:cNvSpPr txBox="1">
            <a:spLocks noChangeArrowheads="1"/>
          </p:cNvSpPr>
          <p:nvPr/>
        </p:nvSpPr>
        <p:spPr bwMode="auto">
          <a:xfrm>
            <a:off x="263525" y="857250"/>
            <a:ext cx="250190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无黏性</a:t>
            </a:r>
            <a:r>
              <a:rPr lang="zh-CN" altLang="en-US" sz="3200" b="1" dirty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土管涌的判别</a:t>
            </a:r>
          </a:p>
        </p:txBody>
      </p:sp>
      <p:sp>
        <p:nvSpPr>
          <p:cNvPr id="78862" name="Text Box 14"/>
          <p:cNvSpPr txBox="1">
            <a:spLocks noChangeArrowheads="1"/>
          </p:cNvSpPr>
          <p:nvPr/>
        </p:nvSpPr>
        <p:spPr bwMode="auto">
          <a:xfrm>
            <a:off x="4021138" y="3146425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级配</a:t>
            </a:r>
          </a:p>
        </p:txBody>
      </p:sp>
      <p:sp>
        <p:nvSpPr>
          <p:cNvPr id="78863" name="Text Box 15"/>
          <p:cNvSpPr txBox="1">
            <a:spLocks noChangeArrowheads="1"/>
          </p:cNvSpPr>
          <p:nvPr/>
        </p:nvSpPr>
        <p:spPr bwMode="auto">
          <a:xfrm>
            <a:off x="5767388" y="3146425"/>
            <a:ext cx="1350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孔隙及细粒</a:t>
            </a:r>
          </a:p>
        </p:txBody>
      </p:sp>
      <p:sp>
        <p:nvSpPr>
          <p:cNvPr id="78864" name="Text Box 16"/>
          <p:cNvSpPr txBox="1">
            <a:spLocks noChangeArrowheads="1"/>
          </p:cNvSpPr>
          <p:nvPr/>
        </p:nvSpPr>
        <p:spPr bwMode="auto">
          <a:xfrm>
            <a:off x="7837488" y="3146425"/>
            <a:ext cx="5762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判定</a:t>
            </a:r>
          </a:p>
        </p:txBody>
      </p:sp>
      <p:sp>
        <p:nvSpPr>
          <p:cNvPr id="78865" name="Rectangle 17"/>
          <p:cNvSpPr>
            <a:spLocks noChangeArrowheads="1"/>
          </p:cNvSpPr>
          <p:nvPr/>
        </p:nvSpPr>
        <p:spPr bwMode="auto">
          <a:xfrm>
            <a:off x="7693025" y="4265613"/>
            <a:ext cx="1152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非管涌土</a:t>
            </a:r>
            <a:endParaRPr kumimoji="1" lang="en-US" altLang="zh-CN" sz="2000" b="1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66" name="Text Box 18"/>
          <p:cNvSpPr txBox="1">
            <a:spLocks noChangeArrowheads="1"/>
          </p:cNvSpPr>
          <p:nvPr/>
        </p:nvSpPr>
        <p:spPr bwMode="auto">
          <a:xfrm>
            <a:off x="5470525" y="3562350"/>
            <a:ext cx="19351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粗颗粒形成的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孔隙小于细颗粒</a:t>
            </a:r>
          </a:p>
        </p:txBody>
      </p:sp>
      <p:sp>
        <p:nvSpPr>
          <p:cNvPr id="78867" name="Text Box 19"/>
          <p:cNvSpPr txBox="1">
            <a:spLocks noChangeArrowheads="1"/>
          </p:cNvSpPr>
          <p:nvPr/>
        </p:nvSpPr>
        <p:spPr bwMode="auto">
          <a:xfrm>
            <a:off x="2946400" y="4819650"/>
            <a:ext cx="121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不均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匀土</a:t>
            </a:r>
            <a:endParaRPr lang="en-US" altLang="zh-CN" sz="2000" b="1" dirty="0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&gt;10</a:t>
            </a: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8868" name="Text Box 20"/>
          <p:cNvSpPr txBox="1">
            <a:spLocks noChangeArrowheads="1"/>
          </p:cNvSpPr>
          <p:nvPr/>
        </p:nvSpPr>
        <p:spPr bwMode="auto">
          <a:xfrm>
            <a:off x="4340225" y="4675188"/>
            <a:ext cx="977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不连续</a:t>
            </a:r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5418138" y="4308475"/>
            <a:ext cx="1800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细粒含量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&gt;35%</a:t>
            </a: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5468938" y="4675188"/>
            <a:ext cx="1800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细粒含量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&lt;25%</a:t>
            </a:r>
          </a:p>
        </p:txBody>
      </p:sp>
      <p:sp>
        <p:nvSpPr>
          <p:cNvPr id="78873" name="Text Box 25"/>
          <p:cNvSpPr txBox="1">
            <a:spLocks noChangeArrowheads="1"/>
          </p:cNvSpPr>
          <p:nvPr/>
        </p:nvSpPr>
        <p:spPr bwMode="auto">
          <a:xfrm>
            <a:off x="5468938" y="5091113"/>
            <a:ext cx="20812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细粒含量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=25-35%</a:t>
            </a:r>
          </a:p>
        </p:txBody>
      </p:sp>
      <p:sp>
        <p:nvSpPr>
          <p:cNvPr id="78877" name="Rectangle 29"/>
          <p:cNvSpPr>
            <a:spLocks noChangeArrowheads="1"/>
          </p:cNvSpPr>
          <p:nvPr/>
        </p:nvSpPr>
        <p:spPr bwMode="auto">
          <a:xfrm>
            <a:off x="7693025" y="4697413"/>
            <a:ext cx="936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管涌土</a:t>
            </a:r>
            <a:endParaRPr kumimoji="1" lang="en-US" altLang="zh-CN" sz="2000" b="1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78" name="Text Box 30"/>
          <p:cNvSpPr txBox="1">
            <a:spLocks noChangeArrowheads="1"/>
          </p:cNvSpPr>
          <p:nvPr/>
        </p:nvSpPr>
        <p:spPr bwMode="auto">
          <a:xfrm>
            <a:off x="7616825" y="5100638"/>
            <a:ext cx="1152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过渡型土</a:t>
            </a:r>
          </a:p>
        </p:txBody>
      </p:sp>
      <p:sp>
        <p:nvSpPr>
          <p:cNvPr id="78879" name="Rectangle 31"/>
          <p:cNvSpPr>
            <a:spLocks noChangeArrowheads="1"/>
          </p:cNvSpPr>
          <p:nvPr/>
        </p:nvSpPr>
        <p:spPr bwMode="auto">
          <a:xfrm>
            <a:off x="7685088" y="3740150"/>
            <a:ext cx="1160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非管涌土</a:t>
            </a:r>
            <a:endParaRPr kumimoji="1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83" name="Freeform 35"/>
          <p:cNvSpPr>
            <a:spLocks/>
          </p:cNvSpPr>
          <p:nvPr/>
        </p:nvSpPr>
        <p:spPr bwMode="auto">
          <a:xfrm>
            <a:off x="3013075" y="3092450"/>
            <a:ext cx="65" cy="247760"/>
          </a:xfrm>
          <a:custGeom>
            <a:avLst/>
            <a:gdLst>
              <a:gd name="T0" fmla="*/ 0 w 4"/>
              <a:gd name="T1" fmla="*/ 0 h 2262"/>
              <a:gd name="T2" fmla="*/ 4 w 4"/>
              <a:gd name="T3" fmla="*/ 2262 h 2262"/>
              <a:gd name="T4" fmla="*/ 0 60000 65536"/>
              <a:gd name="T5" fmla="*/ 0 60000 65536"/>
              <a:gd name="T6" fmla="*/ 0 w 4"/>
              <a:gd name="T7" fmla="*/ 0 h 2262"/>
              <a:gd name="T8" fmla="*/ 4 w 4"/>
              <a:gd name="T9" fmla="*/ 2262 h 22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2262">
                <a:moveTo>
                  <a:pt x="0" y="0"/>
                </a:moveTo>
                <a:lnTo>
                  <a:pt x="4" y="2262"/>
                </a:lnTo>
              </a:path>
            </a:pathLst>
          </a:cu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96" name="Line 48"/>
          <p:cNvSpPr>
            <a:spLocks noChangeShapeType="1"/>
          </p:cNvSpPr>
          <p:nvPr/>
        </p:nvSpPr>
        <p:spPr bwMode="auto">
          <a:xfrm>
            <a:off x="3027363" y="3543300"/>
            <a:ext cx="5934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97" name="Line 49"/>
          <p:cNvSpPr>
            <a:spLocks noChangeShapeType="1"/>
          </p:cNvSpPr>
          <p:nvPr/>
        </p:nvSpPr>
        <p:spPr bwMode="auto">
          <a:xfrm>
            <a:off x="5380038" y="4676775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898" name="Line 50"/>
          <p:cNvSpPr>
            <a:spLocks noChangeShapeType="1"/>
          </p:cNvSpPr>
          <p:nvPr/>
        </p:nvSpPr>
        <p:spPr bwMode="auto">
          <a:xfrm>
            <a:off x="5394325" y="6269038"/>
            <a:ext cx="3567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900" name="Line 52"/>
          <p:cNvSpPr>
            <a:spLocks noChangeShapeType="1"/>
          </p:cNvSpPr>
          <p:nvPr/>
        </p:nvSpPr>
        <p:spPr bwMode="auto">
          <a:xfrm>
            <a:off x="5397500" y="506095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901" name="Text Box 53"/>
          <p:cNvSpPr txBox="1">
            <a:spLocks noChangeArrowheads="1"/>
          </p:cNvSpPr>
          <p:nvPr/>
        </p:nvSpPr>
        <p:spPr bwMode="auto">
          <a:xfrm>
            <a:off x="173038" y="3319463"/>
            <a:ext cx="2744787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发生管涌的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必要条件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：粗颗粒所构成的孔隙直径大于细颗粒直径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4" name="灯片编号占位符 1"/>
          <p:cNvSpPr txBox="1">
            <a:spLocks/>
          </p:cNvSpPr>
          <p:nvPr/>
        </p:nvSpPr>
        <p:spPr>
          <a:xfrm>
            <a:off x="227011" y="620236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4381500" y="5611813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连续</a:t>
            </a:r>
          </a:p>
        </p:txBody>
      </p:sp>
      <p:sp>
        <p:nvSpPr>
          <p:cNvPr id="49" name="Text Box 22"/>
          <p:cNvSpPr txBox="1">
            <a:spLocks noChangeArrowheads="1"/>
          </p:cNvSpPr>
          <p:nvPr/>
        </p:nvSpPr>
        <p:spPr bwMode="auto">
          <a:xfrm>
            <a:off x="4170363" y="6116638"/>
            <a:ext cx="1290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=0.25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5813425" y="5502275"/>
            <a:ext cx="101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1" name="Text Box 27"/>
          <p:cNvSpPr txBox="1">
            <a:spLocks noChangeArrowheads="1"/>
          </p:cNvSpPr>
          <p:nvPr/>
        </p:nvSpPr>
        <p:spPr bwMode="auto">
          <a:xfrm>
            <a:off x="5808663" y="5897563"/>
            <a:ext cx="1020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&gt; 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2" name="Text Box 28"/>
          <p:cNvSpPr txBox="1">
            <a:spLocks noChangeArrowheads="1"/>
          </p:cNvSpPr>
          <p:nvPr/>
        </p:nvSpPr>
        <p:spPr bwMode="auto">
          <a:xfrm>
            <a:off x="5826125" y="6315075"/>
            <a:ext cx="1292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3" name="Rectangle 32"/>
          <p:cNvSpPr>
            <a:spLocks noChangeArrowheads="1"/>
          </p:cNvSpPr>
          <p:nvPr/>
        </p:nvSpPr>
        <p:spPr bwMode="auto">
          <a:xfrm>
            <a:off x="7685088" y="5522913"/>
            <a:ext cx="1160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非管涌土</a:t>
            </a:r>
            <a:endParaRPr kumimoji="1" lang="en-US" altLang="zh-CN" sz="2000" b="1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Rectangle 33"/>
          <p:cNvSpPr>
            <a:spLocks noChangeArrowheads="1"/>
          </p:cNvSpPr>
          <p:nvPr/>
        </p:nvSpPr>
        <p:spPr bwMode="auto">
          <a:xfrm>
            <a:off x="7693025" y="5883275"/>
            <a:ext cx="936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管涌土</a:t>
            </a:r>
            <a:endParaRPr kumimoji="1" lang="en-US" altLang="zh-CN" sz="2000" b="1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Text Box 34"/>
          <p:cNvSpPr txBox="1">
            <a:spLocks noChangeArrowheads="1"/>
          </p:cNvSpPr>
          <p:nvPr/>
        </p:nvSpPr>
        <p:spPr bwMode="auto">
          <a:xfrm>
            <a:off x="7618413" y="6316663"/>
            <a:ext cx="1160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过渡型土</a:t>
            </a:r>
          </a:p>
        </p:txBody>
      </p:sp>
    </p:spTree>
    <p:extLst>
      <p:ext uri="{BB962C8B-B14F-4D97-AF65-F5344CB8AC3E}">
        <p14:creationId xmlns:p14="http://schemas.microsoft.com/office/powerpoint/2010/main" val="149519707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99" name="Rectangle 51"/>
          <p:cNvSpPr>
            <a:spLocks noChangeArrowheads="1"/>
          </p:cNvSpPr>
          <p:nvPr/>
        </p:nvSpPr>
        <p:spPr bwMode="auto">
          <a:xfrm>
            <a:off x="3017838" y="3084513"/>
            <a:ext cx="5951537" cy="358140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1" name="Line 3"/>
          <p:cNvSpPr>
            <a:spLocks noChangeShapeType="1"/>
          </p:cNvSpPr>
          <p:nvPr/>
        </p:nvSpPr>
        <p:spPr bwMode="auto">
          <a:xfrm>
            <a:off x="3027363" y="4225925"/>
            <a:ext cx="5948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2" name="Line 4"/>
          <p:cNvSpPr>
            <a:spLocks noChangeShapeType="1"/>
          </p:cNvSpPr>
          <p:nvPr/>
        </p:nvSpPr>
        <p:spPr bwMode="auto">
          <a:xfrm>
            <a:off x="5387975" y="3084513"/>
            <a:ext cx="0" cy="3573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3" name="Line 5"/>
          <p:cNvSpPr>
            <a:spLocks noChangeShapeType="1"/>
          </p:cNvSpPr>
          <p:nvPr/>
        </p:nvSpPr>
        <p:spPr bwMode="auto">
          <a:xfrm>
            <a:off x="7532688" y="3087688"/>
            <a:ext cx="0" cy="3573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4" name="Line 6"/>
          <p:cNvSpPr>
            <a:spLocks noChangeShapeType="1"/>
          </p:cNvSpPr>
          <p:nvPr/>
        </p:nvSpPr>
        <p:spPr bwMode="auto">
          <a:xfrm>
            <a:off x="4135438" y="5476875"/>
            <a:ext cx="4824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99CCFF"/>
              </a:solidFill>
              <a:cs typeface="Times New Roman" panose="02020603050405020304" pitchFamily="18" charset="0"/>
            </a:endParaRPr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>
            <a:off x="4144963" y="4219575"/>
            <a:ext cx="0" cy="2454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>
            <a:off x="5380038" y="58801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646113" y="2057400"/>
            <a:ext cx="1612900" cy="4318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3300413" y="3586163"/>
            <a:ext cx="12969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较均匀土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10）</a:t>
            </a:r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684213" y="2055813"/>
            <a:ext cx="14716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几何条件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水力条件</a:t>
            </a:r>
          </a:p>
        </p:txBody>
      </p:sp>
      <p:sp>
        <p:nvSpPr>
          <p:cNvPr id="78861" name="Text Box 13"/>
          <p:cNvSpPr txBox="1">
            <a:spLocks noChangeArrowheads="1"/>
          </p:cNvSpPr>
          <p:nvPr/>
        </p:nvSpPr>
        <p:spPr bwMode="auto">
          <a:xfrm>
            <a:off x="263525" y="857250"/>
            <a:ext cx="250190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无黏性</a:t>
            </a:r>
            <a:r>
              <a:rPr lang="zh-CN" altLang="en-US" sz="3200" b="1" dirty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土管涌的判别</a:t>
            </a:r>
          </a:p>
        </p:txBody>
      </p:sp>
      <p:sp>
        <p:nvSpPr>
          <p:cNvPr id="78862" name="Text Box 14"/>
          <p:cNvSpPr txBox="1">
            <a:spLocks noChangeArrowheads="1"/>
          </p:cNvSpPr>
          <p:nvPr/>
        </p:nvSpPr>
        <p:spPr bwMode="auto">
          <a:xfrm>
            <a:off x="4021138" y="3146425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级配</a:t>
            </a:r>
          </a:p>
        </p:txBody>
      </p:sp>
      <p:sp>
        <p:nvSpPr>
          <p:cNvPr id="78863" name="Text Box 15"/>
          <p:cNvSpPr txBox="1">
            <a:spLocks noChangeArrowheads="1"/>
          </p:cNvSpPr>
          <p:nvPr/>
        </p:nvSpPr>
        <p:spPr bwMode="auto">
          <a:xfrm>
            <a:off x="5767388" y="3146425"/>
            <a:ext cx="1350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孔隙及细粒</a:t>
            </a:r>
          </a:p>
        </p:txBody>
      </p:sp>
      <p:sp>
        <p:nvSpPr>
          <p:cNvPr id="78864" name="Text Box 16"/>
          <p:cNvSpPr txBox="1">
            <a:spLocks noChangeArrowheads="1"/>
          </p:cNvSpPr>
          <p:nvPr/>
        </p:nvSpPr>
        <p:spPr bwMode="auto">
          <a:xfrm>
            <a:off x="7837488" y="3146425"/>
            <a:ext cx="5762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判定</a:t>
            </a:r>
          </a:p>
        </p:txBody>
      </p:sp>
      <p:sp>
        <p:nvSpPr>
          <p:cNvPr id="78865" name="Rectangle 17"/>
          <p:cNvSpPr>
            <a:spLocks noChangeArrowheads="1"/>
          </p:cNvSpPr>
          <p:nvPr/>
        </p:nvSpPr>
        <p:spPr bwMode="auto">
          <a:xfrm>
            <a:off x="7693025" y="4265613"/>
            <a:ext cx="1152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非管涌土</a:t>
            </a:r>
            <a:endParaRPr kumimoji="1" lang="en-US" altLang="zh-CN" sz="2000" b="1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66" name="Text Box 18"/>
          <p:cNvSpPr txBox="1">
            <a:spLocks noChangeArrowheads="1"/>
          </p:cNvSpPr>
          <p:nvPr/>
        </p:nvSpPr>
        <p:spPr bwMode="auto">
          <a:xfrm>
            <a:off x="5470525" y="3562350"/>
            <a:ext cx="19351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粗颗粒形成的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孔隙小于细颗粒</a:t>
            </a:r>
          </a:p>
        </p:txBody>
      </p:sp>
      <p:sp>
        <p:nvSpPr>
          <p:cNvPr id="78867" name="Text Box 19"/>
          <p:cNvSpPr txBox="1">
            <a:spLocks noChangeArrowheads="1"/>
          </p:cNvSpPr>
          <p:nvPr/>
        </p:nvSpPr>
        <p:spPr bwMode="auto">
          <a:xfrm>
            <a:off x="2946400" y="4819650"/>
            <a:ext cx="121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不均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匀土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&gt;10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8868" name="Text Box 20"/>
          <p:cNvSpPr txBox="1">
            <a:spLocks noChangeArrowheads="1"/>
          </p:cNvSpPr>
          <p:nvPr/>
        </p:nvSpPr>
        <p:spPr bwMode="auto">
          <a:xfrm>
            <a:off x="4340225" y="4675188"/>
            <a:ext cx="977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不连续</a:t>
            </a:r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5418138" y="4308475"/>
            <a:ext cx="1800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细粒含量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&gt;35%</a:t>
            </a: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5468938" y="4675188"/>
            <a:ext cx="1800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细粒含量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&lt;25%</a:t>
            </a:r>
          </a:p>
        </p:txBody>
      </p:sp>
      <p:sp>
        <p:nvSpPr>
          <p:cNvPr id="78873" name="Text Box 25"/>
          <p:cNvSpPr txBox="1">
            <a:spLocks noChangeArrowheads="1"/>
          </p:cNvSpPr>
          <p:nvPr/>
        </p:nvSpPr>
        <p:spPr bwMode="auto">
          <a:xfrm>
            <a:off x="5468938" y="5091113"/>
            <a:ext cx="20812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细粒含量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=25-35%</a:t>
            </a:r>
          </a:p>
        </p:txBody>
      </p:sp>
      <p:sp>
        <p:nvSpPr>
          <p:cNvPr id="78877" name="Rectangle 29"/>
          <p:cNvSpPr>
            <a:spLocks noChangeArrowheads="1"/>
          </p:cNvSpPr>
          <p:nvPr/>
        </p:nvSpPr>
        <p:spPr bwMode="auto">
          <a:xfrm>
            <a:off x="7693025" y="4697413"/>
            <a:ext cx="936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管涌土</a:t>
            </a:r>
            <a:endParaRPr kumimoji="1" lang="en-US" altLang="zh-CN" sz="2000" b="1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78" name="Text Box 30"/>
          <p:cNvSpPr txBox="1">
            <a:spLocks noChangeArrowheads="1"/>
          </p:cNvSpPr>
          <p:nvPr/>
        </p:nvSpPr>
        <p:spPr bwMode="auto">
          <a:xfrm>
            <a:off x="7616825" y="5100638"/>
            <a:ext cx="1152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过渡型土</a:t>
            </a:r>
          </a:p>
        </p:txBody>
      </p:sp>
      <p:sp>
        <p:nvSpPr>
          <p:cNvPr id="78879" name="Rectangle 31"/>
          <p:cNvSpPr>
            <a:spLocks noChangeArrowheads="1"/>
          </p:cNvSpPr>
          <p:nvPr/>
        </p:nvSpPr>
        <p:spPr bwMode="auto">
          <a:xfrm>
            <a:off x="7685088" y="3740150"/>
            <a:ext cx="1160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非管涌土</a:t>
            </a:r>
            <a:endParaRPr kumimoji="1" lang="en-US" altLang="zh-CN" sz="2000" b="1" dirty="0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83" name="Freeform 35"/>
          <p:cNvSpPr>
            <a:spLocks/>
          </p:cNvSpPr>
          <p:nvPr/>
        </p:nvSpPr>
        <p:spPr bwMode="auto">
          <a:xfrm>
            <a:off x="3013075" y="3092450"/>
            <a:ext cx="65" cy="247760"/>
          </a:xfrm>
          <a:custGeom>
            <a:avLst/>
            <a:gdLst>
              <a:gd name="T0" fmla="*/ 0 w 4"/>
              <a:gd name="T1" fmla="*/ 0 h 2262"/>
              <a:gd name="T2" fmla="*/ 4 w 4"/>
              <a:gd name="T3" fmla="*/ 2262 h 2262"/>
              <a:gd name="T4" fmla="*/ 0 60000 65536"/>
              <a:gd name="T5" fmla="*/ 0 60000 65536"/>
              <a:gd name="T6" fmla="*/ 0 w 4"/>
              <a:gd name="T7" fmla="*/ 0 h 2262"/>
              <a:gd name="T8" fmla="*/ 4 w 4"/>
              <a:gd name="T9" fmla="*/ 2262 h 22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2262">
                <a:moveTo>
                  <a:pt x="0" y="0"/>
                </a:moveTo>
                <a:lnTo>
                  <a:pt x="4" y="2262"/>
                </a:lnTo>
              </a:path>
            </a:pathLst>
          </a:cu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84" name="Freeform 36"/>
          <p:cNvSpPr>
            <a:spLocks/>
          </p:cNvSpPr>
          <p:nvPr/>
        </p:nvSpPr>
        <p:spPr bwMode="auto">
          <a:xfrm>
            <a:off x="4860925" y="966788"/>
            <a:ext cx="2797175" cy="1690687"/>
          </a:xfrm>
          <a:custGeom>
            <a:avLst/>
            <a:gdLst>
              <a:gd name="T0" fmla="*/ 0 w 1851"/>
              <a:gd name="T1" fmla="*/ 0 h 1119"/>
              <a:gd name="T2" fmla="*/ 111 w 1851"/>
              <a:gd name="T3" fmla="*/ 66 h 1119"/>
              <a:gd name="T4" fmla="*/ 249 w 1851"/>
              <a:gd name="T5" fmla="*/ 183 h 1119"/>
              <a:gd name="T6" fmla="*/ 372 w 1851"/>
              <a:gd name="T7" fmla="*/ 312 h 1119"/>
              <a:gd name="T8" fmla="*/ 471 w 1851"/>
              <a:gd name="T9" fmla="*/ 431 h 1119"/>
              <a:gd name="T10" fmla="*/ 573 w 1851"/>
              <a:gd name="T11" fmla="*/ 555 h 1119"/>
              <a:gd name="T12" fmla="*/ 711 w 1851"/>
              <a:gd name="T13" fmla="*/ 696 h 1119"/>
              <a:gd name="T14" fmla="*/ 834 w 1851"/>
              <a:gd name="T15" fmla="*/ 741 h 1119"/>
              <a:gd name="T16" fmla="*/ 1095 w 1851"/>
              <a:gd name="T17" fmla="*/ 759 h 1119"/>
              <a:gd name="T18" fmla="*/ 1239 w 1851"/>
              <a:gd name="T19" fmla="*/ 765 h 1119"/>
              <a:gd name="T20" fmla="*/ 1359 w 1851"/>
              <a:gd name="T21" fmla="*/ 777 h 1119"/>
              <a:gd name="T22" fmla="*/ 1514 w 1851"/>
              <a:gd name="T23" fmla="*/ 885 h 1119"/>
              <a:gd name="T24" fmla="*/ 1626 w 1851"/>
              <a:gd name="T25" fmla="*/ 957 h 1119"/>
              <a:gd name="T26" fmla="*/ 1779 w 1851"/>
              <a:gd name="T27" fmla="*/ 1065 h 1119"/>
              <a:gd name="T28" fmla="*/ 1851 w 1851"/>
              <a:gd name="T29" fmla="*/ 1119 h 111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851"/>
              <a:gd name="T46" fmla="*/ 0 h 1119"/>
              <a:gd name="T47" fmla="*/ 1851 w 1851"/>
              <a:gd name="T48" fmla="*/ 1119 h 1119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851" h="1119">
                <a:moveTo>
                  <a:pt x="0" y="0"/>
                </a:moveTo>
                <a:cubicBezTo>
                  <a:pt x="19" y="11"/>
                  <a:pt x="70" y="36"/>
                  <a:pt x="111" y="66"/>
                </a:cubicBezTo>
                <a:cubicBezTo>
                  <a:pt x="152" y="96"/>
                  <a:pt x="206" y="142"/>
                  <a:pt x="249" y="183"/>
                </a:cubicBezTo>
                <a:cubicBezTo>
                  <a:pt x="292" y="224"/>
                  <a:pt x="335" y="271"/>
                  <a:pt x="372" y="312"/>
                </a:cubicBezTo>
                <a:cubicBezTo>
                  <a:pt x="409" y="353"/>
                  <a:pt x="438" y="391"/>
                  <a:pt x="471" y="431"/>
                </a:cubicBezTo>
                <a:cubicBezTo>
                  <a:pt x="504" y="471"/>
                  <a:pt x="533" y="511"/>
                  <a:pt x="573" y="555"/>
                </a:cubicBezTo>
                <a:cubicBezTo>
                  <a:pt x="613" y="599"/>
                  <a:pt x="668" y="665"/>
                  <a:pt x="711" y="696"/>
                </a:cubicBezTo>
                <a:cubicBezTo>
                  <a:pt x="754" y="727"/>
                  <a:pt x="770" y="731"/>
                  <a:pt x="834" y="741"/>
                </a:cubicBezTo>
                <a:cubicBezTo>
                  <a:pt x="898" y="751"/>
                  <a:pt x="1028" y="755"/>
                  <a:pt x="1095" y="759"/>
                </a:cubicBezTo>
                <a:cubicBezTo>
                  <a:pt x="1162" y="763"/>
                  <a:pt x="1195" y="762"/>
                  <a:pt x="1239" y="765"/>
                </a:cubicBezTo>
                <a:cubicBezTo>
                  <a:pt x="1283" y="768"/>
                  <a:pt x="1313" y="757"/>
                  <a:pt x="1359" y="777"/>
                </a:cubicBezTo>
                <a:cubicBezTo>
                  <a:pt x="1405" y="797"/>
                  <a:pt x="1470" y="855"/>
                  <a:pt x="1514" y="885"/>
                </a:cubicBezTo>
                <a:cubicBezTo>
                  <a:pt x="1558" y="915"/>
                  <a:pt x="1582" y="927"/>
                  <a:pt x="1626" y="957"/>
                </a:cubicBezTo>
                <a:cubicBezTo>
                  <a:pt x="1670" y="987"/>
                  <a:pt x="1741" y="1038"/>
                  <a:pt x="1779" y="1065"/>
                </a:cubicBezTo>
                <a:cubicBezTo>
                  <a:pt x="1817" y="1092"/>
                  <a:pt x="1836" y="1108"/>
                  <a:pt x="1851" y="1119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78886" name="Line 38"/>
          <p:cNvSpPr>
            <a:spLocks noChangeShapeType="1"/>
          </p:cNvSpPr>
          <p:nvPr/>
        </p:nvSpPr>
        <p:spPr bwMode="auto">
          <a:xfrm flipH="1">
            <a:off x="5702300" y="1501775"/>
            <a:ext cx="347663" cy="15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78887" name="Line 39"/>
          <p:cNvSpPr>
            <a:spLocks noChangeShapeType="1"/>
          </p:cNvSpPr>
          <p:nvPr/>
        </p:nvSpPr>
        <p:spPr bwMode="auto">
          <a:xfrm>
            <a:off x="6872288" y="1512888"/>
            <a:ext cx="301625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78888" name="Line 40"/>
          <p:cNvSpPr>
            <a:spLocks noChangeShapeType="1"/>
          </p:cNvSpPr>
          <p:nvPr/>
        </p:nvSpPr>
        <p:spPr bwMode="auto">
          <a:xfrm flipV="1">
            <a:off x="4433888" y="846138"/>
            <a:ext cx="0" cy="19621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78889" name="Line 41"/>
          <p:cNvSpPr>
            <a:spLocks noChangeShapeType="1"/>
          </p:cNvSpPr>
          <p:nvPr/>
        </p:nvSpPr>
        <p:spPr bwMode="auto">
          <a:xfrm>
            <a:off x="4433888" y="2808288"/>
            <a:ext cx="3495675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78890" name="Text Box 42"/>
          <p:cNvSpPr txBox="1">
            <a:spLocks noChangeArrowheads="1"/>
          </p:cNvSpPr>
          <p:nvPr/>
        </p:nvSpPr>
        <p:spPr bwMode="auto">
          <a:xfrm rot="-5400000">
            <a:off x="3843364" y="1412181"/>
            <a:ext cx="6381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 smtClean="0">
                <a:solidFill>
                  <a:srgbClr val="800000"/>
                </a:solidFill>
                <a:cs typeface="Times New Roman" panose="02020603050405020304" pitchFamily="18" charset="0"/>
              </a:rPr>
              <a:t>P </a:t>
            </a:r>
            <a:r>
              <a:rPr lang="en-US" altLang="zh-CN" sz="2000" b="1" dirty="0" smtClean="0">
                <a:solidFill>
                  <a:srgbClr val="800000"/>
                </a:solidFill>
                <a:cs typeface="Times New Roman" panose="02020603050405020304" pitchFamily="18" charset="0"/>
              </a:rPr>
              <a:t>(%)</a:t>
            </a:r>
            <a:endParaRPr lang="en-US" altLang="zh-CN" sz="2000" b="1" dirty="0">
              <a:solidFill>
                <a:srgbClr val="8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8891" name="Text Box 43"/>
          <p:cNvSpPr txBox="1">
            <a:spLocks noChangeArrowheads="1"/>
          </p:cNvSpPr>
          <p:nvPr/>
        </p:nvSpPr>
        <p:spPr bwMode="auto">
          <a:xfrm>
            <a:off x="8035931" y="2582863"/>
            <a:ext cx="3270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 err="1">
                <a:solidFill>
                  <a:srgbClr val="800000"/>
                </a:solidFill>
                <a:cs typeface="Times New Roman" panose="02020603050405020304" pitchFamily="18" charset="0"/>
              </a:rPr>
              <a:t>lg</a:t>
            </a:r>
            <a:r>
              <a:rPr lang="en-US" altLang="zh-CN" sz="2000" b="1" i="1" dirty="0" err="1">
                <a:solidFill>
                  <a:srgbClr val="800000"/>
                </a:solidFill>
                <a:cs typeface="Times New Roman" panose="02020603050405020304" pitchFamily="18" charset="0"/>
              </a:rPr>
              <a:t>d</a:t>
            </a:r>
            <a:endParaRPr lang="en-US" altLang="zh-CN" sz="2000" b="1" i="1" dirty="0">
              <a:solidFill>
                <a:srgbClr val="8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8892" name="Text Box 44"/>
          <p:cNvSpPr txBox="1">
            <a:spLocks noChangeArrowheads="1"/>
          </p:cNvSpPr>
          <p:nvPr/>
        </p:nvSpPr>
        <p:spPr bwMode="auto">
          <a:xfrm>
            <a:off x="5578475" y="1130300"/>
            <a:ext cx="549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9900"/>
                </a:solidFill>
                <a:latin typeface="Arial" charset="0"/>
              </a:rPr>
              <a:t>骨架</a:t>
            </a:r>
          </a:p>
        </p:txBody>
      </p:sp>
      <p:sp>
        <p:nvSpPr>
          <p:cNvPr id="78893" name="Text Box 45"/>
          <p:cNvSpPr txBox="1">
            <a:spLocks noChangeArrowheads="1"/>
          </p:cNvSpPr>
          <p:nvPr/>
        </p:nvSpPr>
        <p:spPr bwMode="auto">
          <a:xfrm>
            <a:off x="6905625" y="1131888"/>
            <a:ext cx="823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9900"/>
                </a:solidFill>
                <a:latin typeface="Arial" charset="0"/>
              </a:rPr>
              <a:t>充填料</a:t>
            </a:r>
          </a:p>
        </p:txBody>
      </p:sp>
      <p:sp>
        <p:nvSpPr>
          <p:cNvPr id="78894" name="Line 46"/>
          <p:cNvSpPr>
            <a:spLocks noChangeShapeType="1"/>
          </p:cNvSpPr>
          <p:nvPr/>
        </p:nvSpPr>
        <p:spPr bwMode="auto">
          <a:xfrm flipV="1">
            <a:off x="6051550" y="1443038"/>
            <a:ext cx="0" cy="1360487"/>
          </a:xfrm>
          <a:prstGeom prst="lin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95" name="Line 47"/>
          <p:cNvSpPr>
            <a:spLocks noChangeShapeType="1"/>
          </p:cNvSpPr>
          <p:nvPr/>
        </p:nvSpPr>
        <p:spPr bwMode="auto">
          <a:xfrm flipV="1">
            <a:off x="6891338" y="1433513"/>
            <a:ext cx="0" cy="1360487"/>
          </a:xfrm>
          <a:prstGeom prst="lin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96" name="Line 48"/>
          <p:cNvSpPr>
            <a:spLocks noChangeShapeType="1"/>
          </p:cNvSpPr>
          <p:nvPr/>
        </p:nvSpPr>
        <p:spPr bwMode="auto">
          <a:xfrm>
            <a:off x="3027363" y="3543300"/>
            <a:ext cx="5934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97" name="Line 49"/>
          <p:cNvSpPr>
            <a:spLocks noChangeShapeType="1"/>
          </p:cNvSpPr>
          <p:nvPr/>
        </p:nvSpPr>
        <p:spPr bwMode="auto">
          <a:xfrm>
            <a:off x="5380038" y="4676775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98" name="Line 50"/>
          <p:cNvSpPr>
            <a:spLocks noChangeShapeType="1"/>
          </p:cNvSpPr>
          <p:nvPr/>
        </p:nvSpPr>
        <p:spPr bwMode="auto">
          <a:xfrm>
            <a:off x="5394325" y="6269038"/>
            <a:ext cx="3567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900" name="Line 52"/>
          <p:cNvSpPr>
            <a:spLocks noChangeShapeType="1"/>
          </p:cNvSpPr>
          <p:nvPr/>
        </p:nvSpPr>
        <p:spPr bwMode="auto">
          <a:xfrm>
            <a:off x="5397500" y="506095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901" name="Text Box 53"/>
          <p:cNvSpPr txBox="1">
            <a:spLocks noChangeArrowheads="1"/>
          </p:cNvSpPr>
          <p:nvPr/>
        </p:nvSpPr>
        <p:spPr bwMode="auto">
          <a:xfrm>
            <a:off x="173038" y="3319463"/>
            <a:ext cx="2744787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发生管涌的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必要条件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：粗颗粒所构成的孔隙直径大于细颗粒直径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4" name="灯片编号占位符 1"/>
          <p:cNvSpPr txBox="1">
            <a:spLocks/>
          </p:cNvSpPr>
          <p:nvPr/>
        </p:nvSpPr>
        <p:spPr>
          <a:xfrm>
            <a:off x="227011" y="620236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6" name="Text Box 45"/>
          <p:cNvSpPr txBox="1">
            <a:spLocks noChangeArrowheads="1"/>
          </p:cNvSpPr>
          <p:nvPr/>
        </p:nvSpPr>
        <p:spPr bwMode="auto">
          <a:xfrm>
            <a:off x="6909167" y="1857557"/>
            <a:ext cx="4272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 smtClean="0">
                <a:solidFill>
                  <a:srgbClr val="009900"/>
                </a:solidFill>
                <a:latin typeface="Arial" charset="0"/>
              </a:rPr>
              <a:t>b</a:t>
            </a:r>
            <a:endParaRPr lang="zh-CN" altLang="en-US" sz="2000" b="1" dirty="0">
              <a:solidFill>
                <a:srgbClr val="009900"/>
              </a:solidFill>
              <a:latin typeface="Arial" charset="0"/>
            </a:endParaRP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4381500" y="5611813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连续</a:t>
            </a:r>
          </a:p>
        </p:txBody>
      </p:sp>
      <p:sp>
        <p:nvSpPr>
          <p:cNvPr id="49" name="Text Box 22"/>
          <p:cNvSpPr txBox="1">
            <a:spLocks noChangeArrowheads="1"/>
          </p:cNvSpPr>
          <p:nvPr/>
        </p:nvSpPr>
        <p:spPr bwMode="auto">
          <a:xfrm>
            <a:off x="4170363" y="6116638"/>
            <a:ext cx="1290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=0.25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5813425" y="5502275"/>
            <a:ext cx="101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1" name="Text Box 27"/>
          <p:cNvSpPr txBox="1">
            <a:spLocks noChangeArrowheads="1"/>
          </p:cNvSpPr>
          <p:nvPr/>
        </p:nvSpPr>
        <p:spPr bwMode="auto">
          <a:xfrm>
            <a:off x="5808663" y="5897563"/>
            <a:ext cx="1020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&gt; 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2" name="Text Box 28"/>
          <p:cNvSpPr txBox="1">
            <a:spLocks noChangeArrowheads="1"/>
          </p:cNvSpPr>
          <p:nvPr/>
        </p:nvSpPr>
        <p:spPr bwMode="auto">
          <a:xfrm>
            <a:off x="5826125" y="6315075"/>
            <a:ext cx="1292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3" name="Rectangle 32"/>
          <p:cNvSpPr>
            <a:spLocks noChangeArrowheads="1"/>
          </p:cNvSpPr>
          <p:nvPr/>
        </p:nvSpPr>
        <p:spPr bwMode="auto">
          <a:xfrm>
            <a:off x="7685088" y="5522913"/>
            <a:ext cx="1160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非管涌土</a:t>
            </a:r>
            <a:endParaRPr kumimoji="1" lang="en-US" altLang="zh-CN" sz="2000" b="1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Rectangle 33"/>
          <p:cNvSpPr>
            <a:spLocks noChangeArrowheads="1"/>
          </p:cNvSpPr>
          <p:nvPr/>
        </p:nvSpPr>
        <p:spPr bwMode="auto">
          <a:xfrm>
            <a:off x="7693025" y="5883275"/>
            <a:ext cx="936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管涌土</a:t>
            </a:r>
            <a:endParaRPr kumimoji="1" lang="en-US" altLang="zh-CN" sz="2000" b="1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Text Box 34"/>
          <p:cNvSpPr txBox="1">
            <a:spLocks noChangeArrowheads="1"/>
          </p:cNvSpPr>
          <p:nvPr/>
        </p:nvSpPr>
        <p:spPr bwMode="auto">
          <a:xfrm>
            <a:off x="7618413" y="6316663"/>
            <a:ext cx="1160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过渡型土</a:t>
            </a:r>
          </a:p>
        </p:txBody>
      </p:sp>
    </p:spTree>
    <p:extLst>
      <p:ext uri="{BB962C8B-B14F-4D97-AF65-F5344CB8AC3E}">
        <p14:creationId xmlns:p14="http://schemas.microsoft.com/office/powerpoint/2010/main" val="303291463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99" name="Rectangle 51"/>
          <p:cNvSpPr>
            <a:spLocks noChangeArrowheads="1"/>
          </p:cNvSpPr>
          <p:nvPr/>
        </p:nvSpPr>
        <p:spPr bwMode="auto">
          <a:xfrm>
            <a:off x="3017838" y="3084513"/>
            <a:ext cx="5951537" cy="358140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1" name="Line 3"/>
          <p:cNvSpPr>
            <a:spLocks noChangeShapeType="1"/>
          </p:cNvSpPr>
          <p:nvPr/>
        </p:nvSpPr>
        <p:spPr bwMode="auto">
          <a:xfrm>
            <a:off x="3027363" y="4225925"/>
            <a:ext cx="5948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2" name="Line 4"/>
          <p:cNvSpPr>
            <a:spLocks noChangeShapeType="1"/>
          </p:cNvSpPr>
          <p:nvPr/>
        </p:nvSpPr>
        <p:spPr bwMode="auto">
          <a:xfrm>
            <a:off x="5387975" y="3084513"/>
            <a:ext cx="0" cy="3573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3" name="Line 5"/>
          <p:cNvSpPr>
            <a:spLocks noChangeShapeType="1"/>
          </p:cNvSpPr>
          <p:nvPr/>
        </p:nvSpPr>
        <p:spPr bwMode="auto">
          <a:xfrm>
            <a:off x="7532688" y="3087688"/>
            <a:ext cx="0" cy="3573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4" name="Line 6"/>
          <p:cNvSpPr>
            <a:spLocks noChangeShapeType="1"/>
          </p:cNvSpPr>
          <p:nvPr/>
        </p:nvSpPr>
        <p:spPr bwMode="auto">
          <a:xfrm>
            <a:off x="4135438" y="5476875"/>
            <a:ext cx="4824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>
            <a:off x="4144963" y="4219575"/>
            <a:ext cx="0" cy="2454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>
            <a:off x="5380038" y="58801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646113" y="2057400"/>
            <a:ext cx="1612900" cy="4318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3300413" y="3586163"/>
            <a:ext cx="12969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较均匀土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000" b="1" i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1" baseline="-25000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10）</a:t>
            </a:r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684213" y="2055813"/>
            <a:ext cx="14716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几何条件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水力条件</a:t>
            </a:r>
          </a:p>
        </p:txBody>
      </p:sp>
      <p:sp>
        <p:nvSpPr>
          <p:cNvPr id="78861" name="Text Box 13"/>
          <p:cNvSpPr txBox="1">
            <a:spLocks noChangeArrowheads="1"/>
          </p:cNvSpPr>
          <p:nvPr/>
        </p:nvSpPr>
        <p:spPr bwMode="auto">
          <a:xfrm>
            <a:off x="263525" y="857250"/>
            <a:ext cx="250190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无黏性</a:t>
            </a:r>
            <a:r>
              <a:rPr lang="zh-CN" altLang="en-US" sz="3200" b="1" dirty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土管涌的判别</a:t>
            </a:r>
          </a:p>
        </p:txBody>
      </p:sp>
      <p:sp>
        <p:nvSpPr>
          <p:cNvPr id="78862" name="Text Box 14"/>
          <p:cNvSpPr txBox="1">
            <a:spLocks noChangeArrowheads="1"/>
          </p:cNvSpPr>
          <p:nvPr/>
        </p:nvSpPr>
        <p:spPr bwMode="auto">
          <a:xfrm>
            <a:off x="4021138" y="3146425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级配</a:t>
            </a:r>
          </a:p>
        </p:txBody>
      </p:sp>
      <p:sp>
        <p:nvSpPr>
          <p:cNvPr id="78863" name="Text Box 15"/>
          <p:cNvSpPr txBox="1">
            <a:spLocks noChangeArrowheads="1"/>
          </p:cNvSpPr>
          <p:nvPr/>
        </p:nvSpPr>
        <p:spPr bwMode="auto">
          <a:xfrm>
            <a:off x="5767388" y="3146425"/>
            <a:ext cx="1350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孔隙及细粒</a:t>
            </a:r>
          </a:p>
        </p:txBody>
      </p:sp>
      <p:sp>
        <p:nvSpPr>
          <p:cNvPr id="78864" name="Text Box 16"/>
          <p:cNvSpPr txBox="1">
            <a:spLocks noChangeArrowheads="1"/>
          </p:cNvSpPr>
          <p:nvPr/>
        </p:nvSpPr>
        <p:spPr bwMode="auto">
          <a:xfrm>
            <a:off x="7837488" y="3146425"/>
            <a:ext cx="5762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判定</a:t>
            </a:r>
          </a:p>
        </p:txBody>
      </p:sp>
      <p:sp>
        <p:nvSpPr>
          <p:cNvPr id="78865" name="Rectangle 17"/>
          <p:cNvSpPr>
            <a:spLocks noChangeArrowheads="1"/>
          </p:cNvSpPr>
          <p:nvPr/>
        </p:nvSpPr>
        <p:spPr bwMode="auto">
          <a:xfrm>
            <a:off x="7693025" y="4265613"/>
            <a:ext cx="1152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非管涌土</a:t>
            </a:r>
            <a:endParaRPr kumimoji="1" lang="en-US" altLang="zh-CN" sz="2000" b="1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66" name="Text Box 18"/>
          <p:cNvSpPr txBox="1">
            <a:spLocks noChangeArrowheads="1"/>
          </p:cNvSpPr>
          <p:nvPr/>
        </p:nvSpPr>
        <p:spPr bwMode="auto">
          <a:xfrm>
            <a:off x="5470525" y="3562350"/>
            <a:ext cx="19351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粗颗粒形成的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孔隙小于细颗粒</a:t>
            </a:r>
          </a:p>
        </p:txBody>
      </p:sp>
      <p:sp>
        <p:nvSpPr>
          <p:cNvPr id="78867" name="Text Box 19"/>
          <p:cNvSpPr txBox="1">
            <a:spLocks noChangeArrowheads="1"/>
          </p:cNvSpPr>
          <p:nvPr/>
        </p:nvSpPr>
        <p:spPr bwMode="auto">
          <a:xfrm>
            <a:off x="2946400" y="4819650"/>
            <a:ext cx="121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不均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匀土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&gt;10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8868" name="Text Box 20"/>
          <p:cNvSpPr txBox="1">
            <a:spLocks noChangeArrowheads="1"/>
          </p:cNvSpPr>
          <p:nvPr/>
        </p:nvSpPr>
        <p:spPr bwMode="auto">
          <a:xfrm>
            <a:off x="4340225" y="4675188"/>
            <a:ext cx="977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不连续</a:t>
            </a:r>
          </a:p>
        </p:txBody>
      </p:sp>
      <p:sp>
        <p:nvSpPr>
          <p:cNvPr id="78869" name="Text Box 21"/>
          <p:cNvSpPr txBox="1">
            <a:spLocks noChangeArrowheads="1"/>
          </p:cNvSpPr>
          <p:nvPr/>
        </p:nvSpPr>
        <p:spPr bwMode="auto">
          <a:xfrm>
            <a:off x="4381500" y="5611813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连续</a:t>
            </a:r>
          </a:p>
        </p:txBody>
      </p:sp>
      <p:sp>
        <p:nvSpPr>
          <p:cNvPr id="78870" name="Text Box 22"/>
          <p:cNvSpPr txBox="1">
            <a:spLocks noChangeArrowheads="1"/>
          </p:cNvSpPr>
          <p:nvPr/>
        </p:nvSpPr>
        <p:spPr bwMode="auto">
          <a:xfrm>
            <a:off x="4170363" y="6116638"/>
            <a:ext cx="1290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=0.25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5418138" y="4308475"/>
            <a:ext cx="1800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细粒含量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&gt;35%</a:t>
            </a: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5468938" y="4675188"/>
            <a:ext cx="1800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细粒含量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&lt;25%</a:t>
            </a:r>
          </a:p>
        </p:txBody>
      </p:sp>
      <p:sp>
        <p:nvSpPr>
          <p:cNvPr id="78873" name="Text Box 25"/>
          <p:cNvSpPr txBox="1">
            <a:spLocks noChangeArrowheads="1"/>
          </p:cNvSpPr>
          <p:nvPr/>
        </p:nvSpPr>
        <p:spPr bwMode="auto">
          <a:xfrm>
            <a:off x="5468938" y="5091113"/>
            <a:ext cx="20812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细粒含量</a:t>
            </a:r>
            <a:r>
              <a:rPr kumimoji="1" lang="en-US" altLang="zh-CN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=25-35%</a:t>
            </a:r>
          </a:p>
        </p:txBody>
      </p:sp>
      <p:sp>
        <p:nvSpPr>
          <p:cNvPr id="78874" name="Text Box 26"/>
          <p:cNvSpPr txBox="1">
            <a:spLocks noChangeArrowheads="1"/>
          </p:cNvSpPr>
          <p:nvPr/>
        </p:nvSpPr>
        <p:spPr bwMode="auto">
          <a:xfrm>
            <a:off x="5813425" y="5502275"/>
            <a:ext cx="101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8875" name="Text Box 27"/>
          <p:cNvSpPr txBox="1">
            <a:spLocks noChangeArrowheads="1"/>
          </p:cNvSpPr>
          <p:nvPr/>
        </p:nvSpPr>
        <p:spPr bwMode="auto">
          <a:xfrm>
            <a:off x="5808663" y="5897563"/>
            <a:ext cx="1020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&gt; 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8876" name="Text Box 28"/>
          <p:cNvSpPr txBox="1">
            <a:spLocks noChangeArrowheads="1"/>
          </p:cNvSpPr>
          <p:nvPr/>
        </p:nvSpPr>
        <p:spPr bwMode="auto">
          <a:xfrm>
            <a:off x="5826125" y="6315075"/>
            <a:ext cx="1318954" cy="309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&lt;  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&lt; 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5</a:t>
            </a:r>
            <a:endParaRPr lang="en-US" altLang="zh-CN" sz="20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77" name="Rectangle 29"/>
          <p:cNvSpPr>
            <a:spLocks noChangeArrowheads="1"/>
          </p:cNvSpPr>
          <p:nvPr/>
        </p:nvSpPr>
        <p:spPr bwMode="auto">
          <a:xfrm>
            <a:off x="7693025" y="4697413"/>
            <a:ext cx="936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管涌土</a:t>
            </a:r>
            <a:endParaRPr kumimoji="1" lang="en-US" altLang="zh-CN" sz="2000" b="1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78" name="Text Box 30"/>
          <p:cNvSpPr txBox="1">
            <a:spLocks noChangeArrowheads="1"/>
          </p:cNvSpPr>
          <p:nvPr/>
        </p:nvSpPr>
        <p:spPr bwMode="auto">
          <a:xfrm>
            <a:off x="7616825" y="5100638"/>
            <a:ext cx="1152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过渡型土</a:t>
            </a:r>
          </a:p>
        </p:txBody>
      </p:sp>
      <p:sp>
        <p:nvSpPr>
          <p:cNvPr id="78879" name="Rectangle 31"/>
          <p:cNvSpPr>
            <a:spLocks noChangeArrowheads="1"/>
          </p:cNvSpPr>
          <p:nvPr/>
        </p:nvSpPr>
        <p:spPr bwMode="auto">
          <a:xfrm>
            <a:off x="7685088" y="3740150"/>
            <a:ext cx="1160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6699FF"/>
                </a:solidFill>
                <a:ea typeface="幼圆" pitchFamily="49" charset="-122"/>
                <a:cs typeface="Times New Roman" panose="02020603050405020304" pitchFamily="18" charset="0"/>
              </a:rPr>
              <a:t>非管涌土</a:t>
            </a:r>
            <a:endParaRPr kumimoji="1" lang="en-US" altLang="zh-CN" sz="2000" b="1">
              <a:solidFill>
                <a:srgbClr val="6699FF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80" name="Rectangle 32"/>
          <p:cNvSpPr>
            <a:spLocks noChangeArrowheads="1"/>
          </p:cNvSpPr>
          <p:nvPr/>
        </p:nvSpPr>
        <p:spPr bwMode="auto">
          <a:xfrm>
            <a:off x="7685088" y="5522913"/>
            <a:ext cx="1160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非管涌土</a:t>
            </a:r>
            <a:endParaRPr kumimoji="1" lang="en-US" altLang="zh-CN" sz="2000" b="1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81" name="Rectangle 33"/>
          <p:cNvSpPr>
            <a:spLocks noChangeArrowheads="1"/>
          </p:cNvSpPr>
          <p:nvPr/>
        </p:nvSpPr>
        <p:spPr bwMode="auto">
          <a:xfrm>
            <a:off x="7693025" y="5883275"/>
            <a:ext cx="936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管涌土</a:t>
            </a:r>
            <a:endParaRPr kumimoji="1" lang="en-US" altLang="zh-CN" sz="2000" b="1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882" name="Text Box 34"/>
          <p:cNvSpPr txBox="1">
            <a:spLocks noChangeArrowheads="1"/>
          </p:cNvSpPr>
          <p:nvPr/>
        </p:nvSpPr>
        <p:spPr bwMode="auto">
          <a:xfrm>
            <a:off x="7618413" y="6316663"/>
            <a:ext cx="1160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过渡型土</a:t>
            </a:r>
          </a:p>
        </p:txBody>
      </p:sp>
      <p:sp>
        <p:nvSpPr>
          <p:cNvPr id="78883" name="Freeform 35"/>
          <p:cNvSpPr>
            <a:spLocks/>
          </p:cNvSpPr>
          <p:nvPr/>
        </p:nvSpPr>
        <p:spPr bwMode="auto">
          <a:xfrm>
            <a:off x="3013075" y="3092450"/>
            <a:ext cx="65" cy="247760"/>
          </a:xfrm>
          <a:custGeom>
            <a:avLst/>
            <a:gdLst>
              <a:gd name="T0" fmla="*/ 0 w 4"/>
              <a:gd name="T1" fmla="*/ 0 h 2262"/>
              <a:gd name="T2" fmla="*/ 4 w 4"/>
              <a:gd name="T3" fmla="*/ 2262 h 2262"/>
              <a:gd name="T4" fmla="*/ 0 60000 65536"/>
              <a:gd name="T5" fmla="*/ 0 60000 65536"/>
              <a:gd name="T6" fmla="*/ 0 w 4"/>
              <a:gd name="T7" fmla="*/ 0 h 2262"/>
              <a:gd name="T8" fmla="*/ 4 w 4"/>
              <a:gd name="T9" fmla="*/ 2262 h 22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2262">
                <a:moveTo>
                  <a:pt x="0" y="0"/>
                </a:moveTo>
                <a:lnTo>
                  <a:pt x="4" y="2262"/>
                </a:lnTo>
              </a:path>
            </a:pathLst>
          </a:cu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85" name="Freeform 37"/>
          <p:cNvSpPr>
            <a:spLocks/>
          </p:cNvSpPr>
          <p:nvPr/>
        </p:nvSpPr>
        <p:spPr bwMode="auto">
          <a:xfrm>
            <a:off x="4672013" y="936625"/>
            <a:ext cx="2598737" cy="1797050"/>
          </a:xfrm>
          <a:custGeom>
            <a:avLst/>
            <a:gdLst>
              <a:gd name="T0" fmla="*/ 0 w 1721"/>
              <a:gd name="T1" fmla="*/ 0 h 1190"/>
              <a:gd name="T2" fmla="*/ 91 w 1721"/>
              <a:gd name="T3" fmla="*/ 91 h 1190"/>
              <a:gd name="T4" fmla="*/ 182 w 1721"/>
              <a:gd name="T5" fmla="*/ 227 h 1190"/>
              <a:gd name="T6" fmla="*/ 275 w 1721"/>
              <a:gd name="T7" fmla="*/ 353 h 1190"/>
              <a:gd name="T8" fmla="*/ 363 w 1721"/>
              <a:gd name="T9" fmla="*/ 454 h 1190"/>
              <a:gd name="T10" fmla="*/ 512 w 1721"/>
              <a:gd name="T11" fmla="*/ 590 h 1190"/>
              <a:gd name="T12" fmla="*/ 632 w 1721"/>
              <a:gd name="T13" fmla="*/ 680 h 1190"/>
              <a:gd name="T14" fmla="*/ 767 w 1721"/>
              <a:gd name="T15" fmla="*/ 779 h 1190"/>
              <a:gd name="T16" fmla="*/ 953 w 1721"/>
              <a:gd name="T17" fmla="*/ 887 h 1190"/>
              <a:gd name="T18" fmla="*/ 1133 w 1721"/>
              <a:gd name="T19" fmla="*/ 980 h 1190"/>
              <a:gd name="T20" fmla="*/ 1270 w 1721"/>
              <a:gd name="T21" fmla="*/ 1044 h 1190"/>
              <a:gd name="T22" fmla="*/ 1406 w 1721"/>
              <a:gd name="T23" fmla="*/ 1089 h 1190"/>
              <a:gd name="T24" fmla="*/ 1589 w 1721"/>
              <a:gd name="T25" fmla="*/ 1154 h 1190"/>
              <a:gd name="T26" fmla="*/ 1721 w 1721"/>
              <a:gd name="T27" fmla="*/ 1190 h 11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721"/>
              <a:gd name="T43" fmla="*/ 0 h 1190"/>
              <a:gd name="T44" fmla="*/ 1721 w 1721"/>
              <a:gd name="T45" fmla="*/ 1190 h 119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721" h="1190">
                <a:moveTo>
                  <a:pt x="0" y="0"/>
                </a:moveTo>
                <a:cubicBezTo>
                  <a:pt x="30" y="26"/>
                  <a:pt x="61" y="53"/>
                  <a:pt x="91" y="91"/>
                </a:cubicBezTo>
                <a:cubicBezTo>
                  <a:pt x="121" y="129"/>
                  <a:pt x="151" y="183"/>
                  <a:pt x="182" y="227"/>
                </a:cubicBezTo>
                <a:cubicBezTo>
                  <a:pt x="213" y="271"/>
                  <a:pt x="245" y="315"/>
                  <a:pt x="275" y="353"/>
                </a:cubicBezTo>
                <a:cubicBezTo>
                  <a:pt x="305" y="391"/>
                  <a:pt x="324" y="415"/>
                  <a:pt x="363" y="454"/>
                </a:cubicBezTo>
                <a:cubicBezTo>
                  <a:pt x="402" y="493"/>
                  <a:pt x="467" y="552"/>
                  <a:pt x="512" y="590"/>
                </a:cubicBezTo>
                <a:cubicBezTo>
                  <a:pt x="557" y="628"/>
                  <a:pt x="590" y="649"/>
                  <a:pt x="632" y="680"/>
                </a:cubicBezTo>
                <a:cubicBezTo>
                  <a:pt x="674" y="711"/>
                  <a:pt x="714" y="745"/>
                  <a:pt x="767" y="779"/>
                </a:cubicBezTo>
                <a:cubicBezTo>
                  <a:pt x="820" y="813"/>
                  <a:pt x="892" y="854"/>
                  <a:pt x="953" y="887"/>
                </a:cubicBezTo>
                <a:cubicBezTo>
                  <a:pt x="1014" y="920"/>
                  <a:pt x="1080" y="954"/>
                  <a:pt x="1133" y="980"/>
                </a:cubicBezTo>
                <a:cubicBezTo>
                  <a:pt x="1186" y="1006"/>
                  <a:pt x="1224" y="1026"/>
                  <a:pt x="1270" y="1044"/>
                </a:cubicBezTo>
                <a:cubicBezTo>
                  <a:pt x="1316" y="1062"/>
                  <a:pt x="1353" y="1071"/>
                  <a:pt x="1406" y="1089"/>
                </a:cubicBezTo>
                <a:cubicBezTo>
                  <a:pt x="1459" y="1107"/>
                  <a:pt x="1537" y="1137"/>
                  <a:pt x="1589" y="1154"/>
                </a:cubicBezTo>
                <a:cubicBezTo>
                  <a:pt x="1641" y="1171"/>
                  <a:pt x="1694" y="1183"/>
                  <a:pt x="1721" y="1190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78888" name="Line 40"/>
          <p:cNvSpPr>
            <a:spLocks noChangeShapeType="1"/>
          </p:cNvSpPr>
          <p:nvPr/>
        </p:nvSpPr>
        <p:spPr bwMode="auto">
          <a:xfrm flipV="1">
            <a:off x="4433888" y="846138"/>
            <a:ext cx="0" cy="19621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78889" name="Line 41"/>
          <p:cNvSpPr>
            <a:spLocks noChangeShapeType="1"/>
          </p:cNvSpPr>
          <p:nvPr/>
        </p:nvSpPr>
        <p:spPr bwMode="auto">
          <a:xfrm>
            <a:off x="4433888" y="2808288"/>
            <a:ext cx="3495675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78890" name="Text Box 42"/>
          <p:cNvSpPr txBox="1">
            <a:spLocks noChangeArrowheads="1"/>
          </p:cNvSpPr>
          <p:nvPr/>
        </p:nvSpPr>
        <p:spPr bwMode="auto">
          <a:xfrm rot="-5400000">
            <a:off x="3843364" y="1412181"/>
            <a:ext cx="6381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 smtClean="0">
                <a:solidFill>
                  <a:srgbClr val="800000"/>
                </a:solidFill>
                <a:cs typeface="Times New Roman" panose="02020603050405020304" pitchFamily="18" charset="0"/>
              </a:rPr>
              <a:t>P </a:t>
            </a:r>
            <a:r>
              <a:rPr lang="en-US" altLang="zh-CN" sz="2000" b="1" dirty="0" smtClean="0">
                <a:solidFill>
                  <a:srgbClr val="800000"/>
                </a:solidFill>
                <a:cs typeface="Times New Roman" panose="02020603050405020304" pitchFamily="18" charset="0"/>
              </a:rPr>
              <a:t>(%)</a:t>
            </a:r>
            <a:endParaRPr lang="en-US" altLang="zh-CN" sz="2000" b="1" dirty="0">
              <a:solidFill>
                <a:srgbClr val="8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8891" name="Text Box 43"/>
          <p:cNvSpPr txBox="1">
            <a:spLocks noChangeArrowheads="1"/>
          </p:cNvSpPr>
          <p:nvPr/>
        </p:nvSpPr>
        <p:spPr bwMode="auto">
          <a:xfrm>
            <a:off x="8035931" y="2582863"/>
            <a:ext cx="3270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 err="1">
                <a:solidFill>
                  <a:srgbClr val="800000"/>
                </a:solidFill>
                <a:cs typeface="Times New Roman" panose="02020603050405020304" pitchFamily="18" charset="0"/>
              </a:rPr>
              <a:t>lg</a:t>
            </a:r>
            <a:r>
              <a:rPr lang="en-US" altLang="zh-CN" sz="2000" b="1" i="1" dirty="0" err="1">
                <a:solidFill>
                  <a:srgbClr val="800000"/>
                </a:solidFill>
                <a:cs typeface="Times New Roman" panose="02020603050405020304" pitchFamily="18" charset="0"/>
              </a:rPr>
              <a:t>d</a:t>
            </a:r>
            <a:endParaRPr lang="en-US" altLang="zh-CN" sz="2000" b="1" i="1" dirty="0">
              <a:solidFill>
                <a:srgbClr val="8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8896" name="Line 48"/>
          <p:cNvSpPr>
            <a:spLocks noChangeShapeType="1"/>
          </p:cNvSpPr>
          <p:nvPr/>
        </p:nvSpPr>
        <p:spPr bwMode="auto">
          <a:xfrm>
            <a:off x="3027363" y="3543300"/>
            <a:ext cx="5934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897" name="Line 49"/>
          <p:cNvSpPr>
            <a:spLocks noChangeShapeType="1"/>
          </p:cNvSpPr>
          <p:nvPr/>
        </p:nvSpPr>
        <p:spPr bwMode="auto">
          <a:xfrm>
            <a:off x="5380038" y="4676775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898" name="Line 50"/>
          <p:cNvSpPr>
            <a:spLocks noChangeShapeType="1"/>
          </p:cNvSpPr>
          <p:nvPr/>
        </p:nvSpPr>
        <p:spPr bwMode="auto">
          <a:xfrm>
            <a:off x="5394325" y="6269038"/>
            <a:ext cx="3567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8900" name="Line 52"/>
          <p:cNvSpPr>
            <a:spLocks noChangeShapeType="1"/>
          </p:cNvSpPr>
          <p:nvPr/>
        </p:nvSpPr>
        <p:spPr bwMode="auto">
          <a:xfrm>
            <a:off x="5397500" y="506095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6699FF"/>
              </a:solidFill>
              <a:cs typeface="Times New Roman" panose="02020603050405020304" pitchFamily="18" charset="0"/>
            </a:endParaRPr>
          </a:p>
        </p:txBody>
      </p:sp>
      <p:sp>
        <p:nvSpPr>
          <p:cNvPr id="78901" name="Text Box 53"/>
          <p:cNvSpPr txBox="1">
            <a:spLocks noChangeArrowheads="1"/>
          </p:cNvSpPr>
          <p:nvPr/>
        </p:nvSpPr>
        <p:spPr bwMode="auto">
          <a:xfrm>
            <a:off x="173038" y="3319463"/>
            <a:ext cx="2744787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发生管涌的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必要条件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：粗颗粒所构成的孔隙直径大于细颗粒直径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4" name="灯片编号占位符 1"/>
          <p:cNvSpPr txBox="1">
            <a:spLocks/>
          </p:cNvSpPr>
          <p:nvPr/>
        </p:nvSpPr>
        <p:spPr>
          <a:xfrm>
            <a:off x="227011" y="620236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55223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2944813" y="574675"/>
            <a:ext cx="6092825" cy="6148388"/>
          </a:xfrm>
          <a:prstGeom prst="rect">
            <a:avLst/>
          </a:prstGeom>
          <a:solidFill>
            <a:srgbClr val="CCECFF"/>
          </a:solidFill>
          <a:ln>
            <a:noFill/>
          </a:ln>
          <a:extLst/>
        </p:spPr>
        <p:txBody>
          <a:bodyPr wrap="none" anchor="ctr"/>
          <a:lstStyle/>
          <a:p>
            <a:endParaRPr lang="zh-CN" altLang="en-US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646113" y="2473325"/>
            <a:ext cx="1612900" cy="4318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684213" y="2055813"/>
            <a:ext cx="14716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几何条件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水力条件</a:t>
            </a:r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263525" y="857250"/>
            <a:ext cx="250190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无黏性</a:t>
            </a:r>
            <a:r>
              <a:rPr lang="zh-CN" altLang="en-US" sz="3200" b="1" dirty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土管涌的判别</a:t>
            </a:r>
          </a:p>
        </p:txBody>
      </p:sp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346075" y="3187700"/>
            <a:ext cx="2524125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渗透力能够带动细颗粒在孔隙间滚动或移动。可用管涌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临界水力坡降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表示</a:t>
            </a:r>
          </a:p>
        </p:txBody>
      </p:sp>
      <p:graphicFrame>
        <p:nvGraphicFramePr>
          <p:cNvPr id="1514504" name="Group 8"/>
          <p:cNvGraphicFramePr>
            <a:graphicFrameLocks noGrp="1"/>
          </p:cNvGraphicFramePr>
          <p:nvPr/>
        </p:nvGraphicFramePr>
        <p:xfrm>
          <a:off x="3962400" y="1120775"/>
          <a:ext cx="4697413" cy="2381251"/>
        </p:xfrm>
        <a:graphic>
          <a:graphicData uri="http://schemas.openxmlformats.org/drawingml/2006/table">
            <a:tbl>
              <a:tblPr/>
              <a:tblGrid>
                <a:gridCol w="569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8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8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89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8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927" name="Freeform 55"/>
          <p:cNvSpPr>
            <a:spLocks/>
          </p:cNvSpPr>
          <p:nvPr/>
        </p:nvSpPr>
        <p:spPr bwMode="auto">
          <a:xfrm>
            <a:off x="4094163" y="2187575"/>
            <a:ext cx="4559300" cy="1038225"/>
          </a:xfrm>
          <a:custGeom>
            <a:avLst/>
            <a:gdLst>
              <a:gd name="T0" fmla="*/ 0 w 2872"/>
              <a:gd name="T1" fmla="*/ 0 h 654"/>
              <a:gd name="T2" fmla="*/ 232 w 2872"/>
              <a:gd name="T3" fmla="*/ 204 h 654"/>
              <a:gd name="T4" fmla="*/ 392 w 2872"/>
              <a:gd name="T5" fmla="*/ 320 h 654"/>
              <a:gd name="T6" fmla="*/ 684 w 2872"/>
              <a:gd name="T7" fmla="*/ 464 h 654"/>
              <a:gd name="T8" fmla="*/ 1016 w 2872"/>
              <a:gd name="T9" fmla="*/ 556 h 654"/>
              <a:gd name="T10" fmla="*/ 1420 w 2872"/>
              <a:gd name="T11" fmla="*/ 612 h 654"/>
              <a:gd name="T12" fmla="*/ 1832 w 2872"/>
              <a:gd name="T13" fmla="*/ 647 h 654"/>
              <a:gd name="T14" fmla="*/ 2376 w 2872"/>
              <a:gd name="T15" fmla="*/ 652 h 654"/>
              <a:gd name="T16" fmla="*/ 2872 w 2872"/>
              <a:gd name="T17" fmla="*/ 644 h 65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872"/>
              <a:gd name="T28" fmla="*/ 0 h 654"/>
              <a:gd name="T29" fmla="*/ 2872 w 2872"/>
              <a:gd name="T30" fmla="*/ 654 h 65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872" h="654">
                <a:moveTo>
                  <a:pt x="0" y="0"/>
                </a:moveTo>
                <a:cubicBezTo>
                  <a:pt x="39" y="34"/>
                  <a:pt x="167" y="151"/>
                  <a:pt x="232" y="204"/>
                </a:cubicBezTo>
                <a:cubicBezTo>
                  <a:pt x="297" y="257"/>
                  <a:pt x="317" y="277"/>
                  <a:pt x="392" y="320"/>
                </a:cubicBezTo>
                <a:cubicBezTo>
                  <a:pt x="467" y="363"/>
                  <a:pt x="580" y="425"/>
                  <a:pt x="684" y="464"/>
                </a:cubicBezTo>
                <a:cubicBezTo>
                  <a:pt x="788" y="503"/>
                  <a:pt x="894" y="531"/>
                  <a:pt x="1016" y="556"/>
                </a:cubicBezTo>
                <a:cubicBezTo>
                  <a:pt x="1138" y="581"/>
                  <a:pt x="1284" y="597"/>
                  <a:pt x="1420" y="612"/>
                </a:cubicBezTo>
                <a:cubicBezTo>
                  <a:pt x="1556" y="627"/>
                  <a:pt x="1673" y="640"/>
                  <a:pt x="1832" y="647"/>
                </a:cubicBezTo>
                <a:cubicBezTo>
                  <a:pt x="1991" y="654"/>
                  <a:pt x="2203" y="652"/>
                  <a:pt x="2376" y="652"/>
                </a:cubicBezTo>
                <a:cubicBezTo>
                  <a:pt x="2549" y="652"/>
                  <a:pt x="2769" y="646"/>
                  <a:pt x="2872" y="644"/>
                </a:cubicBezTo>
              </a:path>
            </a:pathLst>
          </a:custGeom>
          <a:noFill/>
          <a:ln w="381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79928" name="Line 56"/>
          <p:cNvSpPr>
            <a:spLocks noChangeShapeType="1"/>
          </p:cNvSpPr>
          <p:nvPr/>
        </p:nvSpPr>
        <p:spPr bwMode="auto">
          <a:xfrm>
            <a:off x="5130800" y="381952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9929" name="Line 57"/>
          <p:cNvSpPr>
            <a:spLocks noChangeShapeType="1"/>
          </p:cNvSpPr>
          <p:nvPr/>
        </p:nvSpPr>
        <p:spPr bwMode="auto">
          <a:xfrm>
            <a:off x="6283325" y="381952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9930" name="Line 58"/>
          <p:cNvSpPr>
            <a:spLocks noChangeShapeType="1"/>
          </p:cNvSpPr>
          <p:nvPr/>
        </p:nvSpPr>
        <p:spPr bwMode="auto">
          <a:xfrm>
            <a:off x="8659813" y="381952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9931" name="Line 59"/>
          <p:cNvSpPr>
            <a:spLocks noChangeShapeType="1"/>
          </p:cNvSpPr>
          <p:nvPr/>
        </p:nvSpPr>
        <p:spPr bwMode="auto">
          <a:xfrm>
            <a:off x="3919538" y="4052888"/>
            <a:ext cx="1223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9932" name="Line 60"/>
          <p:cNvSpPr>
            <a:spLocks noChangeShapeType="1"/>
          </p:cNvSpPr>
          <p:nvPr/>
        </p:nvSpPr>
        <p:spPr bwMode="auto">
          <a:xfrm>
            <a:off x="5130800" y="4052888"/>
            <a:ext cx="1152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9933" name="Line 61"/>
          <p:cNvSpPr>
            <a:spLocks noChangeShapeType="1"/>
          </p:cNvSpPr>
          <p:nvPr/>
        </p:nvSpPr>
        <p:spPr bwMode="auto">
          <a:xfrm>
            <a:off x="6283325" y="4052888"/>
            <a:ext cx="2376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79934" name="Text Box 62"/>
          <p:cNvSpPr txBox="1">
            <a:spLocks noChangeArrowheads="1"/>
          </p:cNvSpPr>
          <p:nvPr/>
        </p:nvSpPr>
        <p:spPr bwMode="auto">
          <a:xfrm>
            <a:off x="3908425" y="3575050"/>
            <a:ext cx="44242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cs typeface="Times New Roman" panose="02020603050405020304" pitchFamily="18" charset="0"/>
              </a:rPr>
              <a:t>0      5   </a:t>
            </a:r>
            <a:r>
              <a:rPr lang="en-US" altLang="zh-CN" sz="2000" b="1" dirty="0" smtClean="0">
                <a:cs typeface="Times New Roman" panose="02020603050405020304" pitchFamily="18" charset="0"/>
              </a:rPr>
              <a:t>   </a:t>
            </a:r>
            <a:r>
              <a:rPr lang="en-US" altLang="zh-CN" sz="2000" b="1" dirty="0">
                <a:cs typeface="Times New Roman" panose="02020603050405020304" pitchFamily="18" charset="0"/>
              </a:rPr>
              <a:t>10   </a:t>
            </a:r>
            <a:r>
              <a:rPr lang="en-US" altLang="zh-CN" sz="2000" b="1" dirty="0" smtClean="0">
                <a:cs typeface="Times New Roman" panose="02020603050405020304" pitchFamily="18" charset="0"/>
              </a:rPr>
              <a:t>   </a:t>
            </a:r>
            <a:r>
              <a:rPr lang="en-US" altLang="zh-CN" sz="2000" b="1" dirty="0">
                <a:cs typeface="Times New Roman" panose="02020603050405020304" pitchFamily="18" charset="0"/>
              </a:rPr>
              <a:t>15  </a:t>
            </a:r>
            <a:r>
              <a:rPr lang="en-US" altLang="zh-CN" sz="2000" b="1" dirty="0" smtClean="0">
                <a:cs typeface="Times New Roman" panose="02020603050405020304" pitchFamily="18" charset="0"/>
              </a:rPr>
              <a:t>    </a:t>
            </a:r>
            <a:r>
              <a:rPr lang="en-US" altLang="zh-CN" sz="2000" b="1" dirty="0">
                <a:cs typeface="Times New Roman" panose="02020603050405020304" pitchFamily="18" charset="0"/>
              </a:rPr>
              <a:t>20   </a:t>
            </a:r>
            <a:r>
              <a:rPr lang="en-US" altLang="zh-CN" sz="2000" b="1" dirty="0" smtClean="0">
                <a:cs typeface="Times New Roman" panose="02020603050405020304" pitchFamily="18" charset="0"/>
              </a:rPr>
              <a:t>  </a:t>
            </a:r>
            <a:r>
              <a:rPr lang="en-US" altLang="zh-CN" sz="2000" b="1" dirty="0">
                <a:cs typeface="Times New Roman" panose="02020603050405020304" pitchFamily="18" charset="0"/>
              </a:rPr>
              <a:t>25   </a:t>
            </a:r>
            <a:r>
              <a:rPr lang="en-US" altLang="zh-CN" sz="2000" b="1" dirty="0" smtClean="0">
                <a:cs typeface="Times New Roman" panose="02020603050405020304" pitchFamily="18" charset="0"/>
              </a:rPr>
              <a:t>   </a:t>
            </a:r>
            <a:r>
              <a:rPr lang="en-US" altLang="zh-CN" sz="2000" b="1" dirty="0">
                <a:cs typeface="Times New Roman" panose="02020603050405020304" pitchFamily="18" charset="0"/>
              </a:rPr>
              <a:t>30  </a:t>
            </a:r>
            <a:r>
              <a:rPr lang="en-US" altLang="zh-CN" sz="2000" b="1" dirty="0" smtClean="0">
                <a:cs typeface="Times New Roman" panose="02020603050405020304" pitchFamily="18" charset="0"/>
              </a:rPr>
              <a:t>   </a:t>
            </a:r>
            <a:r>
              <a:rPr lang="en-US" altLang="zh-CN" sz="2000" b="1" dirty="0">
                <a:cs typeface="Times New Roman" panose="02020603050405020304" pitchFamily="18" charset="0"/>
              </a:rPr>
              <a:t>35 </a:t>
            </a:r>
          </a:p>
        </p:txBody>
      </p:sp>
      <p:sp>
        <p:nvSpPr>
          <p:cNvPr id="79935" name="Text Box 63"/>
          <p:cNvSpPr txBox="1">
            <a:spLocks noChangeArrowheads="1"/>
          </p:cNvSpPr>
          <p:nvPr/>
        </p:nvSpPr>
        <p:spPr bwMode="auto">
          <a:xfrm>
            <a:off x="3522700" y="1619250"/>
            <a:ext cx="320601" cy="20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cs typeface="Times New Roman" panose="02020603050405020304" pitchFamily="18" charset="0"/>
              </a:rPr>
              <a:t>1.5</a:t>
            </a:r>
          </a:p>
          <a:p>
            <a:pPr algn="ctr" eaLnBrk="1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cs typeface="Times New Roman" panose="02020603050405020304" pitchFamily="18" charset="0"/>
              </a:rPr>
              <a:t>1.0</a:t>
            </a:r>
          </a:p>
          <a:p>
            <a:pPr algn="ctr" eaLnBrk="1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cs typeface="Times New Roman" panose="02020603050405020304" pitchFamily="18" charset="0"/>
              </a:rPr>
              <a:t>0.5</a:t>
            </a:r>
          </a:p>
          <a:p>
            <a:pPr algn="ctr" eaLnBrk="1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9936" name="Text Box 64"/>
          <p:cNvSpPr txBox="1">
            <a:spLocks noChangeArrowheads="1"/>
          </p:cNvSpPr>
          <p:nvPr/>
        </p:nvSpPr>
        <p:spPr bwMode="auto">
          <a:xfrm>
            <a:off x="3548410" y="1020763"/>
            <a:ext cx="2564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 err="1">
                <a:cs typeface="Times New Roman" panose="02020603050405020304" pitchFamily="18" charset="0"/>
              </a:rPr>
              <a:t>cr</a:t>
            </a:r>
            <a:endParaRPr lang="en-US" altLang="zh-CN" sz="2400" b="1" i="1" baseline="-25000" dirty="0">
              <a:cs typeface="Times New Roman" panose="02020603050405020304" pitchFamily="18" charset="0"/>
            </a:endParaRPr>
          </a:p>
        </p:txBody>
      </p:sp>
      <p:sp>
        <p:nvSpPr>
          <p:cNvPr id="79937" name="Text Box 65"/>
          <p:cNvSpPr txBox="1">
            <a:spLocks noChangeArrowheads="1"/>
          </p:cNvSpPr>
          <p:nvPr/>
        </p:nvSpPr>
        <p:spPr bwMode="auto">
          <a:xfrm>
            <a:off x="8499519" y="3508375"/>
            <a:ext cx="3189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79938" name="Text Box 66"/>
          <p:cNvSpPr txBox="1">
            <a:spLocks noChangeArrowheads="1"/>
          </p:cNvSpPr>
          <p:nvPr/>
        </p:nvSpPr>
        <p:spPr bwMode="auto">
          <a:xfrm>
            <a:off x="4267200" y="4124325"/>
            <a:ext cx="6302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流土</a:t>
            </a:r>
          </a:p>
        </p:txBody>
      </p:sp>
      <p:sp>
        <p:nvSpPr>
          <p:cNvPr id="79939" name="Text Box 67"/>
          <p:cNvSpPr txBox="1">
            <a:spLocks noChangeArrowheads="1"/>
          </p:cNvSpPr>
          <p:nvPr/>
        </p:nvSpPr>
        <p:spPr bwMode="auto">
          <a:xfrm>
            <a:off x="5491163" y="4124325"/>
            <a:ext cx="630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过渡</a:t>
            </a:r>
          </a:p>
        </p:txBody>
      </p:sp>
      <p:sp>
        <p:nvSpPr>
          <p:cNvPr id="79940" name="Text Box 68"/>
          <p:cNvSpPr txBox="1">
            <a:spLocks noChangeArrowheads="1"/>
          </p:cNvSpPr>
          <p:nvPr/>
        </p:nvSpPr>
        <p:spPr bwMode="auto">
          <a:xfrm>
            <a:off x="7218363" y="4124325"/>
            <a:ext cx="7032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管涌</a:t>
            </a:r>
          </a:p>
        </p:txBody>
      </p:sp>
      <p:sp>
        <p:nvSpPr>
          <p:cNvPr id="79941" name="Line 69"/>
          <p:cNvSpPr>
            <a:spLocks noChangeShapeType="1"/>
          </p:cNvSpPr>
          <p:nvPr/>
        </p:nvSpPr>
        <p:spPr bwMode="auto">
          <a:xfrm>
            <a:off x="3927475" y="381952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graphicFrame>
        <p:nvGraphicFramePr>
          <p:cNvPr id="1514566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668290"/>
              </p:ext>
            </p:extLst>
          </p:nvPr>
        </p:nvGraphicFramePr>
        <p:xfrm>
          <a:off x="3146425" y="5172075"/>
          <a:ext cx="5753100" cy="1401763"/>
        </p:xfrm>
        <a:graphic>
          <a:graphicData uri="http://schemas.openxmlformats.org/drawingml/2006/table">
            <a:tbl>
              <a:tblPr/>
              <a:tblGrid>
                <a:gridCol w="191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幼圆" pitchFamily="49" charset="-122"/>
                        </a:rPr>
                        <a:t>水力坡降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幼圆" pitchFamily="49" charset="-122"/>
                        </a:rPr>
                        <a:t>级配连续土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幼圆" pitchFamily="49" charset="-122"/>
                        </a:rPr>
                        <a:t>级配不连续土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破坏坡降 </a:t>
                      </a:r>
                      <a:r>
                        <a:rPr kumimoji="0" lang="en-US" altLang="zh-CN" sz="21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i</a:t>
                      </a:r>
                      <a:r>
                        <a:rPr kumimoji="0" lang="en-US" altLang="zh-CN" sz="2100" b="1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cr</a:t>
                      </a:r>
                      <a:endParaRPr kumimoji="0" lang="en-US" altLang="zh-CN" sz="21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华文新魏" pitchFamily="2" charset="-122"/>
                          <a:cs typeface="Times New Roman" panose="02020603050405020304" pitchFamily="18" charset="0"/>
                        </a:rPr>
                        <a:t>0.20-0.40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华文新魏" pitchFamily="2" charset="-122"/>
                          <a:cs typeface="Times New Roman" panose="02020603050405020304" pitchFamily="18" charset="0"/>
                        </a:rPr>
                        <a:t>0.1-0.3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允许坡降 </a:t>
                      </a:r>
                      <a:r>
                        <a:rPr kumimoji="0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[</a:t>
                      </a:r>
                      <a:r>
                        <a:rPr kumimoji="0" lang="en-US" altLang="zh-CN" sz="21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i</a:t>
                      </a:r>
                      <a:r>
                        <a:rPr kumimoji="0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]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华文新魏" pitchFamily="2" charset="-122"/>
                          <a:cs typeface="Times New Roman" panose="02020603050405020304" pitchFamily="18" charset="0"/>
                        </a:rPr>
                        <a:t>0.15-0.25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华文新魏" pitchFamily="2" charset="-122"/>
                          <a:cs typeface="Times New Roman" panose="02020603050405020304" pitchFamily="18" charset="0"/>
                        </a:rPr>
                        <a:t>0.1-0.2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960" name="Text Box 88"/>
          <p:cNvSpPr txBox="1">
            <a:spLocks noChangeArrowheads="1"/>
          </p:cNvSpPr>
          <p:nvPr/>
        </p:nvSpPr>
        <p:spPr bwMode="auto">
          <a:xfrm>
            <a:off x="4754563" y="568325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ea typeface="幼圆" pitchFamily="49" charset="-122"/>
              </a:rPr>
              <a:t>伊斯托敏娜（苏）</a:t>
            </a:r>
            <a:endParaRPr lang="en-US" altLang="zh-CN" sz="2400" b="1">
              <a:ea typeface="幼圆" pitchFamily="49" charset="-122"/>
            </a:endParaRPr>
          </a:p>
        </p:txBody>
      </p:sp>
      <p:sp>
        <p:nvSpPr>
          <p:cNvPr id="79961" name="Text Box 89"/>
          <p:cNvSpPr txBox="1">
            <a:spLocks noChangeArrowheads="1"/>
          </p:cNvSpPr>
          <p:nvPr/>
        </p:nvSpPr>
        <p:spPr bwMode="auto">
          <a:xfrm>
            <a:off x="5241925" y="463867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中国学者</a:t>
            </a:r>
          </a:p>
        </p:txBody>
      </p:sp>
      <p:sp>
        <p:nvSpPr>
          <p:cNvPr id="1514587" name="Text Box 91"/>
          <p:cNvSpPr txBox="1">
            <a:spLocks noChangeArrowheads="1"/>
          </p:cNvSpPr>
          <p:nvPr/>
        </p:nvSpPr>
        <p:spPr bwMode="auto">
          <a:xfrm>
            <a:off x="6267450" y="1304925"/>
            <a:ext cx="2193925" cy="1477328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ea typeface="幼圆" pitchFamily="49" charset="-122"/>
              </a:rPr>
              <a:t> </a:t>
            </a:r>
            <a:r>
              <a:rPr lang="en-US" altLang="zh-CN" sz="2000" b="1" i="1" dirty="0">
                <a:ea typeface="幼圆" pitchFamily="49" charset="-122"/>
              </a:rPr>
              <a:t>C</a:t>
            </a:r>
            <a:r>
              <a:rPr lang="en-US" altLang="zh-CN" sz="2000" b="1" i="1" baseline="-25000" dirty="0">
                <a:ea typeface="幼圆" pitchFamily="49" charset="-122"/>
              </a:rPr>
              <a:t>u</a:t>
            </a:r>
            <a:r>
              <a:rPr lang="en-US" altLang="zh-CN" sz="2000" b="1" i="1" dirty="0">
                <a:ea typeface="幼圆" pitchFamily="49" charset="-122"/>
              </a:rPr>
              <a:t> </a:t>
            </a:r>
            <a:r>
              <a:rPr lang="en-US" altLang="zh-CN" sz="2000" b="1" dirty="0">
                <a:ea typeface="幼圆" pitchFamily="49" charset="-122"/>
              </a:rPr>
              <a:t>&gt; 20</a:t>
            </a:r>
            <a:r>
              <a:rPr lang="zh-CN" altLang="en-US" sz="2000" b="1" dirty="0">
                <a:ea typeface="幼圆" pitchFamily="49" charset="-122"/>
              </a:rPr>
              <a:t>时</a:t>
            </a:r>
            <a:r>
              <a:rPr lang="en-US" altLang="zh-CN" sz="2000" b="1" dirty="0">
                <a:ea typeface="幼圆" pitchFamily="49" charset="-122"/>
              </a:rPr>
              <a:t>,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ea typeface="幼圆" pitchFamily="49" charset="-122"/>
              </a:rPr>
              <a:t>  </a:t>
            </a:r>
            <a:r>
              <a:rPr lang="en-US" altLang="zh-CN" sz="2000" b="1" i="1" dirty="0" err="1" smtClean="0">
                <a:ea typeface="幼圆" pitchFamily="49" charset="-122"/>
              </a:rPr>
              <a:t>i</a:t>
            </a:r>
            <a:r>
              <a:rPr lang="en-US" altLang="zh-CN" sz="2000" b="1" i="1" baseline="-25000" dirty="0" err="1" smtClean="0">
                <a:ea typeface="幼圆" pitchFamily="49" charset="-122"/>
              </a:rPr>
              <a:t>cr</a:t>
            </a:r>
            <a:r>
              <a:rPr lang="en-US" altLang="zh-CN" sz="2000" b="1" baseline="-25000" dirty="0" smtClean="0">
                <a:ea typeface="幼圆" pitchFamily="49" charset="-122"/>
              </a:rPr>
              <a:t>  </a:t>
            </a:r>
            <a:r>
              <a:rPr lang="en-US" altLang="zh-CN" sz="2000" b="1" dirty="0">
                <a:ea typeface="幼圆" pitchFamily="49" charset="-122"/>
              </a:rPr>
              <a:t>=0.25-0.30</a:t>
            </a:r>
            <a:r>
              <a:rPr lang="zh-CN" altLang="en-US" sz="2000" b="1" dirty="0">
                <a:ea typeface="幼圆" pitchFamily="49" charset="-122"/>
              </a:rPr>
              <a:t>，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ea typeface="幼圆" pitchFamily="49" charset="-122"/>
              </a:rPr>
              <a:t> 考虑安全系数后：    </a:t>
            </a:r>
            <a:br>
              <a:rPr lang="zh-CN" altLang="en-US" sz="2000" b="1" dirty="0">
                <a:ea typeface="幼圆" pitchFamily="49" charset="-122"/>
              </a:rPr>
            </a:br>
            <a:r>
              <a:rPr lang="zh-CN" altLang="en-US" sz="2000" b="1" dirty="0">
                <a:ea typeface="幼圆" pitchFamily="49" charset="-122"/>
              </a:rPr>
              <a:t> </a:t>
            </a:r>
            <a:r>
              <a:rPr lang="zh-CN" altLang="en-US" sz="2000" b="1" dirty="0" smtClean="0">
                <a:ea typeface="幼圆" pitchFamily="49" charset="-122"/>
              </a:rPr>
              <a:t> </a:t>
            </a:r>
            <a:r>
              <a:rPr lang="en-US" altLang="zh-CN" sz="2000" b="1" dirty="0" smtClean="0">
                <a:ea typeface="幼圆" pitchFamily="49" charset="-122"/>
              </a:rPr>
              <a:t>[</a:t>
            </a:r>
            <a:r>
              <a:rPr lang="en-US" altLang="zh-CN" sz="2000" b="1" i="1" dirty="0" err="1">
                <a:ea typeface="幼圆" pitchFamily="49" charset="-122"/>
              </a:rPr>
              <a:t>i</a:t>
            </a:r>
            <a:r>
              <a:rPr lang="en-US" altLang="zh-CN" sz="2000" b="1" dirty="0">
                <a:ea typeface="幼圆" pitchFamily="49" charset="-122"/>
              </a:rPr>
              <a:t>]=0.10-0.15</a:t>
            </a:r>
          </a:p>
        </p:txBody>
      </p:sp>
      <p:sp>
        <p:nvSpPr>
          <p:cNvPr id="28" name="灯片编号占位符 1"/>
          <p:cNvSpPr txBox="1">
            <a:spLocks/>
          </p:cNvSpPr>
          <p:nvPr/>
        </p:nvSpPr>
        <p:spPr>
          <a:xfrm>
            <a:off x="227011" y="620236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233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8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1458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4587" grpId="0" autoUpdateAnimBg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125"/>
          <p:cNvSpPr>
            <a:spLocks noChangeArrowheads="1"/>
          </p:cNvSpPr>
          <p:nvPr/>
        </p:nvSpPr>
        <p:spPr bwMode="auto">
          <a:xfrm>
            <a:off x="3132138" y="5913438"/>
            <a:ext cx="48974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管涌的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防治措施 </a:t>
            </a:r>
          </a:p>
        </p:txBody>
      </p:sp>
      <p:sp>
        <p:nvSpPr>
          <p:cNvPr id="1515649" name="Text Box 129"/>
          <p:cNvSpPr txBox="1">
            <a:spLocks noChangeArrowheads="1"/>
          </p:cNvSpPr>
          <p:nvPr/>
        </p:nvSpPr>
        <p:spPr bwMode="auto">
          <a:xfrm>
            <a:off x="1344613" y="1780990"/>
            <a:ext cx="6710816" cy="2951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35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800" b="1" dirty="0">
                <a:solidFill>
                  <a:srgbClr val="C00000"/>
                </a:solidFill>
                <a:ea typeface="幼圆" pitchFamily="49" charset="-122"/>
              </a:rPr>
              <a:t>改善水力条件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：降低土层内部和渗流逸出处的渗透坡降。如在上游做防渗铺盖或打板桩等</a:t>
            </a:r>
            <a:endParaRPr lang="en-US" altLang="zh-CN" sz="2800" b="1" dirty="0" smtClean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  <a:p>
            <a:pPr marL="342900" indent="-342900" eaLnBrk="1" hangingPunct="1">
              <a:lnSpc>
                <a:spcPct val="135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800" b="1" dirty="0" smtClean="0">
                <a:solidFill>
                  <a:srgbClr val="C00000"/>
                </a:solidFill>
                <a:latin typeface="Arial" charset="0"/>
                <a:ea typeface="幼圆" pitchFamily="49" charset="-122"/>
              </a:rPr>
              <a:t>改善</a:t>
            </a:r>
            <a:r>
              <a:rPr lang="zh-CN" altLang="en-US" sz="2800" b="1" dirty="0">
                <a:solidFill>
                  <a:srgbClr val="C00000"/>
                </a:solidFill>
                <a:latin typeface="Arial" charset="0"/>
                <a:ea typeface="幼圆" pitchFamily="49" charset="-122"/>
              </a:rPr>
              <a:t>几何条件</a:t>
            </a:r>
            <a:r>
              <a:rPr lang="zh-CN" altLang="en-US" sz="28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：在渗流逸出部位铺设反滤保护层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15651" name="Text Box 131"/>
          <p:cNvSpPr txBox="1">
            <a:spLocks noChangeArrowheads="1"/>
          </p:cNvSpPr>
          <p:nvPr/>
        </p:nvSpPr>
        <p:spPr bwMode="auto">
          <a:xfrm>
            <a:off x="687757" y="954679"/>
            <a:ext cx="1966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</a:rPr>
              <a:t> 防治管涌</a:t>
            </a:r>
          </a:p>
        </p:txBody>
      </p:sp>
      <p:sp>
        <p:nvSpPr>
          <p:cNvPr id="131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2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39583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49" grpId="0"/>
      <p:bldP spid="151565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471488" y="655638"/>
            <a:ext cx="8374062" cy="4778375"/>
          </a:xfrm>
          <a:prstGeom prst="rect">
            <a:avLst/>
          </a:prstGeom>
          <a:solidFill>
            <a:srgbClr val="CCECFF"/>
          </a:solidFill>
          <a:ln w="31750" cap="rnd">
            <a:solidFill>
              <a:srgbClr val="663300"/>
            </a:solidFill>
            <a:prstDash val="solid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200" b="1">
              <a:solidFill>
                <a:srgbClr val="800000"/>
              </a:solidFill>
              <a:ea typeface="幼圆" pitchFamily="49" charset="-122"/>
            </a:endParaRPr>
          </a:p>
        </p:txBody>
      </p:sp>
      <p:sp>
        <p:nvSpPr>
          <p:cNvPr id="76804" name="Line 4"/>
          <p:cNvSpPr>
            <a:spLocks noChangeShapeType="1"/>
          </p:cNvSpPr>
          <p:nvPr/>
        </p:nvSpPr>
        <p:spPr bwMode="auto">
          <a:xfrm>
            <a:off x="5322888" y="655638"/>
            <a:ext cx="0" cy="4778375"/>
          </a:xfrm>
          <a:prstGeom prst="line">
            <a:avLst/>
          </a:prstGeom>
          <a:noFill/>
          <a:ln w="31750" cap="rnd">
            <a:solidFill>
              <a:srgbClr val="66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805" name="Line 5"/>
          <p:cNvSpPr>
            <a:spLocks noChangeShapeType="1"/>
          </p:cNvSpPr>
          <p:nvPr/>
        </p:nvSpPr>
        <p:spPr bwMode="auto">
          <a:xfrm>
            <a:off x="1558925" y="655638"/>
            <a:ext cx="0" cy="4778375"/>
          </a:xfrm>
          <a:prstGeom prst="line">
            <a:avLst/>
          </a:prstGeom>
          <a:noFill/>
          <a:ln w="31750" cap="rnd">
            <a:solidFill>
              <a:srgbClr val="66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806" name="AutoShape 6"/>
          <p:cNvSpPr>
            <a:spLocks noChangeArrowheads="1"/>
          </p:cNvSpPr>
          <p:nvPr/>
        </p:nvSpPr>
        <p:spPr bwMode="auto">
          <a:xfrm>
            <a:off x="2823369" y="5715000"/>
            <a:ext cx="4583112" cy="7683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流土与管涌的比较 </a:t>
            </a:r>
          </a:p>
        </p:txBody>
      </p:sp>
      <p:sp>
        <p:nvSpPr>
          <p:cNvPr id="1510407" name="Rectangle 7"/>
          <p:cNvSpPr>
            <a:spLocks noChangeArrowheads="1"/>
          </p:cNvSpPr>
          <p:nvPr/>
        </p:nvSpPr>
        <p:spPr bwMode="auto">
          <a:xfrm>
            <a:off x="2805113" y="762000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流土</a:t>
            </a:r>
          </a:p>
        </p:txBody>
      </p:sp>
      <p:sp>
        <p:nvSpPr>
          <p:cNvPr id="1510408" name="Text Box 8"/>
          <p:cNvSpPr txBox="1">
            <a:spLocks noChangeArrowheads="1"/>
          </p:cNvSpPr>
          <p:nvPr/>
        </p:nvSpPr>
        <p:spPr bwMode="auto">
          <a:xfrm>
            <a:off x="1581150" y="1355725"/>
            <a:ext cx="3228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土体局部范围的颗粒同时发生移动</a:t>
            </a:r>
          </a:p>
        </p:txBody>
      </p:sp>
      <p:sp>
        <p:nvSpPr>
          <p:cNvPr id="1510409" name="Rectangle 9"/>
          <p:cNvSpPr>
            <a:spLocks noChangeArrowheads="1"/>
          </p:cNvSpPr>
          <p:nvPr/>
        </p:nvSpPr>
        <p:spPr bwMode="auto">
          <a:xfrm>
            <a:off x="6526213" y="758825"/>
            <a:ext cx="903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管涌</a:t>
            </a:r>
          </a:p>
        </p:txBody>
      </p:sp>
      <p:sp>
        <p:nvSpPr>
          <p:cNvPr id="1510410" name="Rectangle 10"/>
          <p:cNvSpPr>
            <a:spLocks noChangeArrowheads="1"/>
          </p:cNvSpPr>
          <p:nvPr/>
        </p:nvSpPr>
        <p:spPr bwMode="auto">
          <a:xfrm>
            <a:off x="1573213" y="2270125"/>
            <a:ext cx="3052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只发生在水流渗出的表层</a:t>
            </a:r>
          </a:p>
        </p:txBody>
      </p:sp>
      <p:sp>
        <p:nvSpPr>
          <p:cNvPr id="1510411" name="Rectangle 11"/>
          <p:cNvSpPr>
            <a:spLocks noChangeArrowheads="1"/>
          </p:cNvSpPr>
          <p:nvPr/>
        </p:nvSpPr>
        <p:spPr bwMode="auto">
          <a:xfrm>
            <a:off x="1641475" y="3155950"/>
            <a:ext cx="264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只要渗透力足够大，可发生在任何土中</a:t>
            </a:r>
          </a:p>
        </p:txBody>
      </p:sp>
      <p:sp>
        <p:nvSpPr>
          <p:cNvPr id="1510412" name="Rectangle 12"/>
          <p:cNvSpPr>
            <a:spLocks noChangeArrowheads="1"/>
          </p:cNvSpPr>
          <p:nvPr/>
        </p:nvSpPr>
        <p:spPr bwMode="auto">
          <a:xfrm>
            <a:off x="1619250" y="4151313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破坏过程短</a:t>
            </a:r>
          </a:p>
        </p:txBody>
      </p:sp>
      <p:sp>
        <p:nvSpPr>
          <p:cNvPr id="1510413" name="Rectangle 13"/>
          <p:cNvSpPr>
            <a:spLocks noChangeArrowheads="1"/>
          </p:cNvSpPr>
          <p:nvPr/>
        </p:nvSpPr>
        <p:spPr bwMode="auto">
          <a:xfrm>
            <a:off x="1654175" y="4845050"/>
            <a:ext cx="3536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导致下游坡面产生局部滑动等</a:t>
            </a:r>
          </a:p>
        </p:txBody>
      </p:sp>
      <p:sp>
        <p:nvSpPr>
          <p:cNvPr id="1510414" name="Rectangle 14"/>
          <p:cNvSpPr>
            <a:spLocks noChangeArrowheads="1"/>
          </p:cNvSpPr>
          <p:nvPr/>
        </p:nvSpPr>
        <p:spPr bwMode="auto">
          <a:xfrm>
            <a:off x="603250" y="1374775"/>
            <a:ext cx="903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现象</a:t>
            </a:r>
          </a:p>
        </p:txBody>
      </p:sp>
      <p:sp>
        <p:nvSpPr>
          <p:cNvPr id="1510415" name="Rectangle 15"/>
          <p:cNvSpPr>
            <a:spLocks noChangeArrowheads="1"/>
          </p:cNvSpPr>
          <p:nvPr/>
        </p:nvSpPr>
        <p:spPr bwMode="auto">
          <a:xfrm>
            <a:off x="603250" y="2238375"/>
            <a:ext cx="903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位置</a:t>
            </a:r>
          </a:p>
        </p:txBody>
      </p:sp>
      <p:sp>
        <p:nvSpPr>
          <p:cNvPr id="1510416" name="Rectangle 16"/>
          <p:cNvSpPr>
            <a:spLocks noChangeArrowheads="1"/>
          </p:cNvSpPr>
          <p:nvPr/>
        </p:nvSpPr>
        <p:spPr bwMode="auto">
          <a:xfrm>
            <a:off x="569913" y="3103563"/>
            <a:ext cx="903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土类</a:t>
            </a:r>
          </a:p>
        </p:txBody>
      </p:sp>
      <p:sp>
        <p:nvSpPr>
          <p:cNvPr id="1510417" name="Rectangle 17"/>
          <p:cNvSpPr>
            <a:spLocks noChangeArrowheads="1"/>
          </p:cNvSpPr>
          <p:nvPr/>
        </p:nvSpPr>
        <p:spPr bwMode="auto">
          <a:xfrm>
            <a:off x="603250" y="4125913"/>
            <a:ext cx="801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历时</a:t>
            </a:r>
          </a:p>
        </p:txBody>
      </p:sp>
      <p:sp>
        <p:nvSpPr>
          <p:cNvPr id="1510418" name="Rectangle 18"/>
          <p:cNvSpPr>
            <a:spLocks noChangeArrowheads="1"/>
          </p:cNvSpPr>
          <p:nvPr/>
        </p:nvSpPr>
        <p:spPr bwMode="auto">
          <a:xfrm>
            <a:off x="588963" y="4814888"/>
            <a:ext cx="903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后果</a:t>
            </a:r>
          </a:p>
        </p:txBody>
      </p:sp>
      <p:sp>
        <p:nvSpPr>
          <p:cNvPr id="1510419" name="Rectangle 19"/>
          <p:cNvSpPr>
            <a:spLocks noChangeArrowheads="1"/>
          </p:cNvSpPr>
          <p:nvPr/>
        </p:nvSpPr>
        <p:spPr bwMode="auto">
          <a:xfrm>
            <a:off x="5541963" y="1363663"/>
            <a:ext cx="33734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土体内细颗粒通过粗粒形成的孔隙通道移动</a:t>
            </a:r>
          </a:p>
        </p:txBody>
      </p:sp>
      <p:sp>
        <p:nvSpPr>
          <p:cNvPr id="1510420" name="Rectangle 20"/>
          <p:cNvSpPr>
            <a:spLocks noChangeArrowheads="1"/>
          </p:cNvSpPr>
          <p:nvPr/>
        </p:nvSpPr>
        <p:spPr bwMode="auto">
          <a:xfrm>
            <a:off x="5541963" y="2274888"/>
            <a:ext cx="30670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可发生于土体内部和</a:t>
            </a:r>
            <a:r>
              <a:rPr kumimoji="1" lang="zh-CN" altLang="en-US" sz="2000" b="1" dirty="0" smtClean="0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渗流逸出处</a:t>
            </a:r>
            <a:endParaRPr kumimoji="1" lang="zh-CN" altLang="en-US" sz="2000" b="1" dirty="0">
              <a:solidFill>
                <a:srgbClr val="000066"/>
              </a:solidFill>
              <a:latin typeface="宋体" charset="-122"/>
              <a:ea typeface="幼圆" pitchFamily="49" charset="-122"/>
            </a:endParaRPr>
          </a:p>
        </p:txBody>
      </p:sp>
      <p:sp>
        <p:nvSpPr>
          <p:cNvPr id="1510421" name="Rectangle 21"/>
          <p:cNvSpPr>
            <a:spLocks noChangeArrowheads="1"/>
          </p:cNvSpPr>
          <p:nvPr/>
        </p:nvSpPr>
        <p:spPr bwMode="auto">
          <a:xfrm>
            <a:off x="5483225" y="3201988"/>
            <a:ext cx="2927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</a:rPr>
              <a:t>一般发生在特定级配的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无黏性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</a:rPr>
              <a:t>土或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分散性黏土</a:t>
            </a:r>
            <a:endParaRPr kumimoji="1" lang="zh-CN" altLang="en-US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10422" name="Rectangle 22"/>
          <p:cNvSpPr>
            <a:spLocks noChangeArrowheads="1"/>
          </p:cNvSpPr>
          <p:nvPr/>
        </p:nvSpPr>
        <p:spPr bwMode="auto">
          <a:xfrm>
            <a:off x="5541963" y="4164013"/>
            <a:ext cx="2249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破坏过程相对较长</a:t>
            </a:r>
          </a:p>
        </p:txBody>
      </p:sp>
      <p:sp>
        <p:nvSpPr>
          <p:cNvPr id="1510423" name="Rectangle 23"/>
          <p:cNvSpPr>
            <a:spLocks noChangeArrowheads="1"/>
          </p:cNvSpPr>
          <p:nvPr/>
        </p:nvSpPr>
        <p:spPr bwMode="auto">
          <a:xfrm>
            <a:off x="5541963" y="4832350"/>
            <a:ext cx="304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宋体" charset="-122"/>
                <a:ea typeface="幼圆" pitchFamily="49" charset="-122"/>
              </a:rPr>
              <a:t>导致结构发生塌陷或溃口</a:t>
            </a:r>
          </a:p>
        </p:txBody>
      </p:sp>
      <p:sp>
        <p:nvSpPr>
          <p:cNvPr id="24" name="灯片编号占位符 1"/>
          <p:cNvSpPr txBox="1">
            <a:spLocks/>
          </p:cNvSpPr>
          <p:nvPr/>
        </p:nvSpPr>
        <p:spPr>
          <a:xfrm>
            <a:off x="6546643" y="637540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-2" y="647"/>
            <a:ext cx="5099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§2.4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力与渗透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变形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渗透破坏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852823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0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10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10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10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1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10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10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1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1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10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10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510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1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1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1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10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10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0407" grpId="0" build="p" autoUpdateAnimBg="0" advAuto="0"/>
      <p:bldP spid="1510408" grpId="0" build="p" autoUpdateAnimBg="0" advAuto="0"/>
      <p:bldP spid="1510409" grpId="0" build="p" autoUpdateAnimBg="0" advAuto="0"/>
      <p:bldP spid="1510410" grpId="0" build="p" autoUpdateAnimBg="0" advAuto="0"/>
      <p:bldP spid="1510411" grpId="0" build="p" autoUpdateAnimBg="0" advAuto="0"/>
      <p:bldP spid="1510412" grpId="0" build="p" autoUpdateAnimBg="0" advAuto="0"/>
      <p:bldP spid="1510413" grpId="0" build="p" autoUpdateAnimBg="0" advAuto="0"/>
      <p:bldP spid="1510414" grpId="0" build="p" autoUpdateAnimBg="0"/>
      <p:bldP spid="1510415" grpId="0" build="p" autoUpdateAnimBg="0"/>
      <p:bldP spid="1510416" grpId="0" build="p" autoUpdateAnimBg="0"/>
      <p:bldP spid="1510417" grpId="0" build="p" autoUpdateAnimBg="0"/>
      <p:bldP spid="1510418" grpId="0" build="p" autoUpdateAnimBg="0"/>
      <p:bldP spid="1510419" grpId="0" build="p" autoUpdateAnimBg="0" advAuto="0"/>
      <p:bldP spid="1510420" grpId="0" build="p" autoUpdateAnimBg="0" advAuto="0"/>
      <p:bldP spid="1510421" grpId="0" build="p" autoUpdateAnimBg="0" advAuto="0"/>
      <p:bldP spid="1510422" grpId="0" build="p" autoUpdateAnimBg="0" advAuto="0"/>
      <p:bldP spid="1510423" grpId="0" build="p" autoUpdateAnimBg="0" advAuto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1376363" y="1093788"/>
            <a:ext cx="6848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第二章：土的渗透性和渗流问题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078038" y="2411413"/>
            <a:ext cx="5738812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§2.1  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渗流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及其工程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 </a:t>
            </a: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kumimoji="1" lang="zh-CN" altLang="en-US" sz="3200" b="1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§2.2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土的渗透性与渗透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规律 </a:t>
            </a: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kumimoji="1" lang="zh-CN" altLang="en-US" sz="3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§2.3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平面渗流与</a:t>
            </a:r>
            <a:r>
              <a:rPr kumimoji="1" lang="zh-CN" altLang="en-US" sz="3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流网 </a:t>
            </a: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kumimoji="1" lang="zh-CN" altLang="en-US" sz="3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§2.4  </a:t>
            </a:r>
            <a:r>
              <a:rPr kumimoji="1"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渗透力与渗透变形</a:t>
            </a:r>
            <a:r>
              <a:rPr kumimoji="1" lang="zh-CN" altLang="en-US" sz="24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kumimoji="1" lang="zh-CN" altLang="en-US" sz="3200" b="1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2"/>
          <p:cNvSpPr txBox="1">
            <a:spLocks noChangeArrowheads="1"/>
          </p:cNvSpPr>
          <p:nvPr/>
        </p:nvSpPr>
        <p:spPr>
          <a:xfrm>
            <a:off x="479834" y="698580"/>
            <a:ext cx="6718407" cy="747454"/>
          </a:xfrm>
          <a:prstGeom prst="rect">
            <a:avLst/>
          </a:prstGeom>
          <a:noFill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§3.1 </a:t>
            </a:r>
            <a:r>
              <a:rPr lang="zh-CN" altLang="en-US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渗流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及其工程问题</a:t>
            </a:r>
            <a:endParaRPr lang="zh-CN" altLang="en-US" sz="3600" b="1" dirty="0" smtClean="0">
              <a:solidFill>
                <a:srgbClr val="C000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2" name="Rectangle 3"/>
          <p:cNvSpPr txBox="1">
            <a:spLocks noChangeArrowheads="1"/>
          </p:cNvSpPr>
          <p:nvPr/>
        </p:nvSpPr>
        <p:spPr>
          <a:xfrm>
            <a:off x="1542240" y="1969757"/>
            <a:ext cx="4487086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088" indent="-4460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30000"/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土体</a:t>
            </a:r>
            <a:r>
              <a:rPr lang="zh-CN" altLang="en-US" sz="2800" b="1" dirty="0" smtClean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骨架和渗流的概念</a:t>
            </a:r>
            <a:endParaRPr lang="en-US" altLang="zh-CN" sz="2800" b="1" dirty="0" smtClean="0">
              <a:solidFill>
                <a:srgbClr val="000066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SzPct val="130000"/>
            </a:pP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30000"/>
            </a:pPr>
            <a:r>
              <a:rPr lang="zh-CN" altLang="en-US" sz="2800" b="1" dirty="0" smtClean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工程中的渗流问题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737225" y="2771676"/>
            <a:ext cx="185211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2563" indent="-1825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</a:rPr>
              <a:t>挡水建筑物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</a:rPr>
              <a:t>集水建筑物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</a:rPr>
              <a:t>引水结构物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</a:rPr>
              <a:t>基础工程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</a:rPr>
              <a:t>地下工程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</a:rPr>
              <a:t>边坡工程</a:t>
            </a:r>
            <a:endParaRPr lang="zh-CN" altLang="en-US" sz="2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1" name="AutoShape 7"/>
          <p:cNvSpPr>
            <a:spLocks/>
          </p:cNvSpPr>
          <p:nvPr/>
        </p:nvSpPr>
        <p:spPr bwMode="auto">
          <a:xfrm flipH="1">
            <a:off x="5291136" y="2962275"/>
            <a:ext cx="365125" cy="1905000"/>
          </a:xfrm>
          <a:prstGeom prst="rightBrace">
            <a:avLst>
              <a:gd name="adj1" fmla="val 49420"/>
              <a:gd name="adj2" fmla="val 48972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0" y="0"/>
            <a:ext cx="281940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第二章：本章总结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321947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Box 13"/>
          <p:cNvSpPr txBox="1">
            <a:spLocks noChangeArrowheads="1"/>
          </p:cNvSpPr>
          <p:nvPr/>
        </p:nvSpPr>
        <p:spPr bwMode="auto">
          <a:xfrm>
            <a:off x="950317" y="1485372"/>
            <a:ext cx="2420184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渗透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定律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0" name="Text Box 14"/>
          <p:cNvSpPr txBox="1">
            <a:spLocks noChangeArrowheads="1"/>
          </p:cNvSpPr>
          <p:nvPr/>
        </p:nvSpPr>
        <p:spPr bwMode="auto">
          <a:xfrm>
            <a:off x="1477925" y="1998728"/>
            <a:ext cx="3327971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水头与水力坡降</a:t>
            </a: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达西定律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 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适用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条件：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层流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479834" y="698580"/>
            <a:ext cx="7260667" cy="747454"/>
          </a:xfrm>
          <a:prstGeom prst="rect">
            <a:avLst/>
          </a:prstGeom>
          <a:noFill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§3.2 </a:t>
            </a:r>
            <a:r>
              <a:rPr lang="zh-CN" altLang="en-US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土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的渗透性与渗透规律 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64493" y="3395483"/>
            <a:ext cx="237413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渗透系数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1492100" y="3951371"/>
            <a:ext cx="7598747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测定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方法：常水头试验、变水头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试验、现场抽水试验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影响因素：级配、孔隙比、矿物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成分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、结构、饱和度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978666" y="4919482"/>
            <a:ext cx="2795902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一维渗流计算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0" y="0"/>
            <a:ext cx="281940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第二章：本章总结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465209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utoUpdateAnimBg="0"/>
      <p:bldP spid="130" grpId="0"/>
      <p:bldP spid="10" grpId="0" autoUpdateAnimBg="0"/>
      <p:bldP spid="11" grpId="0"/>
      <p:bldP spid="12" grpId="0" autoUpdateAnimBg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79834" y="698580"/>
            <a:ext cx="4932137" cy="747454"/>
          </a:xfrm>
          <a:prstGeom prst="rect">
            <a:avLst/>
          </a:prstGeom>
          <a:noFill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§3.3  </a:t>
            </a:r>
            <a:r>
              <a:rPr lang="zh-CN" altLang="en-US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平面渗流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及流网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950317" y="1421574"/>
            <a:ext cx="452545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平面渗流的数学描述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1477925" y="1977462"/>
            <a:ext cx="2636875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广义达西定律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运动方程：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边界条件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964487" y="3413394"/>
            <a:ext cx="4525450" cy="534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流网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1492095" y="3948016"/>
            <a:ext cx="5557291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势函数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和流函数的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概念和特性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流网的特性：</a:t>
            </a:r>
            <a:r>
              <a:rPr lang="zh-CN" altLang="en-US" sz="24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正交性、曲边正方形</a:t>
            </a: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流网的画法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流网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的应用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22916" y="2243287"/>
            <a:ext cx="3809487" cy="838200"/>
            <a:chOff x="3522916" y="2243287"/>
            <a:chExt cx="3809487" cy="83820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4622753"/>
                </p:ext>
              </p:extLst>
            </p:nvPr>
          </p:nvGraphicFramePr>
          <p:xfrm>
            <a:off x="5503603" y="2243287"/>
            <a:ext cx="18288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7" name="公式" r:id="rId4" imgW="914400" imgH="419040" progId="Equation.3">
                    <p:embed/>
                  </p:oleObj>
                </mc:Choice>
                <mc:Fallback>
                  <p:oleObj name="公式" r:id="rId4" imgW="9144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3603" y="2243287"/>
                          <a:ext cx="1828800" cy="838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>
              <a:off x="3522916" y="2416942"/>
              <a:ext cx="1931582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130000"/>
              </a:pP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Laplace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方程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281940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第二章：本章总结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004076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50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20" grpId="0" build="p"/>
      <p:bldP spid="21" grpId="0" autoUpdateAnimBg="0"/>
      <p:bldP spid="22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479834" y="698580"/>
            <a:ext cx="5166053" cy="747454"/>
          </a:xfrm>
          <a:prstGeom prst="rect">
            <a:avLst/>
          </a:prstGeom>
          <a:noFill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§3.4  </a:t>
            </a:r>
            <a:r>
              <a:rPr lang="zh-CN" altLang="en-US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渗透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力与渗透变形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950317" y="1421574"/>
            <a:ext cx="3164483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渗透力及其特性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1477925" y="1977462"/>
            <a:ext cx="7017489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单位体积土体内土骨架所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受到的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渗透水流的推动和拖曳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力，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= 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i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渗透力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是体积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力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，方向同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水力坡降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方向一致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964487" y="3326306"/>
            <a:ext cx="452545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土体受力分析方法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1492095" y="3860928"/>
            <a:ext cx="7407356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土水整体：土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水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整体为隔离体，</a:t>
            </a:r>
            <a:r>
              <a:rPr kumimoji="1"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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sat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边界上水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压力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土水隔离：土骨架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作隔离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体，</a:t>
            </a:r>
            <a:r>
              <a:rPr kumimoji="1"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 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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渗透力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960950" y="4765246"/>
            <a:ext cx="4525450" cy="534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渗透破坏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1488557" y="5321134"/>
            <a:ext cx="1228517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流土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indent="-265113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管涌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14"/>
          <p:cNvSpPr txBox="1">
            <a:spLocks noChangeArrowheads="1"/>
          </p:cNvSpPr>
          <p:nvPr/>
        </p:nvSpPr>
        <p:spPr bwMode="auto">
          <a:xfrm>
            <a:off x="2862575" y="5575213"/>
            <a:ext cx="532336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现象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位置、土类、条件、防止措施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2638698" y="5550207"/>
            <a:ext cx="177585" cy="595424"/>
          </a:xfrm>
          <a:prstGeom prst="rightBrace">
            <a:avLst>
              <a:gd name="adj1" fmla="val 27234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0" y="0"/>
            <a:ext cx="281940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第二章：本章总结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105115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1" grpId="0"/>
      <p:bldP spid="22" grpId="0" autoUpdateAnimBg="0"/>
      <p:bldP spid="23" grpId="0"/>
      <p:bldP spid="27" grpId="0" autoUpdateAnimBg="0"/>
      <p:bldP spid="28" grpId="0"/>
      <p:bldP spid="29" grpId="0"/>
      <p:bldP spid="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416168" y="1325709"/>
            <a:ext cx="1423988" cy="1516063"/>
            <a:chOff x="1416168" y="1325709"/>
            <a:chExt cx="1423988" cy="1516063"/>
          </a:xfrm>
        </p:grpSpPr>
        <p:sp>
          <p:nvSpPr>
            <p:cNvPr id="35842" name="AutoShape 16"/>
            <p:cNvSpPr>
              <a:spLocks noChangeArrowheads="1"/>
            </p:cNvSpPr>
            <p:nvPr/>
          </p:nvSpPr>
          <p:spPr bwMode="auto">
            <a:xfrm>
              <a:off x="1922581" y="1992459"/>
              <a:ext cx="371475" cy="849313"/>
            </a:xfrm>
            <a:prstGeom prst="cube">
              <a:avLst>
                <a:gd name="adj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3" name="Freeform 17"/>
            <p:cNvSpPr>
              <a:spLocks/>
            </p:cNvSpPr>
            <p:nvPr/>
          </p:nvSpPr>
          <p:spPr bwMode="auto">
            <a:xfrm flipH="1">
              <a:off x="1416168" y="1325709"/>
              <a:ext cx="1423988" cy="950913"/>
            </a:xfrm>
            <a:custGeom>
              <a:avLst/>
              <a:gdLst>
                <a:gd name="T0" fmla="*/ 130 w 783"/>
                <a:gd name="T1" fmla="*/ 133 h 551"/>
                <a:gd name="T2" fmla="*/ 293 w 783"/>
                <a:gd name="T3" fmla="*/ 108 h 551"/>
                <a:gd name="T4" fmla="*/ 520 w 783"/>
                <a:gd name="T5" fmla="*/ 56 h 551"/>
                <a:gd name="T6" fmla="*/ 686 w 783"/>
                <a:gd name="T7" fmla="*/ 12 h 551"/>
                <a:gd name="T8" fmla="*/ 763 w 783"/>
                <a:gd name="T9" fmla="*/ 130 h 551"/>
                <a:gd name="T10" fmla="*/ 779 w 783"/>
                <a:gd name="T11" fmla="*/ 338 h 551"/>
                <a:gd name="T12" fmla="*/ 738 w 783"/>
                <a:gd name="T13" fmla="*/ 504 h 551"/>
                <a:gd name="T14" fmla="*/ 507 w 783"/>
                <a:gd name="T15" fmla="*/ 546 h 551"/>
                <a:gd name="T16" fmla="*/ 238 w 783"/>
                <a:gd name="T17" fmla="*/ 533 h 551"/>
                <a:gd name="T18" fmla="*/ 37 w 783"/>
                <a:gd name="T19" fmla="*/ 469 h 551"/>
                <a:gd name="T20" fmla="*/ 14 w 783"/>
                <a:gd name="T21" fmla="*/ 296 h 551"/>
                <a:gd name="T22" fmla="*/ 46 w 783"/>
                <a:gd name="T23" fmla="*/ 178 h 551"/>
                <a:gd name="T24" fmla="*/ 130 w 783"/>
                <a:gd name="T25" fmla="*/ 133 h 55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83"/>
                <a:gd name="T40" fmla="*/ 0 h 551"/>
                <a:gd name="T41" fmla="*/ 783 w 783"/>
                <a:gd name="T42" fmla="*/ 551 h 55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83" h="551">
                  <a:moveTo>
                    <a:pt x="130" y="133"/>
                  </a:moveTo>
                  <a:cubicBezTo>
                    <a:pt x="171" y="121"/>
                    <a:pt x="228" y="121"/>
                    <a:pt x="293" y="108"/>
                  </a:cubicBezTo>
                  <a:cubicBezTo>
                    <a:pt x="358" y="95"/>
                    <a:pt x="455" y="72"/>
                    <a:pt x="520" y="56"/>
                  </a:cubicBezTo>
                  <a:cubicBezTo>
                    <a:pt x="585" y="40"/>
                    <a:pt x="646" y="0"/>
                    <a:pt x="686" y="12"/>
                  </a:cubicBezTo>
                  <a:cubicBezTo>
                    <a:pt x="726" y="24"/>
                    <a:pt x="748" y="76"/>
                    <a:pt x="763" y="130"/>
                  </a:cubicBezTo>
                  <a:cubicBezTo>
                    <a:pt x="778" y="184"/>
                    <a:pt x="783" y="276"/>
                    <a:pt x="779" y="338"/>
                  </a:cubicBezTo>
                  <a:cubicBezTo>
                    <a:pt x="775" y="400"/>
                    <a:pt x="783" y="469"/>
                    <a:pt x="738" y="504"/>
                  </a:cubicBezTo>
                  <a:cubicBezTo>
                    <a:pt x="693" y="539"/>
                    <a:pt x="590" y="541"/>
                    <a:pt x="507" y="546"/>
                  </a:cubicBezTo>
                  <a:cubicBezTo>
                    <a:pt x="424" y="551"/>
                    <a:pt x="316" y="546"/>
                    <a:pt x="238" y="533"/>
                  </a:cubicBezTo>
                  <a:cubicBezTo>
                    <a:pt x="160" y="520"/>
                    <a:pt x="74" y="508"/>
                    <a:pt x="37" y="469"/>
                  </a:cubicBezTo>
                  <a:cubicBezTo>
                    <a:pt x="0" y="430"/>
                    <a:pt x="13" y="344"/>
                    <a:pt x="14" y="296"/>
                  </a:cubicBezTo>
                  <a:cubicBezTo>
                    <a:pt x="15" y="248"/>
                    <a:pt x="27" y="205"/>
                    <a:pt x="46" y="178"/>
                  </a:cubicBezTo>
                  <a:cubicBezTo>
                    <a:pt x="65" y="151"/>
                    <a:pt x="89" y="145"/>
                    <a:pt x="130" y="133"/>
                  </a:cubicBezTo>
                  <a:close/>
                </a:path>
              </a:pathLst>
            </a:custGeom>
            <a:solidFill>
              <a:srgbClr val="DBC9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844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1560631" y="1346347"/>
              <a:ext cx="1065212" cy="822325"/>
            </a:xfrm>
            <a:prstGeom prst="rect">
              <a:avLst/>
            </a:prstGeom>
          </p:spPr>
          <p:txBody>
            <a:bodyPr wrap="none" fromWordArt="1">
              <a:prstTxWarp prst="textCurveDown">
                <a:avLst>
                  <a:gd name="adj" fmla="val 43477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45791" dir="2021404" algn="ctr" rotWithShape="0">
                      <a:srgbClr val="808080">
                        <a:alpha val="79999"/>
                      </a:srgbClr>
                    </a:outerShdw>
                  </a:effectLst>
                  <a:latin typeface="华文新魏"/>
                  <a:ea typeface="华文新魏"/>
                </a:rPr>
                <a:t>作业</a:t>
              </a:r>
            </a:p>
          </p:txBody>
        </p:sp>
      </p:grpSp>
      <p:sp>
        <p:nvSpPr>
          <p:cNvPr id="35845" name="Text Box 19"/>
          <p:cNvSpPr txBox="1">
            <a:spLocks noChangeArrowheads="1"/>
          </p:cNvSpPr>
          <p:nvPr/>
        </p:nvSpPr>
        <p:spPr bwMode="auto">
          <a:xfrm>
            <a:off x="3222763" y="712683"/>
            <a:ext cx="414972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</a:rPr>
              <a:t>本章作业：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3200" dirty="0">
              <a:solidFill>
                <a:srgbClr val="000066"/>
              </a:solidFill>
              <a:ea typeface="幼圆" pitchFamily="49" charset="-122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2-1  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2-2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2-4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2-5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2-7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2-9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2-10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（自由选做题）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50439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9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0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lipse">
  <a:themeElements>
    <a:clrScheme name="Eclipse 14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FFFF99"/>
      </a:accent1>
      <a:accent2>
        <a:srgbClr val="FF9933"/>
      </a:accent2>
      <a:accent3>
        <a:srgbClr val="FFFFFF"/>
      </a:accent3>
      <a:accent4>
        <a:srgbClr val="000000"/>
      </a:accent4>
      <a:accent5>
        <a:srgbClr val="FFFFCA"/>
      </a:accent5>
      <a:accent6>
        <a:srgbClr val="E78A2D"/>
      </a:accent6>
      <a:hlink>
        <a:srgbClr val="0000FF"/>
      </a:hlink>
      <a:folHlink>
        <a:srgbClr val="FF0000"/>
      </a:folHlink>
    </a:clrScheme>
    <a:fontScheme name="Eclipse">
      <a:majorFont>
        <a:latin typeface="Arial"/>
        <a:ea typeface="华文新魏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3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4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33693</TotalTime>
  <Words>7827</Words>
  <Application>Microsoft Office PowerPoint</Application>
  <PresentationFormat>全屏显示(4:3)</PresentationFormat>
  <Paragraphs>2031</Paragraphs>
  <Slides>123</Slides>
  <Notes>123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123</vt:i4>
      </vt:variant>
    </vt:vector>
  </HeadingPairs>
  <TitlesOfParts>
    <vt:vector size="142" baseType="lpstr">
      <vt:lpstr>黑体</vt:lpstr>
      <vt:lpstr>华文琥珀</vt:lpstr>
      <vt:lpstr>华文新魏</vt:lpstr>
      <vt:lpstr>华文中宋</vt:lpstr>
      <vt:lpstr>楷体_GB2312</vt:lpstr>
      <vt:lpstr>宋体</vt:lpstr>
      <vt:lpstr>幼圆</vt:lpstr>
      <vt:lpstr>Arial</vt:lpstr>
      <vt:lpstr>Cambria Math</vt:lpstr>
      <vt:lpstr>Garamond</vt:lpstr>
      <vt:lpstr>Symbol</vt:lpstr>
      <vt:lpstr>Times New Roman</vt:lpstr>
      <vt:lpstr>Verdana</vt:lpstr>
      <vt:lpstr>Wingdings</vt:lpstr>
      <vt:lpstr>Wingdings 2</vt:lpstr>
      <vt:lpstr>吉祥如意</vt:lpstr>
      <vt:lpstr>Eclipse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zhang2</dc:creator>
  <cp:lastModifiedBy>Administrator</cp:lastModifiedBy>
  <cp:revision>2462</cp:revision>
  <dcterms:created xsi:type="dcterms:W3CDTF">1601-01-01T00:00:00Z</dcterms:created>
  <dcterms:modified xsi:type="dcterms:W3CDTF">2020-09-20T03:32:49Z</dcterms:modified>
</cp:coreProperties>
</file>