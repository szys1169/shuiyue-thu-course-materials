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0" r:id="rId5"/>
    <p:sldId id="261" r:id="rId6"/>
    <p:sldId id="262" r:id="rId7"/>
    <p:sldId id="263" r:id="rId8"/>
    <p:sldId id="273" r:id="rId9"/>
    <p:sldId id="264" r:id="rId10"/>
    <p:sldId id="265" r:id="rId11"/>
    <p:sldId id="266" r:id="rId12"/>
    <p:sldId id="267" r:id="rId13"/>
    <p:sldId id="268" r:id="rId14"/>
    <p:sldId id="269"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721EA7-6496-41A9-9FE8-20E848087CA9}" type="datetimeFigureOut">
              <a:rPr lang="zh-CN" altLang="en-US" smtClean="0"/>
              <a:t>2014/12/6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BC676B-2188-4752-BAB5-203337E2E240}" type="slidenum">
              <a:rPr lang="zh-CN" altLang="en-US" smtClean="0"/>
              <a:t>‹#›</a:t>
            </a:fld>
            <a:endParaRPr lang="zh-CN" altLang="en-US"/>
          </a:p>
        </p:txBody>
      </p:sp>
    </p:spTree>
    <p:extLst>
      <p:ext uri="{BB962C8B-B14F-4D97-AF65-F5344CB8AC3E}">
        <p14:creationId xmlns:p14="http://schemas.microsoft.com/office/powerpoint/2010/main" val="780062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ABC676B-2188-4752-BAB5-203337E2E240}" type="slidenum">
              <a:rPr lang="zh-CN" altLang="en-US" smtClean="0"/>
              <a:t>14</a:t>
            </a:fld>
            <a:endParaRPr lang="zh-CN" altLang="en-US"/>
          </a:p>
        </p:txBody>
      </p:sp>
    </p:spTree>
    <p:extLst>
      <p:ext uri="{BB962C8B-B14F-4D97-AF65-F5344CB8AC3E}">
        <p14:creationId xmlns:p14="http://schemas.microsoft.com/office/powerpoint/2010/main" val="2516174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332710-2FA5-4F9C-8D14-E0888649C3B7}"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87BF54-320F-41EC-BAA9-A3E7F9C237F6}" type="datetimeFigureOut">
              <a:rPr lang="zh-CN" altLang="en-US" smtClean="0"/>
              <a:pPr/>
              <a:t>2014/12/6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332710-2FA5-4F9C-8D14-E0888649C3B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png"/><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42910" y="1785926"/>
            <a:ext cx="8058152" cy="1470025"/>
          </a:xfrm>
        </p:spPr>
        <p:txBody>
          <a:bodyPr>
            <a:noAutofit/>
          </a:bodyPr>
          <a:lstStyle/>
          <a:p>
            <a:r>
              <a:rPr lang="en-US" altLang="zh-CN" sz="4800" b="1" dirty="0" smtClean="0">
                <a:solidFill>
                  <a:srgbClr val="FF0000"/>
                </a:solidFill>
                <a:latin typeface="华文楷体" pitchFamily="2" charset="-122"/>
                <a:ea typeface="华文楷体" pitchFamily="2" charset="-122"/>
              </a:rPr>
              <a:t>C30</a:t>
            </a:r>
            <a:r>
              <a:rPr lang="zh-CN" altLang="en-US" sz="4800" b="1" dirty="0" smtClean="0">
                <a:solidFill>
                  <a:srgbClr val="FF0000"/>
                </a:solidFill>
                <a:latin typeface="华文楷体" pitchFamily="2" charset="-122"/>
                <a:ea typeface="华文楷体" pitchFamily="2" charset="-122"/>
              </a:rPr>
              <a:t>自密实混凝土配合比设计</a:t>
            </a:r>
            <a:endParaRPr lang="zh-CN" altLang="en-US" sz="4800" b="1" dirty="0">
              <a:solidFill>
                <a:srgbClr val="FF0000"/>
              </a:solidFill>
              <a:latin typeface="华文楷体" pitchFamily="2" charset="-122"/>
              <a:ea typeface="华文楷体" pitchFamily="2" charset="-122"/>
            </a:endParaRPr>
          </a:p>
        </p:txBody>
      </p:sp>
      <p:sp>
        <p:nvSpPr>
          <p:cNvPr id="3" name="文本框 2"/>
          <p:cNvSpPr txBox="1"/>
          <p:nvPr/>
        </p:nvSpPr>
        <p:spPr>
          <a:xfrm>
            <a:off x="1187624" y="3140968"/>
            <a:ext cx="3816424" cy="2031325"/>
          </a:xfrm>
          <a:prstGeom prst="rect">
            <a:avLst/>
          </a:prstGeom>
          <a:noFill/>
        </p:spPr>
        <p:txBody>
          <a:bodyPr wrap="square" rtlCol="0">
            <a:spAutoFit/>
          </a:bodyPr>
          <a:lstStyle/>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李晖</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康泽淇</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赖志勇</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段了了</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刘静</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沃中原</a:t>
            </a:r>
          </a:p>
          <a:p>
            <a:r>
              <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王霄桐</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0034" y="357166"/>
            <a:ext cx="8229600" cy="1143000"/>
          </a:xfrm>
        </p:spPr>
        <p:txBody>
          <a:bodyPr/>
          <a:lstStyle/>
          <a:p>
            <a:pPr algn="l"/>
            <a:r>
              <a:rPr lang="en-US" altLang="zh-CN" dirty="0" smtClean="0"/>
              <a:t>C30</a:t>
            </a:r>
            <a:r>
              <a:rPr lang="zh-CN" altLang="en-US" dirty="0" smtClean="0"/>
              <a:t>自密实混凝土：</a:t>
            </a:r>
            <a:endParaRPr lang="zh-CN" altLang="en-US" dirty="0"/>
          </a:p>
        </p:txBody>
      </p:sp>
      <p:sp>
        <p:nvSpPr>
          <p:cNvPr id="4" name="TextBox 3"/>
          <p:cNvSpPr txBox="1"/>
          <p:nvPr/>
        </p:nvSpPr>
        <p:spPr>
          <a:xfrm>
            <a:off x="857224" y="1500174"/>
            <a:ext cx="7643866" cy="4832092"/>
          </a:xfrm>
          <a:prstGeom prst="rect">
            <a:avLst/>
          </a:prstGeom>
          <a:noFill/>
        </p:spPr>
        <p:txBody>
          <a:bodyPr wrap="square" rtlCol="0">
            <a:spAutoFit/>
          </a:bodyPr>
          <a:lstStyle/>
          <a:p>
            <a:r>
              <a:rPr lang="zh-CN" altLang="en-US" dirty="0" smtClean="0"/>
              <a:t>         </a:t>
            </a:r>
            <a:r>
              <a:rPr lang="zh-CN" altLang="en-US" sz="2800" dirty="0" smtClean="0"/>
              <a:t>自密实混凝土</a:t>
            </a:r>
            <a:r>
              <a:rPr lang="en-US" altLang="zh-CN" sz="2800" dirty="0" smtClean="0"/>
              <a:t>(</a:t>
            </a:r>
            <a:r>
              <a:rPr lang="en-US" sz="2800" dirty="0" smtClean="0"/>
              <a:t>Self </a:t>
            </a:r>
            <a:r>
              <a:rPr lang="en-US" sz="2800" dirty="0" err="1" smtClean="0"/>
              <a:t>CompactingConcrete</a:t>
            </a:r>
            <a:r>
              <a:rPr lang="en-US" sz="2800" dirty="0" smtClean="0"/>
              <a:t> </a:t>
            </a:r>
            <a:r>
              <a:rPr lang="zh-CN" altLang="en-US" sz="2800" dirty="0" smtClean="0"/>
              <a:t>或</a:t>
            </a:r>
            <a:r>
              <a:rPr lang="en-US" sz="2800" dirty="0" smtClean="0"/>
              <a:t>Self-Consolidating Concrete </a:t>
            </a:r>
            <a:r>
              <a:rPr lang="zh-CN" altLang="en-US" sz="2800" dirty="0" smtClean="0"/>
              <a:t>简称</a:t>
            </a:r>
            <a:r>
              <a:rPr lang="en-US" sz="2800" dirty="0" smtClean="0"/>
              <a:t>SCC)</a:t>
            </a:r>
            <a:r>
              <a:rPr lang="zh-CN" altLang="en-US" sz="2800" dirty="0" smtClean="0"/>
              <a:t>是指在自身重力作用下，能够流动、密实，即使存在致密钢筋也能完全填充模板，同时获得很好均质性，并且不需要附加振动的混凝土。 </a:t>
            </a:r>
          </a:p>
          <a:p>
            <a:r>
              <a:rPr lang="zh-CN" altLang="en-US" sz="2800" dirty="0" smtClean="0"/>
              <a:t>　　</a:t>
            </a:r>
            <a:r>
              <a:rPr lang="en-US" sz="2800" dirty="0" smtClean="0"/>
              <a:t>SCC</a:t>
            </a:r>
            <a:r>
              <a:rPr lang="zh-CN" altLang="en-US" sz="2800" dirty="0" smtClean="0"/>
              <a:t>的硬化性能与普通混凝土相似，而新拌混凝土性能则与普通混凝土相差很大。自密实混凝土的自密实性能主要包括流动性、抗离析性和填充性。每种性能均可采用坍落扩展度试验、</a:t>
            </a:r>
            <a:r>
              <a:rPr lang="en-US" sz="2800" dirty="0" smtClean="0"/>
              <a:t>V</a:t>
            </a:r>
            <a:r>
              <a:rPr lang="zh-CN" altLang="en-US" sz="2800" dirty="0" smtClean="0"/>
              <a:t>漏斗试验（或</a:t>
            </a:r>
            <a:r>
              <a:rPr lang="en-US" sz="2800" dirty="0" smtClean="0"/>
              <a:t>T50</a:t>
            </a:r>
            <a:r>
              <a:rPr lang="zh-CN" altLang="en-US" sz="2800" dirty="0" smtClean="0"/>
              <a:t>试验）和</a:t>
            </a:r>
            <a:r>
              <a:rPr lang="en-US" sz="2800" dirty="0" smtClean="0"/>
              <a:t>U</a:t>
            </a:r>
            <a:r>
              <a:rPr lang="zh-CN" altLang="en-US" sz="2800" dirty="0" smtClean="0"/>
              <a:t>型箱试验等一种以上方法检测。</a:t>
            </a:r>
            <a:endParaRPr lang="zh-CN"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428596" y="1571612"/>
            <a:ext cx="8493153" cy="3362328"/>
          </a:xfrm>
          <a:prstGeom prst="rect">
            <a:avLst/>
          </a:prstGeom>
          <a:noFill/>
          <a:ln w="9525">
            <a:noFill/>
            <a:miter lim="800000"/>
            <a:headEnd/>
            <a:tailEnd/>
          </a:ln>
          <a:effectLst/>
        </p:spPr>
      </p:pic>
      <p:sp>
        <p:nvSpPr>
          <p:cNvPr id="2" name="标题 1"/>
          <p:cNvSpPr>
            <a:spLocks noGrp="1"/>
          </p:cNvSpPr>
          <p:nvPr>
            <p:ph type="title"/>
          </p:nvPr>
        </p:nvSpPr>
        <p:spPr/>
        <p:txBody>
          <a:bodyPr/>
          <a:lstStyle/>
          <a:p>
            <a:pPr algn="l"/>
            <a:r>
              <a:rPr lang="zh-CN" altLang="en-US" dirty="0" smtClean="0"/>
              <a:t>自密实混凝土性能要求：</a:t>
            </a:r>
            <a:endParaRPr lang="zh-CN" altLang="en-US" dirty="0"/>
          </a:p>
        </p:txBody>
      </p:sp>
      <p:sp>
        <p:nvSpPr>
          <p:cNvPr id="5" name="TextBox 4"/>
          <p:cNvSpPr txBox="1"/>
          <p:nvPr/>
        </p:nvSpPr>
        <p:spPr>
          <a:xfrm>
            <a:off x="785786" y="5072074"/>
            <a:ext cx="5429288" cy="400110"/>
          </a:xfrm>
          <a:prstGeom prst="rect">
            <a:avLst/>
          </a:prstGeom>
          <a:noFill/>
        </p:spPr>
        <p:txBody>
          <a:bodyPr wrap="square" rtlCol="0">
            <a:spAutoFit/>
          </a:bodyPr>
          <a:lstStyle/>
          <a:p>
            <a:r>
              <a:rPr lang="zh-CN" altLang="en-US" sz="2000" b="1" dirty="0" smtClean="0">
                <a:solidFill>
                  <a:srgbClr val="FF0000"/>
                </a:solidFill>
              </a:rPr>
              <a:t>注</a:t>
            </a:r>
            <a:r>
              <a:rPr lang="zh-CN" altLang="en-US" sz="2000" dirty="0" smtClean="0"/>
              <a:t>：坍落度要求大于等于</a:t>
            </a:r>
            <a:r>
              <a:rPr lang="en-US" altLang="zh-CN" sz="2000" dirty="0" smtClean="0"/>
              <a:t>240mm</a:t>
            </a:r>
            <a:endParaRPr lang="zh-CN" alt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竖排标题 8"/>
          <p:cNvSpPr>
            <a:spLocks noGrp="1"/>
          </p:cNvSpPr>
          <p:nvPr>
            <p:ph type="title" orient="vert" idx="4294967295"/>
          </p:nvPr>
        </p:nvSpPr>
        <p:spPr>
          <a:xfrm>
            <a:off x="1187624" y="3450486"/>
            <a:ext cx="7777919" cy="1214445"/>
          </a:xfrm>
        </p:spPr>
        <p:txBody>
          <a:bodyPr>
            <a:normAutofit fontScale="90000"/>
          </a:bodyPr>
          <a:lstStyle/>
          <a:p>
            <a:r>
              <a:rPr lang="zh-CN" altLang="en-US" sz="5400" b="1" dirty="0" smtClean="0">
                <a:solidFill>
                  <a:srgbClr val="FF0000"/>
                </a:solidFill>
                <a:latin typeface="华文楷体" pitchFamily="2" charset="-122"/>
                <a:ea typeface="华文楷体" pitchFamily="2" charset="-122"/>
              </a:rPr>
              <a:t>步骤二：选择石子最大粒径</a:t>
            </a:r>
            <a:endParaRPr lang="zh-CN" altLang="en-US" sz="5400" b="1" dirty="0">
              <a:solidFill>
                <a:srgbClr val="FF0000"/>
              </a:solidFill>
              <a:latin typeface="华文楷体" pitchFamily="2" charset="-122"/>
              <a:ea typeface="华文楷体" pitchFamily="2" charset="-122"/>
            </a:endParaRPr>
          </a:p>
        </p:txBody>
      </p:sp>
      <p:sp>
        <p:nvSpPr>
          <p:cNvPr id="11" name="TextBox 10"/>
          <p:cNvSpPr txBox="1"/>
          <p:nvPr/>
        </p:nvSpPr>
        <p:spPr>
          <a:xfrm>
            <a:off x="1043608" y="1388383"/>
            <a:ext cx="7572428" cy="2062103"/>
          </a:xfrm>
          <a:prstGeom prst="rect">
            <a:avLst/>
          </a:prstGeom>
          <a:noFill/>
        </p:spPr>
        <p:txBody>
          <a:bodyPr wrap="square" rtlCol="0">
            <a:spAutoFit/>
          </a:bodyPr>
          <a:lstStyle/>
          <a:p>
            <a:r>
              <a:rPr lang="zh-CN" altLang="en-US" sz="3200" dirty="0" smtClean="0"/>
              <a:t>自密实混凝土需要较高的流动性，坍落扩展度需要达到</a:t>
            </a:r>
            <a:r>
              <a:rPr lang="en-US" altLang="zh-CN" sz="3200" dirty="0" smtClean="0"/>
              <a:t>600mm</a:t>
            </a:r>
            <a:r>
              <a:rPr lang="zh-CN" altLang="en-US" sz="3200" dirty="0" smtClean="0"/>
              <a:t>以上，所以需要</a:t>
            </a:r>
            <a:r>
              <a:rPr lang="zh-CN" altLang="en-US" sz="3200" dirty="0"/>
              <a:t>较高的坍落度，以保证新拌混凝土的工作度</a:t>
            </a:r>
            <a:r>
              <a:rPr lang="zh-CN" altLang="en-US" sz="3200" dirty="0" smtClean="0"/>
              <a:t>。</a:t>
            </a:r>
            <a:endParaRPr lang="en-US" altLang="zh-CN" sz="3200" dirty="0"/>
          </a:p>
          <a:p>
            <a:r>
              <a:rPr lang="zh-CN" altLang="en-US" sz="3200" dirty="0" smtClean="0"/>
              <a:t>所以将</a:t>
            </a:r>
            <a:r>
              <a:rPr lang="zh-CN" altLang="en-US" sz="3200" dirty="0"/>
              <a:t>其坍落度取</a:t>
            </a:r>
            <a:r>
              <a:rPr lang="zh-CN" altLang="en-US" sz="3200" dirty="0" smtClean="0"/>
              <a:t>为</a:t>
            </a:r>
            <a:r>
              <a:rPr lang="en-US" altLang="zh-CN" sz="3200" dirty="0" smtClean="0"/>
              <a:t>240mm</a:t>
            </a:r>
            <a:r>
              <a:rPr lang="zh-CN" altLang="en-US" sz="3200" dirty="0" smtClean="0"/>
              <a:t>。</a:t>
            </a:r>
            <a:endParaRPr lang="en-US" altLang="zh-CN" sz="3200" dirty="0" smtClean="0"/>
          </a:p>
        </p:txBody>
      </p:sp>
      <p:sp>
        <p:nvSpPr>
          <p:cNvPr id="5" name="竖排标题 8"/>
          <p:cNvSpPr txBox="1">
            <a:spLocks/>
          </p:cNvSpPr>
          <p:nvPr/>
        </p:nvSpPr>
        <p:spPr>
          <a:xfrm>
            <a:off x="1187624" y="332656"/>
            <a:ext cx="6374512" cy="121444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5400" b="1" dirty="0" smtClean="0">
                <a:solidFill>
                  <a:srgbClr val="FF0000"/>
                </a:solidFill>
                <a:latin typeface="华文楷体" pitchFamily="2" charset="-122"/>
                <a:ea typeface="华文楷体" pitchFamily="2" charset="-122"/>
              </a:rPr>
              <a:t>步骤一：选择</a:t>
            </a:r>
            <a:r>
              <a:rPr lang="zh-CN" altLang="en-US" sz="5400" b="1" dirty="0">
                <a:solidFill>
                  <a:srgbClr val="FF0000"/>
                </a:solidFill>
                <a:latin typeface="华文楷体" pitchFamily="2" charset="-122"/>
                <a:ea typeface="华文楷体" pitchFamily="2" charset="-122"/>
              </a:rPr>
              <a:t>坍落度</a:t>
            </a:r>
          </a:p>
        </p:txBody>
      </p:sp>
      <p:sp>
        <p:nvSpPr>
          <p:cNvPr id="2" name="矩形 1"/>
          <p:cNvSpPr/>
          <p:nvPr/>
        </p:nvSpPr>
        <p:spPr>
          <a:xfrm>
            <a:off x="1043608" y="4815262"/>
            <a:ext cx="7572428" cy="1077218"/>
          </a:xfrm>
          <a:prstGeom prst="rect">
            <a:avLst/>
          </a:prstGeom>
        </p:spPr>
        <p:txBody>
          <a:bodyPr wrap="square">
            <a:spAutoFit/>
          </a:bodyPr>
          <a:lstStyle/>
          <a:p>
            <a:r>
              <a:rPr lang="zh-CN" altLang="en-US" sz="3200" dirty="0"/>
              <a:t>石子的最大粒径</a:t>
            </a:r>
            <a:r>
              <a:rPr lang="zh-CN" altLang="en-US" sz="3200" dirty="0" smtClean="0"/>
              <a:t>已给定</a:t>
            </a:r>
            <a:r>
              <a:rPr lang="zh-CN" altLang="en-US" sz="3200" dirty="0"/>
              <a:t>为</a:t>
            </a:r>
            <a:r>
              <a:rPr lang="en-US" altLang="zh-CN" sz="3200" dirty="0" smtClean="0"/>
              <a:t>20mm</a:t>
            </a:r>
          </a:p>
          <a:p>
            <a:r>
              <a:rPr lang="zh-CN" altLang="en-US" sz="3200" dirty="0" smtClean="0"/>
              <a:t>石子</a:t>
            </a:r>
            <a:r>
              <a:rPr lang="zh-CN" altLang="en-US" sz="3200" dirty="0"/>
              <a:t>为</a:t>
            </a:r>
            <a:r>
              <a:rPr lang="zh-CN" altLang="en-US" sz="3200" dirty="0" smtClean="0"/>
              <a:t>碎石</a:t>
            </a:r>
            <a:endParaRPr lang="zh-CN" alt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2699" y="176299"/>
            <a:ext cx="8229600" cy="1143000"/>
          </a:xfrm>
        </p:spPr>
        <p:txBody>
          <a:bodyPr>
            <a:normAutofit/>
          </a:bodyPr>
          <a:lstStyle/>
          <a:p>
            <a:pPr algn="l"/>
            <a:r>
              <a:rPr lang="zh-CN" altLang="en-US" sz="5400" b="1" dirty="0" smtClean="0">
                <a:solidFill>
                  <a:srgbClr val="FF0000"/>
                </a:solidFill>
                <a:latin typeface="华文楷体" pitchFamily="2" charset="-122"/>
                <a:ea typeface="华文楷体" pitchFamily="2" charset="-122"/>
              </a:rPr>
              <a:t>步骤三：</a:t>
            </a:r>
            <a:r>
              <a:rPr lang="zh-CN" altLang="en-US" sz="5400" b="1" dirty="0">
                <a:solidFill>
                  <a:srgbClr val="FF0000"/>
                </a:solidFill>
                <a:latin typeface="华文楷体" pitchFamily="2" charset="-122"/>
                <a:ea typeface="华文楷体" pitchFamily="2" charset="-122"/>
              </a:rPr>
              <a:t>用水量</a:t>
            </a:r>
            <a:r>
              <a:rPr lang="zh-CN" altLang="en-US" sz="5400" b="1" dirty="0" smtClean="0">
                <a:solidFill>
                  <a:srgbClr val="FF0000"/>
                </a:solidFill>
                <a:latin typeface="华文楷体" pitchFamily="2" charset="-122"/>
                <a:ea typeface="华文楷体" pitchFamily="2" charset="-122"/>
              </a:rPr>
              <a:t>计算</a:t>
            </a:r>
            <a:endParaRPr lang="zh-CN" altLang="en-US" sz="2400" b="1" dirty="0">
              <a:solidFill>
                <a:srgbClr val="FF0000"/>
              </a:solidFill>
              <a:latin typeface="华文楷体" pitchFamily="2" charset="-122"/>
              <a:ea typeface="华文楷体" pitchFamily="2" charset="-122"/>
            </a:endParaRPr>
          </a:p>
        </p:txBody>
      </p:sp>
      <p:pic>
        <p:nvPicPr>
          <p:cNvPr id="2050" name="Picture 2"/>
          <p:cNvPicPr>
            <a:picLocks noChangeAspect="1" noChangeArrowheads="1"/>
          </p:cNvPicPr>
          <p:nvPr/>
        </p:nvPicPr>
        <p:blipFill>
          <a:blip r:embed="rId2"/>
          <a:srcRect/>
          <a:stretch>
            <a:fillRect/>
          </a:stretch>
        </p:blipFill>
        <p:spPr bwMode="auto">
          <a:xfrm>
            <a:off x="928662" y="1112426"/>
            <a:ext cx="5876156" cy="2301211"/>
          </a:xfrm>
          <a:prstGeom prst="rect">
            <a:avLst/>
          </a:prstGeom>
          <a:noFill/>
          <a:ln w="9525">
            <a:noFill/>
            <a:miter lim="800000"/>
            <a:headEnd/>
            <a:tailEnd/>
          </a:ln>
          <a:effectLst/>
        </p:spPr>
      </p:pic>
      <p:sp>
        <p:nvSpPr>
          <p:cNvPr id="4" name="TextBox 3"/>
          <p:cNvSpPr txBox="1"/>
          <p:nvPr/>
        </p:nvSpPr>
        <p:spPr>
          <a:xfrm>
            <a:off x="964381" y="3435895"/>
            <a:ext cx="7429552" cy="1631216"/>
          </a:xfrm>
          <a:prstGeom prst="rect">
            <a:avLst/>
          </a:prstGeom>
          <a:noFill/>
        </p:spPr>
        <p:txBody>
          <a:bodyPr wrap="square" rtlCol="0">
            <a:spAutoFit/>
          </a:bodyPr>
          <a:lstStyle/>
          <a:p>
            <a:r>
              <a:rPr lang="zh-CN" altLang="en-US" sz="2000" dirty="0" smtClean="0"/>
              <a:t>根据：</a:t>
            </a:r>
            <a:endParaRPr lang="en-US" altLang="zh-CN" sz="2000" dirty="0" smtClean="0"/>
          </a:p>
          <a:p>
            <a:r>
              <a:rPr lang="en-US" altLang="zh-CN" sz="2000" dirty="0" smtClean="0"/>
              <a:t>1</a:t>
            </a:r>
            <a:r>
              <a:rPr lang="zh-CN" altLang="en-US" sz="2000" dirty="0" smtClean="0"/>
              <a:t>）以</a:t>
            </a:r>
            <a:r>
              <a:rPr lang="en-US" altLang="zh-CN" sz="2000" dirty="0" smtClean="0"/>
              <a:t>90mm</a:t>
            </a:r>
            <a:r>
              <a:rPr lang="zh-CN" altLang="en-US" sz="2000" dirty="0" smtClean="0"/>
              <a:t>坍落度</a:t>
            </a:r>
            <a:r>
              <a:rPr lang="zh-CN" altLang="en-US" sz="2000" dirty="0"/>
              <a:t>的用水量为</a:t>
            </a:r>
            <a:r>
              <a:rPr lang="zh-CN" altLang="en-US" sz="2000" dirty="0" smtClean="0"/>
              <a:t>基础，按坍落度</a:t>
            </a:r>
            <a:r>
              <a:rPr lang="zh-CN" altLang="en-US" sz="2000" dirty="0"/>
              <a:t>每</a:t>
            </a:r>
            <a:r>
              <a:rPr lang="zh-CN" altLang="en-US" sz="2000" dirty="0" smtClean="0"/>
              <a:t>增大</a:t>
            </a:r>
            <a:r>
              <a:rPr lang="en-US" altLang="zh-CN" sz="2000" dirty="0" smtClean="0"/>
              <a:t>20mm</a:t>
            </a:r>
            <a:r>
              <a:rPr lang="zh-CN" altLang="en-US" sz="2000" dirty="0" smtClean="0"/>
              <a:t>用水量</a:t>
            </a:r>
            <a:r>
              <a:rPr lang="en-US" altLang="zh-CN" sz="2000" dirty="0" smtClean="0"/>
              <a:t>5Kg/m^2</a:t>
            </a:r>
          </a:p>
          <a:p>
            <a:r>
              <a:rPr lang="en-US" altLang="zh-CN" sz="2000" dirty="0" smtClean="0"/>
              <a:t>2</a:t>
            </a:r>
            <a:r>
              <a:rPr lang="zh-CN" altLang="en-US" sz="2000" dirty="0" smtClean="0"/>
              <a:t>）粗砂减少</a:t>
            </a:r>
            <a:r>
              <a:rPr lang="en-US" altLang="zh-CN" sz="2000" dirty="0" smtClean="0"/>
              <a:t>5-10 Kg/m^2</a:t>
            </a:r>
          </a:p>
          <a:p>
            <a:r>
              <a:rPr lang="en-US" altLang="zh-CN" sz="2000" dirty="0" smtClean="0"/>
              <a:t>W=215+(240-90)/20*5-7.5=245 Kg/m^2</a:t>
            </a:r>
            <a:endParaRPr lang="en-US" altLang="zh-CN" sz="2000" dirty="0"/>
          </a:p>
        </p:txBody>
      </p:sp>
      <p:sp>
        <p:nvSpPr>
          <p:cNvPr id="7" name="TextBox 6"/>
          <p:cNvSpPr txBox="1"/>
          <p:nvPr/>
        </p:nvSpPr>
        <p:spPr>
          <a:xfrm>
            <a:off x="963988" y="5149746"/>
            <a:ext cx="7500990" cy="1015663"/>
          </a:xfrm>
          <a:prstGeom prst="rect">
            <a:avLst/>
          </a:prstGeom>
          <a:noFill/>
        </p:spPr>
        <p:txBody>
          <a:bodyPr wrap="square" rtlCol="0">
            <a:spAutoFit/>
          </a:bodyPr>
          <a:lstStyle/>
          <a:p>
            <a:r>
              <a:rPr lang="zh-CN" altLang="en-US" sz="2000" dirty="0"/>
              <a:t>配制中，为了降低水灰比，我们还要使用减水剂</a:t>
            </a:r>
            <a:r>
              <a:rPr lang="zh-CN" altLang="en-US" sz="2000" dirty="0" smtClean="0"/>
              <a:t>。</a:t>
            </a:r>
            <a:endParaRPr lang="en-US" altLang="zh-CN" sz="2000" dirty="0" smtClean="0"/>
          </a:p>
          <a:p>
            <a:r>
              <a:rPr lang="zh-CN" altLang="en-US" sz="2000" dirty="0" smtClean="0"/>
              <a:t>根据：</a:t>
            </a:r>
            <a:r>
              <a:rPr lang="en-US" altLang="zh-CN" sz="2000" dirty="0" smtClean="0"/>
              <a:t>C30</a:t>
            </a:r>
            <a:r>
              <a:rPr lang="en-US" altLang="zh-CN" sz="2000" dirty="0"/>
              <a:t>:</a:t>
            </a:r>
            <a:r>
              <a:rPr lang="zh-CN" altLang="en-US" sz="2000" dirty="0"/>
              <a:t>掺</a:t>
            </a:r>
            <a:r>
              <a:rPr lang="zh-CN" altLang="en-US" sz="2000" dirty="0" smtClean="0"/>
              <a:t>量</a:t>
            </a:r>
            <a:r>
              <a:rPr lang="en-US" altLang="zh-CN" sz="2000" dirty="0" smtClean="0"/>
              <a:t>0.8%          </a:t>
            </a:r>
            <a:r>
              <a:rPr lang="zh-CN" altLang="en-US" sz="2000" dirty="0"/>
              <a:t>减水率</a:t>
            </a:r>
            <a:r>
              <a:rPr lang="en-US" altLang="zh-CN" sz="2000" dirty="0" smtClean="0"/>
              <a:t>:20%</a:t>
            </a:r>
            <a:endParaRPr lang="en-US" altLang="zh-CN" sz="2000" dirty="0"/>
          </a:p>
          <a:p>
            <a:r>
              <a:rPr lang="en-US" altLang="zh-CN" sz="2000" dirty="0" smtClean="0"/>
              <a:t>W=(1-0.2)*245=</a:t>
            </a:r>
            <a:r>
              <a:rPr lang="en-US" altLang="zh-CN" sz="2000" b="1" dirty="0" smtClean="0">
                <a:solidFill>
                  <a:srgbClr val="FF0000"/>
                </a:solidFill>
              </a:rPr>
              <a:t>196</a:t>
            </a:r>
            <a:r>
              <a:rPr lang="en-US" altLang="zh-CN" sz="2000" dirty="0" smtClean="0">
                <a:solidFill>
                  <a:srgbClr val="FF0000"/>
                </a:solidFill>
              </a:rPr>
              <a:t> </a:t>
            </a:r>
            <a:r>
              <a:rPr lang="en-US" altLang="zh-CN" sz="2000" dirty="0" smtClean="0"/>
              <a:t> Kg/m^2</a:t>
            </a:r>
            <a:endParaRPr lang="en-US" altLang="zh-CN"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标题 2"/>
          <p:cNvSpPr>
            <a:spLocks noGrp="1"/>
          </p:cNvSpPr>
          <p:nvPr>
            <p:ph type="title"/>
          </p:nvPr>
        </p:nvSpPr>
        <p:spPr>
          <a:xfrm>
            <a:off x="285720" y="274638"/>
            <a:ext cx="8572560" cy="1143000"/>
          </a:xfrm>
        </p:spPr>
        <p:txBody>
          <a:bodyPr>
            <a:normAutofit/>
          </a:bodyPr>
          <a:lstStyle/>
          <a:p>
            <a:pPr algn="l"/>
            <a:r>
              <a:rPr lang="zh-CN" altLang="en-US" sz="4800" b="1" dirty="0" smtClean="0">
                <a:solidFill>
                  <a:srgbClr val="FF0000"/>
                </a:solidFill>
                <a:latin typeface="华文楷体" pitchFamily="2" charset="-122"/>
                <a:ea typeface="华文楷体" pitchFamily="2" charset="-122"/>
              </a:rPr>
              <a:t>粉煤灰掺量</a:t>
            </a:r>
            <a:r>
              <a:rPr lang="zh-CN" altLang="en-US" sz="1600" b="1" dirty="0" smtClean="0">
                <a:solidFill>
                  <a:srgbClr val="FF0000"/>
                </a:solidFill>
                <a:latin typeface="华文楷体" pitchFamily="2" charset="-122"/>
                <a:ea typeface="华文楷体" pitchFamily="2" charset="-122"/>
              </a:rPr>
              <a:t>（用以提高坍落度和坍落扩展度，但会一定程度上影响强度）</a:t>
            </a:r>
            <a:endParaRPr lang="zh-CN" altLang="en-US" sz="1600" b="1" dirty="0">
              <a:solidFill>
                <a:srgbClr val="FF0000"/>
              </a:solidFill>
              <a:latin typeface="华文楷体" pitchFamily="2" charset="-122"/>
              <a:ea typeface="华文楷体" pitchFamily="2" charset="-122"/>
            </a:endParaRPr>
          </a:p>
        </p:txBody>
      </p:sp>
      <p:sp>
        <p:nvSpPr>
          <p:cNvPr id="8" name="TextBox 7"/>
          <p:cNvSpPr txBox="1"/>
          <p:nvPr/>
        </p:nvSpPr>
        <p:spPr>
          <a:xfrm>
            <a:off x="500034" y="1500174"/>
            <a:ext cx="3143272" cy="5170646"/>
          </a:xfrm>
          <a:prstGeom prst="rect">
            <a:avLst/>
          </a:prstGeom>
          <a:noFill/>
        </p:spPr>
        <p:txBody>
          <a:bodyPr wrap="square" rtlCol="0">
            <a:spAutoFit/>
          </a:bodyPr>
          <a:lstStyle/>
          <a:p>
            <a:r>
              <a:rPr lang="zh-CN" altLang="en-US" sz="2400" dirty="0" smtClean="0"/>
              <a:t>试验表明，</a:t>
            </a:r>
            <a:r>
              <a:rPr lang="zh-CN" altLang="en-US" sz="2400" dirty="0"/>
              <a:t>在粉煤灰掺量小时，自密实混凝土的坍落度和坍落扩展度随粉煤灰掺量的增加而逐渐增大，而超过</a:t>
            </a:r>
            <a:r>
              <a:rPr lang="en-US" sz="2400" dirty="0"/>
              <a:t>30%</a:t>
            </a:r>
            <a:r>
              <a:rPr lang="zh-CN" altLang="en-US" sz="2400" dirty="0"/>
              <a:t>时，坍落度增长趋于平稳，而超过</a:t>
            </a:r>
            <a:r>
              <a:rPr lang="en-US" sz="2400" dirty="0"/>
              <a:t>40%</a:t>
            </a:r>
            <a:r>
              <a:rPr lang="zh-CN" altLang="en-US" sz="2400" dirty="0"/>
              <a:t>时会随着粉煤灰掺量的增大而减小，因此从提高坍落度和坍落扩展度的角度来说粉煤灰掺量在</a:t>
            </a:r>
            <a:r>
              <a:rPr lang="en-US" sz="2400" dirty="0"/>
              <a:t>30%</a:t>
            </a:r>
            <a:r>
              <a:rPr lang="zh-CN" altLang="en-US" sz="2400" dirty="0"/>
              <a:t>左右为</a:t>
            </a:r>
            <a:r>
              <a:rPr lang="zh-CN" altLang="en-US" sz="2400" dirty="0" smtClean="0"/>
              <a:t>最佳</a:t>
            </a:r>
            <a:r>
              <a:rPr lang="zh-CN" altLang="en-US" sz="2400" dirty="0"/>
              <a:t>。</a:t>
            </a:r>
          </a:p>
          <a:p>
            <a:endParaRPr lang="zh-CN" altLang="en-US" dirty="0"/>
          </a:p>
        </p:txBody>
      </p:sp>
      <p:pic>
        <p:nvPicPr>
          <p:cNvPr id="9" name="图片 8"/>
          <p:cNvPicPr/>
          <p:nvPr/>
        </p:nvPicPr>
        <p:blipFill>
          <a:blip r:embed="rId2"/>
          <a:srcRect/>
          <a:stretch>
            <a:fillRect/>
          </a:stretch>
        </p:blipFill>
        <p:spPr bwMode="auto">
          <a:xfrm>
            <a:off x="3571868" y="1857364"/>
            <a:ext cx="5357851" cy="31432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2"/>
          <a:srcRect/>
          <a:stretch>
            <a:fillRect/>
          </a:stretch>
        </p:blipFill>
        <p:spPr bwMode="auto">
          <a:xfrm>
            <a:off x="4786314" y="428604"/>
            <a:ext cx="3643338" cy="2428892"/>
          </a:xfrm>
          <a:prstGeom prst="rect">
            <a:avLst/>
          </a:prstGeom>
          <a:noFill/>
          <a:ln w="9525">
            <a:noFill/>
            <a:miter lim="800000"/>
            <a:headEnd/>
            <a:tailEnd/>
          </a:ln>
        </p:spPr>
      </p:pic>
      <p:pic>
        <p:nvPicPr>
          <p:cNvPr id="4" name="图片 3"/>
          <p:cNvPicPr/>
          <p:nvPr/>
        </p:nvPicPr>
        <p:blipFill>
          <a:blip r:embed="rId3"/>
          <a:srcRect/>
          <a:stretch>
            <a:fillRect/>
          </a:stretch>
        </p:blipFill>
        <p:spPr bwMode="auto">
          <a:xfrm>
            <a:off x="357158" y="3071810"/>
            <a:ext cx="3571900" cy="2114555"/>
          </a:xfrm>
          <a:prstGeom prst="rect">
            <a:avLst/>
          </a:prstGeom>
          <a:noFill/>
          <a:ln w="9525">
            <a:noFill/>
            <a:miter lim="800000"/>
            <a:headEnd/>
            <a:tailEnd/>
          </a:ln>
        </p:spPr>
      </p:pic>
      <p:sp>
        <p:nvSpPr>
          <p:cNvPr id="5" name="TextBox 4"/>
          <p:cNvSpPr txBox="1"/>
          <p:nvPr/>
        </p:nvSpPr>
        <p:spPr>
          <a:xfrm>
            <a:off x="428596" y="714356"/>
            <a:ext cx="4214842" cy="1908215"/>
          </a:xfrm>
          <a:prstGeom prst="rect">
            <a:avLst/>
          </a:prstGeom>
          <a:noFill/>
        </p:spPr>
        <p:txBody>
          <a:bodyPr wrap="square" rtlCol="0">
            <a:spAutoFit/>
          </a:bodyPr>
          <a:lstStyle/>
          <a:p>
            <a:r>
              <a:rPr lang="zh-CN" altLang="en-US" sz="2000" dirty="0"/>
              <a:t>从抗压强度的角度来说，随着粉煤灰掺量的增大混凝土的抗压强度减小。而粉煤灰掺量超过</a:t>
            </a:r>
            <a:r>
              <a:rPr lang="en-US" sz="2000" dirty="0"/>
              <a:t>40%</a:t>
            </a:r>
            <a:r>
              <a:rPr lang="zh-CN" altLang="en-US" sz="2000" dirty="0"/>
              <a:t>时抗压强度减小得更为明显，所以粉煤灰的掺量应该控制在</a:t>
            </a:r>
            <a:r>
              <a:rPr lang="en-US" sz="2000" dirty="0"/>
              <a:t>40</a:t>
            </a:r>
            <a:r>
              <a:rPr lang="en-US" sz="2000" dirty="0" smtClean="0"/>
              <a:t>%</a:t>
            </a:r>
            <a:r>
              <a:rPr lang="zh-CN" altLang="en-US" sz="2000" dirty="0" smtClean="0"/>
              <a:t>以下</a:t>
            </a:r>
            <a:endParaRPr lang="zh-CN" altLang="en-US" sz="2000" dirty="0"/>
          </a:p>
          <a:p>
            <a:endParaRPr lang="zh-CN" altLang="en-US" dirty="0"/>
          </a:p>
        </p:txBody>
      </p:sp>
      <p:sp>
        <p:nvSpPr>
          <p:cNvPr id="6" name="TextBox 5"/>
          <p:cNvSpPr txBox="1"/>
          <p:nvPr/>
        </p:nvSpPr>
        <p:spPr>
          <a:xfrm>
            <a:off x="4429124" y="3000372"/>
            <a:ext cx="4214842" cy="2215991"/>
          </a:xfrm>
          <a:prstGeom prst="rect">
            <a:avLst/>
          </a:prstGeom>
          <a:noFill/>
        </p:spPr>
        <p:txBody>
          <a:bodyPr wrap="square" rtlCol="0">
            <a:spAutoFit/>
          </a:bodyPr>
          <a:lstStyle/>
          <a:p>
            <a:r>
              <a:rPr lang="zh-CN" altLang="en-US" sz="2000" dirty="0"/>
              <a:t>从抗折强度的角度来说粉煤灰的掺量在</a:t>
            </a:r>
            <a:r>
              <a:rPr lang="en-US" sz="2000" dirty="0"/>
              <a:t>20%~40%</a:t>
            </a:r>
            <a:r>
              <a:rPr lang="zh-CN" altLang="en-US" sz="2000" dirty="0"/>
              <a:t>之间时，混凝土的抗折强度可以保持在一个较为稳定的区间内，超过</a:t>
            </a:r>
            <a:r>
              <a:rPr lang="en-US" sz="2000" dirty="0"/>
              <a:t>40%</a:t>
            </a:r>
            <a:r>
              <a:rPr lang="zh-CN" altLang="en-US" sz="2000" dirty="0"/>
              <a:t>混凝土的抗折强度下降程度会显著增加，所以粉煤灰掺量应该控制在</a:t>
            </a:r>
            <a:r>
              <a:rPr lang="en-US" sz="2000" dirty="0"/>
              <a:t>20%~40%</a:t>
            </a:r>
            <a:r>
              <a:rPr lang="zh-CN" altLang="en-US" sz="2000" dirty="0"/>
              <a:t>之间</a:t>
            </a:r>
          </a:p>
          <a:p>
            <a:endParaRPr lang="zh-CN" altLang="en-US" dirty="0"/>
          </a:p>
        </p:txBody>
      </p:sp>
      <p:sp>
        <p:nvSpPr>
          <p:cNvPr id="7" name="TextBox 6"/>
          <p:cNvSpPr txBox="1"/>
          <p:nvPr/>
        </p:nvSpPr>
        <p:spPr>
          <a:xfrm>
            <a:off x="1000100" y="5357826"/>
            <a:ext cx="7286676" cy="646331"/>
          </a:xfrm>
          <a:prstGeom prst="rect">
            <a:avLst/>
          </a:prstGeom>
          <a:noFill/>
        </p:spPr>
        <p:txBody>
          <a:bodyPr wrap="square" rtlCol="0">
            <a:spAutoFit/>
          </a:bodyPr>
          <a:lstStyle/>
          <a:p>
            <a:r>
              <a:rPr lang="zh-CN" altLang="en-US" sz="3600" b="1" dirty="0" smtClean="0">
                <a:solidFill>
                  <a:srgbClr val="FF0000"/>
                </a:solidFill>
                <a:latin typeface="华文楷体" pitchFamily="2" charset="-122"/>
                <a:ea typeface="华文楷体" pitchFamily="2" charset="-122"/>
              </a:rPr>
              <a:t>所以，我们选择粉煤灰用量为</a:t>
            </a:r>
            <a:r>
              <a:rPr lang="en-US" altLang="zh-CN" sz="3600" b="1" dirty="0" smtClean="0">
                <a:solidFill>
                  <a:srgbClr val="FF0000"/>
                </a:solidFill>
                <a:latin typeface="华文楷体" pitchFamily="2" charset="-122"/>
                <a:ea typeface="华文楷体" pitchFamily="2" charset="-122"/>
              </a:rPr>
              <a:t>30%</a:t>
            </a:r>
            <a:endParaRPr lang="zh-CN" altLang="en-US" sz="3600" b="1" dirty="0">
              <a:solidFill>
                <a:srgbClr val="FF0000"/>
              </a:solidFill>
              <a:latin typeface="华文楷体" pitchFamily="2" charset="-122"/>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428604"/>
            <a:ext cx="8143900" cy="830997"/>
          </a:xfrm>
          <a:prstGeom prst="rect">
            <a:avLst/>
          </a:prstGeom>
          <a:noFill/>
        </p:spPr>
        <p:txBody>
          <a:bodyPr wrap="square" rtlCol="0">
            <a:spAutoFit/>
          </a:bodyPr>
          <a:lstStyle/>
          <a:p>
            <a:r>
              <a:rPr lang="zh-CN" altLang="en-US" sz="4800" b="1" dirty="0" smtClean="0">
                <a:solidFill>
                  <a:srgbClr val="FF0000"/>
                </a:solidFill>
                <a:latin typeface="华文楷体" pitchFamily="2" charset="-122"/>
                <a:ea typeface="华文楷体" pitchFamily="2" charset="-122"/>
              </a:rPr>
              <a:t>步骤四：</a:t>
            </a:r>
            <a:r>
              <a:rPr lang="zh-CN" altLang="en-US" sz="4800" b="1" dirty="0">
                <a:solidFill>
                  <a:srgbClr val="FF0000"/>
                </a:solidFill>
                <a:latin typeface="华文楷体" pitchFamily="2" charset="-122"/>
                <a:ea typeface="华文楷体" pitchFamily="2" charset="-122"/>
              </a:rPr>
              <a:t>计算</a:t>
            </a:r>
            <a:r>
              <a:rPr lang="zh-CN" altLang="en-US" sz="4800" b="1" dirty="0" smtClean="0">
                <a:solidFill>
                  <a:srgbClr val="FF0000"/>
                </a:solidFill>
                <a:latin typeface="华文楷体" pitchFamily="2" charset="-122"/>
                <a:ea typeface="华文楷体" pitchFamily="2" charset="-122"/>
              </a:rPr>
              <a:t>水胶比</a:t>
            </a:r>
            <a:endParaRPr lang="zh-CN" altLang="en-US" sz="4800" b="1" dirty="0">
              <a:solidFill>
                <a:srgbClr val="FF0000"/>
              </a:solidFill>
              <a:latin typeface="华文楷体" pitchFamily="2" charset="-122"/>
              <a:ea typeface="华文楷体" pitchFamily="2" charset="-122"/>
            </a:endParaRPr>
          </a:p>
        </p:txBody>
      </p:sp>
      <p:graphicFrame>
        <p:nvGraphicFramePr>
          <p:cNvPr id="11" name="Object 2"/>
          <p:cNvGraphicFramePr>
            <a:graphicFrameLocks noChangeAspect="1"/>
          </p:cNvGraphicFramePr>
          <p:nvPr>
            <p:extLst>
              <p:ext uri="{D42A27DB-BD31-4B8C-83A1-F6EECF244321}">
                <p14:modId xmlns:p14="http://schemas.microsoft.com/office/powerpoint/2010/main" val="713045503"/>
              </p:ext>
            </p:extLst>
          </p:nvPr>
        </p:nvGraphicFramePr>
        <p:xfrm>
          <a:off x="5796135" y="2814365"/>
          <a:ext cx="3179763" cy="642938"/>
        </p:xfrm>
        <a:graphic>
          <a:graphicData uri="http://schemas.openxmlformats.org/presentationml/2006/ole">
            <mc:AlternateContent xmlns:mc="http://schemas.openxmlformats.org/markup-compatibility/2006">
              <mc:Choice xmlns:v="urn:schemas-microsoft-com:vml" Requires="v">
                <p:oleObj spid="_x0000_s2058" name="Equation" r:id="rId3" imgW="1193760" imgH="241200" progId="Equation.3">
                  <p:embed/>
                </p:oleObj>
              </mc:Choice>
              <mc:Fallback>
                <p:oleObj name="Equation" r:id="rId3" imgW="119376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5" y="2814365"/>
                        <a:ext cx="3179763" cy="6429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图片 5"/>
          <p:cNvPicPr>
            <a:picLocks noChangeAspect="1"/>
          </p:cNvPicPr>
          <p:nvPr/>
        </p:nvPicPr>
        <p:blipFill>
          <a:blip r:embed="rId5"/>
          <a:stretch>
            <a:fillRect/>
          </a:stretch>
        </p:blipFill>
        <p:spPr>
          <a:xfrm>
            <a:off x="467544" y="1412027"/>
            <a:ext cx="5041841" cy="3447614"/>
          </a:xfrm>
          <a:prstGeom prst="rect">
            <a:avLst/>
          </a:prstGeom>
        </p:spPr>
      </p:pic>
      <p:sp>
        <p:nvSpPr>
          <p:cNvPr id="14" name="文本框 13"/>
          <p:cNvSpPr txBox="1"/>
          <p:nvPr/>
        </p:nvSpPr>
        <p:spPr>
          <a:xfrm>
            <a:off x="968124" y="5733256"/>
            <a:ext cx="6048672" cy="461665"/>
          </a:xfrm>
          <a:prstGeom prst="rect">
            <a:avLst/>
          </a:prstGeom>
          <a:noFill/>
        </p:spPr>
        <p:txBody>
          <a:bodyPr wrap="square" rtlCol="0">
            <a:spAutoFit/>
          </a:bodyPr>
          <a:lstStyle/>
          <a:p>
            <a:r>
              <a:rPr lang="en-US" altLang="zh-CN" sz="2400" dirty="0" smtClean="0"/>
              <a:t>fb=1.1*0.7*1.0*55.0=42.35 </a:t>
            </a:r>
            <a:r>
              <a:rPr lang="en-US" altLang="zh-CN" sz="2400" dirty="0" err="1" smtClean="0"/>
              <a:t>MPa</a:t>
            </a:r>
            <a:endParaRPr lang="zh-CN" altLang="en-US" sz="2400" dirty="0"/>
          </a:p>
        </p:txBody>
      </p:sp>
      <p:sp>
        <p:nvSpPr>
          <p:cNvPr id="15" name="TextBox 6"/>
          <p:cNvSpPr txBox="1"/>
          <p:nvPr/>
        </p:nvSpPr>
        <p:spPr>
          <a:xfrm>
            <a:off x="947550" y="5012067"/>
            <a:ext cx="8249000" cy="830997"/>
          </a:xfrm>
          <a:prstGeom prst="rect">
            <a:avLst/>
          </a:prstGeom>
          <a:noFill/>
        </p:spPr>
        <p:txBody>
          <a:bodyPr wrap="square" rtlCol="0">
            <a:spAutoFit/>
          </a:bodyPr>
          <a:lstStyle/>
          <a:p>
            <a:r>
              <a:rPr lang="zh-CN" altLang="en-US" sz="2400" dirty="0" smtClean="0"/>
              <a:t>给出水泥胶砂强度的标准值为</a:t>
            </a:r>
            <a:r>
              <a:rPr lang="en-US" altLang="zh-CN" sz="2400" dirty="0" smtClean="0">
                <a:latin typeface="Times New Roman" pitchFamily="18" charset="0"/>
                <a:cs typeface="Times New Roman" pitchFamily="18" charset="0"/>
              </a:rPr>
              <a:t>55.0MPa,</a:t>
            </a:r>
            <a:r>
              <a:rPr lang="zh-CN" altLang="en-US" sz="2400" dirty="0" smtClean="0">
                <a:latin typeface="Times New Roman" pitchFamily="18" charset="0"/>
                <a:cs typeface="Times New Roman" pitchFamily="18" charset="0"/>
              </a:rPr>
              <a:t>所以根据经验公式</a:t>
            </a:r>
            <a:endParaRPr lang="en-US" altLang="zh-CN" sz="2400" dirty="0" smtClean="0">
              <a:latin typeface="Times New Roman" pitchFamily="18" charset="0"/>
              <a:cs typeface="Times New Roman" pitchFamily="18" charset="0"/>
            </a:endParaRPr>
          </a:p>
          <a:p>
            <a:r>
              <a:rPr lang="zh-CN" altLang="en-US" sz="2400" dirty="0" smtClean="0">
                <a:latin typeface="Times New Roman" pitchFamily="18" charset="0"/>
                <a:cs typeface="Times New Roman" pitchFamily="18" charset="0"/>
              </a:rPr>
              <a:t>计算</a:t>
            </a:r>
            <a:r>
              <a:rPr lang="zh-CN" altLang="en-US" sz="2400" dirty="0"/>
              <a:t>胶砂</a:t>
            </a:r>
            <a:r>
              <a:rPr lang="zh-CN" altLang="en-US" sz="2400" dirty="0" smtClean="0"/>
              <a:t>强度：</a:t>
            </a:r>
            <a:endParaRPr lang="zh-CN" alt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5178185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428604"/>
            <a:ext cx="8143900" cy="830997"/>
          </a:xfrm>
          <a:prstGeom prst="rect">
            <a:avLst/>
          </a:prstGeom>
          <a:noFill/>
        </p:spPr>
        <p:txBody>
          <a:bodyPr wrap="square" rtlCol="0">
            <a:spAutoFit/>
          </a:bodyPr>
          <a:lstStyle/>
          <a:p>
            <a:r>
              <a:rPr lang="zh-CN" altLang="en-US" sz="4800" b="1" dirty="0" smtClean="0">
                <a:solidFill>
                  <a:srgbClr val="FF0000"/>
                </a:solidFill>
                <a:latin typeface="华文楷体" pitchFamily="2" charset="-122"/>
                <a:ea typeface="华文楷体" pitchFamily="2" charset="-122"/>
              </a:rPr>
              <a:t>步骤四：</a:t>
            </a:r>
            <a:r>
              <a:rPr lang="zh-CN" altLang="en-US" sz="4800" b="1" dirty="0">
                <a:solidFill>
                  <a:srgbClr val="FF0000"/>
                </a:solidFill>
                <a:latin typeface="华文楷体" pitchFamily="2" charset="-122"/>
                <a:ea typeface="华文楷体" pitchFamily="2" charset="-122"/>
              </a:rPr>
              <a:t>计算</a:t>
            </a:r>
            <a:r>
              <a:rPr lang="zh-CN" altLang="en-US" sz="4800" b="1" dirty="0" smtClean="0">
                <a:solidFill>
                  <a:srgbClr val="FF0000"/>
                </a:solidFill>
                <a:latin typeface="华文楷体" pitchFamily="2" charset="-122"/>
                <a:ea typeface="华文楷体" pitchFamily="2" charset="-122"/>
              </a:rPr>
              <a:t>水胶比</a:t>
            </a:r>
            <a:endParaRPr lang="zh-CN" altLang="en-US" sz="4800" b="1" dirty="0">
              <a:solidFill>
                <a:srgbClr val="FF0000"/>
              </a:solidFill>
              <a:latin typeface="华文楷体" pitchFamily="2" charset="-122"/>
              <a:ea typeface="华文楷体" pitchFamily="2" charset="-122"/>
            </a:endParaRPr>
          </a:p>
        </p:txBody>
      </p:sp>
      <p:pic>
        <p:nvPicPr>
          <p:cNvPr id="3074" name="Picture 2"/>
          <p:cNvPicPr>
            <a:picLocks noChangeAspect="1" noChangeArrowheads="1"/>
          </p:cNvPicPr>
          <p:nvPr/>
        </p:nvPicPr>
        <p:blipFill>
          <a:blip r:embed="rId3"/>
          <a:srcRect/>
          <a:stretch>
            <a:fillRect/>
          </a:stretch>
        </p:blipFill>
        <p:spPr bwMode="auto">
          <a:xfrm>
            <a:off x="1000100" y="1796442"/>
            <a:ext cx="2500336" cy="500066"/>
          </a:xfrm>
          <a:prstGeom prst="rect">
            <a:avLst/>
          </a:prstGeom>
          <a:noFill/>
          <a:ln w="9525">
            <a:noFill/>
            <a:miter lim="800000"/>
            <a:headEnd/>
            <a:tailEnd/>
          </a:ln>
          <a:effectLst/>
        </p:spPr>
      </p:pic>
      <p:sp>
        <p:nvSpPr>
          <p:cNvPr id="4" name="TextBox 3"/>
          <p:cNvSpPr txBox="1"/>
          <p:nvPr/>
        </p:nvSpPr>
        <p:spPr>
          <a:xfrm>
            <a:off x="500034" y="1357298"/>
            <a:ext cx="6286544" cy="461665"/>
          </a:xfrm>
          <a:prstGeom prst="rect">
            <a:avLst/>
          </a:prstGeom>
          <a:noFill/>
        </p:spPr>
        <p:txBody>
          <a:bodyPr wrap="square" rtlCol="0">
            <a:spAutoFit/>
          </a:bodyPr>
          <a:lstStyle/>
          <a:p>
            <a:r>
              <a:rPr lang="zh-CN" altLang="en-US" sz="2400" dirty="0" smtClean="0"/>
              <a:t>根据下面公式计算混凝土的配制强度</a:t>
            </a:r>
            <a:r>
              <a:rPr lang="zh-CN" altLang="en-US" sz="2000" dirty="0" smtClean="0"/>
              <a:t>：</a:t>
            </a:r>
            <a:endParaRPr lang="zh-CN" altLang="en-US" sz="2000" dirty="0"/>
          </a:p>
        </p:txBody>
      </p:sp>
      <p:sp>
        <p:nvSpPr>
          <p:cNvPr id="5" name="TextBox 4"/>
          <p:cNvSpPr txBox="1"/>
          <p:nvPr/>
        </p:nvSpPr>
        <p:spPr>
          <a:xfrm>
            <a:off x="500034" y="2214554"/>
            <a:ext cx="7858180" cy="830997"/>
          </a:xfrm>
          <a:prstGeom prst="rect">
            <a:avLst/>
          </a:prstGeom>
          <a:noFill/>
        </p:spPr>
        <p:txBody>
          <a:bodyPr wrap="square" rtlCol="0">
            <a:spAutoFit/>
          </a:bodyPr>
          <a:lstStyle/>
          <a:p>
            <a:r>
              <a:rPr lang="zh-CN" altLang="en-US" sz="2400" dirty="0" smtClean="0"/>
              <a:t>一般</a:t>
            </a:r>
            <a:r>
              <a:rPr lang="en-US" altLang="zh-CN" sz="2400" dirty="0" smtClean="0"/>
              <a:t>σ=5</a:t>
            </a:r>
            <a:r>
              <a:rPr lang="zh-CN" altLang="en-US" sz="2400" dirty="0" smtClean="0"/>
              <a:t>，因此，混凝土的配制强度为</a:t>
            </a:r>
            <a:endParaRPr lang="en-US" altLang="zh-CN" sz="2400" dirty="0" smtClean="0"/>
          </a:p>
          <a:p>
            <a:endParaRPr lang="en-US" altLang="zh-CN" sz="2400" dirty="0"/>
          </a:p>
        </p:txBody>
      </p:sp>
      <p:pic>
        <p:nvPicPr>
          <p:cNvPr id="3075" name="Picture 3"/>
          <p:cNvPicPr>
            <a:picLocks noChangeAspect="1" noChangeArrowheads="1"/>
          </p:cNvPicPr>
          <p:nvPr/>
        </p:nvPicPr>
        <p:blipFill>
          <a:blip r:embed="rId4"/>
          <a:srcRect/>
          <a:stretch>
            <a:fillRect/>
          </a:stretch>
        </p:blipFill>
        <p:spPr bwMode="auto">
          <a:xfrm>
            <a:off x="1000100" y="2714620"/>
            <a:ext cx="4143404" cy="350908"/>
          </a:xfrm>
          <a:prstGeom prst="rect">
            <a:avLst/>
          </a:prstGeom>
          <a:noFill/>
          <a:ln w="9525">
            <a:noFill/>
            <a:miter lim="800000"/>
            <a:headEnd/>
            <a:tailEnd/>
          </a:ln>
          <a:effectLst/>
        </p:spPr>
      </p:pic>
      <p:sp>
        <p:nvSpPr>
          <p:cNvPr id="7" name="TextBox 6"/>
          <p:cNvSpPr txBox="1"/>
          <p:nvPr/>
        </p:nvSpPr>
        <p:spPr>
          <a:xfrm>
            <a:off x="571472" y="3071810"/>
            <a:ext cx="8249000" cy="461665"/>
          </a:xfrm>
          <a:prstGeom prst="rect">
            <a:avLst/>
          </a:prstGeom>
          <a:noFill/>
        </p:spPr>
        <p:txBody>
          <a:bodyPr wrap="square" rtlCol="0">
            <a:spAutoFit/>
          </a:bodyPr>
          <a:lstStyle/>
          <a:p>
            <a:r>
              <a:rPr lang="zh-CN" altLang="en-US" sz="2400" dirty="0" smtClean="0"/>
              <a:t>计算得胶砂强度的标准值为</a:t>
            </a:r>
            <a:r>
              <a:rPr lang="en-US" altLang="zh-CN" sz="2400" dirty="0"/>
              <a:t>42.35MP</a:t>
            </a:r>
            <a:r>
              <a:rPr lang="en-US" altLang="zh-CN" sz="2400" dirty="0" smtClean="0">
                <a:latin typeface="Times New Roman" pitchFamily="18" charset="0"/>
                <a:cs typeface="Times New Roman" pitchFamily="18" charset="0"/>
              </a:rPr>
              <a:t>a,</a:t>
            </a:r>
            <a:r>
              <a:rPr lang="zh-CN" altLang="en-US" sz="2400" dirty="0" smtClean="0">
                <a:latin typeface="Times New Roman" pitchFamily="18" charset="0"/>
                <a:cs typeface="Times New Roman" pitchFamily="18" charset="0"/>
              </a:rPr>
              <a:t>所以根据经验公式</a:t>
            </a:r>
          </a:p>
        </p:txBody>
      </p:sp>
      <p:sp>
        <p:nvSpPr>
          <p:cNvPr id="9" name="TextBox 8"/>
          <p:cNvSpPr txBox="1"/>
          <p:nvPr/>
        </p:nvSpPr>
        <p:spPr>
          <a:xfrm>
            <a:off x="827584" y="5085184"/>
            <a:ext cx="7786742" cy="1477328"/>
          </a:xfrm>
          <a:prstGeom prst="rect">
            <a:avLst/>
          </a:prstGeom>
          <a:noFill/>
        </p:spPr>
        <p:txBody>
          <a:bodyPr wrap="square" rtlCol="0">
            <a:spAutoFit/>
          </a:bodyPr>
          <a:lstStyle/>
          <a:p>
            <a:r>
              <a:rPr lang="zh-CN" altLang="en-US" sz="2400" dirty="0"/>
              <a:t>式中的</a:t>
            </a:r>
            <a:r>
              <a:rPr lang="en-US" sz="2400" dirty="0"/>
              <a:t>A</a:t>
            </a:r>
            <a:r>
              <a:rPr lang="zh-CN" altLang="en-US" sz="2400" dirty="0"/>
              <a:t>、</a:t>
            </a:r>
            <a:r>
              <a:rPr lang="en-US" sz="2400" dirty="0"/>
              <a:t>B</a:t>
            </a:r>
            <a:r>
              <a:rPr lang="zh-CN" altLang="en-US" sz="2400" dirty="0"/>
              <a:t>为</a:t>
            </a:r>
            <a:r>
              <a:rPr lang="zh-CN" altLang="en-US" sz="2400" dirty="0" smtClean="0"/>
              <a:t>回归系数。回归系数</a:t>
            </a:r>
            <a:r>
              <a:rPr lang="en-US" sz="2400" dirty="0"/>
              <a:t>A</a:t>
            </a:r>
            <a:r>
              <a:rPr lang="zh-CN" altLang="en-US" sz="2400" dirty="0"/>
              <a:t>和</a:t>
            </a:r>
            <a:r>
              <a:rPr lang="en-US" sz="2400" dirty="0" smtClean="0"/>
              <a:t>B</a:t>
            </a:r>
            <a:r>
              <a:rPr lang="zh-CN" altLang="en-US" sz="2400" dirty="0" smtClean="0"/>
              <a:t>，</a:t>
            </a:r>
            <a:r>
              <a:rPr lang="zh-CN" altLang="en-US" sz="2400" dirty="0"/>
              <a:t>对碎石混凝土</a:t>
            </a:r>
            <a:r>
              <a:rPr lang="en-US" sz="2400" dirty="0" smtClean="0"/>
              <a:t>A=0.53</a:t>
            </a:r>
            <a:r>
              <a:rPr lang="zh-CN" altLang="en-US" sz="2400" dirty="0" smtClean="0"/>
              <a:t>，</a:t>
            </a:r>
            <a:r>
              <a:rPr lang="en-US" sz="2400" dirty="0" smtClean="0"/>
              <a:t>B=0.20</a:t>
            </a:r>
            <a:endParaRPr lang="en-US" altLang="zh-CN" sz="2400" b="1" dirty="0">
              <a:solidFill>
                <a:srgbClr val="FF0000"/>
              </a:solidFill>
            </a:endParaRPr>
          </a:p>
          <a:p>
            <a:r>
              <a:rPr lang="zh-CN" altLang="en-US" sz="2400" dirty="0" smtClean="0"/>
              <a:t>带入公式计算得到水灰比为</a:t>
            </a:r>
            <a:r>
              <a:rPr lang="en-US" altLang="zh-CN" sz="2400" b="1" dirty="0" smtClean="0">
                <a:solidFill>
                  <a:srgbClr val="FF0000"/>
                </a:solidFill>
              </a:rPr>
              <a:t>0.5255</a:t>
            </a:r>
            <a:endParaRPr lang="zh-CN" altLang="en-US" sz="2400" b="1" dirty="0">
              <a:solidFill>
                <a:srgbClr val="FF0000"/>
              </a:solidFill>
            </a:endParaRPr>
          </a:p>
          <a:p>
            <a:endParaRPr lang="zh-CN" altLang="en-US" dirty="0"/>
          </a:p>
        </p:txBody>
      </p:sp>
      <p:graphicFrame>
        <p:nvGraphicFramePr>
          <p:cNvPr id="13" name="Object 11"/>
          <p:cNvGraphicFramePr>
            <a:graphicFrameLocks noChangeAspect="1"/>
          </p:cNvGraphicFramePr>
          <p:nvPr>
            <p:extLst>
              <p:ext uri="{D42A27DB-BD31-4B8C-83A1-F6EECF244321}">
                <p14:modId xmlns:p14="http://schemas.microsoft.com/office/powerpoint/2010/main" val="2408180645"/>
              </p:ext>
            </p:extLst>
          </p:nvPr>
        </p:nvGraphicFramePr>
        <p:xfrm>
          <a:off x="983076" y="3631172"/>
          <a:ext cx="3300351" cy="1165662"/>
        </p:xfrm>
        <a:graphic>
          <a:graphicData uri="http://schemas.openxmlformats.org/presentationml/2006/ole">
            <mc:AlternateContent xmlns:mc="http://schemas.openxmlformats.org/markup-compatibility/2006">
              <mc:Choice xmlns:v="urn:schemas-microsoft-com:vml" Requires="v">
                <p:oleObj spid="_x0000_s1034" name="Equation" r:id="rId5" imgW="1257120" imgH="444240" progId="Equation.DSMT4">
                  <p:embed/>
                </p:oleObj>
              </mc:Choice>
              <mc:Fallback>
                <p:oleObj name="Equation" r:id="rId5" imgW="125712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076" y="3631172"/>
                        <a:ext cx="3300351" cy="1165662"/>
                      </a:xfrm>
                      <a:prstGeom prst="rect">
                        <a:avLst/>
                      </a:prstGeom>
                      <a:solidFill>
                        <a:srgbClr val="CCFFFF"/>
                      </a:solid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b="1" dirty="0" smtClean="0">
                <a:solidFill>
                  <a:srgbClr val="FF0000"/>
                </a:solidFill>
                <a:latin typeface="华文楷体" pitchFamily="2" charset="-122"/>
                <a:ea typeface="华文楷体" pitchFamily="2" charset="-122"/>
              </a:rPr>
              <a:t>步骤五：胶凝材料用量的计算</a:t>
            </a:r>
            <a:endParaRPr lang="zh-CN" altLang="en-US" sz="4800" b="1" dirty="0">
              <a:solidFill>
                <a:srgbClr val="FF0000"/>
              </a:solidFill>
              <a:latin typeface="华文楷体" pitchFamily="2" charset="-122"/>
              <a:ea typeface="华文楷体" pitchFamily="2" charset="-122"/>
            </a:endParaRPr>
          </a:p>
        </p:txBody>
      </p:sp>
      <p:sp>
        <p:nvSpPr>
          <p:cNvPr id="4" name="TextBox 3"/>
          <p:cNvSpPr txBox="1"/>
          <p:nvPr/>
        </p:nvSpPr>
        <p:spPr>
          <a:xfrm>
            <a:off x="428596" y="1357298"/>
            <a:ext cx="8072494" cy="400110"/>
          </a:xfrm>
          <a:prstGeom prst="rect">
            <a:avLst/>
          </a:prstGeom>
          <a:noFill/>
        </p:spPr>
        <p:txBody>
          <a:bodyPr wrap="square" rtlCol="0">
            <a:spAutoFit/>
          </a:bodyPr>
          <a:lstStyle/>
          <a:p>
            <a:r>
              <a:rPr lang="zh-CN" altLang="en-US" sz="2000" dirty="0"/>
              <a:t>根据之前的水灰比与用水量我们可以确定</a:t>
            </a:r>
            <a:r>
              <a:rPr lang="zh-CN" altLang="en-US" sz="2000" dirty="0" smtClean="0"/>
              <a:t>出胶凝材料用量</a:t>
            </a:r>
            <a:endParaRPr lang="zh-CN" altLang="en-US" sz="2000" dirty="0"/>
          </a:p>
        </p:txBody>
      </p:sp>
      <p:sp>
        <p:nvSpPr>
          <p:cNvPr id="5" name="TextBox 4"/>
          <p:cNvSpPr txBox="1"/>
          <p:nvPr/>
        </p:nvSpPr>
        <p:spPr>
          <a:xfrm>
            <a:off x="428596" y="2357430"/>
            <a:ext cx="5643602" cy="400110"/>
          </a:xfrm>
          <a:prstGeom prst="rect">
            <a:avLst/>
          </a:prstGeom>
          <a:noFill/>
        </p:spPr>
        <p:txBody>
          <a:bodyPr wrap="square" rtlCol="0">
            <a:spAutoFit/>
          </a:bodyPr>
          <a:lstStyle/>
          <a:p>
            <a:r>
              <a:rPr lang="zh-CN" altLang="en-US" sz="2000" dirty="0">
                <a:latin typeface="+mn-ea"/>
              </a:rPr>
              <a:t>我们使用了</a:t>
            </a:r>
            <a:r>
              <a:rPr lang="en-US" sz="2000" dirty="0">
                <a:latin typeface="+mn-ea"/>
              </a:rPr>
              <a:t>30%</a:t>
            </a:r>
            <a:r>
              <a:rPr lang="zh-CN" altLang="en-US" sz="2000" dirty="0">
                <a:latin typeface="+mn-ea"/>
              </a:rPr>
              <a:t>的粉煤灰，粉煤灰的质量应该为</a:t>
            </a:r>
          </a:p>
        </p:txBody>
      </p:sp>
      <p:sp>
        <p:nvSpPr>
          <p:cNvPr id="7" name="TextBox 6"/>
          <p:cNvSpPr txBox="1"/>
          <p:nvPr/>
        </p:nvSpPr>
        <p:spPr>
          <a:xfrm>
            <a:off x="500034" y="3286124"/>
            <a:ext cx="6286544" cy="400110"/>
          </a:xfrm>
          <a:prstGeom prst="rect">
            <a:avLst/>
          </a:prstGeom>
          <a:noFill/>
        </p:spPr>
        <p:txBody>
          <a:bodyPr wrap="square" rtlCol="0">
            <a:spAutoFit/>
          </a:bodyPr>
          <a:lstStyle/>
          <a:p>
            <a:r>
              <a:rPr lang="zh-CN" altLang="en-US" sz="2000" dirty="0" smtClean="0"/>
              <a:t>所以水泥的用量</a:t>
            </a:r>
            <a:r>
              <a:rPr lang="zh-CN" altLang="en-US" sz="2000" dirty="0"/>
              <a:t>为</a:t>
            </a:r>
          </a:p>
        </p:txBody>
      </p:sp>
      <p:sp>
        <p:nvSpPr>
          <p:cNvPr id="9" name="TextBox 8"/>
          <p:cNvSpPr txBox="1"/>
          <p:nvPr/>
        </p:nvSpPr>
        <p:spPr>
          <a:xfrm>
            <a:off x="500034" y="4143380"/>
            <a:ext cx="6572296" cy="400110"/>
          </a:xfrm>
          <a:prstGeom prst="rect">
            <a:avLst/>
          </a:prstGeom>
          <a:noFill/>
        </p:spPr>
        <p:txBody>
          <a:bodyPr wrap="square" rtlCol="0">
            <a:spAutoFit/>
          </a:bodyPr>
          <a:lstStyle/>
          <a:p>
            <a:r>
              <a:rPr lang="zh-CN" altLang="en-US" sz="2000" dirty="0" smtClean="0"/>
              <a:t>减水剂</a:t>
            </a:r>
            <a:r>
              <a:rPr lang="zh-CN" altLang="en-US" sz="2000" dirty="0"/>
              <a:t>的用量为</a:t>
            </a:r>
            <a:r>
              <a:rPr lang="en-US" sz="2000" dirty="0"/>
              <a:t>1.0%</a:t>
            </a:r>
            <a:r>
              <a:rPr lang="zh-CN" altLang="en-US" sz="2000" dirty="0"/>
              <a:t>，故其质量为</a:t>
            </a:r>
          </a:p>
        </p:txBody>
      </p:sp>
      <p:sp>
        <p:nvSpPr>
          <p:cNvPr id="6" name="文本框 5"/>
          <p:cNvSpPr txBox="1"/>
          <p:nvPr/>
        </p:nvSpPr>
        <p:spPr>
          <a:xfrm>
            <a:off x="683568" y="1916832"/>
            <a:ext cx="6912768" cy="738664"/>
          </a:xfrm>
          <a:prstGeom prst="rect">
            <a:avLst/>
          </a:prstGeom>
          <a:noFill/>
        </p:spPr>
        <p:txBody>
          <a:bodyPr wrap="square" rtlCol="0">
            <a:spAutoFit/>
          </a:bodyPr>
          <a:lstStyle/>
          <a:p>
            <a:r>
              <a:rPr lang="en-US" altLang="zh-CN" dirty="0" smtClean="0"/>
              <a:t>m</a:t>
            </a:r>
            <a:r>
              <a:rPr lang="zh-CN" altLang="en-US" dirty="0" smtClean="0"/>
              <a:t>（胶凝材料）</a:t>
            </a:r>
            <a:r>
              <a:rPr lang="en-US" altLang="zh-CN" dirty="0" smtClean="0"/>
              <a:t>=W÷</a:t>
            </a:r>
            <a:r>
              <a:rPr lang="zh-CN" altLang="en-US" dirty="0" smtClean="0"/>
              <a:t>（</a:t>
            </a:r>
            <a:r>
              <a:rPr lang="en-US" altLang="zh-CN" dirty="0" smtClean="0"/>
              <a:t>W/C</a:t>
            </a:r>
            <a:r>
              <a:rPr lang="zh-CN" altLang="en-US" dirty="0" smtClean="0"/>
              <a:t>）</a:t>
            </a:r>
            <a:r>
              <a:rPr lang="en-US" altLang="zh-CN" dirty="0" smtClean="0"/>
              <a:t>=208.25/0.5255=</a:t>
            </a:r>
            <a:r>
              <a:rPr lang="en-US" altLang="zh-CN" sz="2400" b="1" dirty="0" smtClean="0">
                <a:solidFill>
                  <a:srgbClr val="FF0000"/>
                </a:solidFill>
              </a:rPr>
              <a:t>396.29 </a:t>
            </a:r>
            <a:r>
              <a:rPr lang="en-US" altLang="zh-CN" sz="2400" b="1" dirty="0">
                <a:solidFill>
                  <a:srgbClr val="FF0000"/>
                </a:solidFill>
              </a:rPr>
              <a:t>Kg/m^2</a:t>
            </a:r>
          </a:p>
          <a:p>
            <a:r>
              <a:rPr lang="en-US" altLang="zh-CN" dirty="0" smtClean="0"/>
              <a:t> </a:t>
            </a:r>
            <a:endParaRPr lang="zh-CN" altLang="en-US" dirty="0"/>
          </a:p>
        </p:txBody>
      </p:sp>
      <p:sp>
        <p:nvSpPr>
          <p:cNvPr id="13" name="文本框 12"/>
          <p:cNvSpPr txBox="1"/>
          <p:nvPr/>
        </p:nvSpPr>
        <p:spPr>
          <a:xfrm>
            <a:off x="683568" y="2834170"/>
            <a:ext cx="7803232" cy="738664"/>
          </a:xfrm>
          <a:prstGeom prst="rect">
            <a:avLst/>
          </a:prstGeom>
          <a:noFill/>
        </p:spPr>
        <p:txBody>
          <a:bodyPr wrap="square" rtlCol="0">
            <a:spAutoFit/>
          </a:bodyPr>
          <a:lstStyle/>
          <a:p>
            <a:r>
              <a:rPr lang="en-US" altLang="zh-CN" dirty="0" smtClean="0"/>
              <a:t>m</a:t>
            </a:r>
            <a:r>
              <a:rPr lang="zh-CN" altLang="en-US" dirty="0" smtClean="0"/>
              <a:t>（粉煤灰）</a:t>
            </a:r>
            <a:r>
              <a:rPr lang="en-US" altLang="zh-CN" dirty="0" smtClean="0"/>
              <a:t>=</a:t>
            </a:r>
            <a:r>
              <a:rPr lang="en-US" altLang="zh-CN" dirty="0"/>
              <a:t> m</a:t>
            </a:r>
            <a:r>
              <a:rPr lang="zh-CN" altLang="en-US" dirty="0"/>
              <a:t>（胶凝</a:t>
            </a:r>
            <a:r>
              <a:rPr lang="zh-CN" altLang="en-US" dirty="0" smtClean="0"/>
              <a:t>材料） *</a:t>
            </a:r>
            <a:r>
              <a:rPr lang="en-US" altLang="zh-CN" dirty="0" smtClean="0"/>
              <a:t>0.3=396.29 </a:t>
            </a:r>
            <a:r>
              <a:rPr lang="zh-CN" altLang="en-US" dirty="0" smtClean="0"/>
              <a:t>*</a:t>
            </a:r>
            <a:r>
              <a:rPr lang="en-US" altLang="zh-CN" dirty="0" smtClean="0"/>
              <a:t>0.3=</a:t>
            </a:r>
            <a:r>
              <a:rPr lang="en-US" altLang="zh-CN" sz="2400" b="1" dirty="0" smtClean="0">
                <a:solidFill>
                  <a:srgbClr val="FF0000"/>
                </a:solidFill>
              </a:rPr>
              <a:t>118.89 Kg/m^2</a:t>
            </a:r>
            <a:endParaRPr lang="en-US" altLang="zh-CN" sz="2400" b="1" dirty="0">
              <a:solidFill>
                <a:srgbClr val="FF0000"/>
              </a:solidFill>
            </a:endParaRPr>
          </a:p>
          <a:p>
            <a:r>
              <a:rPr lang="en-US" altLang="zh-CN" dirty="0" smtClean="0"/>
              <a:t> </a:t>
            </a:r>
            <a:endParaRPr lang="zh-CN" altLang="en-US" dirty="0"/>
          </a:p>
        </p:txBody>
      </p:sp>
      <p:sp>
        <p:nvSpPr>
          <p:cNvPr id="14" name="文本框 13"/>
          <p:cNvSpPr txBox="1"/>
          <p:nvPr/>
        </p:nvSpPr>
        <p:spPr>
          <a:xfrm>
            <a:off x="697858" y="3685919"/>
            <a:ext cx="7803232" cy="738664"/>
          </a:xfrm>
          <a:prstGeom prst="rect">
            <a:avLst/>
          </a:prstGeom>
          <a:noFill/>
        </p:spPr>
        <p:txBody>
          <a:bodyPr wrap="square" rtlCol="0">
            <a:spAutoFit/>
          </a:bodyPr>
          <a:lstStyle/>
          <a:p>
            <a:r>
              <a:rPr lang="en-US" altLang="zh-CN" dirty="0" smtClean="0"/>
              <a:t>m</a:t>
            </a:r>
            <a:r>
              <a:rPr lang="zh-CN" altLang="en-US" dirty="0" smtClean="0"/>
              <a:t>（水泥）</a:t>
            </a:r>
            <a:r>
              <a:rPr lang="en-US" altLang="zh-CN" dirty="0" smtClean="0"/>
              <a:t>=</a:t>
            </a:r>
            <a:r>
              <a:rPr lang="en-US" altLang="zh-CN" dirty="0"/>
              <a:t> m</a:t>
            </a:r>
            <a:r>
              <a:rPr lang="zh-CN" altLang="en-US" dirty="0"/>
              <a:t>（胶凝</a:t>
            </a:r>
            <a:r>
              <a:rPr lang="zh-CN" altLang="en-US" dirty="0" smtClean="0"/>
              <a:t>材料）</a:t>
            </a:r>
            <a:r>
              <a:rPr lang="en-US" altLang="zh-CN" dirty="0" smtClean="0"/>
              <a:t>—</a:t>
            </a:r>
            <a:r>
              <a:rPr lang="en-US" altLang="zh-CN" dirty="0"/>
              <a:t>m</a:t>
            </a:r>
            <a:r>
              <a:rPr lang="zh-CN" altLang="en-US" dirty="0"/>
              <a:t>（</a:t>
            </a:r>
            <a:r>
              <a:rPr lang="zh-CN" altLang="en-US" dirty="0" smtClean="0"/>
              <a:t>粉煤灰）</a:t>
            </a:r>
            <a:r>
              <a:rPr lang="en-US" altLang="zh-CN" dirty="0" smtClean="0"/>
              <a:t>=</a:t>
            </a:r>
            <a:r>
              <a:rPr lang="en-US" altLang="zh-CN" sz="2400" b="1" dirty="0" smtClean="0">
                <a:solidFill>
                  <a:srgbClr val="FF0000"/>
                </a:solidFill>
              </a:rPr>
              <a:t>277.40 Kg/m^2</a:t>
            </a:r>
            <a:endParaRPr lang="en-US" altLang="zh-CN" sz="2400" b="1" dirty="0">
              <a:solidFill>
                <a:srgbClr val="FF0000"/>
              </a:solidFill>
            </a:endParaRPr>
          </a:p>
          <a:p>
            <a:r>
              <a:rPr lang="en-US" altLang="zh-CN" dirty="0" smtClean="0"/>
              <a:t> </a:t>
            </a:r>
            <a:endParaRPr lang="zh-CN" altLang="en-US" dirty="0"/>
          </a:p>
        </p:txBody>
      </p:sp>
      <p:sp>
        <p:nvSpPr>
          <p:cNvPr id="15" name="文本框 14"/>
          <p:cNvSpPr txBox="1"/>
          <p:nvPr/>
        </p:nvSpPr>
        <p:spPr>
          <a:xfrm>
            <a:off x="683568" y="4603257"/>
            <a:ext cx="7803232" cy="738664"/>
          </a:xfrm>
          <a:prstGeom prst="rect">
            <a:avLst/>
          </a:prstGeom>
          <a:noFill/>
        </p:spPr>
        <p:txBody>
          <a:bodyPr wrap="square" rtlCol="0">
            <a:spAutoFit/>
          </a:bodyPr>
          <a:lstStyle/>
          <a:p>
            <a:r>
              <a:rPr lang="en-US" altLang="zh-CN" dirty="0" smtClean="0"/>
              <a:t>m</a:t>
            </a:r>
            <a:r>
              <a:rPr lang="zh-CN" altLang="en-US" dirty="0" smtClean="0"/>
              <a:t>（减水剂）</a:t>
            </a:r>
            <a:r>
              <a:rPr lang="en-US" altLang="zh-CN" dirty="0" smtClean="0"/>
              <a:t>=</a:t>
            </a:r>
            <a:r>
              <a:rPr lang="en-US" altLang="zh-CN" dirty="0"/>
              <a:t> m</a:t>
            </a:r>
            <a:r>
              <a:rPr lang="zh-CN" altLang="en-US" dirty="0"/>
              <a:t>（胶凝</a:t>
            </a:r>
            <a:r>
              <a:rPr lang="zh-CN" altLang="en-US" dirty="0" smtClean="0"/>
              <a:t>材料）*</a:t>
            </a:r>
            <a:r>
              <a:rPr lang="en-US" altLang="zh-CN" dirty="0" smtClean="0"/>
              <a:t>0.01=</a:t>
            </a:r>
            <a:r>
              <a:rPr lang="en-US" altLang="zh-CN" sz="2400" b="1" dirty="0" smtClean="0">
                <a:solidFill>
                  <a:srgbClr val="FF0000"/>
                </a:solidFill>
              </a:rPr>
              <a:t>3.96 Kg/m^2</a:t>
            </a:r>
            <a:endParaRPr lang="en-US" altLang="zh-CN" sz="2400" b="1" dirty="0">
              <a:solidFill>
                <a:srgbClr val="FF0000"/>
              </a:solidFill>
            </a:endParaRPr>
          </a:p>
          <a:p>
            <a:r>
              <a:rPr lang="en-US" altLang="zh-CN" dirty="0" smtClean="0"/>
              <a:t> </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834505" y="1382737"/>
            <a:ext cx="6617733" cy="2643206"/>
          </a:xfrm>
          <a:prstGeom prst="rect">
            <a:avLst/>
          </a:prstGeom>
          <a:noFill/>
          <a:ln w="9525">
            <a:noFill/>
            <a:miter lim="800000"/>
            <a:headEnd/>
            <a:tailEnd/>
          </a:ln>
          <a:effectLst/>
        </p:spPr>
      </p:pic>
      <p:sp>
        <p:nvSpPr>
          <p:cNvPr id="6" name="TextBox 5"/>
          <p:cNvSpPr txBox="1"/>
          <p:nvPr/>
        </p:nvSpPr>
        <p:spPr>
          <a:xfrm>
            <a:off x="834505" y="4149080"/>
            <a:ext cx="6429420" cy="2062103"/>
          </a:xfrm>
          <a:prstGeom prst="rect">
            <a:avLst/>
          </a:prstGeom>
          <a:noFill/>
        </p:spPr>
        <p:txBody>
          <a:bodyPr wrap="square" rtlCol="0">
            <a:spAutoFit/>
          </a:bodyPr>
          <a:lstStyle/>
          <a:p>
            <a:r>
              <a:rPr lang="zh-CN" altLang="en-US" sz="2000" dirty="0" smtClean="0">
                <a:latin typeface="+mn-ea"/>
              </a:rPr>
              <a:t>根据：</a:t>
            </a:r>
            <a:endParaRPr lang="en-US" altLang="zh-CN" sz="2000" dirty="0" smtClean="0">
              <a:latin typeface="+mn-ea"/>
            </a:endParaRPr>
          </a:p>
          <a:p>
            <a:r>
              <a:rPr lang="en-US" altLang="zh-CN" sz="2000" dirty="0" smtClean="0">
                <a:latin typeface="+mn-ea"/>
              </a:rPr>
              <a:t>1</a:t>
            </a:r>
            <a:r>
              <a:rPr lang="zh-CN" altLang="en-US" sz="2000" dirty="0" smtClean="0">
                <a:latin typeface="+mn-ea"/>
              </a:rPr>
              <a:t>）坍落度大于</a:t>
            </a:r>
            <a:r>
              <a:rPr lang="en-US" altLang="zh-CN" sz="2000" dirty="0" smtClean="0">
                <a:latin typeface="+mn-ea"/>
              </a:rPr>
              <a:t>100mm</a:t>
            </a:r>
            <a:r>
              <a:rPr lang="zh-CN" altLang="en-US" sz="2000" dirty="0" smtClean="0">
                <a:latin typeface="+mn-ea"/>
              </a:rPr>
              <a:t>的混凝土以上表为基准，坍落度每增加</a:t>
            </a:r>
            <a:r>
              <a:rPr lang="en-US" altLang="zh-CN" sz="2000" dirty="0" smtClean="0">
                <a:latin typeface="+mn-ea"/>
              </a:rPr>
              <a:t>20mm</a:t>
            </a:r>
            <a:r>
              <a:rPr lang="zh-CN" altLang="en-US" sz="2000" dirty="0" smtClean="0">
                <a:latin typeface="+mn-ea"/>
              </a:rPr>
              <a:t>，砂率增加</a:t>
            </a:r>
            <a:r>
              <a:rPr lang="en-US" altLang="zh-CN" sz="2000" dirty="0" smtClean="0">
                <a:latin typeface="+mn-ea"/>
              </a:rPr>
              <a:t>1%</a:t>
            </a:r>
            <a:r>
              <a:rPr lang="zh-CN" altLang="en-US" sz="2000" dirty="0" smtClean="0">
                <a:latin typeface="+mn-ea"/>
              </a:rPr>
              <a:t>。</a:t>
            </a:r>
            <a:endParaRPr lang="en-US" altLang="zh-CN" sz="2000" dirty="0" smtClean="0">
              <a:latin typeface="+mn-ea"/>
            </a:endParaRPr>
          </a:p>
          <a:p>
            <a:r>
              <a:rPr lang="en-US" altLang="zh-CN" sz="2000" dirty="0" smtClean="0">
                <a:latin typeface="+mn-ea"/>
              </a:rPr>
              <a:t>2</a:t>
            </a:r>
            <a:r>
              <a:rPr lang="zh-CN" altLang="en-US" sz="2000" dirty="0" smtClean="0">
                <a:latin typeface="+mn-ea"/>
              </a:rPr>
              <a:t>）粗砂适当增大砂率</a:t>
            </a:r>
            <a:endParaRPr lang="en-US" altLang="zh-CN" sz="2000" dirty="0" smtClean="0">
              <a:latin typeface="+mn-ea"/>
            </a:endParaRPr>
          </a:p>
          <a:p>
            <a:r>
              <a:rPr lang="zh-CN" altLang="en-US" sz="2000" dirty="0" smtClean="0"/>
              <a:t>选择的砂率为</a:t>
            </a:r>
            <a:endParaRPr lang="en-US" altLang="zh-CN" sz="2000" dirty="0" smtClean="0"/>
          </a:p>
          <a:p>
            <a:r>
              <a:rPr lang="en-US" altLang="zh-CN" sz="2000" dirty="0" smtClean="0">
                <a:latin typeface="+mn-ea"/>
              </a:rPr>
              <a:t>37%+</a:t>
            </a:r>
            <a:r>
              <a:rPr lang="zh-CN" altLang="en-US" sz="2000" dirty="0" smtClean="0">
                <a:latin typeface="+mn-ea"/>
              </a:rPr>
              <a:t>（</a:t>
            </a:r>
            <a:r>
              <a:rPr lang="en-US" altLang="zh-CN" sz="2000" dirty="0" smtClean="0">
                <a:latin typeface="+mn-ea"/>
              </a:rPr>
              <a:t>240-100</a:t>
            </a:r>
            <a:r>
              <a:rPr lang="zh-CN" altLang="en-US" sz="2000" dirty="0" smtClean="0">
                <a:latin typeface="+mn-ea"/>
              </a:rPr>
              <a:t>）</a:t>
            </a:r>
            <a:r>
              <a:rPr lang="en-US" altLang="zh-CN" sz="2000" dirty="0" smtClean="0">
                <a:latin typeface="+mn-ea"/>
              </a:rPr>
              <a:t>/20</a:t>
            </a:r>
            <a:r>
              <a:rPr lang="zh-CN" altLang="en-US" sz="2000" dirty="0" smtClean="0">
                <a:latin typeface="+mn-ea"/>
              </a:rPr>
              <a:t>*</a:t>
            </a:r>
            <a:r>
              <a:rPr lang="en-US" altLang="zh-CN" sz="2000" dirty="0" smtClean="0">
                <a:latin typeface="+mn-ea"/>
              </a:rPr>
              <a:t>1%=</a:t>
            </a:r>
            <a:r>
              <a:rPr lang="en-US" altLang="zh-CN" sz="2800" b="1" dirty="0" smtClean="0">
                <a:solidFill>
                  <a:srgbClr val="FF0000"/>
                </a:solidFill>
                <a:latin typeface="+mn-ea"/>
              </a:rPr>
              <a:t>44%</a:t>
            </a:r>
            <a:endParaRPr lang="zh-CN" altLang="en-US" sz="2800" b="1" dirty="0">
              <a:solidFill>
                <a:srgbClr val="FF0000"/>
              </a:solidFill>
              <a:latin typeface="+mn-ea"/>
            </a:endParaRPr>
          </a:p>
        </p:txBody>
      </p:sp>
      <p:sp>
        <p:nvSpPr>
          <p:cNvPr id="9" name="TextBox 1"/>
          <p:cNvSpPr txBox="1"/>
          <p:nvPr/>
        </p:nvSpPr>
        <p:spPr>
          <a:xfrm>
            <a:off x="1000100" y="428604"/>
            <a:ext cx="8143900" cy="830997"/>
          </a:xfrm>
          <a:prstGeom prst="rect">
            <a:avLst/>
          </a:prstGeom>
          <a:noFill/>
        </p:spPr>
        <p:txBody>
          <a:bodyPr wrap="square" rtlCol="0">
            <a:spAutoFit/>
          </a:bodyPr>
          <a:lstStyle/>
          <a:p>
            <a:r>
              <a:rPr lang="zh-CN" altLang="en-US" sz="4800" b="1" dirty="0" smtClean="0">
                <a:solidFill>
                  <a:srgbClr val="FF0000"/>
                </a:solidFill>
                <a:latin typeface="华文楷体" pitchFamily="2" charset="-122"/>
                <a:ea typeface="华文楷体" pitchFamily="2" charset="-122"/>
              </a:rPr>
              <a:t>步骤六：选择砂率</a:t>
            </a:r>
            <a:endParaRPr lang="zh-CN" altLang="en-US" sz="4800" b="1" dirty="0">
              <a:solidFill>
                <a:srgbClr val="FF0000"/>
              </a:solidFill>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srcRect/>
          <a:stretch>
            <a:fillRect/>
          </a:stretch>
        </p:blipFill>
        <p:spPr bwMode="auto">
          <a:xfrm>
            <a:off x="2214546" y="1287010"/>
            <a:ext cx="2744325" cy="887054"/>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srcRect/>
          <a:stretch>
            <a:fillRect/>
          </a:stretch>
        </p:blipFill>
        <p:spPr bwMode="auto">
          <a:xfrm>
            <a:off x="2214546" y="2214554"/>
            <a:ext cx="5800725" cy="2419350"/>
          </a:xfrm>
          <a:prstGeom prst="rect">
            <a:avLst/>
          </a:prstGeom>
          <a:noFill/>
          <a:ln w="9525">
            <a:noFill/>
            <a:miter lim="800000"/>
            <a:headEnd/>
            <a:tailEnd/>
          </a:ln>
          <a:effectLst/>
        </p:spPr>
      </p:pic>
      <p:sp>
        <p:nvSpPr>
          <p:cNvPr id="11" name="TextBox 10"/>
          <p:cNvSpPr txBox="1"/>
          <p:nvPr/>
        </p:nvSpPr>
        <p:spPr>
          <a:xfrm>
            <a:off x="1785918" y="4714884"/>
            <a:ext cx="8858312" cy="1323439"/>
          </a:xfrm>
          <a:prstGeom prst="rect">
            <a:avLst/>
          </a:prstGeom>
          <a:noFill/>
        </p:spPr>
        <p:txBody>
          <a:bodyPr wrap="square" rtlCol="0">
            <a:spAutoFit/>
          </a:bodyPr>
          <a:lstStyle/>
          <a:p>
            <a:r>
              <a:rPr lang="zh-CN" altLang="en-US" sz="2000" dirty="0" smtClean="0">
                <a:latin typeface="+mn-ea"/>
              </a:rPr>
              <a:t>取砂率</a:t>
            </a:r>
            <a:r>
              <a:rPr lang="en-US" altLang="zh-CN" sz="2000" b="1" dirty="0" smtClean="0">
                <a:solidFill>
                  <a:srgbClr val="FF0000"/>
                </a:solidFill>
                <a:latin typeface="+mn-ea"/>
              </a:rPr>
              <a:t>β</a:t>
            </a:r>
            <a:r>
              <a:rPr lang="zh-CN" altLang="en-US" sz="2000" b="1" dirty="0" smtClean="0">
                <a:solidFill>
                  <a:srgbClr val="FF0000"/>
                </a:solidFill>
                <a:latin typeface="+mn-ea"/>
              </a:rPr>
              <a:t>为</a:t>
            </a:r>
            <a:r>
              <a:rPr lang="en-US" altLang="zh-CN" sz="2000" b="1" dirty="0" smtClean="0">
                <a:solidFill>
                  <a:srgbClr val="FF0000"/>
                </a:solidFill>
                <a:latin typeface="+mn-ea"/>
              </a:rPr>
              <a:t>44%</a:t>
            </a:r>
            <a:r>
              <a:rPr lang="zh-CN" altLang="en-US" sz="2000" dirty="0" smtClean="0">
                <a:latin typeface="+mn-ea"/>
              </a:rPr>
              <a:t>，每立方米混凝土拌合物假定重量取为</a:t>
            </a:r>
            <a:r>
              <a:rPr lang="en-US" altLang="zh-CN" sz="2000" b="1" dirty="0" smtClean="0">
                <a:solidFill>
                  <a:srgbClr val="FF0000"/>
                </a:solidFill>
                <a:latin typeface="+mn-ea"/>
              </a:rPr>
              <a:t>2425kg</a:t>
            </a:r>
            <a:r>
              <a:rPr lang="zh-CN" altLang="en-US" sz="2000" dirty="0" smtClean="0">
                <a:latin typeface="+mn-ea"/>
              </a:rPr>
              <a:t>。</a:t>
            </a:r>
            <a:endParaRPr lang="en-US" altLang="zh-CN" sz="2000" dirty="0" smtClean="0">
              <a:latin typeface="+mn-ea"/>
            </a:endParaRPr>
          </a:p>
          <a:p>
            <a:r>
              <a:rPr lang="zh-CN" altLang="en-US" sz="2000" dirty="0" smtClean="0">
                <a:latin typeface="+mn-ea"/>
              </a:rPr>
              <a:t>这样可以算得：</a:t>
            </a:r>
            <a:endParaRPr lang="en-US" altLang="zh-CN" sz="2000" dirty="0" smtClean="0">
              <a:latin typeface="+mn-ea"/>
            </a:endParaRPr>
          </a:p>
          <a:p>
            <a:r>
              <a:rPr lang="en-US" altLang="zh-CN" sz="2000" dirty="0" smtClean="0">
                <a:latin typeface="+mn-ea"/>
              </a:rPr>
              <a:t>m(s0</a:t>
            </a:r>
            <a:r>
              <a:rPr lang="en-US" altLang="zh-CN" sz="2000" dirty="0">
                <a:latin typeface="+mn-ea"/>
              </a:rPr>
              <a:t>)=799.26 </a:t>
            </a:r>
            <a:r>
              <a:rPr lang="en-US" altLang="zh-CN" sz="2000" dirty="0" smtClean="0">
                <a:latin typeface="+mn-ea"/>
              </a:rPr>
              <a:t>Kg/m^2  m(g0</a:t>
            </a:r>
            <a:r>
              <a:rPr lang="en-US" altLang="zh-CN" sz="2000" dirty="0">
                <a:latin typeface="+mn-ea"/>
              </a:rPr>
              <a:t>)=1017.24 Kg/m^2</a:t>
            </a:r>
          </a:p>
          <a:p>
            <a:endParaRPr lang="zh-CN" altLang="en-US" sz="2000" dirty="0">
              <a:latin typeface="+mn-ea"/>
            </a:endParaRPr>
          </a:p>
        </p:txBody>
      </p:sp>
      <p:pic>
        <p:nvPicPr>
          <p:cNvPr id="3074" name="Picture 2"/>
          <p:cNvPicPr>
            <a:picLocks noChangeAspect="1" noChangeArrowheads="1"/>
          </p:cNvPicPr>
          <p:nvPr/>
        </p:nvPicPr>
        <p:blipFill>
          <a:blip r:embed="rId4"/>
          <a:srcRect/>
          <a:stretch>
            <a:fillRect/>
          </a:stretch>
        </p:blipFill>
        <p:spPr bwMode="auto">
          <a:xfrm>
            <a:off x="3000375" y="3295650"/>
            <a:ext cx="3143250" cy="266700"/>
          </a:xfrm>
          <a:prstGeom prst="rect">
            <a:avLst/>
          </a:prstGeom>
          <a:noFill/>
          <a:ln w="9525">
            <a:noFill/>
            <a:miter lim="800000"/>
            <a:headEnd/>
            <a:tailEnd/>
          </a:ln>
          <a:effectLst/>
        </p:spPr>
      </p:pic>
      <p:sp>
        <p:nvSpPr>
          <p:cNvPr id="9" name="TextBox 1"/>
          <p:cNvSpPr txBox="1"/>
          <p:nvPr/>
        </p:nvSpPr>
        <p:spPr>
          <a:xfrm>
            <a:off x="1042958" y="339332"/>
            <a:ext cx="8143900" cy="830997"/>
          </a:xfrm>
          <a:prstGeom prst="rect">
            <a:avLst/>
          </a:prstGeom>
          <a:noFill/>
        </p:spPr>
        <p:txBody>
          <a:bodyPr wrap="square" rtlCol="0">
            <a:spAutoFit/>
          </a:bodyPr>
          <a:lstStyle/>
          <a:p>
            <a:r>
              <a:rPr lang="zh-CN" altLang="en-US" sz="4800" b="1" dirty="0" smtClean="0">
                <a:solidFill>
                  <a:srgbClr val="FF0000"/>
                </a:solidFill>
                <a:latin typeface="华文楷体" pitchFamily="2" charset="-122"/>
                <a:ea typeface="华文楷体" pitchFamily="2" charset="-122"/>
              </a:rPr>
              <a:t>步骤七：计算粗细骨料用量</a:t>
            </a:r>
            <a:endParaRPr lang="zh-CN" altLang="en-US" sz="4800" b="1" dirty="0">
              <a:solidFill>
                <a:srgbClr val="FF0000"/>
              </a:solidFill>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764704"/>
            <a:ext cx="6286544" cy="461665"/>
          </a:xfrm>
          <a:prstGeom prst="rect">
            <a:avLst/>
          </a:prstGeom>
          <a:noFill/>
        </p:spPr>
        <p:txBody>
          <a:bodyPr wrap="square" rtlCol="0">
            <a:spAutoFit/>
          </a:bodyPr>
          <a:lstStyle/>
          <a:p>
            <a:r>
              <a:rPr lang="zh-CN" altLang="en-US" sz="2400" b="1" dirty="0" smtClean="0">
                <a:solidFill>
                  <a:srgbClr val="FF0000"/>
                </a:solidFill>
                <a:latin typeface="华文楷体" pitchFamily="2" charset="-122"/>
                <a:ea typeface="华文楷体" pitchFamily="2" charset="-122"/>
              </a:rPr>
              <a:t>配制</a:t>
            </a:r>
            <a:r>
              <a:rPr lang="en-US" altLang="zh-CN" sz="2400" b="1" dirty="0" smtClean="0">
                <a:solidFill>
                  <a:srgbClr val="FF0000"/>
                </a:solidFill>
                <a:latin typeface="华文楷体" pitchFamily="2" charset="-122"/>
                <a:ea typeface="华文楷体" pitchFamily="2" charset="-122"/>
              </a:rPr>
              <a:t>20L</a:t>
            </a:r>
            <a:r>
              <a:rPr lang="zh-CN" altLang="en-US" sz="2400" b="1" dirty="0" smtClean="0">
                <a:solidFill>
                  <a:srgbClr val="FF0000"/>
                </a:solidFill>
                <a:latin typeface="华文楷体" pitchFamily="2" charset="-122"/>
                <a:ea typeface="华文楷体" pitchFamily="2" charset="-122"/>
              </a:rPr>
              <a:t>的混凝土所需原料及其用量</a:t>
            </a:r>
            <a:endParaRPr lang="en-US" altLang="zh-CN" sz="2400" b="1" dirty="0" smtClean="0">
              <a:solidFill>
                <a:srgbClr val="FF0000"/>
              </a:solidFill>
              <a:latin typeface="华文楷体" pitchFamily="2" charset="-122"/>
              <a:ea typeface="华文楷体" pitchFamily="2"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531121269"/>
              </p:ext>
            </p:extLst>
          </p:nvPr>
        </p:nvGraphicFramePr>
        <p:xfrm>
          <a:off x="1142976" y="2357430"/>
          <a:ext cx="6715170" cy="1857388"/>
        </p:xfrm>
        <a:graphic>
          <a:graphicData uri="http://schemas.openxmlformats.org/drawingml/2006/table">
            <a:tbl>
              <a:tblPr firstRow="1" bandRow="1">
                <a:tableStyleId>{5C22544A-7EE6-4342-B048-85BDC9FD1C3A}</a:tableStyleId>
              </a:tblPr>
              <a:tblGrid>
                <a:gridCol w="1119195"/>
                <a:gridCol w="1119195"/>
                <a:gridCol w="1119195"/>
                <a:gridCol w="1119195"/>
                <a:gridCol w="1119195"/>
                <a:gridCol w="1119195"/>
              </a:tblGrid>
              <a:tr h="928694">
                <a:tc>
                  <a:txBody>
                    <a:bodyPr/>
                    <a:lstStyle/>
                    <a:p>
                      <a:pPr algn="ctr"/>
                      <a:endParaRPr lang="en-US" altLang="zh-CN" sz="2000" dirty="0" smtClean="0"/>
                    </a:p>
                    <a:p>
                      <a:pPr algn="ctr"/>
                      <a:r>
                        <a:rPr lang="zh-CN" altLang="en-US" sz="2000" dirty="0" smtClean="0"/>
                        <a:t>水</a:t>
                      </a:r>
                      <a:endParaRPr lang="zh-CN" altLang="en-US" sz="2000" dirty="0"/>
                    </a:p>
                  </a:txBody>
                  <a:tcPr/>
                </a:tc>
                <a:tc>
                  <a:txBody>
                    <a:bodyPr/>
                    <a:lstStyle/>
                    <a:p>
                      <a:pPr algn="ctr"/>
                      <a:endParaRPr lang="en-US" altLang="zh-CN" sz="2000" dirty="0" smtClean="0"/>
                    </a:p>
                    <a:p>
                      <a:pPr algn="ctr"/>
                      <a:r>
                        <a:rPr lang="zh-CN" altLang="en-US" sz="2000" dirty="0" smtClean="0"/>
                        <a:t>水泥</a:t>
                      </a:r>
                      <a:endParaRPr lang="zh-CN" altLang="en-US" sz="2000" dirty="0"/>
                    </a:p>
                  </a:txBody>
                  <a:tcPr/>
                </a:tc>
                <a:tc>
                  <a:txBody>
                    <a:bodyPr/>
                    <a:lstStyle/>
                    <a:p>
                      <a:pPr algn="ctr"/>
                      <a:endParaRPr lang="en-US" altLang="zh-CN" sz="2000" dirty="0" smtClean="0"/>
                    </a:p>
                    <a:p>
                      <a:pPr algn="ctr"/>
                      <a:r>
                        <a:rPr lang="zh-CN" altLang="en-US" sz="2000" dirty="0" smtClean="0"/>
                        <a:t>减水剂</a:t>
                      </a:r>
                      <a:endParaRPr lang="zh-CN" altLang="en-US" sz="2000" dirty="0"/>
                    </a:p>
                  </a:txBody>
                  <a:tcPr/>
                </a:tc>
                <a:tc>
                  <a:txBody>
                    <a:bodyPr/>
                    <a:lstStyle/>
                    <a:p>
                      <a:pPr algn="ctr"/>
                      <a:endParaRPr lang="en-US" altLang="zh-CN" sz="2000" dirty="0" smtClean="0"/>
                    </a:p>
                    <a:p>
                      <a:pPr algn="ctr"/>
                      <a:r>
                        <a:rPr lang="zh-CN" altLang="en-US" sz="2000" dirty="0" smtClean="0"/>
                        <a:t>石子</a:t>
                      </a:r>
                      <a:endParaRPr lang="zh-CN" altLang="en-US" sz="2000" dirty="0"/>
                    </a:p>
                  </a:txBody>
                  <a:tcPr/>
                </a:tc>
                <a:tc>
                  <a:txBody>
                    <a:bodyPr/>
                    <a:lstStyle/>
                    <a:p>
                      <a:pPr algn="ctr"/>
                      <a:endParaRPr lang="en-US" altLang="zh-CN" sz="2000" dirty="0" smtClean="0"/>
                    </a:p>
                    <a:p>
                      <a:pPr algn="ctr"/>
                      <a:r>
                        <a:rPr lang="zh-CN" altLang="en-US" sz="2000" dirty="0" smtClean="0"/>
                        <a:t>砂</a:t>
                      </a:r>
                      <a:endParaRPr lang="zh-CN" altLang="en-US" sz="2000" dirty="0"/>
                    </a:p>
                  </a:txBody>
                  <a:tcPr/>
                </a:tc>
                <a:tc>
                  <a:txBody>
                    <a:bodyPr/>
                    <a:lstStyle/>
                    <a:p>
                      <a:pPr algn="ctr"/>
                      <a:endParaRPr lang="en-US" altLang="zh-CN" sz="2000" dirty="0" smtClean="0"/>
                    </a:p>
                    <a:p>
                      <a:pPr algn="ctr"/>
                      <a:r>
                        <a:rPr lang="zh-CN" altLang="en-US" sz="2000" dirty="0" smtClean="0"/>
                        <a:t>粉煤灰</a:t>
                      </a:r>
                      <a:endParaRPr lang="zh-CN" altLang="en-US" sz="2000" dirty="0"/>
                    </a:p>
                  </a:txBody>
                  <a:tcPr/>
                </a:tc>
              </a:tr>
              <a:tr h="928694">
                <a:tc>
                  <a:txBody>
                    <a:bodyPr/>
                    <a:lstStyle/>
                    <a:p>
                      <a:pPr algn="ctr"/>
                      <a:endParaRPr lang="en-US" altLang="zh-CN" sz="2000" dirty="0" smtClean="0"/>
                    </a:p>
                    <a:p>
                      <a:pPr algn="ctr"/>
                      <a:r>
                        <a:rPr lang="en-US" altLang="zh-CN" sz="2000" dirty="0" smtClean="0"/>
                        <a:t>4.165kg</a:t>
                      </a:r>
                      <a:endParaRPr lang="zh-CN" altLang="en-US" sz="2000" dirty="0"/>
                    </a:p>
                  </a:txBody>
                  <a:tcPr/>
                </a:tc>
                <a:tc>
                  <a:txBody>
                    <a:bodyPr/>
                    <a:lstStyle/>
                    <a:p>
                      <a:pPr algn="ctr"/>
                      <a:endParaRPr lang="en-US" altLang="zh-CN" sz="2000" dirty="0" smtClean="0"/>
                    </a:p>
                    <a:p>
                      <a:pPr algn="ctr"/>
                      <a:r>
                        <a:rPr lang="en-US" altLang="zh-CN" sz="2000" dirty="0" smtClean="0"/>
                        <a:t>5.548kg</a:t>
                      </a:r>
                      <a:endParaRPr lang="zh-CN" altLang="en-US" sz="2000" dirty="0"/>
                    </a:p>
                  </a:txBody>
                  <a:tcPr/>
                </a:tc>
                <a:tc>
                  <a:txBody>
                    <a:bodyPr/>
                    <a:lstStyle/>
                    <a:p>
                      <a:pPr algn="ctr"/>
                      <a:endParaRPr lang="en-US" altLang="zh-CN" sz="2000" dirty="0" smtClean="0"/>
                    </a:p>
                    <a:p>
                      <a:pPr algn="ctr"/>
                      <a:r>
                        <a:rPr lang="en-US" altLang="zh-CN" sz="2000" dirty="0" smtClean="0"/>
                        <a:t>0.080kg</a:t>
                      </a:r>
                      <a:endParaRPr lang="zh-CN" altLang="en-US" sz="2000" dirty="0"/>
                    </a:p>
                  </a:txBody>
                  <a:tcPr/>
                </a:tc>
                <a:tc>
                  <a:txBody>
                    <a:bodyPr/>
                    <a:lstStyle/>
                    <a:p>
                      <a:pPr algn="ctr"/>
                      <a:endParaRPr lang="en-US" altLang="zh-CN" sz="2000" dirty="0" smtClean="0"/>
                    </a:p>
                    <a:p>
                      <a:pPr algn="ctr"/>
                      <a:r>
                        <a:rPr lang="en-US" altLang="zh-CN" sz="2000" dirty="0" smtClean="0"/>
                        <a:t>20.34kg</a:t>
                      </a:r>
                      <a:endParaRPr lang="zh-CN" altLang="en-US" sz="2000" dirty="0"/>
                    </a:p>
                  </a:txBody>
                  <a:tcPr/>
                </a:tc>
                <a:tc>
                  <a:txBody>
                    <a:bodyPr/>
                    <a:lstStyle/>
                    <a:p>
                      <a:pPr algn="ctr"/>
                      <a:endParaRPr lang="en-US" altLang="zh-CN" sz="2000" dirty="0" smtClean="0"/>
                    </a:p>
                    <a:p>
                      <a:pPr algn="ctr"/>
                      <a:r>
                        <a:rPr lang="en-US" altLang="zh-CN" sz="2000" dirty="0" smtClean="0"/>
                        <a:t>15.99kg</a:t>
                      </a:r>
                      <a:endParaRPr lang="zh-CN" altLang="en-US" sz="2000" dirty="0"/>
                    </a:p>
                  </a:txBody>
                  <a:tcPr/>
                </a:tc>
                <a:tc>
                  <a:txBody>
                    <a:bodyPr/>
                    <a:lstStyle/>
                    <a:p>
                      <a:pPr algn="ctr"/>
                      <a:endParaRPr lang="en-US" altLang="zh-CN" sz="2000" dirty="0" smtClean="0"/>
                    </a:p>
                    <a:p>
                      <a:pPr algn="ctr"/>
                      <a:r>
                        <a:rPr lang="en-US" altLang="zh-CN" sz="2000" dirty="0" smtClean="0"/>
                        <a:t>2.378kg</a:t>
                      </a:r>
                      <a:endParaRPr lang="zh-CN" altLang="en-US" sz="2000"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786" y="571480"/>
            <a:ext cx="4071966" cy="769441"/>
          </a:xfrm>
          <a:prstGeom prst="rect">
            <a:avLst/>
          </a:prstGeom>
          <a:noFill/>
        </p:spPr>
        <p:txBody>
          <a:bodyPr wrap="square" rtlCol="0">
            <a:spAutoFit/>
          </a:bodyPr>
          <a:lstStyle/>
          <a:p>
            <a:r>
              <a:rPr lang="en-US" altLang="zh-CN" sz="4400" dirty="0" smtClean="0">
                <a:solidFill>
                  <a:srgbClr val="FF0000"/>
                </a:solidFill>
                <a:latin typeface="华康海报体W12(P)" pitchFamily="82" charset="-122"/>
                <a:ea typeface="华康海报体W12(P)" pitchFamily="82" charset="-122"/>
              </a:rPr>
              <a:t>Question</a:t>
            </a:r>
            <a:r>
              <a:rPr lang="zh-CN" altLang="en-US" sz="4400" dirty="0" smtClean="0">
                <a:solidFill>
                  <a:srgbClr val="FF0000"/>
                </a:solidFill>
                <a:latin typeface="华康海报体W12(P)" pitchFamily="82" charset="-122"/>
                <a:ea typeface="华康海报体W12(P)" pitchFamily="82" charset="-122"/>
              </a:rPr>
              <a:t>：</a:t>
            </a:r>
            <a:endParaRPr lang="zh-CN" altLang="en-US" sz="4400" dirty="0">
              <a:solidFill>
                <a:srgbClr val="FF0000"/>
              </a:solidFill>
              <a:latin typeface="华康海报体W12(P)" pitchFamily="82" charset="-122"/>
              <a:ea typeface="华康海报体W12(P)" pitchFamily="82" charset="-122"/>
            </a:endParaRPr>
          </a:p>
        </p:txBody>
      </p:sp>
      <p:sp>
        <p:nvSpPr>
          <p:cNvPr id="3" name="TextBox 2"/>
          <p:cNvSpPr txBox="1"/>
          <p:nvPr/>
        </p:nvSpPr>
        <p:spPr>
          <a:xfrm>
            <a:off x="1000100" y="1785926"/>
            <a:ext cx="7072362" cy="1569660"/>
          </a:xfrm>
          <a:prstGeom prst="rect">
            <a:avLst/>
          </a:prstGeom>
          <a:noFill/>
        </p:spPr>
        <p:txBody>
          <a:bodyPr wrap="square" rtlCol="0">
            <a:spAutoFit/>
          </a:bodyPr>
          <a:lstStyle/>
          <a:p>
            <a:r>
              <a:rPr lang="en-US" altLang="zh-CN" sz="2400" dirty="0" smtClean="0">
                <a:latin typeface="华文楷体" pitchFamily="2" charset="-122"/>
                <a:ea typeface="华文楷体" pitchFamily="2" charset="-122"/>
              </a:rPr>
              <a:t>1</a:t>
            </a:r>
            <a:r>
              <a:rPr lang="zh-CN" altLang="en-US" sz="2400" dirty="0" smtClean="0">
                <a:latin typeface="华文楷体" pitchFamily="2" charset="-122"/>
                <a:ea typeface="华文楷体" pitchFamily="2" charset="-122"/>
              </a:rPr>
              <a:t>、骨料的潮湿程度不知道，所以暂时没有对用水量                </a:t>
            </a:r>
            <a:endParaRPr lang="en-US" altLang="zh-CN" sz="2400" dirty="0" smtClean="0">
              <a:latin typeface="华文楷体" pitchFamily="2" charset="-122"/>
              <a:ea typeface="华文楷体" pitchFamily="2" charset="-122"/>
            </a:endParaRPr>
          </a:p>
          <a:p>
            <a:r>
              <a:rPr lang="zh-CN" altLang="en-US" sz="2400" dirty="0" smtClean="0">
                <a:latin typeface="华文楷体" pitchFamily="2" charset="-122"/>
                <a:ea typeface="华文楷体" pitchFamily="2" charset="-122"/>
              </a:rPr>
              <a:t>      </a:t>
            </a:r>
            <a:r>
              <a:rPr lang="zh-CN" altLang="en-US" sz="2400" smtClean="0">
                <a:latin typeface="华文楷体" pitchFamily="2" charset="-122"/>
                <a:ea typeface="华文楷体" pitchFamily="2" charset="-122"/>
              </a:rPr>
              <a:t>进行修正</a:t>
            </a:r>
            <a:endParaRPr lang="en-US" altLang="zh-CN" sz="2400" dirty="0" smtClean="0">
              <a:latin typeface="华文楷体" pitchFamily="2" charset="-122"/>
              <a:ea typeface="华文楷体" pitchFamily="2" charset="-122"/>
            </a:endParaRPr>
          </a:p>
          <a:p>
            <a:r>
              <a:rPr lang="en-US" altLang="zh-CN" sz="2400" dirty="0" smtClean="0">
                <a:latin typeface="华文楷体" pitchFamily="2" charset="-122"/>
                <a:ea typeface="华文楷体" pitchFamily="2" charset="-122"/>
              </a:rPr>
              <a:t>2</a:t>
            </a:r>
            <a:r>
              <a:rPr lang="zh-CN" altLang="en-US" sz="2400" dirty="0" smtClean="0">
                <a:latin typeface="华文楷体" pitchFamily="2" charset="-122"/>
                <a:ea typeface="华文楷体" pitchFamily="2" charset="-122"/>
              </a:rPr>
              <a:t>、想增大减水剂的添加量，但不知道减水率怎么办</a:t>
            </a:r>
            <a:endParaRPr lang="en-US" altLang="zh-CN" sz="2400" dirty="0" smtClean="0">
              <a:latin typeface="华文楷体" pitchFamily="2" charset="-122"/>
              <a:ea typeface="华文楷体" pitchFamily="2" charset="-122"/>
            </a:endParaRPr>
          </a:p>
          <a:p>
            <a:endParaRPr lang="en-US" altLang="zh-CN" sz="2400" dirty="0" smtClean="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481</TotalTime>
  <Words>782</Words>
  <Application>Microsoft Office PowerPoint</Application>
  <PresentationFormat>全屏显示(4:3)</PresentationFormat>
  <Paragraphs>95</Paragraphs>
  <Slides>14</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3" baseType="lpstr">
      <vt:lpstr>黑体</vt:lpstr>
      <vt:lpstr>华康海报体W12(P)</vt:lpstr>
      <vt:lpstr>华文楷体</vt:lpstr>
      <vt:lpstr>宋体</vt:lpstr>
      <vt:lpstr>Arial</vt:lpstr>
      <vt:lpstr>Calibri</vt:lpstr>
      <vt:lpstr>Times New Roman</vt:lpstr>
      <vt:lpstr>Office 主题</vt:lpstr>
      <vt:lpstr>Equation</vt:lpstr>
      <vt:lpstr>C30自密实混凝土配合比设计</vt:lpstr>
      <vt:lpstr>C30自密实混凝土：</vt:lpstr>
      <vt:lpstr>自密实混凝土性能要求：</vt:lpstr>
      <vt:lpstr>步骤二：选择石子最大粒径</vt:lpstr>
      <vt:lpstr>步骤三：用水量计算</vt:lpstr>
      <vt:lpstr>粉煤灰掺量（用以提高坍落度和坍落扩展度，但会一定程度上影响强度）</vt:lpstr>
      <vt:lpstr>PowerPoint 演示文稿</vt:lpstr>
      <vt:lpstr>PowerPoint 演示文稿</vt:lpstr>
      <vt:lpstr>PowerPoint 演示文稿</vt:lpstr>
      <vt:lpstr>步骤五：胶凝材料用量的计算</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C30自密实混凝土配合比设计</dc:title>
  <dc:creator>123</dc:creator>
  <cp:lastModifiedBy>沃中原</cp:lastModifiedBy>
  <cp:revision>38</cp:revision>
  <dcterms:created xsi:type="dcterms:W3CDTF">2011-11-21T11:26:34Z</dcterms:created>
  <dcterms:modified xsi:type="dcterms:W3CDTF">2014-12-06T03:19:21Z</dcterms:modified>
</cp:coreProperties>
</file>